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4"/>
  </p:notesMasterIdLst>
  <p:sldIdLst>
    <p:sldId id="1323" r:id="rId3"/>
    <p:sldId id="1324" r:id="rId4"/>
    <p:sldId id="1325" r:id="rId5"/>
    <p:sldId id="1329" r:id="rId6"/>
    <p:sldId id="1330" r:id="rId7"/>
    <p:sldId id="1331" r:id="rId8"/>
    <p:sldId id="1332" r:id="rId9"/>
    <p:sldId id="1326" r:id="rId10"/>
    <p:sldId id="1291" r:id="rId11"/>
    <p:sldId id="1333" r:id="rId12"/>
    <p:sldId id="1334" r:id="rId13"/>
    <p:sldId id="1327" r:id="rId14"/>
    <p:sldId id="1338" r:id="rId15"/>
    <p:sldId id="1340" r:id="rId16"/>
    <p:sldId id="1339" r:id="rId17"/>
    <p:sldId id="1341" r:id="rId18"/>
    <p:sldId id="1328" r:id="rId19"/>
    <p:sldId id="1342" r:id="rId20"/>
    <p:sldId id="1343" r:id="rId21"/>
    <p:sldId id="1345" r:id="rId22"/>
    <p:sldId id="1346" r:id="rId2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0000"/>
    <a:srgbClr val="E4100D"/>
    <a:srgbClr val="CC120C"/>
    <a:srgbClr val="CC0E06"/>
    <a:srgbClr val="FB2205"/>
    <a:srgbClr val="C00000"/>
    <a:srgbClr val="FBEFDF"/>
    <a:srgbClr val="5F0F05"/>
    <a:srgbClr val="E0E0E0"/>
    <a:srgbClr val="E047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0" autoAdjust="0"/>
    <p:restoredTop sz="96429" autoAdjust="0"/>
  </p:normalViewPr>
  <p:slideViewPr>
    <p:cSldViewPr>
      <p:cViewPr varScale="1">
        <p:scale>
          <a:sx n="52" d="100"/>
          <a:sy n="52" d="100"/>
        </p:scale>
        <p:origin x="48" y="20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notesViewPr>
    <p:cSldViewPr>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9626C9-0433-45D4-A4B4-A807EC82C24D}" type="datetimeFigureOut">
              <a:rPr lang="zh-CN" altLang="en-US" smtClean="0"/>
              <a:t>2022/4/18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6D5307-9AB0-4C93-817A-B080F41B1CBD}" type="slidenum">
              <a:rPr lang="zh-CN" altLang="en-US" smtClean="0"/>
              <a:t>‹#›</a:t>
            </a:fld>
            <a:endParaRPr lang="zh-CN" altLang="en-US"/>
          </a:p>
        </p:txBody>
      </p:sp>
    </p:spTree>
    <p:extLst>
      <p:ext uri="{BB962C8B-B14F-4D97-AF65-F5344CB8AC3E}">
        <p14:creationId xmlns:p14="http://schemas.microsoft.com/office/powerpoint/2010/main" val="4267756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4</a:t>
            </a:fld>
            <a:endParaRPr lang="zh-CN" altLang="en-US"/>
          </a:p>
        </p:txBody>
      </p:sp>
    </p:spTree>
    <p:extLst>
      <p:ext uri="{BB962C8B-B14F-4D97-AF65-F5344CB8AC3E}">
        <p14:creationId xmlns:p14="http://schemas.microsoft.com/office/powerpoint/2010/main" val="3229483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5</a:t>
            </a:fld>
            <a:endParaRPr lang="zh-CN" altLang="en-US"/>
          </a:p>
        </p:txBody>
      </p:sp>
    </p:spTree>
    <p:extLst>
      <p:ext uri="{BB962C8B-B14F-4D97-AF65-F5344CB8AC3E}">
        <p14:creationId xmlns:p14="http://schemas.microsoft.com/office/powerpoint/2010/main" val="1168391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6</a:t>
            </a:fld>
            <a:endParaRPr lang="zh-CN" altLang="en-US"/>
          </a:p>
        </p:txBody>
      </p:sp>
    </p:spTree>
    <p:extLst>
      <p:ext uri="{BB962C8B-B14F-4D97-AF65-F5344CB8AC3E}">
        <p14:creationId xmlns:p14="http://schemas.microsoft.com/office/powerpoint/2010/main" val="2910989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7</a:t>
            </a:fld>
            <a:endParaRPr lang="zh-CN" altLang="en-US"/>
          </a:p>
        </p:txBody>
      </p:sp>
    </p:spTree>
    <p:extLst>
      <p:ext uri="{BB962C8B-B14F-4D97-AF65-F5344CB8AC3E}">
        <p14:creationId xmlns:p14="http://schemas.microsoft.com/office/powerpoint/2010/main" val="3009532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9</a:t>
            </a:fld>
            <a:endParaRPr lang="zh-CN" altLang="en-US"/>
          </a:p>
        </p:txBody>
      </p:sp>
    </p:spTree>
    <p:extLst>
      <p:ext uri="{BB962C8B-B14F-4D97-AF65-F5344CB8AC3E}">
        <p14:creationId xmlns:p14="http://schemas.microsoft.com/office/powerpoint/2010/main" val="2725894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10</a:t>
            </a:fld>
            <a:endParaRPr lang="zh-CN" altLang="en-US"/>
          </a:p>
        </p:txBody>
      </p:sp>
    </p:spTree>
    <p:extLst>
      <p:ext uri="{BB962C8B-B14F-4D97-AF65-F5344CB8AC3E}">
        <p14:creationId xmlns:p14="http://schemas.microsoft.com/office/powerpoint/2010/main" val="2182275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11</a:t>
            </a:fld>
            <a:endParaRPr lang="zh-CN" altLang="en-US"/>
          </a:p>
        </p:txBody>
      </p:sp>
    </p:spTree>
    <p:extLst>
      <p:ext uri="{BB962C8B-B14F-4D97-AF65-F5344CB8AC3E}">
        <p14:creationId xmlns:p14="http://schemas.microsoft.com/office/powerpoint/2010/main" val="1931710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13</a:t>
            </a:fld>
            <a:endParaRPr lang="zh-CN" altLang="en-US"/>
          </a:p>
        </p:txBody>
      </p:sp>
    </p:spTree>
    <p:extLst>
      <p:ext uri="{BB962C8B-B14F-4D97-AF65-F5344CB8AC3E}">
        <p14:creationId xmlns:p14="http://schemas.microsoft.com/office/powerpoint/2010/main" val="2429609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14</a:t>
            </a:fld>
            <a:endParaRPr lang="zh-CN" altLang="en-US"/>
          </a:p>
        </p:txBody>
      </p:sp>
    </p:spTree>
    <p:extLst>
      <p:ext uri="{BB962C8B-B14F-4D97-AF65-F5344CB8AC3E}">
        <p14:creationId xmlns:p14="http://schemas.microsoft.com/office/powerpoint/2010/main" val="3262780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15</a:t>
            </a:fld>
            <a:endParaRPr lang="zh-CN" altLang="en-US"/>
          </a:p>
        </p:txBody>
      </p:sp>
    </p:spTree>
    <p:extLst>
      <p:ext uri="{BB962C8B-B14F-4D97-AF65-F5344CB8AC3E}">
        <p14:creationId xmlns:p14="http://schemas.microsoft.com/office/powerpoint/2010/main" val="868013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16</a:t>
            </a:fld>
            <a:endParaRPr lang="zh-CN" altLang="en-US"/>
          </a:p>
        </p:txBody>
      </p:sp>
    </p:spTree>
    <p:extLst>
      <p:ext uri="{BB962C8B-B14F-4D97-AF65-F5344CB8AC3E}">
        <p14:creationId xmlns:p14="http://schemas.microsoft.com/office/powerpoint/2010/main" val="166631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18</a:t>
            </a:fld>
            <a:endParaRPr lang="zh-CN" altLang="en-US"/>
          </a:p>
        </p:txBody>
      </p:sp>
    </p:spTree>
    <p:extLst>
      <p:ext uri="{BB962C8B-B14F-4D97-AF65-F5344CB8AC3E}">
        <p14:creationId xmlns:p14="http://schemas.microsoft.com/office/powerpoint/2010/main" val="1053771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288EACC-3148-4639-B8F8-DA7D85113A1E}" type="slidenum">
              <a:rPr lang="zh-CN" altLang="en-US" smtClean="0"/>
              <a:t>19</a:t>
            </a:fld>
            <a:endParaRPr lang="zh-CN" altLang="en-US"/>
          </a:p>
        </p:txBody>
      </p:sp>
    </p:spTree>
    <p:extLst>
      <p:ext uri="{BB962C8B-B14F-4D97-AF65-F5344CB8AC3E}">
        <p14:creationId xmlns:p14="http://schemas.microsoft.com/office/powerpoint/2010/main" val="2167348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模板来自于 优品</a:t>
            </a:r>
            <a:r>
              <a:rPr lang="en-US" altLang="zh-CN" dirty="0"/>
              <a:t>PPT</a:t>
            </a:r>
            <a:r>
              <a:rPr lang="zh-CN" altLang="en-US" dirty="0"/>
              <a:t> </a:t>
            </a:r>
            <a:r>
              <a:rPr lang="en-US" altLang="zh-CN"/>
              <a:t>https://www.ypppt.com/</a:t>
            </a: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21</a:t>
            </a:fld>
            <a:endParaRPr lang="zh-CN" altLang="en-US">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452889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AB9F04-B251-415E-AAE6-FA2E5DE1F20D}" type="datetimeFigureOut">
              <a:rPr lang="zh-CN" altLang="en-US" smtClean="0"/>
              <a:t>2022/4/18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43D47C-A663-4E48-8C72-BA1D6509F2FF}" type="slidenum">
              <a:rPr lang="zh-CN" altLang="en-US" smtClean="0"/>
              <a:t>‹#›</a:t>
            </a:fld>
            <a:endParaRPr lang="zh-CN" altLang="en-US"/>
          </a:p>
        </p:txBody>
      </p:sp>
    </p:spTree>
    <p:extLst>
      <p:ext uri="{BB962C8B-B14F-4D97-AF65-F5344CB8AC3E}">
        <p14:creationId xmlns:p14="http://schemas.microsoft.com/office/powerpoint/2010/main" val="2022016637"/>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AB9F04-B251-415E-AAE6-FA2E5DE1F20D}" type="datetimeFigureOut">
              <a:rPr lang="zh-CN" altLang="en-US" smtClean="0"/>
              <a:t>2022/4/18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43D47C-A663-4E48-8C72-BA1D6509F2FF}" type="slidenum">
              <a:rPr lang="zh-CN" altLang="en-US" smtClean="0"/>
              <a:t>‹#›</a:t>
            </a:fld>
            <a:endParaRPr lang="zh-CN" altLang="en-US"/>
          </a:p>
        </p:txBody>
      </p:sp>
    </p:spTree>
    <p:extLst>
      <p:ext uri="{BB962C8B-B14F-4D97-AF65-F5344CB8AC3E}">
        <p14:creationId xmlns:p14="http://schemas.microsoft.com/office/powerpoint/2010/main" val="672772140"/>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AB9F04-B251-415E-AAE6-FA2E5DE1F20D}" type="datetimeFigureOut">
              <a:rPr lang="zh-CN" altLang="en-US" smtClean="0"/>
              <a:t>2022/4/18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43D47C-A663-4E48-8C72-BA1D6509F2FF}" type="slidenum">
              <a:rPr lang="zh-CN" altLang="en-US" smtClean="0"/>
              <a:t>‹#›</a:t>
            </a:fld>
            <a:endParaRPr lang="zh-CN" altLang="en-US"/>
          </a:p>
        </p:txBody>
      </p:sp>
    </p:spTree>
    <p:extLst>
      <p:ext uri="{BB962C8B-B14F-4D97-AF65-F5344CB8AC3E}">
        <p14:creationId xmlns:p14="http://schemas.microsoft.com/office/powerpoint/2010/main" val="2713654500"/>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368595"/>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5197771"/>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9574356"/>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AB9F04-B251-415E-AAE6-FA2E5DE1F20D}" type="datetimeFigureOut">
              <a:rPr lang="zh-CN" altLang="en-US" smtClean="0"/>
              <a:t>2022/4/18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43D47C-A663-4E48-8C72-BA1D6509F2FF}" type="slidenum">
              <a:rPr lang="zh-CN" altLang="en-US" smtClean="0"/>
              <a:t>‹#›</a:t>
            </a:fld>
            <a:endParaRPr lang="zh-CN" altLang="en-US"/>
          </a:p>
        </p:txBody>
      </p:sp>
    </p:spTree>
    <p:extLst>
      <p:ext uri="{BB962C8B-B14F-4D97-AF65-F5344CB8AC3E}">
        <p14:creationId xmlns:p14="http://schemas.microsoft.com/office/powerpoint/2010/main" val="23196291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AB9F04-B251-415E-AAE6-FA2E5DE1F20D}" type="datetimeFigureOut">
              <a:rPr lang="zh-CN" altLang="en-US" smtClean="0"/>
              <a:t>2022/4/18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43D47C-A663-4E48-8C72-BA1D6509F2FF}" type="slidenum">
              <a:rPr lang="zh-CN" altLang="en-US" smtClean="0"/>
              <a:t>‹#›</a:t>
            </a:fld>
            <a:endParaRPr lang="zh-CN" altLang="en-US"/>
          </a:p>
        </p:txBody>
      </p:sp>
    </p:spTree>
    <p:extLst>
      <p:ext uri="{BB962C8B-B14F-4D97-AF65-F5344CB8AC3E}">
        <p14:creationId xmlns:p14="http://schemas.microsoft.com/office/powerpoint/2010/main" val="2397139587"/>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AB9F04-B251-415E-AAE6-FA2E5DE1F20D}" type="datetimeFigureOut">
              <a:rPr lang="zh-CN" altLang="en-US" smtClean="0"/>
              <a:t>2022/4/18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43D47C-A663-4E48-8C72-BA1D6509F2FF}" type="slidenum">
              <a:rPr lang="zh-CN" altLang="en-US" smtClean="0"/>
              <a:t>‹#›</a:t>
            </a:fld>
            <a:endParaRPr lang="zh-CN" altLang="en-US"/>
          </a:p>
        </p:txBody>
      </p:sp>
    </p:spTree>
    <p:extLst>
      <p:ext uri="{BB962C8B-B14F-4D97-AF65-F5344CB8AC3E}">
        <p14:creationId xmlns:p14="http://schemas.microsoft.com/office/powerpoint/2010/main" val="57771077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AB9F04-B251-415E-AAE6-FA2E5DE1F20D}" type="datetimeFigureOut">
              <a:rPr lang="zh-CN" altLang="en-US" smtClean="0"/>
              <a:t>2022/4/18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43D47C-A663-4E48-8C72-BA1D6509F2FF}" type="slidenum">
              <a:rPr lang="zh-CN" altLang="en-US" smtClean="0"/>
              <a:t>‹#›</a:t>
            </a:fld>
            <a:endParaRPr lang="zh-CN" altLang="en-US"/>
          </a:p>
        </p:txBody>
      </p:sp>
    </p:spTree>
    <p:extLst>
      <p:ext uri="{BB962C8B-B14F-4D97-AF65-F5344CB8AC3E}">
        <p14:creationId xmlns:p14="http://schemas.microsoft.com/office/powerpoint/2010/main" val="353961132"/>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AB9F04-B251-415E-AAE6-FA2E5DE1F20D}" type="datetimeFigureOut">
              <a:rPr lang="zh-CN" altLang="en-US" smtClean="0"/>
              <a:t>2022/4/18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43D47C-A663-4E48-8C72-BA1D6509F2FF}" type="slidenum">
              <a:rPr lang="zh-CN" altLang="en-US" smtClean="0"/>
              <a:t>‹#›</a:t>
            </a:fld>
            <a:endParaRPr lang="zh-CN" altLang="en-US"/>
          </a:p>
        </p:txBody>
      </p:sp>
    </p:spTree>
    <p:extLst>
      <p:ext uri="{BB962C8B-B14F-4D97-AF65-F5344CB8AC3E}">
        <p14:creationId xmlns:p14="http://schemas.microsoft.com/office/powerpoint/2010/main" val="185138938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64435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701599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51771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779517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68840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510812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734969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953525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823423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410283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33224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31548175-43C5-4279-B31A-9C04DEA57D4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286"/>
            <a:ext cx="9144000" cy="5138928"/>
          </a:xfrm>
          <a:prstGeom prst="rect">
            <a:avLst/>
          </a:prstGeom>
        </p:spPr>
      </p:pic>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AB9F04-B251-415E-AAE6-FA2E5DE1F20D}" type="datetimeFigureOut">
              <a:rPr lang="zh-CN" altLang="en-US" smtClean="0"/>
              <a:t>2022/4/18</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243D47C-A663-4E48-8C72-BA1D6509F2FF}" type="slidenum">
              <a:rPr lang="zh-CN" altLang="en-US" smtClean="0"/>
              <a:t>‹#›</a:t>
            </a:fld>
            <a:endParaRPr lang="zh-CN" altLang="en-US"/>
          </a:p>
        </p:txBody>
      </p:sp>
    </p:spTree>
    <p:extLst>
      <p:ext uri="{BB962C8B-B14F-4D97-AF65-F5344CB8AC3E}">
        <p14:creationId xmlns:p14="http://schemas.microsoft.com/office/powerpoint/2010/main" val="28223821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advTm="0"/>
    </mc:Choice>
    <mc:Fallback xmlns="">
      <p:transition advTm="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6E5758D-A3C3-4E88-8AC0-22500507BD7E}" type="datetimeFigureOut">
              <a:rPr lang="zh-CN" altLang="en-US" smtClean="0">
                <a:solidFill>
                  <a:prstClr val="black">
                    <a:tint val="75000"/>
                  </a:prstClr>
                </a:solidFill>
              </a:rPr>
              <a:pPr/>
              <a:t>2022/4/18</a:t>
            </a:fld>
            <a:endParaRPr lang="zh-CN" altLang="en-US">
              <a:solidFill>
                <a:prstClr val="black">
                  <a:tint val="75000"/>
                </a:prstClr>
              </a:solidFill>
            </a:endParaRP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645804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21.xml.rels><?xml version="1.0" encoding="UTF-8" standalone="yes"?>
<Relationships xmlns="http://schemas.openxmlformats.org/package/2006/relationships"><Relationship Id="rId8" Type="http://schemas.openxmlformats.org/officeDocument/2006/relationships/hyperlink" Target="https://www.ypppt.com/jiaocheng/" TargetMode="External"/><Relationship Id="rId3" Type="http://schemas.openxmlformats.org/officeDocument/2006/relationships/hyperlink" Target="https://www.ypppt.com/moban/" TargetMode="External"/><Relationship Id="rId7" Type="http://schemas.openxmlformats.org/officeDocument/2006/relationships/hyperlink" Target="http://www.ypppt.com/sucai/" TargetMode="External"/><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hyperlink" Target="https://www.ypppt.com/tubiao/" TargetMode="External"/><Relationship Id="rId11" Type="http://schemas.openxmlformats.org/officeDocument/2006/relationships/hyperlink" Target="https://www.ypppt.com/kejian/" TargetMode="External"/><Relationship Id="rId5" Type="http://schemas.openxmlformats.org/officeDocument/2006/relationships/hyperlink" Target="https://www.ypppt.com/beijing/" TargetMode="External"/><Relationship Id="rId10" Type="http://schemas.openxmlformats.org/officeDocument/2006/relationships/hyperlink" Target="http://www.ypppt.com/gushi/" TargetMode="External"/><Relationship Id="rId4" Type="http://schemas.openxmlformats.org/officeDocument/2006/relationships/hyperlink" Target="https://www.ypppt.com/jieri/" TargetMode="External"/><Relationship Id="rId9" Type="http://schemas.openxmlformats.org/officeDocument/2006/relationships/hyperlink" Target="http://www.ypppt.com/zit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FB3326CC-105E-4511-AEAE-1F506C4C7151}"/>
              </a:ext>
            </a:extLst>
          </p:cNvPr>
          <p:cNvPicPr>
            <a:picLocks noChangeAspect="1"/>
          </p:cNvPicPr>
          <p:nvPr/>
        </p:nvPicPr>
        <p:blipFill>
          <a:blip r:embed="rId2"/>
          <a:stretch>
            <a:fillRect/>
          </a:stretch>
        </p:blipFill>
        <p:spPr>
          <a:xfrm>
            <a:off x="28450" y="3799321"/>
            <a:ext cx="9144000" cy="1311904"/>
          </a:xfrm>
          <a:prstGeom prst="rect">
            <a:avLst/>
          </a:prstGeom>
        </p:spPr>
      </p:pic>
      <p:pic>
        <p:nvPicPr>
          <p:cNvPr id="9" name="图片 8">
            <a:extLst>
              <a:ext uri="{FF2B5EF4-FFF2-40B4-BE49-F238E27FC236}">
                <a16:creationId xmlns:a16="http://schemas.microsoft.com/office/drawing/2014/main" id="{D68BE9A7-41FB-44C4-A472-50C00B774FEB}"/>
              </a:ext>
            </a:extLst>
          </p:cNvPr>
          <p:cNvPicPr>
            <a:picLocks noChangeAspect="1"/>
          </p:cNvPicPr>
          <p:nvPr/>
        </p:nvPicPr>
        <p:blipFill rotWithShape="1">
          <a:blip r:embed="rId3"/>
          <a:srcRect b="33209"/>
          <a:stretch/>
        </p:blipFill>
        <p:spPr>
          <a:xfrm>
            <a:off x="1" y="1"/>
            <a:ext cx="4427984" cy="1923678"/>
          </a:xfrm>
          <a:prstGeom prst="rect">
            <a:avLst/>
          </a:prstGeom>
        </p:spPr>
      </p:pic>
      <p:pic>
        <p:nvPicPr>
          <p:cNvPr id="13" name="图片 12">
            <a:extLst>
              <a:ext uri="{FF2B5EF4-FFF2-40B4-BE49-F238E27FC236}">
                <a16:creationId xmlns:a16="http://schemas.microsoft.com/office/drawing/2014/main" id="{535C2018-35F9-487A-BF47-E4D1AEC11D69}"/>
              </a:ext>
            </a:extLst>
          </p:cNvPr>
          <p:cNvPicPr>
            <a:picLocks noChangeAspect="1"/>
          </p:cNvPicPr>
          <p:nvPr/>
        </p:nvPicPr>
        <p:blipFill>
          <a:blip r:embed="rId4"/>
          <a:stretch>
            <a:fillRect/>
          </a:stretch>
        </p:blipFill>
        <p:spPr>
          <a:xfrm>
            <a:off x="0" y="4086635"/>
            <a:ext cx="9144000" cy="1056864"/>
          </a:xfrm>
          <a:prstGeom prst="rect">
            <a:avLst/>
          </a:prstGeom>
        </p:spPr>
      </p:pic>
      <p:pic>
        <p:nvPicPr>
          <p:cNvPr id="24" name="图片 23">
            <a:extLst>
              <a:ext uri="{FF2B5EF4-FFF2-40B4-BE49-F238E27FC236}">
                <a16:creationId xmlns:a16="http://schemas.microsoft.com/office/drawing/2014/main" id="{EFD91B75-90CC-4D63-A227-65B34F6D3BB1}"/>
              </a:ext>
            </a:extLst>
          </p:cNvPr>
          <p:cNvPicPr>
            <a:picLocks noChangeAspect="1"/>
          </p:cNvPicPr>
          <p:nvPr/>
        </p:nvPicPr>
        <p:blipFill>
          <a:blip r:embed="rId5"/>
          <a:stretch>
            <a:fillRect/>
          </a:stretch>
        </p:blipFill>
        <p:spPr>
          <a:xfrm>
            <a:off x="0" y="-32273"/>
            <a:ext cx="2713798" cy="1367127"/>
          </a:xfrm>
          <a:prstGeom prst="rect">
            <a:avLst/>
          </a:prstGeom>
        </p:spPr>
      </p:pic>
      <p:pic>
        <p:nvPicPr>
          <p:cNvPr id="26" name="图片 25">
            <a:extLst>
              <a:ext uri="{FF2B5EF4-FFF2-40B4-BE49-F238E27FC236}">
                <a16:creationId xmlns:a16="http://schemas.microsoft.com/office/drawing/2014/main" id="{8FF954DB-E50D-4407-A817-849532395E58}"/>
              </a:ext>
            </a:extLst>
          </p:cNvPr>
          <p:cNvPicPr>
            <a:picLocks noChangeAspect="1"/>
          </p:cNvPicPr>
          <p:nvPr/>
        </p:nvPicPr>
        <p:blipFill>
          <a:blip r:embed="rId6"/>
          <a:stretch>
            <a:fillRect/>
          </a:stretch>
        </p:blipFill>
        <p:spPr>
          <a:xfrm>
            <a:off x="6012159" y="2321613"/>
            <a:ext cx="3160291" cy="2821886"/>
          </a:xfrm>
          <a:prstGeom prst="rect">
            <a:avLst/>
          </a:prstGeom>
        </p:spPr>
      </p:pic>
      <p:pic>
        <p:nvPicPr>
          <p:cNvPr id="30" name="图片 29">
            <a:extLst>
              <a:ext uri="{FF2B5EF4-FFF2-40B4-BE49-F238E27FC236}">
                <a16:creationId xmlns:a16="http://schemas.microsoft.com/office/drawing/2014/main" id="{89CDD355-5732-46AB-81AF-F09D0A4123CD}"/>
              </a:ext>
            </a:extLst>
          </p:cNvPr>
          <p:cNvPicPr>
            <a:picLocks noChangeAspect="1"/>
          </p:cNvPicPr>
          <p:nvPr/>
        </p:nvPicPr>
        <p:blipFill>
          <a:blip r:embed="rId7"/>
          <a:srcRect/>
          <a:stretch/>
        </p:blipFill>
        <p:spPr>
          <a:xfrm>
            <a:off x="-28450" y="3075806"/>
            <a:ext cx="2005136" cy="2078683"/>
          </a:xfrm>
          <a:prstGeom prst="rect">
            <a:avLst/>
          </a:prstGeom>
        </p:spPr>
      </p:pic>
      <p:grpSp>
        <p:nvGrpSpPr>
          <p:cNvPr id="41" name="组合 40">
            <a:extLst>
              <a:ext uri="{FF2B5EF4-FFF2-40B4-BE49-F238E27FC236}">
                <a16:creationId xmlns:a16="http://schemas.microsoft.com/office/drawing/2014/main" id="{0BD19B49-DDBF-4B78-8526-C3EC4A270DC9}"/>
              </a:ext>
            </a:extLst>
          </p:cNvPr>
          <p:cNvGrpSpPr/>
          <p:nvPr/>
        </p:nvGrpSpPr>
        <p:grpSpPr>
          <a:xfrm>
            <a:off x="3995936" y="483518"/>
            <a:ext cx="1234884" cy="1234884"/>
            <a:chOff x="3995936" y="483518"/>
            <a:chExt cx="1234884" cy="1234884"/>
          </a:xfrm>
        </p:grpSpPr>
        <p:sp>
          <p:nvSpPr>
            <p:cNvPr id="31" name="任意多边形 50">
              <a:extLst>
                <a:ext uri="{FF2B5EF4-FFF2-40B4-BE49-F238E27FC236}">
                  <a16:creationId xmlns:a16="http://schemas.microsoft.com/office/drawing/2014/main" id="{ABF7851F-C3D4-44A8-94B7-D3F7FECEF1F6}"/>
                </a:ext>
              </a:extLst>
            </p:cNvPr>
            <p:cNvSpPr/>
            <p:nvPr/>
          </p:nvSpPr>
          <p:spPr>
            <a:xfrm>
              <a:off x="3995936" y="483518"/>
              <a:ext cx="1234884" cy="1234884"/>
            </a:xfrm>
            <a:custGeom>
              <a:avLst/>
              <a:gdLst>
                <a:gd name="connsiteX0" fmla="*/ 1677670 w 2407137"/>
                <a:gd name="connsiteY0" fmla="*/ 1837666 h 2407138"/>
                <a:gd name="connsiteX1" fmla="*/ 1683974 w 2407137"/>
                <a:gd name="connsiteY1" fmla="*/ 1833341 h 2407138"/>
                <a:gd name="connsiteX2" fmla="*/ 1689813 w 2407137"/>
                <a:gd name="connsiteY2" fmla="*/ 1828403 h 2407138"/>
                <a:gd name="connsiteX3" fmla="*/ 1945042 w 2407137"/>
                <a:gd name="connsiteY3" fmla="*/ 2162988 h 2407138"/>
                <a:gd name="connsiteX4" fmla="*/ 1932899 w 2407137"/>
                <a:gd name="connsiteY4" fmla="*/ 2172251 h 2407138"/>
                <a:gd name="connsiteX5" fmla="*/ 1592663 w 2407137"/>
                <a:gd name="connsiteY5" fmla="*/ 1892774 h 2407138"/>
                <a:gd name="connsiteX6" fmla="*/ 1605769 w 2407137"/>
                <a:gd name="connsiteY6" fmla="*/ 1884929 h 2407138"/>
                <a:gd name="connsiteX7" fmla="*/ 1748914 w 2407137"/>
                <a:gd name="connsiteY7" fmla="*/ 2132863 h 2407138"/>
                <a:gd name="connsiteX8" fmla="*/ 1735858 w 2407137"/>
                <a:gd name="connsiteY8" fmla="*/ 2140795 h 2407138"/>
                <a:gd name="connsiteX9" fmla="*/ 1768789 w 2407137"/>
                <a:gd name="connsiteY9" fmla="*/ 1757990 h 2407138"/>
                <a:gd name="connsiteX10" fmla="*/ 1971301 w 2407137"/>
                <a:gd name="connsiteY10" fmla="*/ 1960502 h 2407138"/>
                <a:gd name="connsiteX11" fmla="*/ 1966159 w 2407137"/>
                <a:gd name="connsiteY11" fmla="*/ 1966159 h 2407138"/>
                <a:gd name="connsiteX12" fmla="*/ 1960501 w 2407137"/>
                <a:gd name="connsiteY12" fmla="*/ 1971301 h 2407138"/>
                <a:gd name="connsiteX13" fmla="*/ 1758092 w 2407137"/>
                <a:gd name="connsiteY13" fmla="*/ 1768892 h 2407138"/>
                <a:gd name="connsiteX14" fmla="*/ 1765079 w 2407137"/>
                <a:gd name="connsiteY14" fmla="*/ 1762526 h 2407138"/>
                <a:gd name="connsiteX15" fmla="*/ 1834740 w 2407137"/>
                <a:gd name="connsiteY15" fmla="*/ 1681091 h 2407138"/>
                <a:gd name="connsiteX16" fmla="*/ 2168093 w 2407137"/>
                <a:gd name="connsiteY16" fmla="*/ 1938389 h 2407138"/>
                <a:gd name="connsiteX17" fmla="*/ 2158761 w 2407137"/>
                <a:gd name="connsiteY17" fmla="*/ 1950479 h 2407138"/>
                <a:gd name="connsiteX18" fmla="*/ 1825285 w 2407137"/>
                <a:gd name="connsiteY18" fmla="*/ 1693086 h 2407138"/>
                <a:gd name="connsiteX19" fmla="*/ 1497292 w 2407137"/>
                <a:gd name="connsiteY19" fmla="*/ 1938505 h 2407138"/>
                <a:gd name="connsiteX20" fmla="*/ 1511359 w 2407137"/>
                <a:gd name="connsiteY20" fmla="*/ 1932557 h 2407138"/>
                <a:gd name="connsiteX21" fmla="*/ 1671461 w 2407137"/>
                <a:gd name="connsiteY21" fmla="*/ 2322204 h 2407138"/>
                <a:gd name="connsiteX22" fmla="*/ 1657335 w 2407137"/>
                <a:gd name="connsiteY22" fmla="*/ 2328008 h 2407138"/>
                <a:gd name="connsiteX23" fmla="*/ 1400984 w 2407137"/>
                <a:gd name="connsiteY23" fmla="*/ 1969841 h 2407138"/>
                <a:gd name="connsiteX24" fmla="*/ 1415837 w 2407137"/>
                <a:gd name="connsiteY24" fmla="*/ 1966261 h 2407138"/>
                <a:gd name="connsiteX25" fmla="*/ 1489829 w 2407137"/>
                <a:gd name="connsiteY25" fmla="*/ 2242404 h 2407138"/>
                <a:gd name="connsiteX26" fmla="*/ 1475037 w 2407137"/>
                <a:gd name="connsiteY26" fmla="*/ 2246208 h 2407138"/>
                <a:gd name="connsiteX27" fmla="*/ 1890343 w 2407137"/>
                <a:gd name="connsiteY27" fmla="*/ 1591261 h 2407138"/>
                <a:gd name="connsiteX28" fmla="*/ 2140794 w 2407137"/>
                <a:gd name="connsiteY28" fmla="*/ 1735859 h 2407138"/>
                <a:gd name="connsiteX29" fmla="*/ 2132863 w 2407137"/>
                <a:gd name="connsiteY29" fmla="*/ 1748915 h 2407138"/>
                <a:gd name="connsiteX30" fmla="*/ 1883112 w 2407137"/>
                <a:gd name="connsiteY30" fmla="*/ 1604721 h 2407138"/>
                <a:gd name="connsiteX31" fmla="*/ 1934589 w 2407137"/>
                <a:gd name="connsiteY31" fmla="*/ 1500527 h 2407138"/>
                <a:gd name="connsiteX32" fmla="*/ 2325413 w 2407137"/>
                <a:gd name="connsiteY32" fmla="*/ 1663714 h 2407138"/>
                <a:gd name="connsiteX33" fmla="*/ 2319529 w 2407137"/>
                <a:gd name="connsiteY33" fmla="*/ 1677807 h 2407138"/>
                <a:gd name="connsiteX34" fmla="*/ 1928334 w 2407137"/>
                <a:gd name="connsiteY34" fmla="*/ 1514465 h 2407138"/>
                <a:gd name="connsiteX35" fmla="*/ 1296758 w 2407137"/>
                <a:gd name="connsiteY35" fmla="*/ 1987081 h 2407138"/>
                <a:gd name="connsiteX36" fmla="*/ 1311855 w 2407137"/>
                <a:gd name="connsiteY36" fmla="*/ 1984732 h 2407138"/>
                <a:gd name="connsiteX37" fmla="*/ 1365995 w 2407137"/>
                <a:gd name="connsiteY37" fmla="*/ 2405187 h 2407138"/>
                <a:gd name="connsiteX38" fmla="*/ 1350847 w 2407137"/>
                <a:gd name="connsiteY38" fmla="*/ 2407138 h 2407138"/>
                <a:gd name="connsiteX39" fmla="*/ 1195932 w 2407137"/>
                <a:gd name="connsiteY39" fmla="*/ 1995746 h 2407138"/>
                <a:gd name="connsiteX40" fmla="*/ 1211204 w 2407137"/>
                <a:gd name="connsiteY40" fmla="*/ 1995179 h 2407138"/>
                <a:gd name="connsiteX41" fmla="*/ 1211204 w 2407137"/>
                <a:gd name="connsiteY41" fmla="*/ 2281649 h 2407138"/>
                <a:gd name="connsiteX42" fmla="*/ 1203568 w 2407137"/>
                <a:gd name="connsiteY42" fmla="*/ 2282034 h 2407138"/>
                <a:gd name="connsiteX43" fmla="*/ 1195932 w 2407137"/>
                <a:gd name="connsiteY43" fmla="*/ 2281649 h 2407138"/>
                <a:gd name="connsiteX44" fmla="*/ 1968060 w 2407137"/>
                <a:gd name="connsiteY44" fmla="*/ 1400508 h 2407138"/>
                <a:gd name="connsiteX45" fmla="*/ 2246208 w 2407137"/>
                <a:gd name="connsiteY45" fmla="*/ 1475038 h 2407138"/>
                <a:gd name="connsiteX46" fmla="*/ 2242404 w 2407137"/>
                <a:gd name="connsiteY46" fmla="*/ 1489831 h 2407138"/>
                <a:gd name="connsiteX47" fmla="*/ 1963516 w 2407137"/>
                <a:gd name="connsiteY47" fmla="*/ 1415103 h 2407138"/>
                <a:gd name="connsiteX48" fmla="*/ 1090481 w 2407137"/>
                <a:gd name="connsiteY48" fmla="*/ 1986840 h 2407138"/>
                <a:gd name="connsiteX49" fmla="*/ 1097951 w 2407137"/>
                <a:gd name="connsiteY49" fmla="*/ 1988584 h 2407138"/>
                <a:gd name="connsiteX50" fmla="*/ 1105617 w 2407137"/>
                <a:gd name="connsiteY50" fmla="*/ 1988876 h 2407138"/>
                <a:gd name="connsiteX51" fmla="*/ 1049458 w 2407137"/>
                <a:gd name="connsiteY51" fmla="*/ 2406281 h 2407138"/>
                <a:gd name="connsiteX52" fmla="*/ 1034322 w 2407137"/>
                <a:gd name="connsiteY52" fmla="*/ 2404245 h 2407138"/>
                <a:gd name="connsiteX53" fmla="*/ 1988876 w 2407137"/>
                <a:gd name="connsiteY53" fmla="*/ 1301520 h 2407138"/>
                <a:gd name="connsiteX54" fmla="*/ 2406281 w 2407137"/>
                <a:gd name="connsiteY54" fmla="*/ 1357679 h 2407138"/>
                <a:gd name="connsiteX55" fmla="*/ 2404244 w 2407137"/>
                <a:gd name="connsiteY55" fmla="*/ 1372815 h 2407138"/>
                <a:gd name="connsiteX56" fmla="*/ 1986840 w 2407137"/>
                <a:gd name="connsiteY56" fmla="*/ 1316657 h 2407138"/>
                <a:gd name="connsiteX57" fmla="*/ 1988583 w 2407137"/>
                <a:gd name="connsiteY57" fmla="*/ 1309187 h 2407138"/>
                <a:gd name="connsiteX58" fmla="*/ 992036 w 2407137"/>
                <a:gd name="connsiteY58" fmla="*/ 1963517 h 2407138"/>
                <a:gd name="connsiteX59" fmla="*/ 1006629 w 2407137"/>
                <a:gd name="connsiteY59" fmla="*/ 1968061 h 2407138"/>
                <a:gd name="connsiteX60" fmla="*/ 932100 w 2407137"/>
                <a:gd name="connsiteY60" fmla="*/ 2246208 h 2407138"/>
                <a:gd name="connsiteX61" fmla="*/ 917308 w 2407137"/>
                <a:gd name="connsiteY61" fmla="*/ 2242405 h 2407138"/>
                <a:gd name="connsiteX62" fmla="*/ 1995178 w 2407137"/>
                <a:gd name="connsiteY62" fmla="*/ 1195933 h 2407138"/>
                <a:gd name="connsiteX63" fmla="*/ 2281649 w 2407137"/>
                <a:gd name="connsiteY63" fmla="*/ 1195933 h 2407138"/>
                <a:gd name="connsiteX64" fmla="*/ 2282034 w 2407137"/>
                <a:gd name="connsiteY64" fmla="*/ 1203569 h 2407138"/>
                <a:gd name="connsiteX65" fmla="*/ 2281649 w 2407137"/>
                <a:gd name="connsiteY65" fmla="*/ 1211206 h 2407138"/>
                <a:gd name="connsiteX66" fmla="*/ 1995745 w 2407137"/>
                <a:gd name="connsiteY66" fmla="*/ 1211206 h 2407138"/>
                <a:gd name="connsiteX67" fmla="*/ 1984731 w 2407137"/>
                <a:gd name="connsiteY67" fmla="*/ 1095284 h 2407138"/>
                <a:gd name="connsiteX68" fmla="*/ 2405186 w 2407137"/>
                <a:gd name="connsiteY68" fmla="*/ 1041144 h 2407138"/>
                <a:gd name="connsiteX69" fmla="*/ 2407137 w 2407137"/>
                <a:gd name="connsiteY69" fmla="*/ 1056290 h 2407138"/>
                <a:gd name="connsiteX70" fmla="*/ 1987080 w 2407137"/>
                <a:gd name="connsiteY70" fmla="*/ 1110379 h 2407138"/>
                <a:gd name="connsiteX71" fmla="*/ 892672 w 2407137"/>
                <a:gd name="connsiteY71" fmla="*/ 1928335 h 2407138"/>
                <a:gd name="connsiteX72" fmla="*/ 906611 w 2407137"/>
                <a:gd name="connsiteY72" fmla="*/ 1934590 h 2407138"/>
                <a:gd name="connsiteX73" fmla="*/ 743425 w 2407137"/>
                <a:gd name="connsiteY73" fmla="*/ 2325414 h 2407138"/>
                <a:gd name="connsiteX74" fmla="*/ 729331 w 2407137"/>
                <a:gd name="connsiteY74" fmla="*/ 2319529 h 2407138"/>
                <a:gd name="connsiteX75" fmla="*/ 802416 w 2407137"/>
                <a:gd name="connsiteY75" fmla="*/ 1883113 h 2407138"/>
                <a:gd name="connsiteX76" fmla="*/ 815877 w 2407137"/>
                <a:gd name="connsiteY76" fmla="*/ 1890344 h 2407138"/>
                <a:gd name="connsiteX77" fmla="*/ 671279 w 2407137"/>
                <a:gd name="connsiteY77" fmla="*/ 2140796 h 2407138"/>
                <a:gd name="connsiteX78" fmla="*/ 658223 w 2407137"/>
                <a:gd name="connsiteY78" fmla="*/ 2132863 h 2407138"/>
                <a:gd name="connsiteX79" fmla="*/ 1966260 w 2407137"/>
                <a:gd name="connsiteY79" fmla="*/ 991301 h 2407138"/>
                <a:gd name="connsiteX80" fmla="*/ 2242405 w 2407137"/>
                <a:gd name="connsiteY80" fmla="*/ 917309 h 2407138"/>
                <a:gd name="connsiteX81" fmla="*/ 2246208 w 2407137"/>
                <a:gd name="connsiteY81" fmla="*/ 932101 h 2407138"/>
                <a:gd name="connsiteX82" fmla="*/ 1969840 w 2407137"/>
                <a:gd name="connsiteY82" fmla="*/ 1006153 h 2407138"/>
                <a:gd name="connsiteX83" fmla="*/ 1932557 w 2407137"/>
                <a:gd name="connsiteY83" fmla="*/ 895779 h 2407138"/>
                <a:gd name="connsiteX84" fmla="*/ 2322203 w 2407137"/>
                <a:gd name="connsiteY84" fmla="*/ 735676 h 2407138"/>
                <a:gd name="connsiteX85" fmla="*/ 2328008 w 2407137"/>
                <a:gd name="connsiteY85" fmla="*/ 749803 h 2407138"/>
                <a:gd name="connsiteX86" fmla="*/ 1938504 w 2407137"/>
                <a:gd name="connsiteY86" fmla="*/ 909846 h 2407138"/>
                <a:gd name="connsiteX87" fmla="*/ 714051 w 2407137"/>
                <a:gd name="connsiteY87" fmla="*/ 1825286 h 2407138"/>
                <a:gd name="connsiteX88" fmla="*/ 726047 w 2407137"/>
                <a:gd name="connsiteY88" fmla="*/ 1834740 h 2407138"/>
                <a:gd name="connsiteX89" fmla="*/ 468748 w 2407137"/>
                <a:gd name="connsiteY89" fmla="*/ 2168094 h 2407138"/>
                <a:gd name="connsiteX90" fmla="*/ 456659 w 2407137"/>
                <a:gd name="connsiteY90" fmla="*/ 2158762 h 2407138"/>
                <a:gd name="connsiteX91" fmla="*/ 638245 w 2407137"/>
                <a:gd name="connsiteY91" fmla="*/ 1758093 h 2407138"/>
                <a:gd name="connsiteX92" fmla="*/ 644611 w 2407137"/>
                <a:gd name="connsiteY92" fmla="*/ 1765080 h 2407138"/>
                <a:gd name="connsiteX93" fmla="*/ 649147 w 2407137"/>
                <a:gd name="connsiteY93" fmla="*/ 1768790 h 2407138"/>
                <a:gd name="connsiteX94" fmla="*/ 446636 w 2407137"/>
                <a:gd name="connsiteY94" fmla="*/ 1971302 h 2407138"/>
                <a:gd name="connsiteX95" fmla="*/ 440978 w 2407137"/>
                <a:gd name="connsiteY95" fmla="*/ 1966159 h 2407138"/>
                <a:gd name="connsiteX96" fmla="*/ 435836 w 2407137"/>
                <a:gd name="connsiteY96" fmla="*/ 1960502 h 2407138"/>
                <a:gd name="connsiteX97" fmla="*/ 1884928 w 2407137"/>
                <a:gd name="connsiteY97" fmla="*/ 801368 h 2407138"/>
                <a:gd name="connsiteX98" fmla="*/ 2132863 w 2407137"/>
                <a:gd name="connsiteY98" fmla="*/ 658223 h 2407138"/>
                <a:gd name="connsiteX99" fmla="*/ 2140794 w 2407137"/>
                <a:gd name="connsiteY99" fmla="*/ 671279 h 2407138"/>
                <a:gd name="connsiteX100" fmla="*/ 1892773 w 2407137"/>
                <a:gd name="connsiteY100" fmla="*/ 814474 h 2407138"/>
                <a:gd name="connsiteX101" fmla="*/ 1828403 w 2407137"/>
                <a:gd name="connsiteY101" fmla="*/ 717325 h 2407138"/>
                <a:gd name="connsiteX102" fmla="*/ 2162987 w 2407137"/>
                <a:gd name="connsiteY102" fmla="*/ 462095 h 2407138"/>
                <a:gd name="connsiteX103" fmla="*/ 2172250 w 2407137"/>
                <a:gd name="connsiteY103" fmla="*/ 474239 h 2407138"/>
                <a:gd name="connsiteX104" fmla="*/ 1837666 w 2407137"/>
                <a:gd name="connsiteY104" fmla="*/ 729468 h 2407138"/>
                <a:gd name="connsiteX105" fmla="*/ 1833340 w 2407137"/>
                <a:gd name="connsiteY105" fmla="*/ 723163 h 2407138"/>
                <a:gd name="connsiteX106" fmla="*/ 234886 w 2407137"/>
                <a:gd name="connsiteY106" fmla="*/ 1932900 h 2407138"/>
                <a:gd name="connsiteX107" fmla="*/ 569471 w 2407137"/>
                <a:gd name="connsiteY107" fmla="*/ 1677670 h 2407138"/>
                <a:gd name="connsiteX108" fmla="*/ 573796 w 2407137"/>
                <a:gd name="connsiteY108" fmla="*/ 1683975 h 2407138"/>
                <a:gd name="connsiteX109" fmla="*/ 578735 w 2407137"/>
                <a:gd name="connsiteY109" fmla="*/ 1689813 h 2407138"/>
                <a:gd name="connsiteX110" fmla="*/ 244150 w 2407137"/>
                <a:gd name="connsiteY110" fmla="*/ 1945043 h 2407138"/>
                <a:gd name="connsiteX111" fmla="*/ 266342 w 2407137"/>
                <a:gd name="connsiteY111" fmla="*/ 1735860 h 2407138"/>
                <a:gd name="connsiteX112" fmla="*/ 514363 w 2407137"/>
                <a:gd name="connsiteY112" fmla="*/ 1592665 h 2407138"/>
                <a:gd name="connsiteX113" fmla="*/ 522208 w 2407137"/>
                <a:gd name="connsiteY113" fmla="*/ 1605770 h 2407138"/>
                <a:gd name="connsiteX114" fmla="*/ 274274 w 2407137"/>
                <a:gd name="connsiteY114" fmla="*/ 1748916 h 2407138"/>
                <a:gd name="connsiteX115" fmla="*/ 1960501 w 2407137"/>
                <a:gd name="connsiteY115" fmla="*/ 435837 h 2407138"/>
                <a:gd name="connsiteX116" fmla="*/ 1966159 w 2407137"/>
                <a:gd name="connsiteY116" fmla="*/ 440979 h 2407138"/>
                <a:gd name="connsiteX117" fmla="*/ 1971301 w 2407137"/>
                <a:gd name="connsiteY117" fmla="*/ 446637 h 2407138"/>
                <a:gd name="connsiteX118" fmla="*/ 1768891 w 2407137"/>
                <a:gd name="connsiteY118" fmla="*/ 649046 h 2407138"/>
                <a:gd name="connsiteX119" fmla="*/ 1762525 w 2407137"/>
                <a:gd name="connsiteY119" fmla="*/ 642058 h 2407138"/>
                <a:gd name="connsiteX120" fmla="*/ 1757990 w 2407137"/>
                <a:gd name="connsiteY120" fmla="*/ 638348 h 2407138"/>
                <a:gd name="connsiteX121" fmla="*/ 1938389 w 2407137"/>
                <a:gd name="connsiteY121" fmla="*/ 239045 h 2407138"/>
                <a:gd name="connsiteX122" fmla="*/ 1950479 w 2407137"/>
                <a:gd name="connsiteY122" fmla="*/ 248377 h 2407138"/>
                <a:gd name="connsiteX123" fmla="*/ 1693086 w 2407137"/>
                <a:gd name="connsiteY123" fmla="*/ 581852 h 2407138"/>
                <a:gd name="connsiteX124" fmla="*/ 1681090 w 2407137"/>
                <a:gd name="connsiteY124" fmla="*/ 572398 h 2407138"/>
                <a:gd name="connsiteX125" fmla="*/ 79129 w 2407137"/>
                <a:gd name="connsiteY125" fmla="*/ 1657336 h 2407138"/>
                <a:gd name="connsiteX126" fmla="*/ 468633 w 2407137"/>
                <a:gd name="connsiteY126" fmla="*/ 1497292 h 2407138"/>
                <a:gd name="connsiteX127" fmla="*/ 474580 w 2407137"/>
                <a:gd name="connsiteY127" fmla="*/ 1511360 h 2407138"/>
                <a:gd name="connsiteX128" fmla="*/ 84934 w 2407137"/>
                <a:gd name="connsiteY128" fmla="*/ 1671462 h 2407138"/>
                <a:gd name="connsiteX129" fmla="*/ 160929 w 2407137"/>
                <a:gd name="connsiteY129" fmla="*/ 1475039 h 2407138"/>
                <a:gd name="connsiteX130" fmla="*/ 437296 w 2407137"/>
                <a:gd name="connsiteY130" fmla="*/ 1400986 h 2407138"/>
                <a:gd name="connsiteX131" fmla="*/ 440876 w 2407137"/>
                <a:gd name="connsiteY131" fmla="*/ 1415837 h 2407138"/>
                <a:gd name="connsiteX132" fmla="*/ 164732 w 2407137"/>
                <a:gd name="connsiteY132" fmla="*/ 1489830 h 2407138"/>
                <a:gd name="connsiteX133" fmla="*/ 1735859 w 2407137"/>
                <a:gd name="connsiteY133" fmla="*/ 266344 h 2407138"/>
                <a:gd name="connsiteX134" fmla="*/ 1748915 w 2407137"/>
                <a:gd name="connsiteY134" fmla="*/ 274276 h 2407138"/>
                <a:gd name="connsiteX135" fmla="*/ 1604721 w 2407137"/>
                <a:gd name="connsiteY135" fmla="*/ 524026 h 2407138"/>
                <a:gd name="connsiteX136" fmla="*/ 1591261 w 2407137"/>
                <a:gd name="connsiteY136" fmla="*/ 516794 h 2407138"/>
                <a:gd name="connsiteX137" fmla="*/ 1663713 w 2407137"/>
                <a:gd name="connsiteY137" fmla="*/ 81725 h 2407138"/>
                <a:gd name="connsiteX138" fmla="*/ 1677806 w 2407137"/>
                <a:gd name="connsiteY138" fmla="*/ 87609 h 2407138"/>
                <a:gd name="connsiteX139" fmla="*/ 1514465 w 2407137"/>
                <a:gd name="connsiteY139" fmla="*/ 478804 h 2407138"/>
                <a:gd name="connsiteX140" fmla="*/ 1500526 w 2407137"/>
                <a:gd name="connsiteY140" fmla="*/ 472548 h 2407138"/>
                <a:gd name="connsiteX141" fmla="*/ 0 w 2407137"/>
                <a:gd name="connsiteY141" fmla="*/ 1350847 h 2407138"/>
                <a:gd name="connsiteX142" fmla="*/ 420056 w 2407137"/>
                <a:gd name="connsiteY142" fmla="*/ 1296759 h 2407138"/>
                <a:gd name="connsiteX143" fmla="*/ 422405 w 2407137"/>
                <a:gd name="connsiteY143" fmla="*/ 1311854 h 2407138"/>
                <a:gd name="connsiteX144" fmla="*/ 1951 w 2407137"/>
                <a:gd name="connsiteY144" fmla="*/ 1365994 h 2407138"/>
                <a:gd name="connsiteX145" fmla="*/ 125488 w 2407137"/>
                <a:gd name="connsiteY145" fmla="*/ 1195933 h 2407138"/>
                <a:gd name="connsiteX146" fmla="*/ 411391 w 2407137"/>
                <a:gd name="connsiteY146" fmla="*/ 1195933 h 2407138"/>
                <a:gd name="connsiteX147" fmla="*/ 411958 w 2407137"/>
                <a:gd name="connsiteY147" fmla="*/ 1211206 h 2407138"/>
                <a:gd name="connsiteX148" fmla="*/ 125488 w 2407137"/>
                <a:gd name="connsiteY148" fmla="*/ 1211206 h 2407138"/>
                <a:gd name="connsiteX149" fmla="*/ 125102 w 2407137"/>
                <a:gd name="connsiteY149" fmla="*/ 1203569 h 2407138"/>
                <a:gd name="connsiteX150" fmla="*/ 1475037 w 2407137"/>
                <a:gd name="connsiteY150" fmla="*/ 160931 h 2407138"/>
                <a:gd name="connsiteX151" fmla="*/ 1489829 w 2407137"/>
                <a:gd name="connsiteY151" fmla="*/ 164734 h 2407138"/>
                <a:gd name="connsiteX152" fmla="*/ 1415102 w 2407137"/>
                <a:gd name="connsiteY152" fmla="*/ 443621 h 2407138"/>
                <a:gd name="connsiteX153" fmla="*/ 1400508 w 2407137"/>
                <a:gd name="connsiteY153" fmla="*/ 439077 h 2407138"/>
                <a:gd name="connsiteX154" fmla="*/ 164732 w 2407137"/>
                <a:gd name="connsiteY154" fmla="*/ 917309 h 2407138"/>
                <a:gd name="connsiteX155" fmla="*/ 443620 w 2407137"/>
                <a:gd name="connsiteY155" fmla="*/ 992037 h 2407138"/>
                <a:gd name="connsiteX156" fmla="*/ 439076 w 2407137"/>
                <a:gd name="connsiteY156" fmla="*/ 1006630 h 2407138"/>
                <a:gd name="connsiteX157" fmla="*/ 160929 w 2407137"/>
                <a:gd name="connsiteY157" fmla="*/ 932101 h 2407138"/>
                <a:gd name="connsiteX158" fmla="*/ 1195932 w 2407137"/>
                <a:gd name="connsiteY158" fmla="*/ 125490 h 2407138"/>
                <a:gd name="connsiteX159" fmla="*/ 1203568 w 2407137"/>
                <a:gd name="connsiteY159" fmla="*/ 125104 h 2407138"/>
                <a:gd name="connsiteX160" fmla="*/ 1211205 w 2407137"/>
                <a:gd name="connsiteY160" fmla="*/ 125490 h 2407138"/>
                <a:gd name="connsiteX161" fmla="*/ 1211205 w 2407137"/>
                <a:gd name="connsiteY161" fmla="*/ 411392 h 2407138"/>
                <a:gd name="connsiteX162" fmla="*/ 1195932 w 2407137"/>
                <a:gd name="connsiteY162" fmla="*/ 411959 h 2407138"/>
                <a:gd name="connsiteX163" fmla="*/ 1357679 w 2407137"/>
                <a:gd name="connsiteY163" fmla="*/ 856 h 2407138"/>
                <a:gd name="connsiteX164" fmla="*/ 1372816 w 2407137"/>
                <a:gd name="connsiteY164" fmla="*/ 2893 h 2407138"/>
                <a:gd name="connsiteX165" fmla="*/ 1316657 w 2407137"/>
                <a:gd name="connsiteY165" fmla="*/ 420298 h 2407138"/>
                <a:gd name="connsiteX166" fmla="*/ 1309186 w 2407137"/>
                <a:gd name="connsiteY166" fmla="*/ 418554 h 2407138"/>
                <a:gd name="connsiteX167" fmla="*/ 1301520 w 2407137"/>
                <a:gd name="connsiteY167" fmla="*/ 418261 h 2407138"/>
                <a:gd name="connsiteX168" fmla="*/ 2893 w 2407137"/>
                <a:gd name="connsiteY168" fmla="*/ 1034322 h 2407138"/>
                <a:gd name="connsiteX169" fmla="*/ 420297 w 2407137"/>
                <a:gd name="connsiteY169" fmla="*/ 1090480 h 2407138"/>
                <a:gd name="connsiteX170" fmla="*/ 418554 w 2407137"/>
                <a:gd name="connsiteY170" fmla="*/ 1097951 h 2407138"/>
                <a:gd name="connsiteX171" fmla="*/ 418261 w 2407137"/>
                <a:gd name="connsiteY171" fmla="*/ 1105616 h 2407138"/>
                <a:gd name="connsiteX172" fmla="*/ 855 w 2407137"/>
                <a:gd name="connsiteY172" fmla="*/ 1049458 h 2407138"/>
                <a:gd name="connsiteX173" fmla="*/ 274274 w 2407137"/>
                <a:gd name="connsiteY173" fmla="*/ 658223 h 2407138"/>
                <a:gd name="connsiteX174" fmla="*/ 524025 w 2407137"/>
                <a:gd name="connsiteY174" fmla="*/ 802416 h 2407138"/>
                <a:gd name="connsiteX175" fmla="*/ 516793 w 2407137"/>
                <a:gd name="connsiteY175" fmla="*/ 815877 h 2407138"/>
                <a:gd name="connsiteX176" fmla="*/ 266342 w 2407137"/>
                <a:gd name="connsiteY176" fmla="*/ 671279 h 2407138"/>
                <a:gd name="connsiteX177" fmla="*/ 917308 w 2407137"/>
                <a:gd name="connsiteY177" fmla="*/ 164734 h 2407138"/>
                <a:gd name="connsiteX178" fmla="*/ 932100 w 2407137"/>
                <a:gd name="connsiteY178" fmla="*/ 160930 h 2407138"/>
                <a:gd name="connsiteX179" fmla="*/ 1006152 w 2407137"/>
                <a:gd name="connsiteY179" fmla="*/ 437297 h 2407138"/>
                <a:gd name="connsiteX180" fmla="*/ 991300 w 2407137"/>
                <a:gd name="connsiteY180" fmla="*/ 440877 h 2407138"/>
                <a:gd name="connsiteX181" fmla="*/ 1041143 w 2407137"/>
                <a:gd name="connsiteY181" fmla="*/ 1951 h 2407138"/>
                <a:gd name="connsiteX182" fmla="*/ 1056290 w 2407137"/>
                <a:gd name="connsiteY182" fmla="*/ 0 h 2407138"/>
                <a:gd name="connsiteX183" fmla="*/ 1110379 w 2407137"/>
                <a:gd name="connsiteY183" fmla="*/ 420056 h 2407138"/>
                <a:gd name="connsiteX184" fmla="*/ 1095283 w 2407137"/>
                <a:gd name="connsiteY184" fmla="*/ 422406 h 2407138"/>
                <a:gd name="connsiteX185" fmla="*/ 87609 w 2407137"/>
                <a:gd name="connsiteY185" fmla="*/ 729331 h 2407138"/>
                <a:gd name="connsiteX186" fmla="*/ 478803 w 2407137"/>
                <a:gd name="connsiteY186" fmla="*/ 892672 h 2407138"/>
                <a:gd name="connsiteX187" fmla="*/ 472547 w 2407137"/>
                <a:gd name="connsiteY187" fmla="*/ 906611 h 2407138"/>
                <a:gd name="connsiteX188" fmla="*/ 81723 w 2407137"/>
                <a:gd name="connsiteY188" fmla="*/ 743424 h 2407138"/>
                <a:gd name="connsiteX189" fmla="*/ 84666 w 2407137"/>
                <a:gd name="connsiteY189" fmla="*/ 736377 h 2407138"/>
                <a:gd name="connsiteX190" fmla="*/ 446636 w 2407137"/>
                <a:gd name="connsiteY190" fmla="*/ 435837 h 2407138"/>
                <a:gd name="connsiteX191" fmla="*/ 649045 w 2407137"/>
                <a:gd name="connsiteY191" fmla="*/ 638246 h 2407138"/>
                <a:gd name="connsiteX192" fmla="*/ 642057 w 2407137"/>
                <a:gd name="connsiteY192" fmla="*/ 644612 h 2407138"/>
                <a:gd name="connsiteX193" fmla="*/ 638347 w 2407137"/>
                <a:gd name="connsiteY193" fmla="*/ 649147 h 2407138"/>
                <a:gd name="connsiteX194" fmla="*/ 435836 w 2407137"/>
                <a:gd name="connsiteY194" fmla="*/ 446636 h 2407138"/>
                <a:gd name="connsiteX195" fmla="*/ 440978 w 2407137"/>
                <a:gd name="connsiteY195" fmla="*/ 440979 h 2407138"/>
                <a:gd name="connsiteX196" fmla="*/ 658223 w 2407137"/>
                <a:gd name="connsiteY196" fmla="*/ 274275 h 2407138"/>
                <a:gd name="connsiteX197" fmla="*/ 671279 w 2407137"/>
                <a:gd name="connsiteY197" fmla="*/ 266343 h 2407138"/>
                <a:gd name="connsiteX198" fmla="*/ 814473 w 2407137"/>
                <a:gd name="connsiteY198" fmla="*/ 514363 h 2407138"/>
                <a:gd name="connsiteX199" fmla="*/ 801367 w 2407137"/>
                <a:gd name="connsiteY199" fmla="*/ 522209 h 2407138"/>
                <a:gd name="connsiteX200" fmla="*/ 735676 w 2407137"/>
                <a:gd name="connsiteY200" fmla="*/ 84934 h 2407138"/>
                <a:gd name="connsiteX201" fmla="*/ 749802 w 2407137"/>
                <a:gd name="connsiteY201" fmla="*/ 79129 h 2407138"/>
                <a:gd name="connsiteX202" fmla="*/ 909846 w 2407137"/>
                <a:gd name="connsiteY202" fmla="*/ 468633 h 2407138"/>
                <a:gd name="connsiteX203" fmla="*/ 895778 w 2407137"/>
                <a:gd name="connsiteY203" fmla="*/ 474580 h 2407138"/>
                <a:gd name="connsiteX204" fmla="*/ 248376 w 2407137"/>
                <a:gd name="connsiteY204" fmla="*/ 456659 h 2407138"/>
                <a:gd name="connsiteX205" fmla="*/ 581852 w 2407137"/>
                <a:gd name="connsiteY205" fmla="*/ 714051 h 2407138"/>
                <a:gd name="connsiteX206" fmla="*/ 572397 w 2407137"/>
                <a:gd name="connsiteY206" fmla="*/ 726047 h 2407138"/>
                <a:gd name="connsiteX207" fmla="*/ 239044 w 2407137"/>
                <a:gd name="connsiteY207" fmla="*/ 468748 h 2407138"/>
                <a:gd name="connsiteX208" fmla="*/ 243710 w 2407137"/>
                <a:gd name="connsiteY208" fmla="*/ 462704 h 2407138"/>
                <a:gd name="connsiteX209" fmla="*/ 462094 w 2407137"/>
                <a:gd name="connsiteY209" fmla="*/ 244150 h 2407138"/>
                <a:gd name="connsiteX210" fmla="*/ 474238 w 2407137"/>
                <a:gd name="connsiteY210" fmla="*/ 234887 h 2407138"/>
                <a:gd name="connsiteX211" fmla="*/ 729468 w 2407137"/>
                <a:gd name="connsiteY211" fmla="*/ 569472 h 2407138"/>
                <a:gd name="connsiteX212" fmla="*/ 723162 w 2407137"/>
                <a:gd name="connsiteY212" fmla="*/ 573797 h 2407138"/>
                <a:gd name="connsiteX213" fmla="*/ 717325 w 2407137"/>
                <a:gd name="connsiteY213" fmla="*/ 578735 h 240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2407137" h="2407138">
                  <a:moveTo>
                    <a:pt x="1677670" y="1837666"/>
                  </a:moveTo>
                  <a:lnTo>
                    <a:pt x="1683974" y="1833341"/>
                  </a:lnTo>
                  <a:lnTo>
                    <a:pt x="1689813" y="1828403"/>
                  </a:lnTo>
                  <a:lnTo>
                    <a:pt x="1945042" y="2162988"/>
                  </a:lnTo>
                  <a:lnTo>
                    <a:pt x="1932899" y="2172251"/>
                  </a:lnTo>
                  <a:close/>
                  <a:moveTo>
                    <a:pt x="1592663" y="1892774"/>
                  </a:moveTo>
                  <a:lnTo>
                    <a:pt x="1605769" y="1884929"/>
                  </a:lnTo>
                  <a:lnTo>
                    <a:pt x="1748914" y="2132863"/>
                  </a:lnTo>
                  <a:lnTo>
                    <a:pt x="1735858" y="2140795"/>
                  </a:lnTo>
                  <a:close/>
                  <a:moveTo>
                    <a:pt x="1768789" y="1757990"/>
                  </a:moveTo>
                  <a:lnTo>
                    <a:pt x="1971301" y="1960502"/>
                  </a:lnTo>
                  <a:lnTo>
                    <a:pt x="1966159" y="1966159"/>
                  </a:lnTo>
                  <a:lnTo>
                    <a:pt x="1960501" y="1971301"/>
                  </a:lnTo>
                  <a:lnTo>
                    <a:pt x="1758092" y="1768892"/>
                  </a:lnTo>
                  <a:lnTo>
                    <a:pt x="1765079" y="1762526"/>
                  </a:lnTo>
                  <a:close/>
                  <a:moveTo>
                    <a:pt x="1834740" y="1681091"/>
                  </a:moveTo>
                  <a:lnTo>
                    <a:pt x="2168093" y="1938389"/>
                  </a:lnTo>
                  <a:lnTo>
                    <a:pt x="2158761" y="1950479"/>
                  </a:lnTo>
                  <a:lnTo>
                    <a:pt x="1825285" y="1693086"/>
                  </a:lnTo>
                  <a:close/>
                  <a:moveTo>
                    <a:pt x="1497292" y="1938505"/>
                  </a:moveTo>
                  <a:lnTo>
                    <a:pt x="1511359" y="1932557"/>
                  </a:lnTo>
                  <a:lnTo>
                    <a:pt x="1671461" y="2322204"/>
                  </a:lnTo>
                  <a:lnTo>
                    <a:pt x="1657335" y="2328008"/>
                  </a:lnTo>
                  <a:close/>
                  <a:moveTo>
                    <a:pt x="1400984" y="1969841"/>
                  </a:moveTo>
                  <a:lnTo>
                    <a:pt x="1415837" y="1966261"/>
                  </a:lnTo>
                  <a:lnTo>
                    <a:pt x="1489829" y="2242404"/>
                  </a:lnTo>
                  <a:lnTo>
                    <a:pt x="1475037" y="2246208"/>
                  </a:lnTo>
                  <a:close/>
                  <a:moveTo>
                    <a:pt x="1890343" y="1591261"/>
                  </a:moveTo>
                  <a:lnTo>
                    <a:pt x="2140794" y="1735859"/>
                  </a:lnTo>
                  <a:lnTo>
                    <a:pt x="2132863" y="1748915"/>
                  </a:lnTo>
                  <a:lnTo>
                    <a:pt x="1883112" y="1604721"/>
                  </a:lnTo>
                  <a:close/>
                  <a:moveTo>
                    <a:pt x="1934589" y="1500527"/>
                  </a:moveTo>
                  <a:lnTo>
                    <a:pt x="2325413" y="1663714"/>
                  </a:lnTo>
                  <a:lnTo>
                    <a:pt x="2319529" y="1677807"/>
                  </a:lnTo>
                  <a:lnTo>
                    <a:pt x="1928334" y="1514465"/>
                  </a:lnTo>
                  <a:close/>
                  <a:moveTo>
                    <a:pt x="1296758" y="1987081"/>
                  </a:moveTo>
                  <a:lnTo>
                    <a:pt x="1311855" y="1984732"/>
                  </a:lnTo>
                  <a:lnTo>
                    <a:pt x="1365995" y="2405187"/>
                  </a:lnTo>
                  <a:lnTo>
                    <a:pt x="1350847" y="2407138"/>
                  </a:lnTo>
                  <a:close/>
                  <a:moveTo>
                    <a:pt x="1195932" y="1995746"/>
                  </a:moveTo>
                  <a:lnTo>
                    <a:pt x="1211204" y="1995179"/>
                  </a:lnTo>
                  <a:lnTo>
                    <a:pt x="1211204" y="2281649"/>
                  </a:lnTo>
                  <a:lnTo>
                    <a:pt x="1203568" y="2282034"/>
                  </a:lnTo>
                  <a:lnTo>
                    <a:pt x="1195932" y="2281649"/>
                  </a:lnTo>
                  <a:close/>
                  <a:moveTo>
                    <a:pt x="1968060" y="1400508"/>
                  </a:moveTo>
                  <a:lnTo>
                    <a:pt x="2246208" y="1475038"/>
                  </a:lnTo>
                  <a:lnTo>
                    <a:pt x="2242404" y="1489831"/>
                  </a:lnTo>
                  <a:lnTo>
                    <a:pt x="1963516" y="1415103"/>
                  </a:lnTo>
                  <a:close/>
                  <a:moveTo>
                    <a:pt x="1090481" y="1986840"/>
                  </a:moveTo>
                  <a:lnTo>
                    <a:pt x="1097951" y="1988584"/>
                  </a:lnTo>
                  <a:lnTo>
                    <a:pt x="1105617" y="1988876"/>
                  </a:lnTo>
                  <a:lnTo>
                    <a:pt x="1049458" y="2406281"/>
                  </a:lnTo>
                  <a:lnTo>
                    <a:pt x="1034322" y="2404245"/>
                  </a:lnTo>
                  <a:close/>
                  <a:moveTo>
                    <a:pt x="1988876" y="1301520"/>
                  </a:moveTo>
                  <a:lnTo>
                    <a:pt x="2406281" y="1357679"/>
                  </a:lnTo>
                  <a:lnTo>
                    <a:pt x="2404244" y="1372815"/>
                  </a:lnTo>
                  <a:lnTo>
                    <a:pt x="1986840" y="1316657"/>
                  </a:lnTo>
                  <a:lnTo>
                    <a:pt x="1988583" y="1309187"/>
                  </a:lnTo>
                  <a:close/>
                  <a:moveTo>
                    <a:pt x="992036" y="1963517"/>
                  </a:moveTo>
                  <a:lnTo>
                    <a:pt x="1006629" y="1968061"/>
                  </a:lnTo>
                  <a:lnTo>
                    <a:pt x="932100" y="2246208"/>
                  </a:lnTo>
                  <a:lnTo>
                    <a:pt x="917308" y="2242405"/>
                  </a:lnTo>
                  <a:close/>
                  <a:moveTo>
                    <a:pt x="1995178" y="1195933"/>
                  </a:moveTo>
                  <a:lnTo>
                    <a:pt x="2281649" y="1195933"/>
                  </a:lnTo>
                  <a:lnTo>
                    <a:pt x="2282034" y="1203569"/>
                  </a:lnTo>
                  <a:lnTo>
                    <a:pt x="2281649" y="1211206"/>
                  </a:lnTo>
                  <a:lnTo>
                    <a:pt x="1995745" y="1211206"/>
                  </a:lnTo>
                  <a:close/>
                  <a:moveTo>
                    <a:pt x="1984731" y="1095284"/>
                  </a:moveTo>
                  <a:lnTo>
                    <a:pt x="2405186" y="1041144"/>
                  </a:lnTo>
                  <a:lnTo>
                    <a:pt x="2407137" y="1056290"/>
                  </a:lnTo>
                  <a:lnTo>
                    <a:pt x="1987080" y="1110379"/>
                  </a:lnTo>
                  <a:close/>
                  <a:moveTo>
                    <a:pt x="892672" y="1928335"/>
                  </a:moveTo>
                  <a:lnTo>
                    <a:pt x="906611" y="1934590"/>
                  </a:lnTo>
                  <a:lnTo>
                    <a:pt x="743425" y="2325414"/>
                  </a:lnTo>
                  <a:lnTo>
                    <a:pt x="729331" y="2319529"/>
                  </a:lnTo>
                  <a:close/>
                  <a:moveTo>
                    <a:pt x="802416" y="1883113"/>
                  </a:moveTo>
                  <a:lnTo>
                    <a:pt x="815877" y="1890344"/>
                  </a:lnTo>
                  <a:lnTo>
                    <a:pt x="671279" y="2140796"/>
                  </a:lnTo>
                  <a:lnTo>
                    <a:pt x="658223" y="2132863"/>
                  </a:lnTo>
                  <a:close/>
                  <a:moveTo>
                    <a:pt x="1966260" y="991301"/>
                  </a:moveTo>
                  <a:lnTo>
                    <a:pt x="2242405" y="917309"/>
                  </a:lnTo>
                  <a:lnTo>
                    <a:pt x="2246208" y="932101"/>
                  </a:lnTo>
                  <a:lnTo>
                    <a:pt x="1969840" y="1006153"/>
                  </a:lnTo>
                  <a:close/>
                  <a:moveTo>
                    <a:pt x="1932557" y="895779"/>
                  </a:moveTo>
                  <a:lnTo>
                    <a:pt x="2322203" y="735676"/>
                  </a:lnTo>
                  <a:lnTo>
                    <a:pt x="2328008" y="749803"/>
                  </a:lnTo>
                  <a:lnTo>
                    <a:pt x="1938504" y="909846"/>
                  </a:lnTo>
                  <a:close/>
                  <a:moveTo>
                    <a:pt x="714051" y="1825286"/>
                  </a:moveTo>
                  <a:lnTo>
                    <a:pt x="726047" y="1834740"/>
                  </a:lnTo>
                  <a:lnTo>
                    <a:pt x="468748" y="2168094"/>
                  </a:lnTo>
                  <a:lnTo>
                    <a:pt x="456659" y="2158762"/>
                  </a:lnTo>
                  <a:close/>
                  <a:moveTo>
                    <a:pt x="638245" y="1758093"/>
                  </a:moveTo>
                  <a:lnTo>
                    <a:pt x="644611" y="1765080"/>
                  </a:lnTo>
                  <a:lnTo>
                    <a:pt x="649147" y="1768790"/>
                  </a:lnTo>
                  <a:lnTo>
                    <a:pt x="446636" y="1971302"/>
                  </a:lnTo>
                  <a:lnTo>
                    <a:pt x="440978" y="1966159"/>
                  </a:lnTo>
                  <a:lnTo>
                    <a:pt x="435836" y="1960502"/>
                  </a:lnTo>
                  <a:close/>
                  <a:moveTo>
                    <a:pt x="1884928" y="801368"/>
                  </a:moveTo>
                  <a:lnTo>
                    <a:pt x="2132863" y="658223"/>
                  </a:lnTo>
                  <a:lnTo>
                    <a:pt x="2140794" y="671279"/>
                  </a:lnTo>
                  <a:lnTo>
                    <a:pt x="1892773" y="814474"/>
                  </a:lnTo>
                  <a:close/>
                  <a:moveTo>
                    <a:pt x="1828403" y="717325"/>
                  </a:moveTo>
                  <a:lnTo>
                    <a:pt x="2162987" y="462095"/>
                  </a:lnTo>
                  <a:lnTo>
                    <a:pt x="2172250" y="474239"/>
                  </a:lnTo>
                  <a:lnTo>
                    <a:pt x="1837666" y="729468"/>
                  </a:lnTo>
                  <a:lnTo>
                    <a:pt x="1833340" y="723163"/>
                  </a:lnTo>
                  <a:close/>
                  <a:moveTo>
                    <a:pt x="234886" y="1932900"/>
                  </a:moveTo>
                  <a:lnTo>
                    <a:pt x="569471" y="1677670"/>
                  </a:lnTo>
                  <a:lnTo>
                    <a:pt x="573796" y="1683975"/>
                  </a:lnTo>
                  <a:lnTo>
                    <a:pt x="578735" y="1689813"/>
                  </a:lnTo>
                  <a:lnTo>
                    <a:pt x="244150" y="1945043"/>
                  </a:lnTo>
                  <a:close/>
                  <a:moveTo>
                    <a:pt x="266342" y="1735860"/>
                  </a:moveTo>
                  <a:lnTo>
                    <a:pt x="514363" y="1592665"/>
                  </a:lnTo>
                  <a:lnTo>
                    <a:pt x="522208" y="1605770"/>
                  </a:lnTo>
                  <a:lnTo>
                    <a:pt x="274274" y="1748916"/>
                  </a:lnTo>
                  <a:close/>
                  <a:moveTo>
                    <a:pt x="1960501" y="435837"/>
                  </a:moveTo>
                  <a:lnTo>
                    <a:pt x="1966159" y="440979"/>
                  </a:lnTo>
                  <a:lnTo>
                    <a:pt x="1971301" y="446637"/>
                  </a:lnTo>
                  <a:lnTo>
                    <a:pt x="1768891" y="649046"/>
                  </a:lnTo>
                  <a:lnTo>
                    <a:pt x="1762525" y="642058"/>
                  </a:lnTo>
                  <a:lnTo>
                    <a:pt x="1757990" y="638348"/>
                  </a:lnTo>
                  <a:close/>
                  <a:moveTo>
                    <a:pt x="1938389" y="239045"/>
                  </a:moveTo>
                  <a:lnTo>
                    <a:pt x="1950479" y="248377"/>
                  </a:lnTo>
                  <a:lnTo>
                    <a:pt x="1693086" y="581852"/>
                  </a:lnTo>
                  <a:lnTo>
                    <a:pt x="1681090" y="572398"/>
                  </a:lnTo>
                  <a:close/>
                  <a:moveTo>
                    <a:pt x="79129" y="1657336"/>
                  </a:moveTo>
                  <a:lnTo>
                    <a:pt x="468633" y="1497292"/>
                  </a:lnTo>
                  <a:lnTo>
                    <a:pt x="474580" y="1511360"/>
                  </a:lnTo>
                  <a:lnTo>
                    <a:pt x="84934" y="1671462"/>
                  </a:lnTo>
                  <a:close/>
                  <a:moveTo>
                    <a:pt x="160929" y="1475039"/>
                  </a:moveTo>
                  <a:lnTo>
                    <a:pt x="437296" y="1400986"/>
                  </a:lnTo>
                  <a:lnTo>
                    <a:pt x="440876" y="1415837"/>
                  </a:lnTo>
                  <a:lnTo>
                    <a:pt x="164732" y="1489830"/>
                  </a:lnTo>
                  <a:close/>
                  <a:moveTo>
                    <a:pt x="1735859" y="266344"/>
                  </a:moveTo>
                  <a:lnTo>
                    <a:pt x="1748915" y="274276"/>
                  </a:lnTo>
                  <a:lnTo>
                    <a:pt x="1604721" y="524026"/>
                  </a:lnTo>
                  <a:lnTo>
                    <a:pt x="1591261" y="516794"/>
                  </a:lnTo>
                  <a:close/>
                  <a:moveTo>
                    <a:pt x="1663713" y="81725"/>
                  </a:moveTo>
                  <a:lnTo>
                    <a:pt x="1677806" y="87609"/>
                  </a:lnTo>
                  <a:lnTo>
                    <a:pt x="1514465" y="478804"/>
                  </a:lnTo>
                  <a:lnTo>
                    <a:pt x="1500526" y="472548"/>
                  </a:lnTo>
                  <a:close/>
                  <a:moveTo>
                    <a:pt x="0" y="1350847"/>
                  </a:moveTo>
                  <a:lnTo>
                    <a:pt x="420056" y="1296759"/>
                  </a:lnTo>
                  <a:lnTo>
                    <a:pt x="422405" y="1311854"/>
                  </a:lnTo>
                  <a:lnTo>
                    <a:pt x="1951" y="1365994"/>
                  </a:lnTo>
                  <a:close/>
                  <a:moveTo>
                    <a:pt x="125488" y="1195933"/>
                  </a:moveTo>
                  <a:lnTo>
                    <a:pt x="411391" y="1195933"/>
                  </a:lnTo>
                  <a:lnTo>
                    <a:pt x="411958" y="1211206"/>
                  </a:lnTo>
                  <a:lnTo>
                    <a:pt x="125488" y="1211206"/>
                  </a:lnTo>
                  <a:lnTo>
                    <a:pt x="125102" y="1203569"/>
                  </a:lnTo>
                  <a:close/>
                  <a:moveTo>
                    <a:pt x="1475037" y="160931"/>
                  </a:moveTo>
                  <a:lnTo>
                    <a:pt x="1489829" y="164734"/>
                  </a:lnTo>
                  <a:lnTo>
                    <a:pt x="1415102" y="443621"/>
                  </a:lnTo>
                  <a:lnTo>
                    <a:pt x="1400508" y="439077"/>
                  </a:lnTo>
                  <a:close/>
                  <a:moveTo>
                    <a:pt x="164732" y="917309"/>
                  </a:moveTo>
                  <a:lnTo>
                    <a:pt x="443620" y="992037"/>
                  </a:lnTo>
                  <a:lnTo>
                    <a:pt x="439076" y="1006630"/>
                  </a:lnTo>
                  <a:lnTo>
                    <a:pt x="160929" y="932101"/>
                  </a:lnTo>
                  <a:close/>
                  <a:moveTo>
                    <a:pt x="1195932" y="125490"/>
                  </a:moveTo>
                  <a:lnTo>
                    <a:pt x="1203568" y="125104"/>
                  </a:lnTo>
                  <a:lnTo>
                    <a:pt x="1211205" y="125490"/>
                  </a:lnTo>
                  <a:lnTo>
                    <a:pt x="1211205" y="411392"/>
                  </a:lnTo>
                  <a:lnTo>
                    <a:pt x="1195932" y="411959"/>
                  </a:lnTo>
                  <a:close/>
                  <a:moveTo>
                    <a:pt x="1357679" y="856"/>
                  </a:moveTo>
                  <a:lnTo>
                    <a:pt x="1372816" y="2893"/>
                  </a:lnTo>
                  <a:lnTo>
                    <a:pt x="1316657" y="420298"/>
                  </a:lnTo>
                  <a:lnTo>
                    <a:pt x="1309186" y="418554"/>
                  </a:lnTo>
                  <a:lnTo>
                    <a:pt x="1301520" y="418261"/>
                  </a:lnTo>
                  <a:close/>
                  <a:moveTo>
                    <a:pt x="2893" y="1034322"/>
                  </a:moveTo>
                  <a:lnTo>
                    <a:pt x="420297" y="1090480"/>
                  </a:lnTo>
                  <a:lnTo>
                    <a:pt x="418554" y="1097951"/>
                  </a:lnTo>
                  <a:lnTo>
                    <a:pt x="418261" y="1105616"/>
                  </a:lnTo>
                  <a:lnTo>
                    <a:pt x="855" y="1049458"/>
                  </a:lnTo>
                  <a:close/>
                  <a:moveTo>
                    <a:pt x="274274" y="658223"/>
                  </a:moveTo>
                  <a:lnTo>
                    <a:pt x="524025" y="802416"/>
                  </a:lnTo>
                  <a:lnTo>
                    <a:pt x="516793" y="815877"/>
                  </a:lnTo>
                  <a:lnTo>
                    <a:pt x="266342" y="671279"/>
                  </a:lnTo>
                  <a:close/>
                  <a:moveTo>
                    <a:pt x="917308" y="164734"/>
                  </a:moveTo>
                  <a:lnTo>
                    <a:pt x="932100" y="160930"/>
                  </a:lnTo>
                  <a:lnTo>
                    <a:pt x="1006152" y="437297"/>
                  </a:lnTo>
                  <a:lnTo>
                    <a:pt x="991300" y="440877"/>
                  </a:lnTo>
                  <a:close/>
                  <a:moveTo>
                    <a:pt x="1041143" y="1951"/>
                  </a:moveTo>
                  <a:lnTo>
                    <a:pt x="1056290" y="0"/>
                  </a:lnTo>
                  <a:lnTo>
                    <a:pt x="1110379" y="420056"/>
                  </a:lnTo>
                  <a:lnTo>
                    <a:pt x="1095283" y="422406"/>
                  </a:lnTo>
                  <a:close/>
                  <a:moveTo>
                    <a:pt x="87609" y="729331"/>
                  </a:moveTo>
                  <a:lnTo>
                    <a:pt x="478803" y="892672"/>
                  </a:lnTo>
                  <a:lnTo>
                    <a:pt x="472547" y="906611"/>
                  </a:lnTo>
                  <a:lnTo>
                    <a:pt x="81723" y="743424"/>
                  </a:lnTo>
                  <a:lnTo>
                    <a:pt x="84666" y="736377"/>
                  </a:lnTo>
                  <a:close/>
                  <a:moveTo>
                    <a:pt x="446636" y="435837"/>
                  </a:moveTo>
                  <a:lnTo>
                    <a:pt x="649045" y="638246"/>
                  </a:lnTo>
                  <a:lnTo>
                    <a:pt x="642057" y="644612"/>
                  </a:lnTo>
                  <a:lnTo>
                    <a:pt x="638347" y="649147"/>
                  </a:lnTo>
                  <a:lnTo>
                    <a:pt x="435836" y="446636"/>
                  </a:lnTo>
                  <a:lnTo>
                    <a:pt x="440978" y="440979"/>
                  </a:lnTo>
                  <a:close/>
                  <a:moveTo>
                    <a:pt x="658223" y="274275"/>
                  </a:moveTo>
                  <a:lnTo>
                    <a:pt x="671279" y="266343"/>
                  </a:lnTo>
                  <a:lnTo>
                    <a:pt x="814473" y="514363"/>
                  </a:lnTo>
                  <a:lnTo>
                    <a:pt x="801367" y="522209"/>
                  </a:lnTo>
                  <a:close/>
                  <a:moveTo>
                    <a:pt x="735676" y="84934"/>
                  </a:moveTo>
                  <a:lnTo>
                    <a:pt x="749802" y="79129"/>
                  </a:lnTo>
                  <a:lnTo>
                    <a:pt x="909846" y="468633"/>
                  </a:lnTo>
                  <a:lnTo>
                    <a:pt x="895778" y="474580"/>
                  </a:lnTo>
                  <a:close/>
                  <a:moveTo>
                    <a:pt x="248376" y="456659"/>
                  </a:moveTo>
                  <a:lnTo>
                    <a:pt x="581852" y="714051"/>
                  </a:lnTo>
                  <a:lnTo>
                    <a:pt x="572397" y="726047"/>
                  </a:lnTo>
                  <a:lnTo>
                    <a:pt x="239044" y="468748"/>
                  </a:lnTo>
                  <a:lnTo>
                    <a:pt x="243710" y="462704"/>
                  </a:lnTo>
                  <a:close/>
                  <a:moveTo>
                    <a:pt x="462094" y="244150"/>
                  </a:moveTo>
                  <a:lnTo>
                    <a:pt x="474238" y="234887"/>
                  </a:lnTo>
                  <a:lnTo>
                    <a:pt x="729468" y="569472"/>
                  </a:lnTo>
                  <a:lnTo>
                    <a:pt x="723162" y="573797"/>
                  </a:lnTo>
                  <a:lnTo>
                    <a:pt x="717325" y="578735"/>
                  </a:lnTo>
                  <a:close/>
                </a:path>
              </a:pathLst>
            </a:custGeom>
            <a:solidFill>
              <a:srgbClr val="D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雅酷黑 75W" panose="020B0804020202020204" pitchFamily="34" charset="-122"/>
                <a:ea typeface="汉仪雅酷黑 75W" panose="020B0804020202020204" pitchFamily="34" charset="-122"/>
              </a:endParaRPr>
            </a:p>
          </p:txBody>
        </p:sp>
        <p:pic>
          <p:nvPicPr>
            <p:cNvPr id="32" name="图片 31">
              <a:extLst>
                <a:ext uri="{FF2B5EF4-FFF2-40B4-BE49-F238E27FC236}">
                  <a16:creationId xmlns:a16="http://schemas.microsoft.com/office/drawing/2014/main" id="{D7E2BDC7-9C0F-455D-A47C-22880939CAD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46954" y="799517"/>
              <a:ext cx="539551" cy="529776"/>
            </a:xfrm>
            <a:prstGeom prst="rect">
              <a:avLst/>
            </a:prstGeom>
          </p:spPr>
        </p:pic>
      </p:grpSp>
      <p:sp>
        <p:nvSpPr>
          <p:cNvPr id="33" name="文本框 32">
            <a:extLst>
              <a:ext uri="{FF2B5EF4-FFF2-40B4-BE49-F238E27FC236}">
                <a16:creationId xmlns:a16="http://schemas.microsoft.com/office/drawing/2014/main" id="{8DFDF0FF-545F-4D8D-8118-54E42CC9DEAA}"/>
              </a:ext>
            </a:extLst>
          </p:cNvPr>
          <p:cNvSpPr txBox="1"/>
          <p:nvPr/>
        </p:nvSpPr>
        <p:spPr>
          <a:xfrm>
            <a:off x="2318007" y="1781083"/>
            <a:ext cx="4608955" cy="1107996"/>
          </a:xfrm>
          <a:prstGeom prst="rect">
            <a:avLst/>
          </a:prstGeom>
          <a:noFill/>
        </p:spPr>
        <p:txBody>
          <a:bodyPr wrap="none" rtlCol="0">
            <a:spAutoFit/>
          </a:bodyPr>
          <a:lstStyle/>
          <a:p>
            <a:pPr algn="ctr"/>
            <a:r>
              <a:rPr lang="zh-CN" altLang="en-US" sz="6600" spc="300" dirty="0">
                <a:solidFill>
                  <a:srgbClr val="D20000"/>
                </a:solidFill>
                <a:latin typeface="汉仪雅酷黑 75W" panose="020B0804020202020204" pitchFamily="34" charset="-122"/>
                <a:ea typeface="汉仪雅酷黑 75W" panose="020B0804020202020204" pitchFamily="34" charset="-122"/>
                <a:cs typeface="+mn-ea"/>
                <a:sym typeface="+mn-lt"/>
              </a:rPr>
              <a:t>党史小故事</a:t>
            </a:r>
            <a:endParaRPr lang="en-US" altLang="zh-CN" sz="6600" spc="300" dirty="0">
              <a:solidFill>
                <a:srgbClr val="D20000"/>
              </a:solidFill>
              <a:latin typeface="汉仪雅酷黑 75W" panose="020B0804020202020204" pitchFamily="34" charset="-122"/>
              <a:ea typeface="汉仪雅酷黑 75W" panose="020B0804020202020204" pitchFamily="34" charset="-122"/>
              <a:cs typeface="+mn-ea"/>
              <a:sym typeface="+mn-lt"/>
            </a:endParaRPr>
          </a:p>
        </p:txBody>
      </p:sp>
      <p:grpSp>
        <p:nvGrpSpPr>
          <p:cNvPr id="42" name="组合 41">
            <a:extLst>
              <a:ext uri="{FF2B5EF4-FFF2-40B4-BE49-F238E27FC236}">
                <a16:creationId xmlns:a16="http://schemas.microsoft.com/office/drawing/2014/main" id="{55B4EFC0-5512-4594-BE5C-17B30DBBE3C8}"/>
              </a:ext>
            </a:extLst>
          </p:cNvPr>
          <p:cNvGrpSpPr/>
          <p:nvPr/>
        </p:nvGrpSpPr>
        <p:grpSpPr>
          <a:xfrm>
            <a:off x="3661812" y="3030583"/>
            <a:ext cx="1944215" cy="482555"/>
            <a:chOff x="4017035" y="2978082"/>
            <a:chExt cx="1415770" cy="277000"/>
          </a:xfrm>
        </p:grpSpPr>
        <p:sp>
          <p:nvSpPr>
            <p:cNvPr id="35" name="圆角矩形 21">
              <a:extLst>
                <a:ext uri="{FF2B5EF4-FFF2-40B4-BE49-F238E27FC236}">
                  <a16:creationId xmlns:a16="http://schemas.microsoft.com/office/drawing/2014/main" id="{45DF1B60-8095-41B1-B2CC-F29419C0E110}"/>
                </a:ext>
              </a:extLst>
            </p:cNvPr>
            <p:cNvSpPr/>
            <p:nvPr/>
          </p:nvSpPr>
          <p:spPr>
            <a:xfrm>
              <a:off x="4017035" y="2978082"/>
              <a:ext cx="1415770" cy="277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汉仪雅酷黑 75W" panose="020B0804020202020204" pitchFamily="34" charset="-122"/>
                <a:ea typeface="汉仪雅酷黑 75W" panose="020B0804020202020204" pitchFamily="34" charset="-122"/>
              </a:endParaRPr>
            </a:p>
          </p:txBody>
        </p:sp>
        <p:sp>
          <p:nvSpPr>
            <p:cNvPr id="36" name="文本框 35">
              <a:extLst>
                <a:ext uri="{FF2B5EF4-FFF2-40B4-BE49-F238E27FC236}">
                  <a16:creationId xmlns:a16="http://schemas.microsoft.com/office/drawing/2014/main" id="{7D86FCB2-CE31-4578-9617-333C9C57AC43}"/>
                </a:ext>
              </a:extLst>
            </p:cNvPr>
            <p:cNvSpPr txBox="1"/>
            <p:nvPr/>
          </p:nvSpPr>
          <p:spPr>
            <a:xfrm>
              <a:off x="4037405" y="3007429"/>
              <a:ext cx="1387638" cy="212007"/>
            </a:xfrm>
            <a:prstGeom prst="rect">
              <a:avLst/>
            </a:prstGeom>
            <a:noFill/>
            <a:ln>
              <a:noFill/>
            </a:ln>
          </p:spPr>
          <p:txBody>
            <a:bodyPr wrap="square" rtlCol="0">
              <a:spAutoFit/>
            </a:bodyPr>
            <a:lstStyle/>
            <a:p>
              <a:pPr algn="ctr"/>
              <a:r>
                <a:rPr lang="en-US" altLang="zh-CN" dirty="0">
                  <a:solidFill>
                    <a:schemeClr val="bg1"/>
                  </a:solidFill>
                  <a:latin typeface="汉仪雅酷黑 75W" panose="020B0804020202020204" pitchFamily="34" charset="-122"/>
                  <a:ea typeface="汉仪雅酷黑 75W" panose="020B0804020202020204" pitchFamily="34" charset="-122"/>
                  <a:cs typeface="+mn-ea"/>
                  <a:sym typeface="+mn-lt"/>
                </a:rPr>
                <a:t>2011</a:t>
              </a:r>
              <a:r>
                <a:rPr lang="zh-CN" altLang="en-US" dirty="0">
                  <a:solidFill>
                    <a:schemeClr val="bg1"/>
                  </a:solidFill>
                  <a:latin typeface="汉仪雅酷黑 75W" panose="020B0804020202020204" pitchFamily="34" charset="-122"/>
                  <a:ea typeface="汉仪雅酷黑 75W" panose="020B0804020202020204" pitchFamily="34" charset="-122"/>
                  <a:cs typeface="+mn-ea"/>
                  <a:sym typeface="+mn-lt"/>
                </a:rPr>
                <a:t>年</a:t>
              </a:r>
              <a:r>
                <a:rPr lang="en-US" altLang="zh-CN" dirty="0">
                  <a:solidFill>
                    <a:schemeClr val="bg1"/>
                  </a:solidFill>
                  <a:latin typeface="汉仪雅酷黑 75W" panose="020B0804020202020204" pitchFamily="34" charset="-122"/>
                  <a:ea typeface="汉仪雅酷黑 75W" panose="020B0804020202020204" pitchFamily="34" charset="-122"/>
                  <a:cs typeface="+mn-ea"/>
                  <a:sym typeface="+mn-lt"/>
                </a:rPr>
                <a:t>-2021</a:t>
              </a:r>
              <a:r>
                <a:rPr lang="zh-CN" altLang="en-US" dirty="0">
                  <a:solidFill>
                    <a:schemeClr val="bg1"/>
                  </a:solidFill>
                  <a:latin typeface="汉仪雅酷黑 75W" panose="020B0804020202020204" pitchFamily="34" charset="-122"/>
                  <a:ea typeface="汉仪雅酷黑 75W" panose="020B0804020202020204" pitchFamily="34" charset="-122"/>
                  <a:cs typeface="+mn-ea"/>
                  <a:sym typeface="+mn-lt"/>
                </a:rPr>
                <a:t>年</a:t>
              </a:r>
            </a:p>
          </p:txBody>
        </p:sp>
      </p:grpSp>
      <p:grpSp>
        <p:nvGrpSpPr>
          <p:cNvPr id="43" name="组合 42">
            <a:extLst>
              <a:ext uri="{FF2B5EF4-FFF2-40B4-BE49-F238E27FC236}">
                <a16:creationId xmlns:a16="http://schemas.microsoft.com/office/drawing/2014/main" id="{212D87C0-2DF2-4A0F-9BA6-E35E3C05517B}"/>
              </a:ext>
            </a:extLst>
          </p:cNvPr>
          <p:cNvGrpSpPr/>
          <p:nvPr/>
        </p:nvGrpSpPr>
        <p:grpSpPr>
          <a:xfrm>
            <a:off x="3914599" y="3704761"/>
            <a:ext cx="1415770" cy="277000"/>
            <a:chOff x="4721319" y="3474093"/>
            <a:chExt cx="1415770" cy="277000"/>
          </a:xfrm>
        </p:grpSpPr>
        <p:sp>
          <p:nvSpPr>
            <p:cNvPr id="37" name="圆角矩形 21">
              <a:extLst>
                <a:ext uri="{FF2B5EF4-FFF2-40B4-BE49-F238E27FC236}">
                  <a16:creationId xmlns:a16="http://schemas.microsoft.com/office/drawing/2014/main" id="{C4B1AF5B-9FFA-422C-B0BD-8E4AD7A7E0BB}"/>
                </a:ext>
              </a:extLst>
            </p:cNvPr>
            <p:cNvSpPr/>
            <p:nvPr/>
          </p:nvSpPr>
          <p:spPr>
            <a:xfrm>
              <a:off x="4721319" y="3474093"/>
              <a:ext cx="1415770" cy="277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汉仪雅酷黑 75W" panose="020B0804020202020204" pitchFamily="34" charset="-122"/>
                <a:ea typeface="汉仪雅酷黑 75W" panose="020B0804020202020204" pitchFamily="34" charset="-122"/>
              </a:endParaRPr>
            </a:p>
          </p:txBody>
        </p:sp>
        <p:sp>
          <p:nvSpPr>
            <p:cNvPr id="38" name="文本框 37">
              <a:extLst>
                <a:ext uri="{FF2B5EF4-FFF2-40B4-BE49-F238E27FC236}">
                  <a16:creationId xmlns:a16="http://schemas.microsoft.com/office/drawing/2014/main" id="{AAB8D7EE-F36B-40EF-B16B-9D0F1D14C0DE}"/>
                </a:ext>
              </a:extLst>
            </p:cNvPr>
            <p:cNvSpPr txBox="1"/>
            <p:nvPr/>
          </p:nvSpPr>
          <p:spPr>
            <a:xfrm>
              <a:off x="5194419" y="3474094"/>
              <a:ext cx="492443" cy="276999"/>
            </a:xfrm>
            <a:prstGeom prst="rect">
              <a:avLst/>
            </a:prstGeom>
            <a:noFill/>
            <a:ln>
              <a:noFill/>
            </a:ln>
          </p:spPr>
          <p:txBody>
            <a:bodyPr wrap="none" rtlCol="0">
              <a:spAutoFit/>
            </a:bodyPr>
            <a:lstStyle/>
            <a:p>
              <a:pPr algn="ctr"/>
              <a:r>
                <a:rPr lang="zh-CN" altLang="en-US" sz="1200" dirty="0">
                  <a:solidFill>
                    <a:schemeClr val="bg1"/>
                  </a:solidFill>
                  <a:latin typeface="汉仪雅酷黑 75W" panose="020B0804020202020204" pitchFamily="34" charset="-122"/>
                  <a:ea typeface="汉仪雅酷黑 75W" panose="020B0804020202020204" pitchFamily="34" charset="-122"/>
                  <a:cs typeface="+mn-ea"/>
                  <a:sym typeface="+mn-lt"/>
                </a:rPr>
                <a:t>十组</a:t>
              </a:r>
            </a:p>
          </p:txBody>
        </p:sp>
      </p:grpSp>
      <p:pic>
        <p:nvPicPr>
          <p:cNvPr id="40" name="图片 39">
            <a:extLst>
              <a:ext uri="{FF2B5EF4-FFF2-40B4-BE49-F238E27FC236}">
                <a16:creationId xmlns:a16="http://schemas.microsoft.com/office/drawing/2014/main" id="{5D69B71A-8FC5-4477-8CEA-472EF06970DB}"/>
              </a:ext>
            </a:extLst>
          </p:cNvPr>
          <p:cNvPicPr>
            <a:picLocks noChangeAspect="1"/>
          </p:cNvPicPr>
          <p:nvPr/>
        </p:nvPicPr>
        <p:blipFill>
          <a:blip r:embed="rId9"/>
          <a:stretch>
            <a:fillRect/>
          </a:stretch>
        </p:blipFill>
        <p:spPr>
          <a:xfrm flipH="1">
            <a:off x="6876256" y="816369"/>
            <a:ext cx="1080907" cy="748888"/>
          </a:xfrm>
          <a:prstGeom prst="rect">
            <a:avLst/>
          </a:prstGeom>
        </p:spPr>
      </p:pic>
    </p:spTree>
    <p:extLst>
      <p:ext uri="{BB962C8B-B14F-4D97-AF65-F5344CB8AC3E}">
        <p14:creationId xmlns:p14="http://schemas.microsoft.com/office/powerpoint/2010/main" val="3448192790"/>
      </p:ext>
    </p:extLst>
  </p:cSld>
  <p:clrMapOvr>
    <a:masterClrMapping/>
  </p:clrMapOvr>
  <mc:AlternateContent xmlns:mc="http://schemas.openxmlformats.org/markup-compatibility/2006" xmlns:p14="http://schemas.microsoft.com/office/powerpoint/2010/main">
    <mc:Choice Requires="p14">
      <p:transition p14:dur="10" advTm="2000"/>
    </mc:Choice>
    <mc:Fallback xmlns="">
      <p:transition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childTnLst>
                          </p:cTn>
                        </p:par>
                        <p:par>
                          <p:cTn id="22" fill="hold">
                            <p:stCondLst>
                              <p:cond delay="2500"/>
                            </p:stCondLst>
                            <p:childTnLst>
                              <p:par>
                                <p:cTn id="23" presetID="2" presetClass="entr" presetSubtype="4"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par>
                          <p:cTn id="27" fill="hold">
                            <p:stCondLst>
                              <p:cond delay="3000"/>
                            </p:stCondLst>
                            <p:childTnLst>
                              <p:par>
                                <p:cTn id="28" presetID="22" presetClass="entr" presetSubtype="4" fill="hold"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down)">
                                      <p:cBhvr>
                                        <p:cTn id="30" dur="500"/>
                                        <p:tgtEl>
                                          <p:spTgt spid="26"/>
                                        </p:tgtEl>
                                      </p:cBhvr>
                                    </p:animEffect>
                                  </p:childTnLst>
                                </p:cTn>
                              </p:par>
                            </p:childTnLst>
                          </p:cTn>
                        </p:par>
                        <p:par>
                          <p:cTn id="31" fill="hold">
                            <p:stCondLst>
                              <p:cond delay="3500"/>
                            </p:stCondLst>
                            <p:childTnLst>
                              <p:par>
                                <p:cTn id="32" presetID="53" presetClass="entr" presetSubtype="16" fill="hold" nodeType="afterEffect">
                                  <p:stCondLst>
                                    <p:cond delay="0"/>
                                  </p:stCondLst>
                                  <p:childTnLst>
                                    <p:set>
                                      <p:cBhvr>
                                        <p:cTn id="33" dur="1" fill="hold">
                                          <p:stCondLst>
                                            <p:cond delay="0"/>
                                          </p:stCondLst>
                                        </p:cTn>
                                        <p:tgtEl>
                                          <p:spTgt spid="41"/>
                                        </p:tgtEl>
                                        <p:attrNameLst>
                                          <p:attrName>style.visibility</p:attrName>
                                        </p:attrNameLst>
                                      </p:cBhvr>
                                      <p:to>
                                        <p:strVal val="visible"/>
                                      </p:to>
                                    </p:set>
                                    <p:anim calcmode="lin" valueType="num">
                                      <p:cBhvr>
                                        <p:cTn id="34" dur="500" fill="hold"/>
                                        <p:tgtEl>
                                          <p:spTgt spid="41"/>
                                        </p:tgtEl>
                                        <p:attrNameLst>
                                          <p:attrName>ppt_w</p:attrName>
                                        </p:attrNameLst>
                                      </p:cBhvr>
                                      <p:tavLst>
                                        <p:tav tm="0">
                                          <p:val>
                                            <p:fltVal val="0"/>
                                          </p:val>
                                        </p:tav>
                                        <p:tav tm="100000">
                                          <p:val>
                                            <p:strVal val="#ppt_w"/>
                                          </p:val>
                                        </p:tav>
                                      </p:tavLst>
                                    </p:anim>
                                    <p:anim calcmode="lin" valueType="num">
                                      <p:cBhvr>
                                        <p:cTn id="35" dur="500" fill="hold"/>
                                        <p:tgtEl>
                                          <p:spTgt spid="41"/>
                                        </p:tgtEl>
                                        <p:attrNameLst>
                                          <p:attrName>ppt_h</p:attrName>
                                        </p:attrNameLst>
                                      </p:cBhvr>
                                      <p:tavLst>
                                        <p:tav tm="0">
                                          <p:val>
                                            <p:fltVal val="0"/>
                                          </p:val>
                                        </p:tav>
                                        <p:tav tm="100000">
                                          <p:val>
                                            <p:strVal val="#ppt_h"/>
                                          </p:val>
                                        </p:tav>
                                      </p:tavLst>
                                    </p:anim>
                                    <p:animEffect transition="in" filter="fade">
                                      <p:cBhvr>
                                        <p:cTn id="36" dur="500"/>
                                        <p:tgtEl>
                                          <p:spTgt spid="41"/>
                                        </p:tgtEl>
                                      </p:cBhvr>
                                    </p:animEffect>
                                  </p:childTnLst>
                                </p:cTn>
                              </p:par>
                            </p:childTnLst>
                          </p:cTn>
                        </p:par>
                        <p:par>
                          <p:cTn id="37" fill="hold">
                            <p:stCondLst>
                              <p:cond delay="4000"/>
                            </p:stCondLst>
                            <p:childTnLst>
                              <p:par>
                                <p:cTn id="38" presetID="16" presetClass="entr" presetSubtype="21" fill="hold" grpId="0" nodeType="after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barn(inVertical)">
                                      <p:cBhvr>
                                        <p:cTn id="40" dur="500"/>
                                        <p:tgtEl>
                                          <p:spTgt spid="33"/>
                                        </p:tgtEl>
                                      </p:cBhvr>
                                    </p:animEffect>
                                  </p:childTnLst>
                                </p:cTn>
                              </p:par>
                            </p:childTnLst>
                          </p:cTn>
                        </p:par>
                        <p:par>
                          <p:cTn id="41" fill="hold">
                            <p:stCondLst>
                              <p:cond delay="4500"/>
                            </p:stCondLst>
                            <p:childTnLst>
                              <p:par>
                                <p:cTn id="42" presetID="42" presetClass="entr" presetSubtype="0" fill="hold" nodeType="after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1000"/>
                                        <p:tgtEl>
                                          <p:spTgt spid="42"/>
                                        </p:tgtEl>
                                      </p:cBhvr>
                                    </p:animEffect>
                                    <p:anim calcmode="lin" valueType="num">
                                      <p:cBhvr>
                                        <p:cTn id="45" dur="1000" fill="hold"/>
                                        <p:tgtEl>
                                          <p:spTgt spid="42"/>
                                        </p:tgtEl>
                                        <p:attrNameLst>
                                          <p:attrName>ppt_x</p:attrName>
                                        </p:attrNameLst>
                                      </p:cBhvr>
                                      <p:tavLst>
                                        <p:tav tm="0">
                                          <p:val>
                                            <p:strVal val="#ppt_x"/>
                                          </p:val>
                                        </p:tav>
                                        <p:tav tm="100000">
                                          <p:val>
                                            <p:strVal val="#ppt_x"/>
                                          </p:val>
                                        </p:tav>
                                      </p:tavLst>
                                    </p:anim>
                                    <p:anim calcmode="lin" valueType="num">
                                      <p:cBhvr>
                                        <p:cTn id="46" dur="1000" fill="hold"/>
                                        <p:tgtEl>
                                          <p:spTgt spid="42"/>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1000"/>
                                        <p:tgtEl>
                                          <p:spTgt spid="43"/>
                                        </p:tgtEl>
                                      </p:cBhvr>
                                    </p:animEffect>
                                    <p:anim calcmode="lin" valueType="num">
                                      <p:cBhvr>
                                        <p:cTn id="50" dur="1000" fill="hold"/>
                                        <p:tgtEl>
                                          <p:spTgt spid="43"/>
                                        </p:tgtEl>
                                        <p:attrNameLst>
                                          <p:attrName>ppt_x</p:attrName>
                                        </p:attrNameLst>
                                      </p:cBhvr>
                                      <p:tavLst>
                                        <p:tav tm="0">
                                          <p:val>
                                            <p:strVal val="#ppt_x"/>
                                          </p:val>
                                        </p:tav>
                                        <p:tav tm="100000">
                                          <p:val>
                                            <p:strVal val="#ppt_x"/>
                                          </p:val>
                                        </p:tav>
                                      </p:tavLst>
                                    </p:anim>
                                    <p:anim calcmode="lin" valueType="num">
                                      <p:cBhvr>
                                        <p:cTn id="51" dur="1000" fill="hold"/>
                                        <p:tgtEl>
                                          <p:spTgt spid="43"/>
                                        </p:tgtEl>
                                        <p:attrNameLst>
                                          <p:attrName>ppt_y</p:attrName>
                                        </p:attrNameLst>
                                      </p:cBhvr>
                                      <p:tavLst>
                                        <p:tav tm="0">
                                          <p:val>
                                            <p:strVal val="#ppt_y+.1"/>
                                          </p:val>
                                        </p:tav>
                                        <p:tav tm="100000">
                                          <p:val>
                                            <p:strVal val="#ppt_y"/>
                                          </p:val>
                                        </p:tav>
                                      </p:tavLst>
                                    </p:anim>
                                  </p:childTnLst>
                                </p:cTn>
                              </p:par>
                            </p:childTnLst>
                          </p:cTn>
                        </p:par>
                        <p:par>
                          <p:cTn id="52" fill="hold">
                            <p:stCondLst>
                              <p:cond delay="5500"/>
                            </p:stCondLst>
                            <p:childTnLst>
                              <p:par>
                                <p:cTn id="53" presetID="22" presetClass="entr" presetSubtype="4" fill="hold" nodeType="after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wipe(down)">
                                      <p:cBhvr>
                                        <p:cTn id="5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FB3326CC-105E-4511-AEAE-1F506C4C7151}"/>
              </a:ext>
            </a:extLst>
          </p:cNvPr>
          <p:cNvPicPr>
            <a:picLocks noChangeAspect="1"/>
          </p:cNvPicPr>
          <p:nvPr/>
        </p:nvPicPr>
        <p:blipFill>
          <a:blip r:embed="rId2"/>
          <a:stretch>
            <a:fillRect/>
          </a:stretch>
        </p:blipFill>
        <p:spPr>
          <a:xfrm>
            <a:off x="28450" y="3799321"/>
            <a:ext cx="9144000" cy="1311904"/>
          </a:xfrm>
          <a:prstGeom prst="rect">
            <a:avLst/>
          </a:prstGeom>
        </p:spPr>
      </p:pic>
      <p:pic>
        <p:nvPicPr>
          <p:cNvPr id="9" name="图片 8">
            <a:extLst>
              <a:ext uri="{FF2B5EF4-FFF2-40B4-BE49-F238E27FC236}">
                <a16:creationId xmlns:a16="http://schemas.microsoft.com/office/drawing/2014/main" id="{D68BE9A7-41FB-44C4-A472-50C00B774FEB}"/>
              </a:ext>
            </a:extLst>
          </p:cNvPr>
          <p:cNvPicPr>
            <a:picLocks noChangeAspect="1"/>
          </p:cNvPicPr>
          <p:nvPr/>
        </p:nvPicPr>
        <p:blipFill rotWithShape="1">
          <a:blip r:embed="rId3"/>
          <a:srcRect b="33209"/>
          <a:stretch/>
        </p:blipFill>
        <p:spPr>
          <a:xfrm>
            <a:off x="20587" y="14481"/>
            <a:ext cx="4427984" cy="1923678"/>
          </a:xfrm>
          <a:prstGeom prst="rect">
            <a:avLst/>
          </a:prstGeom>
        </p:spPr>
      </p:pic>
      <p:pic>
        <p:nvPicPr>
          <p:cNvPr id="13" name="图片 12">
            <a:extLst>
              <a:ext uri="{FF2B5EF4-FFF2-40B4-BE49-F238E27FC236}">
                <a16:creationId xmlns:a16="http://schemas.microsoft.com/office/drawing/2014/main" id="{535C2018-35F9-487A-BF47-E4D1AEC11D69}"/>
              </a:ext>
            </a:extLst>
          </p:cNvPr>
          <p:cNvPicPr>
            <a:picLocks noChangeAspect="1"/>
          </p:cNvPicPr>
          <p:nvPr/>
        </p:nvPicPr>
        <p:blipFill>
          <a:blip r:embed="rId4"/>
          <a:stretch>
            <a:fillRect/>
          </a:stretch>
        </p:blipFill>
        <p:spPr>
          <a:xfrm>
            <a:off x="0" y="4086635"/>
            <a:ext cx="9144000" cy="1056864"/>
          </a:xfrm>
          <a:prstGeom prst="rect">
            <a:avLst/>
          </a:prstGeom>
        </p:spPr>
      </p:pic>
      <p:pic>
        <p:nvPicPr>
          <p:cNvPr id="24" name="图片 23">
            <a:extLst>
              <a:ext uri="{FF2B5EF4-FFF2-40B4-BE49-F238E27FC236}">
                <a16:creationId xmlns:a16="http://schemas.microsoft.com/office/drawing/2014/main" id="{EFD91B75-90CC-4D63-A227-65B34F6D3BB1}"/>
              </a:ext>
            </a:extLst>
          </p:cNvPr>
          <p:cNvPicPr>
            <a:picLocks noChangeAspect="1"/>
          </p:cNvPicPr>
          <p:nvPr/>
        </p:nvPicPr>
        <p:blipFill>
          <a:blip r:embed="rId5"/>
          <a:stretch>
            <a:fillRect/>
          </a:stretch>
        </p:blipFill>
        <p:spPr>
          <a:xfrm>
            <a:off x="0" y="-32273"/>
            <a:ext cx="2713798" cy="1367127"/>
          </a:xfrm>
          <a:prstGeom prst="rect">
            <a:avLst/>
          </a:prstGeom>
        </p:spPr>
      </p:pic>
      <p:pic>
        <p:nvPicPr>
          <p:cNvPr id="26" name="图片 25">
            <a:extLst>
              <a:ext uri="{FF2B5EF4-FFF2-40B4-BE49-F238E27FC236}">
                <a16:creationId xmlns:a16="http://schemas.microsoft.com/office/drawing/2014/main" id="{8FF954DB-E50D-4407-A817-849532395E58}"/>
              </a:ext>
            </a:extLst>
          </p:cNvPr>
          <p:cNvPicPr>
            <a:picLocks noChangeAspect="1"/>
          </p:cNvPicPr>
          <p:nvPr/>
        </p:nvPicPr>
        <p:blipFill>
          <a:blip r:embed="rId6"/>
          <a:stretch>
            <a:fillRect/>
          </a:stretch>
        </p:blipFill>
        <p:spPr>
          <a:xfrm>
            <a:off x="6045648" y="2332603"/>
            <a:ext cx="3160291" cy="2821886"/>
          </a:xfrm>
          <a:prstGeom prst="rect">
            <a:avLst/>
          </a:prstGeom>
        </p:spPr>
      </p:pic>
      <p:pic>
        <p:nvPicPr>
          <p:cNvPr id="30" name="图片 29">
            <a:extLst>
              <a:ext uri="{FF2B5EF4-FFF2-40B4-BE49-F238E27FC236}">
                <a16:creationId xmlns:a16="http://schemas.microsoft.com/office/drawing/2014/main" id="{89CDD355-5732-46AB-81AF-F09D0A4123CD}"/>
              </a:ext>
            </a:extLst>
          </p:cNvPr>
          <p:cNvPicPr>
            <a:picLocks noChangeAspect="1"/>
          </p:cNvPicPr>
          <p:nvPr/>
        </p:nvPicPr>
        <p:blipFill>
          <a:blip r:embed="rId7"/>
          <a:srcRect/>
          <a:stretch/>
        </p:blipFill>
        <p:spPr>
          <a:xfrm>
            <a:off x="-28450" y="3075806"/>
            <a:ext cx="2005136" cy="2078683"/>
          </a:xfrm>
          <a:prstGeom prst="rect">
            <a:avLst/>
          </a:prstGeom>
        </p:spPr>
      </p:pic>
      <p:pic>
        <p:nvPicPr>
          <p:cNvPr id="40" name="图片 39">
            <a:extLst>
              <a:ext uri="{FF2B5EF4-FFF2-40B4-BE49-F238E27FC236}">
                <a16:creationId xmlns:a16="http://schemas.microsoft.com/office/drawing/2014/main" id="{5D69B71A-8FC5-4477-8CEA-472EF06970DB}"/>
              </a:ext>
            </a:extLst>
          </p:cNvPr>
          <p:cNvPicPr>
            <a:picLocks noChangeAspect="1"/>
          </p:cNvPicPr>
          <p:nvPr/>
        </p:nvPicPr>
        <p:blipFill>
          <a:blip r:embed="rId8"/>
          <a:stretch>
            <a:fillRect/>
          </a:stretch>
        </p:blipFill>
        <p:spPr>
          <a:xfrm flipH="1">
            <a:off x="6876256" y="816369"/>
            <a:ext cx="1080907" cy="748888"/>
          </a:xfrm>
          <a:prstGeom prst="rect">
            <a:avLst/>
          </a:prstGeom>
        </p:spPr>
      </p:pic>
      <p:sp>
        <p:nvSpPr>
          <p:cNvPr id="57" name="文本框 56">
            <a:extLst>
              <a:ext uri="{FF2B5EF4-FFF2-40B4-BE49-F238E27FC236}">
                <a16:creationId xmlns:a16="http://schemas.microsoft.com/office/drawing/2014/main" id="{A2BF4BAD-0F3F-467B-9CD4-B8DB6584434D}"/>
              </a:ext>
            </a:extLst>
          </p:cNvPr>
          <p:cNvSpPr txBox="1"/>
          <p:nvPr/>
        </p:nvSpPr>
        <p:spPr>
          <a:xfrm>
            <a:off x="1148589" y="1632204"/>
            <a:ext cx="800219" cy="2078683"/>
          </a:xfrm>
          <a:prstGeom prst="rect">
            <a:avLst/>
          </a:prstGeom>
          <a:noFill/>
        </p:spPr>
        <p:txBody>
          <a:bodyPr vert="eaVert" wrap="square" rtlCol="0">
            <a:spAutoFit/>
          </a:bodyPr>
          <a:lstStyle/>
          <a:p>
            <a:r>
              <a:rPr lang="zh-CN" altLang="en-US" sz="4000" b="1" spc="600" dirty="0">
                <a:solidFill>
                  <a:srgbClr val="C00000"/>
                </a:solidFill>
                <a:latin typeface="汉仪雅酷黑 75W" panose="020B0804020202020204" pitchFamily="34" charset="-122"/>
                <a:ea typeface="汉仪雅酷黑 75W" panose="020B0804020202020204" pitchFamily="34" charset="-122"/>
              </a:rPr>
              <a:t>目录</a:t>
            </a:r>
          </a:p>
        </p:txBody>
      </p:sp>
      <p:sp>
        <p:nvSpPr>
          <p:cNvPr id="58" name="文本框 57">
            <a:extLst>
              <a:ext uri="{FF2B5EF4-FFF2-40B4-BE49-F238E27FC236}">
                <a16:creationId xmlns:a16="http://schemas.microsoft.com/office/drawing/2014/main" id="{CD20E48F-13EF-47FB-81C9-6BD7D2F98724}"/>
              </a:ext>
            </a:extLst>
          </p:cNvPr>
          <p:cNvSpPr txBox="1"/>
          <p:nvPr/>
        </p:nvSpPr>
        <p:spPr>
          <a:xfrm>
            <a:off x="1680581" y="1618645"/>
            <a:ext cx="553998" cy="2082003"/>
          </a:xfrm>
          <a:prstGeom prst="rect">
            <a:avLst/>
          </a:prstGeom>
          <a:noFill/>
        </p:spPr>
        <p:txBody>
          <a:bodyPr vert="eaVert" wrap="square" rtlCol="0">
            <a:spAutoFit/>
          </a:bodyPr>
          <a:lstStyle/>
          <a:p>
            <a:r>
              <a:rPr lang="en-US" altLang="zh-CN" sz="2400" dirty="0">
                <a:solidFill>
                  <a:srgbClr val="C00000"/>
                </a:solidFill>
                <a:latin typeface="汉仪雅酷黑 75W" panose="020B0804020202020204" pitchFamily="34" charset="-122"/>
                <a:ea typeface="汉仪雅酷黑 75W" panose="020B0804020202020204" pitchFamily="34" charset="-122"/>
              </a:rPr>
              <a:t>CONTENTS</a:t>
            </a:r>
            <a:endParaRPr lang="zh-CN" altLang="en-US" sz="2400" dirty="0">
              <a:solidFill>
                <a:srgbClr val="C00000"/>
              </a:solidFill>
              <a:latin typeface="汉仪雅酷黑 75W" panose="020B0804020202020204" pitchFamily="34" charset="-122"/>
              <a:ea typeface="汉仪雅酷黑 75W" panose="020B0804020202020204" pitchFamily="34" charset="-122"/>
            </a:endParaRPr>
          </a:p>
        </p:txBody>
      </p:sp>
      <p:sp>
        <p:nvSpPr>
          <p:cNvPr id="59" name="矩形 58">
            <a:extLst>
              <a:ext uri="{FF2B5EF4-FFF2-40B4-BE49-F238E27FC236}">
                <a16:creationId xmlns:a16="http://schemas.microsoft.com/office/drawing/2014/main" id="{CBD769EE-198A-4744-B599-2A70231AAC66}"/>
              </a:ext>
            </a:extLst>
          </p:cNvPr>
          <p:cNvSpPr/>
          <p:nvPr/>
        </p:nvSpPr>
        <p:spPr>
          <a:xfrm>
            <a:off x="2422550" y="1575587"/>
            <a:ext cx="962758" cy="3727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bg1"/>
              </a:solidFill>
              <a:latin typeface="汉仪雅酷黑 75W" panose="020B0804020202020204" pitchFamily="34" charset="-122"/>
              <a:ea typeface="汉仪雅酷黑 75W" panose="020B0804020202020204" pitchFamily="34" charset="-122"/>
            </a:endParaRPr>
          </a:p>
        </p:txBody>
      </p:sp>
      <p:sp>
        <p:nvSpPr>
          <p:cNvPr id="60" name="矩形 59">
            <a:extLst>
              <a:ext uri="{FF2B5EF4-FFF2-40B4-BE49-F238E27FC236}">
                <a16:creationId xmlns:a16="http://schemas.microsoft.com/office/drawing/2014/main" id="{AB709473-32B6-46E7-9702-2ED2BEF5A7AF}"/>
              </a:ext>
            </a:extLst>
          </p:cNvPr>
          <p:cNvSpPr/>
          <p:nvPr/>
        </p:nvSpPr>
        <p:spPr>
          <a:xfrm>
            <a:off x="4051996" y="1572926"/>
            <a:ext cx="2501266" cy="37270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013" dirty="0">
              <a:solidFill>
                <a:srgbClr val="C00000"/>
              </a:solidFill>
              <a:latin typeface="汉仪雅酷黑 75W" panose="020B0804020202020204" pitchFamily="34" charset="-122"/>
              <a:ea typeface="汉仪雅酷黑 75W" panose="020B0804020202020204" pitchFamily="34" charset="-122"/>
            </a:endParaRPr>
          </a:p>
        </p:txBody>
      </p:sp>
      <p:sp>
        <p:nvSpPr>
          <p:cNvPr id="61" name="矩形 60">
            <a:extLst>
              <a:ext uri="{FF2B5EF4-FFF2-40B4-BE49-F238E27FC236}">
                <a16:creationId xmlns:a16="http://schemas.microsoft.com/office/drawing/2014/main" id="{F140C410-935E-462B-83F8-1A990526A74B}"/>
              </a:ext>
            </a:extLst>
          </p:cNvPr>
          <p:cNvSpPr/>
          <p:nvPr/>
        </p:nvSpPr>
        <p:spPr>
          <a:xfrm>
            <a:off x="2429908" y="2441725"/>
            <a:ext cx="962758" cy="3727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bg1"/>
              </a:solidFill>
              <a:latin typeface="汉仪雅酷黑 75W" panose="020B0804020202020204" pitchFamily="34" charset="-122"/>
              <a:ea typeface="汉仪雅酷黑 75W" panose="020B0804020202020204" pitchFamily="34" charset="-122"/>
            </a:endParaRPr>
          </a:p>
        </p:txBody>
      </p:sp>
      <p:sp>
        <p:nvSpPr>
          <p:cNvPr id="62" name="矩形 61">
            <a:extLst>
              <a:ext uri="{FF2B5EF4-FFF2-40B4-BE49-F238E27FC236}">
                <a16:creationId xmlns:a16="http://schemas.microsoft.com/office/drawing/2014/main" id="{6DE6BE4B-46DF-4EE1-A359-BA723DA181BD}"/>
              </a:ext>
            </a:extLst>
          </p:cNvPr>
          <p:cNvSpPr/>
          <p:nvPr/>
        </p:nvSpPr>
        <p:spPr>
          <a:xfrm>
            <a:off x="4053572" y="2407901"/>
            <a:ext cx="2496451" cy="37270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013" dirty="0">
              <a:solidFill>
                <a:srgbClr val="C00000"/>
              </a:solidFill>
              <a:latin typeface="汉仪雅酷黑 75W" panose="020B0804020202020204" pitchFamily="34" charset="-122"/>
              <a:ea typeface="汉仪雅酷黑 75W" panose="020B0804020202020204" pitchFamily="34" charset="-122"/>
            </a:endParaRPr>
          </a:p>
        </p:txBody>
      </p:sp>
      <p:sp>
        <p:nvSpPr>
          <p:cNvPr id="63" name="矩形 62">
            <a:extLst>
              <a:ext uri="{FF2B5EF4-FFF2-40B4-BE49-F238E27FC236}">
                <a16:creationId xmlns:a16="http://schemas.microsoft.com/office/drawing/2014/main" id="{879FF8F9-32B2-4ED2-9F20-BFB2F3EA44AB}"/>
              </a:ext>
            </a:extLst>
          </p:cNvPr>
          <p:cNvSpPr/>
          <p:nvPr/>
        </p:nvSpPr>
        <p:spPr>
          <a:xfrm>
            <a:off x="2414563" y="3246413"/>
            <a:ext cx="962758" cy="3727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bg1"/>
              </a:solidFill>
              <a:latin typeface="汉仪雅酷黑 75W" panose="020B0804020202020204" pitchFamily="34" charset="-122"/>
              <a:ea typeface="汉仪雅酷黑 75W" panose="020B0804020202020204" pitchFamily="34" charset="-122"/>
            </a:endParaRPr>
          </a:p>
        </p:txBody>
      </p:sp>
      <p:sp>
        <p:nvSpPr>
          <p:cNvPr id="64" name="矩形 63">
            <a:extLst>
              <a:ext uri="{FF2B5EF4-FFF2-40B4-BE49-F238E27FC236}">
                <a16:creationId xmlns:a16="http://schemas.microsoft.com/office/drawing/2014/main" id="{A2D4B6BE-5906-4AFD-83EA-6D70BDEFBB05}"/>
              </a:ext>
            </a:extLst>
          </p:cNvPr>
          <p:cNvSpPr/>
          <p:nvPr/>
        </p:nvSpPr>
        <p:spPr>
          <a:xfrm>
            <a:off x="4073196" y="3263486"/>
            <a:ext cx="2480501" cy="37270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013" dirty="0">
              <a:solidFill>
                <a:srgbClr val="C00000"/>
              </a:solidFill>
              <a:latin typeface="汉仪雅酷黑 75W" panose="020B0804020202020204" pitchFamily="34" charset="-122"/>
              <a:ea typeface="汉仪雅酷黑 75W" panose="020B0804020202020204" pitchFamily="34" charset="-122"/>
            </a:endParaRPr>
          </a:p>
        </p:txBody>
      </p:sp>
      <p:sp>
        <p:nvSpPr>
          <p:cNvPr id="65" name="文本框 64">
            <a:extLst>
              <a:ext uri="{FF2B5EF4-FFF2-40B4-BE49-F238E27FC236}">
                <a16:creationId xmlns:a16="http://schemas.microsoft.com/office/drawing/2014/main" id="{AEFD5A50-F582-4660-A19F-BEC015FE8C64}"/>
              </a:ext>
            </a:extLst>
          </p:cNvPr>
          <p:cNvSpPr txBox="1"/>
          <p:nvPr/>
        </p:nvSpPr>
        <p:spPr>
          <a:xfrm>
            <a:off x="2435683" y="1623436"/>
            <a:ext cx="968196" cy="307777"/>
          </a:xfrm>
          <a:prstGeom prst="rect">
            <a:avLst/>
          </a:prstGeom>
          <a:noFill/>
        </p:spPr>
        <p:txBody>
          <a:bodyPr wrap="square" rtlCol="0">
            <a:spAutoFit/>
          </a:bodyPr>
          <a:lstStyle/>
          <a:p>
            <a:pPr algn="ctr"/>
            <a:r>
              <a:rPr lang="zh-CN" altLang="en-US" sz="1400" b="1" dirty="0">
                <a:solidFill>
                  <a:schemeClr val="bg1"/>
                </a:solidFill>
                <a:latin typeface="汉仪雅酷黑 75W" panose="020B0804020202020204" pitchFamily="34" charset="-122"/>
                <a:ea typeface="汉仪雅酷黑 75W" panose="020B0804020202020204" pitchFamily="34" charset="-122"/>
              </a:rPr>
              <a:t>第一部分</a:t>
            </a:r>
          </a:p>
        </p:txBody>
      </p:sp>
      <p:sp>
        <p:nvSpPr>
          <p:cNvPr id="66" name="文本框 65">
            <a:extLst>
              <a:ext uri="{FF2B5EF4-FFF2-40B4-BE49-F238E27FC236}">
                <a16:creationId xmlns:a16="http://schemas.microsoft.com/office/drawing/2014/main" id="{0C89B106-3D82-40D7-B48D-066486E0C891}"/>
              </a:ext>
            </a:extLst>
          </p:cNvPr>
          <p:cNvSpPr txBox="1"/>
          <p:nvPr/>
        </p:nvSpPr>
        <p:spPr>
          <a:xfrm>
            <a:off x="2418242" y="2480912"/>
            <a:ext cx="955400" cy="307777"/>
          </a:xfrm>
          <a:prstGeom prst="rect">
            <a:avLst/>
          </a:prstGeom>
          <a:noFill/>
        </p:spPr>
        <p:txBody>
          <a:bodyPr wrap="square" rtlCol="0">
            <a:spAutoFit/>
          </a:bodyPr>
          <a:lstStyle/>
          <a:p>
            <a:pPr algn="ctr"/>
            <a:r>
              <a:rPr lang="zh-CN" altLang="en-US" sz="1400" b="1" dirty="0">
                <a:solidFill>
                  <a:schemeClr val="bg1"/>
                </a:solidFill>
                <a:latin typeface="汉仪雅酷黑 75W" panose="020B0804020202020204" pitchFamily="34" charset="-122"/>
                <a:ea typeface="汉仪雅酷黑 75W" panose="020B0804020202020204" pitchFamily="34" charset="-122"/>
              </a:rPr>
              <a:t>第二部分</a:t>
            </a:r>
          </a:p>
        </p:txBody>
      </p:sp>
      <p:sp>
        <p:nvSpPr>
          <p:cNvPr id="67" name="文本框 66">
            <a:extLst>
              <a:ext uri="{FF2B5EF4-FFF2-40B4-BE49-F238E27FC236}">
                <a16:creationId xmlns:a16="http://schemas.microsoft.com/office/drawing/2014/main" id="{EF9EDCC9-905E-47D2-B75F-084A1F4F95B0}"/>
              </a:ext>
            </a:extLst>
          </p:cNvPr>
          <p:cNvSpPr txBox="1"/>
          <p:nvPr/>
        </p:nvSpPr>
        <p:spPr>
          <a:xfrm>
            <a:off x="2442081" y="3313120"/>
            <a:ext cx="955400" cy="307777"/>
          </a:xfrm>
          <a:prstGeom prst="rect">
            <a:avLst/>
          </a:prstGeom>
          <a:noFill/>
        </p:spPr>
        <p:txBody>
          <a:bodyPr wrap="square" rtlCol="0">
            <a:spAutoFit/>
          </a:bodyPr>
          <a:lstStyle/>
          <a:p>
            <a:pPr algn="ctr"/>
            <a:r>
              <a:rPr lang="zh-CN" altLang="en-US" sz="1400" b="1" dirty="0">
                <a:solidFill>
                  <a:schemeClr val="bg1"/>
                </a:solidFill>
                <a:latin typeface="汉仪雅酷黑 75W" panose="020B0804020202020204" pitchFamily="34" charset="-122"/>
                <a:ea typeface="汉仪雅酷黑 75W" panose="020B0804020202020204" pitchFamily="34" charset="-122"/>
              </a:rPr>
              <a:t>第三部分</a:t>
            </a:r>
          </a:p>
        </p:txBody>
      </p:sp>
      <p:sp>
        <p:nvSpPr>
          <p:cNvPr id="68" name="文本框 67">
            <a:extLst>
              <a:ext uri="{FF2B5EF4-FFF2-40B4-BE49-F238E27FC236}">
                <a16:creationId xmlns:a16="http://schemas.microsoft.com/office/drawing/2014/main" id="{48E6E162-27C1-4A5E-9B03-8B84AE770F57}"/>
              </a:ext>
            </a:extLst>
          </p:cNvPr>
          <p:cNvSpPr txBox="1"/>
          <p:nvPr/>
        </p:nvSpPr>
        <p:spPr>
          <a:xfrm>
            <a:off x="4067944" y="1599438"/>
            <a:ext cx="2501267" cy="338554"/>
          </a:xfrm>
          <a:prstGeom prst="rect">
            <a:avLst/>
          </a:prstGeom>
          <a:noFill/>
        </p:spPr>
        <p:txBody>
          <a:bodyPr wrap="square" rtlCol="0">
            <a:spAutoFit/>
          </a:bodyPr>
          <a:lstStyle/>
          <a:p>
            <a:pPr algn="ctr"/>
            <a:r>
              <a:rPr lang="zh-CN" altLang="en-US" sz="1600" dirty="0">
                <a:solidFill>
                  <a:srgbClr val="C00000"/>
                </a:solidFill>
                <a:latin typeface="汉仪雅酷黑 75W" panose="020B0804020202020204" pitchFamily="34" charset="-122"/>
                <a:ea typeface="汉仪雅酷黑 75W" panose="020B0804020202020204" pitchFamily="34" charset="-122"/>
                <a:cs typeface="+mn-ea"/>
              </a:rPr>
              <a:t>一带一路</a:t>
            </a:r>
          </a:p>
        </p:txBody>
      </p:sp>
      <p:sp>
        <p:nvSpPr>
          <p:cNvPr id="69" name="文本框 68">
            <a:extLst>
              <a:ext uri="{FF2B5EF4-FFF2-40B4-BE49-F238E27FC236}">
                <a16:creationId xmlns:a16="http://schemas.microsoft.com/office/drawing/2014/main" id="{B9D3B777-D208-4900-BFAF-4C810B18FF1F}"/>
              </a:ext>
            </a:extLst>
          </p:cNvPr>
          <p:cNvSpPr txBox="1"/>
          <p:nvPr/>
        </p:nvSpPr>
        <p:spPr>
          <a:xfrm>
            <a:off x="4051996" y="3280559"/>
            <a:ext cx="2496451" cy="338554"/>
          </a:xfrm>
          <a:prstGeom prst="rect">
            <a:avLst/>
          </a:prstGeom>
          <a:noFill/>
        </p:spPr>
        <p:txBody>
          <a:bodyPr wrap="square" rtlCol="0">
            <a:spAutoFit/>
          </a:bodyPr>
          <a:lstStyle/>
          <a:p>
            <a:pPr algn="ctr"/>
            <a:r>
              <a:rPr lang="zh-CN" altLang="en-US" sz="1600" dirty="0">
                <a:solidFill>
                  <a:srgbClr val="C00000"/>
                </a:solidFill>
                <a:latin typeface="汉仪雅酷黑 75W" panose="020B0804020202020204" pitchFamily="34" charset="-122"/>
                <a:ea typeface="汉仪雅酷黑 75W" panose="020B0804020202020204" pitchFamily="34" charset="-122"/>
                <a:cs typeface="+mn-ea"/>
              </a:rPr>
              <a:t>新冠疫情</a:t>
            </a:r>
          </a:p>
        </p:txBody>
      </p:sp>
      <p:sp>
        <p:nvSpPr>
          <p:cNvPr id="70" name="文本框 69">
            <a:extLst>
              <a:ext uri="{FF2B5EF4-FFF2-40B4-BE49-F238E27FC236}">
                <a16:creationId xmlns:a16="http://schemas.microsoft.com/office/drawing/2014/main" id="{31E00CED-B5E4-44FE-905F-11E67312F525}"/>
              </a:ext>
            </a:extLst>
          </p:cNvPr>
          <p:cNvSpPr txBox="1"/>
          <p:nvPr/>
        </p:nvSpPr>
        <p:spPr>
          <a:xfrm>
            <a:off x="4062420" y="2437062"/>
            <a:ext cx="2446374" cy="338554"/>
          </a:xfrm>
          <a:prstGeom prst="rect">
            <a:avLst/>
          </a:prstGeom>
          <a:noFill/>
        </p:spPr>
        <p:txBody>
          <a:bodyPr wrap="square" rtlCol="0">
            <a:spAutoFit/>
          </a:bodyPr>
          <a:lstStyle/>
          <a:p>
            <a:pPr algn="ctr"/>
            <a:r>
              <a:rPr lang="zh-CN" altLang="en-US" sz="1600" dirty="0">
                <a:solidFill>
                  <a:srgbClr val="C00000"/>
                </a:solidFill>
                <a:latin typeface="汉仪雅酷黑 75W" panose="020B0804020202020204" pitchFamily="34" charset="-122"/>
                <a:ea typeface="汉仪雅酷黑 75W" panose="020B0804020202020204" pitchFamily="34" charset="-122"/>
                <a:cs typeface="+mn-ea"/>
              </a:rPr>
              <a:t>脱贫攻坚</a:t>
            </a:r>
          </a:p>
        </p:txBody>
      </p:sp>
    </p:spTree>
    <p:extLst>
      <p:ext uri="{BB962C8B-B14F-4D97-AF65-F5344CB8AC3E}">
        <p14:creationId xmlns:p14="http://schemas.microsoft.com/office/powerpoint/2010/main" val="995743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wind"/>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childTnLst>
                          </p:cTn>
                        </p:par>
                        <p:par>
                          <p:cTn id="22" fill="hold">
                            <p:stCondLst>
                              <p:cond delay="2500"/>
                            </p:stCondLst>
                            <p:childTnLst>
                              <p:par>
                                <p:cTn id="23" presetID="2" presetClass="entr" presetSubtype="4"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par>
                          <p:cTn id="27" fill="hold">
                            <p:stCondLst>
                              <p:cond delay="3000"/>
                            </p:stCondLst>
                            <p:childTnLst>
                              <p:par>
                                <p:cTn id="28" presetID="22" presetClass="entr" presetSubtype="4" fill="hold"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down)">
                                      <p:cBhvr>
                                        <p:cTn id="30" dur="500"/>
                                        <p:tgtEl>
                                          <p:spTgt spid="26"/>
                                        </p:tgtEl>
                                      </p:cBhvr>
                                    </p:animEffect>
                                  </p:childTnLst>
                                </p:cTn>
                              </p:par>
                            </p:childTnLst>
                          </p:cTn>
                        </p:par>
                        <p:par>
                          <p:cTn id="31" fill="hold">
                            <p:stCondLst>
                              <p:cond delay="3500"/>
                            </p:stCondLst>
                            <p:childTnLst>
                              <p:par>
                                <p:cTn id="32" presetID="22" presetClass="entr" presetSubtype="4" fill="hold" nodeType="after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down)">
                                      <p:cBhvr>
                                        <p:cTn id="34" dur="500"/>
                                        <p:tgtEl>
                                          <p:spTgt spid="40"/>
                                        </p:tgtEl>
                                      </p:cBhvr>
                                    </p:animEffect>
                                  </p:childTnLst>
                                </p:cTn>
                              </p:par>
                              <p:par>
                                <p:cTn id="35" presetID="12" presetClass="entr" presetSubtype="4" fill="hold" grpId="0" nodeType="withEffect">
                                  <p:stCondLst>
                                    <p:cond delay="250"/>
                                  </p:stCondLst>
                                  <p:childTnLst>
                                    <p:set>
                                      <p:cBhvr>
                                        <p:cTn id="36" dur="1" fill="hold">
                                          <p:stCondLst>
                                            <p:cond delay="0"/>
                                          </p:stCondLst>
                                        </p:cTn>
                                        <p:tgtEl>
                                          <p:spTgt spid="57"/>
                                        </p:tgtEl>
                                        <p:attrNameLst>
                                          <p:attrName>style.visibility</p:attrName>
                                        </p:attrNameLst>
                                      </p:cBhvr>
                                      <p:to>
                                        <p:strVal val="visible"/>
                                      </p:to>
                                    </p:set>
                                    <p:anim calcmode="lin" valueType="num">
                                      <p:cBhvr additive="base">
                                        <p:cTn id="37" dur="500"/>
                                        <p:tgtEl>
                                          <p:spTgt spid="57"/>
                                        </p:tgtEl>
                                        <p:attrNameLst>
                                          <p:attrName>ppt_y</p:attrName>
                                        </p:attrNameLst>
                                      </p:cBhvr>
                                      <p:tavLst>
                                        <p:tav tm="0">
                                          <p:val>
                                            <p:strVal val="#ppt_y+#ppt_h*1.125000"/>
                                          </p:val>
                                        </p:tav>
                                        <p:tav tm="100000">
                                          <p:val>
                                            <p:strVal val="#ppt_y"/>
                                          </p:val>
                                        </p:tav>
                                      </p:tavLst>
                                    </p:anim>
                                    <p:animEffect transition="in" filter="wipe(up)">
                                      <p:cBhvr>
                                        <p:cTn id="38" dur="500"/>
                                        <p:tgtEl>
                                          <p:spTgt spid="57"/>
                                        </p:tgtEl>
                                      </p:cBhvr>
                                    </p:animEffect>
                                  </p:childTnLst>
                                </p:cTn>
                              </p:par>
                              <p:par>
                                <p:cTn id="39" presetID="12" presetClass="entr" presetSubtype="1" fill="hold" grpId="0" nodeType="withEffect">
                                  <p:stCondLst>
                                    <p:cond delay="250"/>
                                  </p:stCondLst>
                                  <p:childTnLst>
                                    <p:set>
                                      <p:cBhvr>
                                        <p:cTn id="40" dur="1" fill="hold">
                                          <p:stCondLst>
                                            <p:cond delay="0"/>
                                          </p:stCondLst>
                                        </p:cTn>
                                        <p:tgtEl>
                                          <p:spTgt spid="58"/>
                                        </p:tgtEl>
                                        <p:attrNameLst>
                                          <p:attrName>style.visibility</p:attrName>
                                        </p:attrNameLst>
                                      </p:cBhvr>
                                      <p:to>
                                        <p:strVal val="visible"/>
                                      </p:to>
                                    </p:set>
                                    <p:anim calcmode="lin" valueType="num">
                                      <p:cBhvr additive="base">
                                        <p:cTn id="41" dur="500"/>
                                        <p:tgtEl>
                                          <p:spTgt spid="58"/>
                                        </p:tgtEl>
                                        <p:attrNameLst>
                                          <p:attrName>ppt_y</p:attrName>
                                        </p:attrNameLst>
                                      </p:cBhvr>
                                      <p:tavLst>
                                        <p:tav tm="0">
                                          <p:val>
                                            <p:strVal val="#ppt_y-#ppt_h*1.125000"/>
                                          </p:val>
                                        </p:tav>
                                        <p:tav tm="100000">
                                          <p:val>
                                            <p:strVal val="#ppt_y"/>
                                          </p:val>
                                        </p:tav>
                                      </p:tavLst>
                                    </p:anim>
                                    <p:animEffect transition="in" filter="wipe(down)">
                                      <p:cBhvr>
                                        <p:cTn id="42" dur="500"/>
                                        <p:tgtEl>
                                          <p:spTgt spid="58"/>
                                        </p:tgtEl>
                                      </p:cBhvr>
                                    </p:animEffect>
                                  </p:childTnLst>
                                </p:cTn>
                              </p:par>
                            </p:childTnLst>
                          </p:cTn>
                        </p:par>
                        <p:par>
                          <p:cTn id="43" fill="hold">
                            <p:stCondLst>
                              <p:cond delay="4250"/>
                            </p:stCondLst>
                            <p:childTnLst>
                              <p:par>
                                <p:cTn id="44" presetID="42" presetClass="entr" presetSubtype="0" fill="hold" grpId="0" nodeType="after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fade">
                                      <p:cBhvr>
                                        <p:cTn id="46" dur="1000"/>
                                        <p:tgtEl>
                                          <p:spTgt spid="59"/>
                                        </p:tgtEl>
                                      </p:cBhvr>
                                    </p:animEffect>
                                    <p:anim calcmode="lin" valueType="num">
                                      <p:cBhvr>
                                        <p:cTn id="47" dur="1000" fill="hold"/>
                                        <p:tgtEl>
                                          <p:spTgt spid="59"/>
                                        </p:tgtEl>
                                        <p:attrNameLst>
                                          <p:attrName>ppt_x</p:attrName>
                                        </p:attrNameLst>
                                      </p:cBhvr>
                                      <p:tavLst>
                                        <p:tav tm="0">
                                          <p:val>
                                            <p:strVal val="#ppt_x"/>
                                          </p:val>
                                        </p:tav>
                                        <p:tav tm="100000">
                                          <p:val>
                                            <p:strVal val="#ppt_x"/>
                                          </p:val>
                                        </p:tav>
                                      </p:tavLst>
                                    </p:anim>
                                    <p:anim calcmode="lin" valueType="num">
                                      <p:cBhvr>
                                        <p:cTn id="48" dur="1000" fill="hold"/>
                                        <p:tgtEl>
                                          <p:spTgt spid="59"/>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animEffect transition="in" filter="fade">
                                      <p:cBhvr>
                                        <p:cTn id="51" dur="1000"/>
                                        <p:tgtEl>
                                          <p:spTgt spid="60"/>
                                        </p:tgtEl>
                                      </p:cBhvr>
                                    </p:animEffect>
                                    <p:anim calcmode="lin" valueType="num">
                                      <p:cBhvr>
                                        <p:cTn id="52" dur="1000" fill="hold"/>
                                        <p:tgtEl>
                                          <p:spTgt spid="60"/>
                                        </p:tgtEl>
                                        <p:attrNameLst>
                                          <p:attrName>ppt_x</p:attrName>
                                        </p:attrNameLst>
                                      </p:cBhvr>
                                      <p:tavLst>
                                        <p:tav tm="0">
                                          <p:val>
                                            <p:strVal val="#ppt_x"/>
                                          </p:val>
                                        </p:tav>
                                        <p:tav tm="100000">
                                          <p:val>
                                            <p:strVal val="#ppt_x"/>
                                          </p:val>
                                        </p:tav>
                                      </p:tavLst>
                                    </p:anim>
                                    <p:anim calcmode="lin" valueType="num">
                                      <p:cBhvr>
                                        <p:cTn id="53" dur="1000" fill="hold"/>
                                        <p:tgtEl>
                                          <p:spTgt spid="60"/>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65"/>
                                        </p:tgtEl>
                                        <p:attrNameLst>
                                          <p:attrName>style.visibility</p:attrName>
                                        </p:attrNameLst>
                                      </p:cBhvr>
                                      <p:to>
                                        <p:strVal val="visible"/>
                                      </p:to>
                                    </p:set>
                                    <p:animEffect transition="in" filter="fade">
                                      <p:cBhvr>
                                        <p:cTn id="56" dur="1000"/>
                                        <p:tgtEl>
                                          <p:spTgt spid="65"/>
                                        </p:tgtEl>
                                      </p:cBhvr>
                                    </p:animEffect>
                                    <p:anim calcmode="lin" valueType="num">
                                      <p:cBhvr>
                                        <p:cTn id="57" dur="1000" fill="hold"/>
                                        <p:tgtEl>
                                          <p:spTgt spid="65"/>
                                        </p:tgtEl>
                                        <p:attrNameLst>
                                          <p:attrName>ppt_x</p:attrName>
                                        </p:attrNameLst>
                                      </p:cBhvr>
                                      <p:tavLst>
                                        <p:tav tm="0">
                                          <p:val>
                                            <p:strVal val="#ppt_x"/>
                                          </p:val>
                                        </p:tav>
                                        <p:tav tm="100000">
                                          <p:val>
                                            <p:strVal val="#ppt_x"/>
                                          </p:val>
                                        </p:tav>
                                      </p:tavLst>
                                    </p:anim>
                                    <p:anim calcmode="lin" valueType="num">
                                      <p:cBhvr>
                                        <p:cTn id="58" dur="1000" fill="hold"/>
                                        <p:tgtEl>
                                          <p:spTgt spid="65"/>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fade">
                                      <p:cBhvr>
                                        <p:cTn id="61" dur="1000"/>
                                        <p:tgtEl>
                                          <p:spTgt spid="68"/>
                                        </p:tgtEl>
                                      </p:cBhvr>
                                    </p:animEffect>
                                    <p:anim calcmode="lin" valueType="num">
                                      <p:cBhvr>
                                        <p:cTn id="62" dur="1000" fill="hold"/>
                                        <p:tgtEl>
                                          <p:spTgt spid="68"/>
                                        </p:tgtEl>
                                        <p:attrNameLst>
                                          <p:attrName>ppt_x</p:attrName>
                                        </p:attrNameLst>
                                      </p:cBhvr>
                                      <p:tavLst>
                                        <p:tav tm="0">
                                          <p:val>
                                            <p:strVal val="#ppt_x"/>
                                          </p:val>
                                        </p:tav>
                                        <p:tav tm="100000">
                                          <p:val>
                                            <p:strVal val="#ppt_x"/>
                                          </p:val>
                                        </p:tav>
                                      </p:tavLst>
                                    </p:anim>
                                    <p:anim calcmode="lin" valueType="num">
                                      <p:cBhvr>
                                        <p:cTn id="63" dur="1000" fill="hold"/>
                                        <p:tgtEl>
                                          <p:spTgt spid="68"/>
                                        </p:tgtEl>
                                        <p:attrNameLst>
                                          <p:attrName>ppt_y</p:attrName>
                                        </p:attrNameLst>
                                      </p:cBhvr>
                                      <p:tavLst>
                                        <p:tav tm="0">
                                          <p:val>
                                            <p:strVal val="#ppt_y+.1"/>
                                          </p:val>
                                        </p:tav>
                                        <p:tav tm="100000">
                                          <p:val>
                                            <p:strVal val="#ppt_y"/>
                                          </p:val>
                                        </p:tav>
                                      </p:tavLst>
                                    </p:anim>
                                  </p:childTnLst>
                                </p:cTn>
                              </p:par>
                            </p:childTnLst>
                          </p:cTn>
                        </p:par>
                        <p:par>
                          <p:cTn id="64" fill="hold">
                            <p:stCondLst>
                              <p:cond delay="5250"/>
                            </p:stCondLst>
                            <p:childTnLst>
                              <p:par>
                                <p:cTn id="65" presetID="42" presetClass="entr" presetSubtype="0" fill="hold" grpId="0" nodeType="after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fade">
                                      <p:cBhvr>
                                        <p:cTn id="67" dur="1000"/>
                                        <p:tgtEl>
                                          <p:spTgt spid="61"/>
                                        </p:tgtEl>
                                      </p:cBhvr>
                                    </p:animEffect>
                                    <p:anim calcmode="lin" valueType="num">
                                      <p:cBhvr>
                                        <p:cTn id="68" dur="1000" fill="hold"/>
                                        <p:tgtEl>
                                          <p:spTgt spid="61"/>
                                        </p:tgtEl>
                                        <p:attrNameLst>
                                          <p:attrName>ppt_x</p:attrName>
                                        </p:attrNameLst>
                                      </p:cBhvr>
                                      <p:tavLst>
                                        <p:tav tm="0">
                                          <p:val>
                                            <p:strVal val="#ppt_x"/>
                                          </p:val>
                                        </p:tav>
                                        <p:tav tm="100000">
                                          <p:val>
                                            <p:strVal val="#ppt_x"/>
                                          </p:val>
                                        </p:tav>
                                      </p:tavLst>
                                    </p:anim>
                                    <p:anim calcmode="lin" valueType="num">
                                      <p:cBhvr>
                                        <p:cTn id="69" dur="1000" fill="hold"/>
                                        <p:tgtEl>
                                          <p:spTgt spid="61"/>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62"/>
                                        </p:tgtEl>
                                        <p:attrNameLst>
                                          <p:attrName>style.visibility</p:attrName>
                                        </p:attrNameLst>
                                      </p:cBhvr>
                                      <p:to>
                                        <p:strVal val="visible"/>
                                      </p:to>
                                    </p:set>
                                    <p:animEffect transition="in" filter="fade">
                                      <p:cBhvr>
                                        <p:cTn id="72" dur="1000"/>
                                        <p:tgtEl>
                                          <p:spTgt spid="62"/>
                                        </p:tgtEl>
                                      </p:cBhvr>
                                    </p:animEffect>
                                    <p:anim calcmode="lin" valueType="num">
                                      <p:cBhvr>
                                        <p:cTn id="73" dur="1000" fill="hold"/>
                                        <p:tgtEl>
                                          <p:spTgt spid="62"/>
                                        </p:tgtEl>
                                        <p:attrNameLst>
                                          <p:attrName>ppt_x</p:attrName>
                                        </p:attrNameLst>
                                      </p:cBhvr>
                                      <p:tavLst>
                                        <p:tav tm="0">
                                          <p:val>
                                            <p:strVal val="#ppt_x"/>
                                          </p:val>
                                        </p:tav>
                                        <p:tav tm="100000">
                                          <p:val>
                                            <p:strVal val="#ppt_x"/>
                                          </p:val>
                                        </p:tav>
                                      </p:tavLst>
                                    </p:anim>
                                    <p:anim calcmode="lin" valueType="num">
                                      <p:cBhvr>
                                        <p:cTn id="74" dur="1000" fill="hold"/>
                                        <p:tgtEl>
                                          <p:spTgt spid="62"/>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66"/>
                                        </p:tgtEl>
                                        <p:attrNameLst>
                                          <p:attrName>style.visibility</p:attrName>
                                        </p:attrNameLst>
                                      </p:cBhvr>
                                      <p:to>
                                        <p:strVal val="visible"/>
                                      </p:to>
                                    </p:set>
                                    <p:animEffect transition="in" filter="fade">
                                      <p:cBhvr>
                                        <p:cTn id="77" dur="1000"/>
                                        <p:tgtEl>
                                          <p:spTgt spid="66"/>
                                        </p:tgtEl>
                                      </p:cBhvr>
                                    </p:animEffect>
                                    <p:anim calcmode="lin" valueType="num">
                                      <p:cBhvr>
                                        <p:cTn id="78" dur="1000" fill="hold"/>
                                        <p:tgtEl>
                                          <p:spTgt spid="66"/>
                                        </p:tgtEl>
                                        <p:attrNameLst>
                                          <p:attrName>ppt_x</p:attrName>
                                        </p:attrNameLst>
                                      </p:cBhvr>
                                      <p:tavLst>
                                        <p:tav tm="0">
                                          <p:val>
                                            <p:strVal val="#ppt_x"/>
                                          </p:val>
                                        </p:tav>
                                        <p:tav tm="100000">
                                          <p:val>
                                            <p:strVal val="#ppt_x"/>
                                          </p:val>
                                        </p:tav>
                                      </p:tavLst>
                                    </p:anim>
                                    <p:anim calcmode="lin" valueType="num">
                                      <p:cBhvr>
                                        <p:cTn id="79" dur="1000" fill="hold"/>
                                        <p:tgtEl>
                                          <p:spTgt spid="6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69"/>
                                        </p:tgtEl>
                                        <p:attrNameLst>
                                          <p:attrName>style.visibility</p:attrName>
                                        </p:attrNameLst>
                                      </p:cBhvr>
                                      <p:to>
                                        <p:strVal val="visible"/>
                                      </p:to>
                                    </p:set>
                                    <p:animEffect transition="in" filter="fade">
                                      <p:cBhvr>
                                        <p:cTn id="82" dur="1000"/>
                                        <p:tgtEl>
                                          <p:spTgt spid="69"/>
                                        </p:tgtEl>
                                      </p:cBhvr>
                                    </p:animEffect>
                                    <p:anim calcmode="lin" valueType="num">
                                      <p:cBhvr>
                                        <p:cTn id="83" dur="1000" fill="hold"/>
                                        <p:tgtEl>
                                          <p:spTgt spid="69"/>
                                        </p:tgtEl>
                                        <p:attrNameLst>
                                          <p:attrName>ppt_x</p:attrName>
                                        </p:attrNameLst>
                                      </p:cBhvr>
                                      <p:tavLst>
                                        <p:tav tm="0">
                                          <p:val>
                                            <p:strVal val="#ppt_x"/>
                                          </p:val>
                                        </p:tav>
                                        <p:tav tm="100000">
                                          <p:val>
                                            <p:strVal val="#ppt_x"/>
                                          </p:val>
                                        </p:tav>
                                      </p:tavLst>
                                    </p:anim>
                                    <p:anim calcmode="lin" valueType="num">
                                      <p:cBhvr>
                                        <p:cTn id="84" dur="1000" fill="hold"/>
                                        <p:tgtEl>
                                          <p:spTgt spid="69"/>
                                        </p:tgtEl>
                                        <p:attrNameLst>
                                          <p:attrName>ppt_y</p:attrName>
                                        </p:attrNameLst>
                                      </p:cBhvr>
                                      <p:tavLst>
                                        <p:tav tm="0">
                                          <p:val>
                                            <p:strVal val="#ppt_y+.1"/>
                                          </p:val>
                                        </p:tav>
                                        <p:tav tm="100000">
                                          <p:val>
                                            <p:strVal val="#ppt_y"/>
                                          </p:val>
                                        </p:tav>
                                      </p:tavLst>
                                    </p:anim>
                                  </p:childTnLst>
                                </p:cTn>
                              </p:par>
                            </p:childTnLst>
                          </p:cTn>
                        </p:par>
                        <p:par>
                          <p:cTn id="85" fill="hold">
                            <p:stCondLst>
                              <p:cond delay="6250"/>
                            </p:stCondLst>
                            <p:childTnLst>
                              <p:par>
                                <p:cTn id="86" presetID="42" presetClass="entr" presetSubtype="0" fill="hold" grpId="0" nodeType="afterEffect">
                                  <p:stCondLst>
                                    <p:cond delay="0"/>
                                  </p:stCondLst>
                                  <p:childTnLst>
                                    <p:set>
                                      <p:cBhvr>
                                        <p:cTn id="87" dur="1" fill="hold">
                                          <p:stCondLst>
                                            <p:cond delay="0"/>
                                          </p:stCondLst>
                                        </p:cTn>
                                        <p:tgtEl>
                                          <p:spTgt spid="63"/>
                                        </p:tgtEl>
                                        <p:attrNameLst>
                                          <p:attrName>style.visibility</p:attrName>
                                        </p:attrNameLst>
                                      </p:cBhvr>
                                      <p:to>
                                        <p:strVal val="visible"/>
                                      </p:to>
                                    </p:set>
                                    <p:animEffect transition="in" filter="fade">
                                      <p:cBhvr>
                                        <p:cTn id="88" dur="1000"/>
                                        <p:tgtEl>
                                          <p:spTgt spid="63"/>
                                        </p:tgtEl>
                                      </p:cBhvr>
                                    </p:animEffect>
                                    <p:anim calcmode="lin" valueType="num">
                                      <p:cBhvr>
                                        <p:cTn id="89" dur="1000" fill="hold"/>
                                        <p:tgtEl>
                                          <p:spTgt spid="63"/>
                                        </p:tgtEl>
                                        <p:attrNameLst>
                                          <p:attrName>ppt_x</p:attrName>
                                        </p:attrNameLst>
                                      </p:cBhvr>
                                      <p:tavLst>
                                        <p:tav tm="0">
                                          <p:val>
                                            <p:strVal val="#ppt_x"/>
                                          </p:val>
                                        </p:tav>
                                        <p:tav tm="100000">
                                          <p:val>
                                            <p:strVal val="#ppt_x"/>
                                          </p:val>
                                        </p:tav>
                                      </p:tavLst>
                                    </p:anim>
                                    <p:anim calcmode="lin" valueType="num">
                                      <p:cBhvr>
                                        <p:cTn id="90" dur="1000" fill="hold"/>
                                        <p:tgtEl>
                                          <p:spTgt spid="63"/>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64"/>
                                        </p:tgtEl>
                                        <p:attrNameLst>
                                          <p:attrName>style.visibility</p:attrName>
                                        </p:attrNameLst>
                                      </p:cBhvr>
                                      <p:to>
                                        <p:strVal val="visible"/>
                                      </p:to>
                                    </p:set>
                                    <p:animEffect transition="in" filter="fade">
                                      <p:cBhvr>
                                        <p:cTn id="93" dur="1000"/>
                                        <p:tgtEl>
                                          <p:spTgt spid="64"/>
                                        </p:tgtEl>
                                      </p:cBhvr>
                                    </p:animEffect>
                                    <p:anim calcmode="lin" valueType="num">
                                      <p:cBhvr>
                                        <p:cTn id="94" dur="1000" fill="hold"/>
                                        <p:tgtEl>
                                          <p:spTgt spid="64"/>
                                        </p:tgtEl>
                                        <p:attrNameLst>
                                          <p:attrName>ppt_x</p:attrName>
                                        </p:attrNameLst>
                                      </p:cBhvr>
                                      <p:tavLst>
                                        <p:tav tm="0">
                                          <p:val>
                                            <p:strVal val="#ppt_x"/>
                                          </p:val>
                                        </p:tav>
                                        <p:tav tm="100000">
                                          <p:val>
                                            <p:strVal val="#ppt_x"/>
                                          </p:val>
                                        </p:tav>
                                      </p:tavLst>
                                    </p:anim>
                                    <p:anim calcmode="lin" valueType="num">
                                      <p:cBhvr>
                                        <p:cTn id="95" dur="1000" fill="hold"/>
                                        <p:tgtEl>
                                          <p:spTgt spid="64"/>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67"/>
                                        </p:tgtEl>
                                        <p:attrNameLst>
                                          <p:attrName>style.visibility</p:attrName>
                                        </p:attrNameLst>
                                      </p:cBhvr>
                                      <p:to>
                                        <p:strVal val="visible"/>
                                      </p:to>
                                    </p:set>
                                    <p:animEffect transition="in" filter="fade">
                                      <p:cBhvr>
                                        <p:cTn id="98" dur="1000"/>
                                        <p:tgtEl>
                                          <p:spTgt spid="67"/>
                                        </p:tgtEl>
                                      </p:cBhvr>
                                    </p:animEffect>
                                    <p:anim calcmode="lin" valueType="num">
                                      <p:cBhvr>
                                        <p:cTn id="99" dur="1000" fill="hold"/>
                                        <p:tgtEl>
                                          <p:spTgt spid="67"/>
                                        </p:tgtEl>
                                        <p:attrNameLst>
                                          <p:attrName>ppt_x</p:attrName>
                                        </p:attrNameLst>
                                      </p:cBhvr>
                                      <p:tavLst>
                                        <p:tav tm="0">
                                          <p:val>
                                            <p:strVal val="#ppt_x"/>
                                          </p:val>
                                        </p:tav>
                                        <p:tav tm="100000">
                                          <p:val>
                                            <p:strVal val="#ppt_x"/>
                                          </p:val>
                                        </p:tav>
                                      </p:tavLst>
                                    </p:anim>
                                    <p:anim calcmode="lin" valueType="num">
                                      <p:cBhvr>
                                        <p:cTn id="100" dur="1000" fill="hold"/>
                                        <p:tgtEl>
                                          <p:spTgt spid="67"/>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70"/>
                                        </p:tgtEl>
                                        <p:attrNameLst>
                                          <p:attrName>style.visibility</p:attrName>
                                        </p:attrNameLst>
                                      </p:cBhvr>
                                      <p:to>
                                        <p:strVal val="visible"/>
                                      </p:to>
                                    </p:set>
                                    <p:animEffect transition="in" filter="fade">
                                      <p:cBhvr>
                                        <p:cTn id="103" dur="1000"/>
                                        <p:tgtEl>
                                          <p:spTgt spid="70"/>
                                        </p:tgtEl>
                                      </p:cBhvr>
                                    </p:animEffect>
                                    <p:anim calcmode="lin" valueType="num">
                                      <p:cBhvr>
                                        <p:cTn id="104" dur="1000" fill="hold"/>
                                        <p:tgtEl>
                                          <p:spTgt spid="70"/>
                                        </p:tgtEl>
                                        <p:attrNameLst>
                                          <p:attrName>ppt_x</p:attrName>
                                        </p:attrNameLst>
                                      </p:cBhvr>
                                      <p:tavLst>
                                        <p:tav tm="0">
                                          <p:val>
                                            <p:strVal val="#ppt_x"/>
                                          </p:val>
                                        </p:tav>
                                        <p:tav tm="100000">
                                          <p:val>
                                            <p:strVal val="#ppt_x"/>
                                          </p:val>
                                        </p:tav>
                                      </p:tavLst>
                                    </p:anim>
                                    <p:anim calcmode="lin" valueType="num">
                                      <p:cBhvr>
                                        <p:cTn id="105"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animBg="1"/>
      <p:bldP spid="60" grpId="0" animBg="1"/>
      <p:bldP spid="61" grpId="0" animBg="1"/>
      <p:bldP spid="62" grpId="0" animBg="1"/>
      <p:bldP spid="63" grpId="0" animBg="1"/>
      <p:bldP spid="64" grpId="0" animBg="1"/>
      <p:bldP spid="65" grpId="0"/>
      <p:bldP spid="66" grpId="0"/>
      <p:bldP spid="67" grpId="0"/>
      <p:bldP spid="68" grpId="0"/>
      <p:bldP spid="69" grpId="0"/>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FB3326CC-105E-4511-AEAE-1F506C4C7151}"/>
              </a:ext>
            </a:extLst>
          </p:cNvPr>
          <p:cNvPicPr>
            <a:picLocks noChangeAspect="1"/>
          </p:cNvPicPr>
          <p:nvPr/>
        </p:nvPicPr>
        <p:blipFill>
          <a:blip r:embed="rId2"/>
          <a:stretch>
            <a:fillRect/>
          </a:stretch>
        </p:blipFill>
        <p:spPr>
          <a:xfrm>
            <a:off x="28450" y="3799321"/>
            <a:ext cx="9144000" cy="1311904"/>
          </a:xfrm>
          <a:prstGeom prst="rect">
            <a:avLst/>
          </a:prstGeom>
        </p:spPr>
      </p:pic>
      <p:pic>
        <p:nvPicPr>
          <p:cNvPr id="9" name="图片 8">
            <a:extLst>
              <a:ext uri="{FF2B5EF4-FFF2-40B4-BE49-F238E27FC236}">
                <a16:creationId xmlns:a16="http://schemas.microsoft.com/office/drawing/2014/main" id="{D68BE9A7-41FB-44C4-A472-50C00B774FEB}"/>
              </a:ext>
            </a:extLst>
          </p:cNvPr>
          <p:cNvPicPr>
            <a:picLocks noChangeAspect="1"/>
          </p:cNvPicPr>
          <p:nvPr/>
        </p:nvPicPr>
        <p:blipFill rotWithShape="1">
          <a:blip r:embed="rId3"/>
          <a:srcRect b="33209"/>
          <a:stretch/>
        </p:blipFill>
        <p:spPr>
          <a:xfrm>
            <a:off x="1" y="1"/>
            <a:ext cx="4427984" cy="1923678"/>
          </a:xfrm>
          <a:prstGeom prst="rect">
            <a:avLst/>
          </a:prstGeom>
        </p:spPr>
      </p:pic>
      <p:pic>
        <p:nvPicPr>
          <p:cNvPr id="13" name="图片 12">
            <a:extLst>
              <a:ext uri="{FF2B5EF4-FFF2-40B4-BE49-F238E27FC236}">
                <a16:creationId xmlns:a16="http://schemas.microsoft.com/office/drawing/2014/main" id="{535C2018-35F9-487A-BF47-E4D1AEC11D69}"/>
              </a:ext>
            </a:extLst>
          </p:cNvPr>
          <p:cNvPicPr>
            <a:picLocks noChangeAspect="1"/>
          </p:cNvPicPr>
          <p:nvPr/>
        </p:nvPicPr>
        <p:blipFill>
          <a:blip r:embed="rId4"/>
          <a:stretch>
            <a:fillRect/>
          </a:stretch>
        </p:blipFill>
        <p:spPr>
          <a:xfrm>
            <a:off x="0" y="4086635"/>
            <a:ext cx="9144000" cy="1056864"/>
          </a:xfrm>
          <a:prstGeom prst="rect">
            <a:avLst/>
          </a:prstGeom>
        </p:spPr>
      </p:pic>
      <p:pic>
        <p:nvPicPr>
          <p:cNvPr id="24" name="图片 23">
            <a:extLst>
              <a:ext uri="{FF2B5EF4-FFF2-40B4-BE49-F238E27FC236}">
                <a16:creationId xmlns:a16="http://schemas.microsoft.com/office/drawing/2014/main" id="{EFD91B75-90CC-4D63-A227-65B34F6D3BB1}"/>
              </a:ext>
            </a:extLst>
          </p:cNvPr>
          <p:cNvPicPr>
            <a:picLocks noChangeAspect="1"/>
          </p:cNvPicPr>
          <p:nvPr/>
        </p:nvPicPr>
        <p:blipFill>
          <a:blip r:embed="rId5"/>
          <a:stretch>
            <a:fillRect/>
          </a:stretch>
        </p:blipFill>
        <p:spPr>
          <a:xfrm>
            <a:off x="0" y="-32273"/>
            <a:ext cx="2713798" cy="1367127"/>
          </a:xfrm>
          <a:prstGeom prst="rect">
            <a:avLst/>
          </a:prstGeom>
        </p:spPr>
      </p:pic>
      <p:pic>
        <p:nvPicPr>
          <p:cNvPr id="26" name="图片 25">
            <a:extLst>
              <a:ext uri="{FF2B5EF4-FFF2-40B4-BE49-F238E27FC236}">
                <a16:creationId xmlns:a16="http://schemas.microsoft.com/office/drawing/2014/main" id="{8FF954DB-E50D-4407-A817-849532395E58}"/>
              </a:ext>
            </a:extLst>
          </p:cNvPr>
          <p:cNvPicPr>
            <a:picLocks noChangeAspect="1"/>
          </p:cNvPicPr>
          <p:nvPr/>
        </p:nvPicPr>
        <p:blipFill>
          <a:blip r:embed="rId6"/>
          <a:stretch>
            <a:fillRect/>
          </a:stretch>
        </p:blipFill>
        <p:spPr>
          <a:xfrm>
            <a:off x="6012159" y="2321613"/>
            <a:ext cx="3160291" cy="2821886"/>
          </a:xfrm>
          <a:prstGeom prst="rect">
            <a:avLst/>
          </a:prstGeom>
        </p:spPr>
      </p:pic>
      <p:pic>
        <p:nvPicPr>
          <p:cNvPr id="30" name="图片 29">
            <a:extLst>
              <a:ext uri="{FF2B5EF4-FFF2-40B4-BE49-F238E27FC236}">
                <a16:creationId xmlns:a16="http://schemas.microsoft.com/office/drawing/2014/main" id="{89CDD355-5732-46AB-81AF-F09D0A4123CD}"/>
              </a:ext>
            </a:extLst>
          </p:cNvPr>
          <p:cNvPicPr>
            <a:picLocks noChangeAspect="1"/>
          </p:cNvPicPr>
          <p:nvPr/>
        </p:nvPicPr>
        <p:blipFill>
          <a:blip r:embed="rId7"/>
          <a:srcRect/>
          <a:stretch/>
        </p:blipFill>
        <p:spPr>
          <a:xfrm>
            <a:off x="-28450" y="3075806"/>
            <a:ext cx="2005136" cy="2078683"/>
          </a:xfrm>
          <a:prstGeom prst="rect">
            <a:avLst/>
          </a:prstGeom>
        </p:spPr>
      </p:pic>
      <p:pic>
        <p:nvPicPr>
          <p:cNvPr id="40" name="图片 39">
            <a:extLst>
              <a:ext uri="{FF2B5EF4-FFF2-40B4-BE49-F238E27FC236}">
                <a16:creationId xmlns:a16="http://schemas.microsoft.com/office/drawing/2014/main" id="{5D69B71A-8FC5-4477-8CEA-472EF06970DB}"/>
              </a:ext>
            </a:extLst>
          </p:cNvPr>
          <p:cNvPicPr>
            <a:picLocks noChangeAspect="1"/>
          </p:cNvPicPr>
          <p:nvPr/>
        </p:nvPicPr>
        <p:blipFill>
          <a:blip r:embed="rId8"/>
          <a:stretch>
            <a:fillRect/>
          </a:stretch>
        </p:blipFill>
        <p:spPr>
          <a:xfrm flipH="1">
            <a:off x="6876256" y="816369"/>
            <a:ext cx="1080907" cy="748888"/>
          </a:xfrm>
          <a:prstGeom prst="rect">
            <a:avLst/>
          </a:prstGeom>
        </p:spPr>
      </p:pic>
      <p:sp>
        <p:nvSpPr>
          <p:cNvPr id="10" name="矩形 9">
            <a:extLst>
              <a:ext uri="{FF2B5EF4-FFF2-40B4-BE49-F238E27FC236}">
                <a16:creationId xmlns:a16="http://schemas.microsoft.com/office/drawing/2014/main" id="{0A15A168-DFCF-4124-9309-438134BF1310}"/>
              </a:ext>
            </a:extLst>
          </p:cNvPr>
          <p:cNvSpPr/>
          <p:nvPr/>
        </p:nvSpPr>
        <p:spPr>
          <a:xfrm>
            <a:off x="2713798" y="2078713"/>
            <a:ext cx="3570209" cy="1107996"/>
          </a:xfrm>
          <a:prstGeom prst="rect">
            <a:avLst/>
          </a:prstGeom>
        </p:spPr>
        <p:txBody>
          <a:bodyPr wrap="none">
            <a:spAutoFit/>
          </a:bodyPr>
          <a:lstStyle/>
          <a:p>
            <a:pPr algn="ctr"/>
            <a:r>
              <a:rPr lang="zh-CN" altLang="en-US" sz="6600" b="1" dirty="0">
                <a:solidFill>
                  <a:srgbClr val="C80000"/>
                </a:solidFill>
                <a:latin typeface="汉仪雅酷黑 75W" panose="020B0804020202020204" pitchFamily="34" charset="-122"/>
                <a:ea typeface="汉仪雅酷黑 75W" panose="020B0804020202020204" pitchFamily="34" charset="-122"/>
                <a:cs typeface="+mn-ea"/>
              </a:rPr>
              <a:t>一带一路</a:t>
            </a:r>
          </a:p>
        </p:txBody>
      </p:sp>
      <p:sp>
        <p:nvSpPr>
          <p:cNvPr id="11" name="矩形 10">
            <a:extLst>
              <a:ext uri="{FF2B5EF4-FFF2-40B4-BE49-F238E27FC236}">
                <a16:creationId xmlns:a16="http://schemas.microsoft.com/office/drawing/2014/main" id="{7852DC2A-A933-4C89-8299-7209F52339EA}"/>
              </a:ext>
            </a:extLst>
          </p:cNvPr>
          <p:cNvSpPr/>
          <p:nvPr/>
        </p:nvSpPr>
        <p:spPr>
          <a:xfrm>
            <a:off x="3807645" y="1347614"/>
            <a:ext cx="1608134" cy="507831"/>
          </a:xfrm>
          <a:prstGeom prst="rect">
            <a:avLst/>
          </a:prstGeom>
        </p:spPr>
        <p:txBody>
          <a:bodyPr wrap="none">
            <a:spAutoFit/>
          </a:bodyPr>
          <a:lstStyle/>
          <a:p>
            <a:pPr algn="ctr"/>
            <a:r>
              <a:rPr lang="zh-CN" altLang="en-US" sz="2700" b="1" dirty="0">
                <a:solidFill>
                  <a:srgbClr val="C80000"/>
                </a:solidFill>
                <a:latin typeface="汉仪雅酷黑 75W" panose="020B0804020202020204" pitchFamily="34" charset="-122"/>
                <a:ea typeface="汉仪雅酷黑 75W" panose="020B0804020202020204" pitchFamily="34" charset="-122"/>
              </a:rPr>
              <a:t>第一部分</a:t>
            </a:r>
          </a:p>
        </p:txBody>
      </p:sp>
    </p:spTree>
    <p:extLst>
      <p:ext uri="{BB962C8B-B14F-4D97-AF65-F5344CB8AC3E}">
        <p14:creationId xmlns:p14="http://schemas.microsoft.com/office/powerpoint/2010/main" val="8913800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wind"/>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childTnLst>
                          </p:cTn>
                        </p:par>
                        <p:par>
                          <p:cTn id="22" fill="hold">
                            <p:stCondLst>
                              <p:cond delay="2500"/>
                            </p:stCondLst>
                            <p:childTnLst>
                              <p:par>
                                <p:cTn id="23" presetID="2" presetClass="entr" presetSubtype="4"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par>
                          <p:cTn id="27" fill="hold">
                            <p:stCondLst>
                              <p:cond delay="3000"/>
                            </p:stCondLst>
                            <p:childTnLst>
                              <p:par>
                                <p:cTn id="28" presetID="22" presetClass="entr" presetSubtype="4" fill="hold"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down)">
                                      <p:cBhvr>
                                        <p:cTn id="30" dur="500"/>
                                        <p:tgtEl>
                                          <p:spTgt spid="26"/>
                                        </p:tgtEl>
                                      </p:cBhvr>
                                    </p:animEffect>
                                  </p:childTnLst>
                                </p:cTn>
                              </p:par>
                            </p:childTnLst>
                          </p:cTn>
                        </p:par>
                        <p:par>
                          <p:cTn id="31" fill="hold">
                            <p:stCondLst>
                              <p:cond delay="3500"/>
                            </p:stCondLst>
                            <p:childTnLst>
                              <p:par>
                                <p:cTn id="32" presetID="22" presetClass="entr" presetSubtype="4" fill="hold" nodeType="after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down)">
                                      <p:cBhvr>
                                        <p:cTn id="34" dur="500"/>
                                        <p:tgtEl>
                                          <p:spTgt spid="40"/>
                                        </p:tgtEl>
                                      </p:cBhvr>
                                    </p:animEffect>
                                  </p:childTnLst>
                                </p:cTn>
                              </p:par>
                            </p:childTnLst>
                          </p:cTn>
                        </p:par>
                        <p:par>
                          <p:cTn id="35" fill="hold">
                            <p:stCondLst>
                              <p:cond delay="4000"/>
                            </p:stCondLst>
                            <p:childTnLst>
                              <p:par>
                                <p:cTn id="36" presetID="47"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750"/>
                                        <p:tgtEl>
                                          <p:spTgt spid="11"/>
                                        </p:tgtEl>
                                      </p:cBhvr>
                                    </p:animEffect>
                                    <p:anim calcmode="lin" valueType="num">
                                      <p:cBhvr>
                                        <p:cTn id="39" dur="750" fill="hold"/>
                                        <p:tgtEl>
                                          <p:spTgt spid="11"/>
                                        </p:tgtEl>
                                        <p:attrNameLst>
                                          <p:attrName>ppt_x</p:attrName>
                                        </p:attrNameLst>
                                      </p:cBhvr>
                                      <p:tavLst>
                                        <p:tav tm="0">
                                          <p:val>
                                            <p:strVal val="#ppt_x"/>
                                          </p:val>
                                        </p:tav>
                                        <p:tav tm="100000">
                                          <p:val>
                                            <p:strVal val="#ppt_x"/>
                                          </p:val>
                                        </p:tav>
                                      </p:tavLst>
                                    </p:anim>
                                    <p:anim calcmode="lin" valueType="num">
                                      <p:cBhvr>
                                        <p:cTn id="40" dur="750" fill="hold"/>
                                        <p:tgtEl>
                                          <p:spTgt spid="11"/>
                                        </p:tgtEl>
                                        <p:attrNameLst>
                                          <p:attrName>ppt_y</p:attrName>
                                        </p:attrNameLst>
                                      </p:cBhvr>
                                      <p:tavLst>
                                        <p:tav tm="0">
                                          <p:val>
                                            <p:strVal val="#ppt_y-.1"/>
                                          </p:val>
                                        </p:tav>
                                        <p:tav tm="100000">
                                          <p:val>
                                            <p:strVal val="#ppt_y"/>
                                          </p:val>
                                        </p:tav>
                                      </p:tavLst>
                                    </p:anim>
                                  </p:childTnLst>
                                </p:cTn>
                              </p:par>
                              <p:par>
                                <p:cTn id="41" presetID="53" presetClass="entr" presetSubtype="16"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250" fill="hold"/>
                                        <p:tgtEl>
                                          <p:spTgt spid="10"/>
                                        </p:tgtEl>
                                        <p:attrNameLst>
                                          <p:attrName>ppt_w</p:attrName>
                                        </p:attrNameLst>
                                      </p:cBhvr>
                                      <p:tavLst>
                                        <p:tav tm="0">
                                          <p:val>
                                            <p:fltVal val="0"/>
                                          </p:val>
                                        </p:tav>
                                        <p:tav tm="100000">
                                          <p:val>
                                            <p:strVal val="#ppt_w"/>
                                          </p:val>
                                        </p:tav>
                                      </p:tavLst>
                                    </p:anim>
                                    <p:anim calcmode="lin" valueType="num">
                                      <p:cBhvr>
                                        <p:cTn id="44" dur="1250" fill="hold"/>
                                        <p:tgtEl>
                                          <p:spTgt spid="10"/>
                                        </p:tgtEl>
                                        <p:attrNameLst>
                                          <p:attrName>ppt_h</p:attrName>
                                        </p:attrNameLst>
                                      </p:cBhvr>
                                      <p:tavLst>
                                        <p:tav tm="0">
                                          <p:val>
                                            <p:fltVal val="0"/>
                                          </p:val>
                                        </p:tav>
                                        <p:tav tm="100000">
                                          <p:val>
                                            <p:strVal val="#ppt_h"/>
                                          </p:val>
                                        </p:tav>
                                      </p:tavLst>
                                    </p:anim>
                                    <p:animEffect transition="in" filter="fade">
                                      <p:cBhvr>
                                        <p:cTn id="45" dur="1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473EFD6-8804-406B-A9D9-733922C71B63}"/>
              </a:ext>
            </a:extLst>
          </p:cNvPr>
          <p:cNvPicPr>
            <a:picLocks noChangeAspect="1"/>
          </p:cNvPicPr>
          <p:nvPr/>
        </p:nvPicPr>
        <p:blipFill>
          <a:blip r:embed="rId3"/>
          <a:stretch>
            <a:fillRect/>
          </a:stretch>
        </p:blipFill>
        <p:spPr>
          <a:xfrm>
            <a:off x="4572000" y="1061071"/>
            <a:ext cx="4572000" cy="4082429"/>
          </a:xfrm>
          <a:prstGeom prst="rect">
            <a:avLst/>
          </a:prstGeom>
        </p:spPr>
      </p:pic>
      <p:sp>
        <p:nvSpPr>
          <p:cNvPr id="9" name="文本框 8">
            <a:extLst>
              <a:ext uri="{FF2B5EF4-FFF2-40B4-BE49-F238E27FC236}">
                <a16:creationId xmlns:a16="http://schemas.microsoft.com/office/drawing/2014/main" id="{B76A4F1D-C906-4015-9ED4-32D0C6E5F6E1}"/>
              </a:ext>
            </a:extLst>
          </p:cNvPr>
          <p:cNvSpPr txBox="1"/>
          <p:nvPr/>
        </p:nvSpPr>
        <p:spPr>
          <a:xfrm>
            <a:off x="539552" y="411510"/>
            <a:ext cx="4558704" cy="584775"/>
          </a:xfrm>
          <a:prstGeom prst="rect">
            <a:avLst/>
          </a:prstGeom>
          <a:noFill/>
        </p:spPr>
        <p:txBody>
          <a:bodyPr wrap="square" rtlCol="0">
            <a:spAutoFit/>
          </a:bodyPr>
          <a:lstStyle>
            <a:defPPr>
              <a:defRPr lang="zh-CN"/>
            </a:defPPr>
            <a:lvl1pPr algn="ctr">
              <a:defRPr sz="2400">
                <a:solidFill>
                  <a:schemeClr val="accent1"/>
                </a:solidFill>
                <a:latin typeface="Noto Sans S Chinese Bold" panose="020B0800000000000000" pitchFamily="34" charset="-122"/>
                <a:ea typeface="Noto Sans S Chinese Bold" panose="020B0800000000000000" pitchFamily="34" charset="-122"/>
                <a:cs typeface="+mn-ea"/>
              </a:defRPr>
            </a:lvl1pPr>
          </a:lstStyle>
          <a:p>
            <a:pPr algn="l"/>
            <a:r>
              <a:rPr lang="zh-CN" altLang="en-US" sz="3200" dirty="0"/>
              <a:t>一带一路</a:t>
            </a:r>
          </a:p>
        </p:txBody>
      </p:sp>
      <p:sp>
        <p:nvSpPr>
          <p:cNvPr id="10" name="文本框 9">
            <a:extLst>
              <a:ext uri="{FF2B5EF4-FFF2-40B4-BE49-F238E27FC236}">
                <a16:creationId xmlns:a16="http://schemas.microsoft.com/office/drawing/2014/main" id="{623A47CB-3FD8-4B48-BB4C-55334B461B93}"/>
              </a:ext>
            </a:extLst>
          </p:cNvPr>
          <p:cNvSpPr txBox="1"/>
          <p:nvPr/>
        </p:nvSpPr>
        <p:spPr>
          <a:xfrm>
            <a:off x="539552" y="1275606"/>
            <a:ext cx="6408712" cy="2976841"/>
          </a:xfrm>
          <a:prstGeom prst="rect">
            <a:avLst/>
          </a:prstGeom>
          <a:noFill/>
        </p:spPr>
        <p:txBody>
          <a:bodyPr wrap="square" rtlCol="0">
            <a:spAutoFit/>
          </a:bodyPr>
          <a:lstStyle/>
          <a:p>
            <a:pPr>
              <a:lnSpc>
                <a:spcPct val="200000"/>
              </a:lnSpc>
            </a:pPr>
            <a:r>
              <a:rPr lang="en-US" altLang="zh-CN" sz="1600" dirty="0"/>
              <a:t>2013</a:t>
            </a:r>
            <a:r>
              <a:rPr lang="zh-CN" altLang="en-US" sz="1600" dirty="0"/>
              <a:t>年</a:t>
            </a:r>
            <a:r>
              <a:rPr lang="en-US" altLang="zh-CN" sz="1600" dirty="0"/>
              <a:t>9</a:t>
            </a:r>
            <a:r>
              <a:rPr lang="zh-CN" altLang="en-US" sz="1600" dirty="0"/>
              <a:t>月和</a:t>
            </a:r>
            <a:r>
              <a:rPr lang="en-US" altLang="zh-CN" sz="1600" dirty="0"/>
              <a:t>10</a:t>
            </a:r>
            <a:r>
              <a:rPr lang="zh-CN" altLang="en-US" sz="1600" dirty="0"/>
              <a:t>月由中国国家主席习近平分别提出建设“</a:t>
            </a:r>
            <a:r>
              <a:rPr lang="zh-CN" altLang="en-US" sz="1600" dirty="0">
                <a:solidFill>
                  <a:srgbClr val="C00000"/>
                </a:solidFill>
              </a:rPr>
              <a:t>新丝绸之路经济带</a:t>
            </a:r>
            <a:r>
              <a:rPr lang="zh-CN" altLang="en-US" sz="1600" dirty="0"/>
              <a:t>”和“</a:t>
            </a:r>
            <a:r>
              <a:rPr lang="en-US" altLang="zh-CN" sz="1600" dirty="0">
                <a:solidFill>
                  <a:srgbClr val="C00000"/>
                </a:solidFill>
              </a:rPr>
              <a:t>21</a:t>
            </a:r>
            <a:r>
              <a:rPr lang="zh-CN" altLang="en-US" sz="1600" dirty="0">
                <a:solidFill>
                  <a:srgbClr val="C00000"/>
                </a:solidFill>
              </a:rPr>
              <a:t>世纪海上丝绸之路</a:t>
            </a:r>
            <a:r>
              <a:rPr lang="zh-CN" altLang="en-US" sz="1600" dirty="0"/>
              <a:t>”的合作倡议</a:t>
            </a:r>
            <a:r>
              <a:rPr lang="zh-CN" altLang="en-US" sz="1600" baseline="30000" dirty="0"/>
              <a:t> </a:t>
            </a:r>
            <a:r>
              <a:rPr lang="zh-CN" altLang="en-US" sz="1600" dirty="0"/>
              <a:t>。依靠中国与有关国家既有的双多边机制，借助既有的、行之有效的区域合作平台，一带一路旨在借用古代丝绸之路的历史符号，高举和平发展的旗帜，积极发展与沿线国家的经济合作伙伴关系，共同打造政治互信、经济融合、文化包容的利益共同体、命运共同体和责任共同体。</a:t>
            </a:r>
            <a:endParaRPr lang="zh-CN" altLang="en-US" sz="1600" dirty="0">
              <a:solidFill>
                <a:schemeClr val="accent1"/>
              </a:solidFill>
              <a:ea typeface="Noto Sans S Chinese Light" panose="020B0300000000000000" pitchFamily="34" charset="-122"/>
            </a:endParaRPr>
          </a:p>
        </p:txBody>
      </p:sp>
    </p:spTree>
    <p:extLst>
      <p:ext uri="{BB962C8B-B14F-4D97-AF65-F5344CB8AC3E}">
        <p14:creationId xmlns:p14="http://schemas.microsoft.com/office/powerpoint/2010/main" val="38654888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prestig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473EFD6-8804-406B-A9D9-733922C71B63}"/>
              </a:ext>
            </a:extLst>
          </p:cNvPr>
          <p:cNvPicPr>
            <a:picLocks noChangeAspect="1"/>
          </p:cNvPicPr>
          <p:nvPr/>
        </p:nvPicPr>
        <p:blipFill>
          <a:blip r:embed="rId3"/>
          <a:stretch>
            <a:fillRect/>
          </a:stretch>
        </p:blipFill>
        <p:spPr>
          <a:xfrm>
            <a:off x="4572000" y="1061071"/>
            <a:ext cx="4572000" cy="4082429"/>
          </a:xfrm>
          <a:prstGeom prst="rect">
            <a:avLst/>
          </a:prstGeom>
        </p:spPr>
      </p:pic>
      <p:sp>
        <p:nvSpPr>
          <p:cNvPr id="4" name="文本框 3">
            <a:extLst>
              <a:ext uri="{FF2B5EF4-FFF2-40B4-BE49-F238E27FC236}">
                <a16:creationId xmlns:a16="http://schemas.microsoft.com/office/drawing/2014/main" id="{7CC1D709-F43C-46F0-8E07-202444582C1A}"/>
              </a:ext>
            </a:extLst>
          </p:cNvPr>
          <p:cNvSpPr txBox="1"/>
          <p:nvPr/>
        </p:nvSpPr>
        <p:spPr>
          <a:xfrm>
            <a:off x="611560" y="411510"/>
            <a:ext cx="4558704" cy="584775"/>
          </a:xfrm>
          <a:prstGeom prst="rect">
            <a:avLst/>
          </a:prstGeom>
          <a:noFill/>
        </p:spPr>
        <p:txBody>
          <a:bodyPr wrap="square" rtlCol="0">
            <a:spAutoFit/>
          </a:bodyPr>
          <a:lstStyle>
            <a:defPPr>
              <a:defRPr lang="zh-CN"/>
            </a:defPPr>
            <a:lvl1pPr algn="ctr">
              <a:defRPr sz="2400">
                <a:solidFill>
                  <a:schemeClr val="accent1"/>
                </a:solidFill>
                <a:latin typeface="Noto Sans S Chinese Bold" panose="020B0800000000000000" pitchFamily="34" charset="-122"/>
                <a:ea typeface="Noto Sans S Chinese Bold" panose="020B0800000000000000" pitchFamily="34" charset="-122"/>
                <a:cs typeface="+mn-ea"/>
              </a:defRPr>
            </a:lvl1pPr>
          </a:lstStyle>
          <a:p>
            <a:pPr algn="l"/>
            <a:r>
              <a:rPr lang="zh-CN" altLang="en-US" sz="3200" dirty="0"/>
              <a:t>一带一路成就</a:t>
            </a:r>
          </a:p>
        </p:txBody>
      </p:sp>
      <p:sp>
        <p:nvSpPr>
          <p:cNvPr id="6" name="文本框 5">
            <a:extLst>
              <a:ext uri="{FF2B5EF4-FFF2-40B4-BE49-F238E27FC236}">
                <a16:creationId xmlns:a16="http://schemas.microsoft.com/office/drawing/2014/main" id="{4042D5C5-3C20-4025-9E49-F2CB46580216}"/>
              </a:ext>
            </a:extLst>
          </p:cNvPr>
          <p:cNvSpPr txBox="1"/>
          <p:nvPr/>
        </p:nvSpPr>
        <p:spPr>
          <a:xfrm>
            <a:off x="635920" y="1347614"/>
            <a:ext cx="5520255" cy="2268954"/>
          </a:xfrm>
          <a:prstGeom prst="rect">
            <a:avLst/>
          </a:prstGeom>
          <a:noFill/>
        </p:spPr>
        <p:txBody>
          <a:bodyPr wrap="square" rtlCol="0">
            <a:spAutoFit/>
          </a:bodyPr>
          <a:lstStyle/>
          <a:p>
            <a:pPr>
              <a:lnSpc>
                <a:spcPct val="150000"/>
              </a:lnSpc>
            </a:pPr>
            <a:r>
              <a:rPr lang="zh-CN" altLang="en-US" sz="1600" dirty="0"/>
              <a:t>截至</a:t>
            </a:r>
            <a:r>
              <a:rPr lang="en-US" altLang="zh-CN" sz="1600" dirty="0"/>
              <a:t>2021</a:t>
            </a:r>
            <a:r>
              <a:rPr lang="zh-CN" altLang="en-US" sz="1600" dirty="0"/>
              <a:t>年</a:t>
            </a:r>
            <a:r>
              <a:rPr lang="en-US" altLang="zh-CN" sz="1600" dirty="0"/>
              <a:t>11</a:t>
            </a:r>
            <a:r>
              <a:rPr lang="zh-CN" altLang="en-US" sz="1600" dirty="0"/>
              <a:t>月</a:t>
            </a:r>
            <a:r>
              <a:rPr lang="en-US" altLang="zh-CN" sz="1600" dirty="0"/>
              <a:t>20</a:t>
            </a:r>
            <a:r>
              <a:rPr lang="zh-CN" altLang="en-US" sz="1600" dirty="0"/>
              <a:t>日，中国与</a:t>
            </a:r>
            <a:r>
              <a:rPr lang="en-US" altLang="zh-CN" sz="1600" dirty="0">
                <a:solidFill>
                  <a:srgbClr val="C00000"/>
                </a:solidFill>
              </a:rPr>
              <a:t>141</a:t>
            </a:r>
            <a:r>
              <a:rPr lang="zh-CN" altLang="en-US" sz="1600" dirty="0"/>
              <a:t>个国家和</a:t>
            </a:r>
            <a:r>
              <a:rPr lang="en-US" altLang="zh-CN" sz="1600" dirty="0">
                <a:solidFill>
                  <a:srgbClr val="C00000"/>
                </a:solidFill>
              </a:rPr>
              <a:t>32</a:t>
            </a:r>
            <a:r>
              <a:rPr lang="zh-CN" altLang="en-US" sz="1600" dirty="0"/>
              <a:t>个国际组织，签署了</a:t>
            </a:r>
            <a:r>
              <a:rPr lang="en-US" altLang="zh-CN" sz="1600" dirty="0">
                <a:solidFill>
                  <a:srgbClr val="C00000"/>
                </a:solidFill>
              </a:rPr>
              <a:t>206</a:t>
            </a:r>
            <a:r>
              <a:rPr lang="zh-CN" altLang="en-US" sz="1600" dirty="0"/>
              <a:t>份共建“一带一路”合作文件。据世界银行研究报告，共建“一带一路”倡议将使相关国家</a:t>
            </a:r>
            <a:r>
              <a:rPr lang="en-US" altLang="zh-CN" sz="1600" dirty="0">
                <a:solidFill>
                  <a:srgbClr val="C00000"/>
                </a:solidFill>
              </a:rPr>
              <a:t>760</a:t>
            </a:r>
            <a:r>
              <a:rPr lang="zh-CN" altLang="en-US" sz="1600" dirty="0">
                <a:solidFill>
                  <a:srgbClr val="C00000"/>
                </a:solidFill>
              </a:rPr>
              <a:t>万人</a:t>
            </a:r>
            <a:r>
              <a:rPr lang="zh-CN" altLang="en-US" sz="1600" dirty="0"/>
              <a:t>摆脱极端贫困、</a:t>
            </a:r>
            <a:r>
              <a:rPr lang="en-US" altLang="zh-CN" sz="1600" dirty="0">
                <a:solidFill>
                  <a:srgbClr val="C00000"/>
                </a:solidFill>
              </a:rPr>
              <a:t>3200</a:t>
            </a:r>
            <a:r>
              <a:rPr lang="zh-CN" altLang="en-US" sz="1600" dirty="0">
                <a:solidFill>
                  <a:srgbClr val="C00000"/>
                </a:solidFill>
              </a:rPr>
              <a:t>万人</a:t>
            </a:r>
            <a:r>
              <a:rPr lang="zh-CN" altLang="en-US" sz="1600" dirty="0"/>
              <a:t>摆脱中度贫困，将使参与国贸易增长</a:t>
            </a:r>
            <a:r>
              <a:rPr lang="en-US" altLang="zh-CN" sz="1600" dirty="0"/>
              <a:t>2.8%</a:t>
            </a:r>
            <a:r>
              <a:rPr lang="zh-CN" altLang="en-US" sz="1600" dirty="0"/>
              <a:t>至</a:t>
            </a:r>
            <a:r>
              <a:rPr lang="en-US" altLang="zh-CN" sz="1600" dirty="0"/>
              <a:t>9.7%</a:t>
            </a:r>
            <a:r>
              <a:rPr lang="zh-CN" altLang="en-US" sz="1600" dirty="0"/>
              <a:t>、全球贸易增长</a:t>
            </a:r>
            <a:r>
              <a:rPr lang="en-US" altLang="zh-CN" sz="1600" dirty="0"/>
              <a:t>1.7%</a:t>
            </a:r>
            <a:r>
              <a:rPr lang="zh-CN" altLang="en-US" sz="1600" dirty="0"/>
              <a:t>至</a:t>
            </a:r>
            <a:r>
              <a:rPr lang="en-US" altLang="zh-CN" sz="1600" dirty="0"/>
              <a:t>6.2%</a:t>
            </a:r>
            <a:r>
              <a:rPr lang="zh-CN" altLang="en-US" sz="1600" dirty="0"/>
              <a:t>、全球收入增加</a:t>
            </a:r>
            <a:r>
              <a:rPr lang="en-US" altLang="zh-CN" sz="1600" dirty="0"/>
              <a:t>0.7%</a:t>
            </a:r>
            <a:r>
              <a:rPr lang="zh-CN" altLang="en-US" sz="1600" dirty="0"/>
              <a:t>至</a:t>
            </a:r>
            <a:r>
              <a:rPr lang="en-US" altLang="zh-CN" sz="1600" dirty="0"/>
              <a:t>2.9%</a:t>
            </a:r>
            <a:endParaRPr lang="zh-CN" altLang="en-US" sz="1600" dirty="0">
              <a:solidFill>
                <a:schemeClr val="accent1"/>
              </a:solidFill>
              <a:ea typeface="Noto Sans S Chinese Light" panose="020B0300000000000000" pitchFamily="34" charset="-122"/>
            </a:endParaRPr>
          </a:p>
        </p:txBody>
      </p:sp>
    </p:spTree>
    <p:extLst>
      <p:ext uri="{BB962C8B-B14F-4D97-AF65-F5344CB8AC3E}">
        <p14:creationId xmlns:p14="http://schemas.microsoft.com/office/powerpoint/2010/main" val="4717895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prestig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F95C2C22-38C5-4CF6-AE20-73F4B9B39CAA}"/>
              </a:ext>
            </a:extLst>
          </p:cNvPr>
          <p:cNvSpPr/>
          <p:nvPr/>
        </p:nvSpPr>
        <p:spPr>
          <a:xfrm>
            <a:off x="1187624" y="1275606"/>
            <a:ext cx="6696744" cy="2951898"/>
          </a:xfrm>
          <a:prstGeom prst="rect">
            <a:avLst/>
          </a:prstGeom>
          <a:noFill/>
        </p:spPr>
        <p:txBody>
          <a:bodyPr wrap="square" rtlCol="0">
            <a:spAutoFit/>
          </a:bodyPr>
          <a:lstStyle/>
          <a:p>
            <a:pPr algn="just">
              <a:lnSpc>
                <a:spcPct val="150000"/>
              </a:lnSpc>
            </a:pPr>
            <a:r>
              <a:rPr lang="zh-CN" altLang="en-US" dirty="0"/>
              <a:t>         中欧班列是指按照固定车次、线路等条件开行，往来于中国与欧洲及一带一路沿线各国的集装箱国际铁路联运班列。铺划了西中东</a:t>
            </a:r>
            <a:r>
              <a:rPr lang="en-US" altLang="zh-CN" dirty="0"/>
              <a:t>3</a:t>
            </a:r>
            <a:r>
              <a:rPr lang="zh-CN" altLang="en-US" dirty="0"/>
              <a:t>条通道中欧班列运行线</a:t>
            </a:r>
            <a:r>
              <a:rPr lang="en-US" altLang="zh-CN" dirty="0"/>
              <a:t>:</a:t>
            </a:r>
            <a:r>
              <a:rPr lang="zh-CN" altLang="en-US" dirty="0">
                <a:solidFill>
                  <a:srgbClr val="C00000"/>
                </a:solidFill>
              </a:rPr>
              <a:t>西部通道</a:t>
            </a:r>
            <a:r>
              <a:rPr lang="zh-CN" altLang="en-US" dirty="0"/>
              <a:t>由我国中西部经阿拉山口</a:t>
            </a:r>
            <a:r>
              <a:rPr lang="en-US" altLang="zh-CN" dirty="0"/>
              <a:t>(</a:t>
            </a:r>
            <a:r>
              <a:rPr lang="zh-CN" altLang="en-US" dirty="0"/>
              <a:t>霍尔果斯</a:t>
            </a:r>
            <a:r>
              <a:rPr lang="en-US" altLang="zh-CN" dirty="0"/>
              <a:t>)</a:t>
            </a:r>
            <a:r>
              <a:rPr lang="zh-CN" altLang="en-US" dirty="0"/>
              <a:t>出境，</a:t>
            </a:r>
            <a:r>
              <a:rPr lang="zh-CN" altLang="en-US" dirty="0">
                <a:solidFill>
                  <a:srgbClr val="C00000"/>
                </a:solidFill>
              </a:rPr>
              <a:t>中部通道</a:t>
            </a:r>
            <a:r>
              <a:rPr lang="zh-CN" altLang="en-US" dirty="0"/>
              <a:t>由我国华北地区经二连浩特出境，</a:t>
            </a:r>
            <a:r>
              <a:rPr lang="zh-CN" altLang="en-US" dirty="0">
                <a:solidFill>
                  <a:srgbClr val="C00000"/>
                </a:solidFill>
              </a:rPr>
              <a:t>东部通道</a:t>
            </a:r>
            <a:r>
              <a:rPr lang="zh-CN" altLang="en-US" dirty="0"/>
              <a:t>由我国东南部沿海地区经满洲里</a:t>
            </a:r>
            <a:r>
              <a:rPr lang="en-US" altLang="zh-CN" dirty="0"/>
              <a:t>(</a:t>
            </a:r>
            <a:r>
              <a:rPr lang="zh-CN" altLang="en-US" dirty="0"/>
              <a:t>绥芬河</a:t>
            </a:r>
            <a:r>
              <a:rPr lang="en-US" altLang="zh-CN" dirty="0"/>
              <a:t>)</a:t>
            </a:r>
            <a:r>
              <a:rPr lang="zh-CN" altLang="en-US" dirty="0"/>
              <a:t>出境。 </a:t>
            </a:r>
            <a:r>
              <a:rPr lang="en-US" altLang="zh-CN" dirty="0">
                <a:solidFill>
                  <a:srgbClr val="C00000"/>
                </a:solidFill>
              </a:rPr>
              <a:t>2011</a:t>
            </a:r>
            <a:r>
              <a:rPr lang="zh-CN" altLang="en-US" dirty="0">
                <a:solidFill>
                  <a:srgbClr val="C00000"/>
                </a:solidFill>
              </a:rPr>
              <a:t>年</a:t>
            </a:r>
            <a:r>
              <a:rPr lang="en-US" altLang="zh-CN" dirty="0">
                <a:solidFill>
                  <a:srgbClr val="C00000"/>
                </a:solidFill>
              </a:rPr>
              <a:t>3</a:t>
            </a:r>
            <a:r>
              <a:rPr lang="zh-CN" altLang="en-US" dirty="0">
                <a:solidFill>
                  <a:srgbClr val="C00000"/>
                </a:solidFill>
              </a:rPr>
              <a:t>月</a:t>
            </a:r>
            <a:r>
              <a:rPr lang="zh-CN" altLang="en-US" dirty="0"/>
              <a:t>，首趟中欧班列从重庆发出开往德国杜伊斯堡，开启了中欧班列创新发展的序章。</a:t>
            </a:r>
            <a:endParaRPr lang="zh-CN" altLang="en-US" sz="1013" dirty="0">
              <a:solidFill>
                <a:srgbClr val="7C4939"/>
              </a:solidFill>
              <a:latin typeface="Noto Sans S Chinese Light" panose="020B0300000000000000" pitchFamily="34" charset="-122"/>
              <a:ea typeface="Noto Sans S Chinese Light" panose="020B0300000000000000" pitchFamily="34" charset="-122"/>
            </a:endParaRPr>
          </a:p>
        </p:txBody>
      </p:sp>
      <p:grpSp>
        <p:nvGrpSpPr>
          <p:cNvPr id="8" name="组合 7">
            <a:extLst>
              <a:ext uri="{FF2B5EF4-FFF2-40B4-BE49-F238E27FC236}">
                <a16:creationId xmlns:a16="http://schemas.microsoft.com/office/drawing/2014/main" id="{DA1F4816-6711-4FBC-8579-5BF86983A6A3}"/>
              </a:ext>
            </a:extLst>
          </p:cNvPr>
          <p:cNvGrpSpPr/>
          <p:nvPr/>
        </p:nvGrpSpPr>
        <p:grpSpPr>
          <a:xfrm>
            <a:off x="539552" y="339502"/>
            <a:ext cx="6455873" cy="692756"/>
            <a:chOff x="7667051" y="1616765"/>
            <a:chExt cx="8607831" cy="923674"/>
          </a:xfrm>
        </p:grpSpPr>
        <p:sp>
          <p:nvSpPr>
            <p:cNvPr id="9" name="矩形: 圆角 8">
              <a:extLst>
                <a:ext uri="{FF2B5EF4-FFF2-40B4-BE49-F238E27FC236}">
                  <a16:creationId xmlns:a16="http://schemas.microsoft.com/office/drawing/2014/main" id="{38D04FEF-4C0E-4E86-B390-42AD5F0E3012}"/>
                </a:ext>
              </a:extLst>
            </p:cNvPr>
            <p:cNvSpPr/>
            <p:nvPr/>
          </p:nvSpPr>
          <p:spPr>
            <a:xfrm>
              <a:off x="7980215" y="1784351"/>
              <a:ext cx="8294667" cy="588499"/>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8EDDB"/>
                </a:solidFill>
                <a:latin typeface="Noto Sans S Chinese Bold" panose="020B0800000000000000" pitchFamily="34" charset="-122"/>
                <a:ea typeface="Noto Sans S Chinese Bold" panose="020B0800000000000000" pitchFamily="34" charset="-122"/>
              </a:endParaRPr>
            </a:p>
          </p:txBody>
        </p:sp>
        <p:sp>
          <p:nvSpPr>
            <p:cNvPr id="10" name="矩形: 圆角 9">
              <a:extLst>
                <a:ext uri="{FF2B5EF4-FFF2-40B4-BE49-F238E27FC236}">
                  <a16:creationId xmlns:a16="http://schemas.microsoft.com/office/drawing/2014/main" id="{F4B1E372-7088-4A56-8941-2ED98ED47DD7}"/>
                </a:ext>
              </a:extLst>
            </p:cNvPr>
            <p:cNvSpPr>
              <a:spLocks noChangeAspect="1"/>
            </p:cNvSpPr>
            <p:nvPr/>
          </p:nvSpPr>
          <p:spPr>
            <a:xfrm>
              <a:off x="7667051" y="1616765"/>
              <a:ext cx="923677" cy="923674"/>
            </a:xfrm>
            <a:prstGeom prst="roundRect">
              <a:avLst>
                <a:gd name="adj" fmla="val 50000"/>
              </a:avLst>
            </a:prstGeom>
            <a:solidFill>
              <a:srgbClr val="C00000"/>
            </a:solidFill>
            <a:ln w="63500">
              <a:solidFill>
                <a:srgbClr val="FFFA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Noto Sans S Chinese Bold" panose="020B0800000000000000" pitchFamily="34" charset="-122"/>
                <a:ea typeface="Noto Sans S Chinese Bold" panose="020B0800000000000000" pitchFamily="34" charset="-122"/>
              </a:endParaRPr>
            </a:p>
          </p:txBody>
        </p:sp>
        <p:sp>
          <p:nvSpPr>
            <p:cNvPr id="11" name="Freeform 5">
              <a:extLst>
                <a:ext uri="{FF2B5EF4-FFF2-40B4-BE49-F238E27FC236}">
                  <a16:creationId xmlns:a16="http://schemas.microsoft.com/office/drawing/2014/main" id="{244B7C6C-0A7E-43DC-85CD-1FF17C28E99D}"/>
                </a:ext>
              </a:extLst>
            </p:cNvPr>
            <p:cNvSpPr>
              <a:spLocks/>
            </p:cNvSpPr>
            <p:nvPr/>
          </p:nvSpPr>
          <p:spPr bwMode="auto">
            <a:xfrm>
              <a:off x="7856207" y="1784352"/>
              <a:ext cx="545365" cy="551362"/>
            </a:xfrm>
            <a:custGeom>
              <a:avLst/>
              <a:gdLst>
                <a:gd name="T0" fmla="*/ 2313 w 16074"/>
                <a:gd name="T1" fmla="*/ 11564 h 16128"/>
                <a:gd name="T2" fmla="*/ 3529 w 16074"/>
                <a:gd name="T3" fmla="*/ 12395 h 16128"/>
                <a:gd name="T4" fmla="*/ 4818 w 16074"/>
                <a:gd name="T5" fmla="*/ 13031 h 16128"/>
                <a:gd name="T6" fmla="*/ 6189 w 16074"/>
                <a:gd name="T7" fmla="*/ 13418 h 16128"/>
                <a:gd name="T8" fmla="*/ 7653 w 16074"/>
                <a:gd name="T9" fmla="*/ 13501 h 16128"/>
                <a:gd name="T10" fmla="*/ 9219 w 16074"/>
                <a:gd name="T11" fmla="*/ 13224 h 16128"/>
                <a:gd name="T12" fmla="*/ 5225 w 16074"/>
                <a:gd name="T13" fmla="*/ 7326 h 16128"/>
                <a:gd name="T14" fmla="*/ 5604 w 16074"/>
                <a:gd name="T15" fmla="*/ 2588 h 16128"/>
                <a:gd name="T16" fmla="*/ 5918 w 16074"/>
                <a:gd name="T17" fmla="*/ 2680 h 16128"/>
                <a:gd name="T18" fmla="*/ 6274 w 16074"/>
                <a:gd name="T19" fmla="*/ 2719 h 16128"/>
                <a:gd name="T20" fmla="*/ 6671 w 16074"/>
                <a:gd name="T21" fmla="*/ 2688 h 16128"/>
                <a:gd name="T22" fmla="*/ 7102 w 16074"/>
                <a:gd name="T23" fmla="*/ 2577 h 16128"/>
                <a:gd name="T24" fmla="*/ 7563 w 16074"/>
                <a:gd name="T25" fmla="*/ 2375 h 16128"/>
                <a:gd name="T26" fmla="*/ 8053 w 16074"/>
                <a:gd name="T27" fmla="*/ 2066 h 16128"/>
                <a:gd name="T28" fmla="*/ 12930 w 16074"/>
                <a:gd name="T29" fmla="*/ 10057 h 16128"/>
                <a:gd name="T30" fmla="*/ 13396 w 16074"/>
                <a:gd name="T31" fmla="*/ 8301 h 16128"/>
                <a:gd name="T32" fmla="*/ 13347 w 16074"/>
                <a:gd name="T33" fmla="*/ 6443 h 16128"/>
                <a:gd name="T34" fmla="*/ 12801 w 16074"/>
                <a:gd name="T35" fmla="*/ 4583 h 16128"/>
                <a:gd name="T36" fmla="*/ 11773 w 16074"/>
                <a:gd name="T37" fmla="*/ 2822 h 16128"/>
                <a:gd name="T38" fmla="*/ 10277 w 16074"/>
                <a:gd name="T39" fmla="*/ 1262 h 16128"/>
                <a:gd name="T40" fmla="*/ 8329 w 16074"/>
                <a:gd name="T41" fmla="*/ 0 h 16128"/>
                <a:gd name="T42" fmla="*/ 10526 w 16074"/>
                <a:gd name="T43" fmla="*/ 458 h 16128"/>
                <a:gd name="T44" fmla="*/ 12659 w 16074"/>
                <a:gd name="T45" fmla="*/ 1583 h 16128"/>
                <a:gd name="T46" fmla="*/ 14464 w 16074"/>
                <a:gd name="T47" fmla="*/ 3304 h 16128"/>
                <a:gd name="T48" fmla="*/ 15679 w 16074"/>
                <a:gd name="T49" fmla="*/ 5557 h 16128"/>
                <a:gd name="T50" fmla="*/ 16044 w 16074"/>
                <a:gd name="T51" fmla="*/ 8271 h 16128"/>
                <a:gd name="T52" fmla="*/ 15294 w 16074"/>
                <a:gd name="T53" fmla="*/ 11379 h 16128"/>
                <a:gd name="T54" fmla="*/ 12655 w 16074"/>
                <a:gd name="T55" fmla="*/ 14684 h 16128"/>
                <a:gd name="T56" fmla="*/ 10870 w 16074"/>
                <a:gd name="T57" fmla="*/ 15495 h 16128"/>
                <a:gd name="T58" fmla="*/ 9145 w 16074"/>
                <a:gd name="T59" fmla="*/ 15974 h 16128"/>
                <a:gd name="T60" fmla="*/ 7486 w 16074"/>
                <a:gd name="T61" fmla="*/ 16128 h 16128"/>
                <a:gd name="T62" fmla="*/ 5906 w 16074"/>
                <a:gd name="T63" fmla="*/ 15967 h 16128"/>
                <a:gd name="T64" fmla="*/ 4415 w 16074"/>
                <a:gd name="T65" fmla="*/ 15498 h 16128"/>
                <a:gd name="T66" fmla="*/ 3023 w 16074"/>
                <a:gd name="T67" fmla="*/ 14731 h 16128"/>
                <a:gd name="T68" fmla="*/ 2528 w 16074"/>
                <a:gd name="T69" fmla="*/ 14487 h 16128"/>
                <a:gd name="T70" fmla="*/ 2530 w 16074"/>
                <a:gd name="T71" fmla="*/ 14735 h 16128"/>
                <a:gd name="T72" fmla="*/ 2473 w 16074"/>
                <a:gd name="T73" fmla="*/ 14983 h 16128"/>
                <a:gd name="T74" fmla="*/ 2363 w 16074"/>
                <a:gd name="T75" fmla="*/ 15222 h 16128"/>
                <a:gd name="T76" fmla="*/ 2207 w 16074"/>
                <a:gd name="T77" fmla="*/ 15444 h 16128"/>
                <a:gd name="T78" fmla="*/ 2013 w 16074"/>
                <a:gd name="T79" fmla="*/ 15642 h 16128"/>
                <a:gd name="T80" fmla="*/ 1779 w 16074"/>
                <a:gd name="T81" fmla="*/ 15812 h 16128"/>
                <a:gd name="T82" fmla="*/ 1496 w 16074"/>
                <a:gd name="T83" fmla="*/ 15944 h 16128"/>
                <a:gd name="T84" fmla="*/ 1210 w 16074"/>
                <a:gd name="T85" fmla="*/ 16001 h 16128"/>
                <a:gd name="T86" fmla="*/ 933 w 16074"/>
                <a:gd name="T87" fmla="*/ 15986 h 16128"/>
                <a:gd name="T88" fmla="*/ 671 w 16074"/>
                <a:gd name="T89" fmla="*/ 15902 h 16128"/>
                <a:gd name="T90" fmla="*/ 436 w 16074"/>
                <a:gd name="T91" fmla="*/ 15751 h 16128"/>
                <a:gd name="T92" fmla="*/ 234 w 16074"/>
                <a:gd name="T93" fmla="*/ 15534 h 16128"/>
                <a:gd name="T94" fmla="*/ 33 w 16074"/>
                <a:gd name="T95" fmla="*/ 15112 h 16128"/>
                <a:gd name="T96" fmla="*/ 17 w 16074"/>
                <a:gd name="T97" fmla="*/ 14651 h 16128"/>
                <a:gd name="T98" fmla="*/ 179 w 16074"/>
                <a:gd name="T99" fmla="*/ 14226 h 16128"/>
                <a:gd name="T100" fmla="*/ 478 w 16074"/>
                <a:gd name="T101" fmla="*/ 13874 h 16128"/>
                <a:gd name="T102" fmla="*/ 878 w 16074"/>
                <a:gd name="T103" fmla="*/ 13632 h 16128"/>
                <a:gd name="T104" fmla="*/ 1339 w 16074"/>
                <a:gd name="T105" fmla="*/ 13536 h 16128"/>
                <a:gd name="T106" fmla="*/ 1477 w 16074"/>
                <a:gd name="T107" fmla="*/ 13406 h 16128"/>
                <a:gd name="T108" fmla="*/ 1100 w 16074"/>
                <a:gd name="T109" fmla="*/ 12990 h 16128"/>
                <a:gd name="T110" fmla="*/ 736 w 16074"/>
                <a:gd name="T111" fmla="*/ 1254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074" h="16128">
                  <a:moveTo>
                    <a:pt x="454" y="12169"/>
                  </a:moveTo>
                  <a:lnTo>
                    <a:pt x="1614" y="10993"/>
                  </a:lnTo>
                  <a:lnTo>
                    <a:pt x="1844" y="11188"/>
                  </a:lnTo>
                  <a:lnTo>
                    <a:pt x="2077" y="11378"/>
                  </a:lnTo>
                  <a:lnTo>
                    <a:pt x="2313" y="11564"/>
                  </a:lnTo>
                  <a:lnTo>
                    <a:pt x="2550" y="11742"/>
                  </a:lnTo>
                  <a:lnTo>
                    <a:pt x="2792" y="11916"/>
                  </a:lnTo>
                  <a:lnTo>
                    <a:pt x="3035" y="12083"/>
                  </a:lnTo>
                  <a:lnTo>
                    <a:pt x="3280" y="12242"/>
                  </a:lnTo>
                  <a:lnTo>
                    <a:pt x="3529" y="12395"/>
                  </a:lnTo>
                  <a:lnTo>
                    <a:pt x="3781" y="12540"/>
                  </a:lnTo>
                  <a:lnTo>
                    <a:pt x="4035" y="12677"/>
                  </a:lnTo>
                  <a:lnTo>
                    <a:pt x="4293" y="12804"/>
                  </a:lnTo>
                  <a:lnTo>
                    <a:pt x="4554" y="12923"/>
                  </a:lnTo>
                  <a:lnTo>
                    <a:pt x="4818" y="13031"/>
                  </a:lnTo>
                  <a:lnTo>
                    <a:pt x="5086" y="13131"/>
                  </a:lnTo>
                  <a:lnTo>
                    <a:pt x="5356" y="13220"/>
                  </a:lnTo>
                  <a:lnTo>
                    <a:pt x="5630" y="13298"/>
                  </a:lnTo>
                  <a:lnTo>
                    <a:pt x="5908" y="13364"/>
                  </a:lnTo>
                  <a:lnTo>
                    <a:pt x="6189" y="13418"/>
                  </a:lnTo>
                  <a:lnTo>
                    <a:pt x="6474" y="13461"/>
                  </a:lnTo>
                  <a:lnTo>
                    <a:pt x="6763" y="13491"/>
                  </a:lnTo>
                  <a:lnTo>
                    <a:pt x="7056" y="13508"/>
                  </a:lnTo>
                  <a:lnTo>
                    <a:pt x="7352" y="13511"/>
                  </a:lnTo>
                  <a:lnTo>
                    <a:pt x="7653" y="13501"/>
                  </a:lnTo>
                  <a:lnTo>
                    <a:pt x="7958" y="13476"/>
                  </a:lnTo>
                  <a:lnTo>
                    <a:pt x="8267" y="13437"/>
                  </a:lnTo>
                  <a:lnTo>
                    <a:pt x="8579" y="13381"/>
                  </a:lnTo>
                  <a:lnTo>
                    <a:pt x="8897" y="13311"/>
                  </a:lnTo>
                  <a:lnTo>
                    <a:pt x="9219" y="13224"/>
                  </a:lnTo>
                  <a:lnTo>
                    <a:pt x="9546" y="13121"/>
                  </a:lnTo>
                  <a:lnTo>
                    <a:pt x="9877" y="13001"/>
                  </a:lnTo>
                  <a:lnTo>
                    <a:pt x="10212" y="12863"/>
                  </a:lnTo>
                  <a:lnTo>
                    <a:pt x="10554" y="12708"/>
                  </a:lnTo>
                  <a:lnTo>
                    <a:pt x="5225" y="7326"/>
                  </a:lnTo>
                  <a:lnTo>
                    <a:pt x="3765" y="8813"/>
                  </a:lnTo>
                  <a:lnTo>
                    <a:pt x="1503" y="6582"/>
                  </a:lnTo>
                  <a:lnTo>
                    <a:pt x="5491" y="2537"/>
                  </a:lnTo>
                  <a:lnTo>
                    <a:pt x="5547" y="2563"/>
                  </a:lnTo>
                  <a:lnTo>
                    <a:pt x="5604" y="2588"/>
                  </a:lnTo>
                  <a:lnTo>
                    <a:pt x="5663" y="2610"/>
                  </a:lnTo>
                  <a:lnTo>
                    <a:pt x="5724" y="2631"/>
                  </a:lnTo>
                  <a:lnTo>
                    <a:pt x="5787" y="2649"/>
                  </a:lnTo>
                  <a:lnTo>
                    <a:pt x="5852" y="2666"/>
                  </a:lnTo>
                  <a:lnTo>
                    <a:pt x="5918" y="2680"/>
                  </a:lnTo>
                  <a:lnTo>
                    <a:pt x="5986" y="2693"/>
                  </a:lnTo>
                  <a:lnTo>
                    <a:pt x="6055" y="2703"/>
                  </a:lnTo>
                  <a:lnTo>
                    <a:pt x="6127" y="2711"/>
                  </a:lnTo>
                  <a:lnTo>
                    <a:pt x="6200" y="2716"/>
                  </a:lnTo>
                  <a:lnTo>
                    <a:pt x="6274" y="2719"/>
                  </a:lnTo>
                  <a:lnTo>
                    <a:pt x="6351" y="2719"/>
                  </a:lnTo>
                  <a:lnTo>
                    <a:pt x="6429" y="2716"/>
                  </a:lnTo>
                  <a:lnTo>
                    <a:pt x="6508" y="2710"/>
                  </a:lnTo>
                  <a:lnTo>
                    <a:pt x="6588" y="2700"/>
                  </a:lnTo>
                  <a:lnTo>
                    <a:pt x="6671" y="2688"/>
                  </a:lnTo>
                  <a:lnTo>
                    <a:pt x="6755" y="2673"/>
                  </a:lnTo>
                  <a:lnTo>
                    <a:pt x="6840" y="2654"/>
                  </a:lnTo>
                  <a:lnTo>
                    <a:pt x="6925" y="2632"/>
                  </a:lnTo>
                  <a:lnTo>
                    <a:pt x="7013" y="2607"/>
                  </a:lnTo>
                  <a:lnTo>
                    <a:pt x="7102" y="2577"/>
                  </a:lnTo>
                  <a:lnTo>
                    <a:pt x="7192" y="2545"/>
                  </a:lnTo>
                  <a:lnTo>
                    <a:pt x="7283" y="2508"/>
                  </a:lnTo>
                  <a:lnTo>
                    <a:pt x="7375" y="2468"/>
                  </a:lnTo>
                  <a:lnTo>
                    <a:pt x="7469" y="2423"/>
                  </a:lnTo>
                  <a:lnTo>
                    <a:pt x="7563" y="2375"/>
                  </a:lnTo>
                  <a:lnTo>
                    <a:pt x="7659" y="2321"/>
                  </a:lnTo>
                  <a:lnTo>
                    <a:pt x="7756" y="2265"/>
                  </a:lnTo>
                  <a:lnTo>
                    <a:pt x="7854" y="2203"/>
                  </a:lnTo>
                  <a:lnTo>
                    <a:pt x="7953" y="2137"/>
                  </a:lnTo>
                  <a:lnTo>
                    <a:pt x="8053" y="2066"/>
                  </a:lnTo>
                  <a:lnTo>
                    <a:pt x="9204" y="3243"/>
                  </a:lnTo>
                  <a:lnTo>
                    <a:pt x="7220" y="5296"/>
                  </a:lnTo>
                  <a:lnTo>
                    <a:pt x="12597" y="10708"/>
                  </a:lnTo>
                  <a:lnTo>
                    <a:pt x="12775" y="10387"/>
                  </a:lnTo>
                  <a:lnTo>
                    <a:pt x="12930" y="10057"/>
                  </a:lnTo>
                  <a:lnTo>
                    <a:pt x="13065" y="9719"/>
                  </a:lnTo>
                  <a:lnTo>
                    <a:pt x="13179" y="9373"/>
                  </a:lnTo>
                  <a:lnTo>
                    <a:pt x="13271" y="9022"/>
                  </a:lnTo>
                  <a:lnTo>
                    <a:pt x="13344" y="8664"/>
                  </a:lnTo>
                  <a:lnTo>
                    <a:pt x="13396" y="8301"/>
                  </a:lnTo>
                  <a:lnTo>
                    <a:pt x="13426" y="7934"/>
                  </a:lnTo>
                  <a:lnTo>
                    <a:pt x="13437" y="7564"/>
                  </a:lnTo>
                  <a:lnTo>
                    <a:pt x="13427" y="7192"/>
                  </a:lnTo>
                  <a:lnTo>
                    <a:pt x="13398" y="6818"/>
                  </a:lnTo>
                  <a:lnTo>
                    <a:pt x="13347" y="6443"/>
                  </a:lnTo>
                  <a:lnTo>
                    <a:pt x="13277" y="6068"/>
                  </a:lnTo>
                  <a:lnTo>
                    <a:pt x="13188" y="5694"/>
                  </a:lnTo>
                  <a:lnTo>
                    <a:pt x="13079" y="5321"/>
                  </a:lnTo>
                  <a:lnTo>
                    <a:pt x="12949" y="4950"/>
                  </a:lnTo>
                  <a:lnTo>
                    <a:pt x="12801" y="4583"/>
                  </a:lnTo>
                  <a:lnTo>
                    <a:pt x="12634" y="4220"/>
                  </a:lnTo>
                  <a:lnTo>
                    <a:pt x="12447" y="3862"/>
                  </a:lnTo>
                  <a:lnTo>
                    <a:pt x="12241" y="3509"/>
                  </a:lnTo>
                  <a:lnTo>
                    <a:pt x="12017" y="3162"/>
                  </a:lnTo>
                  <a:lnTo>
                    <a:pt x="11773" y="2822"/>
                  </a:lnTo>
                  <a:lnTo>
                    <a:pt x="11511" y="2492"/>
                  </a:lnTo>
                  <a:lnTo>
                    <a:pt x="11230" y="2169"/>
                  </a:lnTo>
                  <a:lnTo>
                    <a:pt x="10931" y="1856"/>
                  </a:lnTo>
                  <a:lnTo>
                    <a:pt x="10613" y="1553"/>
                  </a:lnTo>
                  <a:lnTo>
                    <a:pt x="10277" y="1262"/>
                  </a:lnTo>
                  <a:lnTo>
                    <a:pt x="9924" y="982"/>
                  </a:lnTo>
                  <a:lnTo>
                    <a:pt x="9551" y="716"/>
                  </a:lnTo>
                  <a:lnTo>
                    <a:pt x="9162" y="463"/>
                  </a:lnTo>
                  <a:lnTo>
                    <a:pt x="8754" y="224"/>
                  </a:lnTo>
                  <a:lnTo>
                    <a:pt x="8329" y="0"/>
                  </a:lnTo>
                  <a:lnTo>
                    <a:pt x="8761" y="35"/>
                  </a:lnTo>
                  <a:lnTo>
                    <a:pt x="9199" y="99"/>
                  </a:lnTo>
                  <a:lnTo>
                    <a:pt x="9641" y="192"/>
                  </a:lnTo>
                  <a:lnTo>
                    <a:pt x="10084" y="310"/>
                  </a:lnTo>
                  <a:lnTo>
                    <a:pt x="10526" y="458"/>
                  </a:lnTo>
                  <a:lnTo>
                    <a:pt x="10966" y="632"/>
                  </a:lnTo>
                  <a:lnTo>
                    <a:pt x="11402" y="832"/>
                  </a:lnTo>
                  <a:lnTo>
                    <a:pt x="11830" y="1057"/>
                  </a:lnTo>
                  <a:lnTo>
                    <a:pt x="12250" y="1307"/>
                  </a:lnTo>
                  <a:lnTo>
                    <a:pt x="12659" y="1583"/>
                  </a:lnTo>
                  <a:lnTo>
                    <a:pt x="13054" y="1881"/>
                  </a:lnTo>
                  <a:lnTo>
                    <a:pt x="13435" y="2203"/>
                  </a:lnTo>
                  <a:lnTo>
                    <a:pt x="13798" y="2548"/>
                  </a:lnTo>
                  <a:lnTo>
                    <a:pt x="14141" y="2915"/>
                  </a:lnTo>
                  <a:lnTo>
                    <a:pt x="14464" y="3304"/>
                  </a:lnTo>
                  <a:lnTo>
                    <a:pt x="14762" y="3714"/>
                  </a:lnTo>
                  <a:lnTo>
                    <a:pt x="15036" y="4146"/>
                  </a:lnTo>
                  <a:lnTo>
                    <a:pt x="15281" y="4596"/>
                  </a:lnTo>
                  <a:lnTo>
                    <a:pt x="15496" y="5067"/>
                  </a:lnTo>
                  <a:lnTo>
                    <a:pt x="15679" y="5557"/>
                  </a:lnTo>
                  <a:lnTo>
                    <a:pt x="15829" y="6065"/>
                  </a:lnTo>
                  <a:lnTo>
                    <a:pt x="15942" y="6591"/>
                  </a:lnTo>
                  <a:lnTo>
                    <a:pt x="16016" y="7135"/>
                  </a:lnTo>
                  <a:lnTo>
                    <a:pt x="16052" y="7695"/>
                  </a:lnTo>
                  <a:lnTo>
                    <a:pt x="16044" y="8271"/>
                  </a:lnTo>
                  <a:lnTo>
                    <a:pt x="15991" y="8863"/>
                  </a:lnTo>
                  <a:lnTo>
                    <a:pt x="15892" y="9471"/>
                  </a:lnTo>
                  <a:lnTo>
                    <a:pt x="15744" y="10093"/>
                  </a:lnTo>
                  <a:lnTo>
                    <a:pt x="15545" y="10729"/>
                  </a:lnTo>
                  <a:lnTo>
                    <a:pt x="15294" y="11379"/>
                  </a:lnTo>
                  <a:lnTo>
                    <a:pt x="14987" y="12042"/>
                  </a:lnTo>
                  <a:lnTo>
                    <a:pt x="14623" y="12717"/>
                  </a:lnTo>
                  <a:lnTo>
                    <a:pt x="16074" y="14218"/>
                  </a:lnTo>
                  <a:lnTo>
                    <a:pt x="14156" y="16081"/>
                  </a:lnTo>
                  <a:lnTo>
                    <a:pt x="12655" y="14684"/>
                  </a:lnTo>
                  <a:lnTo>
                    <a:pt x="12293" y="14873"/>
                  </a:lnTo>
                  <a:lnTo>
                    <a:pt x="11934" y="15048"/>
                  </a:lnTo>
                  <a:lnTo>
                    <a:pt x="11578" y="15211"/>
                  </a:lnTo>
                  <a:lnTo>
                    <a:pt x="11223" y="15360"/>
                  </a:lnTo>
                  <a:lnTo>
                    <a:pt x="10870" y="15495"/>
                  </a:lnTo>
                  <a:lnTo>
                    <a:pt x="10520" y="15617"/>
                  </a:lnTo>
                  <a:lnTo>
                    <a:pt x="10173" y="15726"/>
                  </a:lnTo>
                  <a:lnTo>
                    <a:pt x="9828" y="15822"/>
                  </a:lnTo>
                  <a:lnTo>
                    <a:pt x="9485" y="15904"/>
                  </a:lnTo>
                  <a:lnTo>
                    <a:pt x="9145" y="15974"/>
                  </a:lnTo>
                  <a:lnTo>
                    <a:pt x="8808" y="16030"/>
                  </a:lnTo>
                  <a:lnTo>
                    <a:pt x="8472" y="16074"/>
                  </a:lnTo>
                  <a:lnTo>
                    <a:pt x="8140" y="16105"/>
                  </a:lnTo>
                  <a:lnTo>
                    <a:pt x="7812" y="16123"/>
                  </a:lnTo>
                  <a:lnTo>
                    <a:pt x="7486" y="16128"/>
                  </a:lnTo>
                  <a:lnTo>
                    <a:pt x="7164" y="16121"/>
                  </a:lnTo>
                  <a:lnTo>
                    <a:pt x="6845" y="16101"/>
                  </a:lnTo>
                  <a:lnTo>
                    <a:pt x="6529" y="16069"/>
                  </a:lnTo>
                  <a:lnTo>
                    <a:pt x="6216" y="16024"/>
                  </a:lnTo>
                  <a:lnTo>
                    <a:pt x="5906" y="15967"/>
                  </a:lnTo>
                  <a:lnTo>
                    <a:pt x="5601" y="15897"/>
                  </a:lnTo>
                  <a:lnTo>
                    <a:pt x="5298" y="15816"/>
                  </a:lnTo>
                  <a:lnTo>
                    <a:pt x="5001" y="15722"/>
                  </a:lnTo>
                  <a:lnTo>
                    <a:pt x="4706" y="15616"/>
                  </a:lnTo>
                  <a:lnTo>
                    <a:pt x="4415" y="15498"/>
                  </a:lnTo>
                  <a:lnTo>
                    <a:pt x="4129" y="15368"/>
                  </a:lnTo>
                  <a:lnTo>
                    <a:pt x="3846" y="15227"/>
                  </a:lnTo>
                  <a:lnTo>
                    <a:pt x="3568" y="15073"/>
                  </a:lnTo>
                  <a:lnTo>
                    <a:pt x="3293" y="14907"/>
                  </a:lnTo>
                  <a:lnTo>
                    <a:pt x="3023" y="14731"/>
                  </a:lnTo>
                  <a:lnTo>
                    <a:pt x="2757" y="14542"/>
                  </a:lnTo>
                  <a:lnTo>
                    <a:pt x="2496" y="14342"/>
                  </a:lnTo>
                  <a:lnTo>
                    <a:pt x="2509" y="14390"/>
                  </a:lnTo>
                  <a:lnTo>
                    <a:pt x="2520" y="14439"/>
                  </a:lnTo>
                  <a:lnTo>
                    <a:pt x="2528" y="14487"/>
                  </a:lnTo>
                  <a:lnTo>
                    <a:pt x="2533" y="14536"/>
                  </a:lnTo>
                  <a:lnTo>
                    <a:pt x="2536" y="14586"/>
                  </a:lnTo>
                  <a:lnTo>
                    <a:pt x="2537" y="14635"/>
                  </a:lnTo>
                  <a:lnTo>
                    <a:pt x="2534" y="14686"/>
                  </a:lnTo>
                  <a:lnTo>
                    <a:pt x="2530" y="14735"/>
                  </a:lnTo>
                  <a:lnTo>
                    <a:pt x="2523" y="14785"/>
                  </a:lnTo>
                  <a:lnTo>
                    <a:pt x="2514" y="14835"/>
                  </a:lnTo>
                  <a:lnTo>
                    <a:pt x="2502" y="14884"/>
                  </a:lnTo>
                  <a:lnTo>
                    <a:pt x="2489" y="14934"/>
                  </a:lnTo>
                  <a:lnTo>
                    <a:pt x="2473" y="14983"/>
                  </a:lnTo>
                  <a:lnTo>
                    <a:pt x="2454" y="15031"/>
                  </a:lnTo>
                  <a:lnTo>
                    <a:pt x="2434" y="15080"/>
                  </a:lnTo>
                  <a:lnTo>
                    <a:pt x="2412" y="15127"/>
                  </a:lnTo>
                  <a:lnTo>
                    <a:pt x="2388" y="15174"/>
                  </a:lnTo>
                  <a:lnTo>
                    <a:pt x="2363" y="15222"/>
                  </a:lnTo>
                  <a:lnTo>
                    <a:pt x="2334" y="15267"/>
                  </a:lnTo>
                  <a:lnTo>
                    <a:pt x="2305" y="15313"/>
                  </a:lnTo>
                  <a:lnTo>
                    <a:pt x="2275" y="15358"/>
                  </a:lnTo>
                  <a:lnTo>
                    <a:pt x="2241" y="15401"/>
                  </a:lnTo>
                  <a:lnTo>
                    <a:pt x="2207" y="15444"/>
                  </a:lnTo>
                  <a:lnTo>
                    <a:pt x="2171" y="15486"/>
                  </a:lnTo>
                  <a:lnTo>
                    <a:pt x="2134" y="15526"/>
                  </a:lnTo>
                  <a:lnTo>
                    <a:pt x="2095" y="15567"/>
                  </a:lnTo>
                  <a:lnTo>
                    <a:pt x="2055" y="15605"/>
                  </a:lnTo>
                  <a:lnTo>
                    <a:pt x="2013" y="15642"/>
                  </a:lnTo>
                  <a:lnTo>
                    <a:pt x="1971" y="15677"/>
                  </a:lnTo>
                  <a:lnTo>
                    <a:pt x="1927" y="15713"/>
                  </a:lnTo>
                  <a:lnTo>
                    <a:pt x="1881" y="15745"/>
                  </a:lnTo>
                  <a:lnTo>
                    <a:pt x="1836" y="15777"/>
                  </a:lnTo>
                  <a:lnTo>
                    <a:pt x="1779" y="15812"/>
                  </a:lnTo>
                  <a:lnTo>
                    <a:pt x="1723" y="15845"/>
                  </a:lnTo>
                  <a:lnTo>
                    <a:pt x="1666" y="15874"/>
                  </a:lnTo>
                  <a:lnTo>
                    <a:pt x="1610" y="15900"/>
                  </a:lnTo>
                  <a:lnTo>
                    <a:pt x="1552" y="15923"/>
                  </a:lnTo>
                  <a:lnTo>
                    <a:pt x="1496" y="15944"/>
                  </a:lnTo>
                  <a:lnTo>
                    <a:pt x="1438" y="15961"/>
                  </a:lnTo>
                  <a:lnTo>
                    <a:pt x="1381" y="15975"/>
                  </a:lnTo>
                  <a:lnTo>
                    <a:pt x="1324" y="15987"/>
                  </a:lnTo>
                  <a:lnTo>
                    <a:pt x="1267" y="15995"/>
                  </a:lnTo>
                  <a:lnTo>
                    <a:pt x="1210" y="16001"/>
                  </a:lnTo>
                  <a:lnTo>
                    <a:pt x="1154" y="16003"/>
                  </a:lnTo>
                  <a:lnTo>
                    <a:pt x="1098" y="16003"/>
                  </a:lnTo>
                  <a:lnTo>
                    <a:pt x="1043" y="16000"/>
                  </a:lnTo>
                  <a:lnTo>
                    <a:pt x="987" y="15995"/>
                  </a:lnTo>
                  <a:lnTo>
                    <a:pt x="933" y="15986"/>
                  </a:lnTo>
                  <a:lnTo>
                    <a:pt x="879" y="15975"/>
                  </a:lnTo>
                  <a:lnTo>
                    <a:pt x="826" y="15961"/>
                  </a:lnTo>
                  <a:lnTo>
                    <a:pt x="773" y="15944"/>
                  </a:lnTo>
                  <a:lnTo>
                    <a:pt x="722" y="15924"/>
                  </a:lnTo>
                  <a:lnTo>
                    <a:pt x="671" y="15902"/>
                  </a:lnTo>
                  <a:lnTo>
                    <a:pt x="622" y="15877"/>
                  </a:lnTo>
                  <a:lnTo>
                    <a:pt x="573" y="15849"/>
                  </a:lnTo>
                  <a:lnTo>
                    <a:pt x="527" y="15819"/>
                  </a:lnTo>
                  <a:lnTo>
                    <a:pt x="480" y="15786"/>
                  </a:lnTo>
                  <a:lnTo>
                    <a:pt x="436" y="15751"/>
                  </a:lnTo>
                  <a:lnTo>
                    <a:pt x="393" y="15713"/>
                  </a:lnTo>
                  <a:lnTo>
                    <a:pt x="350" y="15671"/>
                  </a:lnTo>
                  <a:lnTo>
                    <a:pt x="310" y="15628"/>
                  </a:lnTo>
                  <a:lnTo>
                    <a:pt x="271" y="15583"/>
                  </a:lnTo>
                  <a:lnTo>
                    <a:pt x="234" y="15534"/>
                  </a:lnTo>
                  <a:lnTo>
                    <a:pt x="199" y="15483"/>
                  </a:lnTo>
                  <a:lnTo>
                    <a:pt x="143" y="15391"/>
                  </a:lnTo>
                  <a:lnTo>
                    <a:pt x="98" y="15299"/>
                  </a:lnTo>
                  <a:lnTo>
                    <a:pt x="61" y="15206"/>
                  </a:lnTo>
                  <a:lnTo>
                    <a:pt x="33" y="15112"/>
                  </a:lnTo>
                  <a:lnTo>
                    <a:pt x="14" y="15019"/>
                  </a:lnTo>
                  <a:lnTo>
                    <a:pt x="3" y="14925"/>
                  </a:lnTo>
                  <a:lnTo>
                    <a:pt x="0" y="14833"/>
                  </a:lnTo>
                  <a:lnTo>
                    <a:pt x="5" y="14741"/>
                  </a:lnTo>
                  <a:lnTo>
                    <a:pt x="17" y="14651"/>
                  </a:lnTo>
                  <a:lnTo>
                    <a:pt x="36" y="14562"/>
                  </a:lnTo>
                  <a:lnTo>
                    <a:pt x="63" y="14475"/>
                  </a:lnTo>
                  <a:lnTo>
                    <a:pt x="95" y="14389"/>
                  </a:lnTo>
                  <a:lnTo>
                    <a:pt x="133" y="14307"/>
                  </a:lnTo>
                  <a:lnTo>
                    <a:pt x="179" y="14226"/>
                  </a:lnTo>
                  <a:lnTo>
                    <a:pt x="228" y="14148"/>
                  </a:lnTo>
                  <a:lnTo>
                    <a:pt x="284" y="14075"/>
                  </a:lnTo>
                  <a:lnTo>
                    <a:pt x="344" y="14004"/>
                  </a:lnTo>
                  <a:lnTo>
                    <a:pt x="409" y="13938"/>
                  </a:lnTo>
                  <a:lnTo>
                    <a:pt x="478" y="13874"/>
                  </a:lnTo>
                  <a:lnTo>
                    <a:pt x="551" y="13816"/>
                  </a:lnTo>
                  <a:lnTo>
                    <a:pt x="628" y="13762"/>
                  </a:lnTo>
                  <a:lnTo>
                    <a:pt x="708" y="13714"/>
                  </a:lnTo>
                  <a:lnTo>
                    <a:pt x="791" y="13670"/>
                  </a:lnTo>
                  <a:lnTo>
                    <a:pt x="878" y="13632"/>
                  </a:lnTo>
                  <a:lnTo>
                    <a:pt x="967" y="13601"/>
                  </a:lnTo>
                  <a:lnTo>
                    <a:pt x="1057" y="13575"/>
                  </a:lnTo>
                  <a:lnTo>
                    <a:pt x="1150" y="13556"/>
                  </a:lnTo>
                  <a:lnTo>
                    <a:pt x="1244" y="13542"/>
                  </a:lnTo>
                  <a:lnTo>
                    <a:pt x="1339" y="13536"/>
                  </a:lnTo>
                  <a:lnTo>
                    <a:pt x="1436" y="13538"/>
                  </a:lnTo>
                  <a:lnTo>
                    <a:pt x="1533" y="13548"/>
                  </a:lnTo>
                  <a:lnTo>
                    <a:pt x="1630" y="13565"/>
                  </a:lnTo>
                  <a:lnTo>
                    <a:pt x="1553" y="13486"/>
                  </a:lnTo>
                  <a:lnTo>
                    <a:pt x="1477" y="13406"/>
                  </a:lnTo>
                  <a:lnTo>
                    <a:pt x="1400" y="13325"/>
                  </a:lnTo>
                  <a:lnTo>
                    <a:pt x="1324" y="13243"/>
                  </a:lnTo>
                  <a:lnTo>
                    <a:pt x="1248" y="13159"/>
                  </a:lnTo>
                  <a:lnTo>
                    <a:pt x="1174" y="13075"/>
                  </a:lnTo>
                  <a:lnTo>
                    <a:pt x="1100" y="12990"/>
                  </a:lnTo>
                  <a:lnTo>
                    <a:pt x="1026" y="12903"/>
                  </a:lnTo>
                  <a:lnTo>
                    <a:pt x="953" y="12815"/>
                  </a:lnTo>
                  <a:lnTo>
                    <a:pt x="880" y="12726"/>
                  </a:lnTo>
                  <a:lnTo>
                    <a:pt x="807" y="12636"/>
                  </a:lnTo>
                  <a:lnTo>
                    <a:pt x="736" y="12545"/>
                  </a:lnTo>
                  <a:lnTo>
                    <a:pt x="665" y="12453"/>
                  </a:lnTo>
                  <a:lnTo>
                    <a:pt x="594" y="12359"/>
                  </a:lnTo>
                  <a:lnTo>
                    <a:pt x="524" y="12264"/>
                  </a:lnTo>
                  <a:lnTo>
                    <a:pt x="454" y="12169"/>
                  </a:lnTo>
                  <a:close/>
                </a:path>
              </a:pathLst>
            </a:custGeom>
            <a:solidFill>
              <a:srgbClr val="FFFAF0"/>
            </a:solidFill>
            <a:ln>
              <a:noFill/>
            </a:ln>
            <a:effectLst/>
          </p:spPr>
          <p:txBody>
            <a:bodyPr vert="horz" wrap="square" lIns="68580" tIns="34290" rIns="68580" bIns="34290" numCol="1" anchor="t" anchorCtr="0" compatLnSpc="1">
              <a:prstTxWarp prst="textNoShape">
                <a:avLst/>
              </a:prstTxWarp>
            </a:bodyPr>
            <a:lstStyle/>
            <a:p>
              <a:endParaRPr lang="zh-CN" altLang="en-US" sz="1013">
                <a:latin typeface="Noto Sans S Chinese Bold" panose="020B0800000000000000" pitchFamily="34" charset="-122"/>
                <a:ea typeface="Noto Sans S Chinese Bold" panose="020B0800000000000000" pitchFamily="34" charset="-122"/>
              </a:endParaRPr>
            </a:p>
          </p:txBody>
        </p:sp>
        <p:sp>
          <p:nvSpPr>
            <p:cNvPr id="12" name="矩形 11">
              <a:extLst>
                <a:ext uri="{FF2B5EF4-FFF2-40B4-BE49-F238E27FC236}">
                  <a16:creationId xmlns:a16="http://schemas.microsoft.com/office/drawing/2014/main" id="{F2366F0B-1C51-43B9-A2E1-A9EA5139C926}"/>
                </a:ext>
              </a:extLst>
            </p:cNvPr>
            <p:cNvSpPr/>
            <p:nvPr/>
          </p:nvSpPr>
          <p:spPr>
            <a:xfrm>
              <a:off x="8769555" y="1752256"/>
              <a:ext cx="1887696" cy="615553"/>
            </a:xfrm>
            <a:prstGeom prst="rect">
              <a:avLst/>
            </a:prstGeom>
          </p:spPr>
          <p:txBody>
            <a:bodyPr wrap="none">
              <a:spAutoFit/>
            </a:bodyPr>
            <a:lstStyle/>
            <a:p>
              <a:pPr algn="l"/>
              <a:r>
                <a:rPr lang="zh-CN" altLang="en-US" sz="2400" b="0" i="0" dirty="0">
                  <a:solidFill>
                    <a:schemeClr val="bg1"/>
                  </a:solidFill>
                  <a:effectLst/>
                  <a:latin typeface="microsoft yahei" panose="020B0503020204020204" pitchFamily="34" charset="-122"/>
                  <a:ea typeface="microsoft yahei" panose="020B0503020204020204" pitchFamily="34" charset="-122"/>
                </a:rPr>
                <a:t>中欧班列</a:t>
              </a:r>
              <a:endParaRPr lang="zh-CN" altLang="en-US" sz="2400" b="0" i="0" dirty="0">
                <a:solidFill>
                  <a:schemeClr val="bg1"/>
                </a:solidFill>
                <a:effectLst/>
                <a:latin typeface="arial" panose="020B0604020202020204" pitchFamily="34" charset="0"/>
              </a:endParaRPr>
            </a:p>
          </p:txBody>
        </p:sp>
      </p:grpSp>
    </p:spTree>
    <p:extLst>
      <p:ext uri="{BB962C8B-B14F-4D97-AF65-F5344CB8AC3E}">
        <p14:creationId xmlns:p14="http://schemas.microsoft.com/office/powerpoint/2010/main" val="42717634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prestig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0-#ppt_w/2"/>
                                          </p:val>
                                        </p:tav>
                                        <p:tav tm="100000">
                                          <p:val>
                                            <p:strVal val="#ppt_x"/>
                                          </p:val>
                                        </p:tav>
                                      </p:tavLst>
                                    </p:anim>
                                    <p:anim calcmode="lin" valueType="num">
                                      <p:cBhvr additive="base">
                                        <p:cTn id="8" dur="750" fill="hold"/>
                                        <p:tgtEl>
                                          <p:spTgt spid="8"/>
                                        </p:tgtEl>
                                        <p:attrNameLst>
                                          <p:attrName>ppt_y</p:attrName>
                                        </p:attrNameLst>
                                      </p:cBhvr>
                                      <p:tavLst>
                                        <p:tav tm="0">
                                          <p:val>
                                            <p:strVal val="#ppt_y"/>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750"/>
                                        <p:tgtEl>
                                          <p:spTgt spid="7"/>
                                        </p:tgtEl>
                                      </p:cBhvr>
                                    </p:animEffect>
                                    <p:anim calcmode="lin" valueType="num">
                                      <p:cBhvr>
                                        <p:cTn id="12" dur="1750" fill="hold"/>
                                        <p:tgtEl>
                                          <p:spTgt spid="7"/>
                                        </p:tgtEl>
                                        <p:attrNameLst>
                                          <p:attrName>ppt_x</p:attrName>
                                        </p:attrNameLst>
                                      </p:cBhvr>
                                      <p:tavLst>
                                        <p:tav tm="0">
                                          <p:val>
                                            <p:strVal val="#ppt_x"/>
                                          </p:val>
                                        </p:tav>
                                        <p:tav tm="100000">
                                          <p:val>
                                            <p:strVal val="#ppt_x"/>
                                          </p:val>
                                        </p:tav>
                                      </p:tavLst>
                                    </p:anim>
                                    <p:anim calcmode="lin" valueType="num">
                                      <p:cBhvr>
                                        <p:cTn id="13" dur="17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315B086-B4EE-4B3B-8A12-3BCAC9B582CE}"/>
              </a:ext>
            </a:extLst>
          </p:cNvPr>
          <p:cNvSpPr/>
          <p:nvPr/>
        </p:nvSpPr>
        <p:spPr>
          <a:xfrm>
            <a:off x="4788024" y="1635646"/>
            <a:ext cx="3483353" cy="2264851"/>
          </a:xfrm>
          <a:prstGeom prst="rect">
            <a:avLst/>
          </a:prstGeom>
          <a:noFill/>
        </p:spPr>
        <p:txBody>
          <a:bodyPr wrap="square" rtlCol="0">
            <a:spAutoFit/>
          </a:bodyPr>
          <a:lstStyle/>
          <a:p>
            <a:pPr algn="just">
              <a:lnSpc>
                <a:spcPct val="150000"/>
              </a:lnSpc>
            </a:pPr>
            <a:r>
              <a:rPr lang="zh-CN" altLang="en-US" sz="1600" dirty="0">
                <a:latin typeface="Noto Sans S Chinese Light" panose="020B0300000000000000" pitchFamily="34" charset="-122"/>
                <a:ea typeface="Noto Sans S Chinese Light" panose="020B0300000000000000" pitchFamily="34" charset="-122"/>
              </a:rPr>
              <a:t>中老昆万铁路，简称中老铁路，是一条连接中国云南省昆明市与老挝万象市的电气化铁路，由中国按国铁</a:t>
            </a:r>
            <a:r>
              <a:rPr lang="en-US" altLang="zh-CN" sz="1600" dirty="0">
                <a:latin typeface="Noto Sans S Chinese Light" panose="020B0300000000000000" pitchFamily="34" charset="-122"/>
                <a:ea typeface="Noto Sans S Chinese Light" panose="020B0300000000000000" pitchFamily="34" charset="-122"/>
              </a:rPr>
              <a:t>Ⅰ</a:t>
            </a:r>
            <a:r>
              <a:rPr lang="zh-CN" altLang="en-US" sz="1600" dirty="0">
                <a:latin typeface="Noto Sans S Chinese Light" panose="020B0300000000000000" pitchFamily="34" charset="-122"/>
                <a:ea typeface="Noto Sans S Chinese Light" panose="020B0300000000000000" pitchFamily="34" charset="-122"/>
              </a:rPr>
              <a:t>级标准建设 ，是第一个以中方为主投资建设、共同运营并与中国铁路网直接连通的跨国铁路。</a:t>
            </a:r>
          </a:p>
        </p:txBody>
      </p:sp>
      <p:grpSp>
        <p:nvGrpSpPr>
          <p:cNvPr id="6" name="组合 5">
            <a:extLst>
              <a:ext uri="{FF2B5EF4-FFF2-40B4-BE49-F238E27FC236}">
                <a16:creationId xmlns:a16="http://schemas.microsoft.com/office/drawing/2014/main" id="{8FCB67B3-7503-4CC1-9284-0E9ED81F3097}"/>
              </a:ext>
            </a:extLst>
          </p:cNvPr>
          <p:cNvGrpSpPr/>
          <p:nvPr/>
        </p:nvGrpSpPr>
        <p:grpSpPr>
          <a:xfrm>
            <a:off x="467544" y="339502"/>
            <a:ext cx="6455873" cy="692756"/>
            <a:chOff x="7667051" y="1616765"/>
            <a:chExt cx="8607831" cy="923674"/>
          </a:xfrm>
        </p:grpSpPr>
        <p:sp>
          <p:nvSpPr>
            <p:cNvPr id="7" name="矩形: 圆角 6">
              <a:extLst>
                <a:ext uri="{FF2B5EF4-FFF2-40B4-BE49-F238E27FC236}">
                  <a16:creationId xmlns:a16="http://schemas.microsoft.com/office/drawing/2014/main" id="{34535866-6C28-4FAE-81F3-131DF64B2E2D}"/>
                </a:ext>
              </a:extLst>
            </p:cNvPr>
            <p:cNvSpPr/>
            <p:nvPr/>
          </p:nvSpPr>
          <p:spPr>
            <a:xfrm>
              <a:off x="7980215" y="1784351"/>
              <a:ext cx="8294667" cy="588499"/>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8EDDB"/>
                </a:solidFill>
                <a:latin typeface="Noto Sans S Chinese Bold" panose="020B0800000000000000" pitchFamily="34" charset="-122"/>
                <a:ea typeface="Noto Sans S Chinese Bold" panose="020B0800000000000000" pitchFamily="34" charset="-122"/>
              </a:endParaRPr>
            </a:p>
          </p:txBody>
        </p:sp>
        <p:sp>
          <p:nvSpPr>
            <p:cNvPr id="8" name="矩形: 圆角 7">
              <a:extLst>
                <a:ext uri="{FF2B5EF4-FFF2-40B4-BE49-F238E27FC236}">
                  <a16:creationId xmlns:a16="http://schemas.microsoft.com/office/drawing/2014/main" id="{9C3E10DA-A75F-4CCC-A326-05A62C51FA93}"/>
                </a:ext>
              </a:extLst>
            </p:cNvPr>
            <p:cNvSpPr>
              <a:spLocks noChangeAspect="1"/>
            </p:cNvSpPr>
            <p:nvPr/>
          </p:nvSpPr>
          <p:spPr>
            <a:xfrm>
              <a:off x="7667051" y="1616765"/>
              <a:ext cx="923677" cy="923674"/>
            </a:xfrm>
            <a:prstGeom prst="roundRect">
              <a:avLst>
                <a:gd name="adj" fmla="val 50000"/>
              </a:avLst>
            </a:prstGeom>
            <a:solidFill>
              <a:srgbClr val="C00000"/>
            </a:solidFill>
            <a:ln w="63500">
              <a:solidFill>
                <a:srgbClr val="FFFA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Noto Sans S Chinese Bold" panose="020B0800000000000000" pitchFamily="34" charset="-122"/>
                <a:ea typeface="Noto Sans S Chinese Bold" panose="020B0800000000000000" pitchFamily="34" charset="-122"/>
              </a:endParaRPr>
            </a:p>
          </p:txBody>
        </p:sp>
        <p:sp>
          <p:nvSpPr>
            <p:cNvPr id="9" name="Freeform 5">
              <a:extLst>
                <a:ext uri="{FF2B5EF4-FFF2-40B4-BE49-F238E27FC236}">
                  <a16:creationId xmlns:a16="http://schemas.microsoft.com/office/drawing/2014/main" id="{64000AD9-34B9-4BFE-931F-B50281EF9F39}"/>
                </a:ext>
              </a:extLst>
            </p:cNvPr>
            <p:cNvSpPr>
              <a:spLocks/>
            </p:cNvSpPr>
            <p:nvPr/>
          </p:nvSpPr>
          <p:spPr bwMode="auto">
            <a:xfrm>
              <a:off x="7856207" y="1784352"/>
              <a:ext cx="545365" cy="551362"/>
            </a:xfrm>
            <a:custGeom>
              <a:avLst/>
              <a:gdLst>
                <a:gd name="T0" fmla="*/ 2313 w 16074"/>
                <a:gd name="T1" fmla="*/ 11564 h 16128"/>
                <a:gd name="T2" fmla="*/ 3529 w 16074"/>
                <a:gd name="T3" fmla="*/ 12395 h 16128"/>
                <a:gd name="T4" fmla="*/ 4818 w 16074"/>
                <a:gd name="T5" fmla="*/ 13031 h 16128"/>
                <a:gd name="T6" fmla="*/ 6189 w 16074"/>
                <a:gd name="T7" fmla="*/ 13418 h 16128"/>
                <a:gd name="T8" fmla="*/ 7653 w 16074"/>
                <a:gd name="T9" fmla="*/ 13501 h 16128"/>
                <a:gd name="T10" fmla="*/ 9219 w 16074"/>
                <a:gd name="T11" fmla="*/ 13224 h 16128"/>
                <a:gd name="T12" fmla="*/ 5225 w 16074"/>
                <a:gd name="T13" fmla="*/ 7326 h 16128"/>
                <a:gd name="T14" fmla="*/ 5604 w 16074"/>
                <a:gd name="T15" fmla="*/ 2588 h 16128"/>
                <a:gd name="T16" fmla="*/ 5918 w 16074"/>
                <a:gd name="T17" fmla="*/ 2680 h 16128"/>
                <a:gd name="T18" fmla="*/ 6274 w 16074"/>
                <a:gd name="T19" fmla="*/ 2719 h 16128"/>
                <a:gd name="T20" fmla="*/ 6671 w 16074"/>
                <a:gd name="T21" fmla="*/ 2688 h 16128"/>
                <a:gd name="T22" fmla="*/ 7102 w 16074"/>
                <a:gd name="T23" fmla="*/ 2577 h 16128"/>
                <a:gd name="T24" fmla="*/ 7563 w 16074"/>
                <a:gd name="T25" fmla="*/ 2375 h 16128"/>
                <a:gd name="T26" fmla="*/ 8053 w 16074"/>
                <a:gd name="T27" fmla="*/ 2066 h 16128"/>
                <a:gd name="T28" fmla="*/ 12930 w 16074"/>
                <a:gd name="T29" fmla="*/ 10057 h 16128"/>
                <a:gd name="T30" fmla="*/ 13396 w 16074"/>
                <a:gd name="T31" fmla="*/ 8301 h 16128"/>
                <a:gd name="T32" fmla="*/ 13347 w 16074"/>
                <a:gd name="T33" fmla="*/ 6443 h 16128"/>
                <a:gd name="T34" fmla="*/ 12801 w 16074"/>
                <a:gd name="T35" fmla="*/ 4583 h 16128"/>
                <a:gd name="T36" fmla="*/ 11773 w 16074"/>
                <a:gd name="T37" fmla="*/ 2822 h 16128"/>
                <a:gd name="T38" fmla="*/ 10277 w 16074"/>
                <a:gd name="T39" fmla="*/ 1262 h 16128"/>
                <a:gd name="T40" fmla="*/ 8329 w 16074"/>
                <a:gd name="T41" fmla="*/ 0 h 16128"/>
                <a:gd name="T42" fmla="*/ 10526 w 16074"/>
                <a:gd name="T43" fmla="*/ 458 h 16128"/>
                <a:gd name="T44" fmla="*/ 12659 w 16074"/>
                <a:gd name="T45" fmla="*/ 1583 h 16128"/>
                <a:gd name="T46" fmla="*/ 14464 w 16074"/>
                <a:gd name="T47" fmla="*/ 3304 h 16128"/>
                <a:gd name="T48" fmla="*/ 15679 w 16074"/>
                <a:gd name="T49" fmla="*/ 5557 h 16128"/>
                <a:gd name="T50" fmla="*/ 16044 w 16074"/>
                <a:gd name="T51" fmla="*/ 8271 h 16128"/>
                <a:gd name="T52" fmla="*/ 15294 w 16074"/>
                <a:gd name="T53" fmla="*/ 11379 h 16128"/>
                <a:gd name="T54" fmla="*/ 12655 w 16074"/>
                <a:gd name="T55" fmla="*/ 14684 h 16128"/>
                <a:gd name="T56" fmla="*/ 10870 w 16074"/>
                <a:gd name="T57" fmla="*/ 15495 h 16128"/>
                <a:gd name="T58" fmla="*/ 9145 w 16074"/>
                <a:gd name="T59" fmla="*/ 15974 h 16128"/>
                <a:gd name="T60" fmla="*/ 7486 w 16074"/>
                <a:gd name="T61" fmla="*/ 16128 h 16128"/>
                <a:gd name="T62" fmla="*/ 5906 w 16074"/>
                <a:gd name="T63" fmla="*/ 15967 h 16128"/>
                <a:gd name="T64" fmla="*/ 4415 w 16074"/>
                <a:gd name="T65" fmla="*/ 15498 h 16128"/>
                <a:gd name="T66" fmla="*/ 3023 w 16074"/>
                <a:gd name="T67" fmla="*/ 14731 h 16128"/>
                <a:gd name="T68" fmla="*/ 2528 w 16074"/>
                <a:gd name="T69" fmla="*/ 14487 h 16128"/>
                <a:gd name="T70" fmla="*/ 2530 w 16074"/>
                <a:gd name="T71" fmla="*/ 14735 h 16128"/>
                <a:gd name="T72" fmla="*/ 2473 w 16074"/>
                <a:gd name="T73" fmla="*/ 14983 h 16128"/>
                <a:gd name="T74" fmla="*/ 2363 w 16074"/>
                <a:gd name="T75" fmla="*/ 15222 h 16128"/>
                <a:gd name="T76" fmla="*/ 2207 w 16074"/>
                <a:gd name="T77" fmla="*/ 15444 h 16128"/>
                <a:gd name="T78" fmla="*/ 2013 w 16074"/>
                <a:gd name="T79" fmla="*/ 15642 h 16128"/>
                <a:gd name="T80" fmla="*/ 1779 w 16074"/>
                <a:gd name="T81" fmla="*/ 15812 h 16128"/>
                <a:gd name="T82" fmla="*/ 1496 w 16074"/>
                <a:gd name="T83" fmla="*/ 15944 h 16128"/>
                <a:gd name="T84" fmla="*/ 1210 w 16074"/>
                <a:gd name="T85" fmla="*/ 16001 h 16128"/>
                <a:gd name="T86" fmla="*/ 933 w 16074"/>
                <a:gd name="T87" fmla="*/ 15986 h 16128"/>
                <a:gd name="T88" fmla="*/ 671 w 16074"/>
                <a:gd name="T89" fmla="*/ 15902 h 16128"/>
                <a:gd name="T90" fmla="*/ 436 w 16074"/>
                <a:gd name="T91" fmla="*/ 15751 h 16128"/>
                <a:gd name="T92" fmla="*/ 234 w 16074"/>
                <a:gd name="T93" fmla="*/ 15534 h 16128"/>
                <a:gd name="T94" fmla="*/ 33 w 16074"/>
                <a:gd name="T95" fmla="*/ 15112 h 16128"/>
                <a:gd name="T96" fmla="*/ 17 w 16074"/>
                <a:gd name="T97" fmla="*/ 14651 h 16128"/>
                <a:gd name="T98" fmla="*/ 179 w 16074"/>
                <a:gd name="T99" fmla="*/ 14226 h 16128"/>
                <a:gd name="T100" fmla="*/ 478 w 16074"/>
                <a:gd name="T101" fmla="*/ 13874 h 16128"/>
                <a:gd name="T102" fmla="*/ 878 w 16074"/>
                <a:gd name="T103" fmla="*/ 13632 h 16128"/>
                <a:gd name="T104" fmla="*/ 1339 w 16074"/>
                <a:gd name="T105" fmla="*/ 13536 h 16128"/>
                <a:gd name="T106" fmla="*/ 1477 w 16074"/>
                <a:gd name="T107" fmla="*/ 13406 h 16128"/>
                <a:gd name="T108" fmla="*/ 1100 w 16074"/>
                <a:gd name="T109" fmla="*/ 12990 h 16128"/>
                <a:gd name="T110" fmla="*/ 736 w 16074"/>
                <a:gd name="T111" fmla="*/ 1254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074" h="16128">
                  <a:moveTo>
                    <a:pt x="454" y="12169"/>
                  </a:moveTo>
                  <a:lnTo>
                    <a:pt x="1614" y="10993"/>
                  </a:lnTo>
                  <a:lnTo>
                    <a:pt x="1844" y="11188"/>
                  </a:lnTo>
                  <a:lnTo>
                    <a:pt x="2077" y="11378"/>
                  </a:lnTo>
                  <a:lnTo>
                    <a:pt x="2313" y="11564"/>
                  </a:lnTo>
                  <a:lnTo>
                    <a:pt x="2550" y="11742"/>
                  </a:lnTo>
                  <a:lnTo>
                    <a:pt x="2792" y="11916"/>
                  </a:lnTo>
                  <a:lnTo>
                    <a:pt x="3035" y="12083"/>
                  </a:lnTo>
                  <a:lnTo>
                    <a:pt x="3280" y="12242"/>
                  </a:lnTo>
                  <a:lnTo>
                    <a:pt x="3529" y="12395"/>
                  </a:lnTo>
                  <a:lnTo>
                    <a:pt x="3781" y="12540"/>
                  </a:lnTo>
                  <a:lnTo>
                    <a:pt x="4035" y="12677"/>
                  </a:lnTo>
                  <a:lnTo>
                    <a:pt x="4293" y="12804"/>
                  </a:lnTo>
                  <a:lnTo>
                    <a:pt x="4554" y="12923"/>
                  </a:lnTo>
                  <a:lnTo>
                    <a:pt x="4818" y="13031"/>
                  </a:lnTo>
                  <a:lnTo>
                    <a:pt x="5086" y="13131"/>
                  </a:lnTo>
                  <a:lnTo>
                    <a:pt x="5356" y="13220"/>
                  </a:lnTo>
                  <a:lnTo>
                    <a:pt x="5630" y="13298"/>
                  </a:lnTo>
                  <a:lnTo>
                    <a:pt x="5908" y="13364"/>
                  </a:lnTo>
                  <a:lnTo>
                    <a:pt x="6189" y="13418"/>
                  </a:lnTo>
                  <a:lnTo>
                    <a:pt x="6474" y="13461"/>
                  </a:lnTo>
                  <a:lnTo>
                    <a:pt x="6763" y="13491"/>
                  </a:lnTo>
                  <a:lnTo>
                    <a:pt x="7056" y="13508"/>
                  </a:lnTo>
                  <a:lnTo>
                    <a:pt x="7352" y="13511"/>
                  </a:lnTo>
                  <a:lnTo>
                    <a:pt x="7653" y="13501"/>
                  </a:lnTo>
                  <a:lnTo>
                    <a:pt x="7958" y="13476"/>
                  </a:lnTo>
                  <a:lnTo>
                    <a:pt x="8267" y="13437"/>
                  </a:lnTo>
                  <a:lnTo>
                    <a:pt x="8579" y="13381"/>
                  </a:lnTo>
                  <a:lnTo>
                    <a:pt x="8897" y="13311"/>
                  </a:lnTo>
                  <a:lnTo>
                    <a:pt x="9219" y="13224"/>
                  </a:lnTo>
                  <a:lnTo>
                    <a:pt x="9546" y="13121"/>
                  </a:lnTo>
                  <a:lnTo>
                    <a:pt x="9877" y="13001"/>
                  </a:lnTo>
                  <a:lnTo>
                    <a:pt x="10212" y="12863"/>
                  </a:lnTo>
                  <a:lnTo>
                    <a:pt x="10554" y="12708"/>
                  </a:lnTo>
                  <a:lnTo>
                    <a:pt x="5225" y="7326"/>
                  </a:lnTo>
                  <a:lnTo>
                    <a:pt x="3765" y="8813"/>
                  </a:lnTo>
                  <a:lnTo>
                    <a:pt x="1503" y="6582"/>
                  </a:lnTo>
                  <a:lnTo>
                    <a:pt x="5491" y="2537"/>
                  </a:lnTo>
                  <a:lnTo>
                    <a:pt x="5547" y="2563"/>
                  </a:lnTo>
                  <a:lnTo>
                    <a:pt x="5604" y="2588"/>
                  </a:lnTo>
                  <a:lnTo>
                    <a:pt x="5663" y="2610"/>
                  </a:lnTo>
                  <a:lnTo>
                    <a:pt x="5724" y="2631"/>
                  </a:lnTo>
                  <a:lnTo>
                    <a:pt x="5787" y="2649"/>
                  </a:lnTo>
                  <a:lnTo>
                    <a:pt x="5852" y="2666"/>
                  </a:lnTo>
                  <a:lnTo>
                    <a:pt x="5918" y="2680"/>
                  </a:lnTo>
                  <a:lnTo>
                    <a:pt x="5986" y="2693"/>
                  </a:lnTo>
                  <a:lnTo>
                    <a:pt x="6055" y="2703"/>
                  </a:lnTo>
                  <a:lnTo>
                    <a:pt x="6127" y="2711"/>
                  </a:lnTo>
                  <a:lnTo>
                    <a:pt x="6200" y="2716"/>
                  </a:lnTo>
                  <a:lnTo>
                    <a:pt x="6274" y="2719"/>
                  </a:lnTo>
                  <a:lnTo>
                    <a:pt x="6351" y="2719"/>
                  </a:lnTo>
                  <a:lnTo>
                    <a:pt x="6429" y="2716"/>
                  </a:lnTo>
                  <a:lnTo>
                    <a:pt x="6508" y="2710"/>
                  </a:lnTo>
                  <a:lnTo>
                    <a:pt x="6588" y="2700"/>
                  </a:lnTo>
                  <a:lnTo>
                    <a:pt x="6671" y="2688"/>
                  </a:lnTo>
                  <a:lnTo>
                    <a:pt x="6755" y="2673"/>
                  </a:lnTo>
                  <a:lnTo>
                    <a:pt x="6840" y="2654"/>
                  </a:lnTo>
                  <a:lnTo>
                    <a:pt x="6925" y="2632"/>
                  </a:lnTo>
                  <a:lnTo>
                    <a:pt x="7013" y="2607"/>
                  </a:lnTo>
                  <a:lnTo>
                    <a:pt x="7102" y="2577"/>
                  </a:lnTo>
                  <a:lnTo>
                    <a:pt x="7192" y="2545"/>
                  </a:lnTo>
                  <a:lnTo>
                    <a:pt x="7283" y="2508"/>
                  </a:lnTo>
                  <a:lnTo>
                    <a:pt x="7375" y="2468"/>
                  </a:lnTo>
                  <a:lnTo>
                    <a:pt x="7469" y="2423"/>
                  </a:lnTo>
                  <a:lnTo>
                    <a:pt x="7563" y="2375"/>
                  </a:lnTo>
                  <a:lnTo>
                    <a:pt x="7659" y="2321"/>
                  </a:lnTo>
                  <a:lnTo>
                    <a:pt x="7756" y="2265"/>
                  </a:lnTo>
                  <a:lnTo>
                    <a:pt x="7854" y="2203"/>
                  </a:lnTo>
                  <a:lnTo>
                    <a:pt x="7953" y="2137"/>
                  </a:lnTo>
                  <a:lnTo>
                    <a:pt x="8053" y="2066"/>
                  </a:lnTo>
                  <a:lnTo>
                    <a:pt x="9204" y="3243"/>
                  </a:lnTo>
                  <a:lnTo>
                    <a:pt x="7220" y="5296"/>
                  </a:lnTo>
                  <a:lnTo>
                    <a:pt x="12597" y="10708"/>
                  </a:lnTo>
                  <a:lnTo>
                    <a:pt x="12775" y="10387"/>
                  </a:lnTo>
                  <a:lnTo>
                    <a:pt x="12930" y="10057"/>
                  </a:lnTo>
                  <a:lnTo>
                    <a:pt x="13065" y="9719"/>
                  </a:lnTo>
                  <a:lnTo>
                    <a:pt x="13179" y="9373"/>
                  </a:lnTo>
                  <a:lnTo>
                    <a:pt x="13271" y="9022"/>
                  </a:lnTo>
                  <a:lnTo>
                    <a:pt x="13344" y="8664"/>
                  </a:lnTo>
                  <a:lnTo>
                    <a:pt x="13396" y="8301"/>
                  </a:lnTo>
                  <a:lnTo>
                    <a:pt x="13426" y="7934"/>
                  </a:lnTo>
                  <a:lnTo>
                    <a:pt x="13437" y="7564"/>
                  </a:lnTo>
                  <a:lnTo>
                    <a:pt x="13427" y="7192"/>
                  </a:lnTo>
                  <a:lnTo>
                    <a:pt x="13398" y="6818"/>
                  </a:lnTo>
                  <a:lnTo>
                    <a:pt x="13347" y="6443"/>
                  </a:lnTo>
                  <a:lnTo>
                    <a:pt x="13277" y="6068"/>
                  </a:lnTo>
                  <a:lnTo>
                    <a:pt x="13188" y="5694"/>
                  </a:lnTo>
                  <a:lnTo>
                    <a:pt x="13079" y="5321"/>
                  </a:lnTo>
                  <a:lnTo>
                    <a:pt x="12949" y="4950"/>
                  </a:lnTo>
                  <a:lnTo>
                    <a:pt x="12801" y="4583"/>
                  </a:lnTo>
                  <a:lnTo>
                    <a:pt x="12634" y="4220"/>
                  </a:lnTo>
                  <a:lnTo>
                    <a:pt x="12447" y="3862"/>
                  </a:lnTo>
                  <a:lnTo>
                    <a:pt x="12241" y="3509"/>
                  </a:lnTo>
                  <a:lnTo>
                    <a:pt x="12017" y="3162"/>
                  </a:lnTo>
                  <a:lnTo>
                    <a:pt x="11773" y="2822"/>
                  </a:lnTo>
                  <a:lnTo>
                    <a:pt x="11511" y="2492"/>
                  </a:lnTo>
                  <a:lnTo>
                    <a:pt x="11230" y="2169"/>
                  </a:lnTo>
                  <a:lnTo>
                    <a:pt x="10931" y="1856"/>
                  </a:lnTo>
                  <a:lnTo>
                    <a:pt x="10613" y="1553"/>
                  </a:lnTo>
                  <a:lnTo>
                    <a:pt x="10277" y="1262"/>
                  </a:lnTo>
                  <a:lnTo>
                    <a:pt x="9924" y="982"/>
                  </a:lnTo>
                  <a:lnTo>
                    <a:pt x="9551" y="716"/>
                  </a:lnTo>
                  <a:lnTo>
                    <a:pt x="9162" y="463"/>
                  </a:lnTo>
                  <a:lnTo>
                    <a:pt x="8754" y="224"/>
                  </a:lnTo>
                  <a:lnTo>
                    <a:pt x="8329" y="0"/>
                  </a:lnTo>
                  <a:lnTo>
                    <a:pt x="8761" y="35"/>
                  </a:lnTo>
                  <a:lnTo>
                    <a:pt x="9199" y="99"/>
                  </a:lnTo>
                  <a:lnTo>
                    <a:pt x="9641" y="192"/>
                  </a:lnTo>
                  <a:lnTo>
                    <a:pt x="10084" y="310"/>
                  </a:lnTo>
                  <a:lnTo>
                    <a:pt x="10526" y="458"/>
                  </a:lnTo>
                  <a:lnTo>
                    <a:pt x="10966" y="632"/>
                  </a:lnTo>
                  <a:lnTo>
                    <a:pt x="11402" y="832"/>
                  </a:lnTo>
                  <a:lnTo>
                    <a:pt x="11830" y="1057"/>
                  </a:lnTo>
                  <a:lnTo>
                    <a:pt x="12250" y="1307"/>
                  </a:lnTo>
                  <a:lnTo>
                    <a:pt x="12659" y="1583"/>
                  </a:lnTo>
                  <a:lnTo>
                    <a:pt x="13054" y="1881"/>
                  </a:lnTo>
                  <a:lnTo>
                    <a:pt x="13435" y="2203"/>
                  </a:lnTo>
                  <a:lnTo>
                    <a:pt x="13798" y="2548"/>
                  </a:lnTo>
                  <a:lnTo>
                    <a:pt x="14141" y="2915"/>
                  </a:lnTo>
                  <a:lnTo>
                    <a:pt x="14464" y="3304"/>
                  </a:lnTo>
                  <a:lnTo>
                    <a:pt x="14762" y="3714"/>
                  </a:lnTo>
                  <a:lnTo>
                    <a:pt x="15036" y="4146"/>
                  </a:lnTo>
                  <a:lnTo>
                    <a:pt x="15281" y="4596"/>
                  </a:lnTo>
                  <a:lnTo>
                    <a:pt x="15496" y="5067"/>
                  </a:lnTo>
                  <a:lnTo>
                    <a:pt x="15679" y="5557"/>
                  </a:lnTo>
                  <a:lnTo>
                    <a:pt x="15829" y="6065"/>
                  </a:lnTo>
                  <a:lnTo>
                    <a:pt x="15942" y="6591"/>
                  </a:lnTo>
                  <a:lnTo>
                    <a:pt x="16016" y="7135"/>
                  </a:lnTo>
                  <a:lnTo>
                    <a:pt x="16052" y="7695"/>
                  </a:lnTo>
                  <a:lnTo>
                    <a:pt x="16044" y="8271"/>
                  </a:lnTo>
                  <a:lnTo>
                    <a:pt x="15991" y="8863"/>
                  </a:lnTo>
                  <a:lnTo>
                    <a:pt x="15892" y="9471"/>
                  </a:lnTo>
                  <a:lnTo>
                    <a:pt x="15744" y="10093"/>
                  </a:lnTo>
                  <a:lnTo>
                    <a:pt x="15545" y="10729"/>
                  </a:lnTo>
                  <a:lnTo>
                    <a:pt x="15294" y="11379"/>
                  </a:lnTo>
                  <a:lnTo>
                    <a:pt x="14987" y="12042"/>
                  </a:lnTo>
                  <a:lnTo>
                    <a:pt x="14623" y="12717"/>
                  </a:lnTo>
                  <a:lnTo>
                    <a:pt x="16074" y="14218"/>
                  </a:lnTo>
                  <a:lnTo>
                    <a:pt x="14156" y="16081"/>
                  </a:lnTo>
                  <a:lnTo>
                    <a:pt x="12655" y="14684"/>
                  </a:lnTo>
                  <a:lnTo>
                    <a:pt x="12293" y="14873"/>
                  </a:lnTo>
                  <a:lnTo>
                    <a:pt x="11934" y="15048"/>
                  </a:lnTo>
                  <a:lnTo>
                    <a:pt x="11578" y="15211"/>
                  </a:lnTo>
                  <a:lnTo>
                    <a:pt x="11223" y="15360"/>
                  </a:lnTo>
                  <a:lnTo>
                    <a:pt x="10870" y="15495"/>
                  </a:lnTo>
                  <a:lnTo>
                    <a:pt x="10520" y="15617"/>
                  </a:lnTo>
                  <a:lnTo>
                    <a:pt x="10173" y="15726"/>
                  </a:lnTo>
                  <a:lnTo>
                    <a:pt x="9828" y="15822"/>
                  </a:lnTo>
                  <a:lnTo>
                    <a:pt x="9485" y="15904"/>
                  </a:lnTo>
                  <a:lnTo>
                    <a:pt x="9145" y="15974"/>
                  </a:lnTo>
                  <a:lnTo>
                    <a:pt x="8808" y="16030"/>
                  </a:lnTo>
                  <a:lnTo>
                    <a:pt x="8472" y="16074"/>
                  </a:lnTo>
                  <a:lnTo>
                    <a:pt x="8140" y="16105"/>
                  </a:lnTo>
                  <a:lnTo>
                    <a:pt x="7812" y="16123"/>
                  </a:lnTo>
                  <a:lnTo>
                    <a:pt x="7486" y="16128"/>
                  </a:lnTo>
                  <a:lnTo>
                    <a:pt x="7164" y="16121"/>
                  </a:lnTo>
                  <a:lnTo>
                    <a:pt x="6845" y="16101"/>
                  </a:lnTo>
                  <a:lnTo>
                    <a:pt x="6529" y="16069"/>
                  </a:lnTo>
                  <a:lnTo>
                    <a:pt x="6216" y="16024"/>
                  </a:lnTo>
                  <a:lnTo>
                    <a:pt x="5906" y="15967"/>
                  </a:lnTo>
                  <a:lnTo>
                    <a:pt x="5601" y="15897"/>
                  </a:lnTo>
                  <a:lnTo>
                    <a:pt x="5298" y="15816"/>
                  </a:lnTo>
                  <a:lnTo>
                    <a:pt x="5001" y="15722"/>
                  </a:lnTo>
                  <a:lnTo>
                    <a:pt x="4706" y="15616"/>
                  </a:lnTo>
                  <a:lnTo>
                    <a:pt x="4415" y="15498"/>
                  </a:lnTo>
                  <a:lnTo>
                    <a:pt x="4129" y="15368"/>
                  </a:lnTo>
                  <a:lnTo>
                    <a:pt x="3846" y="15227"/>
                  </a:lnTo>
                  <a:lnTo>
                    <a:pt x="3568" y="15073"/>
                  </a:lnTo>
                  <a:lnTo>
                    <a:pt x="3293" y="14907"/>
                  </a:lnTo>
                  <a:lnTo>
                    <a:pt x="3023" y="14731"/>
                  </a:lnTo>
                  <a:lnTo>
                    <a:pt x="2757" y="14542"/>
                  </a:lnTo>
                  <a:lnTo>
                    <a:pt x="2496" y="14342"/>
                  </a:lnTo>
                  <a:lnTo>
                    <a:pt x="2509" y="14390"/>
                  </a:lnTo>
                  <a:lnTo>
                    <a:pt x="2520" y="14439"/>
                  </a:lnTo>
                  <a:lnTo>
                    <a:pt x="2528" y="14487"/>
                  </a:lnTo>
                  <a:lnTo>
                    <a:pt x="2533" y="14536"/>
                  </a:lnTo>
                  <a:lnTo>
                    <a:pt x="2536" y="14586"/>
                  </a:lnTo>
                  <a:lnTo>
                    <a:pt x="2537" y="14635"/>
                  </a:lnTo>
                  <a:lnTo>
                    <a:pt x="2534" y="14686"/>
                  </a:lnTo>
                  <a:lnTo>
                    <a:pt x="2530" y="14735"/>
                  </a:lnTo>
                  <a:lnTo>
                    <a:pt x="2523" y="14785"/>
                  </a:lnTo>
                  <a:lnTo>
                    <a:pt x="2514" y="14835"/>
                  </a:lnTo>
                  <a:lnTo>
                    <a:pt x="2502" y="14884"/>
                  </a:lnTo>
                  <a:lnTo>
                    <a:pt x="2489" y="14934"/>
                  </a:lnTo>
                  <a:lnTo>
                    <a:pt x="2473" y="14983"/>
                  </a:lnTo>
                  <a:lnTo>
                    <a:pt x="2454" y="15031"/>
                  </a:lnTo>
                  <a:lnTo>
                    <a:pt x="2434" y="15080"/>
                  </a:lnTo>
                  <a:lnTo>
                    <a:pt x="2412" y="15127"/>
                  </a:lnTo>
                  <a:lnTo>
                    <a:pt x="2388" y="15174"/>
                  </a:lnTo>
                  <a:lnTo>
                    <a:pt x="2363" y="15222"/>
                  </a:lnTo>
                  <a:lnTo>
                    <a:pt x="2334" y="15267"/>
                  </a:lnTo>
                  <a:lnTo>
                    <a:pt x="2305" y="15313"/>
                  </a:lnTo>
                  <a:lnTo>
                    <a:pt x="2275" y="15358"/>
                  </a:lnTo>
                  <a:lnTo>
                    <a:pt x="2241" y="15401"/>
                  </a:lnTo>
                  <a:lnTo>
                    <a:pt x="2207" y="15444"/>
                  </a:lnTo>
                  <a:lnTo>
                    <a:pt x="2171" y="15486"/>
                  </a:lnTo>
                  <a:lnTo>
                    <a:pt x="2134" y="15526"/>
                  </a:lnTo>
                  <a:lnTo>
                    <a:pt x="2095" y="15567"/>
                  </a:lnTo>
                  <a:lnTo>
                    <a:pt x="2055" y="15605"/>
                  </a:lnTo>
                  <a:lnTo>
                    <a:pt x="2013" y="15642"/>
                  </a:lnTo>
                  <a:lnTo>
                    <a:pt x="1971" y="15677"/>
                  </a:lnTo>
                  <a:lnTo>
                    <a:pt x="1927" y="15713"/>
                  </a:lnTo>
                  <a:lnTo>
                    <a:pt x="1881" y="15745"/>
                  </a:lnTo>
                  <a:lnTo>
                    <a:pt x="1836" y="15777"/>
                  </a:lnTo>
                  <a:lnTo>
                    <a:pt x="1779" y="15812"/>
                  </a:lnTo>
                  <a:lnTo>
                    <a:pt x="1723" y="15845"/>
                  </a:lnTo>
                  <a:lnTo>
                    <a:pt x="1666" y="15874"/>
                  </a:lnTo>
                  <a:lnTo>
                    <a:pt x="1610" y="15900"/>
                  </a:lnTo>
                  <a:lnTo>
                    <a:pt x="1552" y="15923"/>
                  </a:lnTo>
                  <a:lnTo>
                    <a:pt x="1496" y="15944"/>
                  </a:lnTo>
                  <a:lnTo>
                    <a:pt x="1438" y="15961"/>
                  </a:lnTo>
                  <a:lnTo>
                    <a:pt x="1381" y="15975"/>
                  </a:lnTo>
                  <a:lnTo>
                    <a:pt x="1324" y="15987"/>
                  </a:lnTo>
                  <a:lnTo>
                    <a:pt x="1267" y="15995"/>
                  </a:lnTo>
                  <a:lnTo>
                    <a:pt x="1210" y="16001"/>
                  </a:lnTo>
                  <a:lnTo>
                    <a:pt x="1154" y="16003"/>
                  </a:lnTo>
                  <a:lnTo>
                    <a:pt x="1098" y="16003"/>
                  </a:lnTo>
                  <a:lnTo>
                    <a:pt x="1043" y="16000"/>
                  </a:lnTo>
                  <a:lnTo>
                    <a:pt x="987" y="15995"/>
                  </a:lnTo>
                  <a:lnTo>
                    <a:pt x="933" y="15986"/>
                  </a:lnTo>
                  <a:lnTo>
                    <a:pt x="879" y="15975"/>
                  </a:lnTo>
                  <a:lnTo>
                    <a:pt x="826" y="15961"/>
                  </a:lnTo>
                  <a:lnTo>
                    <a:pt x="773" y="15944"/>
                  </a:lnTo>
                  <a:lnTo>
                    <a:pt x="722" y="15924"/>
                  </a:lnTo>
                  <a:lnTo>
                    <a:pt x="671" y="15902"/>
                  </a:lnTo>
                  <a:lnTo>
                    <a:pt x="622" y="15877"/>
                  </a:lnTo>
                  <a:lnTo>
                    <a:pt x="573" y="15849"/>
                  </a:lnTo>
                  <a:lnTo>
                    <a:pt x="527" y="15819"/>
                  </a:lnTo>
                  <a:lnTo>
                    <a:pt x="480" y="15786"/>
                  </a:lnTo>
                  <a:lnTo>
                    <a:pt x="436" y="15751"/>
                  </a:lnTo>
                  <a:lnTo>
                    <a:pt x="393" y="15713"/>
                  </a:lnTo>
                  <a:lnTo>
                    <a:pt x="350" y="15671"/>
                  </a:lnTo>
                  <a:lnTo>
                    <a:pt x="310" y="15628"/>
                  </a:lnTo>
                  <a:lnTo>
                    <a:pt x="271" y="15583"/>
                  </a:lnTo>
                  <a:lnTo>
                    <a:pt x="234" y="15534"/>
                  </a:lnTo>
                  <a:lnTo>
                    <a:pt x="199" y="15483"/>
                  </a:lnTo>
                  <a:lnTo>
                    <a:pt x="143" y="15391"/>
                  </a:lnTo>
                  <a:lnTo>
                    <a:pt x="98" y="15299"/>
                  </a:lnTo>
                  <a:lnTo>
                    <a:pt x="61" y="15206"/>
                  </a:lnTo>
                  <a:lnTo>
                    <a:pt x="33" y="15112"/>
                  </a:lnTo>
                  <a:lnTo>
                    <a:pt x="14" y="15019"/>
                  </a:lnTo>
                  <a:lnTo>
                    <a:pt x="3" y="14925"/>
                  </a:lnTo>
                  <a:lnTo>
                    <a:pt x="0" y="14833"/>
                  </a:lnTo>
                  <a:lnTo>
                    <a:pt x="5" y="14741"/>
                  </a:lnTo>
                  <a:lnTo>
                    <a:pt x="17" y="14651"/>
                  </a:lnTo>
                  <a:lnTo>
                    <a:pt x="36" y="14562"/>
                  </a:lnTo>
                  <a:lnTo>
                    <a:pt x="63" y="14475"/>
                  </a:lnTo>
                  <a:lnTo>
                    <a:pt x="95" y="14389"/>
                  </a:lnTo>
                  <a:lnTo>
                    <a:pt x="133" y="14307"/>
                  </a:lnTo>
                  <a:lnTo>
                    <a:pt x="179" y="14226"/>
                  </a:lnTo>
                  <a:lnTo>
                    <a:pt x="228" y="14148"/>
                  </a:lnTo>
                  <a:lnTo>
                    <a:pt x="284" y="14075"/>
                  </a:lnTo>
                  <a:lnTo>
                    <a:pt x="344" y="14004"/>
                  </a:lnTo>
                  <a:lnTo>
                    <a:pt x="409" y="13938"/>
                  </a:lnTo>
                  <a:lnTo>
                    <a:pt x="478" y="13874"/>
                  </a:lnTo>
                  <a:lnTo>
                    <a:pt x="551" y="13816"/>
                  </a:lnTo>
                  <a:lnTo>
                    <a:pt x="628" y="13762"/>
                  </a:lnTo>
                  <a:lnTo>
                    <a:pt x="708" y="13714"/>
                  </a:lnTo>
                  <a:lnTo>
                    <a:pt x="791" y="13670"/>
                  </a:lnTo>
                  <a:lnTo>
                    <a:pt x="878" y="13632"/>
                  </a:lnTo>
                  <a:lnTo>
                    <a:pt x="967" y="13601"/>
                  </a:lnTo>
                  <a:lnTo>
                    <a:pt x="1057" y="13575"/>
                  </a:lnTo>
                  <a:lnTo>
                    <a:pt x="1150" y="13556"/>
                  </a:lnTo>
                  <a:lnTo>
                    <a:pt x="1244" y="13542"/>
                  </a:lnTo>
                  <a:lnTo>
                    <a:pt x="1339" y="13536"/>
                  </a:lnTo>
                  <a:lnTo>
                    <a:pt x="1436" y="13538"/>
                  </a:lnTo>
                  <a:lnTo>
                    <a:pt x="1533" y="13548"/>
                  </a:lnTo>
                  <a:lnTo>
                    <a:pt x="1630" y="13565"/>
                  </a:lnTo>
                  <a:lnTo>
                    <a:pt x="1553" y="13486"/>
                  </a:lnTo>
                  <a:lnTo>
                    <a:pt x="1477" y="13406"/>
                  </a:lnTo>
                  <a:lnTo>
                    <a:pt x="1400" y="13325"/>
                  </a:lnTo>
                  <a:lnTo>
                    <a:pt x="1324" y="13243"/>
                  </a:lnTo>
                  <a:lnTo>
                    <a:pt x="1248" y="13159"/>
                  </a:lnTo>
                  <a:lnTo>
                    <a:pt x="1174" y="13075"/>
                  </a:lnTo>
                  <a:lnTo>
                    <a:pt x="1100" y="12990"/>
                  </a:lnTo>
                  <a:lnTo>
                    <a:pt x="1026" y="12903"/>
                  </a:lnTo>
                  <a:lnTo>
                    <a:pt x="953" y="12815"/>
                  </a:lnTo>
                  <a:lnTo>
                    <a:pt x="880" y="12726"/>
                  </a:lnTo>
                  <a:lnTo>
                    <a:pt x="807" y="12636"/>
                  </a:lnTo>
                  <a:lnTo>
                    <a:pt x="736" y="12545"/>
                  </a:lnTo>
                  <a:lnTo>
                    <a:pt x="665" y="12453"/>
                  </a:lnTo>
                  <a:lnTo>
                    <a:pt x="594" y="12359"/>
                  </a:lnTo>
                  <a:lnTo>
                    <a:pt x="524" y="12264"/>
                  </a:lnTo>
                  <a:lnTo>
                    <a:pt x="454" y="12169"/>
                  </a:lnTo>
                  <a:close/>
                </a:path>
              </a:pathLst>
            </a:custGeom>
            <a:solidFill>
              <a:srgbClr val="FFFAF0"/>
            </a:solidFill>
            <a:ln>
              <a:noFill/>
            </a:ln>
            <a:effectLst/>
          </p:spPr>
          <p:txBody>
            <a:bodyPr vert="horz" wrap="square" lIns="68580" tIns="34290" rIns="68580" bIns="34290" numCol="1" anchor="t" anchorCtr="0" compatLnSpc="1">
              <a:prstTxWarp prst="textNoShape">
                <a:avLst/>
              </a:prstTxWarp>
            </a:bodyPr>
            <a:lstStyle/>
            <a:p>
              <a:endParaRPr lang="zh-CN" altLang="en-US" sz="1013">
                <a:latin typeface="Noto Sans S Chinese Bold" panose="020B0800000000000000" pitchFamily="34" charset="-122"/>
                <a:ea typeface="Noto Sans S Chinese Bold" panose="020B0800000000000000" pitchFamily="34" charset="-122"/>
              </a:endParaRPr>
            </a:p>
          </p:txBody>
        </p:sp>
        <p:sp>
          <p:nvSpPr>
            <p:cNvPr id="10" name="矩形 9">
              <a:extLst>
                <a:ext uri="{FF2B5EF4-FFF2-40B4-BE49-F238E27FC236}">
                  <a16:creationId xmlns:a16="http://schemas.microsoft.com/office/drawing/2014/main" id="{804EA6F3-9A13-4381-A846-2D4E2EAFEB30}"/>
                </a:ext>
              </a:extLst>
            </p:cNvPr>
            <p:cNvSpPr/>
            <p:nvPr/>
          </p:nvSpPr>
          <p:spPr>
            <a:xfrm>
              <a:off x="8779884" y="1770824"/>
              <a:ext cx="2708433" cy="615553"/>
            </a:xfrm>
            <a:prstGeom prst="rect">
              <a:avLst/>
            </a:prstGeom>
          </p:spPr>
          <p:txBody>
            <a:bodyPr wrap="none">
              <a:spAutoFit/>
            </a:bodyPr>
            <a:lstStyle/>
            <a:p>
              <a:r>
                <a:rPr lang="zh-CN" altLang="en-US" sz="2400" b="0" i="0" dirty="0">
                  <a:solidFill>
                    <a:schemeClr val="bg1"/>
                  </a:solidFill>
                  <a:effectLst/>
                  <a:latin typeface="arial" panose="020B0604020202020204" pitchFamily="34" charset="0"/>
                </a:rPr>
                <a:t>中老昆万铁路</a:t>
              </a:r>
              <a:endParaRPr lang="zh-CN" altLang="en-US" sz="2100" b="1" dirty="0">
                <a:solidFill>
                  <a:schemeClr val="bg1"/>
                </a:solidFill>
                <a:latin typeface="Noto Sans S Chinese Bold" panose="020B0800000000000000" pitchFamily="34" charset="-122"/>
                <a:ea typeface="Noto Sans S Chinese Bold" panose="020B0800000000000000" pitchFamily="34" charset="-122"/>
              </a:endParaRPr>
            </a:p>
          </p:txBody>
        </p:sp>
      </p:grpSp>
    </p:spTree>
    <p:extLst>
      <p:ext uri="{BB962C8B-B14F-4D97-AF65-F5344CB8AC3E}">
        <p14:creationId xmlns:p14="http://schemas.microsoft.com/office/powerpoint/2010/main" val="3636356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prestig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0-#ppt_w/2"/>
                                          </p:val>
                                        </p:tav>
                                        <p:tav tm="100000">
                                          <p:val>
                                            <p:strVal val="#ppt_x"/>
                                          </p:val>
                                        </p:tav>
                                      </p:tavLst>
                                    </p:anim>
                                    <p:anim calcmode="lin" valueType="num">
                                      <p:cBhvr additive="base">
                                        <p:cTn id="8" dur="750" fill="hold"/>
                                        <p:tgtEl>
                                          <p:spTgt spid="6"/>
                                        </p:tgtEl>
                                        <p:attrNameLst>
                                          <p:attrName>ppt_y</p:attrName>
                                        </p:attrNameLst>
                                      </p:cBhvr>
                                      <p:tavLst>
                                        <p:tav tm="0">
                                          <p:val>
                                            <p:strVal val="#ppt_y"/>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500"/>
                                        <p:tgtEl>
                                          <p:spTgt spid="4"/>
                                        </p:tgtEl>
                                      </p:cBhvr>
                                    </p:animEffect>
                                    <p:anim calcmode="lin" valueType="num">
                                      <p:cBhvr>
                                        <p:cTn id="12" dur="1500" fill="hold"/>
                                        <p:tgtEl>
                                          <p:spTgt spid="4"/>
                                        </p:tgtEl>
                                        <p:attrNameLst>
                                          <p:attrName>ppt_x</p:attrName>
                                        </p:attrNameLst>
                                      </p:cBhvr>
                                      <p:tavLst>
                                        <p:tav tm="0">
                                          <p:val>
                                            <p:strVal val="#ppt_x"/>
                                          </p:val>
                                        </p:tav>
                                        <p:tav tm="100000">
                                          <p:val>
                                            <p:strVal val="#ppt_x"/>
                                          </p:val>
                                        </p:tav>
                                      </p:tavLst>
                                    </p:anim>
                                    <p:anim calcmode="lin" valueType="num">
                                      <p:cBhvr>
                                        <p:cTn id="13" dur="1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FB3326CC-105E-4511-AEAE-1F506C4C7151}"/>
              </a:ext>
            </a:extLst>
          </p:cNvPr>
          <p:cNvPicPr>
            <a:picLocks noChangeAspect="1"/>
          </p:cNvPicPr>
          <p:nvPr/>
        </p:nvPicPr>
        <p:blipFill>
          <a:blip r:embed="rId2"/>
          <a:stretch>
            <a:fillRect/>
          </a:stretch>
        </p:blipFill>
        <p:spPr>
          <a:xfrm>
            <a:off x="28450" y="3799321"/>
            <a:ext cx="9144000" cy="1311904"/>
          </a:xfrm>
          <a:prstGeom prst="rect">
            <a:avLst/>
          </a:prstGeom>
        </p:spPr>
      </p:pic>
      <p:pic>
        <p:nvPicPr>
          <p:cNvPr id="9" name="图片 8">
            <a:extLst>
              <a:ext uri="{FF2B5EF4-FFF2-40B4-BE49-F238E27FC236}">
                <a16:creationId xmlns:a16="http://schemas.microsoft.com/office/drawing/2014/main" id="{D68BE9A7-41FB-44C4-A472-50C00B774FEB}"/>
              </a:ext>
            </a:extLst>
          </p:cNvPr>
          <p:cNvPicPr>
            <a:picLocks noChangeAspect="1"/>
          </p:cNvPicPr>
          <p:nvPr/>
        </p:nvPicPr>
        <p:blipFill rotWithShape="1">
          <a:blip r:embed="rId3"/>
          <a:srcRect b="33209"/>
          <a:stretch/>
        </p:blipFill>
        <p:spPr>
          <a:xfrm>
            <a:off x="1" y="1"/>
            <a:ext cx="4427984" cy="1923678"/>
          </a:xfrm>
          <a:prstGeom prst="rect">
            <a:avLst/>
          </a:prstGeom>
        </p:spPr>
      </p:pic>
      <p:pic>
        <p:nvPicPr>
          <p:cNvPr id="13" name="图片 12">
            <a:extLst>
              <a:ext uri="{FF2B5EF4-FFF2-40B4-BE49-F238E27FC236}">
                <a16:creationId xmlns:a16="http://schemas.microsoft.com/office/drawing/2014/main" id="{535C2018-35F9-487A-BF47-E4D1AEC11D69}"/>
              </a:ext>
            </a:extLst>
          </p:cNvPr>
          <p:cNvPicPr>
            <a:picLocks noChangeAspect="1"/>
          </p:cNvPicPr>
          <p:nvPr/>
        </p:nvPicPr>
        <p:blipFill>
          <a:blip r:embed="rId4"/>
          <a:stretch>
            <a:fillRect/>
          </a:stretch>
        </p:blipFill>
        <p:spPr>
          <a:xfrm>
            <a:off x="0" y="4086635"/>
            <a:ext cx="9144000" cy="1056864"/>
          </a:xfrm>
          <a:prstGeom prst="rect">
            <a:avLst/>
          </a:prstGeom>
        </p:spPr>
      </p:pic>
      <p:pic>
        <p:nvPicPr>
          <p:cNvPr id="24" name="图片 23">
            <a:extLst>
              <a:ext uri="{FF2B5EF4-FFF2-40B4-BE49-F238E27FC236}">
                <a16:creationId xmlns:a16="http://schemas.microsoft.com/office/drawing/2014/main" id="{EFD91B75-90CC-4D63-A227-65B34F6D3BB1}"/>
              </a:ext>
            </a:extLst>
          </p:cNvPr>
          <p:cNvPicPr>
            <a:picLocks noChangeAspect="1"/>
          </p:cNvPicPr>
          <p:nvPr/>
        </p:nvPicPr>
        <p:blipFill>
          <a:blip r:embed="rId5"/>
          <a:stretch>
            <a:fillRect/>
          </a:stretch>
        </p:blipFill>
        <p:spPr>
          <a:xfrm>
            <a:off x="0" y="-32273"/>
            <a:ext cx="2713798" cy="1367127"/>
          </a:xfrm>
          <a:prstGeom prst="rect">
            <a:avLst/>
          </a:prstGeom>
        </p:spPr>
      </p:pic>
      <p:pic>
        <p:nvPicPr>
          <p:cNvPr id="26" name="图片 25">
            <a:extLst>
              <a:ext uri="{FF2B5EF4-FFF2-40B4-BE49-F238E27FC236}">
                <a16:creationId xmlns:a16="http://schemas.microsoft.com/office/drawing/2014/main" id="{8FF954DB-E50D-4407-A817-849532395E58}"/>
              </a:ext>
            </a:extLst>
          </p:cNvPr>
          <p:cNvPicPr>
            <a:picLocks noChangeAspect="1"/>
          </p:cNvPicPr>
          <p:nvPr/>
        </p:nvPicPr>
        <p:blipFill>
          <a:blip r:embed="rId6"/>
          <a:stretch>
            <a:fillRect/>
          </a:stretch>
        </p:blipFill>
        <p:spPr>
          <a:xfrm>
            <a:off x="6012159" y="2321613"/>
            <a:ext cx="3160291" cy="2821886"/>
          </a:xfrm>
          <a:prstGeom prst="rect">
            <a:avLst/>
          </a:prstGeom>
        </p:spPr>
      </p:pic>
      <p:pic>
        <p:nvPicPr>
          <p:cNvPr id="30" name="图片 29">
            <a:extLst>
              <a:ext uri="{FF2B5EF4-FFF2-40B4-BE49-F238E27FC236}">
                <a16:creationId xmlns:a16="http://schemas.microsoft.com/office/drawing/2014/main" id="{89CDD355-5732-46AB-81AF-F09D0A4123CD}"/>
              </a:ext>
            </a:extLst>
          </p:cNvPr>
          <p:cNvPicPr>
            <a:picLocks noChangeAspect="1"/>
          </p:cNvPicPr>
          <p:nvPr/>
        </p:nvPicPr>
        <p:blipFill>
          <a:blip r:embed="rId7"/>
          <a:srcRect/>
          <a:stretch/>
        </p:blipFill>
        <p:spPr>
          <a:xfrm>
            <a:off x="-28450" y="3075806"/>
            <a:ext cx="2005136" cy="2078683"/>
          </a:xfrm>
          <a:prstGeom prst="rect">
            <a:avLst/>
          </a:prstGeom>
        </p:spPr>
      </p:pic>
      <p:pic>
        <p:nvPicPr>
          <p:cNvPr id="40" name="图片 39">
            <a:extLst>
              <a:ext uri="{FF2B5EF4-FFF2-40B4-BE49-F238E27FC236}">
                <a16:creationId xmlns:a16="http://schemas.microsoft.com/office/drawing/2014/main" id="{5D69B71A-8FC5-4477-8CEA-472EF06970DB}"/>
              </a:ext>
            </a:extLst>
          </p:cNvPr>
          <p:cNvPicPr>
            <a:picLocks noChangeAspect="1"/>
          </p:cNvPicPr>
          <p:nvPr/>
        </p:nvPicPr>
        <p:blipFill>
          <a:blip r:embed="rId8"/>
          <a:stretch>
            <a:fillRect/>
          </a:stretch>
        </p:blipFill>
        <p:spPr>
          <a:xfrm flipH="1">
            <a:off x="6876256" y="816369"/>
            <a:ext cx="1080907" cy="748888"/>
          </a:xfrm>
          <a:prstGeom prst="rect">
            <a:avLst/>
          </a:prstGeom>
        </p:spPr>
      </p:pic>
      <p:sp>
        <p:nvSpPr>
          <p:cNvPr id="16" name="矩形 15">
            <a:extLst>
              <a:ext uri="{FF2B5EF4-FFF2-40B4-BE49-F238E27FC236}">
                <a16:creationId xmlns:a16="http://schemas.microsoft.com/office/drawing/2014/main" id="{BA357094-A360-429B-904E-4351735D77A3}"/>
              </a:ext>
            </a:extLst>
          </p:cNvPr>
          <p:cNvSpPr/>
          <p:nvPr/>
        </p:nvSpPr>
        <p:spPr>
          <a:xfrm>
            <a:off x="3779912" y="1419622"/>
            <a:ext cx="1608134" cy="507831"/>
          </a:xfrm>
          <a:prstGeom prst="rect">
            <a:avLst/>
          </a:prstGeom>
        </p:spPr>
        <p:txBody>
          <a:bodyPr wrap="none">
            <a:spAutoFit/>
          </a:bodyPr>
          <a:lstStyle/>
          <a:p>
            <a:pPr algn="ctr"/>
            <a:r>
              <a:rPr lang="zh-CN" altLang="en-US" sz="2700" b="1" dirty="0">
                <a:solidFill>
                  <a:srgbClr val="C80000"/>
                </a:solidFill>
                <a:latin typeface="汉仪雅酷黑 75W" panose="020B0804020202020204" pitchFamily="34" charset="-122"/>
                <a:ea typeface="汉仪雅酷黑 75W" panose="020B0804020202020204" pitchFamily="34" charset="-122"/>
              </a:rPr>
              <a:t>第二部分</a:t>
            </a:r>
          </a:p>
        </p:txBody>
      </p:sp>
      <p:sp>
        <p:nvSpPr>
          <p:cNvPr id="17" name="矩形 16">
            <a:extLst>
              <a:ext uri="{FF2B5EF4-FFF2-40B4-BE49-F238E27FC236}">
                <a16:creationId xmlns:a16="http://schemas.microsoft.com/office/drawing/2014/main" id="{374BBDA0-B5D9-4A7D-9491-4FBED87E201D}"/>
              </a:ext>
            </a:extLst>
          </p:cNvPr>
          <p:cNvSpPr/>
          <p:nvPr/>
        </p:nvSpPr>
        <p:spPr>
          <a:xfrm>
            <a:off x="2815346" y="2126037"/>
            <a:ext cx="3570208" cy="1107996"/>
          </a:xfrm>
          <a:prstGeom prst="rect">
            <a:avLst/>
          </a:prstGeom>
        </p:spPr>
        <p:txBody>
          <a:bodyPr wrap="none">
            <a:spAutoFit/>
          </a:bodyPr>
          <a:lstStyle/>
          <a:p>
            <a:pPr algn="ctr"/>
            <a:r>
              <a:rPr lang="zh-CN" altLang="en-US" sz="6600" b="1" dirty="0">
                <a:solidFill>
                  <a:srgbClr val="C80000"/>
                </a:solidFill>
                <a:latin typeface="汉仪雅酷黑 75W" panose="020B0804020202020204" pitchFamily="34" charset="-122"/>
                <a:ea typeface="汉仪雅酷黑 75W" panose="020B0804020202020204" pitchFamily="34" charset="-122"/>
                <a:cs typeface="+mn-ea"/>
                <a:sym typeface="+mn-lt"/>
              </a:rPr>
              <a:t>脱贫攻坚</a:t>
            </a:r>
          </a:p>
        </p:txBody>
      </p:sp>
    </p:spTree>
    <p:extLst>
      <p:ext uri="{BB962C8B-B14F-4D97-AF65-F5344CB8AC3E}">
        <p14:creationId xmlns:p14="http://schemas.microsoft.com/office/powerpoint/2010/main" val="15317961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wind"/>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childTnLst>
                          </p:cTn>
                        </p:par>
                        <p:par>
                          <p:cTn id="22" fill="hold">
                            <p:stCondLst>
                              <p:cond delay="2500"/>
                            </p:stCondLst>
                            <p:childTnLst>
                              <p:par>
                                <p:cTn id="23" presetID="2" presetClass="entr" presetSubtype="4"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par>
                          <p:cTn id="27" fill="hold">
                            <p:stCondLst>
                              <p:cond delay="3000"/>
                            </p:stCondLst>
                            <p:childTnLst>
                              <p:par>
                                <p:cTn id="28" presetID="22" presetClass="entr" presetSubtype="4" fill="hold"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down)">
                                      <p:cBhvr>
                                        <p:cTn id="30" dur="500"/>
                                        <p:tgtEl>
                                          <p:spTgt spid="26"/>
                                        </p:tgtEl>
                                      </p:cBhvr>
                                    </p:animEffect>
                                  </p:childTnLst>
                                </p:cTn>
                              </p:par>
                            </p:childTnLst>
                          </p:cTn>
                        </p:par>
                        <p:par>
                          <p:cTn id="31" fill="hold">
                            <p:stCondLst>
                              <p:cond delay="3500"/>
                            </p:stCondLst>
                            <p:childTnLst>
                              <p:par>
                                <p:cTn id="32" presetID="22" presetClass="entr" presetSubtype="4" fill="hold" nodeType="after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down)">
                                      <p:cBhvr>
                                        <p:cTn id="34" dur="500"/>
                                        <p:tgtEl>
                                          <p:spTgt spid="40"/>
                                        </p:tgtEl>
                                      </p:cBhvr>
                                    </p:animEffect>
                                  </p:childTnLst>
                                </p:cTn>
                              </p:par>
                            </p:childTnLst>
                          </p:cTn>
                        </p:par>
                        <p:par>
                          <p:cTn id="35" fill="hold">
                            <p:stCondLst>
                              <p:cond delay="4000"/>
                            </p:stCondLst>
                            <p:childTnLst>
                              <p:par>
                                <p:cTn id="36" presetID="47" presetClass="entr" presetSubtype="0"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750"/>
                                        <p:tgtEl>
                                          <p:spTgt spid="16"/>
                                        </p:tgtEl>
                                      </p:cBhvr>
                                    </p:animEffect>
                                    <p:anim calcmode="lin" valueType="num">
                                      <p:cBhvr>
                                        <p:cTn id="39" dur="750" fill="hold"/>
                                        <p:tgtEl>
                                          <p:spTgt spid="16"/>
                                        </p:tgtEl>
                                        <p:attrNameLst>
                                          <p:attrName>ppt_x</p:attrName>
                                        </p:attrNameLst>
                                      </p:cBhvr>
                                      <p:tavLst>
                                        <p:tav tm="0">
                                          <p:val>
                                            <p:strVal val="#ppt_x"/>
                                          </p:val>
                                        </p:tav>
                                        <p:tav tm="100000">
                                          <p:val>
                                            <p:strVal val="#ppt_x"/>
                                          </p:val>
                                        </p:tav>
                                      </p:tavLst>
                                    </p:anim>
                                    <p:anim calcmode="lin" valueType="num">
                                      <p:cBhvr>
                                        <p:cTn id="40" dur="750" fill="hold"/>
                                        <p:tgtEl>
                                          <p:spTgt spid="16"/>
                                        </p:tgtEl>
                                        <p:attrNameLst>
                                          <p:attrName>ppt_y</p:attrName>
                                        </p:attrNameLst>
                                      </p:cBhvr>
                                      <p:tavLst>
                                        <p:tav tm="0">
                                          <p:val>
                                            <p:strVal val="#ppt_y-.1"/>
                                          </p:val>
                                        </p:tav>
                                        <p:tav tm="100000">
                                          <p:val>
                                            <p:strVal val="#ppt_y"/>
                                          </p:val>
                                        </p:tav>
                                      </p:tavLst>
                                    </p:anim>
                                  </p:childTnLst>
                                </p:cTn>
                              </p:par>
                            </p:childTnLst>
                          </p:cTn>
                        </p:par>
                        <p:par>
                          <p:cTn id="41" fill="hold">
                            <p:stCondLst>
                              <p:cond delay="4750"/>
                            </p:stCondLst>
                            <p:childTnLst>
                              <p:par>
                                <p:cTn id="42" presetID="42"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1000"/>
                                        <p:tgtEl>
                                          <p:spTgt spid="17"/>
                                        </p:tgtEl>
                                      </p:cBhvr>
                                    </p:animEffect>
                                    <p:anim calcmode="lin" valueType="num">
                                      <p:cBhvr>
                                        <p:cTn id="45" dur="1000" fill="hold"/>
                                        <p:tgtEl>
                                          <p:spTgt spid="17"/>
                                        </p:tgtEl>
                                        <p:attrNameLst>
                                          <p:attrName>ppt_x</p:attrName>
                                        </p:attrNameLst>
                                      </p:cBhvr>
                                      <p:tavLst>
                                        <p:tav tm="0">
                                          <p:val>
                                            <p:strVal val="#ppt_x"/>
                                          </p:val>
                                        </p:tav>
                                        <p:tav tm="100000">
                                          <p:val>
                                            <p:strVal val="#ppt_x"/>
                                          </p:val>
                                        </p:tav>
                                      </p:tavLst>
                                    </p:anim>
                                    <p:anim calcmode="lin" valueType="num">
                                      <p:cBhvr>
                                        <p:cTn id="4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val 32"/>
          <p:cNvSpPr/>
          <p:nvPr/>
        </p:nvSpPr>
        <p:spPr>
          <a:xfrm>
            <a:off x="1403648" y="1923678"/>
            <a:ext cx="2743644" cy="274364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a typeface="Noto Sans S Chinese Light" panose="020B0300000000000000" pitchFamily="34" charset="-122"/>
            </a:endParaRPr>
          </a:p>
        </p:txBody>
      </p:sp>
      <p:sp>
        <p:nvSpPr>
          <p:cNvPr id="327" name="TextBox 348"/>
          <p:cNvSpPr txBox="1"/>
          <p:nvPr/>
        </p:nvSpPr>
        <p:spPr>
          <a:xfrm>
            <a:off x="611560" y="339502"/>
            <a:ext cx="1826141" cy="584775"/>
          </a:xfrm>
          <a:prstGeom prst="rect">
            <a:avLst/>
          </a:prstGeom>
          <a:noFill/>
        </p:spPr>
        <p:txBody>
          <a:bodyPr wrap="none" rtlCol="0">
            <a:spAutoFit/>
          </a:bodyPr>
          <a:lstStyle/>
          <a:p>
            <a:r>
              <a:rPr lang="zh-CN" altLang="en-US" sz="3200" b="1" dirty="0">
                <a:solidFill>
                  <a:schemeClr val="accent1"/>
                </a:solidFill>
                <a:latin typeface="Noto Sans S Chinese Light" panose="020B0300000000000000" pitchFamily="34" charset="-122"/>
                <a:ea typeface="Noto Sans S Chinese Light" panose="020B0300000000000000" pitchFamily="34" charset="-122"/>
              </a:rPr>
              <a:t>脱贫攻坚</a:t>
            </a:r>
          </a:p>
        </p:txBody>
      </p:sp>
      <p:sp>
        <p:nvSpPr>
          <p:cNvPr id="14" name="标题 1">
            <a:extLst>
              <a:ext uri="{FF2B5EF4-FFF2-40B4-BE49-F238E27FC236}">
                <a16:creationId xmlns:a16="http://schemas.microsoft.com/office/drawing/2014/main" id="{403E1108-94EF-4574-B9D6-2DF6CD73105A}"/>
              </a:ext>
            </a:extLst>
          </p:cNvPr>
          <p:cNvSpPr txBox="1">
            <a:spLocks/>
          </p:cNvSpPr>
          <p:nvPr/>
        </p:nvSpPr>
        <p:spPr>
          <a:xfrm>
            <a:off x="5093740" y="1275606"/>
            <a:ext cx="3721892" cy="280831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800" dirty="0">
                <a:latin typeface="汉仪雅酷黑 75W" panose="020B0804020202020204" pitchFamily="34" charset="-122"/>
                <a:ea typeface="汉仪雅酷黑 75W" panose="020B0804020202020204" pitchFamily="34" charset="-122"/>
                <a:cs typeface="+mn-ea"/>
              </a:rPr>
              <a:t>2</a:t>
            </a:r>
            <a:r>
              <a:rPr lang="zh-CN" altLang="en-US" sz="1800" dirty="0">
                <a:latin typeface="汉仪雅酷黑 75W" panose="020B0804020202020204" pitchFamily="34" charset="-122"/>
                <a:ea typeface="汉仪雅酷黑 75W" panose="020B0804020202020204" pitchFamily="34" charset="-122"/>
                <a:cs typeface="+mn-ea"/>
              </a:rPr>
              <a:t>月</a:t>
            </a:r>
            <a:r>
              <a:rPr lang="en-US" altLang="zh-CN" sz="1800" dirty="0">
                <a:latin typeface="汉仪雅酷黑 75W" panose="020B0804020202020204" pitchFamily="34" charset="-122"/>
                <a:ea typeface="汉仪雅酷黑 75W" panose="020B0804020202020204" pitchFamily="34" charset="-122"/>
                <a:cs typeface="+mn-ea"/>
              </a:rPr>
              <a:t>25</a:t>
            </a:r>
            <a:r>
              <a:rPr lang="zh-CN" altLang="en-US" sz="1800" dirty="0">
                <a:latin typeface="汉仪雅酷黑 75W" panose="020B0804020202020204" pitchFamily="34" charset="-122"/>
                <a:ea typeface="汉仪雅酷黑 75W" panose="020B0804020202020204" pitchFamily="34" charset="-122"/>
                <a:cs typeface="+mn-ea"/>
              </a:rPr>
              <a:t>日，全国脱贫攻坚总结表彰大会在京隆重举行 ，习近平庄严宣告：我国脱贫攻坚战取得了全面胜利 ；现行标准下</a:t>
            </a:r>
            <a:r>
              <a:rPr lang="en-US" altLang="zh-CN" sz="1800" dirty="0">
                <a:solidFill>
                  <a:srgbClr val="C00000"/>
                </a:solidFill>
                <a:latin typeface="汉仪雅酷黑 75W" panose="020B0804020202020204" pitchFamily="34" charset="-122"/>
                <a:ea typeface="汉仪雅酷黑 75W" panose="020B0804020202020204" pitchFamily="34" charset="-122"/>
                <a:cs typeface="+mn-ea"/>
              </a:rPr>
              <a:t>9899</a:t>
            </a:r>
            <a:r>
              <a:rPr lang="zh-CN" altLang="en-US" sz="1800" dirty="0">
                <a:solidFill>
                  <a:srgbClr val="C00000"/>
                </a:solidFill>
                <a:latin typeface="汉仪雅酷黑 75W" panose="020B0804020202020204" pitchFamily="34" charset="-122"/>
                <a:ea typeface="汉仪雅酷黑 75W" panose="020B0804020202020204" pitchFamily="34" charset="-122"/>
                <a:cs typeface="+mn-ea"/>
              </a:rPr>
              <a:t>万</a:t>
            </a:r>
            <a:r>
              <a:rPr lang="zh-CN" altLang="en-US" sz="1800" dirty="0">
                <a:latin typeface="汉仪雅酷黑 75W" panose="020B0804020202020204" pitchFamily="34" charset="-122"/>
                <a:ea typeface="汉仪雅酷黑 75W" panose="020B0804020202020204" pitchFamily="34" charset="-122"/>
                <a:cs typeface="+mn-ea"/>
              </a:rPr>
              <a:t>农村贫困人口全部脱贫，</a:t>
            </a:r>
            <a:r>
              <a:rPr lang="en-US" altLang="zh-CN" sz="1800" dirty="0">
                <a:solidFill>
                  <a:srgbClr val="C00000"/>
                </a:solidFill>
                <a:latin typeface="汉仪雅酷黑 75W" panose="020B0804020202020204" pitchFamily="34" charset="-122"/>
                <a:ea typeface="汉仪雅酷黑 75W" panose="020B0804020202020204" pitchFamily="34" charset="-122"/>
                <a:cs typeface="+mn-ea"/>
              </a:rPr>
              <a:t>832</a:t>
            </a:r>
            <a:r>
              <a:rPr lang="zh-CN" altLang="en-US" sz="1800" dirty="0">
                <a:latin typeface="汉仪雅酷黑 75W" panose="020B0804020202020204" pitchFamily="34" charset="-122"/>
                <a:ea typeface="汉仪雅酷黑 75W" panose="020B0804020202020204" pitchFamily="34" charset="-122"/>
                <a:cs typeface="+mn-ea"/>
              </a:rPr>
              <a:t>个贫困县全部摘帽，</a:t>
            </a:r>
            <a:r>
              <a:rPr lang="en-US" altLang="zh-CN" sz="1800" dirty="0">
                <a:solidFill>
                  <a:srgbClr val="C00000"/>
                </a:solidFill>
                <a:latin typeface="汉仪雅酷黑 75W" panose="020B0804020202020204" pitchFamily="34" charset="-122"/>
                <a:ea typeface="汉仪雅酷黑 75W" panose="020B0804020202020204" pitchFamily="34" charset="-122"/>
                <a:cs typeface="+mn-ea"/>
              </a:rPr>
              <a:t>12.8</a:t>
            </a:r>
            <a:r>
              <a:rPr lang="zh-CN" altLang="en-US" sz="1800" dirty="0">
                <a:solidFill>
                  <a:srgbClr val="C00000"/>
                </a:solidFill>
                <a:latin typeface="汉仪雅酷黑 75W" panose="020B0804020202020204" pitchFamily="34" charset="-122"/>
                <a:ea typeface="汉仪雅酷黑 75W" panose="020B0804020202020204" pitchFamily="34" charset="-122"/>
                <a:cs typeface="+mn-ea"/>
              </a:rPr>
              <a:t>万</a:t>
            </a:r>
            <a:r>
              <a:rPr lang="zh-CN" altLang="en-US" sz="1800" dirty="0">
                <a:latin typeface="汉仪雅酷黑 75W" panose="020B0804020202020204" pitchFamily="34" charset="-122"/>
                <a:ea typeface="汉仪雅酷黑 75W" panose="020B0804020202020204" pitchFamily="34" charset="-122"/>
                <a:cs typeface="+mn-ea"/>
              </a:rPr>
              <a:t>个贫困村全部出列，区域性整体贫困得到解决，完成了消除绝对贫困的艰巨任务，创造了又一个彪炳史册的人间奇迹！</a:t>
            </a:r>
          </a:p>
        </p:txBody>
      </p:sp>
      <p:pic>
        <p:nvPicPr>
          <p:cNvPr id="6" name="图片 5">
            <a:extLst>
              <a:ext uri="{FF2B5EF4-FFF2-40B4-BE49-F238E27FC236}">
                <a16:creationId xmlns:a16="http://schemas.microsoft.com/office/drawing/2014/main" id="{2B29563A-D610-4B93-831E-D366D5ADA801}"/>
              </a:ext>
            </a:extLst>
          </p:cNvPr>
          <p:cNvPicPr>
            <a:picLocks noChangeAspect="1"/>
          </p:cNvPicPr>
          <p:nvPr/>
        </p:nvPicPr>
        <p:blipFill>
          <a:blip r:embed="rId3"/>
          <a:stretch>
            <a:fillRect/>
          </a:stretch>
        </p:blipFill>
        <p:spPr>
          <a:xfrm>
            <a:off x="457200" y="1203597"/>
            <a:ext cx="4330890" cy="2808312"/>
          </a:xfrm>
          <a:prstGeom prst="rect">
            <a:avLst/>
          </a:prstGeom>
        </p:spPr>
      </p:pic>
    </p:spTree>
    <p:extLst>
      <p:ext uri="{BB962C8B-B14F-4D97-AF65-F5344CB8AC3E}">
        <p14:creationId xmlns:p14="http://schemas.microsoft.com/office/powerpoint/2010/main" val="2760397109"/>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ppt_w</p:attrName>
                                        </p:attrNameLst>
                                      </p:cBhvr>
                                      <p:tavLst>
                                        <p:tav tm="0">
                                          <p:val>
                                            <p:fltVal val="0"/>
                                          </p:val>
                                        </p:tav>
                                        <p:tav tm="100000">
                                          <p:val>
                                            <p:strVal val="#ppt_w"/>
                                          </p:val>
                                        </p:tav>
                                      </p:tavLst>
                                    </p:anim>
                                    <p:anim calcmode="lin" valueType="num">
                                      <p:cBhvr>
                                        <p:cTn id="8" dur="500" fill="hold"/>
                                        <p:tgtEl>
                                          <p:spTgt spid="46"/>
                                        </p:tgtEl>
                                        <p:attrNameLst>
                                          <p:attrName>ppt_h</p:attrName>
                                        </p:attrNameLst>
                                      </p:cBhvr>
                                      <p:tavLst>
                                        <p:tav tm="0">
                                          <p:val>
                                            <p:fltVal val="0"/>
                                          </p:val>
                                        </p:tav>
                                        <p:tav tm="100000">
                                          <p:val>
                                            <p:strVal val="#ppt_h"/>
                                          </p:val>
                                        </p:tav>
                                      </p:tavLst>
                                    </p:anim>
                                    <p:animEffect transition="in" filter="fade">
                                      <p:cBhvr>
                                        <p:cTn id="9" dur="500"/>
                                        <p:tgtEl>
                                          <p:spTgt spid="46"/>
                                        </p:tgtEl>
                                      </p:cBhvr>
                                    </p:animEffect>
                                  </p:childTnLst>
                                </p:cTn>
                              </p:par>
                            </p:childTnLst>
                          </p:cTn>
                        </p:par>
                        <p:par>
                          <p:cTn id="10" fill="hold">
                            <p:stCondLst>
                              <p:cond delay="500"/>
                            </p:stCondLst>
                            <p:childTnLst>
                              <p:par>
                                <p:cTn id="11" presetID="2" presetClass="entr" presetSubtype="2" fill="hold" grpId="0" nodeType="afterEffect">
                                  <p:stCondLst>
                                    <p:cond delay="0"/>
                                  </p:stCondLst>
                                  <p:iterate type="lt">
                                    <p:tmPct val="10000"/>
                                  </p:iterate>
                                  <p:childTnLst>
                                    <p:set>
                                      <p:cBhvr>
                                        <p:cTn id="12" dur="1" fill="hold">
                                          <p:stCondLst>
                                            <p:cond delay="0"/>
                                          </p:stCondLst>
                                        </p:cTn>
                                        <p:tgtEl>
                                          <p:spTgt spid="327"/>
                                        </p:tgtEl>
                                        <p:attrNameLst>
                                          <p:attrName>style.visibility</p:attrName>
                                        </p:attrNameLst>
                                      </p:cBhvr>
                                      <p:to>
                                        <p:strVal val="visible"/>
                                      </p:to>
                                    </p:set>
                                    <p:anim calcmode="lin" valueType="num">
                                      <p:cBhvr additive="base">
                                        <p:cTn id="13" dur="1000" fill="hold"/>
                                        <p:tgtEl>
                                          <p:spTgt spid="327"/>
                                        </p:tgtEl>
                                        <p:attrNameLst>
                                          <p:attrName>ppt_x</p:attrName>
                                        </p:attrNameLst>
                                      </p:cBhvr>
                                      <p:tavLst>
                                        <p:tav tm="0">
                                          <p:val>
                                            <p:strVal val="1+#ppt_w/2"/>
                                          </p:val>
                                        </p:tav>
                                        <p:tav tm="100000">
                                          <p:val>
                                            <p:strVal val="#ppt_x"/>
                                          </p:val>
                                        </p:tav>
                                      </p:tavLst>
                                    </p:anim>
                                    <p:anim calcmode="lin" valueType="num">
                                      <p:cBhvr additive="base">
                                        <p:cTn id="14" dur="1000" fill="hold"/>
                                        <p:tgtEl>
                                          <p:spTgt spid="3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a:extLst>
              <a:ext uri="{FF2B5EF4-FFF2-40B4-BE49-F238E27FC236}">
                <a16:creationId xmlns:a16="http://schemas.microsoft.com/office/drawing/2014/main" id="{FEB94A2B-C0C1-49F6-9123-384E87319275}"/>
              </a:ext>
            </a:extLst>
          </p:cNvPr>
          <p:cNvSpPr/>
          <p:nvPr/>
        </p:nvSpPr>
        <p:spPr>
          <a:xfrm>
            <a:off x="467544" y="339502"/>
            <a:ext cx="674914" cy="67491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altLang="zh-CN" sz="2250" dirty="0">
                <a:solidFill>
                  <a:schemeClr val="bg1"/>
                </a:solidFill>
                <a:latin typeface="Noto Sans S Chinese Light" panose="020B0300000000000000" pitchFamily="34" charset="-122"/>
                <a:ea typeface="Noto Sans S Chinese Light" panose="020B0300000000000000" pitchFamily="34" charset="-122"/>
              </a:rPr>
              <a:t>01</a:t>
            </a:r>
            <a:endParaRPr lang="zh-CN" altLang="en-US" sz="2250" dirty="0">
              <a:solidFill>
                <a:schemeClr val="bg1"/>
              </a:solidFill>
              <a:latin typeface="Noto Sans S Chinese Light" panose="020B0300000000000000" pitchFamily="34" charset="-122"/>
              <a:ea typeface="Noto Sans S Chinese Light" panose="020B0300000000000000" pitchFamily="34" charset="-122"/>
            </a:endParaRPr>
          </a:p>
        </p:txBody>
      </p:sp>
      <p:sp>
        <p:nvSpPr>
          <p:cNvPr id="16" name="矩形 15">
            <a:extLst>
              <a:ext uri="{FF2B5EF4-FFF2-40B4-BE49-F238E27FC236}">
                <a16:creationId xmlns:a16="http://schemas.microsoft.com/office/drawing/2014/main" id="{D87E1EAE-52DC-45B8-956A-C455523CAA4C}"/>
              </a:ext>
            </a:extLst>
          </p:cNvPr>
          <p:cNvSpPr/>
          <p:nvPr/>
        </p:nvSpPr>
        <p:spPr>
          <a:xfrm>
            <a:off x="1308980" y="415349"/>
            <a:ext cx="32630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200" dirty="0">
                <a:solidFill>
                  <a:srgbClr val="360406"/>
                </a:solidFill>
                <a:latin typeface="Noto Sans S Chinese Light" panose="020B0300000000000000" pitchFamily="34" charset="-122"/>
                <a:ea typeface="Noto Sans S Chinese Light" panose="020B0300000000000000" pitchFamily="34" charset="-122"/>
                <a:sym typeface="+mn-lt"/>
              </a:rPr>
              <a:t>黄诗燕</a:t>
            </a:r>
            <a:endParaRPr lang="zh-CN" altLang="en-US" sz="3200" dirty="0">
              <a:solidFill>
                <a:srgbClr val="360406"/>
              </a:solidFill>
              <a:latin typeface="Noto Sans S Chinese Light" panose="020B0300000000000000" pitchFamily="34" charset="-122"/>
              <a:ea typeface="Noto Sans S Chinese Light" panose="020B0300000000000000" pitchFamily="34" charset="-122"/>
            </a:endParaRPr>
          </a:p>
        </p:txBody>
      </p:sp>
      <p:sp>
        <p:nvSpPr>
          <p:cNvPr id="24" name="文本框 23">
            <a:extLst>
              <a:ext uri="{FF2B5EF4-FFF2-40B4-BE49-F238E27FC236}">
                <a16:creationId xmlns:a16="http://schemas.microsoft.com/office/drawing/2014/main" id="{60C7C5CC-594E-4848-8EB7-25C5B206AC66}"/>
              </a:ext>
            </a:extLst>
          </p:cNvPr>
          <p:cNvSpPr txBox="1"/>
          <p:nvPr/>
        </p:nvSpPr>
        <p:spPr>
          <a:xfrm>
            <a:off x="4788024" y="1203598"/>
            <a:ext cx="4195865" cy="3139321"/>
          </a:xfrm>
          <a:prstGeom prst="rect">
            <a:avLst/>
          </a:prstGeom>
          <a:noFill/>
        </p:spPr>
        <p:txBody>
          <a:bodyPr wrap="square">
            <a:spAutoFit/>
          </a:bodyPr>
          <a:lstStyle/>
          <a:p>
            <a:r>
              <a:rPr lang="zh-CN" altLang="en-US" dirty="0"/>
              <a:t>　　</a:t>
            </a:r>
            <a:r>
              <a:rPr lang="en-US" altLang="zh-CN" dirty="0"/>
              <a:t>2011</a:t>
            </a:r>
            <a:r>
              <a:rPr lang="zh-CN" altLang="en-US" dirty="0"/>
              <a:t>年，在炎陵县这片红色热土上，贫困人口占全县农民的</a:t>
            </a:r>
            <a:r>
              <a:rPr lang="en-US" altLang="zh-CN" dirty="0"/>
              <a:t>19.5%</a:t>
            </a:r>
            <a:r>
              <a:rPr lang="zh-CN" altLang="en-US" dirty="0"/>
              <a:t>。担任县委书记</a:t>
            </a:r>
            <a:r>
              <a:rPr lang="en-US" altLang="zh-CN" dirty="0"/>
              <a:t>8</a:t>
            </a:r>
            <a:r>
              <a:rPr lang="zh-CN" altLang="en-US" dirty="0"/>
              <a:t>年多，黄诗燕带领县委一班人，在革命老区炎陵谱写了一曲全面脱贫的壮丽诗篇。截至目前，</a:t>
            </a:r>
            <a:r>
              <a:rPr lang="en-US" altLang="zh-CN" dirty="0"/>
              <a:t>54</a:t>
            </a:r>
            <a:r>
              <a:rPr lang="zh-CN" altLang="en-US" dirty="0"/>
              <a:t>个贫困村全部脱贫，炎陵县建档立卡户全部清零。</a:t>
            </a:r>
          </a:p>
          <a:p>
            <a:r>
              <a:rPr lang="zh-CN" altLang="en-US" dirty="0"/>
              <a:t>　　脱贫攻坚后的庆功会，黄诗燕却永远也看不到了。</a:t>
            </a:r>
          </a:p>
          <a:p>
            <a:r>
              <a:rPr lang="zh-CN" altLang="en-US" dirty="0"/>
              <a:t>　　</a:t>
            </a:r>
            <a:r>
              <a:rPr lang="en-US" altLang="zh-CN" dirty="0"/>
              <a:t>2019</a:t>
            </a:r>
            <a:r>
              <a:rPr lang="zh-CN" altLang="en-US" dirty="0"/>
              <a:t>年</a:t>
            </a:r>
            <a:r>
              <a:rPr lang="en-US" altLang="zh-CN" dirty="0"/>
              <a:t>11</a:t>
            </a:r>
            <a:r>
              <a:rPr lang="zh-CN" altLang="en-US" dirty="0"/>
              <a:t>月</a:t>
            </a:r>
            <a:r>
              <a:rPr lang="en-US" altLang="zh-CN" dirty="0"/>
              <a:t>29</a:t>
            </a:r>
            <a:r>
              <a:rPr lang="zh-CN" altLang="en-US" dirty="0"/>
              <a:t>日，开完扶贫调度会，黄诗燕突发心脏病，不幸殉职，生命定格在</a:t>
            </a:r>
            <a:r>
              <a:rPr lang="en-US" altLang="zh-CN" dirty="0"/>
              <a:t>56</a:t>
            </a:r>
            <a:r>
              <a:rPr lang="zh-CN" altLang="en-US" dirty="0"/>
              <a:t>岁。</a:t>
            </a:r>
          </a:p>
        </p:txBody>
      </p:sp>
      <p:pic>
        <p:nvPicPr>
          <p:cNvPr id="5" name="图片 4">
            <a:extLst>
              <a:ext uri="{FF2B5EF4-FFF2-40B4-BE49-F238E27FC236}">
                <a16:creationId xmlns:a16="http://schemas.microsoft.com/office/drawing/2014/main" id="{5341861B-4975-4E65-A2AF-3A6C8E35DCFF}"/>
              </a:ext>
            </a:extLst>
          </p:cNvPr>
          <p:cNvPicPr>
            <a:picLocks noChangeAspect="1"/>
          </p:cNvPicPr>
          <p:nvPr/>
        </p:nvPicPr>
        <p:blipFill>
          <a:blip r:embed="rId3"/>
          <a:stretch>
            <a:fillRect/>
          </a:stretch>
        </p:blipFill>
        <p:spPr>
          <a:xfrm>
            <a:off x="683568" y="1347614"/>
            <a:ext cx="3810000" cy="2676525"/>
          </a:xfrm>
          <a:prstGeom prst="rect">
            <a:avLst/>
          </a:prstGeom>
        </p:spPr>
      </p:pic>
    </p:spTree>
    <p:extLst>
      <p:ext uri="{BB962C8B-B14F-4D97-AF65-F5344CB8AC3E}">
        <p14:creationId xmlns:p14="http://schemas.microsoft.com/office/powerpoint/2010/main" val="864228074"/>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par>
                          <p:cTn id="10" fill="hold">
                            <p:stCondLst>
                              <p:cond delay="500"/>
                            </p:stCondLst>
                            <p:childTnLst>
                              <p:par>
                                <p:cTn id="11" presetID="22" presetClass="entr" presetSubtype="4" fill="hold" grpId="0" nodeType="afterEffect">
                                  <p:stCondLst>
                                    <p:cond delay="0"/>
                                  </p:stCondLst>
                                  <p:iterate type="lt">
                                    <p:tmPct val="10000"/>
                                  </p:iterate>
                                  <p:childTnLst>
                                    <p:set>
                                      <p:cBhvr>
                                        <p:cTn id="12" dur="1" fill="hold">
                                          <p:stCondLst>
                                            <p:cond delay="0"/>
                                          </p:stCondLst>
                                        </p:cTn>
                                        <p:tgtEl>
                                          <p:spTgt spid="16"/>
                                        </p:tgtEl>
                                        <p:attrNameLst>
                                          <p:attrName>style.visibility</p:attrName>
                                        </p:attrNameLst>
                                      </p:cBhvr>
                                      <p:to>
                                        <p:strVal val="visible"/>
                                      </p:to>
                                    </p:set>
                                    <p:animEffect transition="in" filter="wipe(down)">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0858E1E-4E35-4216-A5B5-806210B5876D}"/>
              </a:ext>
            </a:extLst>
          </p:cNvPr>
          <p:cNvSpPr/>
          <p:nvPr/>
        </p:nvSpPr>
        <p:spPr>
          <a:xfrm>
            <a:off x="1331639" y="287834"/>
            <a:ext cx="1440161" cy="7658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r>
              <a:rPr lang="zh-CN" altLang="en-US" sz="3200" dirty="0">
                <a:solidFill>
                  <a:schemeClr val="tx1"/>
                </a:solidFill>
                <a:latin typeface="Noto Sans S Chinese Light" panose="020B0300000000000000" pitchFamily="34" charset="-122"/>
                <a:ea typeface="Noto Sans S Chinese Light" panose="020B0300000000000000" pitchFamily="34" charset="-122"/>
              </a:rPr>
              <a:t>黄文秀</a:t>
            </a:r>
          </a:p>
        </p:txBody>
      </p:sp>
      <p:grpSp>
        <p:nvGrpSpPr>
          <p:cNvPr id="4" name="组合 3">
            <a:extLst>
              <a:ext uri="{FF2B5EF4-FFF2-40B4-BE49-F238E27FC236}">
                <a16:creationId xmlns:a16="http://schemas.microsoft.com/office/drawing/2014/main" id="{A0C239B3-27C1-4D50-979B-5A151A1502D4}"/>
              </a:ext>
            </a:extLst>
          </p:cNvPr>
          <p:cNvGrpSpPr/>
          <p:nvPr/>
        </p:nvGrpSpPr>
        <p:grpSpPr>
          <a:xfrm>
            <a:off x="467544" y="354471"/>
            <a:ext cx="864096" cy="632603"/>
            <a:chOff x="1979678" y="4933434"/>
            <a:chExt cx="1022867" cy="703000"/>
          </a:xfrm>
        </p:grpSpPr>
        <p:sp>
          <p:nvSpPr>
            <p:cNvPr id="5" name="椭圆 4">
              <a:extLst>
                <a:ext uri="{FF2B5EF4-FFF2-40B4-BE49-F238E27FC236}">
                  <a16:creationId xmlns:a16="http://schemas.microsoft.com/office/drawing/2014/main" id="{FD0D710D-93AA-44D9-B30F-14BE659B2FC0}"/>
                </a:ext>
              </a:extLst>
            </p:cNvPr>
            <p:cNvSpPr/>
            <p:nvPr/>
          </p:nvSpPr>
          <p:spPr>
            <a:xfrm>
              <a:off x="1979678" y="4933434"/>
              <a:ext cx="768083" cy="703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altLang="zh-CN" sz="1950" dirty="0">
                  <a:solidFill>
                    <a:schemeClr val="bg1"/>
                  </a:solidFill>
                  <a:latin typeface="Noto Sans S Chinese Light" panose="020B0300000000000000" pitchFamily="34" charset="-122"/>
                  <a:ea typeface="Noto Sans S Chinese Light" panose="020B0300000000000000" pitchFamily="34" charset="-122"/>
                </a:rPr>
                <a:t>02</a:t>
              </a:r>
              <a:endParaRPr lang="zh-CN" altLang="en-US" sz="1950" dirty="0">
                <a:solidFill>
                  <a:schemeClr val="bg1"/>
                </a:solidFill>
                <a:latin typeface="Noto Sans S Chinese Light" panose="020B0300000000000000" pitchFamily="34" charset="-122"/>
                <a:ea typeface="Noto Sans S Chinese Light" panose="020B0300000000000000" pitchFamily="34" charset="-122"/>
              </a:endParaRPr>
            </a:p>
          </p:txBody>
        </p:sp>
        <p:sp>
          <p:nvSpPr>
            <p:cNvPr id="6" name="矩形 5">
              <a:extLst>
                <a:ext uri="{FF2B5EF4-FFF2-40B4-BE49-F238E27FC236}">
                  <a16:creationId xmlns:a16="http://schemas.microsoft.com/office/drawing/2014/main" id="{6A586B32-4CD8-4F67-889C-4EAD00A707FE}"/>
                </a:ext>
              </a:extLst>
            </p:cNvPr>
            <p:cNvSpPr/>
            <p:nvPr/>
          </p:nvSpPr>
          <p:spPr>
            <a:xfrm>
              <a:off x="2756237" y="4933434"/>
              <a:ext cx="246308" cy="492443"/>
            </a:xfrm>
            <a:prstGeom prst="rect">
              <a:avLst/>
            </a:prstGeom>
          </p:spPr>
          <p:txBody>
            <a:bodyPr wrap="none">
              <a:spAutoFit/>
            </a:bodyPr>
            <a:lstStyle/>
            <a:p>
              <a:endParaRPr lang="zh-CN" altLang="en-US" sz="1800" dirty="0">
                <a:solidFill>
                  <a:srgbClr val="360406"/>
                </a:solidFill>
                <a:latin typeface="Noto Sans S Chinese Light" panose="020B0300000000000000" pitchFamily="34" charset="-122"/>
                <a:ea typeface="Noto Sans S Chinese Light" panose="020B0300000000000000" pitchFamily="34" charset="-122"/>
              </a:endParaRPr>
            </a:p>
          </p:txBody>
        </p:sp>
      </p:grpSp>
      <p:sp>
        <p:nvSpPr>
          <p:cNvPr id="12" name="矩形 11">
            <a:extLst>
              <a:ext uri="{FF2B5EF4-FFF2-40B4-BE49-F238E27FC236}">
                <a16:creationId xmlns:a16="http://schemas.microsoft.com/office/drawing/2014/main" id="{83D292E1-B778-4D98-BDF3-572BC0CD9C44}"/>
              </a:ext>
            </a:extLst>
          </p:cNvPr>
          <p:cNvSpPr/>
          <p:nvPr/>
        </p:nvSpPr>
        <p:spPr>
          <a:xfrm>
            <a:off x="251520" y="1053710"/>
            <a:ext cx="4278231" cy="3742178"/>
          </a:xfrm>
          <a:prstGeom prst="rect">
            <a:avLst/>
          </a:prstGeom>
        </p:spPr>
        <p:txBody>
          <a:bodyPr wrap="square">
            <a:spAutoFit/>
          </a:bodyPr>
          <a:lstStyle/>
          <a:p>
            <a:pPr>
              <a:lnSpc>
                <a:spcPct val="150000"/>
              </a:lnSpc>
            </a:pPr>
            <a:r>
              <a:rPr lang="zh-CN" altLang="en-US"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黄文秀生前是广西壮族自治区百色市委宣传部干部。</a:t>
            </a:r>
            <a:r>
              <a:rPr lang="en-US" altLang="zh-CN"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2016</a:t>
            </a:r>
            <a:r>
              <a:rPr lang="zh-CN" altLang="en-US"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年硕士研究生毕业后，她自愿回到百色革命老区工作，主动到贫困村担任驻村第一书记。她自觉践行党的宗旨，始终把群众的安危冷暖装在心间，带领群众发展多种产业，为脱贫致富倾注了全部心血和汗水。                            </a:t>
            </a:r>
            <a:r>
              <a:rPr lang="en-US" altLang="zh-CN"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2019</a:t>
            </a:r>
            <a:r>
              <a:rPr lang="zh-CN" altLang="en-US"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年</a:t>
            </a:r>
            <a:r>
              <a:rPr lang="en-US" altLang="zh-CN"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6</a:t>
            </a:r>
            <a:r>
              <a:rPr lang="zh-CN" altLang="en-US"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月</a:t>
            </a:r>
            <a:r>
              <a:rPr lang="en-US" altLang="zh-CN"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17</a:t>
            </a:r>
            <a:r>
              <a:rPr lang="zh-CN" altLang="en-US"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日凌晨，黄文秀同志在突发山洪中不幸遇难，献出了年仅</a:t>
            </a:r>
            <a:r>
              <a:rPr lang="en-US" altLang="zh-CN"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30</a:t>
            </a:r>
            <a:r>
              <a:rPr lang="zh-CN" altLang="en-US"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岁的宝贵生命。黄文秀同志被追授“全国三八红旗手”“全国脱贫攻坚模范”等称号。</a:t>
            </a:r>
          </a:p>
        </p:txBody>
      </p:sp>
      <p:pic>
        <p:nvPicPr>
          <p:cNvPr id="15" name="图片 14">
            <a:extLst>
              <a:ext uri="{FF2B5EF4-FFF2-40B4-BE49-F238E27FC236}">
                <a16:creationId xmlns:a16="http://schemas.microsoft.com/office/drawing/2014/main" id="{0AC3D560-F823-48BA-A3D4-7D3A678E3773}"/>
              </a:ext>
            </a:extLst>
          </p:cNvPr>
          <p:cNvPicPr>
            <a:picLocks noChangeAspect="1"/>
          </p:cNvPicPr>
          <p:nvPr/>
        </p:nvPicPr>
        <p:blipFill>
          <a:blip r:embed="rId3"/>
          <a:stretch>
            <a:fillRect/>
          </a:stretch>
        </p:blipFill>
        <p:spPr>
          <a:xfrm>
            <a:off x="4708046" y="1131589"/>
            <a:ext cx="3994795" cy="3204645"/>
          </a:xfrm>
          <a:prstGeom prst="rect">
            <a:avLst/>
          </a:prstGeom>
        </p:spPr>
      </p:pic>
    </p:spTree>
    <p:extLst>
      <p:ext uri="{BB962C8B-B14F-4D97-AF65-F5344CB8AC3E}">
        <p14:creationId xmlns:p14="http://schemas.microsoft.com/office/powerpoint/2010/main" val="1358467339"/>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750"/>
                                        <p:tgtEl>
                                          <p:spTgt spid="4"/>
                                        </p:tgtEl>
                                      </p:cBhvr>
                                    </p:animEffect>
                                    <p:anim calcmode="lin" valueType="num">
                                      <p:cBhvr>
                                        <p:cTn id="13" dur="750" fill="hold"/>
                                        <p:tgtEl>
                                          <p:spTgt spid="4"/>
                                        </p:tgtEl>
                                        <p:attrNameLst>
                                          <p:attrName>ppt_x</p:attrName>
                                        </p:attrNameLst>
                                      </p:cBhvr>
                                      <p:tavLst>
                                        <p:tav tm="0">
                                          <p:val>
                                            <p:strVal val="#ppt_x"/>
                                          </p:val>
                                        </p:tav>
                                        <p:tav tm="100000">
                                          <p:val>
                                            <p:strVal val="#ppt_x"/>
                                          </p:val>
                                        </p:tav>
                                      </p:tavLst>
                                    </p:anim>
                                    <p:anim calcmode="lin" valueType="num">
                                      <p:cBhvr>
                                        <p:cTn id="14"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FB3326CC-105E-4511-AEAE-1F506C4C7151}"/>
              </a:ext>
            </a:extLst>
          </p:cNvPr>
          <p:cNvPicPr>
            <a:picLocks noChangeAspect="1"/>
          </p:cNvPicPr>
          <p:nvPr/>
        </p:nvPicPr>
        <p:blipFill>
          <a:blip r:embed="rId2"/>
          <a:stretch>
            <a:fillRect/>
          </a:stretch>
        </p:blipFill>
        <p:spPr>
          <a:xfrm>
            <a:off x="28450" y="3799321"/>
            <a:ext cx="9144000" cy="1311904"/>
          </a:xfrm>
          <a:prstGeom prst="rect">
            <a:avLst/>
          </a:prstGeom>
        </p:spPr>
      </p:pic>
      <p:pic>
        <p:nvPicPr>
          <p:cNvPr id="9" name="图片 8">
            <a:extLst>
              <a:ext uri="{FF2B5EF4-FFF2-40B4-BE49-F238E27FC236}">
                <a16:creationId xmlns:a16="http://schemas.microsoft.com/office/drawing/2014/main" id="{D68BE9A7-41FB-44C4-A472-50C00B774FEB}"/>
              </a:ext>
            </a:extLst>
          </p:cNvPr>
          <p:cNvPicPr>
            <a:picLocks noChangeAspect="1"/>
          </p:cNvPicPr>
          <p:nvPr/>
        </p:nvPicPr>
        <p:blipFill rotWithShape="1">
          <a:blip r:embed="rId3"/>
          <a:srcRect b="33209"/>
          <a:stretch/>
        </p:blipFill>
        <p:spPr>
          <a:xfrm>
            <a:off x="1" y="1"/>
            <a:ext cx="4427984" cy="1923678"/>
          </a:xfrm>
          <a:prstGeom prst="rect">
            <a:avLst/>
          </a:prstGeom>
        </p:spPr>
      </p:pic>
      <p:pic>
        <p:nvPicPr>
          <p:cNvPr id="13" name="图片 12">
            <a:extLst>
              <a:ext uri="{FF2B5EF4-FFF2-40B4-BE49-F238E27FC236}">
                <a16:creationId xmlns:a16="http://schemas.microsoft.com/office/drawing/2014/main" id="{535C2018-35F9-487A-BF47-E4D1AEC11D69}"/>
              </a:ext>
            </a:extLst>
          </p:cNvPr>
          <p:cNvPicPr>
            <a:picLocks noChangeAspect="1"/>
          </p:cNvPicPr>
          <p:nvPr/>
        </p:nvPicPr>
        <p:blipFill>
          <a:blip r:embed="rId4"/>
          <a:stretch>
            <a:fillRect/>
          </a:stretch>
        </p:blipFill>
        <p:spPr>
          <a:xfrm>
            <a:off x="0" y="4086635"/>
            <a:ext cx="9144000" cy="1056864"/>
          </a:xfrm>
          <a:prstGeom prst="rect">
            <a:avLst/>
          </a:prstGeom>
        </p:spPr>
      </p:pic>
      <p:pic>
        <p:nvPicPr>
          <p:cNvPr id="24" name="图片 23">
            <a:extLst>
              <a:ext uri="{FF2B5EF4-FFF2-40B4-BE49-F238E27FC236}">
                <a16:creationId xmlns:a16="http://schemas.microsoft.com/office/drawing/2014/main" id="{EFD91B75-90CC-4D63-A227-65B34F6D3BB1}"/>
              </a:ext>
            </a:extLst>
          </p:cNvPr>
          <p:cNvPicPr>
            <a:picLocks noChangeAspect="1"/>
          </p:cNvPicPr>
          <p:nvPr/>
        </p:nvPicPr>
        <p:blipFill>
          <a:blip r:embed="rId5"/>
          <a:stretch>
            <a:fillRect/>
          </a:stretch>
        </p:blipFill>
        <p:spPr>
          <a:xfrm>
            <a:off x="0" y="-32273"/>
            <a:ext cx="2713798" cy="1367127"/>
          </a:xfrm>
          <a:prstGeom prst="rect">
            <a:avLst/>
          </a:prstGeom>
        </p:spPr>
      </p:pic>
      <p:pic>
        <p:nvPicPr>
          <p:cNvPr id="26" name="图片 25">
            <a:extLst>
              <a:ext uri="{FF2B5EF4-FFF2-40B4-BE49-F238E27FC236}">
                <a16:creationId xmlns:a16="http://schemas.microsoft.com/office/drawing/2014/main" id="{8FF954DB-E50D-4407-A817-849532395E58}"/>
              </a:ext>
            </a:extLst>
          </p:cNvPr>
          <p:cNvPicPr>
            <a:picLocks noChangeAspect="1"/>
          </p:cNvPicPr>
          <p:nvPr/>
        </p:nvPicPr>
        <p:blipFill>
          <a:blip r:embed="rId6"/>
          <a:stretch>
            <a:fillRect/>
          </a:stretch>
        </p:blipFill>
        <p:spPr>
          <a:xfrm>
            <a:off x="6015982" y="2321613"/>
            <a:ext cx="3160291" cy="2821886"/>
          </a:xfrm>
          <a:prstGeom prst="rect">
            <a:avLst/>
          </a:prstGeom>
        </p:spPr>
      </p:pic>
      <p:pic>
        <p:nvPicPr>
          <p:cNvPr id="30" name="图片 29">
            <a:extLst>
              <a:ext uri="{FF2B5EF4-FFF2-40B4-BE49-F238E27FC236}">
                <a16:creationId xmlns:a16="http://schemas.microsoft.com/office/drawing/2014/main" id="{89CDD355-5732-46AB-81AF-F09D0A4123CD}"/>
              </a:ext>
            </a:extLst>
          </p:cNvPr>
          <p:cNvPicPr>
            <a:picLocks noChangeAspect="1"/>
          </p:cNvPicPr>
          <p:nvPr/>
        </p:nvPicPr>
        <p:blipFill>
          <a:blip r:embed="rId7"/>
          <a:srcRect/>
          <a:stretch/>
        </p:blipFill>
        <p:spPr>
          <a:xfrm>
            <a:off x="-28450" y="3075806"/>
            <a:ext cx="2005136" cy="2078683"/>
          </a:xfrm>
          <a:prstGeom prst="rect">
            <a:avLst/>
          </a:prstGeom>
        </p:spPr>
      </p:pic>
      <p:pic>
        <p:nvPicPr>
          <p:cNvPr id="40" name="图片 39">
            <a:extLst>
              <a:ext uri="{FF2B5EF4-FFF2-40B4-BE49-F238E27FC236}">
                <a16:creationId xmlns:a16="http://schemas.microsoft.com/office/drawing/2014/main" id="{5D69B71A-8FC5-4477-8CEA-472EF06970DB}"/>
              </a:ext>
            </a:extLst>
          </p:cNvPr>
          <p:cNvPicPr>
            <a:picLocks noChangeAspect="1"/>
          </p:cNvPicPr>
          <p:nvPr/>
        </p:nvPicPr>
        <p:blipFill>
          <a:blip r:embed="rId8"/>
          <a:stretch>
            <a:fillRect/>
          </a:stretch>
        </p:blipFill>
        <p:spPr>
          <a:xfrm flipH="1">
            <a:off x="6876256" y="816369"/>
            <a:ext cx="1080907" cy="748888"/>
          </a:xfrm>
          <a:prstGeom prst="rect">
            <a:avLst/>
          </a:prstGeom>
        </p:spPr>
      </p:pic>
      <p:sp>
        <p:nvSpPr>
          <p:cNvPr id="12" name="矩形 11">
            <a:extLst>
              <a:ext uri="{FF2B5EF4-FFF2-40B4-BE49-F238E27FC236}">
                <a16:creationId xmlns:a16="http://schemas.microsoft.com/office/drawing/2014/main" id="{91F526BD-3C2F-428A-8870-82C43F73DA1C}"/>
              </a:ext>
            </a:extLst>
          </p:cNvPr>
          <p:cNvSpPr/>
          <p:nvPr/>
        </p:nvSpPr>
        <p:spPr>
          <a:xfrm>
            <a:off x="2786896" y="2305615"/>
            <a:ext cx="3570208" cy="1107996"/>
          </a:xfrm>
          <a:prstGeom prst="rect">
            <a:avLst/>
          </a:prstGeom>
        </p:spPr>
        <p:txBody>
          <a:bodyPr wrap="none">
            <a:spAutoFit/>
          </a:bodyPr>
          <a:lstStyle/>
          <a:p>
            <a:pPr algn="ctr"/>
            <a:r>
              <a:rPr lang="zh-CN" altLang="en-US" sz="6600" dirty="0">
                <a:solidFill>
                  <a:srgbClr val="C80000"/>
                </a:solidFill>
                <a:latin typeface="汉仪雅酷黑 75W" panose="020B0804020202020204" pitchFamily="34" charset="-122"/>
                <a:ea typeface="汉仪雅酷黑 75W" panose="020B0804020202020204" pitchFamily="34" charset="-122"/>
                <a:cs typeface="+mn-ea"/>
              </a:rPr>
              <a:t>新冠疫情</a:t>
            </a:r>
          </a:p>
        </p:txBody>
      </p:sp>
      <p:sp>
        <p:nvSpPr>
          <p:cNvPr id="18" name="矩形 17">
            <a:extLst>
              <a:ext uri="{FF2B5EF4-FFF2-40B4-BE49-F238E27FC236}">
                <a16:creationId xmlns:a16="http://schemas.microsoft.com/office/drawing/2014/main" id="{22FE798C-6D51-4EAB-B2E3-8776E681BD30}"/>
              </a:ext>
            </a:extLst>
          </p:cNvPr>
          <p:cNvSpPr/>
          <p:nvPr/>
        </p:nvSpPr>
        <p:spPr>
          <a:xfrm>
            <a:off x="3779912" y="1419622"/>
            <a:ext cx="1608134" cy="507831"/>
          </a:xfrm>
          <a:prstGeom prst="rect">
            <a:avLst/>
          </a:prstGeom>
        </p:spPr>
        <p:txBody>
          <a:bodyPr wrap="none">
            <a:spAutoFit/>
          </a:bodyPr>
          <a:lstStyle/>
          <a:p>
            <a:pPr algn="ctr"/>
            <a:r>
              <a:rPr lang="zh-CN" altLang="en-US" sz="2700" b="1" dirty="0">
                <a:solidFill>
                  <a:srgbClr val="C80000"/>
                </a:solidFill>
                <a:latin typeface="汉仪雅酷黑 75W" panose="020B0804020202020204" pitchFamily="34" charset="-122"/>
                <a:ea typeface="汉仪雅酷黑 75W" panose="020B0804020202020204" pitchFamily="34" charset="-122"/>
              </a:rPr>
              <a:t>第三部分</a:t>
            </a:r>
          </a:p>
        </p:txBody>
      </p:sp>
    </p:spTree>
    <p:extLst>
      <p:ext uri="{BB962C8B-B14F-4D97-AF65-F5344CB8AC3E}">
        <p14:creationId xmlns:p14="http://schemas.microsoft.com/office/powerpoint/2010/main" val="32235682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wind"/>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childTnLst>
                          </p:cTn>
                        </p:par>
                        <p:par>
                          <p:cTn id="22" fill="hold">
                            <p:stCondLst>
                              <p:cond delay="2500"/>
                            </p:stCondLst>
                            <p:childTnLst>
                              <p:par>
                                <p:cTn id="23" presetID="2" presetClass="entr" presetSubtype="4"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par>
                          <p:cTn id="27" fill="hold">
                            <p:stCondLst>
                              <p:cond delay="3000"/>
                            </p:stCondLst>
                            <p:childTnLst>
                              <p:par>
                                <p:cTn id="28" presetID="22" presetClass="entr" presetSubtype="4" fill="hold"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down)">
                                      <p:cBhvr>
                                        <p:cTn id="30" dur="500"/>
                                        <p:tgtEl>
                                          <p:spTgt spid="26"/>
                                        </p:tgtEl>
                                      </p:cBhvr>
                                    </p:animEffect>
                                  </p:childTnLst>
                                </p:cTn>
                              </p:par>
                            </p:childTnLst>
                          </p:cTn>
                        </p:par>
                        <p:par>
                          <p:cTn id="31" fill="hold">
                            <p:stCondLst>
                              <p:cond delay="3500"/>
                            </p:stCondLst>
                            <p:childTnLst>
                              <p:par>
                                <p:cTn id="32" presetID="22" presetClass="entr" presetSubtype="4" fill="hold" nodeType="after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down)">
                                      <p:cBhvr>
                                        <p:cTn id="34" dur="500"/>
                                        <p:tgtEl>
                                          <p:spTgt spid="40"/>
                                        </p:tgtEl>
                                      </p:cBhvr>
                                    </p:animEffect>
                                  </p:childTnLst>
                                </p:cTn>
                              </p:par>
                            </p:childTnLst>
                          </p:cTn>
                        </p:par>
                        <p:par>
                          <p:cTn id="35" fill="hold">
                            <p:stCondLst>
                              <p:cond delay="4000"/>
                            </p:stCondLst>
                            <p:childTnLst>
                              <p:par>
                                <p:cTn id="36" presetID="47" presetClass="entr" presetSubtype="0" fill="hold" grpId="0"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750"/>
                                        <p:tgtEl>
                                          <p:spTgt spid="18"/>
                                        </p:tgtEl>
                                      </p:cBhvr>
                                    </p:animEffect>
                                    <p:anim calcmode="lin" valueType="num">
                                      <p:cBhvr>
                                        <p:cTn id="39" dur="750" fill="hold"/>
                                        <p:tgtEl>
                                          <p:spTgt spid="18"/>
                                        </p:tgtEl>
                                        <p:attrNameLst>
                                          <p:attrName>ppt_x</p:attrName>
                                        </p:attrNameLst>
                                      </p:cBhvr>
                                      <p:tavLst>
                                        <p:tav tm="0">
                                          <p:val>
                                            <p:strVal val="#ppt_x"/>
                                          </p:val>
                                        </p:tav>
                                        <p:tav tm="100000">
                                          <p:val>
                                            <p:strVal val="#ppt_x"/>
                                          </p:val>
                                        </p:tav>
                                      </p:tavLst>
                                    </p:anim>
                                    <p:anim calcmode="lin" valueType="num">
                                      <p:cBhvr>
                                        <p:cTn id="40" dur="750" fill="hold"/>
                                        <p:tgtEl>
                                          <p:spTgt spid="18"/>
                                        </p:tgtEl>
                                        <p:attrNameLst>
                                          <p:attrName>ppt_y</p:attrName>
                                        </p:attrNameLst>
                                      </p:cBhvr>
                                      <p:tavLst>
                                        <p:tav tm="0">
                                          <p:val>
                                            <p:strVal val="#ppt_y-.1"/>
                                          </p:val>
                                        </p:tav>
                                        <p:tav tm="100000">
                                          <p:val>
                                            <p:strVal val="#ppt_y"/>
                                          </p:val>
                                        </p:tav>
                                      </p:tavLst>
                                    </p:anim>
                                  </p:childTnLst>
                                </p:cTn>
                              </p:par>
                              <p:par>
                                <p:cTn id="41" presetID="53" presetClass="entr" presetSubtype="16"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p:cTn id="43" dur="1250" fill="hold"/>
                                        <p:tgtEl>
                                          <p:spTgt spid="12"/>
                                        </p:tgtEl>
                                        <p:attrNameLst>
                                          <p:attrName>ppt_w</p:attrName>
                                        </p:attrNameLst>
                                      </p:cBhvr>
                                      <p:tavLst>
                                        <p:tav tm="0">
                                          <p:val>
                                            <p:fltVal val="0"/>
                                          </p:val>
                                        </p:tav>
                                        <p:tav tm="100000">
                                          <p:val>
                                            <p:strVal val="#ppt_w"/>
                                          </p:val>
                                        </p:tav>
                                      </p:tavLst>
                                    </p:anim>
                                    <p:anim calcmode="lin" valueType="num">
                                      <p:cBhvr>
                                        <p:cTn id="44" dur="1250" fill="hold"/>
                                        <p:tgtEl>
                                          <p:spTgt spid="12"/>
                                        </p:tgtEl>
                                        <p:attrNameLst>
                                          <p:attrName>ppt_h</p:attrName>
                                        </p:attrNameLst>
                                      </p:cBhvr>
                                      <p:tavLst>
                                        <p:tav tm="0">
                                          <p:val>
                                            <p:fltVal val="0"/>
                                          </p:val>
                                        </p:tav>
                                        <p:tav tm="100000">
                                          <p:val>
                                            <p:strVal val="#ppt_h"/>
                                          </p:val>
                                        </p:tav>
                                      </p:tavLst>
                                    </p:anim>
                                    <p:animEffect transition="in" filter="fade">
                                      <p:cBhvr>
                                        <p:cTn id="45" dur="1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BE3A652A-0C37-4AF5-ADF5-963B07257F87}"/>
              </a:ext>
            </a:extLst>
          </p:cNvPr>
          <p:cNvPicPr>
            <a:picLocks noChangeAspect="1"/>
          </p:cNvPicPr>
          <p:nvPr/>
        </p:nvPicPr>
        <p:blipFill>
          <a:blip r:embed="rId3"/>
          <a:stretch>
            <a:fillRect/>
          </a:stretch>
        </p:blipFill>
        <p:spPr>
          <a:xfrm>
            <a:off x="444457" y="1275606"/>
            <a:ext cx="3936581" cy="2955391"/>
          </a:xfrm>
          <a:prstGeom prst="rect">
            <a:avLst/>
          </a:prstGeom>
        </p:spPr>
      </p:pic>
      <p:pic>
        <p:nvPicPr>
          <p:cNvPr id="21" name="图片 20">
            <a:extLst>
              <a:ext uri="{FF2B5EF4-FFF2-40B4-BE49-F238E27FC236}">
                <a16:creationId xmlns:a16="http://schemas.microsoft.com/office/drawing/2014/main" id="{57C5001F-E4B3-48FC-B623-D764E5B48EB4}"/>
              </a:ext>
            </a:extLst>
          </p:cNvPr>
          <p:cNvPicPr>
            <a:picLocks noChangeAspect="1"/>
          </p:cNvPicPr>
          <p:nvPr/>
        </p:nvPicPr>
        <p:blipFill>
          <a:blip r:embed="rId4"/>
          <a:stretch>
            <a:fillRect/>
          </a:stretch>
        </p:blipFill>
        <p:spPr>
          <a:xfrm>
            <a:off x="4572000" y="1275606"/>
            <a:ext cx="4206909" cy="2955391"/>
          </a:xfrm>
          <a:prstGeom prst="rect">
            <a:avLst/>
          </a:prstGeom>
        </p:spPr>
      </p:pic>
      <p:sp>
        <p:nvSpPr>
          <p:cNvPr id="22" name="文本框 21">
            <a:extLst>
              <a:ext uri="{FF2B5EF4-FFF2-40B4-BE49-F238E27FC236}">
                <a16:creationId xmlns:a16="http://schemas.microsoft.com/office/drawing/2014/main" id="{139641B0-155F-4673-960A-D7A5CD9AAE4A}"/>
              </a:ext>
            </a:extLst>
          </p:cNvPr>
          <p:cNvSpPr txBox="1"/>
          <p:nvPr/>
        </p:nvSpPr>
        <p:spPr>
          <a:xfrm>
            <a:off x="2843808" y="555526"/>
            <a:ext cx="3262432" cy="461665"/>
          </a:xfrm>
          <a:prstGeom prst="rect">
            <a:avLst/>
          </a:prstGeom>
          <a:noFill/>
        </p:spPr>
        <p:txBody>
          <a:bodyPr wrap="none" rtlCol="0">
            <a:spAutoFit/>
          </a:bodyPr>
          <a:lstStyle/>
          <a:p>
            <a:r>
              <a:rPr lang="zh-CN" altLang="en-US" sz="2400" dirty="0"/>
              <a:t>致敬每一位医护人员！</a:t>
            </a:r>
          </a:p>
        </p:txBody>
      </p:sp>
    </p:spTree>
    <p:extLst>
      <p:ext uri="{BB962C8B-B14F-4D97-AF65-F5344CB8AC3E}">
        <p14:creationId xmlns:p14="http://schemas.microsoft.com/office/powerpoint/2010/main" val="10598227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a:extLst>
              <a:ext uri="{FF2B5EF4-FFF2-40B4-BE49-F238E27FC236}">
                <a16:creationId xmlns:a16="http://schemas.microsoft.com/office/drawing/2014/main" id="{403E1108-94EF-4574-B9D6-2DF6CD73105A}"/>
              </a:ext>
            </a:extLst>
          </p:cNvPr>
          <p:cNvSpPr txBox="1">
            <a:spLocks/>
          </p:cNvSpPr>
          <p:nvPr/>
        </p:nvSpPr>
        <p:spPr>
          <a:xfrm>
            <a:off x="1259632" y="411510"/>
            <a:ext cx="1512168" cy="4215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latin typeface="汉仪雅酷黑 75W" panose="020B0804020202020204" pitchFamily="34" charset="-122"/>
                <a:ea typeface="汉仪雅酷黑 75W" panose="020B0804020202020204" pitchFamily="34" charset="-122"/>
                <a:cs typeface="+mn-ea"/>
              </a:rPr>
              <a:t>钟南山</a:t>
            </a:r>
          </a:p>
        </p:txBody>
      </p:sp>
      <p:sp>
        <p:nvSpPr>
          <p:cNvPr id="7" name="椭圆 6">
            <a:extLst>
              <a:ext uri="{FF2B5EF4-FFF2-40B4-BE49-F238E27FC236}">
                <a16:creationId xmlns:a16="http://schemas.microsoft.com/office/drawing/2014/main" id="{9D6F486B-401D-4CFF-B290-25F6ADE14E94}"/>
              </a:ext>
            </a:extLst>
          </p:cNvPr>
          <p:cNvSpPr/>
          <p:nvPr/>
        </p:nvSpPr>
        <p:spPr>
          <a:xfrm>
            <a:off x="539552" y="401017"/>
            <a:ext cx="432048" cy="4320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Noto Sans S Chinese Light" panose="020B0300000000000000" pitchFamily="34" charset="-122"/>
                <a:ea typeface="Noto Sans S Chinese Light" panose="020B0300000000000000" pitchFamily="34" charset="-122"/>
              </a:rPr>
              <a:t>1</a:t>
            </a:r>
            <a:endParaRPr lang="zh-CN" altLang="en-US" sz="2000" dirty="0">
              <a:latin typeface="Noto Sans S Chinese Light" panose="020B0300000000000000" pitchFamily="34" charset="-122"/>
              <a:ea typeface="Noto Sans S Chinese Light" panose="020B0300000000000000" pitchFamily="34" charset="-122"/>
            </a:endParaRPr>
          </a:p>
        </p:txBody>
      </p:sp>
    </p:spTree>
    <p:extLst>
      <p:ext uri="{BB962C8B-B14F-4D97-AF65-F5344CB8AC3E}">
        <p14:creationId xmlns:p14="http://schemas.microsoft.com/office/powerpoint/2010/main" val="42654892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a:extLst>
              <a:ext uri="{FF2B5EF4-FFF2-40B4-BE49-F238E27FC236}">
                <a16:creationId xmlns:a16="http://schemas.microsoft.com/office/drawing/2014/main" id="{403E1108-94EF-4574-B9D6-2DF6CD73105A}"/>
              </a:ext>
            </a:extLst>
          </p:cNvPr>
          <p:cNvSpPr txBox="1">
            <a:spLocks/>
          </p:cNvSpPr>
          <p:nvPr/>
        </p:nvSpPr>
        <p:spPr>
          <a:xfrm>
            <a:off x="755576" y="243006"/>
            <a:ext cx="8229600" cy="4215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rgbClr val="C80000"/>
                </a:solidFill>
                <a:latin typeface="汉仪雅酷黑 75W" panose="020B0804020202020204" pitchFamily="34" charset="-122"/>
                <a:ea typeface="汉仪雅酷黑 75W" panose="020B0804020202020204" pitchFamily="34" charset="-122"/>
                <a:cs typeface="+mn-ea"/>
              </a:rPr>
              <a:t>共产党的权利和义务</a:t>
            </a:r>
          </a:p>
        </p:txBody>
      </p:sp>
      <p:grpSp>
        <p:nvGrpSpPr>
          <p:cNvPr id="3" name="组合 2">
            <a:extLst>
              <a:ext uri="{FF2B5EF4-FFF2-40B4-BE49-F238E27FC236}">
                <a16:creationId xmlns:a16="http://schemas.microsoft.com/office/drawing/2014/main" id="{24A8C191-E994-46B9-B96E-9624C4F8FF34}"/>
              </a:ext>
            </a:extLst>
          </p:cNvPr>
          <p:cNvGrpSpPr/>
          <p:nvPr/>
        </p:nvGrpSpPr>
        <p:grpSpPr>
          <a:xfrm>
            <a:off x="701546" y="1097602"/>
            <a:ext cx="3870454" cy="1627569"/>
            <a:chOff x="750606" y="1462672"/>
            <a:chExt cx="3870454" cy="1627569"/>
          </a:xfrm>
        </p:grpSpPr>
        <p:sp>
          <p:nvSpPr>
            <p:cNvPr id="4" name="Subtitle 2">
              <a:extLst>
                <a:ext uri="{FF2B5EF4-FFF2-40B4-BE49-F238E27FC236}">
                  <a16:creationId xmlns:a16="http://schemas.microsoft.com/office/drawing/2014/main" id="{86AA63CF-F2E6-46FC-9049-0AD1654D2238}"/>
                </a:ext>
              </a:extLst>
            </p:cNvPr>
            <p:cNvSpPr txBox="1">
              <a:spLocks/>
            </p:cNvSpPr>
            <p:nvPr/>
          </p:nvSpPr>
          <p:spPr>
            <a:xfrm>
              <a:off x="755576" y="1995686"/>
              <a:ext cx="3865484" cy="1094555"/>
            </a:xfrm>
            <a:prstGeom prst="rect">
              <a:avLst/>
            </a:prstGeom>
          </p:spPr>
          <p:txBody>
            <a:bodyPr vert="horz" wrap="square" lIns="81559" tIns="40779" rIns="81559" bIns="4077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zh-CN" altLang="en-US" sz="1400" dirty="0">
                  <a:solidFill>
                    <a:srgbClr val="360406"/>
                  </a:solidFill>
                  <a:latin typeface="Noto Sans S Chinese Light" panose="020B0300000000000000" pitchFamily="34" charset="-122"/>
                  <a:ea typeface="Noto Sans S Chinese Light" panose="020B0300000000000000" pitchFamily="34" charset="-122"/>
                  <a:cs typeface="+mn-ea"/>
                  <a:sym typeface="+mn-lt"/>
                </a:rPr>
                <a:t>在党的会议上有根据地批评党的任何组织和任何党员，向党负责地揭发、检举党的任何组织和任何党员违法乱纪的事实，要求处分违法乱纪的党员，要求罢免或撤换不称职的干部</a:t>
              </a:r>
            </a:p>
          </p:txBody>
        </p:sp>
        <p:sp>
          <p:nvSpPr>
            <p:cNvPr id="5" name="TextBox 78">
              <a:extLst>
                <a:ext uri="{FF2B5EF4-FFF2-40B4-BE49-F238E27FC236}">
                  <a16:creationId xmlns:a16="http://schemas.microsoft.com/office/drawing/2014/main" id="{1D78D47B-7213-48A6-B6A7-3B046F291991}"/>
                </a:ext>
              </a:extLst>
            </p:cNvPr>
            <p:cNvSpPr txBox="1"/>
            <p:nvPr/>
          </p:nvSpPr>
          <p:spPr>
            <a:xfrm>
              <a:off x="750606" y="1547905"/>
              <a:ext cx="1107996" cy="461665"/>
            </a:xfrm>
            <a:prstGeom prst="rect">
              <a:avLst/>
            </a:prstGeom>
            <a:noFill/>
          </p:spPr>
          <p:txBody>
            <a:bodyPr wrap="none" rtlCol="0" anchor="ctr" anchorCtr="0">
              <a:spAutoFit/>
            </a:bodyPr>
            <a:lstStyle/>
            <a:p>
              <a:r>
                <a:rPr lang="zh-CN" altLang="en-US" sz="2400" b="1" dirty="0">
                  <a:solidFill>
                    <a:schemeClr val="accent1"/>
                  </a:solidFill>
                  <a:latin typeface="Poppins SemiBold" charset="0"/>
                  <a:ea typeface="Poppins SemiBold" charset="0"/>
                  <a:cs typeface="Poppins SemiBold" charset="0"/>
                </a:rPr>
                <a:t>第三点</a:t>
              </a:r>
              <a:endParaRPr lang="en-US" sz="2400" b="1" dirty="0">
                <a:solidFill>
                  <a:schemeClr val="accent1"/>
                </a:solidFill>
                <a:latin typeface="Poppins SemiBold" charset="0"/>
                <a:ea typeface="Poppins SemiBold" charset="0"/>
                <a:cs typeface="Poppins SemiBold" charset="0"/>
              </a:endParaRPr>
            </a:p>
          </p:txBody>
        </p:sp>
        <p:grpSp>
          <p:nvGrpSpPr>
            <p:cNvPr id="6" name="组合 5">
              <a:extLst>
                <a:ext uri="{FF2B5EF4-FFF2-40B4-BE49-F238E27FC236}">
                  <a16:creationId xmlns:a16="http://schemas.microsoft.com/office/drawing/2014/main" id="{EE613B7C-064B-4EC9-9E8B-81C140BB613C}"/>
                </a:ext>
              </a:extLst>
            </p:cNvPr>
            <p:cNvGrpSpPr/>
            <p:nvPr/>
          </p:nvGrpSpPr>
          <p:grpSpPr>
            <a:xfrm>
              <a:off x="3779912" y="1462672"/>
              <a:ext cx="412293" cy="430301"/>
              <a:chOff x="4352872" y="1995631"/>
              <a:chExt cx="412293" cy="430301"/>
            </a:xfrm>
          </p:grpSpPr>
          <p:sp>
            <p:nvSpPr>
              <p:cNvPr id="7" name="Hexagon 82">
                <a:extLst>
                  <a:ext uri="{FF2B5EF4-FFF2-40B4-BE49-F238E27FC236}">
                    <a16:creationId xmlns:a16="http://schemas.microsoft.com/office/drawing/2014/main" id="{2FF07D3C-1E4F-482C-B1A1-DF9B4E217818}"/>
                  </a:ext>
                </a:extLst>
              </p:cNvPr>
              <p:cNvSpPr/>
              <p:nvPr/>
            </p:nvSpPr>
            <p:spPr>
              <a:xfrm rot="5400000">
                <a:off x="4341113" y="2025307"/>
                <a:ext cx="430301" cy="37094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6" dirty="0">
                  <a:ea typeface="Noto Sans S Chinese Light" panose="020B0300000000000000" pitchFamily="34" charset="-122"/>
                </a:endParaRPr>
              </a:p>
            </p:txBody>
          </p:sp>
          <p:sp>
            <p:nvSpPr>
              <p:cNvPr id="8" name="文本框 7">
                <a:extLst>
                  <a:ext uri="{FF2B5EF4-FFF2-40B4-BE49-F238E27FC236}">
                    <a16:creationId xmlns:a16="http://schemas.microsoft.com/office/drawing/2014/main" id="{45EAD370-2AEA-4CFB-8A9C-C340AE635675}"/>
                  </a:ext>
                </a:extLst>
              </p:cNvPr>
              <p:cNvSpPr txBox="1"/>
              <p:nvPr/>
            </p:nvSpPr>
            <p:spPr>
              <a:xfrm>
                <a:off x="4352872" y="2041355"/>
                <a:ext cx="412293" cy="338554"/>
              </a:xfrm>
              <a:prstGeom prst="rect">
                <a:avLst/>
              </a:prstGeom>
              <a:noFill/>
            </p:spPr>
            <p:txBody>
              <a:bodyPr wrap="none" rtlCol="0">
                <a:spAutoFit/>
              </a:bodyPr>
              <a:lstStyle/>
              <a:p>
                <a:pPr algn="ctr"/>
                <a:r>
                  <a:rPr lang="en-US" altLang="zh-CN" sz="1600" dirty="0">
                    <a:solidFill>
                      <a:schemeClr val="bg1"/>
                    </a:solidFill>
                    <a:latin typeface="Arial" panose="020B0604020202020204" pitchFamily="34" charset="0"/>
                    <a:ea typeface="Noto Sans S Chinese Light" panose="020B0300000000000000" pitchFamily="34" charset="-122"/>
                    <a:cs typeface="Arial" panose="020B0604020202020204" pitchFamily="34" charset="0"/>
                  </a:rPr>
                  <a:t>03</a:t>
                </a:r>
                <a:endParaRPr lang="zh-CN" altLang="en-US" sz="1600" dirty="0">
                  <a:solidFill>
                    <a:schemeClr val="bg1"/>
                  </a:solidFill>
                  <a:latin typeface="Arial" panose="020B0604020202020204" pitchFamily="34" charset="0"/>
                  <a:ea typeface="Noto Sans S Chinese Light" panose="020B0300000000000000" pitchFamily="34" charset="-122"/>
                  <a:cs typeface="Arial" panose="020B0604020202020204" pitchFamily="34" charset="0"/>
                </a:endParaRPr>
              </a:p>
            </p:txBody>
          </p:sp>
        </p:grpSp>
      </p:grpSp>
      <p:grpSp>
        <p:nvGrpSpPr>
          <p:cNvPr id="9" name="组合 8">
            <a:extLst>
              <a:ext uri="{FF2B5EF4-FFF2-40B4-BE49-F238E27FC236}">
                <a16:creationId xmlns:a16="http://schemas.microsoft.com/office/drawing/2014/main" id="{9426F0D3-ECF3-4FE6-8328-9D852BEE3571}"/>
              </a:ext>
            </a:extLst>
          </p:cNvPr>
          <p:cNvGrpSpPr/>
          <p:nvPr/>
        </p:nvGrpSpPr>
        <p:grpSpPr>
          <a:xfrm>
            <a:off x="750606" y="3012004"/>
            <a:ext cx="3634261" cy="1672251"/>
            <a:chOff x="750606" y="3012004"/>
            <a:chExt cx="3634261" cy="1672251"/>
          </a:xfrm>
        </p:grpSpPr>
        <p:grpSp>
          <p:nvGrpSpPr>
            <p:cNvPr id="10" name="组合 9">
              <a:extLst>
                <a:ext uri="{FF2B5EF4-FFF2-40B4-BE49-F238E27FC236}">
                  <a16:creationId xmlns:a16="http://schemas.microsoft.com/office/drawing/2014/main" id="{6FF4C693-078F-4B22-B6D0-95FC17A5EDCA}"/>
                </a:ext>
              </a:extLst>
            </p:cNvPr>
            <p:cNvGrpSpPr/>
            <p:nvPr/>
          </p:nvGrpSpPr>
          <p:grpSpPr>
            <a:xfrm>
              <a:off x="3779912" y="3012004"/>
              <a:ext cx="412293" cy="430301"/>
              <a:chOff x="4352872" y="1995631"/>
              <a:chExt cx="412293" cy="430301"/>
            </a:xfrm>
          </p:grpSpPr>
          <p:sp>
            <p:nvSpPr>
              <p:cNvPr id="13" name="Hexagon 82">
                <a:extLst>
                  <a:ext uri="{FF2B5EF4-FFF2-40B4-BE49-F238E27FC236}">
                    <a16:creationId xmlns:a16="http://schemas.microsoft.com/office/drawing/2014/main" id="{0AE534D9-44F8-4DEE-AB98-8E049AF6C61C}"/>
                  </a:ext>
                </a:extLst>
              </p:cNvPr>
              <p:cNvSpPr/>
              <p:nvPr/>
            </p:nvSpPr>
            <p:spPr>
              <a:xfrm rot="5400000">
                <a:off x="4341113" y="2025307"/>
                <a:ext cx="430301" cy="37094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6" dirty="0">
                  <a:ea typeface="Noto Sans S Chinese Light" panose="020B0300000000000000" pitchFamily="34" charset="-122"/>
                </a:endParaRPr>
              </a:p>
            </p:txBody>
          </p:sp>
          <p:sp>
            <p:nvSpPr>
              <p:cNvPr id="15" name="文本框 14">
                <a:extLst>
                  <a:ext uri="{FF2B5EF4-FFF2-40B4-BE49-F238E27FC236}">
                    <a16:creationId xmlns:a16="http://schemas.microsoft.com/office/drawing/2014/main" id="{F99FCAF9-B205-4E00-B5E2-4C3DC3812C62}"/>
                  </a:ext>
                </a:extLst>
              </p:cNvPr>
              <p:cNvSpPr txBox="1"/>
              <p:nvPr/>
            </p:nvSpPr>
            <p:spPr>
              <a:xfrm>
                <a:off x="4352872" y="2041355"/>
                <a:ext cx="412293" cy="338554"/>
              </a:xfrm>
              <a:prstGeom prst="rect">
                <a:avLst/>
              </a:prstGeom>
              <a:noFill/>
            </p:spPr>
            <p:txBody>
              <a:bodyPr wrap="none" rtlCol="0">
                <a:spAutoFit/>
              </a:bodyPr>
              <a:lstStyle/>
              <a:p>
                <a:pPr algn="ctr"/>
                <a:r>
                  <a:rPr lang="en-US" altLang="zh-CN" sz="1600" dirty="0">
                    <a:solidFill>
                      <a:schemeClr val="bg1"/>
                    </a:solidFill>
                    <a:latin typeface="Arial" panose="020B0604020202020204" pitchFamily="34" charset="0"/>
                    <a:ea typeface="Noto Sans S Chinese Light" panose="020B0300000000000000" pitchFamily="34" charset="-122"/>
                    <a:cs typeface="Arial" panose="020B0604020202020204" pitchFamily="34" charset="0"/>
                  </a:rPr>
                  <a:t>04</a:t>
                </a:r>
                <a:endParaRPr lang="zh-CN" altLang="en-US" sz="1600" dirty="0">
                  <a:solidFill>
                    <a:schemeClr val="bg1"/>
                  </a:solidFill>
                  <a:latin typeface="Arial" panose="020B0604020202020204" pitchFamily="34" charset="0"/>
                  <a:ea typeface="Noto Sans S Chinese Light" panose="020B0300000000000000" pitchFamily="34" charset="-122"/>
                  <a:cs typeface="Arial" panose="020B0604020202020204" pitchFamily="34" charset="0"/>
                </a:endParaRPr>
              </a:p>
            </p:txBody>
          </p:sp>
        </p:grpSp>
        <p:sp>
          <p:nvSpPr>
            <p:cNvPr id="11" name="Subtitle 2">
              <a:extLst>
                <a:ext uri="{FF2B5EF4-FFF2-40B4-BE49-F238E27FC236}">
                  <a16:creationId xmlns:a16="http://schemas.microsoft.com/office/drawing/2014/main" id="{F91A557B-F69D-44E5-BC25-7FAAD9B566F6}"/>
                </a:ext>
              </a:extLst>
            </p:cNvPr>
            <p:cNvSpPr txBox="1">
              <a:spLocks/>
            </p:cNvSpPr>
            <p:nvPr/>
          </p:nvSpPr>
          <p:spPr>
            <a:xfrm>
              <a:off x="770190" y="3445045"/>
              <a:ext cx="3614677" cy="1239210"/>
            </a:xfrm>
            <a:prstGeom prst="rect">
              <a:avLst/>
            </a:prstGeom>
          </p:spPr>
          <p:txBody>
            <a:bodyPr vert="horz" wrap="square" lIns="81559" tIns="40779" rIns="81559" bIns="4077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zh-CN" altLang="en-US" sz="1600" dirty="0">
                  <a:solidFill>
                    <a:srgbClr val="360406"/>
                  </a:solidFill>
                  <a:latin typeface="Noto Sans S Chinese Light" panose="020B0300000000000000" pitchFamily="34" charset="-122"/>
                  <a:ea typeface="Noto Sans S Chinese Light" panose="020B0300000000000000" pitchFamily="34" charset="-122"/>
                  <a:cs typeface="+mn-ea"/>
                  <a:sym typeface="+mn-lt"/>
                </a:rPr>
                <a:t>对党的决议和政策如有不同意见，在坚决执行的前提下，可以声明保留，并且可以把自己的意见向党的上级组织直至中央提出 </a:t>
              </a:r>
            </a:p>
          </p:txBody>
        </p:sp>
        <p:sp>
          <p:nvSpPr>
            <p:cNvPr id="12" name="TextBox 78">
              <a:extLst>
                <a:ext uri="{FF2B5EF4-FFF2-40B4-BE49-F238E27FC236}">
                  <a16:creationId xmlns:a16="http://schemas.microsoft.com/office/drawing/2014/main" id="{EFE02954-05AD-42F4-B0A5-6835B8D2DE1C}"/>
                </a:ext>
              </a:extLst>
            </p:cNvPr>
            <p:cNvSpPr txBox="1"/>
            <p:nvPr/>
          </p:nvSpPr>
          <p:spPr>
            <a:xfrm>
              <a:off x="750606" y="3012004"/>
              <a:ext cx="1107996" cy="461665"/>
            </a:xfrm>
            <a:prstGeom prst="rect">
              <a:avLst/>
            </a:prstGeom>
            <a:noFill/>
          </p:spPr>
          <p:txBody>
            <a:bodyPr wrap="none" rtlCol="0" anchor="ctr" anchorCtr="0">
              <a:spAutoFit/>
            </a:bodyPr>
            <a:lstStyle/>
            <a:p>
              <a:r>
                <a:rPr lang="zh-CN" altLang="en-US" sz="2400" b="1" dirty="0">
                  <a:solidFill>
                    <a:schemeClr val="accent1"/>
                  </a:solidFill>
                  <a:latin typeface="Poppins SemiBold" charset="0"/>
                  <a:ea typeface="Poppins SemiBold" charset="0"/>
                  <a:cs typeface="Poppins SemiBold" charset="0"/>
                </a:rPr>
                <a:t>第四点</a:t>
              </a:r>
              <a:endParaRPr lang="en-US" altLang="zh-CN" sz="2400" b="1" dirty="0">
                <a:solidFill>
                  <a:schemeClr val="accent1"/>
                </a:solidFill>
                <a:latin typeface="Poppins SemiBold" charset="0"/>
                <a:ea typeface="Poppins SemiBold" charset="0"/>
                <a:cs typeface="Poppins SemiBold" charset="0"/>
              </a:endParaRPr>
            </a:p>
          </p:txBody>
        </p:sp>
      </p:grpSp>
      <p:pic>
        <p:nvPicPr>
          <p:cNvPr id="16" name="图片 15">
            <a:extLst>
              <a:ext uri="{FF2B5EF4-FFF2-40B4-BE49-F238E27FC236}">
                <a16:creationId xmlns:a16="http://schemas.microsoft.com/office/drawing/2014/main" id="{8C36AC10-16E0-4D6A-AD68-F144F1D3C101}"/>
              </a:ext>
            </a:extLst>
          </p:cNvPr>
          <p:cNvPicPr>
            <a:picLocks noChangeAspect="1"/>
          </p:cNvPicPr>
          <p:nvPr/>
        </p:nvPicPr>
        <p:blipFill>
          <a:blip r:embed="rId3"/>
          <a:srcRect/>
          <a:stretch/>
        </p:blipFill>
        <p:spPr>
          <a:xfrm flipH="1">
            <a:off x="3317212" y="459245"/>
            <a:ext cx="5842809" cy="4668861"/>
          </a:xfrm>
          <a:prstGeom prst="rect">
            <a:avLst/>
          </a:prstGeom>
        </p:spPr>
      </p:pic>
    </p:spTree>
    <p:extLst>
      <p:ext uri="{BB962C8B-B14F-4D97-AF65-F5344CB8AC3E}">
        <p14:creationId xmlns:p14="http://schemas.microsoft.com/office/powerpoint/2010/main" val="2372168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a:extLst>
              <a:ext uri="{FF2B5EF4-FFF2-40B4-BE49-F238E27FC236}">
                <a16:creationId xmlns:a16="http://schemas.microsoft.com/office/drawing/2014/main" id="{403E1108-94EF-4574-B9D6-2DF6CD73105A}"/>
              </a:ext>
            </a:extLst>
          </p:cNvPr>
          <p:cNvSpPr txBox="1">
            <a:spLocks/>
          </p:cNvSpPr>
          <p:nvPr/>
        </p:nvSpPr>
        <p:spPr>
          <a:xfrm>
            <a:off x="755576" y="243006"/>
            <a:ext cx="8229600" cy="4215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rgbClr val="C80000"/>
                </a:solidFill>
                <a:latin typeface="汉仪雅酷黑 75W" panose="020B0804020202020204" pitchFamily="34" charset="-122"/>
                <a:ea typeface="汉仪雅酷黑 75W" panose="020B0804020202020204" pitchFamily="34" charset="-122"/>
                <a:cs typeface="+mn-ea"/>
              </a:rPr>
              <a:t>共产党的权利和义务</a:t>
            </a:r>
          </a:p>
        </p:txBody>
      </p:sp>
      <p:sp>
        <p:nvSpPr>
          <p:cNvPr id="16" name="椭圆 15">
            <a:extLst>
              <a:ext uri="{FF2B5EF4-FFF2-40B4-BE49-F238E27FC236}">
                <a16:creationId xmlns:a16="http://schemas.microsoft.com/office/drawing/2014/main" id="{34FA2ECC-AA62-4BB7-8287-827655C74CA6}"/>
              </a:ext>
            </a:extLst>
          </p:cNvPr>
          <p:cNvSpPr/>
          <p:nvPr/>
        </p:nvSpPr>
        <p:spPr>
          <a:xfrm>
            <a:off x="1331640" y="1495671"/>
            <a:ext cx="432048" cy="4320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Noto Sans S Chinese Light" panose="020B0300000000000000" pitchFamily="34" charset="-122"/>
                <a:ea typeface="Noto Sans S Chinese Light" panose="020B0300000000000000" pitchFamily="34" charset="-122"/>
              </a:rPr>
              <a:t>5</a:t>
            </a:r>
            <a:endParaRPr lang="zh-CN" altLang="en-US" sz="2000" dirty="0">
              <a:latin typeface="Noto Sans S Chinese Light" panose="020B0300000000000000" pitchFamily="34" charset="-122"/>
              <a:ea typeface="Noto Sans S Chinese Light" panose="020B0300000000000000" pitchFamily="34" charset="-122"/>
            </a:endParaRPr>
          </a:p>
        </p:txBody>
      </p:sp>
      <p:sp>
        <p:nvSpPr>
          <p:cNvPr id="17" name="椭圆 16">
            <a:extLst>
              <a:ext uri="{FF2B5EF4-FFF2-40B4-BE49-F238E27FC236}">
                <a16:creationId xmlns:a16="http://schemas.microsoft.com/office/drawing/2014/main" id="{EA6BB9D1-9C39-4AB2-BEDD-658CCC249817}"/>
              </a:ext>
            </a:extLst>
          </p:cNvPr>
          <p:cNvSpPr/>
          <p:nvPr/>
        </p:nvSpPr>
        <p:spPr>
          <a:xfrm>
            <a:off x="1331640" y="2276306"/>
            <a:ext cx="432048" cy="4320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Noto Sans S Chinese Light" panose="020B0300000000000000" pitchFamily="34" charset="-122"/>
                <a:ea typeface="Noto Sans S Chinese Light" panose="020B0300000000000000" pitchFamily="34" charset="-122"/>
              </a:rPr>
              <a:t>6</a:t>
            </a:r>
            <a:endParaRPr lang="zh-CN" altLang="en-US" sz="2000" dirty="0">
              <a:latin typeface="Noto Sans S Chinese Light" panose="020B0300000000000000" pitchFamily="34" charset="-122"/>
              <a:ea typeface="Noto Sans S Chinese Light" panose="020B0300000000000000" pitchFamily="34" charset="-122"/>
            </a:endParaRPr>
          </a:p>
        </p:txBody>
      </p:sp>
      <p:sp>
        <p:nvSpPr>
          <p:cNvPr id="18" name="椭圆 17">
            <a:extLst>
              <a:ext uri="{FF2B5EF4-FFF2-40B4-BE49-F238E27FC236}">
                <a16:creationId xmlns:a16="http://schemas.microsoft.com/office/drawing/2014/main" id="{564DF7D2-6599-4643-8696-D5AA2414D525}"/>
              </a:ext>
            </a:extLst>
          </p:cNvPr>
          <p:cNvSpPr/>
          <p:nvPr/>
        </p:nvSpPr>
        <p:spPr>
          <a:xfrm>
            <a:off x="1331640" y="3056941"/>
            <a:ext cx="432048" cy="4320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Noto Sans S Chinese Light" panose="020B0300000000000000" pitchFamily="34" charset="-122"/>
                <a:ea typeface="Noto Sans S Chinese Light" panose="020B0300000000000000" pitchFamily="34" charset="-122"/>
              </a:rPr>
              <a:t>7</a:t>
            </a:r>
            <a:endParaRPr lang="zh-CN" altLang="en-US" sz="2000" dirty="0">
              <a:latin typeface="Noto Sans S Chinese Light" panose="020B0300000000000000" pitchFamily="34" charset="-122"/>
              <a:ea typeface="Noto Sans S Chinese Light" panose="020B0300000000000000" pitchFamily="34" charset="-122"/>
            </a:endParaRPr>
          </a:p>
        </p:txBody>
      </p:sp>
      <p:sp>
        <p:nvSpPr>
          <p:cNvPr id="19" name="椭圆 18">
            <a:extLst>
              <a:ext uri="{FF2B5EF4-FFF2-40B4-BE49-F238E27FC236}">
                <a16:creationId xmlns:a16="http://schemas.microsoft.com/office/drawing/2014/main" id="{B918E6FD-6C02-4DDC-B101-99DD0E5504DE}"/>
              </a:ext>
            </a:extLst>
          </p:cNvPr>
          <p:cNvSpPr/>
          <p:nvPr/>
        </p:nvSpPr>
        <p:spPr>
          <a:xfrm>
            <a:off x="1331640" y="3837575"/>
            <a:ext cx="432048" cy="4320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Noto Sans S Chinese Light" panose="020B0300000000000000" pitchFamily="34" charset="-122"/>
                <a:ea typeface="Noto Sans S Chinese Light" panose="020B0300000000000000" pitchFamily="34" charset="-122"/>
              </a:rPr>
              <a:t>8</a:t>
            </a:r>
            <a:endParaRPr lang="zh-CN" altLang="en-US" sz="2000" dirty="0">
              <a:latin typeface="Noto Sans S Chinese Light" panose="020B0300000000000000" pitchFamily="34" charset="-122"/>
              <a:ea typeface="Noto Sans S Chinese Light" panose="020B0300000000000000" pitchFamily="34" charset="-122"/>
            </a:endParaRPr>
          </a:p>
        </p:txBody>
      </p:sp>
      <p:sp>
        <p:nvSpPr>
          <p:cNvPr id="20" name="弧形 19">
            <a:extLst>
              <a:ext uri="{FF2B5EF4-FFF2-40B4-BE49-F238E27FC236}">
                <a16:creationId xmlns:a16="http://schemas.microsoft.com/office/drawing/2014/main" id="{D8212B77-2D56-4C4A-838B-BD6069EB14AE}"/>
              </a:ext>
            </a:extLst>
          </p:cNvPr>
          <p:cNvSpPr/>
          <p:nvPr/>
        </p:nvSpPr>
        <p:spPr>
          <a:xfrm>
            <a:off x="1291231" y="1446677"/>
            <a:ext cx="533923" cy="533923"/>
          </a:xfrm>
          <a:prstGeom prst="arc">
            <a:avLst>
              <a:gd name="adj1" fmla="val 17675787"/>
              <a:gd name="adj2" fmla="val 409062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ea typeface="Noto Sans S Chinese Light" panose="020B0300000000000000" pitchFamily="34" charset="-122"/>
            </a:endParaRPr>
          </a:p>
        </p:txBody>
      </p:sp>
      <p:sp>
        <p:nvSpPr>
          <p:cNvPr id="21" name="弧形 20">
            <a:extLst>
              <a:ext uri="{FF2B5EF4-FFF2-40B4-BE49-F238E27FC236}">
                <a16:creationId xmlns:a16="http://schemas.microsoft.com/office/drawing/2014/main" id="{87F686E0-1D65-44D4-97B0-C209219C231E}"/>
              </a:ext>
            </a:extLst>
          </p:cNvPr>
          <p:cNvSpPr/>
          <p:nvPr/>
        </p:nvSpPr>
        <p:spPr>
          <a:xfrm>
            <a:off x="1291231" y="2211192"/>
            <a:ext cx="533923" cy="533923"/>
          </a:xfrm>
          <a:prstGeom prst="arc">
            <a:avLst>
              <a:gd name="adj1" fmla="val 17675787"/>
              <a:gd name="adj2" fmla="val 409062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ea typeface="Noto Sans S Chinese Light" panose="020B0300000000000000" pitchFamily="34" charset="-122"/>
            </a:endParaRPr>
          </a:p>
        </p:txBody>
      </p:sp>
      <p:sp>
        <p:nvSpPr>
          <p:cNvPr id="22" name="弧形 21">
            <a:extLst>
              <a:ext uri="{FF2B5EF4-FFF2-40B4-BE49-F238E27FC236}">
                <a16:creationId xmlns:a16="http://schemas.microsoft.com/office/drawing/2014/main" id="{3A19AD94-B949-4916-A4A7-8C6014B5217B}"/>
              </a:ext>
            </a:extLst>
          </p:cNvPr>
          <p:cNvSpPr/>
          <p:nvPr/>
        </p:nvSpPr>
        <p:spPr>
          <a:xfrm>
            <a:off x="1291231" y="3006003"/>
            <a:ext cx="533923" cy="533923"/>
          </a:xfrm>
          <a:prstGeom prst="arc">
            <a:avLst>
              <a:gd name="adj1" fmla="val 17675787"/>
              <a:gd name="adj2" fmla="val 409062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ea typeface="Noto Sans S Chinese Light" panose="020B0300000000000000" pitchFamily="34" charset="-122"/>
            </a:endParaRPr>
          </a:p>
        </p:txBody>
      </p:sp>
      <p:sp>
        <p:nvSpPr>
          <p:cNvPr id="23" name="弧形 22">
            <a:extLst>
              <a:ext uri="{FF2B5EF4-FFF2-40B4-BE49-F238E27FC236}">
                <a16:creationId xmlns:a16="http://schemas.microsoft.com/office/drawing/2014/main" id="{82D5EB69-631A-49C5-A7CA-77C1A812F8BF}"/>
              </a:ext>
            </a:extLst>
          </p:cNvPr>
          <p:cNvSpPr/>
          <p:nvPr/>
        </p:nvSpPr>
        <p:spPr>
          <a:xfrm>
            <a:off x="1291231" y="3786637"/>
            <a:ext cx="533923" cy="533923"/>
          </a:xfrm>
          <a:prstGeom prst="arc">
            <a:avLst>
              <a:gd name="adj1" fmla="val 17675787"/>
              <a:gd name="adj2" fmla="val 409062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ea typeface="Noto Sans S Chinese Light" panose="020B0300000000000000" pitchFamily="34" charset="-122"/>
            </a:endParaRPr>
          </a:p>
        </p:txBody>
      </p:sp>
      <p:sp>
        <p:nvSpPr>
          <p:cNvPr id="24" name="矩形 23">
            <a:extLst>
              <a:ext uri="{FF2B5EF4-FFF2-40B4-BE49-F238E27FC236}">
                <a16:creationId xmlns:a16="http://schemas.microsoft.com/office/drawing/2014/main" id="{7AE02F7E-33CB-436F-A4BD-77536A806A4E}"/>
              </a:ext>
            </a:extLst>
          </p:cNvPr>
          <p:cNvSpPr/>
          <p:nvPr/>
        </p:nvSpPr>
        <p:spPr>
          <a:xfrm>
            <a:off x="1979712" y="1347614"/>
            <a:ext cx="6552728" cy="63670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sz="1400" dirty="0">
                <a:solidFill>
                  <a:srgbClr val="C00000"/>
                </a:solidFill>
                <a:latin typeface="Noto Sans S Chinese Light" panose="020B0300000000000000" pitchFamily="34" charset="-122"/>
                <a:ea typeface="Noto Sans S Chinese Light" panose="020B0300000000000000" pitchFamily="34" charset="-122"/>
              </a:rPr>
              <a:t>维护党的团结和统一，对党忠诚老实，言行一致，坚决反对一切派别组织和小集团活动，反对阳奉阴违的两面派行为和一切阴谋诡</a:t>
            </a:r>
          </a:p>
        </p:txBody>
      </p:sp>
      <p:sp>
        <p:nvSpPr>
          <p:cNvPr id="25" name="矩形 24">
            <a:extLst>
              <a:ext uri="{FF2B5EF4-FFF2-40B4-BE49-F238E27FC236}">
                <a16:creationId xmlns:a16="http://schemas.microsoft.com/office/drawing/2014/main" id="{17F5E4CC-F60F-4716-BD5A-13D8FF0E819B}"/>
              </a:ext>
            </a:extLst>
          </p:cNvPr>
          <p:cNvSpPr/>
          <p:nvPr/>
        </p:nvSpPr>
        <p:spPr>
          <a:xfrm>
            <a:off x="1979712" y="2143492"/>
            <a:ext cx="6552728" cy="63670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sz="1400" dirty="0">
                <a:solidFill>
                  <a:srgbClr val="C00000"/>
                </a:solidFill>
                <a:latin typeface="Noto Sans S Chinese Light" panose="020B0300000000000000" pitchFamily="34" charset="-122"/>
                <a:ea typeface="Noto Sans S Chinese Light" panose="020B0300000000000000" pitchFamily="34" charset="-122"/>
                <a:cs typeface="+mn-ea"/>
                <a:sym typeface="+mn-lt"/>
              </a:rPr>
              <a:t>切实开展批评和自我批评，勇于揭露和纠正工作中的缺点、错误，坚决同消极腐败现象作斗争</a:t>
            </a:r>
          </a:p>
        </p:txBody>
      </p:sp>
      <p:sp>
        <p:nvSpPr>
          <p:cNvPr id="26" name="矩形 25">
            <a:extLst>
              <a:ext uri="{FF2B5EF4-FFF2-40B4-BE49-F238E27FC236}">
                <a16:creationId xmlns:a16="http://schemas.microsoft.com/office/drawing/2014/main" id="{E8D1E2AD-5443-46C8-B37E-AA0616BBA355}"/>
              </a:ext>
            </a:extLst>
          </p:cNvPr>
          <p:cNvSpPr/>
          <p:nvPr/>
        </p:nvSpPr>
        <p:spPr>
          <a:xfrm>
            <a:off x="1979712" y="2939370"/>
            <a:ext cx="6552728" cy="63670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sz="1400" dirty="0">
                <a:solidFill>
                  <a:srgbClr val="C00000"/>
                </a:solidFill>
                <a:latin typeface="Noto Sans S Chinese Light" panose="020B0300000000000000" pitchFamily="34" charset="-122"/>
                <a:ea typeface="Noto Sans S Chinese Light" panose="020B0300000000000000" pitchFamily="34" charset="-122"/>
                <a:cs typeface="+mn-ea"/>
                <a:sym typeface="+mn-lt"/>
              </a:rPr>
              <a:t>密切联系群众，向群众宣传党的主张，遇事同群众商量，及时向党反映群众的意见和要求，维护群众的正当利益</a:t>
            </a:r>
          </a:p>
        </p:txBody>
      </p:sp>
      <p:sp>
        <p:nvSpPr>
          <p:cNvPr id="27" name="矩形 26">
            <a:extLst>
              <a:ext uri="{FF2B5EF4-FFF2-40B4-BE49-F238E27FC236}">
                <a16:creationId xmlns:a16="http://schemas.microsoft.com/office/drawing/2014/main" id="{797532DB-D32D-4B39-84EF-5479E6C06F86}"/>
              </a:ext>
            </a:extLst>
          </p:cNvPr>
          <p:cNvSpPr/>
          <p:nvPr/>
        </p:nvSpPr>
        <p:spPr>
          <a:xfrm>
            <a:off x="1979712" y="3735248"/>
            <a:ext cx="6552728" cy="63670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sz="1400" dirty="0">
                <a:solidFill>
                  <a:srgbClr val="C00000"/>
                </a:solidFill>
                <a:latin typeface="Noto Sans S Chinese Light" panose="020B0300000000000000" pitchFamily="34" charset="-122"/>
                <a:ea typeface="Noto Sans S Chinese Light" panose="020B0300000000000000" pitchFamily="34" charset="-122"/>
                <a:cs typeface="+mn-ea"/>
                <a:sym typeface="+mn-lt"/>
              </a:rPr>
              <a:t>发扬社会主义新风尚，带头实践社会主义荣辱观，提倡共产主义道德，为了保护国家和人民的利益，在一切困难和危险的时刻挺身而出，英勇斗争，不怕牺牲</a:t>
            </a:r>
          </a:p>
        </p:txBody>
      </p:sp>
    </p:spTree>
    <p:extLst>
      <p:ext uri="{BB962C8B-B14F-4D97-AF65-F5344CB8AC3E}">
        <p14:creationId xmlns:p14="http://schemas.microsoft.com/office/powerpoint/2010/main" val="7308462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par>
                          <p:cTn id="15" fill="hold">
                            <p:stCondLst>
                              <p:cond delay="500"/>
                            </p:stCondLst>
                            <p:childTnLst>
                              <p:par>
                                <p:cTn id="16" presetID="22" presetClass="entr" presetSubtype="4" fill="hold" grpId="0" nodeType="afterEffect">
                                  <p:stCondLst>
                                    <p:cond delay="0"/>
                                  </p:stCondLst>
                                  <p:iterate type="lt">
                                    <p:tmPct val="10000"/>
                                  </p:iterate>
                                  <p:childTnLst>
                                    <p:set>
                                      <p:cBhvr>
                                        <p:cTn id="17" dur="1" fill="hold">
                                          <p:stCondLst>
                                            <p:cond delay="0"/>
                                          </p:stCondLst>
                                        </p:cTn>
                                        <p:tgtEl>
                                          <p:spTgt spid="24"/>
                                        </p:tgtEl>
                                        <p:attrNameLst>
                                          <p:attrName>style.visibility</p:attrName>
                                        </p:attrNameLst>
                                      </p:cBhvr>
                                      <p:to>
                                        <p:strVal val="visible"/>
                                      </p:to>
                                    </p:set>
                                    <p:animEffect transition="in" filter="wipe(down)">
                                      <p:cBhvr>
                                        <p:cTn id="18" dur="500"/>
                                        <p:tgtEl>
                                          <p:spTgt spid="24"/>
                                        </p:tgtEl>
                                      </p:cBhvr>
                                    </p:animEffect>
                                  </p:childTnLst>
                                </p:cTn>
                              </p:par>
                            </p:childTnLst>
                          </p:cTn>
                        </p:par>
                        <p:par>
                          <p:cTn id="19" fill="hold">
                            <p:stCondLst>
                              <p:cond delay="3800"/>
                            </p:stCondLst>
                            <p:childTnLst>
                              <p:par>
                                <p:cTn id="20" presetID="53" presetClass="entr" presetSubtype="16"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500" fill="hold"/>
                                        <p:tgtEl>
                                          <p:spTgt spid="21"/>
                                        </p:tgtEl>
                                        <p:attrNameLst>
                                          <p:attrName>ppt_w</p:attrName>
                                        </p:attrNameLst>
                                      </p:cBhvr>
                                      <p:tavLst>
                                        <p:tav tm="0">
                                          <p:val>
                                            <p:fltVal val="0"/>
                                          </p:val>
                                        </p:tav>
                                        <p:tav tm="100000">
                                          <p:val>
                                            <p:strVal val="#ppt_w"/>
                                          </p:val>
                                        </p:tav>
                                      </p:tavLst>
                                    </p:anim>
                                    <p:anim calcmode="lin" valueType="num">
                                      <p:cBhvr>
                                        <p:cTn id="28" dur="500" fill="hold"/>
                                        <p:tgtEl>
                                          <p:spTgt spid="21"/>
                                        </p:tgtEl>
                                        <p:attrNameLst>
                                          <p:attrName>ppt_h</p:attrName>
                                        </p:attrNameLst>
                                      </p:cBhvr>
                                      <p:tavLst>
                                        <p:tav tm="0">
                                          <p:val>
                                            <p:fltVal val="0"/>
                                          </p:val>
                                        </p:tav>
                                        <p:tav tm="100000">
                                          <p:val>
                                            <p:strVal val="#ppt_h"/>
                                          </p:val>
                                        </p:tav>
                                      </p:tavLst>
                                    </p:anim>
                                    <p:animEffect transition="in" filter="fade">
                                      <p:cBhvr>
                                        <p:cTn id="29" dur="500"/>
                                        <p:tgtEl>
                                          <p:spTgt spid="21"/>
                                        </p:tgtEl>
                                      </p:cBhvr>
                                    </p:animEffect>
                                  </p:childTnLst>
                                </p:cTn>
                              </p:par>
                            </p:childTnLst>
                          </p:cTn>
                        </p:par>
                        <p:par>
                          <p:cTn id="30" fill="hold">
                            <p:stCondLst>
                              <p:cond delay="4300"/>
                            </p:stCondLst>
                            <p:childTnLst>
                              <p:par>
                                <p:cTn id="31" presetID="22" presetClass="entr" presetSubtype="4" fill="hold" grpId="0" nodeType="afterEffect">
                                  <p:stCondLst>
                                    <p:cond delay="0"/>
                                  </p:stCondLst>
                                  <p:iterate type="lt">
                                    <p:tmPct val="10000"/>
                                  </p:iterate>
                                  <p:childTnLst>
                                    <p:set>
                                      <p:cBhvr>
                                        <p:cTn id="32" dur="1" fill="hold">
                                          <p:stCondLst>
                                            <p:cond delay="0"/>
                                          </p:stCondLst>
                                        </p:cTn>
                                        <p:tgtEl>
                                          <p:spTgt spid="25"/>
                                        </p:tgtEl>
                                        <p:attrNameLst>
                                          <p:attrName>style.visibility</p:attrName>
                                        </p:attrNameLst>
                                      </p:cBhvr>
                                      <p:to>
                                        <p:strVal val="visible"/>
                                      </p:to>
                                    </p:set>
                                    <p:animEffect transition="in" filter="wipe(down)">
                                      <p:cBhvr>
                                        <p:cTn id="33" dur="500"/>
                                        <p:tgtEl>
                                          <p:spTgt spid="25"/>
                                        </p:tgtEl>
                                      </p:cBhvr>
                                    </p:animEffect>
                                  </p:childTnLst>
                                </p:cTn>
                              </p:par>
                            </p:childTnLst>
                          </p:cTn>
                        </p:par>
                        <p:par>
                          <p:cTn id="34" fill="hold">
                            <p:stCondLst>
                              <p:cond delay="6800"/>
                            </p:stCondLst>
                            <p:childTnLst>
                              <p:par>
                                <p:cTn id="35" presetID="53" presetClass="entr" presetSubtype="16"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500" fill="hold"/>
                                        <p:tgtEl>
                                          <p:spTgt spid="18"/>
                                        </p:tgtEl>
                                        <p:attrNameLst>
                                          <p:attrName>ppt_w</p:attrName>
                                        </p:attrNameLst>
                                      </p:cBhvr>
                                      <p:tavLst>
                                        <p:tav tm="0">
                                          <p:val>
                                            <p:fltVal val="0"/>
                                          </p:val>
                                        </p:tav>
                                        <p:tav tm="100000">
                                          <p:val>
                                            <p:strVal val="#ppt_w"/>
                                          </p:val>
                                        </p:tav>
                                      </p:tavLst>
                                    </p:anim>
                                    <p:anim calcmode="lin" valueType="num">
                                      <p:cBhvr>
                                        <p:cTn id="38" dur="500" fill="hold"/>
                                        <p:tgtEl>
                                          <p:spTgt spid="18"/>
                                        </p:tgtEl>
                                        <p:attrNameLst>
                                          <p:attrName>ppt_h</p:attrName>
                                        </p:attrNameLst>
                                      </p:cBhvr>
                                      <p:tavLst>
                                        <p:tav tm="0">
                                          <p:val>
                                            <p:fltVal val="0"/>
                                          </p:val>
                                        </p:tav>
                                        <p:tav tm="100000">
                                          <p:val>
                                            <p:strVal val="#ppt_h"/>
                                          </p:val>
                                        </p:tav>
                                      </p:tavLst>
                                    </p:anim>
                                    <p:animEffect transition="in" filter="fade">
                                      <p:cBhvr>
                                        <p:cTn id="39" dur="500"/>
                                        <p:tgtEl>
                                          <p:spTgt spid="1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 calcmode="lin" valueType="num">
                                      <p:cBhvr>
                                        <p:cTn id="42" dur="500" fill="hold"/>
                                        <p:tgtEl>
                                          <p:spTgt spid="22"/>
                                        </p:tgtEl>
                                        <p:attrNameLst>
                                          <p:attrName>ppt_w</p:attrName>
                                        </p:attrNameLst>
                                      </p:cBhvr>
                                      <p:tavLst>
                                        <p:tav tm="0">
                                          <p:val>
                                            <p:fltVal val="0"/>
                                          </p:val>
                                        </p:tav>
                                        <p:tav tm="100000">
                                          <p:val>
                                            <p:strVal val="#ppt_w"/>
                                          </p:val>
                                        </p:tav>
                                      </p:tavLst>
                                    </p:anim>
                                    <p:anim calcmode="lin" valueType="num">
                                      <p:cBhvr>
                                        <p:cTn id="43" dur="500" fill="hold"/>
                                        <p:tgtEl>
                                          <p:spTgt spid="22"/>
                                        </p:tgtEl>
                                        <p:attrNameLst>
                                          <p:attrName>ppt_h</p:attrName>
                                        </p:attrNameLst>
                                      </p:cBhvr>
                                      <p:tavLst>
                                        <p:tav tm="0">
                                          <p:val>
                                            <p:fltVal val="0"/>
                                          </p:val>
                                        </p:tav>
                                        <p:tav tm="100000">
                                          <p:val>
                                            <p:strVal val="#ppt_h"/>
                                          </p:val>
                                        </p:tav>
                                      </p:tavLst>
                                    </p:anim>
                                    <p:animEffect transition="in" filter="fade">
                                      <p:cBhvr>
                                        <p:cTn id="44" dur="500"/>
                                        <p:tgtEl>
                                          <p:spTgt spid="22"/>
                                        </p:tgtEl>
                                      </p:cBhvr>
                                    </p:animEffect>
                                  </p:childTnLst>
                                </p:cTn>
                              </p:par>
                            </p:childTnLst>
                          </p:cTn>
                        </p:par>
                        <p:par>
                          <p:cTn id="45" fill="hold">
                            <p:stCondLst>
                              <p:cond delay="7300"/>
                            </p:stCondLst>
                            <p:childTnLst>
                              <p:par>
                                <p:cTn id="46" presetID="22" presetClass="entr" presetSubtype="4" fill="hold" grpId="0" nodeType="afterEffect">
                                  <p:stCondLst>
                                    <p:cond delay="0"/>
                                  </p:stCondLst>
                                  <p:iterate type="lt">
                                    <p:tmPct val="10000"/>
                                  </p:iterate>
                                  <p:childTnLst>
                                    <p:set>
                                      <p:cBhvr>
                                        <p:cTn id="47" dur="1" fill="hold">
                                          <p:stCondLst>
                                            <p:cond delay="0"/>
                                          </p:stCondLst>
                                        </p:cTn>
                                        <p:tgtEl>
                                          <p:spTgt spid="26"/>
                                        </p:tgtEl>
                                        <p:attrNameLst>
                                          <p:attrName>style.visibility</p:attrName>
                                        </p:attrNameLst>
                                      </p:cBhvr>
                                      <p:to>
                                        <p:strVal val="visible"/>
                                      </p:to>
                                    </p:set>
                                    <p:animEffect transition="in" filter="wipe(down)">
                                      <p:cBhvr>
                                        <p:cTn id="48" dur="500"/>
                                        <p:tgtEl>
                                          <p:spTgt spid="26"/>
                                        </p:tgtEl>
                                      </p:cBhvr>
                                    </p:animEffect>
                                  </p:childTnLst>
                                </p:cTn>
                              </p:par>
                            </p:childTnLst>
                          </p:cTn>
                        </p:par>
                        <p:par>
                          <p:cTn id="49" fill="hold">
                            <p:stCondLst>
                              <p:cond delay="10200"/>
                            </p:stCondLst>
                            <p:childTnLst>
                              <p:par>
                                <p:cTn id="50" presetID="53" presetClass="entr" presetSubtype="16"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fltVal val="0"/>
                                          </p:val>
                                        </p:tav>
                                        <p:tav tm="100000">
                                          <p:val>
                                            <p:strVal val="#ppt_h"/>
                                          </p:val>
                                        </p:tav>
                                      </p:tavLst>
                                    </p:anim>
                                    <p:animEffect transition="in" filter="fade">
                                      <p:cBhvr>
                                        <p:cTn id="54" dur="500"/>
                                        <p:tgtEl>
                                          <p:spTgt spid="19"/>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p:cTn id="57" dur="500" fill="hold"/>
                                        <p:tgtEl>
                                          <p:spTgt spid="23"/>
                                        </p:tgtEl>
                                        <p:attrNameLst>
                                          <p:attrName>ppt_w</p:attrName>
                                        </p:attrNameLst>
                                      </p:cBhvr>
                                      <p:tavLst>
                                        <p:tav tm="0">
                                          <p:val>
                                            <p:fltVal val="0"/>
                                          </p:val>
                                        </p:tav>
                                        <p:tav tm="100000">
                                          <p:val>
                                            <p:strVal val="#ppt_w"/>
                                          </p:val>
                                        </p:tav>
                                      </p:tavLst>
                                    </p:anim>
                                    <p:anim calcmode="lin" valueType="num">
                                      <p:cBhvr>
                                        <p:cTn id="58" dur="500" fill="hold"/>
                                        <p:tgtEl>
                                          <p:spTgt spid="23"/>
                                        </p:tgtEl>
                                        <p:attrNameLst>
                                          <p:attrName>ppt_h</p:attrName>
                                        </p:attrNameLst>
                                      </p:cBhvr>
                                      <p:tavLst>
                                        <p:tav tm="0">
                                          <p:val>
                                            <p:fltVal val="0"/>
                                          </p:val>
                                        </p:tav>
                                        <p:tav tm="100000">
                                          <p:val>
                                            <p:strVal val="#ppt_h"/>
                                          </p:val>
                                        </p:tav>
                                      </p:tavLst>
                                    </p:anim>
                                    <p:animEffect transition="in" filter="fade">
                                      <p:cBhvr>
                                        <p:cTn id="59" dur="500"/>
                                        <p:tgtEl>
                                          <p:spTgt spid="23"/>
                                        </p:tgtEl>
                                      </p:cBhvr>
                                    </p:animEffect>
                                  </p:childTnLst>
                                </p:cTn>
                              </p:par>
                            </p:childTnLst>
                          </p:cTn>
                        </p:par>
                        <p:par>
                          <p:cTn id="60" fill="hold">
                            <p:stCondLst>
                              <p:cond delay="10700"/>
                            </p:stCondLst>
                            <p:childTnLst>
                              <p:par>
                                <p:cTn id="61" presetID="22" presetClass="entr" presetSubtype="4" fill="hold" grpId="0" nodeType="afterEffect">
                                  <p:stCondLst>
                                    <p:cond delay="0"/>
                                  </p:stCondLst>
                                  <p:iterate type="lt">
                                    <p:tmPct val="10000"/>
                                  </p:iterate>
                                  <p:childTnLst>
                                    <p:set>
                                      <p:cBhvr>
                                        <p:cTn id="62" dur="1" fill="hold">
                                          <p:stCondLst>
                                            <p:cond delay="0"/>
                                          </p:stCondLst>
                                        </p:cTn>
                                        <p:tgtEl>
                                          <p:spTgt spid="27"/>
                                        </p:tgtEl>
                                        <p:attrNameLst>
                                          <p:attrName>style.visibility</p:attrName>
                                        </p:attrNameLst>
                                      </p:cBhvr>
                                      <p:to>
                                        <p:strVal val="visible"/>
                                      </p:to>
                                    </p:set>
                                    <p:animEffect transition="in" filter="wipe(down)">
                                      <p:cBhvr>
                                        <p:cTn id="6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p:bldP spid="25" grpId="0"/>
      <p:bldP spid="26" grpId="0"/>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FB3326CC-105E-4511-AEAE-1F506C4C7151}"/>
              </a:ext>
            </a:extLst>
          </p:cNvPr>
          <p:cNvPicPr>
            <a:picLocks noChangeAspect="1"/>
          </p:cNvPicPr>
          <p:nvPr/>
        </p:nvPicPr>
        <p:blipFill>
          <a:blip r:embed="rId2"/>
          <a:stretch>
            <a:fillRect/>
          </a:stretch>
        </p:blipFill>
        <p:spPr>
          <a:xfrm>
            <a:off x="28450" y="3799321"/>
            <a:ext cx="9144000" cy="1311904"/>
          </a:xfrm>
          <a:prstGeom prst="rect">
            <a:avLst/>
          </a:prstGeom>
        </p:spPr>
      </p:pic>
      <p:pic>
        <p:nvPicPr>
          <p:cNvPr id="9" name="图片 8">
            <a:extLst>
              <a:ext uri="{FF2B5EF4-FFF2-40B4-BE49-F238E27FC236}">
                <a16:creationId xmlns:a16="http://schemas.microsoft.com/office/drawing/2014/main" id="{D68BE9A7-41FB-44C4-A472-50C00B774FEB}"/>
              </a:ext>
            </a:extLst>
          </p:cNvPr>
          <p:cNvPicPr>
            <a:picLocks noChangeAspect="1"/>
          </p:cNvPicPr>
          <p:nvPr/>
        </p:nvPicPr>
        <p:blipFill rotWithShape="1">
          <a:blip r:embed="rId3"/>
          <a:srcRect b="33209"/>
          <a:stretch/>
        </p:blipFill>
        <p:spPr>
          <a:xfrm>
            <a:off x="1" y="1"/>
            <a:ext cx="4427984" cy="1923678"/>
          </a:xfrm>
          <a:prstGeom prst="rect">
            <a:avLst/>
          </a:prstGeom>
        </p:spPr>
      </p:pic>
      <p:pic>
        <p:nvPicPr>
          <p:cNvPr id="13" name="图片 12">
            <a:extLst>
              <a:ext uri="{FF2B5EF4-FFF2-40B4-BE49-F238E27FC236}">
                <a16:creationId xmlns:a16="http://schemas.microsoft.com/office/drawing/2014/main" id="{535C2018-35F9-487A-BF47-E4D1AEC11D69}"/>
              </a:ext>
            </a:extLst>
          </p:cNvPr>
          <p:cNvPicPr>
            <a:picLocks noChangeAspect="1"/>
          </p:cNvPicPr>
          <p:nvPr/>
        </p:nvPicPr>
        <p:blipFill>
          <a:blip r:embed="rId4"/>
          <a:stretch>
            <a:fillRect/>
          </a:stretch>
        </p:blipFill>
        <p:spPr>
          <a:xfrm>
            <a:off x="0" y="4086635"/>
            <a:ext cx="9144000" cy="1056864"/>
          </a:xfrm>
          <a:prstGeom prst="rect">
            <a:avLst/>
          </a:prstGeom>
        </p:spPr>
      </p:pic>
      <p:pic>
        <p:nvPicPr>
          <p:cNvPr id="24" name="图片 23">
            <a:extLst>
              <a:ext uri="{FF2B5EF4-FFF2-40B4-BE49-F238E27FC236}">
                <a16:creationId xmlns:a16="http://schemas.microsoft.com/office/drawing/2014/main" id="{EFD91B75-90CC-4D63-A227-65B34F6D3BB1}"/>
              </a:ext>
            </a:extLst>
          </p:cNvPr>
          <p:cNvPicPr>
            <a:picLocks noChangeAspect="1"/>
          </p:cNvPicPr>
          <p:nvPr/>
        </p:nvPicPr>
        <p:blipFill>
          <a:blip r:embed="rId5"/>
          <a:stretch>
            <a:fillRect/>
          </a:stretch>
        </p:blipFill>
        <p:spPr>
          <a:xfrm>
            <a:off x="0" y="-32273"/>
            <a:ext cx="2713798" cy="1367127"/>
          </a:xfrm>
          <a:prstGeom prst="rect">
            <a:avLst/>
          </a:prstGeom>
        </p:spPr>
      </p:pic>
      <p:pic>
        <p:nvPicPr>
          <p:cNvPr id="26" name="图片 25">
            <a:extLst>
              <a:ext uri="{FF2B5EF4-FFF2-40B4-BE49-F238E27FC236}">
                <a16:creationId xmlns:a16="http://schemas.microsoft.com/office/drawing/2014/main" id="{8FF954DB-E50D-4407-A817-849532395E58}"/>
              </a:ext>
            </a:extLst>
          </p:cNvPr>
          <p:cNvPicPr>
            <a:picLocks noChangeAspect="1"/>
          </p:cNvPicPr>
          <p:nvPr/>
        </p:nvPicPr>
        <p:blipFill>
          <a:blip r:embed="rId6"/>
          <a:stretch>
            <a:fillRect/>
          </a:stretch>
        </p:blipFill>
        <p:spPr>
          <a:xfrm>
            <a:off x="6012159" y="2321613"/>
            <a:ext cx="3160291" cy="2821886"/>
          </a:xfrm>
          <a:prstGeom prst="rect">
            <a:avLst/>
          </a:prstGeom>
        </p:spPr>
      </p:pic>
      <p:pic>
        <p:nvPicPr>
          <p:cNvPr id="30" name="图片 29">
            <a:extLst>
              <a:ext uri="{FF2B5EF4-FFF2-40B4-BE49-F238E27FC236}">
                <a16:creationId xmlns:a16="http://schemas.microsoft.com/office/drawing/2014/main" id="{89CDD355-5732-46AB-81AF-F09D0A4123CD}"/>
              </a:ext>
            </a:extLst>
          </p:cNvPr>
          <p:cNvPicPr>
            <a:picLocks noChangeAspect="1"/>
          </p:cNvPicPr>
          <p:nvPr/>
        </p:nvPicPr>
        <p:blipFill>
          <a:blip r:embed="rId7"/>
          <a:srcRect/>
          <a:stretch/>
        </p:blipFill>
        <p:spPr>
          <a:xfrm>
            <a:off x="-28450" y="3075806"/>
            <a:ext cx="2005136" cy="2078683"/>
          </a:xfrm>
          <a:prstGeom prst="rect">
            <a:avLst/>
          </a:prstGeom>
        </p:spPr>
      </p:pic>
      <p:pic>
        <p:nvPicPr>
          <p:cNvPr id="40" name="图片 39">
            <a:extLst>
              <a:ext uri="{FF2B5EF4-FFF2-40B4-BE49-F238E27FC236}">
                <a16:creationId xmlns:a16="http://schemas.microsoft.com/office/drawing/2014/main" id="{5D69B71A-8FC5-4477-8CEA-472EF06970DB}"/>
              </a:ext>
            </a:extLst>
          </p:cNvPr>
          <p:cNvPicPr>
            <a:picLocks noChangeAspect="1"/>
          </p:cNvPicPr>
          <p:nvPr/>
        </p:nvPicPr>
        <p:blipFill>
          <a:blip r:embed="rId8"/>
          <a:stretch>
            <a:fillRect/>
          </a:stretch>
        </p:blipFill>
        <p:spPr>
          <a:xfrm flipH="1">
            <a:off x="6876256" y="816369"/>
            <a:ext cx="1080907" cy="748888"/>
          </a:xfrm>
          <a:prstGeom prst="rect">
            <a:avLst/>
          </a:prstGeom>
        </p:spPr>
      </p:pic>
      <p:sp>
        <p:nvSpPr>
          <p:cNvPr id="14" name="矩形 13">
            <a:extLst>
              <a:ext uri="{FF2B5EF4-FFF2-40B4-BE49-F238E27FC236}">
                <a16:creationId xmlns:a16="http://schemas.microsoft.com/office/drawing/2014/main" id="{A74D0BAC-C057-4E59-AE56-E58E64F36FA9}"/>
              </a:ext>
            </a:extLst>
          </p:cNvPr>
          <p:cNvSpPr/>
          <p:nvPr/>
        </p:nvSpPr>
        <p:spPr>
          <a:xfrm>
            <a:off x="3289394" y="1995686"/>
            <a:ext cx="2646878" cy="830997"/>
          </a:xfrm>
          <a:prstGeom prst="rect">
            <a:avLst/>
          </a:prstGeom>
        </p:spPr>
        <p:txBody>
          <a:bodyPr wrap="none">
            <a:spAutoFit/>
          </a:bodyPr>
          <a:lstStyle/>
          <a:p>
            <a:pPr algn="ctr"/>
            <a:r>
              <a:rPr lang="zh-CN" altLang="en-US" sz="4800" dirty="0">
                <a:solidFill>
                  <a:srgbClr val="C80000"/>
                </a:solidFill>
                <a:latin typeface="汉仪雅酷黑 75W" panose="020B0804020202020204" pitchFamily="34" charset="-122"/>
                <a:ea typeface="汉仪雅酷黑 75W" panose="020B0804020202020204" pitchFamily="34" charset="-122"/>
                <a:cs typeface="+mn-ea"/>
              </a:rPr>
              <a:t>党的纪律</a:t>
            </a:r>
          </a:p>
        </p:txBody>
      </p:sp>
      <p:sp>
        <p:nvSpPr>
          <p:cNvPr id="16" name="矩形 15">
            <a:extLst>
              <a:ext uri="{FF2B5EF4-FFF2-40B4-BE49-F238E27FC236}">
                <a16:creationId xmlns:a16="http://schemas.microsoft.com/office/drawing/2014/main" id="{AAF3228A-AA0A-4720-9323-056F85010318}"/>
              </a:ext>
            </a:extLst>
          </p:cNvPr>
          <p:cNvSpPr/>
          <p:nvPr/>
        </p:nvSpPr>
        <p:spPr>
          <a:xfrm>
            <a:off x="3779912" y="1419622"/>
            <a:ext cx="1608134" cy="507831"/>
          </a:xfrm>
          <a:prstGeom prst="rect">
            <a:avLst/>
          </a:prstGeom>
        </p:spPr>
        <p:txBody>
          <a:bodyPr wrap="none">
            <a:spAutoFit/>
          </a:bodyPr>
          <a:lstStyle/>
          <a:p>
            <a:pPr algn="ctr"/>
            <a:r>
              <a:rPr lang="zh-CN" altLang="en-US" sz="2700" b="1" dirty="0">
                <a:solidFill>
                  <a:srgbClr val="C80000"/>
                </a:solidFill>
                <a:latin typeface="汉仪雅酷黑 75W" panose="020B0804020202020204" pitchFamily="34" charset="-122"/>
                <a:ea typeface="汉仪雅酷黑 75W" panose="020B0804020202020204" pitchFamily="34" charset="-122"/>
              </a:rPr>
              <a:t>第四部分</a:t>
            </a:r>
          </a:p>
        </p:txBody>
      </p:sp>
      <p:sp>
        <p:nvSpPr>
          <p:cNvPr id="17" name="矩形 16">
            <a:extLst>
              <a:ext uri="{FF2B5EF4-FFF2-40B4-BE49-F238E27FC236}">
                <a16:creationId xmlns:a16="http://schemas.microsoft.com/office/drawing/2014/main" id="{AF606387-6D71-41C0-B89D-B26FCD519EA2}"/>
              </a:ext>
            </a:extLst>
          </p:cNvPr>
          <p:cNvSpPr/>
          <p:nvPr/>
        </p:nvSpPr>
        <p:spPr>
          <a:xfrm>
            <a:off x="2368467" y="2929196"/>
            <a:ext cx="4431021" cy="338554"/>
          </a:xfrm>
          <a:prstGeom prst="rect">
            <a:avLst/>
          </a:prstGeom>
        </p:spPr>
        <p:txBody>
          <a:bodyPr wrap="none">
            <a:spAutoFit/>
          </a:bodyPr>
          <a:lstStyle/>
          <a:p>
            <a:pPr algn="ctr"/>
            <a:r>
              <a:rPr lang="zh-CN" altLang="en-US" sz="1600" b="1" dirty="0">
                <a:solidFill>
                  <a:srgbClr val="C80000"/>
                </a:solidFill>
                <a:latin typeface="汉仪雅酷黑 75W" panose="020B0804020202020204" pitchFamily="34" charset="-122"/>
                <a:ea typeface="汉仪雅酷黑 75W" panose="020B0804020202020204" pitchFamily="34" charset="-122"/>
                <a:cs typeface="+mn-ea"/>
                <a:sym typeface="+mn-lt"/>
              </a:rPr>
              <a:t>入党须知 党性修养 党课培训 党校培训 微党课 </a:t>
            </a:r>
          </a:p>
        </p:txBody>
      </p:sp>
    </p:spTree>
    <p:extLst>
      <p:ext uri="{BB962C8B-B14F-4D97-AF65-F5344CB8AC3E}">
        <p14:creationId xmlns:p14="http://schemas.microsoft.com/office/powerpoint/2010/main" val="11896956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wind"/>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childTnLst>
                          </p:cTn>
                        </p:par>
                        <p:par>
                          <p:cTn id="22" fill="hold">
                            <p:stCondLst>
                              <p:cond delay="2500"/>
                            </p:stCondLst>
                            <p:childTnLst>
                              <p:par>
                                <p:cTn id="23" presetID="2" presetClass="entr" presetSubtype="4"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par>
                          <p:cTn id="27" fill="hold">
                            <p:stCondLst>
                              <p:cond delay="3000"/>
                            </p:stCondLst>
                            <p:childTnLst>
                              <p:par>
                                <p:cTn id="28" presetID="22" presetClass="entr" presetSubtype="4" fill="hold"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down)">
                                      <p:cBhvr>
                                        <p:cTn id="30" dur="500"/>
                                        <p:tgtEl>
                                          <p:spTgt spid="26"/>
                                        </p:tgtEl>
                                      </p:cBhvr>
                                    </p:animEffect>
                                  </p:childTnLst>
                                </p:cTn>
                              </p:par>
                            </p:childTnLst>
                          </p:cTn>
                        </p:par>
                        <p:par>
                          <p:cTn id="31" fill="hold">
                            <p:stCondLst>
                              <p:cond delay="3500"/>
                            </p:stCondLst>
                            <p:childTnLst>
                              <p:par>
                                <p:cTn id="32" presetID="22" presetClass="entr" presetSubtype="4" fill="hold" nodeType="after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down)">
                                      <p:cBhvr>
                                        <p:cTn id="34" dur="500"/>
                                        <p:tgtEl>
                                          <p:spTgt spid="40"/>
                                        </p:tgtEl>
                                      </p:cBhvr>
                                    </p:animEffect>
                                  </p:childTnLst>
                                </p:cTn>
                              </p:par>
                            </p:childTnLst>
                          </p:cTn>
                        </p:par>
                        <p:par>
                          <p:cTn id="35" fill="hold">
                            <p:stCondLst>
                              <p:cond delay="4000"/>
                            </p:stCondLst>
                            <p:childTnLst>
                              <p:par>
                                <p:cTn id="36" presetID="47" presetClass="entr" presetSubtype="0"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750"/>
                                        <p:tgtEl>
                                          <p:spTgt spid="16"/>
                                        </p:tgtEl>
                                      </p:cBhvr>
                                    </p:animEffect>
                                    <p:anim calcmode="lin" valueType="num">
                                      <p:cBhvr>
                                        <p:cTn id="39" dur="750" fill="hold"/>
                                        <p:tgtEl>
                                          <p:spTgt spid="16"/>
                                        </p:tgtEl>
                                        <p:attrNameLst>
                                          <p:attrName>ppt_x</p:attrName>
                                        </p:attrNameLst>
                                      </p:cBhvr>
                                      <p:tavLst>
                                        <p:tav tm="0">
                                          <p:val>
                                            <p:strVal val="#ppt_x"/>
                                          </p:val>
                                        </p:tav>
                                        <p:tav tm="100000">
                                          <p:val>
                                            <p:strVal val="#ppt_x"/>
                                          </p:val>
                                        </p:tav>
                                      </p:tavLst>
                                    </p:anim>
                                    <p:anim calcmode="lin" valueType="num">
                                      <p:cBhvr>
                                        <p:cTn id="40" dur="750" fill="hold"/>
                                        <p:tgtEl>
                                          <p:spTgt spid="16"/>
                                        </p:tgtEl>
                                        <p:attrNameLst>
                                          <p:attrName>ppt_y</p:attrName>
                                        </p:attrNameLst>
                                      </p:cBhvr>
                                      <p:tavLst>
                                        <p:tav tm="0">
                                          <p:val>
                                            <p:strVal val="#ppt_y-.1"/>
                                          </p:val>
                                        </p:tav>
                                        <p:tav tm="100000">
                                          <p:val>
                                            <p:strVal val="#ppt_y"/>
                                          </p:val>
                                        </p:tav>
                                      </p:tavLst>
                                    </p:anim>
                                  </p:childTnLst>
                                </p:cTn>
                              </p:par>
                              <p:par>
                                <p:cTn id="41" presetID="53" presetClass="entr" presetSubtype="16"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p:cTn id="43" dur="1250" fill="hold"/>
                                        <p:tgtEl>
                                          <p:spTgt spid="14"/>
                                        </p:tgtEl>
                                        <p:attrNameLst>
                                          <p:attrName>ppt_w</p:attrName>
                                        </p:attrNameLst>
                                      </p:cBhvr>
                                      <p:tavLst>
                                        <p:tav tm="0">
                                          <p:val>
                                            <p:fltVal val="0"/>
                                          </p:val>
                                        </p:tav>
                                        <p:tav tm="100000">
                                          <p:val>
                                            <p:strVal val="#ppt_w"/>
                                          </p:val>
                                        </p:tav>
                                      </p:tavLst>
                                    </p:anim>
                                    <p:anim calcmode="lin" valueType="num">
                                      <p:cBhvr>
                                        <p:cTn id="44" dur="1250" fill="hold"/>
                                        <p:tgtEl>
                                          <p:spTgt spid="14"/>
                                        </p:tgtEl>
                                        <p:attrNameLst>
                                          <p:attrName>ppt_h</p:attrName>
                                        </p:attrNameLst>
                                      </p:cBhvr>
                                      <p:tavLst>
                                        <p:tav tm="0">
                                          <p:val>
                                            <p:fltVal val="0"/>
                                          </p:val>
                                        </p:tav>
                                        <p:tav tm="100000">
                                          <p:val>
                                            <p:strVal val="#ppt_h"/>
                                          </p:val>
                                        </p:tav>
                                      </p:tavLst>
                                    </p:anim>
                                    <p:animEffect transition="in" filter="fade">
                                      <p:cBhvr>
                                        <p:cTn id="45" dur="1250"/>
                                        <p:tgtEl>
                                          <p:spTgt spid="14"/>
                                        </p:tgtEl>
                                      </p:cBhvr>
                                    </p:animEffect>
                                  </p:childTnLst>
                                </p:cTn>
                              </p:par>
                            </p:childTnLst>
                          </p:cTn>
                        </p:par>
                        <p:par>
                          <p:cTn id="46" fill="hold">
                            <p:stCondLst>
                              <p:cond delay="5250"/>
                            </p:stCondLst>
                            <p:childTnLst>
                              <p:par>
                                <p:cTn id="47" presetID="42" presetClass="entr" presetSubtype="0"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1000"/>
                                        <p:tgtEl>
                                          <p:spTgt spid="17"/>
                                        </p:tgtEl>
                                      </p:cBhvr>
                                    </p:animEffect>
                                    <p:anim calcmode="lin" valueType="num">
                                      <p:cBhvr>
                                        <p:cTn id="50" dur="1000" fill="hold"/>
                                        <p:tgtEl>
                                          <p:spTgt spid="17"/>
                                        </p:tgtEl>
                                        <p:attrNameLst>
                                          <p:attrName>ppt_x</p:attrName>
                                        </p:attrNameLst>
                                      </p:cBhvr>
                                      <p:tavLst>
                                        <p:tav tm="0">
                                          <p:val>
                                            <p:strVal val="#ppt_x"/>
                                          </p:val>
                                        </p:tav>
                                        <p:tav tm="100000">
                                          <p:val>
                                            <p:strVal val="#ppt_x"/>
                                          </p:val>
                                        </p:tav>
                                      </p:tavLst>
                                    </p:anim>
                                    <p:anim calcmode="lin" valueType="num">
                                      <p:cBhvr>
                                        <p:cTn id="5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a:extLst>
              <a:ext uri="{FF2B5EF4-FFF2-40B4-BE49-F238E27FC236}">
                <a16:creationId xmlns:a16="http://schemas.microsoft.com/office/drawing/2014/main" id="{403E1108-94EF-4574-B9D6-2DF6CD73105A}"/>
              </a:ext>
            </a:extLst>
          </p:cNvPr>
          <p:cNvSpPr txBox="1">
            <a:spLocks/>
          </p:cNvSpPr>
          <p:nvPr/>
        </p:nvSpPr>
        <p:spPr>
          <a:xfrm>
            <a:off x="755576" y="243006"/>
            <a:ext cx="8229600" cy="4215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rgbClr val="C80000"/>
                </a:solidFill>
                <a:latin typeface="汉仪雅酷黑 75W" panose="020B0804020202020204" pitchFamily="34" charset="-122"/>
                <a:ea typeface="汉仪雅酷黑 75W" panose="020B0804020202020204" pitchFamily="34" charset="-122"/>
                <a:cs typeface="+mn-ea"/>
              </a:rPr>
              <a:t>党的纪律</a:t>
            </a:r>
          </a:p>
        </p:txBody>
      </p:sp>
      <p:sp>
        <p:nvSpPr>
          <p:cNvPr id="15" name="圆角矩形 19">
            <a:extLst>
              <a:ext uri="{FF2B5EF4-FFF2-40B4-BE49-F238E27FC236}">
                <a16:creationId xmlns:a16="http://schemas.microsoft.com/office/drawing/2014/main" id="{083BEF8E-E95E-436A-94C7-5D0942661F39}"/>
              </a:ext>
            </a:extLst>
          </p:cNvPr>
          <p:cNvSpPr/>
          <p:nvPr/>
        </p:nvSpPr>
        <p:spPr>
          <a:xfrm>
            <a:off x="1086215" y="2619950"/>
            <a:ext cx="6919184" cy="1872208"/>
          </a:xfrm>
          <a:prstGeom prst="round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a typeface="Noto Sans S Chinese Light" panose="020B0300000000000000" pitchFamily="34" charset="-122"/>
            </a:endParaRPr>
          </a:p>
        </p:txBody>
      </p:sp>
      <p:sp>
        <p:nvSpPr>
          <p:cNvPr id="28" name="文本框 27">
            <a:extLst>
              <a:ext uri="{FF2B5EF4-FFF2-40B4-BE49-F238E27FC236}">
                <a16:creationId xmlns:a16="http://schemas.microsoft.com/office/drawing/2014/main" id="{65E89503-65BA-4C06-A681-C5D176E2FF89}"/>
              </a:ext>
            </a:extLst>
          </p:cNvPr>
          <p:cNvSpPr txBox="1"/>
          <p:nvPr/>
        </p:nvSpPr>
        <p:spPr>
          <a:xfrm>
            <a:off x="1180047" y="1996927"/>
            <a:ext cx="6920345" cy="404085"/>
          </a:xfrm>
          <a:prstGeom prst="rect">
            <a:avLst/>
          </a:prstGeom>
          <a:noFill/>
        </p:spPr>
        <p:txBody>
          <a:bodyPr wrap="square" rtlCol="0">
            <a:spAutoFit/>
          </a:bodyPr>
          <a:lstStyle/>
          <a:p>
            <a:r>
              <a:rPr lang="zh-CN" altLang="en-US" sz="1013" dirty="0">
                <a:solidFill>
                  <a:srgbClr val="7C4939"/>
                </a:solidFill>
                <a:latin typeface="Noto Sans S Chinese Light" panose="020B0300000000000000" pitchFamily="34" charset="-122"/>
                <a:ea typeface="Noto Sans S Chinese Light" panose="020B0300000000000000" pitchFamily="34" charset="-122"/>
              </a:rPr>
              <a:t>党组织和党员违反党章和其他党内法规、违反国家法律法规、违反党和国家政策、违反社会主义道德、危害党、国家和人民的利益的行为，依照规定应当给予纪律处理或处分的，都应当受到追究。</a:t>
            </a:r>
          </a:p>
        </p:txBody>
      </p:sp>
      <p:sp>
        <p:nvSpPr>
          <p:cNvPr id="29" name="矩形: 圆角 6">
            <a:extLst>
              <a:ext uri="{FF2B5EF4-FFF2-40B4-BE49-F238E27FC236}">
                <a16:creationId xmlns:a16="http://schemas.microsoft.com/office/drawing/2014/main" id="{6A5C515F-F98B-41B3-AE84-F4404C8B02D6}"/>
              </a:ext>
            </a:extLst>
          </p:cNvPr>
          <p:cNvSpPr/>
          <p:nvPr/>
        </p:nvSpPr>
        <p:spPr>
          <a:xfrm>
            <a:off x="1180047" y="1275606"/>
            <a:ext cx="4488873" cy="553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rgbClr val="C00000"/>
                </a:solidFill>
                <a:latin typeface="Noto Sans S Chinese Light" panose="020B0300000000000000" pitchFamily="34" charset="-122"/>
                <a:ea typeface="Noto Sans S Chinese Light" panose="020B0300000000000000" pitchFamily="34" charset="-122"/>
              </a:rPr>
              <a:t>违纪如何界定</a:t>
            </a:r>
          </a:p>
        </p:txBody>
      </p:sp>
      <p:sp>
        <p:nvSpPr>
          <p:cNvPr id="30" name="矩形: 圆角 34">
            <a:extLst>
              <a:ext uri="{FF2B5EF4-FFF2-40B4-BE49-F238E27FC236}">
                <a16:creationId xmlns:a16="http://schemas.microsoft.com/office/drawing/2014/main" id="{C3AEFF7E-982A-49BF-8D9E-F1A2BCEF08E1}"/>
              </a:ext>
            </a:extLst>
          </p:cNvPr>
          <p:cNvSpPr/>
          <p:nvPr/>
        </p:nvSpPr>
        <p:spPr>
          <a:xfrm>
            <a:off x="1014207" y="2802906"/>
            <a:ext cx="2759411" cy="553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bg1"/>
                </a:solidFill>
                <a:latin typeface="Noto Sans S Chinese Light" panose="020B0300000000000000" pitchFamily="34" charset="-122"/>
                <a:ea typeface="Noto Sans S Chinese Light" panose="020B0300000000000000" pitchFamily="34" charset="-122"/>
              </a:rPr>
              <a:t>对严重纪的党组织</a:t>
            </a:r>
          </a:p>
        </p:txBody>
      </p:sp>
      <p:sp>
        <p:nvSpPr>
          <p:cNvPr id="31" name="矩形: 圆角 35">
            <a:extLst>
              <a:ext uri="{FF2B5EF4-FFF2-40B4-BE49-F238E27FC236}">
                <a16:creationId xmlns:a16="http://schemas.microsoft.com/office/drawing/2014/main" id="{EBC8B718-97F9-4C95-ADDF-FF7C669FF986}"/>
              </a:ext>
            </a:extLst>
          </p:cNvPr>
          <p:cNvSpPr/>
          <p:nvPr/>
        </p:nvSpPr>
        <p:spPr>
          <a:xfrm>
            <a:off x="4991181" y="2707090"/>
            <a:ext cx="2759411" cy="553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bg1"/>
                </a:solidFill>
                <a:latin typeface="Noto Sans S Chinese Light" panose="020B0300000000000000" pitchFamily="34" charset="-122"/>
                <a:ea typeface="Noto Sans S Chinese Light" panose="020B0300000000000000" pitchFamily="34" charset="-122"/>
              </a:rPr>
              <a:t>对党员的纪律处分</a:t>
            </a:r>
          </a:p>
        </p:txBody>
      </p:sp>
      <p:sp>
        <p:nvSpPr>
          <p:cNvPr id="32" name="矩形 31">
            <a:extLst>
              <a:ext uri="{FF2B5EF4-FFF2-40B4-BE49-F238E27FC236}">
                <a16:creationId xmlns:a16="http://schemas.microsoft.com/office/drawing/2014/main" id="{4D28D6E1-E93B-45BF-A9E7-808FCEF4466A}"/>
              </a:ext>
            </a:extLst>
          </p:cNvPr>
          <p:cNvSpPr/>
          <p:nvPr/>
        </p:nvSpPr>
        <p:spPr>
          <a:xfrm>
            <a:off x="1798329" y="3548971"/>
            <a:ext cx="1194172" cy="276999"/>
          </a:xfrm>
          <a:prstGeom prst="rect">
            <a:avLst/>
          </a:prstGeom>
          <a:noFill/>
        </p:spPr>
        <p:txBody>
          <a:bodyPr wrap="square">
            <a:spAutoFit/>
          </a:bodyPr>
          <a:lstStyle/>
          <a:p>
            <a:pPr marL="257175" indent="-257175" algn="ctr">
              <a:buFont typeface="Wingdings" panose="05000000000000000000" pitchFamily="2" charset="2"/>
              <a:buChar char="l"/>
            </a:pPr>
            <a:r>
              <a:rPr lang="zh-CN" altLang="en-US" sz="1200" dirty="0">
                <a:solidFill>
                  <a:schemeClr val="bg1"/>
                </a:solidFill>
                <a:latin typeface="Noto Sans S Chinese Light" panose="020B0300000000000000" pitchFamily="34" charset="-122"/>
                <a:ea typeface="Noto Sans S Chinese Light" panose="020B0300000000000000" pitchFamily="34" charset="-122"/>
              </a:rPr>
              <a:t>改组</a:t>
            </a:r>
          </a:p>
        </p:txBody>
      </p:sp>
      <p:sp>
        <p:nvSpPr>
          <p:cNvPr id="33" name="矩形 32">
            <a:extLst>
              <a:ext uri="{FF2B5EF4-FFF2-40B4-BE49-F238E27FC236}">
                <a16:creationId xmlns:a16="http://schemas.microsoft.com/office/drawing/2014/main" id="{BB95BC2D-35AF-4E0C-A39A-3A279AF196C8}"/>
              </a:ext>
            </a:extLst>
          </p:cNvPr>
          <p:cNvSpPr/>
          <p:nvPr/>
        </p:nvSpPr>
        <p:spPr>
          <a:xfrm>
            <a:off x="1798329" y="3880037"/>
            <a:ext cx="1194172" cy="276999"/>
          </a:xfrm>
          <a:prstGeom prst="rect">
            <a:avLst/>
          </a:prstGeom>
          <a:noFill/>
        </p:spPr>
        <p:txBody>
          <a:bodyPr wrap="square">
            <a:spAutoFit/>
          </a:bodyPr>
          <a:lstStyle/>
          <a:p>
            <a:pPr marL="257175" indent="-257175" algn="ctr">
              <a:buFont typeface="Wingdings" panose="05000000000000000000" pitchFamily="2" charset="2"/>
              <a:buChar char="l"/>
            </a:pPr>
            <a:r>
              <a:rPr lang="zh-CN" altLang="en-US" sz="1200" dirty="0">
                <a:solidFill>
                  <a:schemeClr val="bg1"/>
                </a:solidFill>
                <a:latin typeface="Noto Sans S Chinese Light" panose="020B0300000000000000" pitchFamily="34" charset="-122"/>
                <a:ea typeface="Noto Sans S Chinese Light" panose="020B0300000000000000" pitchFamily="34" charset="-122"/>
              </a:rPr>
              <a:t>解散</a:t>
            </a:r>
          </a:p>
        </p:txBody>
      </p:sp>
      <p:sp>
        <p:nvSpPr>
          <p:cNvPr id="34" name="矩形 33">
            <a:extLst>
              <a:ext uri="{FF2B5EF4-FFF2-40B4-BE49-F238E27FC236}">
                <a16:creationId xmlns:a16="http://schemas.microsoft.com/office/drawing/2014/main" id="{E6A6C517-E200-4239-BC38-95D8A6690D12}"/>
              </a:ext>
            </a:extLst>
          </p:cNvPr>
          <p:cNvSpPr/>
          <p:nvPr/>
        </p:nvSpPr>
        <p:spPr>
          <a:xfrm>
            <a:off x="5245988" y="3398597"/>
            <a:ext cx="1337891" cy="276999"/>
          </a:xfrm>
          <a:prstGeom prst="rect">
            <a:avLst/>
          </a:prstGeom>
          <a:noFill/>
        </p:spPr>
        <p:txBody>
          <a:bodyPr wrap="square">
            <a:spAutoFit/>
          </a:bodyPr>
          <a:lstStyle/>
          <a:p>
            <a:pPr marL="257175" indent="-257175">
              <a:buFont typeface="Wingdings" panose="05000000000000000000" pitchFamily="2" charset="2"/>
              <a:buChar char="l"/>
            </a:pPr>
            <a:r>
              <a:rPr lang="zh-CN" altLang="en-US" sz="1200" dirty="0">
                <a:solidFill>
                  <a:schemeClr val="bg1"/>
                </a:solidFill>
                <a:latin typeface="Noto Sans S Chinese Light" panose="020B0300000000000000" pitchFamily="34" charset="-122"/>
                <a:ea typeface="Noto Sans S Chinese Light" panose="020B0300000000000000" pitchFamily="34" charset="-122"/>
              </a:rPr>
              <a:t>警告</a:t>
            </a:r>
          </a:p>
        </p:txBody>
      </p:sp>
      <p:sp>
        <p:nvSpPr>
          <p:cNvPr id="35" name="矩形 34">
            <a:extLst>
              <a:ext uri="{FF2B5EF4-FFF2-40B4-BE49-F238E27FC236}">
                <a16:creationId xmlns:a16="http://schemas.microsoft.com/office/drawing/2014/main" id="{087643D3-08D0-4A05-8123-57E163DF29B8}"/>
              </a:ext>
            </a:extLst>
          </p:cNvPr>
          <p:cNvSpPr/>
          <p:nvPr/>
        </p:nvSpPr>
        <p:spPr>
          <a:xfrm>
            <a:off x="6630831" y="3398597"/>
            <a:ext cx="1337891" cy="276999"/>
          </a:xfrm>
          <a:prstGeom prst="rect">
            <a:avLst/>
          </a:prstGeom>
          <a:noFill/>
        </p:spPr>
        <p:txBody>
          <a:bodyPr wrap="square">
            <a:spAutoFit/>
          </a:bodyPr>
          <a:lstStyle/>
          <a:p>
            <a:pPr marL="257175" indent="-257175">
              <a:buFont typeface="Wingdings" panose="05000000000000000000" pitchFamily="2" charset="2"/>
              <a:buChar char="l"/>
            </a:pPr>
            <a:r>
              <a:rPr lang="zh-CN" altLang="en-US" sz="1200" dirty="0">
                <a:solidFill>
                  <a:schemeClr val="bg1"/>
                </a:solidFill>
                <a:latin typeface="Noto Sans S Chinese Light" panose="020B0300000000000000" pitchFamily="34" charset="-122"/>
                <a:ea typeface="Noto Sans S Chinese Light" panose="020B0300000000000000" pitchFamily="34" charset="-122"/>
              </a:rPr>
              <a:t>严重警告</a:t>
            </a:r>
          </a:p>
        </p:txBody>
      </p:sp>
      <p:sp>
        <p:nvSpPr>
          <p:cNvPr id="36" name="矩形 35">
            <a:extLst>
              <a:ext uri="{FF2B5EF4-FFF2-40B4-BE49-F238E27FC236}">
                <a16:creationId xmlns:a16="http://schemas.microsoft.com/office/drawing/2014/main" id="{03A2AE60-A3EF-4691-B37F-C437C0CC5328}"/>
              </a:ext>
            </a:extLst>
          </p:cNvPr>
          <p:cNvSpPr/>
          <p:nvPr/>
        </p:nvSpPr>
        <p:spPr>
          <a:xfrm>
            <a:off x="5245988" y="3711237"/>
            <a:ext cx="1591528" cy="276999"/>
          </a:xfrm>
          <a:prstGeom prst="rect">
            <a:avLst/>
          </a:prstGeom>
          <a:noFill/>
        </p:spPr>
        <p:txBody>
          <a:bodyPr wrap="square">
            <a:spAutoFit/>
          </a:bodyPr>
          <a:lstStyle/>
          <a:p>
            <a:pPr marL="257175" indent="-257175">
              <a:buFont typeface="Wingdings" panose="05000000000000000000" pitchFamily="2" charset="2"/>
              <a:buChar char="l"/>
            </a:pPr>
            <a:r>
              <a:rPr lang="zh-CN" altLang="en-US" sz="1200" dirty="0">
                <a:solidFill>
                  <a:schemeClr val="bg1"/>
                </a:solidFill>
                <a:latin typeface="Noto Sans S Chinese Light" panose="020B0300000000000000" pitchFamily="34" charset="-122"/>
                <a:ea typeface="Noto Sans S Chinese Light" panose="020B0300000000000000" pitchFamily="34" charset="-122"/>
              </a:rPr>
              <a:t>撤消党内职务</a:t>
            </a:r>
          </a:p>
        </p:txBody>
      </p:sp>
      <p:sp>
        <p:nvSpPr>
          <p:cNvPr id="37" name="矩形 36">
            <a:extLst>
              <a:ext uri="{FF2B5EF4-FFF2-40B4-BE49-F238E27FC236}">
                <a16:creationId xmlns:a16="http://schemas.microsoft.com/office/drawing/2014/main" id="{EC97B483-360D-4AAE-82C9-78578DF99BFB}"/>
              </a:ext>
            </a:extLst>
          </p:cNvPr>
          <p:cNvSpPr/>
          <p:nvPr/>
        </p:nvSpPr>
        <p:spPr>
          <a:xfrm>
            <a:off x="6630831" y="3711237"/>
            <a:ext cx="1337891" cy="276999"/>
          </a:xfrm>
          <a:prstGeom prst="rect">
            <a:avLst/>
          </a:prstGeom>
          <a:noFill/>
        </p:spPr>
        <p:txBody>
          <a:bodyPr wrap="square">
            <a:spAutoFit/>
          </a:bodyPr>
          <a:lstStyle/>
          <a:p>
            <a:pPr marL="257175" indent="-257175">
              <a:buFont typeface="Wingdings" panose="05000000000000000000" pitchFamily="2" charset="2"/>
              <a:buChar char="l"/>
            </a:pPr>
            <a:r>
              <a:rPr lang="zh-CN" altLang="en-US" sz="1200" dirty="0">
                <a:solidFill>
                  <a:schemeClr val="bg1"/>
                </a:solidFill>
                <a:latin typeface="Noto Sans S Chinese Light" panose="020B0300000000000000" pitchFamily="34" charset="-122"/>
                <a:ea typeface="Noto Sans S Chinese Light" panose="020B0300000000000000" pitchFamily="34" charset="-122"/>
              </a:rPr>
              <a:t>留党察看</a:t>
            </a:r>
          </a:p>
        </p:txBody>
      </p:sp>
      <p:sp>
        <p:nvSpPr>
          <p:cNvPr id="38" name="矩形 37">
            <a:extLst>
              <a:ext uri="{FF2B5EF4-FFF2-40B4-BE49-F238E27FC236}">
                <a16:creationId xmlns:a16="http://schemas.microsoft.com/office/drawing/2014/main" id="{82612D62-CBC6-4808-80B5-7FE4B957C33D}"/>
              </a:ext>
            </a:extLst>
          </p:cNvPr>
          <p:cNvSpPr/>
          <p:nvPr/>
        </p:nvSpPr>
        <p:spPr>
          <a:xfrm>
            <a:off x="5245988" y="4023877"/>
            <a:ext cx="1337891" cy="276999"/>
          </a:xfrm>
          <a:prstGeom prst="rect">
            <a:avLst/>
          </a:prstGeom>
          <a:noFill/>
        </p:spPr>
        <p:txBody>
          <a:bodyPr wrap="square">
            <a:spAutoFit/>
          </a:bodyPr>
          <a:lstStyle/>
          <a:p>
            <a:pPr marL="257175" indent="-257175">
              <a:buFont typeface="Wingdings" panose="05000000000000000000" pitchFamily="2" charset="2"/>
              <a:buChar char="l"/>
            </a:pPr>
            <a:r>
              <a:rPr lang="zh-CN" altLang="en-US" sz="1200" dirty="0">
                <a:solidFill>
                  <a:schemeClr val="bg1"/>
                </a:solidFill>
                <a:latin typeface="Noto Sans S Chinese Light" panose="020B0300000000000000" pitchFamily="34" charset="-122"/>
                <a:ea typeface="Noto Sans S Chinese Light" panose="020B0300000000000000" pitchFamily="34" charset="-122"/>
              </a:rPr>
              <a:t>开除党籍</a:t>
            </a:r>
          </a:p>
        </p:txBody>
      </p:sp>
      <p:sp>
        <p:nvSpPr>
          <p:cNvPr id="39" name="矩形 38">
            <a:extLst>
              <a:ext uri="{FF2B5EF4-FFF2-40B4-BE49-F238E27FC236}">
                <a16:creationId xmlns:a16="http://schemas.microsoft.com/office/drawing/2014/main" id="{EB1736DD-1D7B-4815-A5E9-BF81C1F169CE}"/>
              </a:ext>
            </a:extLst>
          </p:cNvPr>
          <p:cNvSpPr/>
          <p:nvPr/>
        </p:nvSpPr>
        <p:spPr>
          <a:xfrm>
            <a:off x="4052046" y="3029265"/>
            <a:ext cx="659155" cy="646331"/>
          </a:xfrm>
          <a:prstGeom prst="rect">
            <a:avLst/>
          </a:prstGeom>
          <a:ln>
            <a:noFill/>
          </a:ln>
        </p:spPr>
        <p:txBody>
          <a:bodyPr wrap="none">
            <a:spAutoFit/>
          </a:bodyPr>
          <a:lstStyle/>
          <a:p>
            <a:pPr algn="ctr"/>
            <a:r>
              <a:rPr lang="zh-CN" altLang="en-US" sz="1800" b="1" dirty="0">
                <a:solidFill>
                  <a:schemeClr val="bg1"/>
                </a:solidFill>
                <a:latin typeface="Noto Sans S Chinese Light" panose="020B0300000000000000" pitchFamily="34" charset="-122"/>
                <a:ea typeface="Noto Sans S Chinese Light" panose="020B0300000000000000" pitchFamily="34" charset="-122"/>
              </a:rPr>
              <a:t>处理</a:t>
            </a:r>
            <a:endParaRPr lang="en-US" altLang="zh-CN" sz="1800" b="1" dirty="0">
              <a:solidFill>
                <a:schemeClr val="bg1"/>
              </a:solidFill>
              <a:latin typeface="Noto Sans S Chinese Light" panose="020B0300000000000000" pitchFamily="34" charset="-122"/>
              <a:ea typeface="Noto Sans S Chinese Light" panose="020B0300000000000000" pitchFamily="34" charset="-122"/>
            </a:endParaRPr>
          </a:p>
          <a:p>
            <a:pPr algn="ctr"/>
            <a:r>
              <a:rPr lang="zh-CN" altLang="en-US" sz="1800" b="1" dirty="0">
                <a:solidFill>
                  <a:schemeClr val="bg1"/>
                </a:solidFill>
                <a:latin typeface="Noto Sans S Chinese Light" panose="020B0300000000000000" pitchFamily="34" charset="-122"/>
                <a:ea typeface="Noto Sans S Chinese Light" panose="020B0300000000000000" pitchFamily="34" charset="-122"/>
              </a:rPr>
              <a:t>方式</a:t>
            </a:r>
          </a:p>
        </p:txBody>
      </p:sp>
    </p:spTree>
    <p:extLst>
      <p:ext uri="{BB962C8B-B14F-4D97-AF65-F5344CB8AC3E}">
        <p14:creationId xmlns:p14="http://schemas.microsoft.com/office/powerpoint/2010/main" val="2002699161"/>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750"/>
                                        <p:tgtEl>
                                          <p:spTgt spid="29"/>
                                        </p:tgtEl>
                                      </p:cBhvr>
                                    </p:animEffect>
                                  </p:childTnLst>
                                </p:cTn>
                              </p:par>
                            </p:childTnLst>
                          </p:cTn>
                        </p:par>
                        <p:par>
                          <p:cTn id="8" fill="hold">
                            <p:stCondLst>
                              <p:cond delay="750"/>
                            </p:stCondLst>
                            <p:childTnLst>
                              <p:par>
                                <p:cTn id="9" presetID="22" presetClass="entr" presetSubtype="1"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up)">
                                      <p:cBhvr>
                                        <p:cTn id="11" dur="500"/>
                                        <p:tgtEl>
                                          <p:spTgt spid="28"/>
                                        </p:tgtEl>
                                      </p:cBhvr>
                                    </p:animEffect>
                                  </p:childTnLst>
                                </p:cTn>
                              </p:par>
                            </p:childTnLst>
                          </p:cTn>
                        </p:par>
                        <p:par>
                          <p:cTn id="12" fill="hold">
                            <p:stCondLst>
                              <p:cond delay="1250"/>
                            </p:stCondLst>
                            <p:childTnLst>
                              <p:par>
                                <p:cTn id="13" presetID="53" presetClass="entr" presetSubtype="16" fill="hold" grpId="0" nodeType="afterEffect">
                                  <p:stCondLst>
                                    <p:cond delay="0"/>
                                  </p:stCondLst>
                                  <p:childTnLst>
                                    <p:set>
                                      <p:cBhvr>
                                        <p:cTn id="14" dur="1" fill="hold">
                                          <p:stCondLst>
                                            <p:cond delay="0"/>
                                          </p:stCondLst>
                                        </p:cTn>
                                        <p:tgtEl>
                                          <p:spTgt spid="39"/>
                                        </p:tgtEl>
                                        <p:attrNameLst>
                                          <p:attrName>style.visibility</p:attrName>
                                        </p:attrNameLst>
                                      </p:cBhvr>
                                      <p:to>
                                        <p:strVal val="visible"/>
                                      </p:to>
                                    </p:set>
                                    <p:anim calcmode="lin" valueType="num">
                                      <p:cBhvr>
                                        <p:cTn id="15" dur="500" fill="hold"/>
                                        <p:tgtEl>
                                          <p:spTgt spid="39"/>
                                        </p:tgtEl>
                                        <p:attrNameLst>
                                          <p:attrName>ppt_w</p:attrName>
                                        </p:attrNameLst>
                                      </p:cBhvr>
                                      <p:tavLst>
                                        <p:tav tm="0">
                                          <p:val>
                                            <p:fltVal val="0"/>
                                          </p:val>
                                        </p:tav>
                                        <p:tav tm="100000">
                                          <p:val>
                                            <p:strVal val="#ppt_w"/>
                                          </p:val>
                                        </p:tav>
                                      </p:tavLst>
                                    </p:anim>
                                    <p:anim calcmode="lin" valueType="num">
                                      <p:cBhvr>
                                        <p:cTn id="16" dur="500" fill="hold"/>
                                        <p:tgtEl>
                                          <p:spTgt spid="39"/>
                                        </p:tgtEl>
                                        <p:attrNameLst>
                                          <p:attrName>ppt_h</p:attrName>
                                        </p:attrNameLst>
                                      </p:cBhvr>
                                      <p:tavLst>
                                        <p:tav tm="0">
                                          <p:val>
                                            <p:fltVal val="0"/>
                                          </p:val>
                                        </p:tav>
                                        <p:tav tm="100000">
                                          <p:val>
                                            <p:strVal val="#ppt_h"/>
                                          </p:val>
                                        </p:tav>
                                      </p:tavLst>
                                    </p:anim>
                                    <p:animEffect transition="in" filter="fade">
                                      <p:cBhvr>
                                        <p:cTn id="17" dur="500"/>
                                        <p:tgtEl>
                                          <p:spTgt spid="39"/>
                                        </p:tgtEl>
                                      </p:cBhvr>
                                    </p:animEffect>
                                  </p:childTnLst>
                                </p:cTn>
                              </p:par>
                            </p:childTnLst>
                          </p:cTn>
                        </p:par>
                        <p:par>
                          <p:cTn id="18" fill="hold">
                            <p:stCondLst>
                              <p:cond delay="1750"/>
                            </p:stCondLst>
                            <p:childTnLst>
                              <p:par>
                                <p:cTn id="19" presetID="10" presetClass="entr" presetSubtype="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par>
                          <p:cTn id="28" fill="hold">
                            <p:stCondLst>
                              <p:cond delay="2250"/>
                            </p:stCondLst>
                            <p:childTnLst>
                              <p:par>
                                <p:cTn id="29" presetID="10" presetClass="entr" presetSubtype="0" fill="hold" grpId="0" nodeType="after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8" grpId="0"/>
      <p:bldP spid="29" grpId="0"/>
      <p:bldP spid="30" grpId="0"/>
      <p:bldP spid="31" grpId="0"/>
      <p:bldP spid="32" grpId="0"/>
      <p:bldP spid="33" grpId="0"/>
      <p:bldP spid="34" grpId="0"/>
      <p:bldP spid="35" grpId="0"/>
      <p:bldP spid="36" grpId="0"/>
      <p:bldP spid="37" grpId="0"/>
      <p:bldP spid="38" grpId="0"/>
      <p:bldP spid="3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a:extLst>
              <a:ext uri="{FF2B5EF4-FFF2-40B4-BE49-F238E27FC236}">
                <a16:creationId xmlns:a16="http://schemas.microsoft.com/office/drawing/2014/main" id="{403E1108-94EF-4574-B9D6-2DF6CD73105A}"/>
              </a:ext>
            </a:extLst>
          </p:cNvPr>
          <p:cNvSpPr txBox="1">
            <a:spLocks/>
          </p:cNvSpPr>
          <p:nvPr/>
        </p:nvSpPr>
        <p:spPr>
          <a:xfrm>
            <a:off x="755576" y="243006"/>
            <a:ext cx="8229600" cy="42155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rgbClr val="C80000"/>
                </a:solidFill>
                <a:latin typeface="汉仪雅酷黑 75W" panose="020B0804020202020204" pitchFamily="34" charset="-122"/>
                <a:ea typeface="汉仪雅酷黑 75W" panose="020B0804020202020204" pitchFamily="34" charset="-122"/>
                <a:cs typeface="+mn-ea"/>
              </a:rPr>
              <a:t>党的纪律</a:t>
            </a:r>
          </a:p>
        </p:txBody>
      </p:sp>
      <p:sp>
        <p:nvSpPr>
          <p:cNvPr id="3" name="矩形: 圆角 3">
            <a:extLst>
              <a:ext uri="{FF2B5EF4-FFF2-40B4-BE49-F238E27FC236}">
                <a16:creationId xmlns:a16="http://schemas.microsoft.com/office/drawing/2014/main" id="{7EAE7124-E69C-4DBE-9DC7-0D2945A13411}"/>
              </a:ext>
            </a:extLst>
          </p:cNvPr>
          <p:cNvSpPr>
            <a:spLocks noChangeAspect="1"/>
          </p:cNvSpPr>
          <p:nvPr/>
        </p:nvSpPr>
        <p:spPr>
          <a:xfrm>
            <a:off x="840131" y="2294301"/>
            <a:ext cx="1350000" cy="1350000"/>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FAF0"/>
                </a:solidFill>
                <a:latin typeface="Noto Sans S Chinese Light" panose="020B0300000000000000" pitchFamily="34" charset="-122"/>
                <a:ea typeface="Noto Sans S Chinese Light" panose="020B0300000000000000" pitchFamily="34" charset="-122"/>
              </a:rPr>
              <a:t>五个</a:t>
            </a:r>
            <a:endParaRPr lang="en-US" altLang="zh-CN" sz="2400" b="1" dirty="0">
              <a:solidFill>
                <a:srgbClr val="FFFAF0"/>
              </a:solidFill>
              <a:latin typeface="Noto Sans S Chinese Light" panose="020B0300000000000000" pitchFamily="34" charset="-122"/>
              <a:ea typeface="Noto Sans S Chinese Light" panose="020B0300000000000000" pitchFamily="34" charset="-122"/>
            </a:endParaRPr>
          </a:p>
          <a:p>
            <a:pPr algn="ctr"/>
            <a:r>
              <a:rPr lang="zh-CN" altLang="en-US" sz="2400" b="1" dirty="0">
                <a:solidFill>
                  <a:srgbClr val="FFFAF0"/>
                </a:solidFill>
                <a:latin typeface="Noto Sans S Chinese Light" panose="020B0300000000000000" pitchFamily="34" charset="-122"/>
                <a:ea typeface="Noto Sans S Chinese Light" panose="020B0300000000000000" pitchFamily="34" charset="-122"/>
              </a:rPr>
              <a:t>必须</a:t>
            </a:r>
          </a:p>
        </p:txBody>
      </p:sp>
      <p:grpSp>
        <p:nvGrpSpPr>
          <p:cNvPr id="4" name="组合 3">
            <a:extLst>
              <a:ext uri="{FF2B5EF4-FFF2-40B4-BE49-F238E27FC236}">
                <a16:creationId xmlns:a16="http://schemas.microsoft.com/office/drawing/2014/main" id="{EC1A31D3-09A1-4559-8536-CFD512F42E6F}"/>
              </a:ext>
            </a:extLst>
          </p:cNvPr>
          <p:cNvGrpSpPr/>
          <p:nvPr/>
        </p:nvGrpSpPr>
        <p:grpSpPr>
          <a:xfrm>
            <a:off x="2987824" y="1347614"/>
            <a:ext cx="5070365" cy="484749"/>
            <a:chOff x="5711402" y="1439530"/>
            <a:chExt cx="5128047" cy="646331"/>
          </a:xfrm>
        </p:grpSpPr>
        <p:sp>
          <p:nvSpPr>
            <p:cNvPr id="5" name="矩形 4">
              <a:extLst>
                <a:ext uri="{FF2B5EF4-FFF2-40B4-BE49-F238E27FC236}">
                  <a16:creationId xmlns:a16="http://schemas.microsoft.com/office/drawing/2014/main" id="{8F2FEBCF-A595-4730-AA2C-AC8B305AC910}"/>
                </a:ext>
              </a:extLst>
            </p:cNvPr>
            <p:cNvSpPr/>
            <p:nvPr/>
          </p:nvSpPr>
          <p:spPr>
            <a:xfrm>
              <a:off x="6310086" y="1439530"/>
              <a:ext cx="4529363" cy="615552"/>
            </a:xfrm>
            <a:prstGeom prst="rect">
              <a:avLst/>
            </a:prstGeom>
          </p:spPr>
          <p:txBody>
            <a:bodyPr wrap="square">
              <a:spAutoFit/>
            </a:bodyPr>
            <a:lstStyle/>
            <a:p>
              <a:pPr algn="just"/>
              <a:r>
                <a:rPr lang="zh-CN" altLang="en-US" sz="1200" dirty="0">
                  <a:solidFill>
                    <a:srgbClr val="C00000"/>
                  </a:solidFill>
                  <a:latin typeface="Noto Sans S Chinese Light" panose="020B0300000000000000" pitchFamily="34" charset="-122"/>
                  <a:ea typeface="Noto Sans S Chinese Light" panose="020B0300000000000000" pitchFamily="34" charset="-122"/>
                </a:rPr>
                <a:t>必须维护党中央权威，在任何时候任何情况下都必须在思想上政治上行动上同党中央保持高度一致；</a:t>
              </a:r>
            </a:p>
          </p:txBody>
        </p:sp>
        <p:sp>
          <p:nvSpPr>
            <p:cNvPr id="6" name="矩形 5">
              <a:extLst>
                <a:ext uri="{FF2B5EF4-FFF2-40B4-BE49-F238E27FC236}">
                  <a16:creationId xmlns:a16="http://schemas.microsoft.com/office/drawing/2014/main" id="{6C4F1ABD-28EE-4CC4-AF95-AFC207C83B84}"/>
                </a:ext>
              </a:extLst>
            </p:cNvPr>
            <p:cNvSpPr/>
            <p:nvPr/>
          </p:nvSpPr>
          <p:spPr>
            <a:xfrm>
              <a:off x="5711402" y="1470309"/>
              <a:ext cx="708221" cy="615552"/>
            </a:xfrm>
            <a:prstGeom prst="rect">
              <a:avLst/>
            </a:prstGeom>
          </p:spPr>
          <p:txBody>
            <a:bodyPr wrap="square">
              <a:spAutoFit/>
            </a:bodyPr>
            <a:lstStyle/>
            <a:p>
              <a:pPr algn="ctr"/>
              <a:r>
                <a:rPr lang="en-US" altLang="zh-CN" sz="2400" b="1" dirty="0">
                  <a:solidFill>
                    <a:srgbClr val="C00000"/>
                  </a:solidFill>
                  <a:latin typeface="Century Gothic" panose="020B0502020202020204" pitchFamily="34" charset="0"/>
                  <a:ea typeface="Noto Sans S Chinese Light" panose="020B0300000000000000" pitchFamily="34" charset="-122"/>
                </a:rPr>
                <a:t>01</a:t>
              </a:r>
              <a:endParaRPr lang="zh-CN" altLang="en-US" sz="2400" b="1" dirty="0">
                <a:solidFill>
                  <a:srgbClr val="C00000"/>
                </a:solidFill>
                <a:latin typeface="Century Gothic" panose="020B0502020202020204" pitchFamily="34" charset="0"/>
                <a:ea typeface="Noto Sans S Chinese Light" panose="020B0300000000000000" pitchFamily="34" charset="-122"/>
              </a:endParaRPr>
            </a:p>
          </p:txBody>
        </p:sp>
      </p:grpSp>
      <p:grpSp>
        <p:nvGrpSpPr>
          <p:cNvPr id="7" name="组合 6">
            <a:extLst>
              <a:ext uri="{FF2B5EF4-FFF2-40B4-BE49-F238E27FC236}">
                <a16:creationId xmlns:a16="http://schemas.microsoft.com/office/drawing/2014/main" id="{846CAE21-E106-46AB-8340-54CF05DF8A6C}"/>
              </a:ext>
            </a:extLst>
          </p:cNvPr>
          <p:cNvGrpSpPr/>
          <p:nvPr/>
        </p:nvGrpSpPr>
        <p:grpSpPr>
          <a:xfrm>
            <a:off x="2987824" y="2077186"/>
            <a:ext cx="5070365" cy="486515"/>
            <a:chOff x="5711402" y="2412287"/>
            <a:chExt cx="5128047" cy="648685"/>
          </a:xfrm>
        </p:grpSpPr>
        <p:sp>
          <p:nvSpPr>
            <p:cNvPr id="8" name="矩形 7">
              <a:extLst>
                <a:ext uri="{FF2B5EF4-FFF2-40B4-BE49-F238E27FC236}">
                  <a16:creationId xmlns:a16="http://schemas.microsoft.com/office/drawing/2014/main" id="{C89D6735-9F33-4892-9EE0-216FB138EED6}"/>
                </a:ext>
              </a:extLst>
            </p:cNvPr>
            <p:cNvSpPr/>
            <p:nvPr/>
          </p:nvSpPr>
          <p:spPr>
            <a:xfrm>
              <a:off x="5711402" y="2445420"/>
              <a:ext cx="708221" cy="615552"/>
            </a:xfrm>
            <a:prstGeom prst="rect">
              <a:avLst/>
            </a:prstGeom>
          </p:spPr>
          <p:txBody>
            <a:bodyPr wrap="square">
              <a:spAutoFit/>
            </a:bodyPr>
            <a:lstStyle/>
            <a:p>
              <a:pPr algn="ctr"/>
              <a:r>
                <a:rPr lang="en-US" altLang="zh-CN" sz="2400" b="1" dirty="0">
                  <a:solidFill>
                    <a:srgbClr val="C00000"/>
                  </a:solidFill>
                  <a:latin typeface="Century Gothic" panose="020B0502020202020204" pitchFamily="34" charset="0"/>
                  <a:ea typeface="Noto Sans S Chinese Light" panose="020B0300000000000000" pitchFamily="34" charset="-122"/>
                </a:rPr>
                <a:t>02</a:t>
              </a:r>
              <a:endParaRPr lang="zh-CN" altLang="en-US" sz="2400" b="1" dirty="0">
                <a:solidFill>
                  <a:srgbClr val="C00000"/>
                </a:solidFill>
                <a:latin typeface="Century Gothic" panose="020B0502020202020204" pitchFamily="34" charset="0"/>
                <a:ea typeface="Noto Sans S Chinese Light" panose="020B0300000000000000" pitchFamily="34" charset="-122"/>
              </a:endParaRPr>
            </a:p>
          </p:txBody>
        </p:sp>
        <p:sp>
          <p:nvSpPr>
            <p:cNvPr id="9" name="矩形 8">
              <a:extLst>
                <a:ext uri="{FF2B5EF4-FFF2-40B4-BE49-F238E27FC236}">
                  <a16:creationId xmlns:a16="http://schemas.microsoft.com/office/drawing/2014/main" id="{8176C310-2FC5-4C52-BFA4-5924204D39B5}"/>
                </a:ext>
              </a:extLst>
            </p:cNvPr>
            <p:cNvSpPr/>
            <p:nvPr/>
          </p:nvSpPr>
          <p:spPr>
            <a:xfrm>
              <a:off x="6310086" y="2412287"/>
              <a:ext cx="4529363" cy="369331"/>
            </a:xfrm>
            <a:prstGeom prst="rect">
              <a:avLst/>
            </a:prstGeom>
          </p:spPr>
          <p:txBody>
            <a:bodyPr wrap="square">
              <a:spAutoFit/>
            </a:bodyPr>
            <a:lstStyle/>
            <a:p>
              <a:pPr algn="just"/>
              <a:r>
                <a:rPr lang="zh-CN" altLang="en-US" sz="1200" dirty="0">
                  <a:solidFill>
                    <a:srgbClr val="C00000"/>
                  </a:solidFill>
                  <a:latin typeface="Noto Sans S Chinese Light" panose="020B0300000000000000" pitchFamily="34" charset="-122"/>
                  <a:ea typeface="Noto Sans S Chinese Light" panose="020B0300000000000000" pitchFamily="34" charset="-122"/>
                </a:rPr>
                <a:t>必须维护党的团结，坚持五湖四海，团结一切忠实于党的同志；</a:t>
              </a:r>
            </a:p>
          </p:txBody>
        </p:sp>
      </p:grpSp>
      <p:grpSp>
        <p:nvGrpSpPr>
          <p:cNvPr id="10" name="组合 9">
            <a:extLst>
              <a:ext uri="{FF2B5EF4-FFF2-40B4-BE49-F238E27FC236}">
                <a16:creationId xmlns:a16="http://schemas.microsoft.com/office/drawing/2014/main" id="{5CDFE225-213E-4EE0-8C08-52C32D76A219}"/>
              </a:ext>
            </a:extLst>
          </p:cNvPr>
          <p:cNvGrpSpPr/>
          <p:nvPr/>
        </p:nvGrpSpPr>
        <p:grpSpPr>
          <a:xfrm>
            <a:off x="2987824" y="2808518"/>
            <a:ext cx="5070365" cy="486515"/>
            <a:chOff x="5711402" y="3387399"/>
            <a:chExt cx="5128047" cy="648685"/>
          </a:xfrm>
        </p:grpSpPr>
        <p:sp>
          <p:nvSpPr>
            <p:cNvPr id="11" name="矩形 10">
              <a:extLst>
                <a:ext uri="{FF2B5EF4-FFF2-40B4-BE49-F238E27FC236}">
                  <a16:creationId xmlns:a16="http://schemas.microsoft.com/office/drawing/2014/main" id="{83D579F9-3047-409C-9F73-CAE5C411DE60}"/>
                </a:ext>
              </a:extLst>
            </p:cNvPr>
            <p:cNvSpPr/>
            <p:nvPr/>
          </p:nvSpPr>
          <p:spPr>
            <a:xfrm>
              <a:off x="5711402" y="3420532"/>
              <a:ext cx="708221" cy="615552"/>
            </a:xfrm>
            <a:prstGeom prst="rect">
              <a:avLst/>
            </a:prstGeom>
          </p:spPr>
          <p:txBody>
            <a:bodyPr wrap="square">
              <a:spAutoFit/>
            </a:bodyPr>
            <a:lstStyle/>
            <a:p>
              <a:pPr algn="ctr"/>
              <a:r>
                <a:rPr lang="en-US" altLang="zh-CN" sz="2400" b="1" dirty="0">
                  <a:solidFill>
                    <a:srgbClr val="C00000"/>
                  </a:solidFill>
                  <a:latin typeface="Century Gothic" panose="020B0502020202020204" pitchFamily="34" charset="0"/>
                  <a:ea typeface="Noto Sans S Chinese Light" panose="020B0300000000000000" pitchFamily="34" charset="-122"/>
                </a:rPr>
                <a:t>03</a:t>
              </a:r>
              <a:endParaRPr lang="zh-CN" altLang="en-US" sz="2400" b="1" dirty="0">
                <a:solidFill>
                  <a:srgbClr val="C00000"/>
                </a:solidFill>
                <a:latin typeface="Century Gothic" panose="020B0502020202020204" pitchFamily="34" charset="0"/>
                <a:ea typeface="Noto Sans S Chinese Light" panose="020B0300000000000000" pitchFamily="34" charset="-122"/>
              </a:endParaRPr>
            </a:p>
          </p:txBody>
        </p:sp>
        <p:sp>
          <p:nvSpPr>
            <p:cNvPr id="12" name="矩形 11">
              <a:extLst>
                <a:ext uri="{FF2B5EF4-FFF2-40B4-BE49-F238E27FC236}">
                  <a16:creationId xmlns:a16="http://schemas.microsoft.com/office/drawing/2014/main" id="{8431C5E7-C9BB-40A1-9345-C903A1CD3055}"/>
                </a:ext>
              </a:extLst>
            </p:cNvPr>
            <p:cNvSpPr/>
            <p:nvPr/>
          </p:nvSpPr>
          <p:spPr>
            <a:xfrm>
              <a:off x="6310086" y="3387399"/>
              <a:ext cx="4529363" cy="615552"/>
            </a:xfrm>
            <a:prstGeom prst="rect">
              <a:avLst/>
            </a:prstGeom>
          </p:spPr>
          <p:txBody>
            <a:bodyPr wrap="square">
              <a:spAutoFit/>
            </a:bodyPr>
            <a:lstStyle/>
            <a:p>
              <a:pPr algn="just"/>
              <a:r>
                <a:rPr lang="zh-CN" altLang="en-US" sz="1200" dirty="0">
                  <a:solidFill>
                    <a:srgbClr val="C00000"/>
                  </a:solidFill>
                  <a:latin typeface="Noto Sans S Chinese Light" panose="020B0300000000000000" pitchFamily="34" charset="-122"/>
                  <a:ea typeface="Noto Sans S Chinese Light" panose="020B0300000000000000" pitchFamily="34" charset="-122"/>
                </a:rPr>
                <a:t>必须遵循组织程序，重大问题该请示的请示，该汇报的汇报，不允许超越权限办事；</a:t>
              </a:r>
            </a:p>
          </p:txBody>
        </p:sp>
      </p:grpSp>
      <p:grpSp>
        <p:nvGrpSpPr>
          <p:cNvPr id="13" name="组合 12">
            <a:extLst>
              <a:ext uri="{FF2B5EF4-FFF2-40B4-BE49-F238E27FC236}">
                <a16:creationId xmlns:a16="http://schemas.microsoft.com/office/drawing/2014/main" id="{DA715FC3-6B62-4B06-98D6-9C06112C8E61}"/>
              </a:ext>
            </a:extLst>
          </p:cNvPr>
          <p:cNvGrpSpPr/>
          <p:nvPr/>
        </p:nvGrpSpPr>
        <p:grpSpPr>
          <a:xfrm>
            <a:off x="2987824" y="3534748"/>
            <a:ext cx="5070365" cy="489191"/>
            <a:chOff x="5711402" y="4355699"/>
            <a:chExt cx="5128047" cy="652253"/>
          </a:xfrm>
        </p:grpSpPr>
        <p:sp>
          <p:nvSpPr>
            <p:cNvPr id="15" name="矩形 14">
              <a:extLst>
                <a:ext uri="{FF2B5EF4-FFF2-40B4-BE49-F238E27FC236}">
                  <a16:creationId xmlns:a16="http://schemas.microsoft.com/office/drawing/2014/main" id="{C62A09DE-D0F0-41A6-84E1-A9AFD5C43964}"/>
                </a:ext>
              </a:extLst>
            </p:cNvPr>
            <p:cNvSpPr/>
            <p:nvPr/>
          </p:nvSpPr>
          <p:spPr>
            <a:xfrm>
              <a:off x="5711402" y="4392400"/>
              <a:ext cx="708221" cy="615552"/>
            </a:xfrm>
            <a:prstGeom prst="rect">
              <a:avLst/>
            </a:prstGeom>
          </p:spPr>
          <p:txBody>
            <a:bodyPr wrap="square">
              <a:spAutoFit/>
            </a:bodyPr>
            <a:lstStyle/>
            <a:p>
              <a:pPr algn="ctr"/>
              <a:r>
                <a:rPr lang="en-US" altLang="zh-CN" sz="2400" b="1" dirty="0">
                  <a:solidFill>
                    <a:srgbClr val="C00000"/>
                  </a:solidFill>
                  <a:latin typeface="Century Gothic" panose="020B0502020202020204" pitchFamily="34" charset="0"/>
                  <a:ea typeface="Noto Sans S Chinese Light" panose="020B0300000000000000" pitchFamily="34" charset="-122"/>
                </a:rPr>
                <a:t>04</a:t>
              </a:r>
              <a:endParaRPr lang="zh-CN" altLang="en-US" sz="2400" b="1" dirty="0">
                <a:solidFill>
                  <a:srgbClr val="C00000"/>
                </a:solidFill>
                <a:latin typeface="Century Gothic" panose="020B0502020202020204" pitchFamily="34" charset="0"/>
                <a:ea typeface="Noto Sans S Chinese Light" panose="020B0300000000000000" pitchFamily="34" charset="-122"/>
              </a:endParaRPr>
            </a:p>
          </p:txBody>
        </p:sp>
        <p:sp>
          <p:nvSpPr>
            <p:cNvPr id="16" name="矩形 15">
              <a:extLst>
                <a:ext uri="{FF2B5EF4-FFF2-40B4-BE49-F238E27FC236}">
                  <a16:creationId xmlns:a16="http://schemas.microsoft.com/office/drawing/2014/main" id="{E638DE06-F44B-4D92-BE88-39E084336EC9}"/>
                </a:ext>
              </a:extLst>
            </p:cNvPr>
            <p:cNvSpPr/>
            <p:nvPr/>
          </p:nvSpPr>
          <p:spPr>
            <a:xfrm>
              <a:off x="6310086" y="4355699"/>
              <a:ext cx="4529363" cy="369331"/>
            </a:xfrm>
            <a:prstGeom prst="rect">
              <a:avLst/>
            </a:prstGeom>
          </p:spPr>
          <p:txBody>
            <a:bodyPr wrap="square">
              <a:spAutoFit/>
            </a:bodyPr>
            <a:lstStyle/>
            <a:p>
              <a:pPr algn="just"/>
              <a:r>
                <a:rPr lang="zh-CN" altLang="en-US" sz="1200" dirty="0">
                  <a:solidFill>
                    <a:srgbClr val="C00000"/>
                  </a:solidFill>
                  <a:latin typeface="Noto Sans S Chinese Light" panose="020B0300000000000000" pitchFamily="34" charset="-122"/>
                  <a:ea typeface="Noto Sans S Chinese Light" panose="020B0300000000000000" pitchFamily="34" charset="-122"/>
                </a:rPr>
                <a:t>必须服从组织决定，决不允许搞非组织活动，不得违背组织决定；</a:t>
              </a:r>
            </a:p>
          </p:txBody>
        </p:sp>
      </p:grpSp>
      <p:grpSp>
        <p:nvGrpSpPr>
          <p:cNvPr id="17" name="组合 16">
            <a:extLst>
              <a:ext uri="{FF2B5EF4-FFF2-40B4-BE49-F238E27FC236}">
                <a16:creationId xmlns:a16="http://schemas.microsoft.com/office/drawing/2014/main" id="{380EC6C4-35CC-4CD4-9F12-6626B417C4C4}"/>
              </a:ext>
            </a:extLst>
          </p:cNvPr>
          <p:cNvGrpSpPr/>
          <p:nvPr/>
        </p:nvGrpSpPr>
        <p:grpSpPr>
          <a:xfrm>
            <a:off x="2987824" y="4272751"/>
            <a:ext cx="5070365" cy="484541"/>
            <a:chOff x="5711402" y="5339702"/>
            <a:chExt cx="5128047" cy="646053"/>
          </a:xfrm>
        </p:grpSpPr>
        <p:sp>
          <p:nvSpPr>
            <p:cNvPr id="18" name="矩形 17">
              <a:extLst>
                <a:ext uri="{FF2B5EF4-FFF2-40B4-BE49-F238E27FC236}">
                  <a16:creationId xmlns:a16="http://schemas.microsoft.com/office/drawing/2014/main" id="{956CAE38-D3AD-4BFF-87CA-107B9258D56B}"/>
                </a:ext>
              </a:extLst>
            </p:cNvPr>
            <p:cNvSpPr/>
            <p:nvPr/>
          </p:nvSpPr>
          <p:spPr>
            <a:xfrm>
              <a:off x="5711402" y="5370203"/>
              <a:ext cx="708221" cy="615552"/>
            </a:xfrm>
            <a:prstGeom prst="rect">
              <a:avLst/>
            </a:prstGeom>
          </p:spPr>
          <p:txBody>
            <a:bodyPr wrap="square">
              <a:spAutoFit/>
            </a:bodyPr>
            <a:lstStyle/>
            <a:p>
              <a:pPr algn="ctr"/>
              <a:r>
                <a:rPr lang="en-US" altLang="zh-CN" sz="2400" b="1" dirty="0">
                  <a:solidFill>
                    <a:srgbClr val="C00000"/>
                  </a:solidFill>
                  <a:latin typeface="Century Gothic" panose="020B0502020202020204" pitchFamily="34" charset="0"/>
                  <a:ea typeface="Noto Sans S Chinese Light" panose="020B0300000000000000" pitchFamily="34" charset="-122"/>
                </a:rPr>
                <a:t>05</a:t>
              </a:r>
              <a:endParaRPr lang="zh-CN" altLang="en-US" sz="2400" b="1" dirty="0">
                <a:solidFill>
                  <a:srgbClr val="C00000"/>
                </a:solidFill>
                <a:latin typeface="Century Gothic" panose="020B0502020202020204" pitchFamily="34" charset="0"/>
                <a:ea typeface="Noto Sans S Chinese Light" panose="020B0300000000000000" pitchFamily="34" charset="-122"/>
              </a:endParaRPr>
            </a:p>
          </p:txBody>
        </p:sp>
        <p:sp>
          <p:nvSpPr>
            <p:cNvPr id="19" name="矩形 18">
              <a:extLst>
                <a:ext uri="{FF2B5EF4-FFF2-40B4-BE49-F238E27FC236}">
                  <a16:creationId xmlns:a16="http://schemas.microsoft.com/office/drawing/2014/main" id="{5DBB5AF3-806A-486C-A844-9CEB80459ECA}"/>
                </a:ext>
              </a:extLst>
            </p:cNvPr>
            <p:cNvSpPr/>
            <p:nvPr/>
          </p:nvSpPr>
          <p:spPr>
            <a:xfrm>
              <a:off x="6310086" y="5339702"/>
              <a:ext cx="4529363" cy="615552"/>
            </a:xfrm>
            <a:prstGeom prst="rect">
              <a:avLst/>
            </a:prstGeom>
          </p:spPr>
          <p:txBody>
            <a:bodyPr wrap="square">
              <a:spAutoFit/>
            </a:bodyPr>
            <a:lstStyle/>
            <a:p>
              <a:pPr algn="just"/>
              <a:r>
                <a:rPr lang="zh-CN" altLang="en-US" sz="1200" dirty="0">
                  <a:solidFill>
                    <a:srgbClr val="C00000"/>
                  </a:solidFill>
                  <a:latin typeface="Noto Sans S Chinese Light" panose="020B0300000000000000" pitchFamily="34" charset="-122"/>
                  <a:ea typeface="Noto Sans S Chinese Light" panose="020B0300000000000000" pitchFamily="34" charset="-122"/>
                </a:rPr>
                <a:t>必须管好亲属和身边工作人员，不得默许他们利用特殊身份谋取非法利益。</a:t>
              </a:r>
            </a:p>
          </p:txBody>
        </p:sp>
      </p:grpSp>
      <p:sp>
        <p:nvSpPr>
          <p:cNvPr id="20" name="左大括号 19">
            <a:extLst>
              <a:ext uri="{FF2B5EF4-FFF2-40B4-BE49-F238E27FC236}">
                <a16:creationId xmlns:a16="http://schemas.microsoft.com/office/drawing/2014/main" id="{7E9EF137-897B-4DCF-856B-27CDE3023CA4}"/>
              </a:ext>
            </a:extLst>
          </p:cNvPr>
          <p:cNvSpPr/>
          <p:nvPr/>
        </p:nvSpPr>
        <p:spPr>
          <a:xfrm>
            <a:off x="2376375" y="1601530"/>
            <a:ext cx="425230" cy="2924929"/>
          </a:xfrm>
          <a:prstGeom prst="leftBrace">
            <a:avLst>
              <a:gd name="adj1" fmla="val 14705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ea typeface="Noto Sans S Chinese Light" panose="020B0300000000000000" pitchFamily="34" charset="-122"/>
            </a:endParaRPr>
          </a:p>
        </p:txBody>
      </p:sp>
    </p:spTree>
    <p:extLst>
      <p:ext uri="{BB962C8B-B14F-4D97-AF65-F5344CB8AC3E}">
        <p14:creationId xmlns:p14="http://schemas.microsoft.com/office/powerpoint/2010/main" val="3456458360"/>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16" presetClass="entr" presetSubtype="2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barn(inHorizontal)">
                                      <p:cBhvr>
                                        <p:cTn id="13" dur="500"/>
                                        <p:tgtEl>
                                          <p:spTgt spid="20"/>
                                        </p:tgtEl>
                                      </p:cBhvr>
                                    </p:animEffect>
                                  </p:childTnLst>
                                </p:cTn>
                              </p:par>
                            </p:childTnLst>
                          </p:cTn>
                        </p:par>
                        <p:par>
                          <p:cTn id="14" fill="hold">
                            <p:stCondLst>
                              <p:cond delay="1250"/>
                            </p:stCondLst>
                            <p:childTnLst>
                              <p:par>
                                <p:cTn id="15" presetID="10"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FB3326CC-105E-4511-AEAE-1F506C4C7151}"/>
              </a:ext>
            </a:extLst>
          </p:cNvPr>
          <p:cNvPicPr>
            <a:picLocks noChangeAspect="1"/>
          </p:cNvPicPr>
          <p:nvPr/>
        </p:nvPicPr>
        <p:blipFill>
          <a:blip r:embed="rId2"/>
          <a:stretch>
            <a:fillRect/>
          </a:stretch>
        </p:blipFill>
        <p:spPr>
          <a:xfrm>
            <a:off x="28450" y="3799321"/>
            <a:ext cx="9144000" cy="1311904"/>
          </a:xfrm>
          <a:prstGeom prst="rect">
            <a:avLst/>
          </a:prstGeom>
        </p:spPr>
      </p:pic>
      <p:pic>
        <p:nvPicPr>
          <p:cNvPr id="9" name="图片 8">
            <a:extLst>
              <a:ext uri="{FF2B5EF4-FFF2-40B4-BE49-F238E27FC236}">
                <a16:creationId xmlns:a16="http://schemas.microsoft.com/office/drawing/2014/main" id="{D68BE9A7-41FB-44C4-A472-50C00B774FEB}"/>
              </a:ext>
            </a:extLst>
          </p:cNvPr>
          <p:cNvPicPr>
            <a:picLocks noChangeAspect="1"/>
          </p:cNvPicPr>
          <p:nvPr/>
        </p:nvPicPr>
        <p:blipFill rotWithShape="1">
          <a:blip r:embed="rId3"/>
          <a:srcRect b="33209"/>
          <a:stretch/>
        </p:blipFill>
        <p:spPr>
          <a:xfrm>
            <a:off x="1" y="1"/>
            <a:ext cx="4427984" cy="1923678"/>
          </a:xfrm>
          <a:prstGeom prst="rect">
            <a:avLst/>
          </a:prstGeom>
        </p:spPr>
      </p:pic>
      <p:pic>
        <p:nvPicPr>
          <p:cNvPr id="13" name="图片 12">
            <a:extLst>
              <a:ext uri="{FF2B5EF4-FFF2-40B4-BE49-F238E27FC236}">
                <a16:creationId xmlns:a16="http://schemas.microsoft.com/office/drawing/2014/main" id="{535C2018-35F9-487A-BF47-E4D1AEC11D69}"/>
              </a:ext>
            </a:extLst>
          </p:cNvPr>
          <p:cNvPicPr>
            <a:picLocks noChangeAspect="1"/>
          </p:cNvPicPr>
          <p:nvPr/>
        </p:nvPicPr>
        <p:blipFill>
          <a:blip r:embed="rId4"/>
          <a:stretch>
            <a:fillRect/>
          </a:stretch>
        </p:blipFill>
        <p:spPr>
          <a:xfrm>
            <a:off x="0" y="4086635"/>
            <a:ext cx="9144000" cy="1056864"/>
          </a:xfrm>
          <a:prstGeom prst="rect">
            <a:avLst/>
          </a:prstGeom>
        </p:spPr>
      </p:pic>
      <p:pic>
        <p:nvPicPr>
          <p:cNvPr id="24" name="图片 23">
            <a:extLst>
              <a:ext uri="{FF2B5EF4-FFF2-40B4-BE49-F238E27FC236}">
                <a16:creationId xmlns:a16="http://schemas.microsoft.com/office/drawing/2014/main" id="{EFD91B75-90CC-4D63-A227-65B34F6D3BB1}"/>
              </a:ext>
            </a:extLst>
          </p:cNvPr>
          <p:cNvPicPr>
            <a:picLocks noChangeAspect="1"/>
          </p:cNvPicPr>
          <p:nvPr/>
        </p:nvPicPr>
        <p:blipFill>
          <a:blip r:embed="rId5"/>
          <a:stretch>
            <a:fillRect/>
          </a:stretch>
        </p:blipFill>
        <p:spPr>
          <a:xfrm>
            <a:off x="0" y="-32273"/>
            <a:ext cx="2713798" cy="1367127"/>
          </a:xfrm>
          <a:prstGeom prst="rect">
            <a:avLst/>
          </a:prstGeom>
        </p:spPr>
      </p:pic>
      <p:pic>
        <p:nvPicPr>
          <p:cNvPr id="26" name="图片 25">
            <a:extLst>
              <a:ext uri="{FF2B5EF4-FFF2-40B4-BE49-F238E27FC236}">
                <a16:creationId xmlns:a16="http://schemas.microsoft.com/office/drawing/2014/main" id="{8FF954DB-E50D-4407-A817-849532395E58}"/>
              </a:ext>
            </a:extLst>
          </p:cNvPr>
          <p:cNvPicPr>
            <a:picLocks noChangeAspect="1"/>
          </p:cNvPicPr>
          <p:nvPr/>
        </p:nvPicPr>
        <p:blipFill>
          <a:blip r:embed="rId6"/>
          <a:stretch>
            <a:fillRect/>
          </a:stretch>
        </p:blipFill>
        <p:spPr>
          <a:xfrm>
            <a:off x="6012159" y="2321613"/>
            <a:ext cx="3160291" cy="2821886"/>
          </a:xfrm>
          <a:prstGeom prst="rect">
            <a:avLst/>
          </a:prstGeom>
        </p:spPr>
      </p:pic>
      <p:pic>
        <p:nvPicPr>
          <p:cNvPr id="30" name="图片 29">
            <a:extLst>
              <a:ext uri="{FF2B5EF4-FFF2-40B4-BE49-F238E27FC236}">
                <a16:creationId xmlns:a16="http://schemas.microsoft.com/office/drawing/2014/main" id="{89CDD355-5732-46AB-81AF-F09D0A4123CD}"/>
              </a:ext>
            </a:extLst>
          </p:cNvPr>
          <p:cNvPicPr>
            <a:picLocks noChangeAspect="1"/>
          </p:cNvPicPr>
          <p:nvPr/>
        </p:nvPicPr>
        <p:blipFill>
          <a:blip r:embed="rId7"/>
          <a:srcRect/>
          <a:stretch/>
        </p:blipFill>
        <p:spPr>
          <a:xfrm>
            <a:off x="-28450" y="3075806"/>
            <a:ext cx="2005136" cy="2078683"/>
          </a:xfrm>
          <a:prstGeom prst="rect">
            <a:avLst/>
          </a:prstGeom>
        </p:spPr>
      </p:pic>
      <p:grpSp>
        <p:nvGrpSpPr>
          <p:cNvPr id="41" name="组合 40">
            <a:extLst>
              <a:ext uri="{FF2B5EF4-FFF2-40B4-BE49-F238E27FC236}">
                <a16:creationId xmlns:a16="http://schemas.microsoft.com/office/drawing/2014/main" id="{0BD19B49-DDBF-4B78-8526-C3EC4A270DC9}"/>
              </a:ext>
            </a:extLst>
          </p:cNvPr>
          <p:cNvGrpSpPr/>
          <p:nvPr/>
        </p:nvGrpSpPr>
        <p:grpSpPr>
          <a:xfrm>
            <a:off x="3995936" y="483518"/>
            <a:ext cx="1234884" cy="1234884"/>
            <a:chOff x="3995936" y="483518"/>
            <a:chExt cx="1234884" cy="1234884"/>
          </a:xfrm>
        </p:grpSpPr>
        <p:sp>
          <p:nvSpPr>
            <p:cNvPr id="31" name="任意多边形 50">
              <a:extLst>
                <a:ext uri="{FF2B5EF4-FFF2-40B4-BE49-F238E27FC236}">
                  <a16:creationId xmlns:a16="http://schemas.microsoft.com/office/drawing/2014/main" id="{ABF7851F-C3D4-44A8-94B7-D3F7FECEF1F6}"/>
                </a:ext>
              </a:extLst>
            </p:cNvPr>
            <p:cNvSpPr/>
            <p:nvPr/>
          </p:nvSpPr>
          <p:spPr>
            <a:xfrm>
              <a:off x="3995936" y="483518"/>
              <a:ext cx="1234884" cy="1234884"/>
            </a:xfrm>
            <a:custGeom>
              <a:avLst/>
              <a:gdLst>
                <a:gd name="connsiteX0" fmla="*/ 1677670 w 2407137"/>
                <a:gd name="connsiteY0" fmla="*/ 1837666 h 2407138"/>
                <a:gd name="connsiteX1" fmla="*/ 1683974 w 2407137"/>
                <a:gd name="connsiteY1" fmla="*/ 1833341 h 2407138"/>
                <a:gd name="connsiteX2" fmla="*/ 1689813 w 2407137"/>
                <a:gd name="connsiteY2" fmla="*/ 1828403 h 2407138"/>
                <a:gd name="connsiteX3" fmla="*/ 1945042 w 2407137"/>
                <a:gd name="connsiteY3" fmla="*/ 2162988 h 2407138"/>
                <a:gd name="connsiteX4" fmla="*/ 1932899 w 2407137"/>
                <a:gd name="connsiteY4" fmla="*/ 2172251 h 2407138"/>
                <a:gd name="connsiteX5" fmla="*/ 1592663 w 2407137"/>
                <a:gd name="connsiteY5" fmla="*/ 1892774 h 2407138"/>
                <a:gd name="connsiteX6" fmla="*/ 1605769 w 2407137"/>
                <a:gd name="connsiteY6" fmla="*/ 1884929 h 2407138"/>
                <a:gd name="connsiteX7" fmla="*/ 1748914 w 2407137"/>
                <a:gd name="connsiteY7" fmla="*/ 2132863 h 2407138"/>
                <a:gd name="connsiteX8" fmla="*/ 1735858 w 2407137"/>
                <a:gd name="connsiteY8" fmla="*/ 2140795 h 2407138"/>
                <a:gd name="connsiteX9" fmla="*/ 1768789 w 2407137"/>
                <a:gd name="connsiteY9" fmla="*/ 1757990 h 2407138"/>
                <a:gd name="connsiteX10" fmla="*/ 1971301 w 2407137"/>
                <a:gd name="connsiteY10" fmla="*/ 1960502 h 2407138"/>
                <a:gd name="connsiteX11" fmla="*/ 1966159 w 2407137"/>
                <a:gd name="connsiteY11" fmla="*/ 1966159 h 2407138"/>
                <a:gd name="connsiteX12" fmla="*/ 1960501 w 2407137"/>
                <a:gd name="connsiteY12" fmla="*/ 1971301 h 2407138"/>
                <a:gd name="connsiteX13" fmla="*/ 1758092 w 2407137"/>
                <a:gd name="connsiteY13" fmla="*/ 1768892 h 2407138"/>
                <a:gd name="connsiteX14" fmla="*/ 1765079 w 2407137"/>
                <a:gd name="connsiteY14" fmla="*/ 1762526 h 2407138"/>
                <a:gd name="connsiteX15" fmla="*/ 1834740 w 2407137"/>
                <a:gd name="connsiteY15" fmla="*/ 1681091 h 2407138"/>
                <a:gd name="connsiteX16" fmla="*/ 2168093 w 2407137"/>
                <a:gd name="connsiteY16" fmla="*/ 1938389 h 2407138"/>
                <a:gd name="connsiteX17" fmla="*/ 2158761 w 2407137"/>
                <a:gd name="connsiteY17" fmla="*/ 1950479 h 2407138"/>
                <a:gd name="connsiteX18" fmla="*/ 1825285 w 2407137"/>
                <a:gd name="connsiteY18" fmla="*/ 1693086 h 2407138"/>
                <a:gd name="connsiteX19" fmla="*/ 1497292 w 2407137"/>
                <a:gd name="connsiteY19" fmla="*/ 1938505 h 2407138"/>
                <a:gd name="connsiteX20" fmla="*/ 1511359 w 2407137"/>
                <a:gd name="connsiteY20" fmla="*/ 1932557 h 2407138"/>
                <a:gd name="connsiteX21" fmla="*/ 1671461 w 2407137"/>
                <a:gd name="connsiteY21" fmla="*/ 2322204 h 2407138"/>
                <a:gd name="connsiteX22" fmla="*/ 1657335 w 2407137"/>
                <a:gd name="connsiteY22" fmla="*/ 2328008 h 2407138"/>
                <a:gd name="connsiteX23" fmla="*/ 1400984 w 2407137"/>
                <a:gd name="connsiteY23" fmla="*/ 1969841 h 2407138"/>
                <a:gd name="connsiteX24" fmla="*/ 1415837 w 2407137"/>
                <a:gd name="connsiteY24" fmla="*/ 1966261 h 2407138"/>
                <a:gd name="connsiteX25" fmla="*/ 1489829 w 2407137"/>
                <a:gd name="connsiteY25" fmla="*/ 2242404 h 2407138"/>
                <a:gd name="connsiteX26" fmla="*/ 1475037 w 2407137"/>
                <a:gd name="connsiteY26" fmla="*/ 2246208 h 2407138"/>
                <a:gd name="connsiteX27" fmla="*/ 1890343 w 2407137"/>
                <a:gd name="connsiteY27" fmla="*/ 1591261 h 2407138"/>
                <a:gd name="connsiteX28" fmla="*/ 2140794 w 2407137"/>
                <a:gd name="connsiteY28" fmla="*/ 1735859 h 2407138"/>
                <a:gd name="connsiteX29" fmla="*/ 2132863 w 2407137"/>
                <a:gd name="connsiteY29" fmla="*/ 1748915 h 2407138"/>
                <a:gd name="connsiteX30" fmla="*/ 1883112 w 2407137"/>
                <a:gd name="connsiteY30" fmla="*/ 1604721 h 2407138"/>
                <a:gd name="connsiteX31" fmla="*/ 1934589 w 2407137"/>
                <a:gd name="connsiteY31" fmla="*/ 1500527 h 2407138"/>
                <a:gd name="connsiteX32" fmla="*/ 2325413 w 2407137"/>
                <a:gd name="connsiteY32" fmla="*/ 1663714 h 2407138"/>
                <a:gd name="connsiteX33" fmla="*/ 2319529 w 2407137"/>
                <a:gd name="connsiteY33" fmla="*/ 1677807 h 2407138"/>
                <a:gd name="connsiteX34" fmla="*/ 1928334 w 2407137"/>
                <a:gd name="connsiteY34" fmla="*/ 1514465 h 2407138"/>
                <a:gd name="connsiteX35" fmla="*/ 1296758 w 2407137"/>
                <a:gd name="connsiteY35" fmla="*/ 1987081 h 2407138"/>
                <a:gd name="connsiteX36" fmla="*/ 1311855 w 2407137"/>
                <a:gd name="connsiteY36" fmla="*/ 1984732 h 2407138"/>
                <a:gd name="connsiteX37" fmla="*/ 1365995 w 2407137"/>
                <a:gd name="connsiteY37" fmla="*/ 2405187 h 2407138"/>
                <a:gd name="connsiteX38" fmla="*/ 1350847 w 2407137"/>
                <a:gd name="connsiteY38" fmla="*/ 2407138 h 2407138"/>
                <a:gd name="connsiteX39" fmla="*/ 1195932 w 2407137"/>
                <a:gd name="connsiteY39" fmla="*/ 1995746 h 2407138"/>
                <a:gd name="connsiteX40" fmla="*/ 1211204 w 2407137"/>
                <a:gd name="connsiteY40" fmla="*/ 1995179 h 2407138"/>
                <a:gd name="connsiteX41" fmla="*/ 1211204 w 2407137"/>
                <a:gd name="connsiteY41" fmla="*/ 2281649 h 2407138"/>
                <a:gd name="connsiteX42" fmla="*/ 1203568 w 2407137"/>
                <a:gd name="connsiteY42" fmla="*/ 2282034 h 2407138"/>
                <a:gd name="connsiteX43" fmla="*/ 1195932 w 2407137"/>
                <a:gd name="connsiteY43" fmla="*/ 2281649 h 2407138"/>
                <a:gd name="connsiteX44" fmla="*/ 1968060 w 2407137"/>
                <a:gd name="connsiteY44" fmla="*/ 1400508 h 2407138"/>
                <a:gd name="connsiteX45" fmla="*/ 2246208 w 2407137"/>
                <a:gd name="connsiteY45" fmla="*/ 1475038 h 2407138"/>
                <a:gd name="connsiteX46" fmla="*/ 2242404 w 2407137"/>
                <a:gd name="connsiteY46" fmla="*/ 1489831 h 2407138"/>
                <a:gd name="connsiteX47" fmla="*/ 1963516 w 2407137"/>
                <a:gd name="connsiteY47" fmla="*/ 1415103 h 2407138"/>
                <a:gd name="connsiteX48" fmla="*/ 1090481 w 2407137"/>
                <a:gd name="connsiteY48" fmla="*/ 1986840 h 2407138"/>
                <a:gd name="connsiteX49" fmla="*/ 1097951 w 2407137"/>
                <a:gd name="connsiteY49" fmla="*/ 1988584 h 2407138"/>
                <a:gd name="connsiteX50" fmla="*/ 1105617 w 2407137"/>
                <a:gd name="connsiteY50" fmla="*/ 1988876 h 2407138"/>
                <a:gd name="connsiteX51" fmla="*/ 1049458 w 2407137"/>
                <a:gd name="connsiteY51" fmla="*/ 2406281 h 2407138"/>
                <a:gd name="connsiteX52" fmla="*/ 1034322 w 2407137"/>
                <a:gd name="connsiteY52" fmla="*/ 2404245 h 2407138"/>
                <a:gd name="connsiteX53" fmla="*/ 1988876 w 2407137"/>
                <a:gd name="connsiteY53" fmla="*/ 1301520 h 2407138"/>
                <a:gd name="connsiteX54" fmla="*/ 2406281 w 2407137"/>
                <a:gd name="connsiteY54" fmla="*/ 1357679 h 2407138"/>
                <a:gd name="connsiteX55" fmla="*/ 2404244 w 2407137"/>
                <a:gd name="connsiteY55" fmla="*/ 1372815 h 2407138"/>
                <a:gd name="connsiteX56" fmla="*/ 1986840 w 2407137"/>
                <a:gd name="connsiteY56" fmla="*/ 1316657 h 2407138"/>
                <a:gd name="connsiteX57" fmla="*/ 1988583 w 2407137"/>
                <a:gd name="connsiteY57" fmla="*/ 1309187 h 2407138"/>
                <a:gd name="connsiteX58" fmla="*/ 992036 w 2407137"/>
                <a:gd name="connsiteY58" fmla="*/ 1963517 h 2407138"/>
                <a:gd name="connsiteX59" fmla="*/ 1006629 w 2407137"/>
                <a:gd name="connsiteY59" fmla="*/ 1968061 h 2407138"/>
                <a:gd name="connsiteX60" fmla="*/ 932100 w 2407137"/>
                <a:gd name="connsiteY60" fmla="*/ 2246208 h 2407138"/>
                <a:gd name="connsiteX61" fmla="*/ 917308 w 2407137"/>
                <a:gd name="connsiteY61" fmla="*/ 2242405 h 2407138"/>
                <a:gd name="connsiteX62" fmla="*/ 1995178 w 2407137"/>
                <a:gd name="connsiteY62" fmla="*/ 1195933 h 2407138"/>
                <a:gd name="connsiteX63" fmla="*/ 2281649 w 2407137"/>
                <a:gd name="connsiteY63" fmla="*/ 1195933 h 2407138"/>
                <a:gd name="connsiteX64" fmla="*/ 2282034 w 2407137"/>
                <a:gd name="connsiteY64" fmla="*/ 1203569 h 2407138"/>
                <a:gd name="connsiteX65" fmla="*/ 2281649 w 2407137"/>
                <a:gd name="connsiteY65" fmla="*/ 1211206 h 2407138"/>
                <a:gd name="connsiteX66" fmla="*/ 1995745 w 2407137"/>
                <a:gd name="connsiteY66" fmla="*/ 1211206 h 2407138"/>
                <a:gd name="connsiteX67" fmla="*/ 1984731 w 2407137"/>
                <a:gd name="connsiteY67" fmla="*/ 1095284 h 2407138"/>
                <a:gd name="connsiteX68" fmla="*/ 2405186 w 2407137"/>
                <a:gd name="connsiteY68" fmla="*/ 1041144 h 2407138"/>
                <a:gd name="connsiteX69" fmla="*/ 2407137 w 2407137"/>
                <a:gd name="connsiteY69" fmla="*/ 1056290 h 2407138"/>
                <a:gd name="connsiteX70" fmla="*/ 1987080 w 2407137"/>
                <a:gd name="connsiteY70" fmla="*/ 1110379 h 2407138"/>
                <a:gd name="connsiteX71" fmla="*/ 892672 w 2407137"/>
                <a:gd name="connsiteY71" fmla="*/ 1928335 h 2407138"/>
                <a:gd name="connsiteX72" fmla="*/ 906611 w 2407137"/>
                <a:gd name="connsiteY72" fmla="*/ 1934590 h 2407138"/>
                <a:gd name="connsiteX73" fmla="*/ 743425 w 2407137"/>
                <a:gd name="connsiteY73" fmla="*/ 2325414 h 2407138"/>
                <a:gd name="connsiteX74" fmla="*/ 729331 w 2407137"/>
                <a:gd name="connsiteY74" fmla="*/ 2319529 h 2407138"/>
                <a:gd name="connsiteX75" fmla="*/ 802416 w 2407137"/>
                <a:gd name="connsiteY75" fmla="*/ 1883113 h 2407138"/>
                <a:gd name="connsiteX76" fmla="*/ 815877 w 2407137"/>
                <a:gd name="connsiteY76" fmla="*/ 1890344 h 2407138"/>
                <a:gd name="connsiteX77" fmla="*/ 671279 w 2407137"/>
                <a:gd name="connsiteY77" fmla="*/ 2140796 h 2407138"/>
                <a:gd name="connsiteX78" fmla="*/ 658223 w 2407137"/>
                <a:gd name="connsiteY78" fmla="*/ 2132863 h 2407138"/>
                <a:gd name="connsiteX79" fmla="*/ 1966260 w 2407137"/>
                <a:gd name="connsiteY79" fmla="*/ 991301 h 2407138"/>
                <a:gd name="connsiteX80" fmla="*/ 2242405 w 2407137"/>
                <a:gd name="connsiteY80" fmla="*/ 917309 h 2407138"/>
                <a:gd name="connsiteX81" fmla="*/ 2246208 w 2407137"/>
                <a:gd name="connsiteY81" fmla="*/ 932101 h 2407138"/>
                <a:gd name="connsiteX82" fmla="*/ 1969840 w 2407137"/>
                <a:gd name="connsiteY82" fmla="*/ 1006153 h 2407138"/>
                <a:gd name="connsiteX83" fmla="*/ 1932557 w 2407137"/>
                <a:gd name="connsiteY83" fmla="*/ 895779 h 2407138"/>
                <a:gd name="connsiteX84" fmla="*/ 2322203 w 2407137"/>
                <a:gd name="connsiteY84" fmla="*/ 735676 h 2407138"/>
                <a:gd name="connsiteX85" fmla="*/ 2328008 w 2407137"/>
                <a:gd name="connsiteY85" fmla="*/ 749803 h 2407138"/>
                <a:gd name="connsiteX86" fmla="*/ 1938504 w 2407137"/>
                <a:gd name="connsiteY86" fmla="*/ 909846 h 2407138"/>
                <a:gd name="connsiteX87" fmla="*/ 714051 w 2407137"/>
                <a:gd name="connsiteY87" fmla="*/ 1825286 h 2407138"/>
                <a:gd name="connsiteX88" fmla="*/ 726047 w 2407137"/>
                <a:gd name="connsiteY88" fmla="*/ 1834740 h 2407138"/>
                <a:gd name="connsiteX89" fmla="*/ 468748 w 2407137"/>
                <a:gd name="connsiteY89" fmla="*/ 2168094 h 2407138"/>
                <a:gd name="connsiteX90" fmla="*/ 456659 w 2407137"/>
                <a:gd name="connsiteY90" fmla="*/ 2158762 h 2407138"/>
                <a:gd name="connsiteX91" fmla="*/ 638245 w 2407137"/>
                <a:gd name="connsiteY91" fmla="*/ 1758093 h 2407138"/>
                <a:gd name="connsiteX92" fmla="*/ 644611 w 2407137"/>
                <a:gd name="connsiteY92" fmla="*/ 1765080 h 2407138"/>
                <a:gd name="connsiteX93" fmla="*/ 649147 w 2407137"/>
                <a:gd name="connsiteY93" fmla="*/ 1768790 h 2407138"/>
                <a:gd name="connsiteX94" fmla="*/ 446636 w 2407137"/>
                <a:gd name="connsiteY94" fmla="*/ 1971302 h 2407138"/>
                <a:gd name="connsiteX95" fmla="*/ 440978 w 2407137"/>
                <a:gd name="connsiteY95" fmla="*/ 1966159 h 2407138"/>
                <a:gd name="connsiteX96" fmla="*/ 435836 w 2407137"/>
                <a:gd name="connsiteY96" fmla="*/ 1960502 h 2407138"/>
                <a:gd name="connsiteX97" fmla="*/ 1884928 w 2407137"/>
                <a:gd name="connsiteY97" fmla="*/ 801368 h 2407138"/>
                <a:gd name="connsiteX98" fmla="*/ 2132863 w 2407137"/>
                <a:gd name="connsiteY98" fmla="*/ 658223 h 2407138"/>
                <a:gd name="connsiteX99" fmla="*/ 2140794 w 2407137"/>
                <a:gd name="connsiteY99" fmla="*/ 671279 h 2407138"/>
                <a:gd name="connsiteX100" fmla="*/ 1892773 w 2407137"/>
                <a:gd name="connsiteY100" fmla="*/ 814474 h 2407138"/>
                <a:gd name="connsiteX101" fmla="*/ 1828403 w 2407137"/>
                <a:gd name="connsiteY101" fmla="*/ 717325 h 2407138"/>
                <a:gd name="connsiteX102" fmla="*/ 2162987 w 2407137"/>
                <a:gd name="connsiteY102" fmla="*/ 462095 h 2407138"/>
                <a:gd name="connsiteX103" fmla="*/ 2172250 w 2407137"/>
                <a:gd name="connsiteY103" fmla="*/ 474239 h 2407138"/>
                <a:gd name="connsiteX104" fmla="*/ 1837666 w 2407137"/>
                <a:gd name="connsiteY104" fmla="*/ 729468 h 2407138"/>
                <a:gd name="connsiteX105" fmla="*/ 1833340 w 2407137"/>
                <a:gd name="connsiteY105" fmla="*/ 723163 h 2407138"/>
                <a:gd name="connsiteX106" fmla="*/ 234886 w 2407137"/>
                <a:gd name="connsiteY106" fmla="*/ 1932900 h 2407138"/>
                <a:gd name="connsiteX107" fmla="*/ 569471 w 2407137"/>
                <a:gd name="connsiteY107" fmla="*/ 1677670 h 2407138"/>
                <a:gd name="connsiteX108" fmla="*/ 573796 w 2407137"/>
                <a:gd name="connsiteY108" fmla="*/ 1683975 h 2407138"/>
                <a:gd name="connsiteX109" fmla="*/ 578735 w 2407137"/>
                <a:gd name="connsiteY109" fmla="*/ 1689813 h 2407138"/>
                <a:gd name="connsiteX110" fmla="*/ 244150 w 2407137"/>
                <a:gd name="connsiteY110" fmla="*/ 1945043 h 2407138"/>
                <a:gd name="connsiteX111" fmla="*/ 266342 w 2407137"/>
                <a:gd name="connsiteY111" fmla="*/ 1735860 h 2407138"/>
                <a:gd name="connsiteX112" fmla="*/ 514363 w 2407137"/>
                <a:gd name="connsiteY112" fmla="*/ 1592665 h 2407138"/>
                <a:gd name="connsiteX113" fmla="*/ 522208 w 2407137"/>
                <a:gd name="connsiteY113" fmla="*/ 1605770 h 2407138"/>
                <a:gd name="connsiteX114" fmla="*/ 274274 w 2407137"/>
                <a:gd name="connsiteY114" fmla="*/ 1748916 h 2407138"/>
                <a:gd name="connsiteX115" fmla="*/ 1960501 w 2407137"/>
                <a:gd name="connsiteY115" fmla="*/ 435837 h 2407138"/>
                <a:gd name="connsiteX116" fmla="*/ 1966159 w 2407137"/>
                <a:gd name="connsiteY116" fmla="*/ 440979 h 2407138"/>
                <a:gd name="connsiteX117" fmla="*/ 1971301 w 2407137"/>
                <a:gd name="connsiteY117" fmla="*/ 446637 h 2407138"/>
                <a:gd name="connsiteX118" fmla="*/ 1768891 w 2407137"/>
                <a:gd name="connsiteY118" fmla="*/ 649046 h 2407138"/>
                <a:gd name="connsiteX119" fmla="*/ 1762525 w 2407137"/>
                <a:gd name="connsiteY119" fmla="*/ 642058 h 2407138"/>
                <a:gd name="connsiteX120" fmla="*/ 1757990 w 2407137"/>
                <a:gd name="connsiteY120" fmla="*/ 638348 h 2407138"/>
                <a:gd name="connsiteX121" fmla="*/ 1938389 w 2407137"/>
                <a:gd name="connsiteY121" fmla="*/ 239045 h 2407138"/>
                <a:gd name="connsiteX122" fmla="*/ 1950479 w 2407137"/>
                <a:gd name="connsiteY122" fmla="*/ 248377 h 2407138"/>
                <a:gd name="connsiteX123" fmla="*/ 1693086 w 2407137"/>
                <a:gd name="connsiteY123" fmla="*/ 581852 h 2407138"/>
                <a:gd name="connsiteX124" fmla="*/ 1681090 w 2407137"/>
                <a:gd name="connsiteY124" fmla="*/ 572398 h 2407138"/>
                <a:gd name="connsiteX125" fmla="*/ 79129 w 2407137"/>
                <a:gd name="connsiteY125" fmla="*/ 1657336 h 2407138"/>
                <a:gd name="connsiteX126" fmla="*/ 468633 w 2407137"/>
                <a:gd name="connsiteY126" fmla="*/ 1497292 h 2407138"/>
                <a:gd name="connsiteX127" fmla="*/ 474580 w 2407137"/>
                <a:gd name="connsiteY127" fmla="*/ 1511360 h 2407138"/>
                <a:gd name="connsiteX128" fmla="*/ 84934 w 2407137"/>
                <a:gd name="connsiteY128" fmla="*/ 1671462 h 2407138"/>
                <a:gd name="connsiteX129" fmla="*/ 160929 w 2407137"/>
                <a:gd name="connsiteY129" fmla="*/ 1475039 h 2407138"/>
                <a:gd name="connsiteX130" fmla="*/ 437296 w 2407137"/>
                <a:gd name="connsiteY130" fmla="*/ 1400986 h 2407138"/>
                <a:gd name="connsiteX131" fmla="*/ 440876 w 2407137"/>
                <a:gd name="connsiteY131" fmla="*/ 1415837 h 2407138"/>
                <a:gd name="connsiteX132" fmla="*/ 164732 w 2407137"/>
                <a:gd name="connsiteY132" fmla="*/ 1489830 h 2407138"/>
                <a:gd name="connsiteX133" fmla="*/ 1735859 w 2407137"/>
                <a:gd name="connsiteY133" fmla="*/ 266344 h 2407138"/>
                <a:gd name="connsiteX134" fmla="*/ 1748915 w 2407137"/>
                <a:gd name="connsiteY134" fmla="*/ 274276 h 2407138"/>
                <a:gd name="connsiteX135" fmla="*/ 1604721 w 2407137"/>
                <a:gd name="connsiteY135" fmla="*/ 524026 h 2407138"/>
                <a:gd name="connsiteX136" fmla="*/ 1591261 w 2407137"/>
                <a:gd name="connsiteY136" fmla="*/ 516794 h 2407138"/>
                <a:gd name="connsiteX137" fmla="*/ 1663713 w 2407137"/>
                <a:gd name="connsiteY137" fmla="*/ 81725 h 2407138"/>
                <a:gd name="connsiteX138" fmla="*/ 1677806 w 2407137"/>
                <a:gd name="connsiteY138" fmla="*/ 87609 h 2407138"/>
                <a:gd name="connsiteX139" fmla="*/ 1514465 w 2407137"/>
                <a:gd name="connsiteY139" fmla="*/ 478804 h 2407138"/>
                <a:gd name="connsiteX140" fmla="*/ 1500526 w 2407137"/>
                <a:gd name="connsiteY140" fmla="*/ 472548 h 2407138"/>
                <a:gd name="connsiteX141" fmla="*/ 0 w 2407137"/>
                <a:gd name="connsiteY141" fmla="*/ 1350847 h 2407138"/>
                <a:gd name="connsiteX142" fmla="*/ 420056 w 2407137"/>
                <a:gd name="connsiteY142" fmla="*/ 1296759 h 2407138"/>
                <a:gd name="connsiteX143" fmla="*/ 422405 w 2407137"/>
                <a:gd name="connsiteY143" fmla="*/ 1311854 h 2407138"/>
                <a:gd name="connsiteX144" fmla="*/ 1951 w 2407137"/>
                <a:gd name="connsiteY144" fmla="*/ 1365994 h 2407138"/>
                <a:gd name="connsiteX145" fmla="*/ 125488 w 2407137"/>
                <a:gd name="connsiteY145" fmla="*/ 1195933 h 2407138"/>
                <a:gd name="connsiteX146" fmla="*/ 411391 w 2407137"/>
                <a:gd name="connsiteY146" fmla="*/ 1195933 h 2407138"/>
                <a:gd name="connsiteX147" fmla="*/ 411958 w 2407137"/>
                <a:gd name="connsiteY147" fmla="*/ 1211206 h 2407138"/>
                <a:gd name="connsiteX148" fmla="*/ 125488 w 2407137"/>
                <a:gd name="connsiteY148" fmla="*/ 1211206 h 2407138"/>
                <a:gd name="connsiteX149" fmla="*/ 125102 w 2407137"/>
                <a:gd name="connsiteY149" fmla="*/ 1203569 h 2407138"/>
                <a:gd name="connsiteX150" fmla="*/ 1475037 w 2407137"/>
                <a:gd name="connsiteY150" fmla="*/ 160931 h 2407138"/>
                <a:gd name="connsiteX151" fmla="*/ 1489829 w 2407137"/>
                <a:gd name="connsiteY151" fmla="*/ 164734 h 2407138"/>
                <a:gd name="connsiteX152" fmla="*/ 1415102 w 2407137"/>
                <a:gd name="connsiteY152" fmla="*/ 443621 h 2407138"/>
                <a:gd name="connsiteX153" fmla="*/ 1400508 w 2407137"/>
                <a:gd name="connsiteY153" fmla="*/ 439077 h 2407138"/>
                <a:gd name="connsiteX154" fmla="*/ 164732 w 2407137"/>
                <a:gd name="connsiteY154" fmla="*/ 917309 h 2407138"/>
                <a:gd name="connsiteX155" fmla="*/ 443620 w 2407137"/>
                <a:gd name="connsiteY155" fmla="*/ 992037 h 2407138"/>
                <a:gd name="connsiteX156" fmla="*/ 439076 w 2407137"/>
                <a:gd name="connsiteY156" fmla="*/ 1006630 h 2407138"/>
                <a:gd name="connsiteX157" fmla="*/ 160929 w 2407137"/>
                <a:gd name="connsiteY157" fmla="*/ 932101 h 2407138"/>
                <a:gd name="connsiteX158" fmla="*/ 1195932 w 2407137"/>
                <a:gd name="connsiteY158" fmla="*/ 125490 h 2407138"/>
                <a:gd name="connsiteX159" fmla="*/ 1203568 w 2407137"/>
                <a:gd name="connsiteY159" fmla="*/ 125104 h 2407138"/>
                <a:gd name="connsiteX160" fmla="*/ 1211205 w 2407137"/>
                <a:gd name="connsiteY160" fmla="*/ 125490 h 2407138"/>
                <a:gd name="connsiteX161" fmla="*/ 1211205 w 2407137"/>
                <a:gd name="connsiteY161" fmla="*/ 411392 h 2407138"/>
                <a:gd name="connsiteX162" fmla="*/ 1195932 w 2407137"/>
                <a:gd name="connsiteY162" fmla="*/ 411959 h 2407138"/>
                <a:gd name="connsiteX163" fmla="*/ 1357679 w 2407137"/>
                <a:gd name="connsiteY163" fmla="*/ 856 h 2407138"/>
                <a:gd name="connsiteX164" fmla="*/ 1372816 w 2407137"/>
                <a:gd name="connsiteY164" fmla="*/ 2893 h 2407138"/>
                <a:gd name="connsiteX165" fmla="*/ 1316657 w 2407137"/>
                <a:gd name="connsiteY165" fmla="*/ 420298 h 2407138"/>
                <a:gd name="connsiteX166" fmla="*/ 1309186 w 2407137"/>
                <a:gd name="connsiteY166" fmla="*/ 418554 h 2407138"/>
                <a:gd name="connsiteX167" fmla="*/ 1301520 w 2407137"/>
                <a:gd name="connsiteY167" fmla="*/ 418261 h 2407138"/>
                <a:gd name="connsiteX168" fmla="*/ 2893 w 2407137"/>
                <a:gd name="connsiteY168" fmla="*/ 1034322 h 2407138"/>
                <a:gd name="connsiteX169" fmla="*/ 420297 w 2407137"/>
                <a:gd name="connsiteY169" fmla="*/ 1090480 h 2407138"/>
                <a:gd name="connsiteX170" fmla="*/ 418554 w 2407137"/>
                <a:gd name="connsiteY170" fmla="*/ 1097951 h 2407138"/>
                <a:gd name="connsiteX171" fmla="*/ 418261 w 2407137"/>
                <a:gd name="connsiteY171" fmla="*/ 1105616 h 2407138"/>
                <a:gd name="connsiteX172" fmla="*/ 855 w 2407137"/>
                <a:gd name="connsiteY172" fmla="*/ 1049458 h 2407138"/>
                <a:gd name="connsiteX173" fmla="*/ 274274 w 2407137"/>
                <a:gd name="connsiteY173" fmla="*/ 658223 h 2407138"/>
                <a:gd name="connsiteX174" fmla="*/ 524025 w 2407137"/>
                <a:gd name="connsiteY174" fmla="*/ 802416 h 2407138"/>
                <a:gd name="connsiteX175" fmla="*/ 516793 w 2407137"/>
                <a:gd name="connsiteY175" fmla="*/ 815877 h 2407138"/>
                <a:gd name="connsiteX176" fmla="*/ 266342 w 2407137"/>
                <a:gd name="connsiteY176" fmla="*/ 671279 h 2407138"/>
                <a:gd name="connsiteX177" fmla="*/ 917308 w 2407137"/>
                <a:gd name="connsiteY177" fmla="*/ 164734 h 2407138"/>
                <a:gd name="connsiteX178" fmla="*/ 932100 w 2407137"/>
                <a:gd name="connsiteY178" fmla="*/ 160930 h 2407138"/>
                <a:gd name="connsiteX179" fmla="*/ 1006152 w 2407137"/>
                <a:gd name="connsiteY179" fmla="*/ 437297 h 2407138"/>
                <a:gd name="connsiteX180" fmla="*/ 991300 w 2407137"/>
                <a:gd name="connsiteY180" fmla="*/ 440877 h 2407138"/>
                <a:gd name="connsiteX181" fmla="*/ 1041143 w 2407137"/>
                <a:gd name="connsiteY181" fmla="*/ 1951 h 2407138"/>
                <a:gd name="connsiteX182" fmla="*/ 1056290 w 2407137"/>
                <a:gd name="connsiteY182" fmla="*/ 0 h 2407138"/>
                <a:gd name="connsiteX183" fmla="*/ 1110379 w 2407137"/>
                <a:gd name="connsiteY183" fmla="*/ 420056 h 2407138"/>
                <a:gd name="connsiteX184" fmla="*/ 1095283 w 2407137"/>
                <a:gd name="connsiteY184" fmla="*/ 422406 h 2407138"/>
                <a:gd name="connsiteX185" fmla="*/ 87609 w 2407137"/>
                <a:gd name="connsiteY185" fmla="*/ 729331 h 2407138"/>
                <a:gd name="connsiteX186" fmla="*/ 478803 w 2407137"/>
                <a:gd name="connsiteY186" fmla="*/ 892672 h 2407138"/>
                <a:gd name="connsiteX187" fmla="*/ 472547 w 2407137"/>
                <a:gd name="connsiteY187" fmla="*/ 906611 h 2407138"/>
                <a:gd name="connsiteX188" fmla="*/ 81723 w 2407137"/>
                <a:gd name="connsiteY188" fmla="*/ 743424 h 2407138"/>
                <a:gd name="connsiteX189" fmla="*/ 84666 w 2407137"/>
                <a:gd name="connsiteY189" fmla="*/ 736377 h 2407138"/>
                <a:gd name="connsiteX190" fmla="*/ 446636 w 2407137"/>
                <a:gd name="connsiteY190" fmla="*/ 435837 h 2407138"/>
                <a:gd name="connsiteX191" fmla="*/ 649045 w 2407137"/>
                <a:gd name="connsiteY191" fmla="*/ 638246 h 2407138"/>
                <a:gd name="connsiteX192" fmla="*/ 642057 w 2407137"/>
                <a:gd name="connsiteY192" fmla="*/ 644612 h 2407138"/>
                <a:gd name="connsiteX193" fmla="*/ 638347 w 2407137"/>
                <a:gd name="connsiteY193" fmla="*/ 649147 h 2407138"/>
                <a:gd name="connsiteX194" fmla="*/ 435836 w 2407137"/>
                <a:gd name="connsiteY194" fmla="*/ 446636 h 2407138"/>
                <a:gd name="connsiteX195" fmla="*/ 440978 w 2407137"/>
                <a:gd name="connsiteY195" fmla="*/ 440979 h 2407138"/>
                <a:gd name="connsiteX196" fmla="*/ 658223 w 2407137"/>
                <a:gd name="connsiteY196" fmla="*/ 274275 h 2407138"/>
                <a:gd name="connsiteX197" fmla="*/ 671279 w 2407137"/>
                <a:gd name="connsiteY197" fmla="*/ 266343 h 2407138"/>
                <a:gd name="connsiteX198" fmla="*/ 814473 w 2407137"/>
                <a:gd name="connsiteY198" fmla="*/ 514363 h 2407138"/>
                <a:gd name="connsiteX199" fmla="*/ 801367 w 2407137"/>
                <a:gd name="connsiteY199" fmla="*/ 522209 h 2407138"/>
                <a:gd name="connsiteX200" fmla="*/ 735676 w 2407137"/>
                <a:gd name="connsiteY200" fmla="*/ 84934 h 2407138"/>
                <a:gd name="connsiteX201" fmla="*/ 749802 w 2407137"/>
                <a:gd name="connsiteY201" fmla="*/ 79129 h 2407138"/>
                <a:gd name="connsiteX202" fmla="*/ 909846 w 2407137"/>
                <a:gd name="connsiteY202" fmla="*/ 468633 h 2407138"/>
                <a:gd name="connsiteX203" fmla="*/ 895778 w 2407137"/>
                <a:gd name="connsiteY203" fmla="*/ 474580 h 2407138"/>
                <a:gd name="connsiteX204" fmla="*/ 248376 w 2407137"/>
                <a:gd name="connsiteY204" fmla="*/ 456659 h 2407138"/>
                <a:gd name="connsiteX205" fmla="*/ 581852 w 2407137"/>
                <a:gd name="connsiteY205" fmla="*/ 714051 h 2407138"/>
                <a:gd name="connsiteX206" fmla="*/ 572397 w 2407137"/>
                <a:gd name="connsiteY206" fmla="*/ 726047 h 2407138"/>
                <a:gd name="connsiteX207" fmla="*/ 239044 w 2407137"/>
                <a:gd name="connsiteY207" fmla="*/ 468748 h 2407138"/>
                <a:gd name="connsiteX208" fmla="*/ 243710 w 2407137"/>
                <a:gd name="connsiteY208" fmla="*/ 462704 h 2407138"/>
                <a:gd name="connsiteX209" fmla="*/ 462094 w 2407137"/>
                <a:gd name="connsiteY209" fmla="*/ 244150 h 2407138"/>
                <a:gd name="connsiteX210" fmla="*/ 474238 w 2407137"/>
                <a:gd name="connsiteY210" fmla="*/ 234887 h 2407138"/>
                <a:gd name="connsiteX211" fmla="*/ 729468 w 2407137"/>
                <a:gd name="connsiteY211" fmla="*/ 569472 h 2407138"/>
                <a:gd name="connsiteX212" fmla="*/ 723162 w 2407137"/>
                <a:gd name="connsiteY212" fmla="*/ 573797 h 2407138"/>
                <a:gd name="connsiteX213" fmla="*/ 717325 w 2407137"/>
                <a:gd name="connsiteY213" fmla="*/ 578735 h 240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2407137" h="2407138">
                  <a:moveTo>
                    <a:pt x="1677670" y="1837666"/>
                  </a:moveTo>
                  <a:lnTo>
                    <a:pt x="1683974" y="1833341"/>
                  </a:lnTo>
                  <a:lnTo>
                    <a:pt x="1689813" y="1828403"/>
                  </a:lnTo>
                  <a:lnTo>
                    <a:pt x="1945042" y="2162988"/>
                  </a:lnTo>
                  <a:lnTo>
                    <a:pt x="1932899" y="2172251"/>
                  </a:lnTo>
                  <a:close/>
                  <a:moveTo>
                    <a:pt x="1592663" y="1892774"/>
                  </a:moveTo>
                  <a:lnTo>
                    <a:pt x="1605769" y="1884929"/>
                  </a:lnTo>
                  <a:lnTo>
                    <a:pt x="1748914" y="2132863"/>
                  </a:lnTo>
                  <a:lnTo>
                    <a:pt x="1735858" y="2140795"/>
                  </a:lnTo>
                  <a:close/>
                  <a:moveTo>
                    <a:pt x="1768789" y="1757990"/>
                  </a:moveTo>
                  <a:lnTo>
                    <a:pt x="1971301" y="1960502"/>
                  </a:lnTo>
                  <a:lnTo>
                    <a:pt x="1966159" y="1966159"/>
                  </a:lnTo>
                  <a:lnTo>
                    <a:pt x="1960501" y="1971301"/>
                  </a:lnTo>
                  <a:lnTo>
                    <a:pt x="1758092" y="1768892"/>
                  </a:lnTo>
                  <a:lnTo>
                    <a:pt x="1765079" y="1762526"/>
                  </a:lnTo>
                  <a:close/>
                  <a:moveTo>
                    <a:pt x="1834740" y="1681091"/>
                  </a:moveTo>
                  <a:lnTo>
                    <a:pt x="2168093" y="1938389"/>
                  </a:lnTo>
                  <a:lnTo>
                    <a:pt x="2158761" y="1950479"/>
                  </a:lnTo>
                  <a:lnTo>
                    <a:pt x="1825285" y="1693086"/>
                  </a:lnTo>
                  <a:close/>
                  <a:moveTo>
                    <a:pt x="1497292" y="1938505"/>
                  </a:moveTo>
                  <a:lnTo>
                    <a:pt x="1511359" y="1932557"/>
                  </a:lnTo>
                  <a:lnTo>
                    <a:pt x="1671461" y="2322204"/>
                  </a:lnTo>
                  <a:lnTo>
                    <a:pt x="1657335" y="2328008"/>
                  </a:lnTo>
                  <a:close/>
                  <a:moveTo>
                    <a:pt x="1400984" y="1969841"/>
                  </a:moveTo>
                  <a:lnTo>
                    <a:pt x="1415837" y="1966261"/>
                  </a:lnTo>
                  <a:lnTo>
                    <a:pt x="1489829" y="2242404"/>
                  </a:lnTo>
                  <a:lnTo>
                    <a:pt x="1475037" y="2246208"/>
                  </a:lnTo>
                  <a:close/>
                  <a:moveTo>
                    <a:pt x="1890343" y="1591261"/>
                  </a:moveTo>
                  <a:lnTo>
                    <a:pt x="2140794" y="1735859"/>
                  </a:lnTo>
                  <a:lnTo>
                    <a:pt x="2132863" y="1748915"/>
                  </a:lnTo>
                  <a:lnTo>
                    <a:pt x="1883112" y="1604721"/>
                  </a:lnTo>
                  <a:close/>
                  <a:moveTo>
                    <a:pt x="1934589" y="1500527"/>
                  </a:moveTo>
                  <a:lnTo>
                    <a:pt x="2325413" y="1663714"/>
                  </a:lnTo>
                  <a:lnTo>
                    <a:pt x="2319529" y="1677807"/>
                  </a:lnTo>
                  <a:lnTo>
                    <a:pt x="1928334" y="1514465"/>
                  </a:lnTo>
                  <a:close/>
                  <a:moveTo>
                    <a:pt x="1296758" y="1987081"/>
                  </a:moveTo>
                  <a:lnTo>
                    <a:pt x="1311855" y="1984732"/>
                  </a:lnTo>
                  <a:lnTo>
                    <a:pt x="1365995" y="2405187"/>
                  </a:lnTo>
                  <a:lnTo>
                    <a:pt x="1350847" y="2407138"/>
                  </a:lnTo>
                  <a:close/>
                  <a:moveTo>
                    <a:pt x="1195932" y="1995746"/>
                  </a:moveTo>
                  <a:lnTo>
                    <a:pt x="1211204" y="1995179"/>
                  </a:lnTo>
                  <a:lnTo>
                    <a:pt x="1211204" y="2281649"/>
                  </a:lnTo>
                  <a:lnTo>
                    <a:pt x="1203568" y="2282034"/>
                  </a:lnTo>
                  <a:lnTo>
                    <a:pt x="1195932" y="2281649"/>
                  </a:lnTo>
                  <a:close/>
                  <a:moveTo>
                    <a:pt x="1968060" y="1400508"/>
                  </a:moveTo>
                  <a:lnTo>
                    <a:pt x="2246208" y="1475038"/>
                  </a:lnTo>
                  <a:lnTo>
                    <a:pt x="2242404" y="1489831"/>
                  </a:lnTo>
                  <a:lnTo>
                    <a:pt x="1963516" y="1415103"/>
                  </a:lnTo>
                  <a:close/>
                  <a:moveTo>
                    <a:pt x="1090481" y="1986840"/>
                  </a:moveTo>
                  <a:lnTo>
                    <a:pt x="1097951" y="1988584"/>
                  </a:lnTo>
                  <a:lnTo>
                    <a:pt x="1105617" y="1988876"/>
                  </a:lnTo>
                  <a:lnTo>
                    <a:pt x="1049458" y="2406281"/>
                  </a:lnTo>
                  <a:lnTo>
                    <a:pt x="1034322" y="2404245"/>
                  </a:lnTo>
                  <a:close/>
                  <a:moveTo>
                    <a:pt x="1988876" y="1301520"/>
                  </a:moveTo>
                  <a:lnTo>
                    <a:pt x="2406281" y="1357679"/>
                  </a:lnTo>
                  <a:lnTo>
                    <a:pt x="2404244" y="1372815"/>
                  </a:lnTo>
                  <a:lnTo>
                    <a:pt x="1986840" y="1316657"/>
                  </a:lnTo>
                  <a:lnTo>
                    <a:pt x="1988583" y="1309187"/>
                  </a:lnTo>
                  <a:close/>
                  <a:moveTo>
                    <a:pt x="992036" y="1963517"/>
                  </a:moveTo>
                  <a:lnTo>
                    <a:pt x="1006629" y="1968061"/>
                  </a:lnTo>
                  <a:lnTo>
                    <a:pt x="932100" y="2246208"/>
                  </a:lnTo>
                  <a:lnTo>
                    <a:pt x="917308" y="2242405"/>
                  </a:lnTo>
                  <a:close/>
                  <a:moveTo>
                    <a:pt x="1995178" y="1195933"/>
                  </a:moveTo>
                  <a:lnTo>
                    <a:pt x="2281649" y="1195933"/>
                  </a:lnTo>
                  <a:lnTo>
                    <a:pt x="2282034" y="1203569"/>
                  </a:lnTo>
                  <a:lnTo>
                    <a:pt x="2281649" y="1211206"/>
                  </a:lnTo>
                  <a:lnTo>
                    <a:pt x="1995745" y="1211206"/>
                  </a:lnTo>
                  <a:close/>
                  <a:moveTo>
                    <a:pt x="1984731" y="1095284"/>
                  </a:moveTo>
                  <a:lnTo>
                    <a:pt x="2405186" y="1041144"/>
                  </a:lnTo>
                  <a:lnTo>
                    <a:pt x="2407137" y="1056290"/>
                  </a:lnTo>
                  <a:lnTo>
                    <a:pt x="1987080" y="1110379"/>
                  </a:lnTo>
                  <a:close/>
                  <a:moveTo>
                    <a:pt x="892672" y="1928335"/>
                  </a:moveTo>
                  <a:lnTo>
                    <a:pt x="906611" y="1934590"/>
                  </a:lnTo>
                  <a:lnTo>
                    <a:pt x="743425" y="2325414"/>
                  </a:lnTo>
                  <a:lnTo>
                    <a:pt x="729331" y="2319529"/>
                  </a:lnTo>
                  <a:close/>
                  <a:moveTo>
                    <a:pt x="802416" y="1883113"/>
                  </a:moveTo>
                  <a:lnTo>
                    <a:pt x="815877" y="1890344"/>
                  </a:lnTo>
                  <a:lnTo>
                    <a:pt x="671279" y="2140796"/>
                  </a:lnTo>
                  <a:lnTo>
                    <a:pt x="658223" y="2132863"/>
                  </a:lnTo>
                  <a:close/>
                  <a:moveTo>
                    <a:pt x="1966260" y="991301"/>
                  </a:moveTo>
                  <a:lnTo>
                    <a:pt x="2242405" y="917309"/>
                  </a:lnTo>
                  <a:lnTo>
                    <a:pt x="2246208" y="932101"/>
                  </a:lnTo>
                  <a:lnTo>
                    <a:pt x="1969840" y="1006153"/>
                  </a:lnTo>
                  <a:close/>
                  <a:moveTo>
                    <a:pt x="1932557" y="895779"/>
                  </a:moveTo>
                  <a:lnTo>
                    <a:pt x="2322203" y="735676"/>
                  </a:lnTo>
                  <a:lnTo>
                    <a:pt x="2328008" y="749803"/>
                  </a:lnTo>
                  <a:lnTo>
                    <a:pt x="1938504" y="909846"/>
                  </a:lnTo>
                  <a:close/>
                  <a:moveTo>
                    <a:pt x="714051" y="1825286"/>
                  </a:moveTo>
                  <a:lnTo>
                    <a:pt x="726047" y="1834740"/>
                  </a:lnTo>
                  <a:lnTo>
                    <a:pt x="468748" y="2168094"/>
                  </a:lnTo>
                  <a:lnTo>
                    <a:pt x="456659" y="2158762"/>
                  </a:lnTo>
                  <a:close/>
                  <a:moveTo>
                    <a:pt x="638245" y="1758093"/>
                  </a:moveTo>
                  <a:lnTo>
                    <a:pt x="644611" y="1765080"/>
                  </a:lnTo>
                  <a:lnTo>
                    <a:pt x="649147" y="1768790"/>
                  </a:lnTo>
                  <a:lnTo>
                    <a:pt x="446636" y="1971302"/>
                  </a:lnTo>
                  <a:lnTo>
                    <a:pt x="440978" y="1966159"/>
                  </a:lnTo>
                  <a:lnTo>
                    <a:pt x="435836" y="1960502"/>
                  </a:lnTo>
                  <a:close/>
                  <a:moveTo>
                    <a:pt x="1884928" y="801368"/>
                  </a:moveTo>
                  <a:lnTo>
                    <a:pt x="2132863" y="658223"/>
                  </a:lnTo>
                  <a:lnTo>
                    <a:pt x="2140794" y="671279"/>
                  </a:lnTo>
                  <a:lnTo>
                    <a:pt x="1892773" y="814474"/>
                  </a:lnTo>
                  <a:close/>
                  <a:moveTo>
                    <a:pt x="1828403" y="717325"/>
                  </a:moveTo>
                  <a:lnTo>
                    <a:pt x="2162987" y="462095"/>
                  </a:lnTo>
                  <a:lnTo>
                    <a:pt x="2172250" y="474239"/>
                  </a:lnTo>
                  <a:lnTo>
                    <a:pt x="1837666" y="729468"/>
                  </a:lnTo>
                  <a:lnTo>
                    <a:pt x="1833340" y="723163"/>
                  </a:lnTo>
                  <a:close/>
                  <a:moveTo>
                    <a:pt x="234886" y="1932900"/>
                  </a:moveTo>
                  <a:lnTo>
                    <a:pt x="569471" y="1677670"/>
                  </a:lnTo>
                  <a:lnTo>
                    <a:pt x="573796" y="1683975"/>
                  </a:lnTo>
                  <a:lnTo>
                    <a:pt x="578735" y="1689813"/>
                  </a:lnTo>
                  <a:lnTo>
                    <a:pt x="244150" y="1945043"/>
                  </a:lnTo>
                  <a:close/>
                  <a:moveTo>
                    <a:pt x="266342" y="1735860"/>
                  </a:moveTo>
                  <a:lnTo>
                    <a:pt x="514363" y="1592665"/>
                  </a:lnTo>
                  <a:lnTo>
                    <a:pt x="522208" y="1605770"/>
                  </a:lnTo>
                  <a:lnTo>
                    <a:pt x="274274" y="1748916"/>
                  </a:lnTo>
                  <a:close/>
                  <a:moveTo>
                    <a:pt x="1960501" y="435837"/>
                  </a:moveTo>
                  <a:lnTo>
                    <a:pt x="1966159" y="440979"/>
                  </a:lnTo>
                  <a:lnTo>
                    <a:pt x="1971301" y="446637"/>
                  </a:lnTo>
                  <a:lnTo>
                    <a:pt x="1768891" y="649046"/>
                  </a:lnTo>
                  <a:lnTo>
                    <a:pt x="1762525" y="642058"/>
                  </a:lnTo>
                  <a:lnTo>
                    <a:pt x="1757990" y="638348"/>
                  </a:lnTo>
                  <a:close/>
                  <a:moveTo>
                    <a:pt x="1938389" y="239045"/>
                  </a:moveTo>
                  <a:lnTo>
                    <a:pt x="1950479" y="248377"/>
                  </a:lnTo>
                  <a:lnTo>
                    <a:pt x="1693086" y="581852"/>
                  </a:lnTo>
                  <a:lnTo>
                    <a:pt x="1681090" y="572398"/>
                  </a:lnTo>
                  <a:close/>
                  <a:moveTo>
                    <a:pt x="79129" y="1657336"/>
                  </a:moveTo>
                  <a:lnTo>
                    <a:pt x="468633" y="1497292"/>
                  </a:lnTo>
                  <a:lnTo>
                    <a:pt x="474580" y="1511360"/>
                  </a:lnTo>
                  <a:lnTo>
                    <a:pt x="84934" y="1671462"/>
                  </a:lnTo>
                  <a:close/>
                  <a:moveTo>
                    <a:pt x="160929" y="1475039"/>
                  </a:moveTo>
                  <a:lnTo>
                    <a:pt x="437296" y="1400986"/>
                  </a:lnTo>
                  <a:lnTo>
                    <a:pt x="440876" y="1415837"/>
                  </a:lnTo>
                  <a:lnTo>
                    <a:pt x="164732" y="1489830"/>
                  </a:lnTo>
                  <a:close/>
                  <a:moveTo>
                    <a:pt x="1735859" y="266344"/>
                  </a:moveTo>
                  <a:lnTo>
                    <a:pt x="1748915" y="274276"/>
                  </a:lnTo>
                  <a:lnTo>
                    <a:pt x="1604721" y="524026"/>
                  </a:lnTo>
                  <a:lnTo>
                    <a:pt x="1591261" y="516794"/>
                  </a:lnTo>
                  <a:close/>
                  <a:moveTo>
                    <a:pt x="1663713" y="81725"/>
                  </a:moveTo>
                  <a:lnTo>
                    <a:pt x="1677806" y="87609"/>
                  </a:lnTo>
                  <a:lnTo>
                    <a:pt x="1514465" y="478804"/>
                  </a:lnTo>
                  <a:lnTo>
                    <a:pt x="1500526" y="472548"/>
                  </a:lnTo>
                  <a:close/>
                  <a:moveTo>
                    <a:pt x="0" y="1350847"/>
                  </a:moveTo>
                  <a:lnTo>
                    <a:pt x="420056" y="1296759"/>
                  </a:lnTo>
                  <a:lnTo>
                    <a:pt x="422405" y="1311854"/>
                  </a:lnTo>
                  <a:lnTo>
                    <a:pt x="1951" y="1365994"/>
                  </a:lnTo>
                  <a:close/>
                  <a:moveTo>
                    <a:pt x="125488" y="1195933"/>
                  </a:moveTo>
                  <a:lnTo>
                    <a:pt x="411391" y="1195933"/>
                  </a:lnTo>
                  <a:lnTo>
                    <a:pt x="411958" y="1211206"/>
                  </a:lnTo>
                  <a:lnTo>
                    <a:pt x="125488" y="1211206"/>
                  </a:lnTo>
                  <a:lnTo>
                    <a:pt x="125102" y="1203569"/>
                  </a:lnTo>
                  <a:close/>
                  <a:moveTo>
                    <a:pt x="1475037" y="160931"/>
                  </a:moveTo>
                  <a:lnTo>
                    <a:pt x="1489829" y="164734"/>
                  </a:lnTo>
                  <a:lnTo>
                    <a:pt x="1415102" y="443621"/>
                  </a:lnTo>
                  <a:lnTo>
                    <a:pt x="1400508" y="439077"/>
                  </a:lnTo>
                  <a:close/>
                  <a:moveTo>
                    <a:pt x="164732" y="917309"/>
                  </a:moveTo>
                  <a:lnTo>
                    <a:pt x="443620" y="992037"/>
                  </a:lnTo>
                  <a:lnTo>
                    <a:pt x="439076" y="1006630"/>
                  </a:lnTo>
                  <a:lnTo>
                    <a:pt x="160929" y="932101"/>
                  </a:lnTo>
                  <a:close/>
                  <a:moveTo>
                    <a:pt x="1195932" y="125490"/>
                  </a:moveTo>
                  <a:lnTo>
                    <a:pt x="1203568" y="125104"/>
                  </a:lnTo>
                  <a:lnTo>
                    <a:pt x="1211205" y="125490"/>
                  </a:lnTo>
                  <a:lnTo>
                    <a:pt x="1211205" y="411392"/>
                  </a:lnTo>
                  <a:lnTo>
                    <a:pt x="1195932" y="411959"/>
                  </a:lnTo>
                  <a:close/>
                  <a:moveTo>
                    <a:pt x="1357679" y="856"/>
                  </a:moveTo>
                  <a:lnTo>
                    <a:pt x="1372816" y="2893"/>
                  </a:lnTo>
                  <a:lnTo>
                    <a:pt x="1316657" y="420298"/>
                  </a:lnTo>
                  <a:lnTo>
                    <a:pt x="1309186" y="418554"/>
                  </a:lnTo>
                  <a:lnTo>
                    <a:pt x="1301520" y="418261"/>
                  </a:lnTo>
                  <a:close/>
                  <a:moveTo>
                    <a:pt x="2893" y="1034322"/>
                  </a:moveTo>
                  <a:lnTo>
                    <a:pt x="420297" y="1090480"/>
                  </a:lnTo>
                  <a:lnTo>
                    <a:pt x="418554" y="1097951"/>
                  </a:lnTo>
                  <a:lnTo>
                    <a:pt x="418261" y="1105616"/>
                  </a:lnTo>
                  <a:lnTo>
                    <a:pt x="855" y="1049458"/>
                  </a:lnTo>
                  <a:close/>
                  <a:moveTo>
                    <a:pt x="274274" y="658223"/>
                  </a:moveTo>
                  <a:lnTo>
                    <a:pt x="524025" y="802416"/>
                  </a:lnTo>
                  <a:lnTo>
                    <a:pt x="516793" y="815877"/>
                  </a:lnTo>
                  <a:lnTo>
                    <a:pt x="266342" y="671279"/>
                  </a:lnTo>
                  <a:close/>
                  <a:moveTo>
                    <a:pt x="917308" y="164734"/>
                  </a:moveTo>
                  <a:lnTo>
                    <a:pt x="932100" y="160930"/>
                  </a:lnTo>
                  <a:lnTo>
                    <a:pt x="1006152" y="437297"/>
                  </a:lnTo>
                  <a:lnTo>
                    <a:pt x="991300" y="440877"/>
                  </a:lnTo>
                  <a:close/>
                  <a:moveTo>
                    <a:pt x="1041143" y="1951"/>
                  </a:moveTo>
                  <a:lnTo>
                    <a:pt x="1056290" y="0"/>
                  </a:lnTo>
                  <a:lnTo>
                    <a:pt x="1110379" y="420056"/>
                  </a:lnTo>
                  <a:lnTo>
                    <a:pt x="1095283" y="422406"/>
                  </a:lnTo>
                  <a:close/>
                  <a:moveTo>
                    <a:pt x="87609" y="729331"/>
                  </a:moveTo>
                  <a:lnTo>
                    <a:pt x="478803" y="892672"/>
                  </a:lnTo>
                  <a:lnTo>
                    <a:pt x="472547" y="906611"/>
                  </a:lnTo>
                  <a:lnTo>
                    <a:pt x="81723" y="743424"/>
                  </a:lnTo>
                  <a:lnTo>
                    <a:pt x="84666" y="736377"/>
                  </a:lnTo>
                  <a:close/>
                  <a:moveTo>
                    <a:pt x="446636" y="435837"/>
                  </a:moveTo>
                  <a:lnTo>
                    <a:pt x="649045" y="638246"/>
                  </a:lnTo>
                  <a:lnTo>
                    <a:pt x="642057" y="644612"/>
                  </a:lnTo>
                  <a:lnTo>
                    <a:pt x="638347" y="649147"/>
                  </a:lnTo>
                  <a:lnTo>
                    <a:pt x="435836" y="446636"/>
                  </a:lnTo>
                  <a:lnTo>
                    <a:pt x="440978" y="440979"/>
                  </a:lnTo>
                  <a:close/>
                  <a:moveTo>
                    <a:pt x="658223" y="274275"/>
                  </a:moveTo>
                  <a:lnTo>
                    <a:pt x="671279" y="266343"/>
                  </a:lnTo>
                  <a:lnTo>
                    <a:pt x="814473" y="514363"/>
                  </a:lnTo>
                  <a:lnTo>
                    <a:pt x="801367" y="522209"/>
                  </a:lnTo>
                  <a:close/>
                  <a:moveTo>
                    <a:pt x="735676" y="84934"/>
                  </a:moveTo>
                  <a:lnTo>
                    <a:pt x="749802" y="79129"/>
                  </a:lnTo>
                  <a:lnTo>
                    <a:pt x="909846" y="468633"/>
                  </a:lnTo>
                  <a:lnTo>
                    <a:pt x="895778" y="474580"/>
                  </a:lnTo>
                  <a:close/>
                  <a:moveTo>
                    <a:pt x="248376" y="456659"/>
                  </a:moveTo>
                  <a:lnTo>
                    <a:pt x="581852" y="714051"/>
                  </a:lnTo>
                  <a:lnTo>
                    <a:pt x="572397" y="726047"/>
                  </a:lnTo>
                  <a:lnTo>
                    <a:pt x="239044" y="468748"/>
                  </a:lnTo>
                  <a:lnTo>
                    <a:pt x="243710" y="462704"/>
                  </a:lnTo>
                  <a:close/>
                  <a:moveTo>
                    <a:pt x="462094" y="244150"/>
                  </a:moveTo>
                  <a:lnTo>
                    <a:pt x="474238" y="234887"/>
                  </a:lnTo>
                  <a:lnTo>
                    <a:pt x="729468" y="569472"/>
                  </a:lnTo>
                  <a:lnTo>
                    <a:pt x="723162" y="573797"/>
                  </a:lnTo>
                  <a:lnTo>
                    <a:pt x="717325" y="578735"/>
                  </a:lnTo>
                  <a:close/>
                </a:path>
              </a:pathLst>
            </a:custGeom>
            <a:solidFill>
              <a:srgbClr val="D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雅酷黑 75W" panose="020B0804020202020204" pitchFamily="34" charset="-122"/>
                <a:ea typeface="汉仪雅酷黑 75W" panose="020B0804020202020204" pitchFamily="34" charset="-122"/>
              </a:endParaRPr>
            </a:p>
          </p:txBody>
        </p:sp>
        <p:pic>
          <p:nvPicPr>
            <p:cNvPr id="32" name="图片 31">
              <a:extLst>
                <a:ext uri="{FF2B5EF4-FFF2-40B4-BE49-F238E27FC236}">
                  <a16:creationId xmlns:a16="http://schemas.microsoft.com/office/drawing/2014/main" id="{D7E2BDC7-9C0F-455D-A47C-22880939CAD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46954" y="799517"/>
              <a:ext cx="539551" cy="529776"/>
            </a:xfrm>
            <a:prstGeom prst="rect">
              <a:avLst/>
            </a:prstGeom>
          </p:spPr>
        </p:pic>
      </p:grpSp>
      <p:sp>
        <p:nvSpPr>
          <p:cNvPr id="33" name="文本框 32">
            <a:extLst>
              <a:ext uri="{FF2B5EF4-FFF2-40B4-BE49-F238E27FC236}">
                <a16:creationId xmlns:a16="http://schemas.microsoft.com/office/drawing/2014/main" id="{8DFDF0FF-545F-4D8D-8118-54E42CC9DEAA}"/>
              </a:ext>
            </a:extLst>
          </p:cNvPr>
          <p:cNvSpPr txBox="1"/>
          <p:nvPr/>
        </p:nvSpPr>
        <p:spPr>
          <a:xfrm>
            <a:off x="990722" y="1781083"/>
            <a:ext cx="7263527" cy="1107996"/>
          </a:xfrm>
          <a:prstGeom prst="rect">
            <a:avLst/>
          </a:prstGeom>
          <a:noFill/>
        </p:spPr>
        <p:txBody>
          <a:bodyPr wrap="none" rtlCol="0">
            <a:spAutoFit/>
          </a:bodyPr>
          <a:lstStyle/>
          <a:p>
            <a:pPr algn="ctr"/>
            <a:r>
              <a:rPr lang="zh-CN" altLang="en-US" sz="6600" spc="300" dirty="0">
                <a:solidFill>
                  <a:srgbClr val="D20000"/>
                </a:solidFill>
                <a:latin typeface="汉仪雅酷黑 75W" panose="020B0804020202020204" pitchFamily="34" charset="-122"/>
                <a:ea typeface="汉仪雅酷黑 75W" panose="020B0804020202020204" pitchFamily="34" charset="-122"/>
                <a:cs typeface="+mn-ea"/>
              </a:rPr>
              <a:t>入党基本知识培训</a:t>
            </a:r>
            <a:endParaRPr lang="en-US" altLang="zh-CN" sz="6600" spc="300" dirty="0">
              <a:solidFill>
                <a:srgbClr val="D20000"/>
              </a:solidFill>
              <a:latin typeface="汉仪雅酷黑 75W" panose="020B0804020202020204" pitchFamily="34" charset="-122"/>
              <a:ea typeface="汉仪雅酷黑 75W" panose="020B0804020202020204" pitchFamily="34" charset="-122"/>
              <a:cs typeface="+mn-ea"/>
              <a:sym typeface="+mn-lt"/>
            </a:endParaRPr>
          </a:p>
        </p:txBody>
      </p:sp>
      <p:sp>
        <p:nvSpPr>
          <p:cNvPr id="34" name="矩形 33">
            <a:extLst>
              <a:ext uri="{FF2B5EF4-FFF2-40B4-BE49-F238E27FC236}">
                <a16:creationId xmlns:a16="http://schemas.microsoft.com/office/drawing/2014/main" id="{97B732F3-BC49-4D12-AD00-25C5322BE29D}"/>
              </a:ext>
            </a:extLst>
          </p:cNvPr>
          <p:cNvSpPr/>
          <p:nvPr/>
        </p:nvSpPr>
        <p:spPr>
          <a:xfrm>
            <a:off x="2081574" y="2920095"/>
            <a:ext cx="4980852" cy="369332"/>
          </a:xfrm>
          <a:prstGeom prst="rect">
            <a:avLst/>
          </a:prstGeom>
        </p:spPr>
        <p:txBody>
          <a:bodyPr wrap="none">
            <a:spAutoFit/>
          </a:bodyPr>
          <a:lstStyle/>
          <a:p>
            <a:pPr algn="ctr"/>
            <a:r>
              <a:rPr lang="zh-CN" altLang="en-US" b="1" dirty="0">
                <a:solidFill>
                  <a:srgbClr val="C00000"/>
                </a:solidFill>
                <a:latin typeface="汉仪雅酷黑 75W" panose="020B0804020202020204" pitchFamily="34" charset="-122"/>
                <a:ea typeface="汉仪雅酷黑 75W" panose="020B0804020202020204" pitchFamily="34" charset="-122"/>
                <a:cs typeface="+mn-ea"/>
                <a:sym typeface="+mn-lt"/>
              </a:rPr>
              <a:t>入党须知 党性修养 党课培训 党校培训 微党课 </a:t>
            </a:r>
          </a:p>
        </p:txBody>
      </p:sp>
      <p:grpSp>
        <p:nvGrpSpPr>
          <p:cNvPr id="42" name="组合 41">
            <a:extLst>
              <a:ext uri="{FF2B5EF4-FFF2-40B4-BE49-F238E27FC236}">
                <a16:creationId xmlns:a16="http://schemas.microsoft.com/office/drawing/2014/main" id="{55B4EFC0-5512-4594-BE5C-17B30DBBE3C8}"/>
              </a:ext>
            </a:extLst>
          </p:cNvPr>
          <p:cNvGrpSpPr/>
          <p:nvPr/>
        </p:nvGrpSpPr>
        <p:grpSpPr>
          <a:xfrm>
            <a:off x="3000778" y="3474093"/>
            <a:ext cx="1420796" cy="277000"/>
            <a:chOff x="3000778" y="3474093"/>
            <a:chExt cx="1420796" cy="277000"/>
          </a:xfrm>
        </p:grpSpPr>
        <p:sp>
          <p:nvSpPr>
            <p:cNvPr id="35" name="圆角矩形 21">
              <a:extLst>
                <a:ext uri="{FF2B5EF4-FFF2-40B4-BE49-F238E27FC236}">
                  <a16:creationId xmlns:a16="http://schemas.microsoft.com/office/drawing/2014/main" id="{45DF1B60-8095-41B1-B2CC-F29419C0E110}"/>
                </a:ext>
              </a:extLst>
            </p:cNvPr>
            <p:cNvSpPr/>
            <p:nvPr/>
          </p:nvSpPr>
          <p:spPr>
            <a:xfrm>
              <a:off x="3000778" y="3474093"/>
              <a:ext cx="1415770" cy="277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汉仪雅酷黑 75W" panose="020B0804020202020204" pitchFamily="34" charset="-122"/>
                <a:ea typeface="汉仪雅酷黑 75W" panose="020B0804020202020204" pitchFamily="34" charset="-122"/>
              </a:endParaRPr>
            </a:p>
          </p:txBody>
        </p:sp>
        <p:sp>
          <p:nvSpPr>
            <p:cNvPr id="36" name="文本框 35">
              <a:extLst>
                <a:ext uri="{FF2B5EF4-FFF2-40B4-BE49-F238E27FC236}">
                  <a16:creationId xmlns:a16="http://schemas.microsoft.com/office/drawing/2014/main" id="{7D86FCB2-CE31-4578-9617-333C9C57AC43}"/>
                </a:ext>
              </a:extLst>
            </p:cNvPr>
            <p:cNvSpPr txBox="1"/>
            <p:nvPr/>
          </p:nvSpPr>
          <p:spPr>
            <a:xfrm>
              <a:off x="3018625" y="3474094"/>
              <a:ext cx="1402949" cy="276999"/>
            </a:xfrm>
            <a:prstGeom prst="rect">
              <a:avLst/>
            </a:prstGeom>
            <a:noFill/>
            <a:ln>
              <a:noFill/>
            </a:ln>
          </p:spPr>
          <p:txBody>
            <a:bodyPr wrap="none" rtlCol="0">
              <a:spAutoFit/>
            </a:bodyPr>
            <a:lstStyle/>
            <a:p>
              <a:pPr algn="ctr"/>
              <a:r>
                <a:rPr lang="zh-CN" altLang="en-US" sz="1200" dirty="0">
                  <a:solidFill>
                    <a:schemeClr val="bg1"/>
                  </a:solidFill>
                  <a:latin typeface="汉仪雅酷黑 75W" panose="020B0804020202020204" pitchFamily="34" charset="-122"/>
                  <a:ea typeface="汉仪雅酷黑 75W" panose="020B0804020202020204" pitchFamily="34" charset="-122"/>
                  <a:cs typeface="+mn-ea"/>
                  <a:sym typeface="+mn-lt"/>
                </a:rPr>
                <a:t>汇报人：优品</a:t>
              </a:r>
              <a:r>
                <a:rPr lang="en-US" altLang="zh-CN" sz="1200" dirty="0">
                  <a:solidFill>
                    <a:schemeClr val="bg1"/>
                  </a:solidFill>
                  <a:latin typeface="汉仪雅酷黑 75W" panose="020B0804020202020204" pitchFamily="34" charset="-122"/>
                  <a:ea typeface="汉仪雅酷黑 75W" panose="020B0804020202020204" pitchFamily="34" charset="-122"/>
                  <a:cs typeface="+mn-ea"/>
                  <a:sym typeface="+mn-lt"/>
                </a:rPr>
                <a:t>PPT</a:t>
              </a:r>
              <a:endParaRPr lang="zh-CN" altLang="en-US" sz="1200" dirty="0">
                <a:solidFill>
                  <a:schemeClr val="bg1"/>
                </a:solidFill>
                <a:latin typeface="汉仪雅酷黑 75W" panose="020B0804020202020204" pitchFamily="34" charset="-122"/>
                <a:ea typeface="汉仪雅酷黑 75W" panose="020B0804020202020204" pitchFamily="34" charset="-122"/>
                <a:cs typeface="+mn-ea"/>
                <a:sym typeface="+mn-lt"/>
              </a:endParaRPr>
            </a:p>
          </p:txBody>
        </p:sp>
      </p:grpSp>
      <p:grpSp>
        <p:nvGrpSpPr>
          <p:cNvPr id="43" name="组合 42">
            <a:extLst>
              <a:ext uri="{FF2B5EF4-FFF2-40B4-BE49-F238E27FC236}">
                <a16:creationId xmlns:a16="http://schemas.microsoft.com/office/drawing/2014/main" id="{212D87C0-2DF2-4A0F-9BA6-E35E3C05517B}"/>
              </a:ext>
            </a:extLst>
          </p:cNvPr>
          <p:cNvGrpSpPr/>
          <p:nvPr/>
        </p:nvGrpSpPr>
        <p:grpSpPr>
          <a:xfrm>
            <a:off x="4721319" y="3474093"/>
            <a:ext cx="1415770" cy="277000"/>
            <a:chOff x="4721319" y="3474093"/>
            <a:chExt cx="1415770" cy="277000"/>
          </a:xfrm>
        </p:grpSpPr>
        <p:sp>
          <p:nvSpPr>
            <p:cNvPr id="37" name="圆角矩形 21">
              <a:extLst>
                <a:ext uri="{FF2B5EF4-FFF2-40B4-BE49-F238E27FC236}">
                  <a16:creationId xmlns:a16="http://schemas.microsoft.com/office/drawing/2014/main" id="{C4B1AF5B-9FFA-422C-B0BD-8E4AD7A7E0BB}"/>
                </a:ext>
              </a:extLst>
            </p:cNvPr>
            <p:cNvSpPr/>
            <p:nvPr/>
          </p:nvSpPr>
          <p:spPr>
            <a:xfrm>
              <a:off x="4721319" y="3474093"/>
              <a:ext cx="1415770" cy="277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汉仪雅酷黑 75W" panose="020B0804020202020204" pitchFamily="34" charset="-122"/>
                <a:ea typeface="汉仪雅酷黑 75W" panose="020B0804020202020204" pitchFamily="34" charset="-122"/>
              </a:endParaRPr>
            </a:p>
          </p:txBody>
        </p:sp>
        <p:sp>
          <p:nvSpPr>
            <p:cNvPr id="38" name="文本框 37">
              <a:extLst>
                <a:ext uri="{FF2B5EF4-FFF2-40B4-BE49-F238E27FC236}">
                  <a16:creationId xmlns:a16="http://schemas.microsoft.com/office/drawing/2014/main" id="{AAB8D7EE-F36B-40EF-B16B-9D0F1D14C0DE}"/>
                </a:ext>
              </a:extLst>
            </p:cNvPr>
            <p:cNvSpPr txBox="1"/>
            <p:nvPr/>
          </p:nvSpPr>
          <p:spPr>
            <a:xfrm>
              <a:off x="4758402" y="3474094"/>
              <a:ext cx="1364477" cy="276999"/>
            </a:xfrm>
            <a:prstGeom prst="rect">
              <a:avLst/>
            </a:prstGeom>
            <a:noFill/>
            <a:ln>
              <a:noFill/>
            </a:ln>
          </p:spPr>
          <p:txBody>
            <a:bodyPr wrap="none" rtlCol="0">
              <a:spAutoFit/>
            </a:bodyPr>
            <a:lstStyle/>
            <a:p>
              <a:pPr algn="ctr"/>
              <a:r>
                <a:rPr lang="zh-CN" altLang="en-US" sz="1200" dirty="0">
                  <a:solidFill>
                    <a:schemeClr val="bg1"/>
                  </a:solidFill>
                  <a:latin typeface="汉仪雅酷黑 75W" panose="020B0804020202020204" pitchFamily="34" charset="-122"/>
                  <a:ea typeface="汉仪雅酷黑 75W" panose="020B0804020202020204" pitchFamily="34" charset="-122"/>
                  <a:cs typeface="+mn-ea"/>
                  <a:sym typeface="+mn-lt"/>
                </a:rPr>
                <a:t>汇报时间：</a:t>
              </a:r>
              <a:r>
                <a:rPr lang="en-US" altLang="zh-CN" sz="1200" dirty="0">
                  <a:solidFill>
                    <a:schemeClr val="bg1"/>
                  </a:solidFill>
                  <a:latin typeface="汉仪雅酷黑 75W" panose="020B0804020202020204" pitchFamily="34" charset="-122"/>
                  <a:ea typeface="汉仪雅酷黑 75W" panose="020B0804020202020204" pitchFamily="34" charset="-122"/>
                  <a:cs typeface="+mn-ea"/>
                  <a:sym typeface="+mn-lt"/>
                </a:rPr>
                <a:t>20XX</a:t>
              </a:r>
              <a:endParaRPr lang="zh-CN" altLang="en-US" sz="1200" dirty="0">
                <a:solidFill>
                  <a:schemeClr val="bg1"/>
                </a:solidFill>
                <a:latin typeface="汉仪雅酷黑 75W" panose="020B0804020202020204" pitchFamily="34" charset="-122"/>
                <a:ea typeface="汉仪雅酷黑 75W" panose="020B0804020202020204" pitchFamily="34" charset="-122"/>
                <a:cs typeface="+mn-ea"/>
                <a:sym typeface="+mn-lt"/>
              </a:endParaRPr>
            </a:p>
          </p:txBody>
        </p:sp>
      </p:grpSp>
      <p:pic>
        <p:nvPicPr>
          <p:cNvPr id="40" name="图片 39">
            <a:extLst>
              <a:ext uri="{FF2B5EF4-FFF2-40B4-BE49-F238E27FC236}">
                <a16:creationId xmlns:a16="http://schemas.microsoft.com/office/drawing/2014/main" id="{5D69B71A-8FC5-4477-8CEA-472EF06970DB}"/>
              </a:ext>
            </a:extLst>
          </p:cNvPr>
          <p:cNvPicPr>
            <a:picLocks noChangeAspect="1"/>
          </p:cNvPicPr>
          <p:nvPr/>
        </p:nvPicPr>
        <p:blipFill>
          <a:blip r:embed="rId9"/>
          <a:stretch>
            <a:fillRect/>
          </a:stretch>
        </p:blipFill>
        <p:spPr>
          <a:xfrm flipH="1">
            <a:off x="6876256" y="816369"/>
            <a:ext cx="1080907" cy="748888"/>
          </a:xfrm>
          <a:prstGeom prst="rect">
            <a:avLst/>
          </a:prstGeom>
        </p:spPr>
      </p:pic>
    </p:spTree>
    <p:extLst>
      <p:ext uri="{BB962C8B-B14F-4D97-AF65-F5344CB8AC3E}">
        <p14:creationId xmlns:p14="http://schemas.microsoft.com/office/powerpoint/2010/main" val="3162843701"/>
      </p:ext>
    </p:extLst>
  </p:cSld>
  <p:clrMapOvr>
    <a:masterClrMapping/>
  </p:clrMapOvr>
  <mc:AlternateContent xmlns:mc="http://schemas.openxmlformats.org/markup-compatibility/2006" xmlns:p14="http://schemas.microsoft.com/office/powerpoint/2010/main">
    <mc:Choice Requires="p14">
      <p:transition p14:dur="10" advTm="9000"/>
    </mc:Choice>
    <mc:Fallback xmlns="">
      <p:transition advTm="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childTnLst>
                          </p:cTn>
                        </p:par>
                        <p:par>
                          <p:cTn id="22" fill="hold">
                            <p:stCondLst>
                              <p:cond delay="2500"/>
                            </p:stCondLst>
                            <p:childTnLst>
                              <p:par>
                                <p:cTn id="23" presetID="2" presetClass="entr" presetSubtype="4"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par>
                          <p:cTn id="27" fill="hold">
                            <p:stCondLst>
                              <p:cond delay="3000"/>
                            </p:stCondLst>
                            <p:childTnLst>
                              <p:par>
                                <p:cTn id="28" presetID="22" presetClass="entr" presetSubtype="4" fill="hold"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down)">
                                      <p:cBhvr>
                                        <p:cTn id="30" dur="500"/>
                                        <p:tgtEl>
                                          <p:spTgt spid="26"/>
                                        </p:tgtEl>
                                      </p:cBhvr>
                                    </p:animEffect>
                                  </p:childTnLst>
                                </p:cTn>
                              </p:par>
                            </p:childTnLst>
                          </p:cTn>
                        </p:par>
                        <p:par>
                          <p:cTn id="31" fill="hold">
                            <p:stCondLst>
                              <p:cond delay="3500"/>
                            </p:stCondLst>
                            <p:childTnLst>
                              <p:par>
                                <p:cTn id="32" presetID="53" presetClass="entr" presetSubtype="16" fill="hold" nodeType="afterEffect">
                                  <p:stCondLst>
                                    <p:cond delay="0"/>
                                  </p:stCondLst>
                                  <p:childTnLst>
                                    <p:set>
                                      <p:cBhvr>
                                        <p:cTn id="33" dur="1" fill="hold">
                                          <p:stCondLst>
                                            <p:cond delay="0"/>
                                          </p:stCondLst>
                                        </p:cTn>
                                        <p:tgtEl>
                                          <p:spTgt spid="41"/>
                                        </p:tgtEl>
                                        <p:attrNameLst>
                                          <p:attrName>style.visibility</p:attrName>
                                        </p:attrNameLst>
                                      </p:cBhvr>
                                      <p:to>
                                        <p:strVal val="visible"/>
                                      </p:to>
                                    </p:set>
                                    <p:anim calcmode="lin" valueType="num">
                                      <p:cBhvr>
                                        <p:cTn id="34" dur="500" fill="hold"/>
                                        <p:tgtEl>
                                          <p:spTgt spid="41"/>
                                        </p:tgtEl>
                                        <p:attrNameLst>
                                          <p:attrName>ppt_w</p:attrName>
                                        </p:attrNameLst>
                                      </p:cBhvr>
                                      <p:tavLst>
                                        <p:tav tm="0">
                                          <p:val>
                                            <p:fltVal val="0"/>
                                          </p:val>
                                        </p:tav>
                                        <p:tav tm="100000">
                                          <p:val>
                                            <p:strVal val="#ppt_w"/>
                                          </p:val>
                                        </p:tav>
                                      </p:tavLst>
                                    </p:anim>
                                    <p:anim calcmode="lin" valueType="num">
                                      <p:cBhvr>
                                        <p:cTn id="35" dur="500" fill="hold"/>
                                        <p:tgtEl>
                                          <p:spTgt spid="41"/>
                                        </p:tgtEl>
                                        <p:attrNameLst>
                                          <p:attrName>ppt_h</p:attrName>
                                        </p:attrNameLst>
                                      </p:cBhvr>
                                      <p:tavLst>
                                        <p:tav tm="0">
                                          <p:val>
                                            <p:fltVal val="0"/>
                                          </p:val>
                                        </p:tav>
                                        <p:tav tm="100000">
                                          <p:val>
                                            <p:strVal val="#ppt_h"/>
                                          </p:val>
                                        </p:tav>
                                      </p:tavLst>
                                    </p:anim>
                                    <p:animEffect transition="in" filter="fade">
                                      <p:cBhvr>
                                        <p:cTn id="36" dur="500"/>
                                        <p:tgtEl>
                                          <p:spTgt spid="41"/>
                                        </p:tgtEl>
                                      </p:cBhvr>
                                    </p:animEffect>
                                  </p:childTnLst>
                                </p:cTn>
                              </p:par>
                            </p:childTnLst>
                          </p:cTn>
                        </p:par>
                        <p:par>
                          <p:cTn id="37" fill="hold">
                            <p:stCondLst>
                              <p:cond delay="4000"/>
                            </p:stCondLst>
                            <p:childTnLst>
                              <p:par>
                                <p:cTn id="38" presetID="16" presetClass="entr" presetSubtype="21" fill="hold" grpId="0" nodeType="after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barn(inVertical)">
                                      <p:cBhvr>
                                        <p:cTn id="40" dur="500"/>
                                        <p:tgtEl>
                                          <p:spTgt spid="33"/>
                                        </p:tgtEl>
                                      </p:cBhvr>
                                    </p:animEffect>
                                  </p:childTnLst>
                                </p:cTn>
                              </p:par>
                            </p:childTnLst>
                          </p:cTn>
                        </p:par>
                        <p:par>
                          <p:cTn id="41" fill="hold">
                            <p:stCondLst>
                              <p:cond delay="4500"/>
                            </p:stCondLst>
                            <p:childTnLst>
                              <p:par>
                                <p:cTn id="42" presetID="22" presetClass="entr" presetSubtype="4" fill="hold" grpId="0" nodeType="after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wipe(down)">
                                      <p:cBhvr>
                                        <p:cTn id="44" dur="500"/>
                                        <p:tgtEl>
                                          <p:spTgt spid="34"/>
                                        </p:tgtEl>
                                      </p:cBhvr>
                                    </p:animEffect>
                                  </p:childTnLst>
                                </p:cTn>
                              </p:par>
                            </p:childTnLst>
                          </p:cTn>
                        </p:par>
                        <p:par>
                          <p:cTn id="45" fill="hold">
                            <p:stCondLst>
                              <p:cond delay="5000"/>
                            </p:stCondLst>
                            <p:childTnLst>
                              <p:par>
                                <p:cTn id="46" presetID="42" presetClass="entr" presetSubtype="0" fill="hold" nodeType="after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fade">
                                      <p:cBhvr>
                                        <p:cTn id="48" dur="1000"/>
                                        <p:tgtEl>
                                          <p:spTgt spid="42"/>
                                        </p:tgtEl>
                                      </p:cBhvr>
                                    </p:animEffect>
                                    <p:anim calcmode="lin" valueType="num">
                                      <p:cBhvr>
                                        <p:cTn id="49" dur="1000" fill="hold"/>
                                        <p:tgtEl>
                                          <p:spTgt spid="42"/>
                                        </p:tgtEl>
                                        <p:attrNameLst>
                                          <p:attrName>ppt_x</p:attrName>
                                        </p:attrNameLst>
                                      </p:cBhvr>
                                      <p:tavLst>
                                        <p:tav tm="0">
                                          <p:val>
                                            <p:strVal val="#ppt_x"/>
                                          </p:val>
                                        </p:tav>
                                        <p:tav tm="100000">
                                          <p:val>
                                            <p:strVal val="#ppt_x"/>
                                          </p:val>
                                        </p:tav>
                                      </p:tavLst>
                                    </p:anim>
                                    <p:anim calcmode="lin" valueType="num">
                                      <p:cBhvr>
                                        <p:cTn id="50" dur="1000" fill="hold"/>
                                        <p:tgtEl>
                                          <p:spTgt spid="42"/>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fade">
                                      <p:cBhvr>
                                        <p:cTn id="53" dur="1000"/>
                                        <p:tgtEl>
                                          <p:spTgt spid="43"/>
                                        </p:tgtEl>
                                      </p:cBhvr>
                                    </p:animEffect>
                                    <p:anim calcmode="lin" valueType="num">
                                      <p:cBhvr>
                                        <p:cTn id="54" dur="1000" fill="hold"/>
                                        <p:tgtEl>
                                          <p:spTgt spid="43"/>
                                        </p:tgtEl>
                                        <p:attrNameLst>
                                          <p:attrName>ppt_x</p:attrName>
                                        </p:attrNameLst>
                                      </p:cBhvr>
                                      <p:tavLst>
                                        <p:tav tm="0">
                                          <p:val>
                                            <p:strVal val="#ppt_x"/>
                                          </p:val>
                                        </p:tav>
                                        <p:tav tm="100000">
                                          <p:val>
                                            <p:strVal val="#ppt_x"/>
                                          </p:val>
                                        </p:tav>
                                      </p:tavLst>
                                    </p:anim>
                                    <p:anim calcmode="lin" valueType="num">
                                      <p:cBhvr>
                                        <p:cTn id="55" dur="1000" fill="hold"/>
                                        <p:tgtEl>
                                          <p:spTgt spid="43"/>
                                        </p:tgtEl>
                                        <p:attrNameLst>
                                          <p:attrName>ppt_y</p:attrName>
                                        </p:attrNameLst>
                                      </p:cBhvr>
                                      <p:tavLst>
                                        <p:tav tm="0">
                                          <p:val>
                                            <p:strVal val="#ppt_y+.1"/>
                                          </p:val>
                                        </p:tav>
                                        <p:tav tm="100000">
                                          <p:val>
                                            <p:strVal val="#ppt_y"/>
                                          </p:val>
                                        </p:tav>
                                      </p:tavLst>
                                    </p:anim>
                                  </p:childTnLst>
                                </p:cTn>
                              </p:par>
                            </p:childTnLst>
                          </p:cTn>
                        </p:par>
                        <p:par>
                          <p:cTn id="56" fill="hold">
                            <p:stCondLst>
                              <p:cond delay="6000"/>
                            </p:stCondLst>
                            <p:childTnLst>
                              <p:par>
                                <p:cTn id="57" presetID="22" presetClass="entr" presetSubtype="4" fill="hold" nodeType="after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wipe(down)">
                                      <p:cBhvr>
                                        <p:cTn id="5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2212399"/>
            <a:ext cx="9143999" cy="49291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35000" tIns="0" rIns="135000" bIns="0" anchor="ctr"/>
          <a:lstStyle/>
          <a:p>
            <a:pPr algn="ctr">
              <a:defRPr/>
            </a:pPr>
            <a:r>
              <a:rPr lang="en-US" altLang="zh-CN"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                                             www.ypppt.com</a:t>
            </a:r>
            <a:endParaRPr lang="zh-CN" altLang="en-US" sz="21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1636569"/>
            <a:ext cx="9143999" cy="58145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defRPr/>
            </a:pP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更多精品</a:t>
            </a:r>
            <a:r>
              <a:rPr lang="en-US" altLang="zh-CN"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PPT</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资源尽在</a:t>
            </a:r>
            <a:r>
              <a:rPr lang="en-US" altLang="zh-CN"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优品</a:t>
            </a:r>
            <a:r>
              <a:rPr lang="en-US" altLang="zh-CN"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PPT</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12" name="矩形 11"/>
          <p:cNvSpPr/>
          <p:nvPr/>
        </p:nvSpPr>
        <p:spPr>
          <a:xfrm>
            <a:off x="1936373" y="2940767"/>
            <a:ext cx="5179807" cy="1269578"/>
          </a:xfrm>
          <a:prstGeom prst="rect">
            <a:avLst/>
          </a:prstGeom>
          <a:noFill/>
          <a:ln w="25400" cap="flat" cmpd="sng" algn="ctr">
            <a:noFill/>
            <a:prstDash val="solid"/>
          </a:ln>
          <a:effectLst/>
        </p:spPr>
        <p:txBody>
          <a:bodyPr rtlCol="0" anchor="ctr"/>
          <a:lstStyle/>
          <a:p>
            <a:pPr>
              <a:lnSpc>
                <a:spcPts val="1800"/>
              </a:lnSpc>
            </a:pP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模板下载：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3"/>
              </a:rPr>
              <a:t>www.ypppt.com/moban/</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4"/>
              </a:rPr>
              <a:t>www.ypppt.com/jieri/</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1800"/>
              </a:lnSpc>
            </a:pP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5"/>
              </a:rPr>
              <a:t>www.ypppt.com/beijing/</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图表下载：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6"/>
              </a:rPr>
              <a:t>www.ypppt.com/tubiao/</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1800"/>
              </a:lnSpc>
            </a:pP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素材下载：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7"/>
              </a:rPr>
              <a:t>www.ypppt.com/sucai/</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教程下载：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8"/>
              </a:rPr>
              <a:t>www.ypppt.com/jiaocheng/</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1800"/>
              </a:lnSpc>
            </a:pP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字体下载：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9"/>
              </a:rPr>
              <a:t>www.ypppt.com/ziti/</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绘本故事</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10"/>
              </a:rPr>
              <a:t>www.ypppt.com/gushi/</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1800"/>
              </a:lnSpc>
            </a:pP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课件：</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11"/>
              </a:rPr>
              <a:t>www.ypppt.com/kejian/</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12378230"/>
      </p:ext>
    </p:extLst>
  </p:cSld>
  <p:clrMapOvr>
    <a:masterClrMapping/>
  </p:clrMapOvr>
</p:sld>
</file>

<file path=ppt/theme/theme1.xml><?xml version="1.0" encoding="utf-8"?>
<a:theme xmlns:a="http://schemas.openxmlformats.org/drawingml/2006/main" name="Office 主题​​">
  <a:themeElements>
    <a:clrScheme name="大红色">
      <a:dk1>
        <a:sysClr val="windowText" lastClr="000000"/>
      </a:dk1>
      <a:lt1>
        <a:sysClr val="window" lastClr="FFFFFF"/>
      </a:lt1>
      <a:dk2>
        <a:srgbClr val="1F497D"/>
      </a:dk2>
      <a:lt2>
        <a:srgbClr val="EEECE1"/>
      </a:lt2>
      <a:accent1>
        <a:srgbClr val="D60000"/>
      </a:accent1>
      <a:accent2>
        <a:srgbClr val="D60000"/>
      </a:accent2>
      <a:accent3>
        <a:srgbClr val="D60000"/>
      </a:accent3>
      <a:accent4>
        <a:srgbClr val="D60000"/>
      </a:accent4>
      <a:accent5>
        <a:srgbClr val="4BACC6"/>
      </a:accent5>
      <a:accent6>
        <a:srgbClr val="F79646"/>
      </a:accent6>
      <a:hlink>
        <a:srgbClr val="0000FF"/>
      </a:hlink>
      <a:folHlink>
        <a:srgbClr val="800080"/>
      </a:folHlink>
    </a:clrScheme>
    <a:fontScheme name="自定义 2">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1820</TotalTime>
  <Words>1338</Words>
  <Application>Microsoft Office PowerPoint</Application>
  <PresentationFormat>全屏显示(16:9)</PresentationFormat>
  <Paragraphs>110</Paragraphs>
  <Slides>21</Slides>
  <Notes>14</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21</vt:i4>
      </vt:variant>
    </vt:vector>
  </HeadingPairs>
  <TitlesOfParts>
    <vt:vector size="35" baseType="lpstr">
      <vt:lpstr>Noto Sans S Chinese Bold</vt:lpstr>
      <vt:lpstr>Noto Sans S Chinese Light</vt:lpstr>
      <vt:lpstr>汉仪雅酷黑 75W</vt:lpstr>
      <vt:lpstr>微软雅黑</vt:lpstr>
      <vt:lpstr>微软雅黑</vt:lpstr>
      <vt:lpstr>arial</vt:lpstr>
      <vt:lpstr>arial</vt:lpstr>
      <vt:lpstr>Calibri</vt:lpstr>
      <vt:lpstr>Calibri Light</vt:lpstr>
      <vt:lpstr>Century Gothic</vt:lpstr>
      <vt:lpstr>Poppins SemiBold</vt:lpstr>
      <vt:lpstr>Wingdings</vt:lpstr>
      <vt:lpstr>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优品PPT</dc:creator>
  <cp:lastModifiedBy>铎 任</cp:lastModifiedBy>
  <cp:revision>640</cp:revision>
  <dcterms:created xsi:type="dcterms:W3CDTF">2015-05-27T08:42:08Z</dcterms:created>
  <dcterms:modified xsi:type="dcterms:W3CDTF">2022-04-18T14:59:39Z</dcterms:modified>
</cp:coreProperties>
</file>