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316" r:id="rId13"/>
    <p:sldId id="271" r:id="rId14"/>
    <p:sldId id="272" r:id="rId15"/>
    <p:sldId id="273" r:id="rId16"/>
    <p:sldId id="274" r:id="rId17"/>
    <p:sldId id="317" r:id="rId18"/>
    <p:sldId id="277" r:id="rId19"/>
    <p:sldId id="278" r:id="rId20"/>
    <p:sldId id="314" r:id="rId21"/>
    <p:sldId id="279" r:id="rId22"/>
    <p:sldId id="280" r:id="rId23"/>
    <p:sldId id="282" r:id="rId24"/>
    <p:sldId id="281" r:id="rId25"/>
    <p:sldId id="284" r:id="rId26"/>
    <p:sldId id="285" r:id="rId27"/>
    <p:sldId id="286" r:id="rId28"/>
    <p:sldId id="287" r:id="rId29"/>
    <p:sldId id="315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7" r:id="rId48"/>
    <p:sldId id="308" r:id="rId49"/>
    <p:sldId id="309" r:id="rId50"/>
    <p:sldId id="311" r:id="rId51"/>
    <p:sldId id="288" r:id="rId5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BF1"/>
    <a:srgbClr val="0000FF"/>
    <a:srgbClr val="3333CC"/>
    <a:srgbClr val="CC00FF"/>
    <a:srgbClr val="99FF99"/>
    <a:srgbClr val="99FFCC"/>
    <a:srgbClr val="DDDDDD"/>
    <a:srgbClr val="FF6600"/>
    <a:srgbClr val="F77947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59" autoAdjust="0"/>
  </p:normalViewPr>
  <p:slideViewPr>
    <p:cSldViewPr>
      <p:cViewPr varScale="1">
        <p:scale>
          <a:sx n="78" d="100"/>
          <a:sy n="78" d="100"/>
        </p:scale>
        <p:origin x="930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06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AF0AA2-8537-442A-A013-B65EED82DBA8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F8FFE85-AE7F-4223-B5D2-A1379C9D878A}">
      <dgm:prSet phldrT="[文本]" custT="1"/>
      <dgm:spPr>
        <a:solidFill>
          <a:schemeClr val="bg1"/>
        </a:solidFill>
        <a:ln>
          <a:solidFill>
            <a:schemeClr val="tx1"/>
          </a:solidFill>
        </a:ln>
        <a:effectLst>
          <a:outerShdw blurRad="50800" dist="50800" dir="5400000" algn="ctr" rotWithShape="0">
            <a:schemeClr val="tx1"/>
          </a:outerShdw>
        </a:effectLst>
      </dgm:spPr>
      <dgm:t>
        <a:bodyPr/>
        <a:lstStyle/>
        <a:p>
          <a:r>
            <a:rPr lang="en-US" altLang="zh-CN" sz="2800" b="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kJ /(</a:t>
          </a:r>
          <a:r>
            <a:rPr lang="zh-CN" altLang="en-US" sz="2800" b="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单位物理量</a:t>
          </a:r>
          <a:r>
            <a:rPr lang="en-US" altLang="zh-CN" sz="2800" b="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·K)</a:t>
          </a:r>
        </a:p>
      </dgm:t>
    </dgm:pt>
    <dgm:pt modelId="{D4DBF434-3390-4750-B445-A781E82828A8}" type="parTrans" cxnId="{3D062053-6AE3-4350-8169-28C1EEC45AA3}">
      <dgm:prSet/>
      <dgm:spPr/>
      <dgm:t>
        <a:bodyPr/>
        <a:lstStyle/>
        <a:p>
          <a:endParaRPr lang="zh-CN" altLang="en-US"/>
        </a:p>
      </dgm:t>
    </dgm:pt>
    <dgm:pt modelId="{F6F7B690-9A7C-40EF-AFFB-B9E119DC69C0}" type="sibTrans" cxnId="{3D062053-6AE3-4350-8169-28C1EEC45AA3}">
      <dgm:prSet/>
      <dgm:spPr/>
      <dgm:t>
        <a:bodyPr/>
        <a:lstStyle/>
        <a:p>
          <a:endParaRPr lang="zh-CN" altLang="en-US"/>
        </a:p>
      </dgm:t>
    </dgm:pt>
    <dgm:pt modelId="{C801CCC0-45E6-49FD-94CF-14714D904760}">
      <dgm:prSet phldrT="[文本]" custT="1"/>
      <dgm:spPr>
        <a:solidFill>
          <a:schemeClr val="bg1"/>
        </a:solidFill>
        <a:ln>
          <a:solidFill>
            <a:schemeClr val="tx2"/>
          </a:solidFill>
        </a:ln>
      </dgm:spPr>
      <dgm:t>
        <a:bodyPr/>
        <a:lstStyle/>
        <a:p>
          <a:r>
            <a:rPr lang="zh-CN" altLang="en-US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质量比热容</a:t>
          </a:r>
          <a:r>
            <a:rPr lang="en-US" altLang="zh-CN" sz="2400" b="0" i="1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c</a:t>
          </a:r>
          <a:r>
            <a:rPr lang="zh-CN" altLang="en-US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：</a:t>
          </a:r>
          <a:r>
            <a:rPr lang="en-US" altLang="zh-CN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kJ/(</a:t>
          </a:r>
          <a:r>
            <a:rPr lang="en-US" altLang="zh-CN" sz="2400" b="0" dirty="0" err="1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kg·K</a:t>
          </a:r>
          <a:r>
            <a:rPr lang="en-US" altLang="zh-CN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)</a:t>
          </a:r>
          <a:endParaRPr lang="zh-CN" altLang="en-US" sz="2400" b="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DA4EF83C-33CE-4FB6-812F-F50E0D7BB08D}" type="parTrans" cxnId="{737662AB-6D0C-4FB5-A57C-55E758E67C78}">
      <dgm:prSet/>
      <dgm:spPr/>
      <dgm:t>
        <a:bodyPr/>
        <a:lstStyle/>
        <a:p>
          <a:endParaRPr lang="zh-CN" altLang="en-US"/>
        </a:p>
      </dgm:t>
    </dgm:pt>
    <dgm:pt modelId="{CC14537D-F610-4F87-ABE7-F28AFED627D8}" type="sibTrans" cxnId="{737662AB-6D0C-4FB5-A57C-55E758E67C78}">
      <dgm:prSet/>
      <dgm:spPr/>
      <dgm:t>
        <a:bodyPr/>
        <a:lstStyle/>
        <a:p>
          <a:endParaRPr lang="zh-CN" altLang="en-US"/>
        </a:p>
      </dgm:t>
    </dgm:pt>
    <dgm:pt modelId="{9019D5C4-FEFD-46DA-8165-EA728AE3B334}">
      <dgm:prSet phldrT="[文本]" custT="1"/>
      <dgm:spPr>
        <a:solidFill>
          <a:schemeClr val="bg1"/>
        </a:solidFill>
        <a:ln>
          <a:solidFill>
            <a:schemeClr val="tx2"/>
          </a:solidFill>
        </a:ln>
      </dgm:spPr>
      <dgm:t>
        <a:bodyPr/>
        <a:lstStyle/>
        <a:p>
          <a:r>
            <a:rPr lang="zh-CN" altLang="en-US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摩尔比热容</a:t>
          </a:r>
          <a:r>
            <a:rPr lang="en-US" altLang="zh-CN" sz="2400" b="0" i="1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C:</a:t>
          </a:r>
          <a:r>
            <a:rPr lang="zh-CN" altLang="en-US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 </a:t>
          </a:r>
          <a:r>
            <a:rPr lang="en-US" altLang="zh-CN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kJ/(</a:t>
          </a:r>
          <a:r>
            <a:rPr lang="en-US" altLang="zh-CN" sz="2400" b="0" dirty="0" err="1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kmol·K</a:t>
          </a:r>
          <a:r>
            <a:rPr lang="en-US" altLang="zh-CN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)</a:t>
          </a:r>
          <a:endParaRPr lang="zh-CN" altLang="en-US" sz="2400" b="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FD1A4712-ADFD-428B-A1B8-33D30C90D03C}" type="parTrans" cxnId="{90310749-7989-4288-BD59-AF1A403AED12}">
      <dgm:prSet/>
      <dgm:spPr/>
      <dgm:t>
        <a:bodyPr/>
        <a:lstStyle/>
        <a:p>
          <a:endParaRPr lang="zh-CN" altLang="en-US"/>
        </a:p>
      </dgm:t>
    </dgm:pt>
    <dgm:pt modelId="{40B44771-A0D9-4D16-A570-B889AE357B23}" type="sibTrans" cxnId="{90310749-7989-4288-BD59-AF1A403AED12}">
      <dgm:prSet/>
      <dgm:spPr/>
      <dgm:t>
        <a:bodyPr/>
        <a:lstStyle/>
        <a:p>
          <a:endParaRPr lang="zh-CN" altLang="en-US"/>
        </a:p>
      </dgm:t>
    </dgm:pt>
    <dgm:pt modelId="{FDA8F3EF-DA82-4049-84F5-5E7DA35DFA98}">
      <dgm:prSet phldrT="[文本]" custT="1"/>
      <dgm:spPr>
        <a:solidFill>
          <a:schemeClr val="bg1"/>
        </a:solidFill>
        <a:ln>
          <a:solidFill>
            <a:schemeClr val="tx2"/>
          </a:solidFill>
        </a:ln>
      </dgm:spPr>
      <dgm:t>
        <a:bodyPr/>
        <a:lstStyle/>
        <a:p>
          <a:r>
            <a:rPr lang="zh-CN" altLang="en-US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容积比热容</a:t>
          </a:r>
          <a:r>
            <a:rPr lang="en-US" altLang="zh-CN" sz="2400" b="0" i="1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c</a:t>
          </a:r>
          <a:r>
            <a:rPr lang="en-US" altLang="zh-CN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rPr>
            <a:t>:kJ/(Nm</a:t>
          </a:r>
          <a:r>
            <a:rPr lang="en-US" altLang="zh-CN" sz="2400" b="0" baseline="300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rPr>
            <a:t>3</a:t>
          </a:r>
          <a:r>
            <a:rPr lang="en-US" altLang="zh-CN" sz="2400" b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rPr>
            <a:t>·K</a:t>
          </a:r>
          <a:r>
            <a:rPr lang="en-US" altLang="zh-CN" sz="2400" dirty="0">
              <a:solidFill>
                <a:schemeClr val="tx1"/>
              </a:solidFill>
              <a:latin typeface="Times New Roman" pitchFamily="18" charset="0"/>
              <a:ea typeface="方正书宋简体" charset="-122"/>
              <a:cs typeface="Times New Roman" pitchFamily="18" charset="0"/>
              <a:sym typeface="Symbol" pitchFamily="18" charset="2"/>
            </a:rPr>
            <a:t>)</a:t>
          </a:r>
          <a:endParaRPr lang="zh-CN" altLang="en-US" sz="2400" b="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7E84B86B-05CE-4642-8A01-C93E92669970}" type="parTrans" cxnId="{F2358663-F4DE-4F14-BFD6-795791BA3C15}">
      <dgm:prSet/>
      <dgm:spPr/>
      <dgm:t>
        <a:bodyPr/>
        <a:lstStyle/>
        <a:p>
          <a:endParaRPr lang="zh-CN" altLang="en-US"/>
        </a:p>
      </dgm:t>
    </dgm:pt>
    <dgm:pt modelId="{D4FB72A0-AB12-423D-8A03-D2F86A7103D4}" type="sibTrans" cxnId="{F2358663-F4DE-4F14-BFD6-795791BA3C15}">
      <dgm:prSet/>
      <dgm:spPr/>
      <dgm:t>
        <a:bodyPr/>
        <a:lstStyle/>
        <a:p>
          <a:endParaRPr lang="zh-CN" altLang="en-US"/>
        </a:p>
      </dgm:t>
    </dgm:pt>
    <dgm:pt modelId="{9CA256EC-3D5D-4605-815D-3C81EC831648}" type="pres">
      <dgm:prSet presAssocID="{79AF0AA2-8537-442A-A013-B65EED82DBA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29559EE-A0F0-4FB8-B643-1C83DE274E2D}" type="pres">
      <dgm:prSet presAssocID="{9F8FFE85-AE7F-4223-B5D2-A1379C9D878A}" presName="root1" presStyleCnt="0"/>
      <dgm:spPr/>
    </dgm:pt>
    <dgm:pt modelId="{28E5D4CD-F426-4936-B983-47CBA904C941}" type="pres">
      <dgm:prSet presAssocID="{9F8FFE85-AE7F-4223-B5D2-A1379C9D878A}" presName="LevelOneTextNode" presStyleLbl="node0" presStyleIdx="0" presStyleCnt="1" custScaleX="282491" custScaleY="127171" custLinFactNeighborX="-43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18BC7EE-AC2F-4BA8-8390-B3CBD79C5EB1}" type="pres">
      <dgm:prSet presAssocID="{9F8FFE85-AE7F-4223-B5D2-A1379C9D878A}" presName="level2hierChild" presStyleCnt="0"/>
      <dgm:spPr/>
    </dgm:pt>
    <dgm:pt modelId="{45087577-415E-484A-91C2-4D079C7E6071}" type="pres">
      <dgm:prSet presAssocID="{DA4EF83C-33CE-4FB6-812F-F50E0D7BB08D}" presName="conn2-1" presStyleLbl="parChTrans1D2" presStyleIdx="0" presStyleCnt="3"/>
      <dgm:spPr/>
      <dgm:t>
        <a:bodyPr/>
        <a:lstStyle/>
        <a:p>
          <a:endParaRPr lang="zh-CN" altLang="en-US"/>
        </a:p>
      </dgm:t>
    </dgm:pt>
    <dgm:pt modelId="{88864E58-E630-47AF-B031-7DE106FE2FE0}" type="pres">
      <dgm:prSet presAssocID="{DA4EF83C-33CE-4FB6-812F-F50E0D7BB08D}" presName="connTx" presStyleLbl="parChTrans1D2" presStyleIdx="0" presStyleCnt="3"/>
      <dgm:spPr/>
      <dgm:t>
        <a:bodyPr/>
        <a:lstStyle/>
        <a:p>
          <a:endParaRPr lang="zh-CN" altLang="en-US"/>
        </a:p>
      </dgm:t>
    </dgm:pt>
    <dgm:pt modelId="{4C9B54C0-DAFC-4E89-86FB-F430C5075B60}" type="pres">
      <dgm:prSet presAssocID="{C801CCC0-45E6-49FD-94CF-14714D904760}" presName="root2" presStyleCnt="0"/>
      <dgm:spPr/>
    </dgm:pt>
    <dgm:pt modelId="{062889D5-B257-4B6C-B5FE-23CB1E12EE82}" type="pres">
      <dgm:prSet presAssocID="{C801CCC0-45E6-49FD-94CF-14714D904760}" presName="LevelTwoTextNode" presStyleLbl="node2" presStyleIdx="0" presStyleCnt="3" custScaleX="291722" custScaleY="75072" custLinFactNeighborY="-1973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33F9F58-8B02-4CA0-B099-A739760A8CDD}" type="pres">
      <dgm:prSet presAssocID="{C801CCC0-45E6-49FD-94CF-14714D904760}" presName="level3hierChild" presStyleCnt="0"/>
      <dgm:spPr/>
    </dgm:pt>
    <dgm:pt modelId="{3D6F449D-CFD4-4F17-8307-A9C76D1A157A}" type="pres">
      <dgm:prSet presAssocID="{7E84B86B-05CE-4642-8A01-C93E92669970}" presName="conn2-1" presStyleLbl="parChTrans1D2" presStyleIdx="1" presStyleCnt="3"/>
      <dgm:spPr/>
      <dgm:t>
        <a:bodyPr/>
        <a:lstStyle/>
        <a:p>
          <a:endParaRPr lang="zh-CN" altLang="en-US"/>
        </a:p>
      </dgm:t>
    </dgm:pt>
    <dgm:pt modelId="{24ADCEFC-391B-4CA8-9382-EDFBEE4B4FD0}" type="pres">
      <dgm:prSet presAssocID="{7E84B86B-05CE-4642-8A01-C93E92669970}" presName="connTx" presStyleLbl="parChTrans1D2" presStyleIdx="1" presStyleCnt="3"/>
      <dgm:spPr/>
      <dgm:t>
        <a:bodyPr/>
        <a:lstStyle/>
        <a:p>
          <a:endParaRPr lang="zh-CN" altLang="en-US"/>
        </a:p>
      </dgm:t>
    </dgm:pt>
    <dgm:pt modelId="{4B1B299E-5D52-4D8F-8E3C-2589D132102F}" type="pres">
      <dgm:prSet presAssocID="{FDA8F3EF-DA82-4049-84F5-5E7DA35DFA98}" presName="root2" presStyleCnt="0"/>
      <dgm:spPr/>
    </dgm:pt>
    <dgm:pt modelId="{AF94A3D3-CFFE-46B5-BDE5-C01BFCEA67CC}" type="pres">
      <dgm:prSet presAssocID="{FDA8F3EF-DA82-4049-84F5-5E7DA35DFA98}" presName="LevelTwoTextNode" presStyleLbl="node2" presStyleIdx="1" presStyleCnt="3" custScaleX="293190" custScaleY="69171" custLinFactNeighborX="168" custLinFactNeighborY="-270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58BADA2-DC8E-4CB1-8705-5F2B17B510E8}" type="pres">
      <dgm:prSet presAssocID="{FDA8F3EF-DA82-4049-84F5-5E7DA35DFA98}" presName="level3hierChild" presStyleCnt="0"/>
      <dgm:spPr/>
    </dgm:pt>
    <dgm:pt modelId="{E2E7DCCA-35CC-47E4-93DD-AC0664D3096A}" type="pres">
      <dgm:prSet presAssocID="{FD1A4712-ADFD-428B-A1B8-33D30C90D03C}" presName="conn2-1" presStyleLbl="parChTrans1D2" presStyleIdx="2" presStyleCnt="3"/>
      <dgm:spPr/>
      <dgm:t>
        <a:bodyPr/>
        <a:lstStyle/>
        <a:p>
          <a:endParaRPr lang="zh-CN" altLang="en-US"/>
        </a:p>
      </dgm:t>
    </dgm:pt>
    <dgm:pt modelId="{977B5DC2-0F83-44E2-93F0-55FF2A3BEDE5}" type="pres">
      <dgm:prSet presAssocID="{FD1A4712-ADFD-428B-A1B8-33D30C90D03C}" presName="connTx" presStyleLbl="parChTrans1D2" presStyleIdx="2" presStyleCnt="3"/>
      <dgm:spPr/>
      <dgm:t>
        <a:bodyPr/>
        <a:lstStyle/>
        <a:p>
          <a:endParaRPr lang="zh-CN" altLang="en-US"/>
        </a:p>
      </dgm:t>
    </dgm:pt>
    <dgm:pt modelId="{3F7D95EF-474B-44C7-BCFF-4FDED67BE009}" type="pres">
      <dgm:prSet presAssocID="{9019D5C4-FEFD-46DA-8165-EA728AE3B334}" presName="root2" presStyleCnt="0"/>
      <dgm:spPr/>
    </dgm:pt>
    <dgm:pt modelId="{D396336E-4995-47F4-9C2A-B1C371BB7103}" type="pres">
      <dgm:prSet presAssocID="{9019D5C4-FEFD-46DA-8165-EA728AE3B334}" presName="LevelTwoTextNode" presStyleLbl="node2" presStyleIdx="2" presStyleCnt="3" custScaleX="295376" custScaleY="61693" custLinFactNeighborY="1556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969FFA1-E4A7-4F2F-8BDE-CFA1E9F15E89}" type="pres">
      <dgm:prSet presAssocID="{9019D5C4-FEFD-46DA-8165-EA728AE3B334}" presName="level3hierChild" presStyleCnt="0"/>
      <dgm:spPr/>
    </dgm:pt>
  </dgm:ptLst>
  <dgm:cxnLst>
    <dgm:cxn modelId="{737662AB-6D0C-4FB5-A57C-55E758E67C78}" srcId="{9F8FFE85-AE7F-4223-B5D2-A1379C9D878A}" destId="{C801CCC0-45E6-49FD-94CF-14714D904760}" srcOrd="0" destOrd="0" parTransId="{DA4EF83C-33CE-4FB6-812F-F50E0D7BB08D}" sibTransId="{CC14537D-F610-4F87-ABE7-F28AFED627D8}"/>
    <dgm:cxn modelId="{4FB8B07A-B1B8-4079-91DB-EF79803B6934}" type="presOf" srcId="{79AF0AA2-8537-442A-A013-B65EED82DBA8}" destId="{9CA256EC-3D5D-4605-815D-3C81EC831648}" srcOrd="0" destOrd="0" presId="urn:microsoft.com/office/officeart/2005/8/layout/hierarchy2"/>
    <dgm:cxn modelId="{A3BB6E06-49C7-4D43-ACF4-476BCD75970D}" type="presOf" srcId="{FD1A4712-ADFD-428B-A1B8-33D30C90D03C}" destId="{E2E7DCCA-35CC-47E4-93DD-AC0664D3096A}" srcOrd="0" destOrd="0" presId="urn:microsoft.com/office/officeart/2005/8/layout/hierarchy2"/>
    <dgm:cxn modelId="{90310749-7989-4288-BD59-AF1A403AED12}" srcId="{9F8FFE85-AE7F-4223-B5D2-A1379C9D878A}" destId="{9019D5C4-FEFD-46DA-8165-EA728AE3B334}" srcOrd="2" destOrd="0" parTransId="{FD1A4712-ADFD-428B-A1B8-33D30C90D03C}" sibTransId="{40B44771-A0D9-4D16-A570-B889AE357B23}"/>
    <dgm:cxn modelId="{1302854A-6023-4F26-A8F5-15F4A850388C}" type="presOf" srcId="{FDA8F3EF-DA82-4049-84F5-5E7DA35DFA98}" destId="{AF94A3D3-CFFE-46B5-BDE5-C01BFCEA67CC}" srcOrd="0" destOrd="0" presId="urn:microsoft.com/office/officeart/2005/8/layout/hierarchy2"/>
    <dgm:cxn modelId="{E7D24A8A-0A36-429F-8982-C6246B620F2F}" type="presOf" srcId="{DA4EF83C-33CE-4FB6-812F-F50E0D7BB08D}" destId="{45087577-415E-484A-91C2-4D079C7E6071}" srcOrd="0" destOrd="0" presId="urn:microsoft.com/office/officeart/2005/8/layout/hierarchy2"/>
    <dgm:cxn modelId="{3DBCDF72-F163-4684-974E-35EB1AE052E5}" type="presOf" srcId="{FD1A4712-ADFD-428B-A1B8-33D30C90D03C}" destId="{977B5DC2-0F83-44E2-93F0-55FF2A3BEDE5}" srcOrd="1" destOrd="0" presId="urn:microsoft.com/office/officeart/2005/8/layout/hierarchy2"/>
    <dgm:cxn modelId="{B65CB32F-A2A4-443F-AB81-F4A5A0ACC12A}" type="presOf" srcId="{C801CCC0-45E6-49FD-94CF-14714D904760}" destId="{062889D5-B257-4B6C-B5FE-23CB1E12EE82}" srcOrd="0" destOrd="0" presId="urn:microsoft.com/office/officeart/2005/8/layout/hierarchy2"/>
    <dgm:cxn modelId="{5845D6BC-FCB0-4E55-9014-076B7B3C68DC}" type="presOf" srcId="{DA4EF83C-33CE-4FB6-812F-F50E0D7BB08D}" destId="{88864E58-E630-47AF-B031-7DE106FE2FE0}" srcOrd="1" destOrd="0" presId="urn:microsoft.com/office/officeart/2005/8/layout/hierarchy2"/>
    <dgm:cxn modelId="{C33C60A2-247F-4381-9E93-9A6F56042D07}" type="presOf" srcId="{9019D5C4-FEFD-46DA-8165-EA728AE3B334}" destId="{D396336E-4995-47F4-9C2A-B1C371BB7103}" srcOrd="0" destOrd="0" presId="urn:microsoft.com/office/officeart/2005/8/layout/hierarchy2"/>
    <dgm:cxn modelId="{3D062053-6AE3-4350-8169-28C1EEC45AA3}" srcId="{79AF0AA2-8537-442A-A013-B65EED82DBA8}" destId="{9F8FFE85-AE7F-4223-B5D2-A1379C9D878A}" srcOrd="0" destOrd="0" parTransId="{D4DBF434-3390-4750-B445-A781E82828A8}" sibTransId="{F6F7B690-9A7C-40EF-AFFB-B9E119DC69C0}"/>
    <dgm:cxn modelId="{66ACA666-C193-47E9-8E40-19BB85B1C493}" type="presOf" srcId="{9F8FFE85-AE7F-4223-B5D2-A1379C9D878A}" destId="{28E5D4CD-F426-4936-B983-47CBA904C941}" srcOrd="0" destOrd="0" presId="urn:microsoft.com/office/officeart/2005/8/layout/hierarchy2"/>
    <dgm:cxn modelId="{83E8536B-0A89-46A8-AFEA-A347167F3E96}" type="presOf" srcId="{7E84B86B-05CE-4642-8A01-C93E92669970}" destId="{3D6F449D-CFD4-4F17-8307-A9C76D1A157A}" srcOrd="0" destOrd="0" presId="urn:microsoft.com/office/officeart/2005/8/layout/hierarchy2"/>
    <dgm:cxn modelId="{0349B583-993E-4C07-ABFE-01FCCB4BAABD}" type="presOf" srcId="{7E84B86B-05CE-4642-8A01-C93E92669970}" destId="{24ADCEFC-391B-4CA8-9382-EDFBEE4B4FD0}" srcOrd="1" destOrd="0" presId="urn:microsoft.com/office/officeart/2005/8/layout/hierarchy2"/>
    <dgm:cxn modelId="{F2358663-F4DE-4F14-BFD6-795791BA3C15}" srcId="{9F8FFE85-AE7F-4223-B5D2-A1379C9D878A}" destId="{FDA8F3EF-DA82-4049-84F5-5E7DA35DFA98}" srcOrd="1" destOrd="0" parTransId="{7E84B86B-05CE-4642-8A01-C93E92669970}" sibTransId="{D4FB72A0-AB12-423D-8A03-D2F86A7103D4}"/>
    <dgm:cxn modelId="{A3DFD930-F85A-4EE9-AFBA-6AAC932DEA07}" type="presParOf" srcId="{9CA256EC-3D5D-4605-815D-3C81EC831648}" destId="{729559EE-A0F0-4FB8-B643-1C83DE274E2D}" srcOrd="0" destOrd="0" presId="urn:microsoft.com/office/officeart/2005/8/layout/hierarchy2"/>
    <dgm:cxn modelId="{C0A9FCAC-62D4-4BC1-9B05-99B54F8FCD4C}" type="presParOf" srcId="{729559EE-A0F0-4FB8-B643-1C83DE274E2D}" destId="{28E5D4CD-F426-4936-B983-47CBA904C941}" srcOrd="0" destOrd="0" presId="urn:microsoft.com/office/officeart/2005/8/layout/hierarchy2"/>
    <dgm:cxn modelId="{9A3E7A06-9D3F-4E45-AE7F-2F0EEFF74E20}" type="presParOf" srcId="{729559EE-A0F0-4FB8-B643-1C83DE274E2D}" destId="{118BC7EE-AC2F-4BA8-8390-B3CBD79C5EB1}" srcOrd="1" destOrd="0" presId="urn:microsoft.com/office/officeart/2005/8/layout/hierarchy2"/>
    <dgm:cxn modelId="{CEF76D09-6A61-4DB9-845C-92DFE2F069D4}" type="presParOf" srcId="{118BC7EE-AC2F-4BA8-8390-B3CBD79C5EB1}" destId="{45087577-415E-484A-91C2-4D079C7E6071}" srcOrd="0" destOrd="0" presId="urn:microsoft.com/office/officeart/2005/8/layout/hierarchy2"/>
    <dgm:cxn modelId="{029546D3-BB5D-42BF-B475-DD85E2B36C7E}" type="presParOf" srcId="{45087577-415E-484A-91C2-4D079C7E6071}" destId="{88864E58-E630-47AF-B031-7DE106FE2FE0}" srcOrd="0" destOrd="0" presId="urn:microsoft.com/office/officeart/2005/8/layout/hierarchy2"/>
    <dgm:cxn modelId="{ADA9C2D2-B583-440E-B928-ADA97877B144}" type="presParOf" srcId="{118BC7EE-AC2F-4BA8-8390-B3CBD79C5EB1}" destId="{4C9B54C0-DAFC-4E89-86FB-F430C5075B60}" srcOrd="1" destOrd="0" presId="urn:microsoft.com/office/officeart/2005/8/layout/hierarchy2"/>
    <dgm:cxn modelId="{EADAB9E3-7EEF-44AA-94A9-3F4305524199}" type="presParOf" srcId="{4C9B54C0-DAFC-4E89-86FB-F430C5075B60}" destId="{062889D5-B257-4B6C-B5FE-23CB1E12EE82}" srcOrd="0" destOrd="0" presId="urn:microsoft.com/office/officeart/2005/8/layout/hierarchy2"/>
    <dgm:cxn modelId="{5DD1EA05-C6BF-41BA-B7A5-76152FF1CEEA}" type="presParOf" srcId="{4C9B54C0-DAFC-4E89-86FB-F430C5075B60}" destId="{A33F9F58-8B02-4CA0-B099-A739760A8CDD}" srcOrd="1" destOrd="0" presId="urn:microsoft.com/office/officeart/2005/8/layout/hierarchy2"/>
    <dgm:cxn modelId="{1EB69F48-25D0-4B98-84CF-60FAA9A803C5}" type="presParOf" srcId="{118BC7EE-AC2F-4BA8-8390-B3CBD79C5EB1}" destId="{3D6F449D-CFD4-4F17-8307-A9C76D1A157A}" srcOrd="2" destOrd="0" presId="urn:microsoft.com/office/officeart/2005/8/layout/hierarchy2"/>
    <dgm:cxn modelId="{B0071B16-5569-4FA1-8F22-3DC27203F0F0}" type="presParOf" srcId="{3D6F449D-CFD4-4F17-8307-A9C76D1A157A}" destId="{24ADCEFC-391B-4CA8-9382-EDFBEE4B4FD0}" srcOrd="0" destOrd="0" presId="urn:microsoft.com/office/officeart/2005/8/layout/hierarchy2"/>
    <dgm:cxn modelId="{DFBE0274-68AC-4865-BA1B-70FE6AF6808E}" type="presParOf" srcId="{118BC7EE-AC2F-4BA8-8390-B3CBD79C5EB1}" destId="{4B1B299E-5D52-4D8F-8E3C-2589D132102F}" srcOrd="3" destOrd="0" presId="urn:microsoft.com/office/officeart/2005/8/layout/hierarchy2"/>
    <dgm:cxn modelId="{A5A53A05-A0A3-44C2-88BB-59F5577AE68D}" type="presParOf" srcId="{4B1B299E-5D52-4D8F-8E3C-2589D132102F}" destId="{AF94A3D3-CFFE-46B5-BDE5-C01BFCEA67CC}" srcOrd="0" destOrd="0" presId="urn:microsoft.com/office/officeart/2005/8/layout/hierarchy2"/>
    <dgm:cxn modelId="{174370CC-A38B-4090-88CC-469291E9932F}" type="presParOf" srcId="{4B1B299E-5D52-4D8F-8E3C-2589D132102F}" destId="{D58BADA2-DC8E-4CB1-8705-5F2B17B510E8}" srcOrd="1" destOrd="0" presId="urn:microsoft.com/office/officeart/2005/8/layout/hierarchy2"/>
    <dgm:cxn modelId="{7C7BD5A2-0FE4-46F5-A96F-7EA941630959}" type="presParOf" srcId="{118BC7EE-AC2F-4BA8-8390-B3CBD79C5EB1}" destId="{E2E7DCCA-35CC-47E4-93DD-AC0664D3096A}" srcOrd="4" destOrd="0" presId="urn:microsoft.com/office/officeart/2005/8/layout/hierarchy2"/>
    <dgm:cxn modelId="{B046FA88-F1D7-4674-9D15-02CDBA4C24F9}" type="presParOf" srcId="{E2E7DCCA-35CC-47E4-93DD-AC0664D3096A}" destId="{977B5DC2-0F83-44E2-93F0-55FF2A3BEDE5}" srcOrd="0" destOrd="0" presId="urn:microsoft.com/office/officeart/2005/8/layout/hierarchy2"/>
    <dgm:cxn modelId="{165A8E91-180C-4B66-BCC0-8B63177AC85F}" type="presParOf" srcId="{118BC7EE-AC2F-4BA8-8390-B3CBD79C5EB1}" destId="{3F7D95EF-474B-44C7-BCFF-4FDED67BE009}" srcOrd="5" destOrd="0" presId="urn:microsoft.com/office/officeart/2005/8/layout/hierarchy2"/>
    <dgm:cxn modelId="{DD21F6B6-F245-4138-BBE5-FEDE82DA42FA}" type="presParOf" srcId="{3F7D95EF-474B-44C7-BCFF-4FDED67BE009}" destId="{D396336E-4995-47F4-9C2A-B1C371BB7103}" srcOrd="0" destOrd="0" presId="urn:microsoft.com/office/officeart/2005/8/layout/hierarchy2"/>
    <dgm:cxn modelId="{B414BDCF-47BF-4E99-B1C9-C61CAB160C73}" type="presParOf" srcId="{3F7D95EF-474B-44C7-BCFF-4FDED67BE009}" destId="{2969FFA1-E4A7-4F2F-8BDE-CFA1E9F15E8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5D4CD-F426-4936-B983-47CBA904C941}">
      <dsp:nvSpPr>
        <dsp:cNvPr id="0" name=""/>
        <dsp:cNvSpPr/>
      </dsp:nvSpPr>
      <dsp:spPr>
        <a:xfrm>
          <a:off x="0" y="701673"/>
          <a:ext cx="3706238" cy="834232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>
          <a:outerShdw blurRad="50800" dist="50800" dir="5400000" algn="ctr" rotWithShape="0">
            <a:schemeClr val="tx1"/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0" kern="120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kJ /(</a:t>
          </a:r>
          <a:r>
            <a:rPr lang="zh-CN" altLang="en-US" sz="2800" b="0" kern="120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单位物理量</a:t>
          </a:r>
          <a:r>
            <a:rPr lang="en-US" altLang="zh-CN" sz="2800" b="0" kern="120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·K)</a:t>
          </a:r>
        </a:p>
      </dsp:txBody>
      <dsp:txXfrm>
        <a:off x="24434" y="726107"/>
        <a:ext cx="3657370" cy="785364"/>
      </dsp:txXfrm>
    </dsp:sp>
    <dsp:sp modelId="{45087577-415E-484A-91C2-4D079C7E6071}">
      <dsp:nvSpPr>
        <dsp:cNvPr id="0" name=""/>
        <dsp:cNvSpPr/>
      </dsp:nvSpPr>
      <dsp:spPr>
        <a:xfrm rot="18535078">
          <a:off x="3549244" y="763864"/>
          <a:ext cx="844527" cy="52770"/>
        </a:xfrm>
        <a:custGeom>
          <a:avLst/>
          <a:gdLst/>
          <a:ahLst/>
          <a:cxnLst/>
          <a:rect l="0" t="0" r="0" b="0"/>
          <a:pathLst>
            <a:path>
              <a:moveTo>
                <a:pt x="0" y="26385"/>
              </a:moveTo>
              <a:lnTo>
                <a:pt x="844527" y="263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3950394" y="769136"/>
        <a:ext cx="42226" cy="42226"/>
      </dsp:txXfrm>
    </dsp:sp>
    <dsp:sp modelId="{062889D5-B257-4B6C-B5FE-23CB1E12EE82}">
      <dsp:nvSpPr>
        <dsp:cNvPr id="0" name=""/>
        <dsp:cNvSpPr/>
      </dsp:nvSpPr>
      <dsp:spPr>
        <a:xfrm>
          <a:off x="4236776" y="215475"/>
          <a:ext cx="3827347" cy="49246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质量比热容</a:t>
          </a:r>
          <a:r>
            <a:rPr lang="en-US" altLang="zh-CN" sz="2400" b="0" i="1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c</a:t>
          </a:r>
          <a:r>
            <a:rPr lang="zh-CN" altLang="en-US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：</a:t>
          </a:r>
          <a:r>
            <a:rPr lang="en-US" altLang="zh-CN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kJ/(</a:t>
          </a:r>
          <a:r>
            <a:rPr lang="en-US" altLang="zh-CN" sz="2400" b="0" kern="1200" dirty="0" err="1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kg·K</a:t>
          </a:r>
          <a:r>
            <a:rPr lang="en-US" altLang="zh-CN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)</a:t>
          </a:r>
          <a:endParaRPr lang="zh-CN" altLang="en-US" sz="2400" b="0" kern="120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4251200" y="229899"/>
        <a:ext cx="3798499" cy="463618"/>
      </dsp:txXfrm>
    </dsp:sp>
    <dsp:sp modelId="{3D6F449D-CFD4-4F17-8307-A9C76D1A157A}">
      <dsp:nvSpPr>
        <dsp:cNvPr id="0" name=""/>
        <dsp:cNvSpPr/>
      </dsp:nvSpPr>
      <dsp:spPr>
        <a:xfrm rot="168532">
          <a:off x="3705918" y="1105473"/>
          <a:ext cx="533383" cy="52770"/>
        </a:xfrm>
        <a:custGeom>
          <a:avLst/>
          <a:gdLst/>
          <a:ahLst/>
          <a:cxnLst/>
          <a:rect l="0" t="0" r="0" b="0"/>
          <a:pathLst>
            <a:path>
              <a:moveTo>
                <a:pt x="0" y="26385"/>
              </a:moveTo>
              <a:lnTo>
                <a:pt x="533383" y="263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3959275" y="1118524"/>
        <a:ext cx="26669" cy="26669"/>
      </dsp:txXfrm>
    </dsp:sp>
    <dsp:sp modelId="{AF94A3D3-CFFE-46B5-BDE5-C01BFCEA67CC}">
      <dsp:nvSpPr>
        <dsp:cNvPr id="0" name=""/>
        <dsp:cNvSpPr/>
      </dsp:nvSpPr>
      <dsp:spPr>
        <a:xfrm>
          <a:off x="4238980" y="918049"/>
          <a:ext cx="3846607" cy="45375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容积比热容</a:t>
          </a:r>
          <a:r>
            <a:rPr lang="en-US" altLang="zh-CN" sz="2400" b="0" i="1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c</a:t>
          </a:r>
          <a:r>
            <a:rPr lang="en-US" altLang="zh-CN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rPr>
            <a:t>:kJ/(Nm</a:t>
          </a:r>
          <a:r>
            <a:rPr lang="en-US" altLang="zh-CN" sz="2400" b="0" kern="1200" baseline="300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rPr>
            <a:t>3</a:t>
          </a:r>
          <a:r>
            <a:rPr lang="en-US" altLang="zh-CN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rPr>
            <a:t>·K</a:t>
          </a:r>
          <a:r>
            <a:rPr lang="en-US" altLang="zh-CN" sz="2400" kern="1200" dirty="0">
              <a:solidFill>
                <a:schemeClr val="tx1"/>
              </a:solidFill>
              <a:latin typeface="Times New Roman" pitchFamily="18" charset="0"/>
              <a:ea typeface="方正书宋简体" charset="-122"/>
              <a:cs typeface="Times New Roman" pitchFamily="18" charset="0"/>
              <a:sym typeface="Symbol" pitchFamily="18" charset="2"/>
            </a:rPr>
            <a:t>)</a:t>
          </a:r>
          <a:endParaRPr lang="zh-CN" altLang="en-US" sz="2400" b="0" kern="120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4252270" y="931339"/>
        <a:ext cx="3820027" cy="427176"/>
      </dsp:txXfrm>
    </dsp:sp>
    <dsp:sp modelId="{E2E7DCCA-35CC-47E4-93DD-AC0664D3096A}">
      <dsp:nvSpPr>
        <dsp:cNvPr id="0" name=""/>
        <dsp:cNvSpPr/>
      </dsp:nvSpPr>
      <dsp:spPr>
        <a:xfrm rot="3106550">
          <a:off x="3542782" y="1429209"/>
          <a:ext cx="857449" cy="52770"/>
        </a:xfrm>
        <a:custGeom>
          <a:avLst/>
          <a:gdLst/>
          <a:ahLst/>
          <a:cxnLst/>
          <a:rect l="0" t="0" r="0" b="0"/>
          <a:pathLst>
            <a:path>
              <a:moveTo>
                <a:pt x="0" y="26385"/>
              </a:moveTo>
              <a:lnTo>
                <a:pt x="857449" y="263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3950071" y="1434158"/>
        <a:ext cx="42872" cy="42872"/>
      </dsp:txXfrm>
    </dsp:sp>
    <dsp:sp modelId="{D396336E-4995-47F4-9C2A-B1C371BB7103}">
      <dsp:nvSpPr>
        <dsp:cNvPr id="0" name=""/>
        <dsp:cNvSpPr/>
      </dsp:nvSpPr>
      <dsp:spPr>
        <a:xfrm>
          <a:off x="4236776" y="1590048"/>
          <a:ext cx="3875287" cy="404701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摩尔比热容</a:t>
          </a:r>
          <a:r>
            <a:rPr lang="en-US" altLang="zh-CN" sz="2400" b="0" i="1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C:</a:t>
          </a:r>
          <a:r>
            <a:rPr lang="zh-CN" altLang="en-US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 </a:t>
          </a:r>
          <a:r>
            <a:rPr lang="en-US" altLang="zh-CN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kJ/(</a:t>
          </a:r>
          <a:r>
            <a:rPr lang="en-US" altLang="zh-CN" sz="2400" b="0" kern="1200" dirty="0" err="1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kmol·K</a:t>
          </a:r>
          <a:r>
            <a:rPr lang="en-US" altLang="zh-CN" sz="2400" b="0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)</a:t>
          </a:r>
          <a:endParaRPr lang="zh-CN" altLang="en-US" sz="2400" b="0" kern="120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4248629" y="1601901"/>
        <a:ext cx="3851581" cy="380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4" Type="http://schemas.openxmlformats.org/officeDocument/2006/relationships/image" Target="../media/image5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emf"/><Relationship Id="rId4" Type="http://schemas.openxmlformats.org/officeDocument/2006/relationships/image" Target="../media/image63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emf"/><Relationship Id="rId7" Type="http://schemas.openxmlformats.org/officeDocument/2006/relationships/image" Target="../media/image72.w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4" Type="http://schemas.openxmlformats.org/officeDocument/2006/relationships/image" Target="../media/image9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4" Type="http://schemas.openxmlformats.org/officeDocument/2006/relationships/image" Target="../media/image99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F2F74-C90E-4218-8D02-82000E74D2FA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AE3F4-DC60-4445-BA34-DE163A89939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7707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BE123-A9AE-448F-8D78-F735838CEC6B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5C11B-8088-48D6-99F1-F40A5041271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0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794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293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399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230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384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785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326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655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037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260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>
                <a:solidFill>
                  <a:prstClr val="black"/>
                </a:solidFill>
              </a:rPr>
              <a:pPr/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576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338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433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334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8684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>
                <a:solidFill>
                  <a:prstClr val="black"/>
                </a:solidFill>
              </a:rPr>
              <a:pPr/>
              <a:t>17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79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261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855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>
                <a:solidFill>
                  <a:prstClr val="black"/>
                </a:solidFill>
              </a:rPr>
              <a:pPr/>
              <a:t>20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672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917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03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9316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3162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3073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709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1754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6039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95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9970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231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4563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1614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1099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5714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4943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1349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5806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5334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2674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7516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805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1650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07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4227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0585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2076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5386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0251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81584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61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Picture 2" descr="C:\Users\nathan\Desktop\20130513校长报告0511\幻灯片4.PNG"/>
          <p:cNvPicPr>
            <a:picLocks noChangeAspect="1" noChangeArrowheads="1"/>
          </p:cNvPicPr>
          <p:nvPr userDrawn="1"/>
        </p:nvPicPr>
        <p:blipFill>
          <a:blip r:embed="rId2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等腰三角形 9"/>
          <p:cNvSpPr/>
          <p:nvPr userDrawn="1"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0BEFF-3D59-4B64-A1A5-6E3D1AE4E261}" type="datetimeFigureOut">
              <a:rPr lang="zh-CN" altLang="en-US" smtClean="0"/>
              <a:pPr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7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9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11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microsoft.com/office/2007/relationships/diagramDrawing" Target="../diagrams/drawing1.xml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8.bin"/><Relationship Id="rId12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jpeg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3.jpeg"/><Relationship Id="rId10" Type="http://schemas.openxmlformats.org/officeDocument/2006/relationships/diagramLayout" Target="../diagrams/layout1.xml"/><Relationship Id="rId4" Type="http://schemas.openxmlformats.org/officeDocument/2006/relationships/image" Target="../media/image1.png"/><Relationship Id="rId9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8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3.jpeg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9.bin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18.bin"/><Relationship Id="rId5" Type="http://schemas.openxmlformats.org/officeDocument/2006/relationships/image" Target="../media/image3.jpeg"/><Relationship Id="rId10" Type="http://schemas.openxmlformats.org/officeDocument/2006/relationships/image" Target="../media/image21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3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22.bin"/><Relationship Id="rId5" Type="http://schemas.openxmlformats.org/officeDocument/2006/relationships/image" Target="../media/image3.jpeg"/><Relationship Id="rId15" Type="http://schemas.openxmlformats.org/officeDocument/2006/relationships/image" Target="../media/image28.png"/><Relationship Id="rId10" Type="http://schemas.openxmlformats.org/officeDocument/2006/relationships/image" Target="../media/image25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28.png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26.bin"/><Relationship Id="rId5" Type="http://schemas.openxmlformats.org/officeDocument/2006/relationships/image" Target="../media/image3.jpeg"/><Relationship Id="rId10" Type="http://schemas.openxmlformats.org/officeDocument/2006/relationships/image" Target="../media/image30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33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9.wmf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31.bin"/><Relationship Id="rId5" Type="http://schemas.openxmlformats.org/officeDocument/2006/relationships/image" Target="../media/image3.jpeg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5.wmf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37.bin"/><Relationship Id="rId5" Type="http://schemas.openxmlformats.org/officeDocument/2006/relationships/image" Target="../media/image3.jpeg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41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oleObject" Target="../embeddings/oleObject45.bin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44.bin"/><Relationship Id="rId5" Type="http://schemas.openxmlformats.org/officeDocument/2006/relationships/image" Target="../media/image3.jpeg"/><Relationship Id="rId10" Type="http://schemas.openxmlformats.org/officeDocument/2006/relationships/image" Target="../media/image48.e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50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notesSlide" Target="../notesSlides/notesSlide19.xml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.jpeg"/><Relationship Id="rId11" Type="http://schemas.openxmlformats.org/officeDocument/2006/relationships/image" Target="../media/image53.wmf"/><Relationship Id="rId5" Type="http://schemas.openxmlformats.org/officeDocument/2006/relationships/image" Target="../media/image3.jpeg"/><Relationship Id="rId10" Type="http://schemas.openxmlformats.org/officeDocument/2006/relationships/oleObject" Target="../embeddings/oleObject48.bin"/><Relationship Id="rId4" Type="http://schemas.openxmlformats.org/officeDocument/2006/relationships/image" Target="../media/image1.png"/><Relationship Id="rId9" Type="http://schemas.openxmlformats.org/officeDocument/2006/relationships/image" Target="../media/image5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notesSlide" Target="../notesSlides/notesSlide22.xml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notesSlide" Target="../notesSlides/notesSlide24.xml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52.bin"/><Relationship Id="rId5" Type="http://schemas.openxmlformats.org/officeDocument/2006/relationships/image" Target="../media/image3.jpeg"/><Relationship Id="rId10" Type="http://schemas.openxmlformats.org/officeDocument/2006/relationships/image" Target="../media/image58.e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5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oleObject" Target="../embeddings/oleObject56.bin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55.bin"/><Relationship Id="rId5" Type="http://schemas.openxmlformats.org/officeDocument/2006/relationships/image" Target="../media/image3.jpeg"/><Relationship Id="rId10" Type="http://schemas.openxmlformats.org/officeDocument/2006/relationships/image" Target="../media/image61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6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notesSlide" Target="../notesSlides/notesSlide26.xml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65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5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71.wmf"/><Relationship Id="rId3" Type="http://schemas.openxmlformats.org/officeDocument/2006/relationships/notesSlide" Target="../notesSlides/notesSlide27.xml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8.e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74.wmf"/><Relationship Id="rId5" Type="http://schemas.openxmlformats.org/officeDocument/2006/relationships/image" Target="../media/image3.jpeg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10" Type="http://schemas.openxmlformats.org/officeDocument/2006/relationships/image" Target="../media/image67.e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9.wmf"/><Relationship Id="rId22" Type="http://schemas.openxmlformats.org/officeDocument/2006/relationships/image" Target="../media/image7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notesSlide" Target="../notesSlides/notesSlide32.xml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76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6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notesSlide" Target="../notesSlides/notesSlide35.xml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7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72.bin"/><Relationship Id="rId5" Type="http://schemas.openxmlformats.org/officeDocument/2006/relationships/image" Target="../media/image3.jpeg"/><Relationship Id="rId10" Type="http://schemas.openxmlformats.org/officeDocument/2006/relationships/image" Target="../media/image78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71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notesSlide" Target="../notesSlides/notesSlide37.xml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75.bin"/><Relationship Id="rId5" Type="http://schemas.openxmlformats.org/officeDocument/2006/relationships/image" Target="../media/image3.jpeg"/><Relationship Id="rId10" Type="http://schemas.openxmlformats.org/officeDocument/2006/relationships/image" Target="../media/image81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7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notesSlide" Target="../notesSlides/notesSlide38.xml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78.bin"/><Relationship Id="rId5" Type="http://schemas.openxmlformats.org/officeDocument/2006/relationships/image" Target="../media/image3.jpeg"/><Relationship Id="rId10" Type="http://schemas.openxmlformats.org/officeDocument/2006/relationships/image" Target="../media/image84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7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notesSlide" Target="../notesSlides/notesSlide39.xml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81.bin"/><Relationship Id="rId5" Type="http://schemas.openxmlformats.org/officeDocument/2006/relationships/image" Target="../media/image3.jpeg"/><Relationship Id="rId10" Type="http://schemas.openxmlformats.org/officeDocument/2006/relationships/image" Target="../media/image87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80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85.bin"/><Relationship Id="rId3" Type="http://schemas.openxmlformats.org/officeDocument/2006/relationships/notesSlide" Target="../notesSlides/notesSlide40.xml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84.bin"/><Relationship Id="rId5" Type="http://schemas.openxmlformats.org/officeDocument/2006/relationships/image" Target="../media/image3.jpeg"/><Relationship Id="rId10" Type="http://schemas.openxmlformats.org/officeDocument/2006/relationships/image" Target="../media/image90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92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notesSlide" Target="../notesSlides/notesSlide41.xml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9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88.bin"/><Relationship Id="rId5" Type="http://schemas.openxmlformats.org/officeDocument/2006/relationships/image" Target="../media/image3.jpeg"/><Relationship Id="rId10" Type="http://schemas.openxmlformats.org/officeDocument/2006/relationships/image" Target="../media/image94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87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92.bin"/><Relationship Id="rId3" Type="http://schemas.openxmlformats.org/officeDocument/2006/relationships/notesSlide" Target="../notesSlides/notesSlide42.xml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91.bin"/><Relationship Id="rId5" Type="http://schemas.openxmlformats.org/officeDocument/2006/relationships/image" Target="../media/image3.jpeg"/><Relationship Id="rId10" Type="http://schemas.openxmlformats.org/officeDocument/2006/relationships/image" Target="../media/image97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notesSlide" Target="../notesSlides/notesSlide43.xml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101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94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notesSlide" Target="../notesSlides/notesSlide45.xml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104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96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image" Target="../media/image108.png"/><Relationship Id="rId3" Type="http://schemas.openxmlformats.org/officeDocument/2006/relationships/notesSlide" Target="../notesSlides/notesSlide46.xml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4.jpeg"/><Relationship Id="rId11" Type="http://schemas.openxmlformats.org/officeDocument/2006/relationships/oleObject" Target="../embeddings/oleObject99.bin"/><Relationship Id="rId5" Type="http://schemas.openxmlformats.org/officeDocument/2006/relationships/image" Target="../media/image3.jpeg"/><Relationship Id="rId10" Type="http://schemas.openxmlformats.org/officeDocument/2006/relationships/image" Target="../media/image106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98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1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4.jpeg"/><Relationship Id="rId11" Type="http://schemas.openxmlformats.org/officeDocument/2006/relationships/image" Target="../media/image110.wmf"/><Relationship Id="rId5" Type="http://schemas.openxmlformats.org/officeDocument/2006/relationships/image" Target="../media/image3.jpeg"/><Relationship Id="rId10" Type="http://schemas.openxmlformats.org/officeDocument/2006/relationships/oleObject" Target="../embeddings/oleObject101.bin"/><Relationship Id="rId4" Type="http://schemas.openxmlformats.org/officeDocument/2006/relationships/image" Target="../media/image1.png"/><Relationship Id="rId9" Type="http://schemas.openxmlformats.org/officeDocument/2006/relationships/image" Target="../media/image109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1556792"/>
            <a:ext cx="8280920" cy="1470025"/>
          </a:xfrm>
        </p:spPr>
        <p:txBody>
          <a:bodyPr>
            <a:normAutofit/>
          </a:bodyPr>
          <a:lstStyle/>
          <a:p>
            <a:r>
              <a:rPr lang="zh-CN" altLang="en-US" spc="400" dirty="0">
                <a:latin typeface="黑体" pitchFamily="49" charset="-122"/>
                <a:ea typeface="黑体" pitchFamily="49" charset="-122"/>
              </a:rPr>
              <a:t>第三章 理想气体的</a:t>
            </a:r>
            <a:r>
              <a:rPr lang="en-US" altLang="zh-CN" spc="400" dirty="0"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pc="400" dirty="0">
                <a:latin typeface="黑体" pitchFamily="49" charset="-122"/>
                <a:ea typeface="黑体" pitchFamily="49" charset="-122"/>
              </a:rPr>
            </a:br>
            <a:r>
              <a:rPr lang="zh-CN" altLang="en-US" spc="400" dirty="0">
                <a:latin typeface="黑体" pitchFamily="49" charset="-122"/>
                <a:ea typeface="黑体" pitchFamily="49" charset="-122"/>
              </a:rPr>
              <a:t>热力性质及过程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Picture 41" descr="C:\Users\nathan\Desktop\20130513校长报告0511\幻灯片1.PNG"/>
          <p:cNvPicPr>
            <a:picLocks noChangeAspect="1" noChangeArrowheads="1"/>
          </p:cNvPicPr>
          <p:nvPr/>
        </p:nvPicPr>
        <p:blipFill>
          <a:blip r:embed="rId2" cstate="print"/>
          <a:srcRect r="-17" b="86746"/>
          <a:stretch>
            <a:fillRect/>
          </a:stretch>
        </p:blipFill>
        <p:spPr bwMode="auto">
          <a:xfrm>
            <a:off x="0" y="0"/>
            <a:ext cx="9144000" cy="90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1" descr="C:\Users\nathan\Desktop\20130513校长报告0511\幻灯片1.PNG"/>
          <p:cNvPicPr>
            <a:picLocks noChangeAspect="1" noChangeArrowheads="1"/>
          </p:cNvPicPr>
          <p:nvPr/>
        </p:nvPicPr>
        <p:blipFill>
          <a:blip r:embed="rId2" cstate="print"/>
          <a:srcRect t="46861"/>
          <a:stretch>
            <a:fillRect/>
          </a:stretch>
        </p:blipFill>
        <p:spPr bwMode="auto">
          <a:xfrm>
            <a:off x="0" y="3213000"/>
            <a:ext cx="9145888" cy="3645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457200" y="2132856"/>
            <a:ext cx="8329642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indent="504000">
              <a:lnSpc>
                <a:spcPct val="140000"/>
              </a:lnSpc>
              <a:spcBef>
                <a:spcPts val="12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理想气体是一种经过科学抽象的假想气体模型。</a:t>
            </a:r>
          </a:p>
          <a:p>
            <a:pPr indent="504000">
              <a:lnSpc>
                <a:spcPct val="14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定义：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气体分子是不占体积的弹性质点，分子间没有相互作用力（引力和斥力）。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1143000"/>
            <a:ext cx="5143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3-1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理想气体及其状态方程式 </a:t>
            </a: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661764" y="1700808"/>
            <a:ext cx="26243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理想气体</a:t>
            </a:r>
          </a:p>
        </p:txBody>
      </p:sp>
      <p:sp>
        <p:nvSpPr>
          <p:cNvPr id="35" name="矩形 34"/>
          <p:cNvSpPr/>
          <p:nvPr/>
        </p:nvSpPr>
        <p:spPr>
          <a:xfrm>
            <a:off x="0" y="1714277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chemeClr val="accent1"/>
                </a:solidFill>
                <a:latin typeface="Bernard MT Condensed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1.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grpSp>
        <p:nvGrpSpPr>
          <p:cNvPr id="20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3" name="圆角矩形 22"/>
          <p:cNvSpPr/>
          <p:nvPr/>
        </p:nvSpPr>
        <p:spPr>
          <a:xfrm>
            <a:off x="646390" y="4148180"/>
            <a:ext cx="3061514" cy="17859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气体分子体积与其活动空间相比很小，气体分子体积便可忽略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5436096" y="4167560"/>
            <a:ext cx="3132712" cy="17859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分子间平均距离较大，分子间相互作用力也可忽略不计（远离液态点）</a:t>
            </a:r>
          </a:p>
        </p:txBody>
      </p:sp>
      <p:sp>
        <p:nvSpPr>
          <p:cNvPr id="26" name="菱形 25"/>
          <p:cNvSpPr/>
          <p:nvPr/>
        </p:nvSpPr>
        <p:spPr>
          <a:xfrm>
            <a:off x="3934758" y="4167560"/>
            <a:ext cx="1285314" cy="1785950"/>
          </a:xfrm>
          <a:prstGeom prst="diamond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微观解释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 animBg="1"/>
      <p:bldP spid="23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457200" y="1556792"/>
            <a:ext cx="8329642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indent="504000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理想气体和蒸气之间没有绝对的界限，且可以相互转化。</a:t>
            </a: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>
            <a:off x="803500" y="2780928"/>
            <a:ext cx="36244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理想气体状态方程式</a:t>
            </a:r>
          </a:p>
        </p:txBody>
      </p:sp>
      <p:sp>
        <p:nvSpPr>
          <p:cNvPr id="35" name="矩形 34"/>
          <p:cNvSpPr/>
          <p:nvPr/>
        </p:nvSpPr>
        <p:spPr>
          <a:xfrm>
            <a:off x="141736" y="2824470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chemeClr val="accent1"/>
                </a:solidFill>
                <a:latin typeface="Bernard MT Condensed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2.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457200" y="3353002"/>
            <a:ext cx="8329642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indent="504000"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由实验定律得出的克拉贝隆方程，即为理想气体状态方程式</a:t>
            </a:r>
          </a:p>
        </p:txBody>
      </p:sp>
      <p:graphicFrame>
        <p:nvGraphicFramePr>
          <p:cNvPr id="481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449913"/>
              </p:ext>
            </p:extLst>
          </p:nvPr>
        </p:nvGraphicFramePr>
        <p:xfrm>
          <a:off x="1779605" y="4672930"/>
          <a:ext cx="529272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公式" r:id="rId7" imgW="1790700" imgH="431800" progId="Equation.3">
                  <p:embed/>
                </p:oleObj>
              </mc:Choice>
              <mc:Fallback>
                <p:oleObj name="公式" r:id="rId7" imgW="1790700" imgH="43180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605" y="4672930"/>
                        <a:ext cx="5292725" cy="1276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837214"/>
              </p:ext>
            </p:extLst>
          </p:nvPr>
        </p:nvGraphicFramePr>
        <p:xfrm>
          <a:off x="1906759" y="2708920"/>
          <a:ext cx="5858127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8" name="公式" r:id="rId7" imgW="1815840" imgH="622080" progId="Equation.3">
                  <p:embed/>
                </p:oleObj>
              </mc:Choice>
              <mc:Fallback>
                <p:oleObj name="公式" r:id="rId7" imgW="1815840" imgH="622080" progId="Equation.3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759" y="2708920"/>
                        <a:ext cx="5858127" cy="19442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1027368" y="4782095"/>
            <a:ext cx="653309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式中  </a:t>
            </a:r>
            <a:r>
              <a:rPr lang="en-US" altLang="zh-CN" sz="2800" i="1" dirty="0" err="1">
                <a:solidFill>
                  <a:srgbClr val="33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baseline="-25000" dirty="0" err="1">
                <a:solidFill>
                  <a:srgbClr val="33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g</a:t>
            </a:r>
            <a:r>
              <a:rPr lang="zh-CN" altLang="en-US" sz="2800" dirty="0">
                <a:solidFill>
                  <a:srgbClr val="33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为气体常数，</a:t>
            </a:r>
            <a:r>
              <a:rPr lang="en-US" altLang="zh-CN" sz="2800" i="1" dirty="0">
                <a:solidFill>
                  <a:srgbClr val="33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zh-CN" altLang="en-US" sz="2800" dirty="0">
                <a:solidFill>
                  <a:srgbClr val="33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为通用气体常数。</a:t>
            </a:r>
          </a:p>
        </p:txBody>
      </p:sp>
      <p:sp>
        <p:nvSpPr>
          <p:cNvPr id="3" name="矩形 2"/>
          <p:cNvSpPr/>
          <p:nvPr/>
        </p:nvSpPr>
        <p:spPr>
          <a:xfrm>
            <a:off x="571472" y="5301208"/>
            <a:ext cx="5832648" cy="662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使用条件：理想气体、平衡状态。</a:t>
            </a:r>
          </a:p>
        </p:txBody>
      </p:sp>
      <p:sp>
        <p:nvSpPr>
          <p:cNvPr id="5" name="矩形 4"/>
          <p:cNvSpPr/>
          <p:nvPr/>
        </p:nvSpPr>
        <p:spPr>
          <a:xfrm>
            <a:off x="3487796" y="1484784"/>
            <a:ext cx="17202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pv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8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g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T</a:t>
            </a:r>
            <a:endParaRPr lang="zh-CN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1045826" y="1484784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变换形式有</a:t>
            </a:r>
            <a:endParaRPr lang="zh-CN" altLang="en-US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848729"/>
              </p:ext>
            </p:extLst>
          </p:nvPr>
        </p:nvGraphicFramePr>
        <p:xfrm>
          <a:off x="5441627" y="1515130"/>
          <a:ext cx="2226471" cy="523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9" name="公式" r:id="rId9" imgW="863280" imgH="203040" progId="Equation.3">
                  <p:embed/>
                </p:oleObj>
              </mc:Choice>
              <mc:Fallback>
                <p:oleObj name="公式" r:id="rId9" imgW="863280" imgH="203040" progId="Equation.3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627" y="1515130"/>
                        <a:ext cx="2226471" cy="5230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1101262" y="2110224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对不同物量单位，有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445170" y="1413475"/>
            <a:ext cx="8001000" cy="465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457200"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根据</a:t>
            </a:r>
            <a:r>
              <a:rPr lang="en-US" altLang="zh-CN" sz="28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1954</a:t>
            </a: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年第十届国际计量大会</a:t>
            </a:r>
            <a:r>
              <a:rPr lang="en-US" altLang="zh-CN" sz="28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(CGPM)</a:t>
            </a: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协议的规定，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标准状态为 </a:t>
            </a:r>
            <a:r>
              <a:rPr lang="en-US" altLang="zh-CN" sz="2800" i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aseline="-250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101.325 </a:t>
            </a:r>
            <a:r>
              <a:rPr lang="en-US" altLang="zh-CN" sz="2800" dirty="0" err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sz="2800" dirty="0" err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Pa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 </a:t>
            </a:r>
            <a:r>
              <a:rPr lang="en-US" altLang="zh-CN" sz="2800" i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aseline="-250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273.15 K</a:t>
            </a: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。在该状态下</a:t>
            </a:r>
            <a:r>
              <a:rPr lang="en-US" altLang="zh-CN" sz="28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任何理想气体的摩尔容积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m0 </a:t>
            </a:r>
            <a:r>
              <a:rPr lang="zh-CN" altLang="en-US" sz="28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均为：</a:t>
            </a:r>
            <a:endParaRPr lang="en-US" altLang="zh-CN" sz="280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indent="457200" algn="ctr">
              <a:lnSpc>
                <a:spcPct val="130000"/>
              </a:lnSpc>
              <a:spcBef>
                <a:spcPts val="1200"/>
              </a:spcBef>
            </a:pP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m0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22.4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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10</a:t>
            </a:r>
            <a:r>
              <a:rPr lang="en-US" altLang="zh-CN" sz="28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-3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(Nm</a:t>
            </a:r>
            <a:r>
              <a:rPr lang="en-US" altLang="zh-CN" sz="28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/</a:t>
            </a:r>
            <a:r>
              <a:rPr lang="en-US" altLang="zh-CN" sz="28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mol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22.4 (Nm</a:t>
            </a:r>
            <a:r>
              <a:rPr lang="en-US" altLang="zh-CN" sz="28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/</a:t>
            </a:r>
            <a:r>
              <a:rPr lang="en-US" altLang="zh-CN" sz="28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kmol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</a:p>
          <a:p>
            <a:pPr indent="457200"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将标准参数代入公式                 </a:t>
            </a:r>
            <a:endParaRPr lang="en-US" altLang="zh-CN" sz="28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indent="457200"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</a:t>
            </a:r>
            <a:endParaRPr lang="en-US" altLang="zh-CN" sz="28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indent="457200"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计算得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    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R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＝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8314.3   J/(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kmol·K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)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380884"/>
              </p:ext>
            </p:extLst>
          </p:nvPr>
        </p:nvGraphicFramePr>
        <p:xfrm>
          <a:off x="3800475" y="4877282"/>
          <a:ext cx="1851645" cy="503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94" name="公式" r:id="rId7" imgW="698400" imgH="190440" progId="Equation.3">
                  <p:embed/>
                </p:oleObj>
              </mc:Choice>
              <mc:Fallback>
                <p:oleObj name="公式" r:id="rId7" imgW="698400" imgH="190440" progId="Equation.3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4877282"/>
                        <a:ext cx="1851645" cy="5039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152443"/>
              </p:ext>
            </p:extLst>
          </p:nvPr>
        </p:nvGraphicFramePr>
        <p:xfrm>
          <a:off x="4355975" y="4221088"/>
          <a:ext cx="1579375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95" name="公式" r:id="rId9" imgW="596880" imgH="190440" progId="Equation.3">
                  <p:embed/>
                </p:oleObj>
              </mc:Choice>
              <mc:Fallback>
                <p:oleObj name="公式" r:id="rId9" imgW="596880" imgH="190440" progId="Equation.3">
                  <p:embed/>
                  <p:pic>
                    <p:nvPicPr>
                      <p:cNvPr id="0" name="Picture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5" y="4221088"/>
                        <a:ext cx="1579375" cy="504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5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813317"/>
              </p:ext>
            </p:extLst>
          </p:nvPr>
        </p:nvGraphicFramePr>
        <p:xfrm>
          <a:off x="3702893" y="3140968"/>
          <a:ext cx="4506985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6" name="公式" r:id="rId7" imgW="2413000" imgH="469900" progId="Equation.3">
                  <p:embed/>
                </p:oleObj>
              </mc:Choice>
              <mc:Fallback>
                <p:oleObj name="公式" r:id="rId7" imgW="2413000" imgH="469900" progId="Equation.3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893" y="3140968"/>
                        <a:ext cx="4506985" cy="864096"/>
                      </a:xfrm>
                      <a:prstGeom prst="rect">
                        <a:avLst/>
                      </a:prstGeom>
                      <a:solidFill>
                        <a:srgbClr val="D7E4BD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1009643" y="3275384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得：气体常数</a:t>
            </a:r>
          </a:p>
        </p:txBody>
      </p:sp>
      <p:sp>
        <p:nvSpPr>
          <p:cNvPr id="22" name="矩形 21"/>
          <p:cNvSpPr/>
          <p:nvPr/>
        </p:nvSpPr>
        <p:spPr>
          <a:xfrm>
            <a:off x="505562" y="4221088"/>
            <a:ext cx="8143932" cy="1308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式中：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气体的摩尔质量，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kg/</a:t>
            </a:r>
            <a:r>
              <a:rPr lang="en-US" altLang="zh-CN" sz="28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kmol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（分子量） </a:t>
            </a:r>
            <a:endParaRPr lang="en-US" altLang="zh-CN" sz="28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不同的气体，气体常数不同；但通用气体常数不变。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620540"/>
              </p:ext>
            </p:extLst>
          </p:nvPr>
        </p:nvGraphicFramePr>
        <p:xfrm>
          <a:off x="2967732" y="1402477"/>
          <a:ext cx="2176810" cy="1440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7" name="公式" r:id="rId9" imgW="723600" imgH="495000" progId="Equation.3">
                  <p:embed/>
                </p:oleObj>
              </mc:Choice>
              <mc:Fallback>
                <p:oleObj name="公式" r:id="rId9" imgW="723600" imgH="495000" progId="Equation.3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732" y="1402477"/>
                        <a:ext cx="2176810" cy="14408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1029926" y="1844824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由公式：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6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0" y="1143000"/>
            <a:ext cx="5143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3-2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理想气体的比热容</a:t>
            </a: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4" name="TextBox 37"/>
          <p:cNvSpPr txBox="1">
            <a:spLocks noChangeArrowheads="1"/>
          </p:cNvSpPr>
          <p:nvPr/>
        </p:nvSpPr>
        <p:spPr bwMode="auto">
          <a:xfrm>
            <a:off x="661764" y="1714488"/>
            <a:ext cx="36244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比热容的定义及单位 </a:t>
            </a:r>
          </a:p>
        </p:txBody>
      </p:sp>
      <p:sp>
        <p:nvSpPr>
          <p:cNvPr id="25" name="矩形 24"/>
          <p:cNvSpPr/>
          <p:nvPr/>
        </p:nvSpPr>
        <p:spPr>
          <a:xfrm>
            <a:off x="0" y="1727957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chemeClr val="accent1"/>
                </a:solidFill>
                <a:latin typeface="Bernard MT Condensed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1.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899592" y="2579615"/>
            <a:ext cx="14510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定义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: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389626"/>
              </p:ext>
            </p:extLst>
          </p:nvPr>
        </p:nvGraphicFramePr>
        <p:xfrm>
          <a:off x="2411426" y="2276872"/>
          <a:ext cx="12731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2" name="公式" r:id="rId7" imgW="571252" imgH="469696" progId="Equation.3">
                  <p:embed/>
                </p:oleObj>
              </mc:Choice>
              <mc:Fallback>
                <p:oleObj name="公式" r:id="rId7" imgW="571252" imgH="469696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26" y="2276872"/>
                        <a:ext cx="1273175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圆角矩形标注 34"/>
          <p:cNvSpPr/>
          <p:nvPr/>
        </p:nvSpPr>
        <p:spPr>
          <a:xfrm>
            <a:off x="4500562" y="2448316"/>
            <a:ext cx="2786082" cy="785818"/>
          </a:xfrm>
          <a:prstGeom prst="wedgeRoundRectCallout">
            <a:avLst>
              <a:gd name="adj1" fmla="val -66290"/>
              <a:gd name="adj2" fmla="val -1318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可逆过程条件下</a:t>
            </a: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899592" y="3573016"/>
            <a:ext cx="15568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单位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graphicFrame>
        <p:nvGraphicFramePr>
          <p:cNvPr id="38" name="图示 37"/>
          <p:cNvGraphicFramePr/>
          <p:nvPr>
            <p:extLst>
              <p:ext uri="{D42A27DB-BD31-4B8C-83A1-F6EECF244321}">
                <p14:modId xmlns:p14="http://schemas.microsoft.com/office/powerpoint/2010/main" val="1735698478"/>
              </p:ext>
            </p:extLst>
          </p:nvPr>
        </p:nvGraphicFramePr>
        <p:xfrm>
          <a:off x="342622" y="3834626"/>
          <a:ext cx="8117809" cy="2237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6" grpId="0"/>
      <p:bldP spid="35" grpId="0" animBg="1"/>
      <p:bldP spid="36" grpId="0"/>
      <p:bldGraphic spid="38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7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7770" y="1268760"/>
            <a:ext cx="3312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种比热容换算关系：</a:t>
            </a: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4" name="TextBox 37"/>
          <p:cNvSpPr txBox="1">
            <a:spLocks noChangeArrowheads="1"/>
          </p:cNvSpPr>
          <p:nvPr/>
        </p:nvSpPr>
        <p:spPr bwMode="auto">
          <a:xfrm>
            <a:off x="659507" y="2566950"/>
            <a:ext cx="45531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定容比热容和定压比热容</a:t>
            </a:r>
          </a:p>
        </p:txBody>
      </p:sp>
      <p:sp>
        <p:nvSpPr>
          <p:cNvPr id="25" name="矩形 24"/>
          <p:cNvSpPr/>
          <p:nvPr/>
        </p:nvSpPr>
        <p:spPr>
          <a:xfrm>
            <a:off x="88007" y="2602235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chemeClr val="accent1"/>
                </a:solidFill>
                <a:latin typeface="Bernard MT Condensed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2.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39552" y="3126774"/>
            <a:ext cx="8136904" cy="275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由于热量是过程量，所以气体的比热容不仅与工质的种类有关，而且还与过程有关。</a:t>
            </a:r>
          </a:p>
          <a:p>
            <a:pPr indent="457200"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工程上最常遇到的是气体在定容或定压条件下加热或放热，因此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定容比热容和定压比热容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最常用。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936096" y="1900299"/>
            <a:ext cx="2809104" cy="486055"/>
            <a:chOff x="925" y="1607068"/>
            <a:chExt cx="3190903" cy="486055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2" name="圆角矩形 21"/>
            <p:cNvSpPr/>
            <p:nvPr/>
          </p:nvSpPr>
          <p:spPr>
            <a:xfrm>
              <a:off x="925" y="1607068"/>
              <a:ext cx="3190903" cy="486055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tx2"/>
              </a:solidFill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3" name="圆角矩形 4"/>
            <p:cNvSpPr/>
            <p:nvPr/>
          </p:nvSpPr>
          <p:spPr>
            <a:xfrm>
              <a:off x="15161" y="1621304"/>
              <a:ext cx="3037931" cy="45758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800" b="1" i="1" kern="1200" dirty="0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 C</a:t>
              </a:r>
              <a:r>
                <a:rPr lang="zh-CN" altLang="en-US" sz="2800" b="1" kern="1200" dirty="0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＝</a:t>
              </a:r>
              <a:r>
                <a:rPr lang="en-US" altLang="zh-CN" sz="2800" b="1" i="1" kern="1200" dirty="0" err="1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M</a:t>
              </a:r>
              <a:r>
                <a:rPr lang="en-US" altLang="zh-CN" sz="2800" b="1" kern="1200" dirty="0" err="1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·</a:t>
              </a:r>
              <a:r>
                <a:rPr lang="en-US" altLang="zh-CN" sz="2800" b="1" i="1" kern="1200" dirty="0" err="1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c</a:t>
              </a:r>
              <a:r>
                <a:rPr lang="zh-CN" altLang="en-US" sz="2800" b="1" kern="1200" dirty="0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＝</a:t>
              </a:r>
              <a:r>
                <a:rPr lang="en-US" altLang="zh-CN" sz="2800" kern="1200" dirty="0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22.4</a:t>
              </a:r>
              <a:r>
                <a:rPr lang="en-US" altLang="zh-CN" sz="2800" b="1" kern="1200" dirty="0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 </a:t>
              </a:r>
              <a:r>
                <a:rPr lang="en-US" altLang="zh-CN" sz="2800" b="1" i="1" kern="1200" dirty="0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c</a:t>
              </a:r>
              <a:r>
                <a:rPr lang="en-US" altLang="zh-CN" sz="2800" b="1" kern="1200" dirty="0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  <a:sym typeface="Symbol" pitchFamily="18" charset="2"/>
                </a:rPr>
                <a:t></a:t>
              </a:r>
              <a:r>
                <a:rPr lang="en-US" altLang="zh-CN" sz="2800" b="1" kern="1200" dirty="0">
                  <a:solidFill>
                    <a:schemeClr val="tx1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 </a:t>
              </a:r>
              <a:endParaRPr lang="en-US" altLang="zh-CN" sz="2800" b="0" kern="12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8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grpSp>
        <p:nvGrpSpPr>
          <p:cNvPr id="44" name="组合 43"/>
          <p:cNvGrpSpPr/>
          <p:nvPr/>
        </p:nvGrpSpPr>
        <p:grpSpPr>
          <a:xfrm>
            <a:off x="3563888" y="1412776"/>
            <a:ext cx="3960440" cy="1008112"/>
            <a:chOff x="2915816" y="3429000"/>
            <a:chExt cx="3960440" cy="1008112"/>
          </a:xfrm>
        </p:grpSpPr>
        <p:sp>
          <p:nvSpPr>
            <p:cNvPr id="43" name="圆角矩形 42"/>
            <p:cNvSpPr/>
            <p:nvPr/>
          </p:nvSpPr>
          <p:spPr>
            <a:xfrm>
              <a:off x="2915816" y="3429000"/>
              <a:ext cx="3960440" cy="100811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9" name="Object 1038"/>
            <p:cNvGraphicFramePr>
              <a:graphicFrameLocks noChangeAspect="1"/>
            </p:cNvGraphicFramePr>
            <p:nvPr/>
          </p:nvGraphicFramePr>
          <p:xfrm>
            <a:off x="3189312" y="3460750"/>
            <a:ext cx="1295400" cy="933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06" name="公式" r:id="rId7" imgW="583947" imgH="418918" progId="Equation.3">
                    <p:embed/>
                  </p:oleObj>
                </mc:Choice>
                <mc:Fallback>
                  <p:oleObj name="公式" r:id="rId7" imgW="583947" imgH="418918" progId="Equation.3">
                    <p:embed/>
                    <p:pic>
                      <p:nvPicPr>
                        <p:cNvPr id="0" name="Picture 2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9312" y="3460750"/>
                          <a:ext cx="1295400" cy="933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1040"/>
            <p:cNvGraphicFramePr>
              <a:graphicFrameLocks noChangeAspect="1"/>
            </p:cNvGraphicFramePr>
            <p:nvPr/>
          </p:nvGraphicFramePr>
          <p:xfrm>
            <a:off x="5292824" y="3429000"/>
            <a:ext cx="1295400" cy="931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07" name="公式" r:id="rId9" imgW="583947" imgH="418918" progId="Equation.3">
                    <p:embed/>
                  </p:oleObj>
                </mc:Choice>
                <mc:Fallback>
                  <p:oleObj name="公式" r:id="rId9" imgW="583947" imgH="418918" progId="Equation.3">
                    <p:embed/>
                    <p:pic>
                      <p:nvPicPr>
                        <p:cNvPr id="0" name="Picture 2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2824" y="3429000"/>
                          <a:ext cx="1295400" cy="931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Rectangle 1044"/>
            <p:cNvSpPr>
              <a:spLocks noChangeArrowheads="1"/>
            </p:cNvSpPr>
            <p:nvPr/>
          </p:nvSpPr>
          <p:spPr bwMode="auto">
            <a:xfrm>
              <a:off x="4591000" y="3667125"/>
              <a:ext cx="545342" cy="5840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800" dirty="0">
                  <a:latin typeface="微软雅黑" pitchFamily="34" charset="-122"/>
                  <a:ea typeface="微软雅黑" pitchFamily="34" charset="-122"/>
                </a:rPr>
                <a:t>或</a:t>
              </a:r>
            </a:p>
          </p:txBody>
        </p:sp>
      </p:grpSp>
      <p:sp>
        <p:nvSpPr>
          <p:cNvPr id="42" name="五边形 41"/>
          <p:cNvSpPr/>
          <p:nvPr/>
        </p:nvSpPr>
        <p:spPr>
          <a:xfrm>
            <a:off x="971600" y="1556792"/>
            <a:ext cx="2232248" cy="79208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定压比热容</a:t>
            </a:r>
          </a:p>
        </p:txBody>
      </p:sp>
      <p:sp>
        <p:nvSpPr>
          <p:cNvPr id="50" name="五边形 49"/>
          <p:cNvSpPr/>
          <p:nvPr/>
        </p:nvSpPr>
        <p:spPr>
          <a:xfrm>
            <a:off x="971600" y="2636912"/>
            <a:ext cx="2232248" cy="79208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定容比热容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3563888" y="2564904"/>
            <a:ext cx="3960440" cy="1008112"/>
            <a:chOff x="2915816" y="4005064"/>
            <a:chExt cx="3960440" cy="1008112"/>
          </a:xfrm>
        </p:grpSpPr>
        <p:sp>
          <p:nvSpPr>
            <p:cNvPr id="46" name="圆角矩形 45"/>
            <p:cNvSpPr/>
            <p:nvPr/>
          </p:nvSpPr>
          <p:spPr>
            <a:xfrm>
              <a:off x="2915816" y="4005064"/>
              <a:ext cx="3960440" cy="100811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Rectangle 1044"/>
            <p:cNvSpPr>
              <a:spLocks noChangeArrowheads="1"/>
            </p:cNvSpPr>
            <p:nvPr/>
          </p:nvSpPr>
          <p:spPr bwMode="auto">
            <a:xfrm>
              <a:off x="4591000" y="4243189"/>
              <a:ext cx="545342" cy="5840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800" dirty="0">
                  <a:latin typeface="微软雅黑" pitchFamily="34" charset="-122"/>
                  <a:ea typeface="微软雅黑" pitchFamily="34" charset="-122"/>
                </a:rPr>
                <a:t>或</a:t>
              </a:r>
            </a:p>
          </p:txBody>
        </p:sp>
        <p:graphicFrame>
          <p:nvGraphicFramePr>
            <p:cNvPr id="8214" name="Object 1046"/>
            <p:cNvGraphicFramePr>
              <a:graphicFrameLocks noChangeAspect="1"/>
            </p:cNvGraphicFramePr>
            <p:nvPr/>
          </p:nvGraphicFramePr>
          <p:xfrm>
            <a:off x="3203848" y="4072806"/>
            <a:ext cx="1295400" cy="868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08" name="公式" r:id="rId11" imgW="583947" imgH="393529" progId="Equation.3">
                    <p:embed/>
                  </p:oleObj>
                </mc:Choice>
                <mc:Fallback>
                  <p:oleObj name="公式" r:id="rId11" imgW="583947" imgH="393529" progId="Equation.3">
                    <p:embed/>
                    <p:pic>
                      <p:nvPicPr>
                        <p:cNvPr id="0" name="Picture 2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848" y="4072806"/>
                          <a:ext cx="1295400" cy="868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6" name="Object 1048"/>
            <p:cNvGraphicFramePr>
              <a:graphicFrameLocks noChangeAspect="1"/>
            </p:cNvGraphicFramePr>
            <p:nvPr/>
          </p:nvGraphicFramePr>
          <p:xfrm>
            <a:off x="5292080" y="4072806"/>
            <a:ext cx="1295400" cy="868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09" name="公式" r:id="rId13" imgW="583947" imgH="393529" progId="Equation.3">
                    <p:embed/>
                  </p:oleObj>
                </mc:Choice>
                <mc:Fallback>
                  <p:oleObj name="公式" r:id="rId13" imgW="583947" imgH="393529" progId="Equation.3">
                    <p:embed/>
                    <p:pic>
                      <p:nvPicPr>
                        <p:cNvPr id="0" name="Picture 2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2080" y="4072806"/>
                          <a:ext cx="1295400" cy="868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图文框 52"/>
          <p:cNvSpPr/>
          <p:nvPr/>
        </p:nvSpPr>
        <p:spPr>
          <a:xfrm>
            <a:off x="1160326" y="3774926"/>
            <a:ext cx="1755490" cy="576064"/>
          </a:xfrm>
          <a:prstGeom prst="fram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定压过程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3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522434"/>
              </p:ext>
            </p:extLst>
          </p:nvPr>
        </p:nvGraphicFramePr>
        <p:xfrm>
          <a:off x="3328102" y="3794844"/>
          <a:ext cx="44122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0" name="公式" r:id="rId15" imgW="1815840" imgH="215640" progId="Equation.3">
                  <p:embed/>
                </p:oleObj>
              </mc:Choice>
              <mc:Fallback>
                <p:oleObj name="公式" r:id="rId15" imgW="1815840" imgH="215640" progId="Equation.3">
                  <p:embed/>
                  <p:pic>
                    <p:nvPicPr>
                      <p:cNvPr id="0" name="Picture 2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102" y="3794844"/>
                        <a:ext cx="441225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圆角矩形 31"/>
          <p:cNvSpPr/>
          <p:nvPr/>
        </p:nvSpPr>
        <p:spPr>
          <a:xfrm>
            <a:off x="5496382" y="5063058"/>
            <a:ext cx="1872208" cy="720080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迈耶公式</a:t>
            </a:r>
          </a:p>
        </p:txBody>
      </p:sp>
      <p:sp>
        <p:nvSpPr>
          <p:cNvPr id="34" name="图文框 33"/>
          <p:cNvSpPr/>
          <p:nvPr/>
        </p:nvSpPr>
        <p:spPr>
          <a:xfrm>
            <a:off x="1160326" y="4365104"/>
            <a:ext cx="1755490" cy="576064"/>
          </a:xfrm>
          <a:prstGeom prst="fram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定容过程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3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670920"/>
              </p:ext>
            </p:extLst>
          </p:nvPr>
        </p:nvGraphicFramePr>
        <p:xfrm>
          <a:off x="3275856" y="4406279"/>
          <a:ext cx="263048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1" name="公式" r:id="rId17" imgW="1015920" imgH="190440" progId="Equation.3">
                  <p:embed/>
                </p:oleObj>
              </mc:Choice>
              <mc:Fallback>
                <p:oleObj name="公式" r:id="rId17" imgW="1015920" imgH="190440" progId="Equation.3">
                  <p:embed/>
                  <p:pic>
                    <p:nvPicPr>
                      <p:cNvPr id="0" name="Picture 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4406279"/>
                        <a:ext cx="263048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511092"/>
              </p:ext>
            </p:extLst>
          </p:nvPr>
        </p:nvGraphicFramePr>
        <p:xfrm>
          <a:off x="2901155" y="4923606"/>
          <a:ext cx="16716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12" name="公式" r:id="rId19" imgW="761760" imgH="520560" progId="Equation.3">
                  <p:embed/>
                </p:oleObj>
              </mc:Choice>
              <mc:Fallback>
                <p:oleObj name="公式" r:id="rId19" imgW="761760" imgH="520560" progId="Equation.3">
                  <p:embed/>
                  <p:pic>
                    <p:nvPicPr>
                      <p:cNvPr id="0" name="Picture 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155" y="4923606"/>
                        <a:ext cx="1671638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右箭头 5"/>
          <p:cNvSpPr/>
          <p:nvPr/>
        </p:nvSpPr>
        <p:spPr>
          <a:xfrm flipV="1">
            <a:off x="1691680" y="5423098"/>
            <a:ext cx="880056" cy="1440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3" grpId="0"/>
      <p:bldP spid="32" grpId="0" animBg="1"/>
      <p:bldP spid="34" grpId="0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9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grpSp>
        <p:nvGrpSpPr>
          <p:cNvPr id="32" name="Group 20"/>
          <p:cNvGrpSpPr>
            <a:grpSpLocks/>
          </p:cNvGrpSpPr>
          <p:nvPr/>
        </p:nvGrpSpPr>
        <p:grpSpPr bwMode="auto">
          <a:xfrm>
            <a:off x="774612" y="1196752"/>
            <a:ext cx="6121401" cy="1136649"/>
            <a:chOff x="860" y="1672"/>
            <a:chExt cx="3856" cy="716"/>
          </a:xfrm>
        </p:grpSpPr>
        <p:grpSp>
          <p:nvGrpSpPr>
            <p:cNvPr id="34" name="Group 19"/>
            <p:cNvGrpSpPr>
              <a:grpSpLocks/>
            </p:cNvGrpSpPr>
            <p:nvPr/>
          </p:nvGrpSpPr>
          <p:grpSpPr bwMode="auto">
            <a:xfrm>
              <a:off x="860" y="1672"/>
              <a:ext cx="1252" cy="716"/>
              <a:chOff x="860" y="1672"/>
              <a:chExt cx="1252" cy="716"/>
            </a:xfrm>
          </p:grpSpPr>
          <p:sp>
            <p:nvSpPr>
              <p:cNvPr id="36" name="Text Box 14"/>
              <p:cNvSpPr txBox="1">
                <a:spLocks noChangeArrowheads="1"/>
              </p:cNvSpPr>
              <p:nvPr/>
            </p:nvSpPr>
            <p:spPr bwMode="auto">
              <a:xfrm>
                <a:off x="860" y="1872"/>
                <a:ext cx="340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>
                    <a:latin typeface="微软雅黑" pitchFamily="34" charset="-122"/>
                    <a:ea typeface="微软雅黑" pitchFamily="34" charset="-122"/>
                  </a:rPr>
                  <a:t>令</a:t>
                </a:r>
              </a:p>
            </p:txBody>
          </p:sp>
          <p:graphicFrame>
            <p:nvGraphicFramePr>
              <p:cNvPr id="37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0148944"/>
                  </p:ext>
                </p:extLst>
              </p:nvPr>
            </p:nvGraphicFramePr>
            <p:xfrm>
              <a:off x="1279" y="1672"/>
              <a:ext cx="833" cy="7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08" name="公式" r:id="rId7" imgW="418918" imgH="393529" progId="Equation.3">
                      <p:embed/>
                    </p:oleObj>
                  </mc:Choice>
                  <mc:Fallback>
                    <p:oleObj name="公式" r:id="rId7" imgW="418918" imgH="393529" progId="Equation.3">
                      <p:embed/>
                      <p:pic>
                        <p:nvPicPr>
                          <p:cNvPr id="0" name="Picture 1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9" y="1672"/>
                            <a:ext cx="833" cy="7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" name="Text Box 16"/>
            <p:cNvSpPr txBox="1">
              <a:spLocks noChangeArrowheads="1"/>
            </p:cNvSpPr>
            <p:nvPr/>
          </p:nvSpPr>
          <p:spPr bwMode="auto">
            <a:xfrm>
              <a:off x="2112" y="1881"/>
              <a:ext cx="260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itchFamily="34" charset="-122"/>
                  <a:ea typeface="微软雅黑" pitchFamily="34" charset="-122"/>
                </a:rPr>
                <a:t>为比热比或绝热指数，则</a:t>
              </a:r>
            </a:p>
          </p:txBody>
        </p:sp>
      </p:grpSp>
      <p:graphicFrame>
        <p:nvGraphicFramePr>
          <p:cNvPr id="3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827573"/>
              </p:ext>
            </p:extLst>
          </p:nvPr>
        </p:nvGraphicFramePr>
        <p:xfrm>
          <a:off x="3587438" y="2348880"/>
          <a:ext cx="2181850" cy="1075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9" name="公式" r:id="rId9" imgW="749160" imgH="393480" progId="Equation.3">
                  <p:embed/>
                </p:oleObj>
              </mc:Choice>
              <mc:Fallback>
                <p:oleObj name="公式" r:id="rId9" imgW="749160" imgH="393480" progId="Equation.3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438" y="2348880"/>
                        <a:ext cx="2181850" cy="1075432"/>
                      </a:xfrm>
                      <a:prstGeom prst="rect">
                        <a:avLst/>
                      </a:prstGeom>
                      <a:solidFill>
                        <a:srgbClr val="D7E4BD"/>
                      </a:solidFill>
                      <a:ln w="38100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295933"/>
              </p:ext>
            </p:extLst>
          </p:nvPr>
        </p:nvGraphicFramePr>
        <p:xfrm>
          <a:off x="3779912" y="4912723"/>
          <a:ext cx="1769241" cy="1031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" name="公式" r:id="rId11" imgW="571320" imgH="355320" progId="Equation.3">
                  <p:embed/>
                </p:oleObj>
              </mc:Choice>
              <mc:Fallback>
                <p:oleObj name="公式" r:id="rId11" imgW="571320" imgH="355320" progId="Equation.3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4912723"/>
                        <a:ext cx="1769241" cy="1031547"/>
                      </a:xfrm>
                      <a:prstGeom prst="rect">
                        <a:avLst/>
                      </a:prstGeom>
                      <a:solidFill>
                        <a:srgbClr val="B9CDE5"/>
                      </a:solidFill>
                      <a:ln w="38100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951437"/>
              </p:ext>
            </p:extLst>
          </p:nvPr>
        </p:nvGraphicFramePr>
        <p:xfrm>
          <a:off x="3779912" y="3645024"/>
          <a:ext cx="1723995" cy="1003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1" name="公式" r:id="rId13" imgW="609480" imgH="355320" progId="Equation.3">
                  <p:embed/>
                </p:oleObj>
              </mc:Choice>
              <mc:Fallback>
                <p:oleObj name="公式" r:id="rId13" imgW="609480" imgH="355320" progId="Equation.3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645024"/>
                        <a:ext cx="1723995" cy="1003918"/>
                      </a:xfrm>
                      <a:prstGeom prst="rect">
                        <a:avLst/>
                      </a:prstGeom>
                      <a:solidFill>
                        <a:srgbClr val="F5DBF1"/>
                      </a:solidFill>
                      <a:ln w="38100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10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4" name="TextBox 37"/>
          <p:cNvSpPr txBox="1">
            <a:spLocks noChangeArrowheads="1"/>
          </p:cNvSpPr>
          <p:nvPr/>
        </p:nvSpPr>
        <p:spPr bwMode="auto">
          <a:xfrm>
            <a:off x="709290" y="1510095"/>
            <a:ext cx="67185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真实比热容、平均比热容和定值比热容</a:t>
            </a:r>
          </a:p>
        </p:txBody>
      </p:sp>
      <p:sp>
        <p:nvSpPr>
          <p:cNvPr id="25" name="矩形 24"/>
          <p:cNvSpPr/>
          <p:nvPr/>
        </p:nvSpPr>
        <p:spPr>
          <a:xfrm>
            <a:off x="47526" y="1522115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3.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95738" y="2780928"/>
            <a:ext cx="91053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(1)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真实比热容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（实验拟合多项式，精确，但计算繁琐） </a:t>
            </a:r>
          </a:p>
        </p:txBody>
      </p:sp>
      <p:graphicFrame>
        <p:nvGraphicFramePr>
          <p:cNvPr id="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08655"/>
              </p:ext>
            </p:extLst>
          </p:nvPr>
        </p:nvGraphicFramePr>
        <p:xfrm>
          <a:off x="467544" y="4371501"/>
          <a:ext cx="5583443" cy="595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0" name="公式" r:id="rId7" imgW="2336800" imgH="254000" progId="Equation.3">
                  <p:embed/>
                </p:oleObj>
              </mc:Choice>
              <mc:Fallback>
                <p:oleObj name="公式" r:id="rId7" imgW="2336800" imgH="254000" progId="Equation.3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371501"/>
                        <a:ext cx="5583443" cy="595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714931"/>
              </p:ext>
            </p:extLst>
          </p:nvPr>
        </p:nvGraphicFramePr>
        <p:xfrm>
          <a:off x="467544" y="3563784"/>
          <a:ext cx="4612341" cy="595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1" name="公式" r:id="rId9" imgW="1930400" imgH="254000" progId="Equation.3">
                  <p:embed/>
                </p:oleObj>
              </mc:Choice>
              <mc:Fallback>
                <p:oleObj name="公式" r:id="rId9" imgW="1930400" imgH="254000" progId="Equation.3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3563784"/>
                        <a:ext cx="4612341" cy="595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716776"/>
              </p:ext>
            </p:extLst>
          </p:nvPr>
        </p:nvGraphicFramePr>
        <p:xfrm>
          <a:off x="571472" y="5157192"/>
          <a:ext cx="1934359" cy="770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2" name="公式" r:id="rId11" imgW="812447" imgH="330057" progId="Equation.3">
                  <p:embed/>
                </p:oleObj>
              </mc:Choice>
              <mc:Fallback>
                <p:oleObj name="公式" r:id="rId11" imgW="812447" imgH="330057" progId="Equation.3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5157192"/>
                        <a:ext cx="1934359" cy="770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508457"/>
              </p:ext>
            </p:extLst>
          </p:nvPr>
        </p:nvGraphicFramePr>
        <p:xfrm>
          <a:off x="3242817" y="5157192"/>
          <a:ext cx="1931222" cy="77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3" name="公式" r:id="rId13" imgW="812447" imgH="330057" progId="Equation.3">
                  <p:embed/>
                </p:oleObj>
              </mc:Choice>
              <mc:Fallback>
                <p:oleObj name="公式" r:id="rId13" imgW="812447" imgH="330057" progId="Equation.3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2817" y="5157192"/>
                        <a:ext cx="1931222" cy="771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Picture 1043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035204" y="3639485"/>
            <a:ext cx="2785268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619026" y="2204864"/>
            <a:ext cx="7571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同种气体在不同温度时的比热容不同，即与温度有关。</a:t>
            </a:r>
            <a:endParaRPr lang="zh-CN" altLang="en-US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11</a:t>
            </a:r>
            <a:endParaRPr lang="zh-CN" altLang="en-US" sz="2000" b="1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1472" y="142852"/>
            <a:ext cx="2848400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107504" y="1393612"/>
            <a:ext cx="515557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(2)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平均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比热容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（精确，简便） </a:t>
            </a:r>
          </a:p>
        </p:txBody>
      </p:sp>
      <p:graphicFrame>
        <p:nvGraphicFramePr>
          <p:cNvPr id="34" name="Object 10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348779"/>
              </p:ext>
            </p:extLst>
          </p:nvPr>
        </p:nvGraphicFramePr>
        <p:xfrm>
          <a:off x="2483768" y="2348880"/>
          <a:ext cx="2016224" cy="1120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3" name="公式" r:id="rId7" imgW="774364" imgH="431613" progId="Equation.3">
                  <p:embed/>
                </p:oleObj>
              </mc:Choice>
              <mc:Fallback>
                <p:oleObj name="公式" r:id="rId7" imgW="774364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348880"/>
                        <a:ext cx="2016224" cy="1120624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1038"/>
          <p:cNvSpPr>
            <a:spLocks noChangeArrowheads="1"/>
          </p:cNvSpPr>
          <p:nvPr/>
        </p:nvSpPr>
        <p:spPr bwMode="auto">
          <a:xfrm>
            <a:off x="857035" y="2632271"/>
            <a:ext cx="11226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定义：</a:t>
            </a:r>
          </a:p>
        </p:txBody>
      </p:sp>
      <p:graphicFrame>
        <p:nvGraphicFramePr>
          <p:cNvPr id="36" name="Object 4"/>
          <p:cNvGraphicFramePr>
            <a:graphicFrameLocks noChangeAspect="1"/>
          </p:cNvGraphicFramePr>
          <p:nvPr/>
        </p:nvGraphicFramePr>
        <p:xfrm>
          <a:off x="1835696" y="3645024"/>
          <a:ext cx="36576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4" name="公式" r:id="rId9" imgW="1562100" imgH="355600" progId="Equation.3">
                  <p:embed/>
                </p:oleObj>
              </mc:Choice>
              <mc:Fallback>
                <p:oleObj name="公式" r:id="rId9" imgW="15621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645024"/>
                        <a:ext cx="3657600" cy="83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827584" y="3819649"/>
            <a:ext cx="541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由</a:t>
            </a:r>
          </a:p>
        </p:txBody>
      </p:sp>
      <p:sp>
        <p:nvSpPr>
          <p:cNvPr id="38" name="Rectangle 8"/>
          <p:cNvSpPr>
            <a:spLocks noChangeArrowheads="1"/>
          </p:cNvSpPr>
          <p:nvPr/>
        </p:nvSpPr>
        <p:spPr bwMode="auto">
          <a:xfrm>
            <a:off x="930945" y="5068074"/>
            <a:ext cx="11721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可得</a:t>
            </a:r>
            <a:r>
              <a:rPr lang="zh-CN" altLang="en-US" sz="1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315756"/>
              </p:ext>
            </p:extLst>
          </p:nvPr>
        </p:nvGraphicFramePr>
        <p:xfrm>
          <a:off x="2560638" y="4653880"/>
          <a:ext cx="201136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5" name="公式" r:id="rId11" imgW="876300" imgH="571500" progId="Equation.3">
                  <p:embed/>
                </p:oleObj>
              </mc:Choice>
              <mc:Fallback>
                <p:oleObj name="公式" r:id="rId11" imgW="8763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4653880"/>
                        <a:ext cx="2011362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" name="Picture 104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734517" y="2568791"/>
            <a:ext cx="2784958" cy="2372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525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12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539552" y="1700808"/>
            <a:ext cx="106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根据</a:t>
            </a: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626840" y="2977704"/>
            <a:ext cx="1066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推得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923891"/>
              </p:ext>
            </p:extLst>
          </p:nvPr>
        </p:nvGraphicFramePr>
        <p:xfrm>
          <a:off x="2358833" y="2296020"/>
          <a:ext cx="5406765" cy="1565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7" r:id="rId7" imgW="1739900" imgH="508000" progId="">
                  <p:embed/>
                </p:oleObj>
              </mc:Choice>
              <mc:Fallback>
                <p:oleObj r:id="rId7" imgW="1739900" imgH="508000" progId="">
                  <p:embed/>
                  <p:pic>
                    <p:nvPicPr>
                      <p:cNvPr id="0" name="Picture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833" y="2296020"/>
                        <a:ext cx="5406765" cy="1565027"/>
                      </a:xfrm>
                      <a:prstGeom prst="rect">
                        <a:avLst/>
                      </a:prstGeom>
                      <a:solidFill>
                        <a:srgbClr val="EBF1DE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418801"/>
              </p:ext>
            </p:extLst>
          </p:nvPr>
        </p:nvGraphicFramePr>
        <p:xfrm>
          <a:off x="1676400" y="1481975"/>
          <a:ext cx="7072064" cy="81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8" r:id="rId9" imgW="2717800" imgH="317500" progId="">
                  <p:embed/>
                </p:oleObj>
              </mc:Choice>
              <mc:Fallback>
                <p:oleObj r:id="rId9" imgW="2717800" imgH="317500" progId="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481975"/>
                        <a:ext cx="7072064" cy="8176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/>
          <p:nvPr/>
        </p:nvSpPr>
        <p:spPr>
          <a:xfrm>
            <a:off x="467544" y="4005064"/>
            <a:ext cx="8136904" cy="1955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平均比热容也有定压比热容和定容比热容之分，附表 </a:t>
            </a:r>
            <a:r>
              <a:rPr lang="en-US" altLang="zh-CN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列出了几种理想气体的平均定压质量比热容，平均定容质量比热容可由迈耶公式求得。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13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46846" y="1916832"/>
            <a:ext cx="54088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(3) </a:t>
            </a:r>
            <a:r>
              <a:rPr lang="zh-CN" altLang="en-US" sz="28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定值比热容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（比热容近似值）</a:t>
            </a:r>
          </a:p>
        </p:txBody>
      </p:sp>
      <p:sp>
        <p:nvSpPr>
          <p:cNvPr id="34" name="矩形 33"/>
          <p:cNvSpPr/>
          <p:nvPr/>
        </p:nvSpPr>
        <p:spPr>
          <a:xfrm>
            <a:off x="440582" y="2708920"/>
            <a:ext cx="8208912" cy="2678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当忽略温度的影响时，可将比热容视为定值。定值比热容只用于一般的理论推导、定性分析、或对精度要求不高的场合。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定值比热容的获得有以下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种方法。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14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6" name="矩形 35"/>
          <p:cNvSpPr/>
          <p:nvPr/>
        </p:nvSpPr>
        <p:spPr>
          <a:xfrm>
            <a:off x="475556" y="3845947"/>
            <a:ext cx="8208912" cy="20313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根据分子运动论按原子数估算（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P36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表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3.1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），只能在低温范围内使用，温度愈高，误差愈大，而且多原子气体的误差大于单原子气体。</a:t>
            </a:r>
          </a:p>
        </p:txBody>
      </p: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1682750" y="480995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0" name="Rectangle 17"/>
          <p:cNvSpPr>
            <a:spLocks noChangeArrowheads="1"/>
          </p:cNvSpPr>
          <p:nvPr/>
        </p:nvSpPr>
        <p:spPr bwMode="auto">
          <a:xfrm>
            <a:off x="1682750" y="480995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1" name="Rectangle 19"/>
          <p:cNvSpPr>
            <a:spLocks noChangeArrowheads="1"/>
          </p:cNvSpPr>
          <p:nvPr/>
        </p:nvSpPr>
        <p:spPr bwMode="auto">
          <a:xfrm>
            <a:off x="1682750" y="480995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2" name="Rectangle 20"/>
          <p:cNvSpPr>
            <a:spLocks noChangeArrowheads="1"/>
          </p:cNvSpPr>
          <p:nvPr/>
        </p:nvSpPr>
        <p:spPr bwMode="auto">
          <a:xfrm>
            <a:off x="1682750" y="480995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3" name="Rectangle 22"/>
          <p:cNvSpPr>
            <a:spLocks noChangeArrowheads="1"/>
          </p:cNvSpPr>
          <p:nvPr/>
        </p:nvSpPr>
        <p:spPr bwMode="auto">
          <a:xfrm>
            <a:off x="1682750" y="480995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4" name="Rectangle 23"/>
          <p:cNvSpPr>
            <a:spLocks noChangeArrowheads="1"/>
          </p:cNvSpPr>
          <p:nvPr/>
        </p:nvSpPr>
        <p:spPr bwMode="auto">
          <a:xfrm>
            <a:off x="1682750" y="480995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6" name="Rectangle 90"/>
          <p:cNvSpPr>
            <a:spLocks noChangeArrowheads="1"/>
          </p:cNvSpPr>
          <p:nvPr/>
        </p:nvSpPr>
        <p:spPr bwMode="auto">
          <a:xfrm>
            <a:off x="1962150" y="485122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" name="Rectangle 91"/>
          <p:cNvSpPr>
            <a:spLocks noChangeArrowheads="1"/>
          </p:cNvSpPr>
          <p:nvPr/>
        </p:nvSpPr>
        <p:spPr bwMode="auto">
          <a:xfrm>
            <a:off x="1962150" y="485122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" name="Rectangle 93"/>
          <p:cNvSpPr>
            <a:spLocks noChangeArrowheads="1"/>
          </p:cNvSpPr>
          <p:nvPr/>
        </p:nvSpPr>
        <p:spPr bwMode="auto">
          <a:xfrm>
            <a:off x="1962150" y="485122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" name="Rectangle 94"/>
          <p:cNvSpPr>
            <a:spLocks noChangeArrowheads="1"/>
          </p:cNvSpPr>
          <p:nvPr/>
        </p:nvSpPr>
        <p:spPr bwMode="auto">
          <a:xfrm>
            <a:off x="1962150" y="485122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0" name="Rectangle 96"/>
          <p:cNvSpPr>
            <a:spLocks noChangeArrowheads="1"/>
          </p:cNvSpPr>
          <p:nvPr/>
        </p:nvSpPr>
        <p:spPr bwMode="auto">
          <a:xfrm>
            <a:off x="1962150" y="485122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" name="Rectangle 97"/>
          <p:cNvSpPr>
            <a:spLocks noChangeArrowheads="1"/>
          </p:cNvSpPr>
          <p:nvPr/>
        </p:nvSpPr>
        <p:spPr bwMode="auto">
          <a:xfrm>
            <a:off x="1962150" y="485122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494216" y="1556574"/>
            <a:ext cx="8208912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取常温下的比热值作为定值比热容，用于常温下温度变化范围较小的情况（附表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</a:t>
            </a:r>
            <a:r>
              <a:rPr lang="en-US" altLang="zh-CN" sz="2800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300K 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时的定值比热容）；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919797"/>
              </p:ext>
            </p:extLst>
          </p:nvPr>
        </p:nvGraphicFramePr>
        <p:xfrm>
          <a:off x="304800" y="2774032"/>
          <a:ext cx="8458200" cy="2743200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比热容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单原子气体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双原子气体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多原子气体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0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8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71480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15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graphicFrame>
        <p:nvGraphicFramePr>
          <p:cNvPr id="3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845481"/>
              </p:ext>
            </p:extLst>
          </p:nvPr>
        </p:nvGraphicFramePr>
        <p:xfrm>
          <a:off x="2819400" y="3512617"/>
          <a:ext cx="14478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1" name="公式" r:id="rId7" imgW="736600" imgH="431800" progId="Equation.3">
                  <p:embed/>
                </p:oleObj>
              </mc:Choice>
              <mc:Fallback>
                <p:oleObj name="公式" r:id="rId7" imgW="736600" imgH="431800" progId="Equation.3">
                  <p:embed/>
                  <p:pic>
                    <p:nvPicPr>
                      <p:cNvPr id="0" name="Picture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12617"/>
                        <a:ext cx="1447800" cy="852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318751"/>
              </p:ext>
            </p:extLst>
          </p:nvPr>
        </p:nvGraphicFramePr>
        <p:xfrm>
          <a:off x="5035550" y="3507995"/>
          <a:ext cx="1309467" cy="785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2" name="公式" r:id="rId9" imgW="660113" imgH="393529" progId="Equation.3">
                  <p:embed/>
                </p:oleObj>
              </mc:Choice>
              <mc:Fallback>
                <p:oleObj name="公式" r:id="rId9" imgW="660113" imgH="393529" progId="Equation.3">
                  <p:embed/>
                  <p:pic>
                    <p:nvPicPr>
                      <p:cNvPr id="0" name="Picture 2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3507995"/>
                        <a:ext cx="1309467" cy="7851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858576"/>
              </p:ext>
            </p:extLst>
          </p:nvPr>
        </p:nvGraphicFramePr>
        <p:xfrm>
          <a:off x="2743200" y="4476278"/>
          <a:ext cx="152400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3" name="公式" r:id="rId11" imgW="736600" imgH="431800" progId="Equation.3">
                  <p:embed/>
                </p:oleObj>
              </mc:Choice>
              <mc:Fallback>
                <p:oleObj name="公式" r:id="rId11" imgW="736600" imgH="431800" progId="Equation.3">
                  <p:embed/>
                  <p:pic>
                    <p:nvPicPr>
                      <p:cNvPr id="0" name="Picture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76278"/>
                        <a:ext cx="1524000" cy="896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833357"/>
              </p:ext>
            </p:extLst>
          </p:nvPr>
        </p:nvGraphicFramePr>
        <p:xfrm>
          <a:off x="7058025" y="3481883"/>
          <a:ext cx="14287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4" name="公式" r:id="rId13" imgW="660113" imgH="393529" progId="Equation.3">
                  <p:embed/>
                </p:oleObj>
              </mc:Choice>
              <mc:Fallback>
                <p:oleObj name="公式" r:id="rId13" imgW="660113" imgH="393529" progId="Equation.3">
                  <p:embed/>
                  <p:pic>
                    <p:nvPicPr>
                      <p:cNvPr id="0" name="Picture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5" y="3481883"/>
                        <a:ext cx="1428750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596190"/>
              </p:ext>
            </p:extLst>
          </p:nvPr>
        </p:nvGraphicFramePr>
        <p:xfrm>
          <a:off x="5070475" y="4485233"/>
          <a:ext cx="136366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5" name="公式" r:id="rId15" imgW="660113" imgH="393529" progId="Equation.3">
                  <p:embed/>
                </p:oleObj>
              </mc:Choice>
              <mc:Fallback>
                <p:oleObj name="公式" r:id="rId15" imgW="660113" imgH="393529" progId="Equation.3">
                  <p:embed/>
                  <p:pic>
                    <p:nvPicPr>
                      <p:cNvPr id="0" name="Picture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4485233"/>
                        <a:ext cx="1363663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10"/>
          <p:cNvSpPr>
            <a:spLocks noChangeArrowheads="1"/>
          </p:cNvSpPr>
          <p:nvPr/>
        </p:nvSpPr>
        <p:spPr bwMode="auto">
          <a:xfrm>
            <a:off x="852488" y="1942629"/>
            <a:ext cx="75755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表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3.1 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理想气体的近似定值摩尔（质量）比热容</a:t>
            </a:r>
          </a:p>
        </p:txBody>
      </p:sp>
      <p:sp>
        <p:nvSpPr>
          <p:cNvPr id="53" name="Rectangle 16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4" name="Rectangle 17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5" name="Rectangle 19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6" name="Rectangle 20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7" name="Rectangle 22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8" name="Rectangle 23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0" name="Rectangle 90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" name="Rectangle 91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2" name="Rectangle 93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" name="Rectangle 94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" name="Rectangle 96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" name="Rectangle 97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901178"/>
              </p:ext>
            </p:extLst>
          </p:nvPr>
        </p:nvGraphicFramePr>
        <p:xfrm>
          <a:off x="7020272" y="4476279"/>
          <a:ext cx="15240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6" name="公式" r:id="rId17" imgW="736600" imgH="431800" progId="Equation.3">
                  <p:embed/>
                </p:oleObj>
              </mc:Choice>
              <mc:Fallback>
                <p:oleObj name="公式" r:id="rId17" imgW="736600" imgH="431800" progId="Equation.3">
                  <p:embed/>
                  <p:pic>
                    <p:nvPicPr>
                      <p:cNvPr id="0" name="Picture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4476279"/>
                        <a:ext cx="1524000" cy="896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16</a:t>
            </a:r>
            <a:endParaRPr lang="zh-CN" altLang="en-US" sz="2000" b="1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1472" y="142852"/>
            <a:ext cx="2488360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1405582"/>
            <a:ext cx="7072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4F81BD">
                    <a:lumMod val="75000"/>
                  </a:srgb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3-3 </a:t>
            </a:r>
            <a:r>
              <a:rPr lang="zh-CN" altLang="en-US" sz="2800" b="1" dirty="0">
                <a:solidFill>
                  <a:srgbClr val="4F81BD">
                    <a:lumMod val="75000"/>
                  </a:srgb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理想气体热力学能、焓和熵的增量计算</a:t>
            </a: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53" name="Rectangle 16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4" name="Rectangle 17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5" name="Rectangle 19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6" name="Rectangle 20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7" name="Rectangle 22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8" name="Rectangle 23"/>
          <p:cNvSpPr>
            <a:spLocks noChangeArrowheads="1"/>
          </p:cNvSpPr>
          <p:nvPr/>
        </p:nvSpPr>
        <p:spPr bwMode="auto">
          <a:xfrm>
            <a:off x="1682750" y="336979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0" name="Rectangle 90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1" name="Rectangle 91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2" name="Rectangle 93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3" name="Rectangle 94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4" name="Rectangle 96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5" name="Rectangle 97"/>
          <p:cNvSpPr>
            <a:spLocks noChangeArrowheads="1"/>
          </p:cNvSpPr>
          <p:nvPr/>
        </p:nvSpPr>
        <p:spPr bwMode="auto">
          <a:xfrm>
            <a:off x="1962150" y="341106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782410" y="2000240"/>
            <a:ext cx="1832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热力学能</a:t>
            </a:r>
          </a:p>
        </p:txBody>
      </p:sp>
      <p:sp>
        <p:nvSpPr>
          <p:cNvPr id="39" name="矩形 38"/>
          <p:cNvSpPr/>
          <p:nvPr/>
        </p:nvSpPr>
        <p:spPr>
          <a:xfrm>
            <a:off x="142848" y="2033581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1.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853844" y="2707780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由热</a:t>
            </a:r>
            <a:r>
              <a:rPr lang="en-US" altLang="zh-CN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Ⅰ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导得</a:t>
            </a:r>
          </a:p>
        </p:txBody>
      </p:sp>
      <p:graphicFrame>
        <p:nvGraphicFramePr>
          <p:cNvPr id="4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295176"/>
              </p:ext>
            </p:extLst>
          </p:nvPr>
        </p:nvGraphicFramePr>
        <p:xfrm>
          <a:off x="3183632" y="2707780"/>
          <a:ext cx="16764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6" name="公式" r:id="rId7" imgW="672808" imgH="228501" progId="Equation.3">
                  <p:embed/>
                </p:oleObj>
              </mc:Choice>
              <mc:Fallback>
                <p:oleObj name="公式" r:id="rId7" imgW="67280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632" y="2707780"/>
                        <a:ext cx="167640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357474"/>
              </p:ext>
            </p:extLst>
          </p:nvPr>
        </p:nvGraphicFramePr>
        <p:xfrm>
          <a:off x="5283000" y="2564904"/>
          <a:ext cx="19812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7" name="公式" r:id="rId9" imgW="825500" imgH="330200" progId="Equation.3">
                  <p:embed/>
                </p:oleObj>
              </mc:Choice>
              <mc:Fallback>
                <p:oleObj name="公式" r:id="rId9" imgW="8255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000" y="2564904"/>
                        <a:ext cx="1981200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131924"/>
              </p:ext>
            </p:extLst>
          </p:nvPr>
        </p:nvGraphicFramePr>
        <p:xfrm>
          <a:off x="3929058" y="4760931"/>
          <a:ext cx="35845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8" name="公式" r:id="rId11" imgW="1548728" imgH="241195" progId="Equation.3">
                  <p:embed/>
                </p:oleObj>
              </mc:Choice>
              <mc:Fallback>
                <p:oleObj name="公式" r:id="rId11" imgW="1548728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58" y="4760931"/>
                        <a:ext cx="3584575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944448"/>
              </p:ext>
            </p:extLst>
          </p:nvPr>
        </p:nvGraphicFramePr>
        <p:xfrm>
          <a:off x="2765996" y="5308618"/>
          <a:ext cx="18780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9" name="公式" r:id="rId13" imgW="825500" imgH="330200" progId="Equation.3">
                  <p:embed/>
                </p:oleObj>
              </mc:Choice>
              <mc:Fallback>
                <p:oleObj name="公式" r:id="rId13" imgW="8255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996" y="5308618"/>
                        <a:ext cx="1878012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42"/>
          <p:cNvSpPr>
            <a:spLocks noChangeArrowheads="1"/>
          </p:cNvSpPr>
          <p:nvPr/>
        </p:nvSpPr>
        <p:spPr bwMode="auto">
          <a:xfrm>
            <a:off x="853844" y="3429000"/>
            <a:ext cx="59554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如取定值比热或平均比热可简化为：</a:t>
            </a:r>
          </a:p>
        </p:txBody>
      </p:sp>
      <p:graphicFrame>
        <p:nvGraphicFramePr>
          <p:cNvPr id="50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559718"/>
              </p:ext>
            </p:extLst>
          </p:nvPr>
        </p:nvGraphicFramePr>
        <p:xfrm>
          <a:off x="6643702" y="3493598"/>
          <a:ext cx="17684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20" name="公式" r:id="rId15" imgW="711200" imgH="228600" progId="Equation.3">
                  <p:embed/>
                </p:oleObj>
              </mc:Choice>
              <mc:Fallback>
                <p:oleObj name="公式" r:id="rId15" imgW="711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702" y="3493598"/>
                        <a:ext cx="176847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43"/>
          <p:cNvSpPr>
            <a:spLocks noChangeArrowheads="1"/>
          </p:cNvSpPr>
          <p:nvPr/>
        </p:nvSpPr>
        <p:spPr bwMode="auto">
          <a:xfrm>
            <a:off x="857224" y="5380626"/>
            <a:ext cx="18133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同理</a:t>
            </a:r>
            <a:r>
              <a:rPr lang="en-US" altLang="zh-CN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有：</a:t>
            </a:r>
          </a:p>
        </p:txBody>
      </p:sp>
      <p:graphicFrame>
        <p:nvGraphicFramePr>
          <p:cNvPr id="5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713973"/>
              </p:ext>
            </p:extLst>
          </p:nvPr>
        </p:nvGraphicFramePr>
        <p:xfrm>
          <a:off x="5055840" y="5436104"/>
          <a:ext cx="1676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21" name="公式" r:id="rId17" imgW="698500" imgH="241300" progId="Equation.3">
                  <p:embed/>
                </p:oleObj>
              </mc:Choice>
              <mc:Fallback>
                <p:oleObj name="公式" r:id="rId17" imgW="6985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5840" y="5436104"/>
                        <a:ext cx="16764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853844" y="4116879"/>
            <a:ext cx="8289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焓</a:t>
            </a:r>
          </a:p>
        </p:txBody>
      </p:sp>
      <p:sp>
        <p:nvSpPr>
          <p:cNvPr id="67" name="矩形 66"/>
          <p:cNvSpPr/>
          <p:nvPr/>
        </p:nvSpPr>
        <p:spPr>
          <a:xfrm>
            <a:off x="214282" y="4150220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2.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68" name="Rectangle 7"/>
          <p:cNvSpPr>
            <a:spLocks noChangeArrowheads="1"/>
          </p:cNvSpPr>
          <p:nvPr/>
        </p:nvSpPr>
        <p:spPr bwMode="auto">
          <a:xfrm>
            <a:off x="857224" y="4721724"/>
            <a:ext cx="2709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同样由热</a:t>
            </a:r>
            <a:r>
              <a:rPr lang="en-US" altLang="zh-CN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Ⅰ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导得</a:t>
            </a:r>
          </a:p>
        </p:txBody>
      </p:sp>
    </p:spTree>
    <p:extLst>
      <p:ext uri="{BB962C8B-B14F-4D97-AF65-F5344CB8AC3E}">
        <p14:creationId xmlns:p14="http://schemas.microsoft.com/office/powerpoint/2010/main" val="61642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animBg="1"/>
      <p:bldP spid="41" grpId="0"/>
      <p:bldP spid="49" grpId="0"/>
      <p:bldP spid="51" grpId="0"/>
      <p:bldP spid="66" grpId="0"/>
      <p:bldP spid="67" grpId="0" animBg="1"/>
      <p:bldP spid="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17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53" name="Rectangle 16"/>
          <p:cNvSpPr>
            <a:spLocks noChangeArrowheads="1"/>
          </p:cNvSpPr>
          <p:nvPr/>
        </p:nvSpPr>
        <p:spPr bwMode="auto">
          <a:xfrm>
            <a:off x="1682750" y="301260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4" name="Rectangle 17"/>
          <p:cNvSpPr>
            <a:spLocks noChangeArrowheads="1"/>
          </p:cNvSpPr>
          <p:nvPr/>
        </p:nvSpPr>
        <p:spPr bwMode="auto">
          <a:xfrm>
            <a:off x="1682750" y="301260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5" name="Rectangle 19"/>
          <p:cNvSpPr>
            <a:spLocks noChangeArrowheads="1"/>
          </p:cNvSpPr>
          <p:nvPr/>
        </p:nvSpPr>
        <p:spPr bwMode="auto">
          <a:xfrm>
            <a:off x="1682750" y="301260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6" name="Rectangle 20"/>
          <p:cNvSpPr>
            <a:spLocks noChangeArrowheads="1"/>
          </p:cNvSpPr>
          <p:nvPr/>
        </p:nvSpPr>
        <p:spPr bwMode="auto">
          <a:xfrm>
            <a:off x="1682750" y="301260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7" name="Rectangle 22"/>
          <p:cNvSpPr>
            <a:spLocks noChangeArrowheads="1"/>
          </p:cNvSpPr>
          <p:nvPr/>
        </p:nvSpPr>
        <p:spPr bwMode="auto">
          <a:xfrm>
            <a:off x="1682750" y="301260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8" name="Rectangle 23"/>
          <p:cNvSpPr>
            <a:spLocks noChangeArrowheads="1"/>
          </p:cNvSpPr>
          <p:nvPr/>
        </p:nvSpPr>
        <p:spPr bwMode="auto">
          <a:xfrm>
            <a:off x="1682750" y="3012601"/>
            <a:ext cx="12287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0" name="Rectangle 90"/>
          <p:cNvSpPr>
            <a:spLocks noChangeArrowheads="1"/>
          </p:cNvSpPr>
          <p:nvPr/>
        </p:nvSpPr>
        <p:spPr bwMode="auto">
          <a:xfrm>
            <a:off x="1962150" y="305387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" name="Rectangle 91"/>
          <p:cNvSpPr>
            <a:spLocks noChangeArrowheads="1"/>
          </p:cNvSpPr>
          <p:nvPr/>
        </p:nvSpPr>
        <p:spPr bwMode="auto">
          <a:xfrm>
            <a:off x="1962150" y="305387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2" name="Rectangle 93"/>
          <p:cNvSpPr>
            <a:spLocks noChangeArrowheads="1"/>
          </p:cNvSpPr>
          <p:nvPr/>
        </p:nvSpPr>
        <p:spPr bwMode="auto">
          <a:xfrm>
            <a:off x="1962150" y="305387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" name="Rectangle 94"/>
          <p:cNvSpPr>
            <a:spLocks noChangeArrowheads="1"/>
          </p:cNvSpPr>
          <p:nvPr/>
        </p:nvSpPr>
        <p:spPr bwMode="auto">
          <a:xfrm>
            <a:off x="1962150" y="305387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" name="Rectangle 96"/>
          <p:cNvSpPr>
            <a:spLocks noChangeArrowheads="1"/>
          </p:cNvSpPr>
          <p:nvPr/>
        </p:nvSpPr>
        <p:spPr bwMode="auto">
          <a:xfrm>
            <a:off x="1962150" y="305387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" name="Rectangle 97"/>
          <p:cNvSpPr>
            <a:spLocks noChangeArrowheads="1"/>
          </p:cNvSpPr>
          <p:nvPr/>
        </p:nvSpPr>
        <p:spPr bwMode="auto">
          <a:xfrm>
            <a:off x="1962150" y="3053876"/>
            <a:ext cx="13049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949792" y="2204864"/>
            <a:ext cx="621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熵</a:t>
            </a:r>
          </a:p>
        </p:txBody>
      </p:sp>
      <p:sp>
        <p:nvSpPr>
          <p:cNvPr id="67" name="矩形 66"/>
          <p:cNvSpPr/>
          <p:nvPr/>
        </p:nvSpPr>
        <p:spPr>
          <a:xfrm>
            <a:off x="310230" y="2238205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3.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45" name="Rectangle 14"/>
          <p:cNvSpPr>
            <a:spLocks noChangeArrowheads="1"/>
          </p:cNvSpPr>
          <p:nvPr/>
        </p:nvSpPr>
        <p:spPr bwMode="auto">
          <a:xfrm>
            <a:off x="816768" y="1484784"/>
            <a:ext cx="75120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结论：理想气体的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</a:rPr>
              <a:t>u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</a:rPr>
              <a:t>、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</a:rPr>
              <a:t>h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均是温度的单值函数。</a:t>
            </a:r>
          </a:p>
        </p:txBody>
      </p:sp>
      <p:sp>
        <p:nvSpPr>
          <p:cNvPr id="59" name="Rectangle 5"/>
          <p:cNvSpPr>
            <a:spLocks noChangeArrowheads="1"/>
          </p:cNvSpPr>
          <p:nvPr/>
        </p:nvSpPr>
        <p:spPr bwMode="auto">
          <a:xfrm>
            <a:off x="829510" y="4131504"/>
            <a:ext cx="208438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由可逆过程</a:t>
            </a:r>
          </a:p>
        </p:txBody>
      </p:sp>
      <p:graphicFrame>
        <p:nvGraphicFramePr>
          <p:cNvPr id="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700867"/>
              </p:ext>
            </p:extLst>
          </p:nvPr>
        </p:nvGraphicFramePr>
        <p:xfrm>
          <a:off x="2847232" y="2278882"/>
          <a:ext cx="3265487" cy="366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6" name="Document" r:id="rId7" imgW="2108046" imgH="2372408" progId="Word.Document.8">
                  <p:embed/>
                </p:oleObj>
              </mc:Choice>
              <mc:Fallback>
                <p:oleObj name="Document" r:id="rId7" imgW="2108046" imgH="2372408" progId="Word.Document.8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232" y="2278882"/>
                        <a:ext cx="3265487" cy="3668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右箭头 70"/>
          <p:cNvSpPr/>
          <p:nvPr/>
        </p:nvSpPr>
        <p:spPr>
          <a:xfrm>
            <a:off x="6414357" y="3988628"/>
            <a:ext cx="1143008" cy="571504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 animBg="1"/>
      <p:bldP spid="59" grpId="0"/>
      <p:bldP spid="7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18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graphicFrame>
        <p:nvGraphicFramePr>
          <p:cNvPr id="13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749748"/>
              </p:ext>
            </p:extLst>
          </p:nvPr>
        </p:nvGraphicFramePr>
        <p:xfrm>
          <a:off x="2420467" y="2319853"/>
          <a:ext cx="2871613" cy="101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6" name="文档" r:id="rId7" imgW="1627649" imgH="587265" progId="Word.Document.8">
                  <p:embed/>
                </p:oleObj>
              </mc:Choice>
              <mc:Fallback>
                <p:oleObj name="文档" r:id="rId7" imgW="1627649" imgH="587265" progId="Word.Document.8">
                  <p:embed/>
                  <p:pic>
                    <p:nvPicPr>
                      <p:cNvPr id="0" name="Picture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467" y="2319853"/>
                        <a:ext cx="2871613" cy="1013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056829"/>
              </p:ext>
            </p:extLst>
          </p:nvPr>
        </p:nvGraphicFramePr>
        <p:xfrm>
          <a:off x="2411760" y="1268760"/>
          <a:ext cx="2825551" cy="111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7" name="Document" r:id="rId9" imgW="1400411" imgH="570789" progId="Word.Document.8">
                  <p:embed/>
                </p:oleObj>
              </mc:Choice>
              <mc:Fallback>
                <p:oleObj name="Document" r:id="rId9" imgW="1400411" imgH="570789" progId="Word.Document.8">
                  <p:embed/>
                  <p:pic>
                    <p:nvPicPr>
                      <p:cNvPr id="0" name="Picture 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268760"/>
                        <a:ext cx="2825551" cy="111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03632"/>
              </p:ext>
            </p:extLst>
          </p:nvPr>
        </p:nvGraphicFramePr>
        <p:xfrm>
          <a:off x="2571736" y="5022296"/>
          <a:ext cx="2864360" cy="1060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8" name="公式" r:id="rId11" imgW="1143000" imgH="419100" progId="Equation.3">
                  <p:embed/>
                </p:oleObj>
              </mc:Choice>
              <mc:Fallback>
                <p:oleObj name="公式" r:id="rId11" imgW="1143000" imgH="419100" progId="Equation.3">
                  <p:embed/>
                  <p:pic>
                    <p:nvPicPr>
                      <p:cNvPr id="0" name="Picture 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5022296"/>
                        <a:ext cx="2864360" cy="10608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695768" y="1484784"/>
            <a:ext cx="7280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latin typeface="+mn-ea"/>
                <a:cs typeface="Times New Roman"/>
              </a:rPr>
              <a:t>(1)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741732" y="2564904"/>
            <a:ext cx="7280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latin typeface="+mn-ea"/>
                <a:cs typeface="Times New Roman"/>
              </a:rPr>
              <a:t>(2)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96244" y="5301208"/>
            <a:ext cx="7280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latin typeface="+mn-ea"/>
                <a:cs typeface="Times New Roman"/>
              </a:rPr>
              <a:t>(3)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698551"/>
              </p:ext>
            </p:extLst>
          </p:nvPr>
        </p:nvGraphicFramePr>
        <p:xfrm>
          <a:off x="2348458" y="3356992"/>
          <a:ext cx="4237038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9" name="Document" r:id="rId13" imgW="2853729" imgH="782807" progId="Word.Document.8">
                  <p:embed/>
                </p:oleObj>
              </mc:Choice>
              <mc:Fallback>
                <p:oleObj name="Document" r:id="rId13" imgW="2853729" imgH="782807" progId="Word.Document.8">
                  <p:embed/>
                  <p:pic>
                    <p:nvPicPr>
                      <p:cNvPr id="0" name="Picture 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8458" y="3356992"/>
                        <a:ext cx="4237038" cy="113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827584" y="3544550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将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27584" y="4391526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代入上面</a:t>
            </a: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任一式，</a:t>
            </a: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得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6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19</a:t>
            </a:r>
            <a:endParaRPr lang="zh-CN" altLang="en-US" sz="2000" b="1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395536" y="1482730"/>
            <a:ext cx="82539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当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c</a:t>
            </a:r>
            <a:r>
              <a:rPr lang="en-US" altLang="zh-CN" sz="2800" b="1" i="1" baseline="-30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、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c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V</a:t>
            </a:r>
            <a:r>
              <a:rPr lang="en-US" altLang="zh-CN" sz="2800" b="1" i="1" baseline="-3000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取定值时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由前面（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）～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(3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）式积分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有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：</a:t>
            </a:r>
          </a:p>
        </p:txBody>
      </p:sp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685800" y="5358160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以上各式使用条件：理想气体、任何过程。</a:t>
            </a:r>
          </a:p>
        </p:txBody>
      </p:sp>
      <p:graphicFrame>
        <p:nvGraphicFramePr>
          <p:cNvPr id="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960518"/>
              </p:ext>
            </p:extLst>
          </p:nvPr>
        </p:nvGraphicFramePr>
        <p:xfrm>
          <a:off x="2064310" y="2088044"/>
          <a:ext cx="4264223" cy="3564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5" name="Document" r:id="rId7" imgW="3156413" imgH="2790483" progId="Word.Document.8">
                  <p:embed/>
                </p:oleObj>
              </mc:Choice>
              <mc:Fallback>
                <p:oleObj name="Document" r:id="rId7" imgW="3156413" imgH="2790483" progId="Word.Document.8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310" y="2088044"/>
                        <a:ext cx="4264223" cy="35641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  <p:extLst>
      <p:ext uri="{BB962C8B-B14F-4D97-AF65-F5344CB8AC3E}">
        <p14:creationId xmlns:p14="http://schemas.microsoft.com/office/powerpoint/2010/main" val="31281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20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071538" y="3477284"/>
            <a:ext cx="45005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混合气体的分压力和分容积</a:t>
            </a:r>
          </a:p>
        </p:txBody>
      </p:sp>
      <p:sp>
        <p:nvSpPr>
          <p:cNvPr id="30" name="矩形 29"/>
          <p:cNvSpPr/>
          <p:nvPr/>
        </p:nvSpPr>
        <p:spPr>
          <a:xfrm>
            <a:off x="357162" y="3533779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1.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0" y="1285860"/>
            <a:ext cx="7072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3-4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理想气体混合物</a:t>
            </a:r>
          </a:p>
        </p:txBody>
      </p:sp>
      <p:sp>
        <p:nvSpPr>
          <p:cNvPr id="32" name="矩形 31"/>
          <p:cNvSpPr/>
          <p:nvPr/>
        </p:nvSpPr>
        <p:spPr>
          <a:xfrm>
            <a:off x="685001" y="1928802"/>
            <a:ext cx="78581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种或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种以上理想气体的</a:t>
            </a:r>
            <a:r>
              <a:rPr lang="zh-CN" altLang="en-US" sz="2800" u="sng" dirty="0">
                <a:latin typeface="微软雅黑" pitchFamily="34" charset="-122"/>
                <a:ea typeface="微软雅黑" pitchFamily="34" charset="-122"/>
              </a:rPr>
              <a:t>机械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混合物，称为理想气体混合物（理想气体的定律均适用）。</a:t>
            </a:r>
          </a:p>
        </p:txBody>
      </p:sp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500034" y="4149080"/>
            <a:ext cx="40783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(1) 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分压力与道尔顿定律</a:t>
            </a:r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848369" y="4786322"/>
            <a:ext cx="7612063" cy="121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分压力 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：在与混合气体具有相同的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80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下，</a:t>
            </a:r>
          </a:p>
          <a:p>
            <a:pPr>
              <a:lnSpc>
                <a:spcPct val="13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             某组分气体单独具有的压力。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 animBg="1"/>
      <p:bldP spid="32" grpId="0"/>
      <p:bldP spid="34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21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pic>
        <p:nvPicPr>
          <p:cNvPr id="22" name="Picture 10" descr="030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405640" y="1700808"/>
            <a:ext cx="601821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897725" y="3212976"/>
            <a:ext cx="8001000" cy="2610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各组分理想气体状态方程为</a:t>
            </a:r>
          </a:p>
          <a:p>
            <a:pPr>
              <a:lnSpc>
                <a:spcPct val="150000"/>
              </a:lnSpc>
            </a:pPr>
            <a:endParaRPr lang="zh-CN" altLang="en-US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将各组分气体的状态方程两侧分别累加</a:t>
            </a:r>
          </a:p>
          <a:p>
            <a:pPr>
              <a:lnSpc>
                <a:spcPct val="150000"/>
              </a:lnSpc>
            </a:pPr>
            <a:endParaRPr lang="zh-CN" altLang="en-US" sz="2800" b="1" dirty="0"/>
          </a:p>
        </p:txBody>
      </p:sp>
      <p:graphicFrame>
        <p:nvGraphicFramePr>
          <p:cNvPr id="2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303516"/>
              </p:ext>
            </p:extLst>
          </p:nvPr>
        </p:nvGraphicFramePr>
        <p:xfrm>
          <a:off x="3340796" y="4027859"/>
          <a:ext cx="16002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2" name="公式" r:id="rId8" imgW="749300" imgH="228600" progId="Equation.3">
                  <p:embed/>
                </p:oleObj>
              </mc:Choice>
              <mc:Fallback>
                <p:oleObj name="公式" r:id="rId8" imgW="749300" imgH="228600" progId="Equation.3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796" y="4027859"/>
                        <a:ext cx="1600200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290541"/>
              </p:ext>
            </p:extLst>
          </p:nvPr>
        </p:nvGraphicFramePr>
        <p:xfrm>
          <a:off x="2934500" y="5287244"/>
          <a:ext cx="26670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3" name="公式" r:id="rId10" imgW="1307532" imgH="266584" progId="Equation.3">
                  <p:embed/>
                </p:oleObj>
              </mc:Choice>
              <mc:Fallback>
                <p:oleObj name="公式" r:id="rId10" imgW="1307532" imgH="266584" progId="Equation.3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500" y="5287244"/>
                        <a:ext cx="26670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22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1" name="矩形 20"/>
          <p:cNvSpPr/>
          <p:nvPr/>
        </p:nvSpPr>
        <p:spPr>
          <a:xfrm>
            <a:off x="767842" y="1547790"/>
            <a:ext cx="785814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由于混合气体中各组分气体的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800" i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相同，所以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于是，道尔顿定律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:  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 =∑p</a:t>
            </a:r>
            <a:r>
              <a:rPr lang="en-US" altLang="zh-CN" sz="2800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endParaRPr lang="en-US" altLang="zh-CN" sz="28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655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497731"/>
              </p:ext>
            </p:extLst>
          </p:nvPr>
        </p:nvGraphicFramePr>
        <p:xfrm>
          <a:off x="2274118" y="2636912"/>
          <a:ext cx="4768801" cy="650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0" name="公式" r:id="rId7" imgW="1930400" imgH="266700" progId="Equation.3">
                  <p:embed/>
                </p:oleObj>
              </mc:Choice>
              <mc:Fallback>
                <p:oleObj name="公式" r:id="rId7" imgW="1930400" imgH="266700" progId="Equation.3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118" y="2636912"/>
                        <a:ext cx="4768801" cy="6502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868312" y="4293096"/>
            <a:ext cx="7650858" cy="130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结论：混合气体的总压力等于各组分气体分压力的总和。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23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557685" y="1196752"/>
            <a:ext cx="40783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(2) 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分容积与亚美格定律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762993" y="1845041"/>
            <a:ext cx="8077200" cy="98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分容积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：在与混合气体具有相同的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i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下，某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组分气体单独占有的容积。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784722" y="4437329"/>
            <a:ext cx="52990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亚美格定律：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 =∑V</a:t>
            </a:r>
            <a:r>
              <a:rPr lang="en-US" altLang="zh-CN" sz="2800" i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endParaRPr lang="en-US" altLang="zh-CN" sz="2800" i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33" name="Picture 10" descr="030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35696" y="3069177"/>
            <a:ext cx="5159375" cy="122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681038" y="5074621"/>
            <a:ext cx="7783509" cy="113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思考题：对某一组分气体，分压力和分容积两个物理量中哪一个属于状态参数？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24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071538" y="1500174"/>
            <a:ext cx="67185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混合气体的成分表示法</a:t>
            </a:r>
          </a:p>
        </p:txBody>
      </p:sp>
      <p:sp>
        <p:nvSpPr>
          <p:cNvPr id="30" name="矩形 29"/>
          <p:cNvSpPr/>
          <p:nvPr/>
        </p:nvSpPr>
        <p:spPr>
          <a:xfrm>
            <a:off x="357162" y="1556669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2.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graphicFrame>
        <p:nvGraphicFramePr>
          <p:cNvPr id="23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484313" y="2313001"/>
          <a:ext cx="4827587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8" name="Document" r:id="rId7" imgW="2696088" imgH="721869" progId="Word.Document.8">
                  <p:embed/>
                </p:oleObj>
              </mc:Choice>
              <mc:Fallback>
                <p:oleObj name="Document" r:id="rId7" imgW="2696088" imgH="721869" progId="Word.Document.8">
                  <p:embed/>
                  <p:pic>
                    <p:nvPicPr>
                      <p:cNvPr id="0" name="Picture 1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313" y="2313001"/>
                        <a:ext cx="4827587" cy="1293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1524000" y="3397258"/>
          <a:ext cx="6005513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9" name="文档" r:id="rId9" imgW="3337566" imgH="692256" progId="Word.Document.8">
                  <p:embed/>
                </p:oleObj>
              </mc:Choice>
              <mc:Fallback>
                <p:oleObj name="文档" r:id="rId9" imgW="3337566" imgH="692256" progId="Word.Document.8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397258"/>
                        <a:ext cx="6005513" cy="1246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/>
          <p:cNvGraphicFramePr>
            <a:graphicFrameLocks noChangeAspect="1"/>
          </p:cNvGraphicFramePr>
          <p:nvPr/>
        </p:nvGraphicFramePr>
        <p:xfrm>
          <a:off x="1554163" y="4345003"/>
          <a:ext cx="4894262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0" name="Document" r:id="rId11" imgW="2733596" imgH="724723" progId="Word.Document.8">
                  <p:embed/>
                </p:oleObj>
              </mc:Choice>
              <mc:Fallback>
                <p:oleObj name="Document" r:id="rId11" imgW="2733596" imgH="724723" progId="Word.Document.8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4345003"/>
                        <a:ext cx="4894262" cy="1298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25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030276" y="1844824"/>
            <a:ext cx="1970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换算关系：</a:t>
            </a:r>
          </a:p>
        </p:txBody>
      </p:sp>
      <p:graphicFrame>
        <p:nvGraphicFramePr>
          <p:cNvPr id="31" name="Object 8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45286585"/>
              </p:ext>
            </p:extLst>
          </p:nvPr>
        </p:nvGraphicFramePr>
        <p:xfrm>
          <a:off x="1392882" y="2104380"/>
          <a:ext cx="7067550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7" name="Document" r:id="rId7" imgW="4019838" imgH="1265615" progId="Word.Document.8">
                  <p:embed/>
                </p:oleObj>
              </mc:Choice>
              <mc:Fallback>
                <p:oleObj name="Document" r:id="rId7" imgW="4019838" imgH="1265615" progId="Word.Document.8">
                  <p:embed/>
                  <p:pic>
                    <p:nvPicPr>
                      <p:cNvPr id="0" name="Picture 16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882" y="2104380"/>
                        <a:ext cx="7067550" cy="221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258835"/>
              </p:ext>
            </p:extLst>
          </p:nvPr>
        </p:nvGraphicFramePr>
        <p:xfrm>
          <a:off x="3429000" y="1844824"/>
          <a:ext cx="990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8" name="公式" r:id="rId9" imgW="431613" imgH="228501" progId="Equation.3">
                  <p:embed/>
                </p:oleObj>
              </mc:Choice>
              <mc:Fallback>
                <p:oleObj name="公式" r:id="rId9" imgW="431613" imgH="228501" progId="Equation.3">
                  <p:embed/>
                  <p:pic>
                    <p:nvPicPr>
                      <p:cNvPr id="0" name="Picture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44824"/>
                        <a:ext cx="9906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2"/>
          <p:cNvSpPr>
            <a:spLocks noChangeArrowheads="1"/>
          </p:cNvSpPr>
          <p:nvPr/>
        </p:nvSpPr>
        <p:spPr bwMode="auto">
          <a:xfrm>
            <a:off x="990580" y="3861048"/>
            <a:ext cx="26844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分压力的确定：</a:t>
            </a:r>
          </a:p>
        </p:txBody>
      </p:sp>
      <p:sp>
        <p:nvSpPr>
          <p:cNvPr id="34" name="Rectangle 3"/>
          <p:cNvSpPr>
            <a:spLocks noChangeArrowheads="1"/>
          </p:cNvSpPr>
          <p:nvPr/>
        </p:nvSpPr>
        <p:spPr bwMode="auto">
          <a:xfrm>
            <a:off x="1161752" y="4653136"/>
            <a:ext cx="1970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sz="2800" dirty="0"/>
              <a:t> </a:t>
            </a:r>
            <a:r>
              <a:rPr lang="zh-CN" altLang="en-US" sz="280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  </a:t>
            </a:r>
            <a:r>
              <a:rPr lang="en-US" altLang="zh-CN" sz="2800" i="1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i="1" baseline="-30000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i</a:t>
            </a:r>
            <a:r>
              <a:rPr lang="en-US" altLang="zh-CN" sz="2800" i="1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V</a:t>
            </a:r>
            <a:r>
              <a:rPr lang="en-US" altLang="zh-CN" sz="2800" i="1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=</a:t>
            </a:r>
            <a:r>
              <a:rPr lang="en-US" altLang="zh-CN" sz="2800" i="1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n</a:t>
            </a:r>
            <a:r>
              <a:rPr lang="en-US" altLang="zh-CN" sz="2800" i="1" baseline="-30000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i</a:t>
            </a:r>
            <a:r>
              <a:rPr lang="en-US" altLang="zh-CN" sz="2800" i="1" baseline="-3000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RT</a:t>
            </a: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1437184" y="5410944"/>
            <a:ext cx="1744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i="1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pV</a:t>
            </a:r>
            <a:r>
              <a:rPr lang="en-US" altLang="zh-CN" sz="2800" i="1" baseline="-30000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i</a:t>
            </a:r>
            <a:r>
              <a:rPr lang="en-US" altLang="zh-CN" sz="2800" i="1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=</a:t>
            </a:r>
            <a:r>
              <a:rPr lang="en-US" altLang="zh-CN" sz="2800" i="1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n</a:t>
            </a:r>
            <a:r>
              <a:rPr lang="en-US" altLang="zh-CN" sz="2800" i="1" baseline="-30000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i</a:t>
            </a:r>
            <a:r>
              <a:rPr lang="en-US" altLang="zh-CN" sz="2800" i="1" baseline="-3000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RT</a:t>
            </a:r>
            <a:r>
              <a:rPr lang="en-US" altLang="zh-CN" sz="2800" dirty="0">
                <a:ea typeface="方正书宋简体" charset="-122"/>
                <a:cs typeface="Times New Roman" pitchFamily="18" charset="0"/>
              </a:rPr>
              <a:t> </a:t>
            </a:r>
          </a:p>
        </p:txBody>
      </p:sp>
      <p:graphicFrame>
        <p:nvGraphicFramePr>
          <p:cNvPr id="3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962449"/>
              </p:ext>
            </p:extLst>
          </p:nvPr>
        </p:nvGraphicFramePr>
        <p:xfrm>
          <a:off x="2843808" y="4924474"/>
          <a:ext cx="1026429" cy="7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9" name="公式" r:id="rId11" imgW="291960" imgH="190440" progId="Equation.3">
                  <p:embed/>
                </p:oleObj>
              </mc:Choice>
              <mc:Fallback>
                <p:oleObj name="公式" r:id="rId11" imgW="291960" imgH="190440" progId="Equation.3">
                  <p:embed/>
                  <p:pic>
                    <p:nvPicPr>
                      <p:cNvPr id="0" name="Picture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924474"/>
                        <a:ext cx="1026429" cy="780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10785"/>
              </p:ext>
            </p:extLst>
          </p:nvPr>
        </p:nvGraphicFramePr>
        <p:xfrm>
          <a:off x="3947542" y="4797152"/>
          <a:ext cx="4513262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00" name="公式" r:id="rId13" imgW="1905000" imgH="431800" progId="Equation.3">
                  <p:embed/>
                </p:oleObj>
              </mc:Choice>
              <mc:Fallback>
                <p:oleObj name="公式" r:id="rId13" imgW="1905000" imgH="431800" progId="Equation.3">
                  <p:embed/>
                  <p:pic>
                    <p:nvPicPr>
                      <p:cNvPr id="0" name="Picture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7542" y="4797152"/>
                        <a:ext cx="4513262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71472" y="4945702"/>
            <a:ext cx="6335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由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 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26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071538" y="1500174"/>
            <a:ext cx="67185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混合气体的折合分子量和折合气体常数</a:t>
            </a:r>
          </a:p>
        </p:txBody>
      </p:sp>
      <p:sp>
        <p:nvSpPr>
          <p:cNvPr id="30" name="矩形 29"/>
          <p:cNvSpPr/>
          <p:nvPr/>
        </p:nvSpPr>
        <p:spPr>
          <a:xfrm>
            <a:off x="357162" y="1556669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3.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827584" y="3695705"/>
            <a:ext cx="2327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折合气体常数</a:t>
            </a:r>
          </a:p>
        </p:txBody>
      </p:sp>
      <p:graphicFrame>
        <p:nvGraphicFramePr>
          <p:cNvPr id="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847509"/>
              </p:ext>
            </p:extLst>
          </p:nvPr>
        </p:nvGraphicFramePr>
        <p:xfrm>
          <a:off x="1115616" y="4160480"/>
          <a:ext cx="6991628" cy="142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4" name="公式" r:id="rId7" imgW="2755800" imgH="558720" progId="Equation.3">
                  <p:embed/>
                </p:oleObj>
              </mc:Choice>
              <mc:Fallback>
                <p:oleObj name="公式" r:id="rId7" imgW="2755800" imgH="558720" progId="Equation.3">
                  <p:embed/>
                  <p:pic>
                    <p:nvPicPr>
                      <p:cNvPr id="0" name="Picture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160480"/>
                        <a:ext cx="6991628" cy="1428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827584" y="2587639"/>
            <a:ext cx="1970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折合分子量</a:t>
            </a:r>
          </a:p>
        </p:txBody>
      </p:sp>
      <p:graphicFrame>
        <p:nvGraphicFramePr>
          <p:cNvPr id="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021554"/>
              </p:ext>
            </p:extLst>
          </p:nvPr>
        </p:nvGraphicFramePr>
        <p:xfrm>
          <a:off x="3439022" y="2428868"/>
          <a:ext cx="3771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5" name="公式" r:id="rId9" imgW="1562100" imgH="381000" progId="Equation.3">
                  <p:embed/>
                </p:oleObj>
              </mc:Choice>
              <mc:Fallback>
                <p:oleObj name="公式" r:id="rId9" imgW="1562100" imgH="381000" progId="Equation.3">
                  <p:embed/>
                  <p:pic>
                    <p:nvPicPr>
                      <p:cNvPr id="0" name="Picture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022" y="2428868"/>
                        <a:ext cx="37719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27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071538" y="1500174"/>
            <a:ext cx="67185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混合气体的比热容、热力学能、焓和熵</a:t>
            </a:r>
          </a:p>
        </p:txBody>
      </p:sp>
      <p:sp>
        <p:nvSpPr>
          <p:cNvPr id="30" name="矩形 29"/>
          <p:cNvSpPr/>
          <p:nvPr/>
        </p:nvSpPr>
        <p:spPr>
          <a:xfrm>
            <a:off x="357162" y="1556669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4.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graphicFrame>
        <p:nvGraphicFramePr>
          <p:cNvPr id="23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81029553"/>
              </p:ext>
            </p:extLst>
          </p:nvPr>
        </p:nvGraphicFramePr>
        <p:xfrm>
          <a:off x="1040591" y="2133600"/>
          <a:ext cx="3675425" cy="719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5" name="Document" r:id="rId7" imgW="2027015" imgH="396992" progId="Word.Document.8">
                  <p:embed/>
                </p:oleObj>
              </mc:Choice>
              <mc:Fallback>
                <p:oleObj name="Document" r:id="rId7" imgW="2027015" imgH="396992" progId="Word.Document.8">
                  <p:embed/>
                  <p:pic>
                    <p:nvPicPr>
                      <p:cNvPr id="0" name="Picture 36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591" y="2133600"/>
                        <a:ext cx="3675425" cy="7193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493476"/>
              </p:ext>
            </p:extLst>
          </p:nvPr>
        </p:nvGraphicFramePr>
        <p:xfrm>
          <a:off x="1244377" y="2887910"/>
          <a:ext cx="5703887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6" name="Document" r:id="rId9" imgW="3203562" imgH="553481" progId="Word.Document.8">
                  <p:embed/>
                </p:oleObj>
              </mc:Choice>
              <mc:Fallback>
                <p:oleObj name="Document" r:id="rId9" imgW="3203562" imgH="553481" progId="Word.Document.8">
                  <p:embed/>
                  <p:pic>
                    <p:nvPicPr>
                      <p:cNvPr id="0" name="Picture 3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377" y="2887910"/>
                        <a:ext cx="5703887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733192"/>
              </p:ext>
            </p:extLst>
          </p:nvPr>
        </p:nvGraphicFramePr>
        <p:xfrm>
          <a:off x="4932040" y="2132856"/>
          <a:ext cx="3868502" cy="718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7" name="Document" r:id="rId11" imgW="2444871" imgH="396992" progId="Word.Document.8">
                  <p:embed/>
                </p:oleObj>
              </mc:Choice>
              <mc:Fallback>
                <p:oleObj name="Document" r:id="rId11" imgW="2444871" imgH="396992" progId="Word.Document.8">
                  <p:embed/>
                  <p:pic>
                    <p:nvPicPr>
                      <p:cNvPr id="0" name="Picture 3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2132856"/>
                        <a:ext cx="3868502" cy="7183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8"/>
          <p:cNvGraphicFramePr>
            <a:graphicFrameLocks noChangeAspect="1"/>
          </p:cNvGraphicFramePr>
          <p:nvPr/>
        </p:nvGraphicFramePr>
        <p:xfrm>
          <a:off x="4495800" y="3500438"/>
          <a:ext cx="15017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8" name="Equation" r:id="rId13" imgW="622030" imgH="228501" progId="Equation.3">
                  <p:embed/>
                </p:oleObj>
              </mc:Choice>
              <mc:Fallback>
                <p:oleObj name="Equation" r:id="rId13" imgW="622030" imgH="228501" progId="Equation.3">
                  <p:embed/>
                  <p:pic>
                    <p:nvPicPr>
                      <p:cNvPr id="0" name="Picture 3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500438"/>
                        <a:ext cx="1501775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9"/>
          <p:cNvGraphicFramePr>
            <a:graphicFrameLocks noChangeAspect="1"/>
          </p:cNvGraphicFramePr>
          <p:nvPr/>
        </p:nvGraphicFramePr>
        <p:xfrm>
          <a:off x="1905000" y="3516313"/>
          <a:ext cx="13493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9" name="Equation" r:id="rId15" imgW="558800" imgH="228600" progId="Equation.3">
                  <p:embed/>
                </p:oleObj>
              </mc:Choice>
              <mc:Fallback>
                <p:oleObj name="Equation" r:id="rId15" imgW="558800" imgH="228600" progId="Equation.3">
                  <p:embed/>
                  <p:pic>
                    <p:nvPicPr>
                      <p:cNvPr id="0" name="Picture 3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16313"/>
                        <a:ext cx="1349375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1"/>
          <p:cNvGraphicFramePr>
            <a:graphicFrameLocks noChangeAspect="1"/>
          </p:cNvGraphicFramePr>
          <p:nvPr/>
        </p:nvGraphicFramePr>
        <p:xfrm>
          <a:off x="4510088" y="4110038"/>
          <a:ext cx="147161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00" name="Equation" r:id="rId17" imgW="609600" imgH="228600" progId="Equation.3">
                  <p:embed/>
                </p:oleObj>
              </mc:Choice>
              <mc:Fallback>
                <p:oleObj name="Equation" r:id="rId17" imgW="609600" imgH="228600" progId="Equation.3">
                  <p:embed/>
                  <p:pic>
                    <p:nvPicPr>
                      <p:cNvPr id="0" name="Picture 3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4110038"/>
                        <a:ext cx="1471612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2"/>
          <p:cNvGraphicFramePr>
            <a:graphicFrameLocks noChangeAspect="1"/>
          </p:cNvGraphicFramePr>
          <p:nvPr/>
        </p:nvGraphicFramePr>
        <p:xfrm>
          <a:off x="1889125" y="4125913"/>
          <a:ext cx="13811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01" name="Equation" r:id="rId19" imgW="571252" imgH="228501" progId="Equation.3">
                  <p:embed/>
                </p:oleObj>
              </mc:Choice>
              <mc:Fallback>
                <p:oleObj name="Equation" r:id="rId19" imgW="571252" imgH="228501" progId="Equation.3">
                  <p:embed/>
                  <p:pic>
                    <p:nvPicPr>
                      <p:cNvPr id="0" name="Picture 3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5" y="4125913"/>
                        <a:ext cx="1381125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3"/>
          <p:cNvGraphicFramePr>
            <a:graphicFrameLocks noChangeAspect="1"/>
          </p:cNvGraphicFramePr>
          <p:nvPr/>
        </p:nvGraphicFramePr>
        <p:xfrm>
          <a:off x="4454525" y="4786322"/>
          <a:ext cx="1546235" cy="589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02" name="Equation" r:id="rId21" imgW="596900" imgH="228600" progId="Equation.3">
                  <p:embed/>
                </p:oleObj>
              </mc:Choice>
              <mc:Fallback>
                <p:oleObj name="Equation" r:id="rId21" imgW="596900" imgH="228600" progId="Equation.3">
                  <p:embed/>
                  <p:pic>
                    <p:nvPicPr>
                      <p:cNvPr id="0" name="Picture 3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4786322"/>
                        <a:ext cx="1546235" cy="5892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4"/>
          <p:cNvGraphicFramePr>
            <a:graphicFrameLocks noChangeAspect="1"/>
          </p:cNvGraphicFramePr>
          <p:nvPr/>
        </p:nvGraphicFramePr>
        <p:xfrm>
          <a:off x="1857356" y="4786322"/>
          <a:ext cx="1304916" cy="599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03" name="公式" r:id="rId23" imgW="495085" imgH="228501" progId="Equation.3">
                  <p:embed/>
                </p:oleObj>
              </mc:Choice>
              <mc:Fallback>
                <p:oleObj name="公式" r:id="rId23" imgW="495085" imgH="228501" progId="Equation.3">
                  <p:embed/>
                  <p:pic>
                    <p:nvPicPr>
                      <p:cNvPr id="0" name="Picture 3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56" y="4786322"/>
                        <a:ext cx="1304916" cy="5996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15"/>
          <p:cNvSpPr>
            <a:spLocks noChangeArrowheads="1"/>
          </p:cNvSpPr>
          <p:nvPr/>
        </p:nvSpPr>
        <p:spPr bwMode="auto">
          <a:xfrm>
            <a:off x="1428728" y="5500702"/>
            <a:ext cx="59951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  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计算 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时应代入分压力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。</a:t>
            </a:r>
            <a:endParaRPr lang="en-US" altLang="zh-CN" sz="2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49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2" name="Rectangle 2"/>
          <p:cNvSpPr>
            <a:spLocks noGrp="1" noChangeArrowheads="1"/>
          </p:cNvSpPr>
          <p:nvPr>
            <p:ph idx="1"/>
          </p:nvPr>
        </p:nvSpPr>
        <p:spPr>
          <a:xfrm>
            <a:off x="432098" y="2060848"/>
            <a:ext cx="8229600" cy="1756792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作业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:   3.3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3.6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3.8</a:t>
            </a:r>
            <a:endParaRPr lang="en-US" altLang="zh-C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28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1" name="TextBox 30"/>
          <p:cNvSpPr txBox="1"/>
          <p:nvPr/>
        </p:nvSpPr>
        <p:spPr>
          <a:xfrm>
            <a:off x="207064" y="1049884"/>
            <a:ext cx="4438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3-5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理想气体的热力过程</a:t>
            </a:r>
          </a:p>
        </p:txBody>
      </p:sp>
      <p:sp>
        <p:nvSpPr>
          <p:cNvPr id="22" name="矩形 21"/>
          <p:cNvSpPr/>
          <p:nvPr/>
        </p:nvSpPr>
        <p:spPr>
          <a:xfrm>
            <a:off x="303198" y="2204864"/>
            <a:ext cx="88582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 indent="-1193800"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实现预期的能量转换（如动力机械的膨胀作功过程）</a:t>
            </a:r>
          </a:p>
          <a:p>
            <a:pPr lvl="3" indent="-1193800">
              <a:lnSpc>
                <a:spcPct val="150000"/>
              </a:lnSpc>
              <a:buFontTx/>
              <a:buNone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获得所需的热力状态（如压气机、喷管、换热器等）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590257" y="3565543"/>
            <a:ext cx="7366119" cy="629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若目的相同，过程不同，能量的利用率不同。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207064" y="4816478"/>
            <a:ext cx="8494633" cy="1255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00200" lvl="3" indent="-1193800" eaLnBrk="0" hangingPunct="0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揭示各种热力过程中状态参数的变化规律和相应的</a:t>
            </a:r>
          </a:p>
          <a:p>
            <a:pPr marL="1600200" lvl="3" indent="-1193800" eaLnBrk="0" hangingPunct="0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能量转换关系，设计能效高的热工设备。</a:t>
            </a:r>
          </a:p>
        </p:txBody>
      </p:sp>
      <p:sp>
        <p:nvSpPr>
          <p:cNvPr id="3" name="矩形 2"/>
          <p:cNvSpPr/>
          <p:nvPr/>
        </p:nvSpPr>
        <p:spPr>
          <a:xfrm>
            <a:off x="580583" y="1684665"/>
            <a:ext cx="3775393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实施热力过程的目的：</a:t>
            </a:r>
          </a:p>
        </p:txBody>
      </p:sp>
      <p:sp>
        <p:nvSpPr>
          <p:cNvPr id="14" name="矩形 13"/>
          <p:cNvSpPr/>
          <p:nvPr/>
        </p:nvSpPr>
        <p:spPr>
          <a:xfrm>
            <a:off x="624289" y="4206195"/>
            <a:ext cx="3775393" cy="5817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3" eaLnBrk="0" hangingPunct="0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研究热力过程的任务：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3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29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642911" y="1628800"/>
            <a:ext cx="6881418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热力过程分析的主要依据：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 热力学第一定律、理想气体的热力性质。</a:t>
            </a:r>
          </a:p>
        </p:txBody>
      </p: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611560" y="3322727"/>
            <a:ext cx="1984874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3" eaLnBrk="0" hangingPunct="0"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研究内容：</a:t>
            </a:r>
          </a:p>
        </p:txBody>
      </p:sp>
      <p:sp>
        <p:nvSpPr>
          <p:cNvPr id="3" name="矩形 2"/>
          <p:cNvSpPr/>
          <p:nvPr/>
        </p:nvSpPr>
        <p:spPr>
          <a:xfrm>
            <a:off x="827584" y="3845947"/>
            <a:ext cx="70237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过程方程及任意两状态间参数的关系；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工质与外界的功量交换和热量交换；</a:t>
            </a:r>
          </a:p>
          <a:p>
            <a:pPr marL="457200" lvl="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过程在 </a:t>
            </a:r>
            <a:r>
              <a:rPr lang="en-US" altLang="zh-CN" sz="2800" b="1" i="1" dirty="0">
                <a:latin typeface="Times New Roman" pitchFamily="18" charset="0"/>
                <a:ea typeface="宋体" pitchFamily="2" charset="-122"/>
              </a:rPr>
              <a:t>p-v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图及 </a:t>
            </a:r>
            <a:r>
              <a:rPr lang="en-US" altLang="zh-CN" sz="2800" b="1" i="1" dirty="0">
                <a:latin typeface="Times New Roman" pitchFamily="18" charset="0"/>
                <a:ea typeface="宋体" pitchFamily="2" charset="-122"/>
              </a:rPr>
              <a:t>T-s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图上的表示。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30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28253" y="1357298"/>
            <a:ext cx="36869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/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理想气体的过程方程</a:t>
            </a:r>
          </a:p>
        </p:txBody>
      </p:sp>
      <p:sp>
        <p:nvSpPr>
          <p:cNvPr id="30" name="矩形 29"/>
          <p:cNvSpPr/>
          <p:nvPr/>
        </p:nvSpPr>
        <p:spPr>
          <a:xfrm>
            <a:off x="171452" y="1357298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1.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96404" y="2060848"/>
            <a:ext cx="8001024" cy="1070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一切实际过程都是不可逆的。但为了定量地分析、计算过程，通常先假设过程是可逆的，然后再由实验数据修正。</a:t>
            </a: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343026" y="4653136"/>
            <a:ext cx="6781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sz="2800" b="1" i="1" dirty="0" err="1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i="1" baseline="30000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＝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const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　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可逆多变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过程方程式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1106760" y="5331312"/>
            <a:ext cx="6705600" cy="613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b="1" i="1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    n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多变指数，可为任意实数</a:t>
            </a:r>
          </a:p>
        </p:txBody>
      </p:sp>
      <p:sp>
        <p:nvSpPr>
          <p:cNvPr id="25" name="Rectangle 4"/>
          <p:cNvSpPr txBox="1">
            <a:spLocks noChangeArrowheads="1"/>
          </p:cNvSpPr>
          <p:nvPr/>
        </p:nvSpPr>
        <p:spPr bwMode="auto">
          <a:xfrm>
            <a:off x="763575" y="3284984"/>
            <a:ext cx="7829576" cy="121444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实际上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,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热力过程是多种多样的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,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大部分可逆热力</a:t>
            </a:r>
            <a:endParaRPr lang="en-US" altLang="zh-CN" sz="28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过程中气体基本状态参数间满足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31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571472" y="1058293"/>
            <a:ext cx="2900107" cy="674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上式两边取对数  </a:t>
            </a:r>
          </a:p>
        </p:txBody>
      </p:sp>
      <p:graphicFrame>
        <p:nvGraphicFramePr>
          <p:cNvPr id="32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37609888"/>
              </p:ext>
            </p:extLst>
          </p:nvPr>
        </p:nvGraphicFramePr>
        <p:xfrm>
          <a:off x="2348458" y="1732324"/>
          <a:ext cx="4876800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4" name="公式" r:id="rId7" imgW="1752600" imgH="457200" progId="Equation.3">
                  <p:embed/>
                </p:oleObj>
              </mc:Choice>
              <mc:Fallback>
                <p:oleObj name="公式" r:id="rId7" imgW="1752600" imgH="457200" progId="Equation.3">
                  <p:embed/>
                  <p:pic>
                    <p:nvPicPr>
                      <p:cNvPr id="0" name="Picture 7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8458" y="1732324"/>
                        <a:ext cx="4876800" cy="127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938247"/>
              </p:ext>
            </p:extLst>
          </p:nvPr>
        </p:nvGraphicFramePr>
        <p:xfrm>
          <a:off x="2483768" y="3095780"/>
          <a:ext cx="4180867" cy="1830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5" name="公式" r:id="rId9" imgW="1536480" imgH="672840" progId="Equation.3">
                  <p:embed/>
                </p:oleObj>
              </mc:Choice>
              <mc:Fallback>
                <p:oleObj name="公式" r:id="rId9" imgW="1536480" imgH="672840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095780"/>
                        <a:ext cx="4180867" cy="18302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/>
          <p:cNvSpPr/>
          <p:nvPr/>
        </p:nvSpPr>
        <p:spPr>
          <a:xfrm>
            <a:off x="755576" y="4926071"/>
            <a:ext cx="789391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已知过程中任意 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个状态点的状态参数，就可求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得该过程的多变指数。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32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3" name="矩形 22"/>
          <p:cNvSpPr/>
          <p:nvPr/>
        </p:nvSpPr>
        <p:spPr>
          <a:xfrm>
            <a:off x="530814" y="1331039"/>
            <a:ext cx="792961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9900CC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简单可压缩系如果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个独立的状态参数保持不变，那么系统的状态就保持不变。因此过程中最多只能允许一个独立的状态参数保持不变。这种有一个独立状态参数保持不变（变化相对很小，忽略不计）的过程称为基本热力过程。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如：换热器</a:t>
            </a:r>
            <a:r>
              <a:rPr lang="en-US" altLang="zh-CN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定压；</a:t>
            </a:r>
            <a:r>
              <a:rPr lang="zh-CN" altLang="en-US" sz="2800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汽油机燃烧</a:t>
            </a:r>
            <a:r>
              <a:rPr lang="en-US" altLang="zh-CN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800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定容；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叶轮机械、喷管等</a:t>
            </a:r>
            <a:r>
              <a:rPr lang="en-US" altLang="zh-CN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绝热（定熵</a:t>
            </a:r>
            <a:r>
              <a:rPr lang="en-US" altLang="zh-CN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</a:rPr>
              <a:t>可逆绝热）。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0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33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grpSp>
        <p:nvGrpSpPr>
          <p:cNvPr id="31" name="Group 13"/>
          <p:cNvGrpSpPr>
            <a:grpSpLocks/>
          </p:cNvGrpSpPr>
          <p:nvPr/>
        </p:nvGrpSpPr>
        <p:grpSpPr bwMode="auto">
          <a:xfrm>
            <a:off x="2133600" y="2334288"/>
            <a:ext cx="4332288" cy="518648"/>
            <a:chOff x="1020" y="2981"/>
            <a:chExt cx="2729" cy="337"/>
          </a:xfrm>
        </p:grpSpPr>
        <p:sp>
          <p:nvSpPr>
            <p:cNvPr id="33" name="Oval 14"/>
            <p:cNvSpPr>
              <a:spLocks noChangeArrowheads="1"/>
            </p:cNvSpPr>
            <p:nvPr/>
          </p:nvSpPr>
          <p:spPr bwMode="auto">
            <a:xfrm>
              <a:off x="1020" y="3023"/>
              <a:ext cx="227" cy="22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15"/>
            <p:cNvSpPr txBox="1">
              <a:spLocks noChangeArrowheads="1"/>
            </p:cNvSpPr>
            <p:nvPr/>
          </p:nvSpPr>
          <p:spPr bwMode="auto">
            <a:xfrm>
              <a:off x="1020" y="2981"/>
              <a:ext cx="2729" cy="33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itchFamily="18" charset="0"/>
                </a:rPr>
                <a:t>v </a:t>
              </a:r>
              <a:r>
                <a:rPr lang="en-US" altLang="zh-CN" sz="2800" b="1" dirty="0">
                  <a:latin typeface="Times New Roman" pitchFamily="18" charset="0"/>
                </a:rPr>
                <a:t>: </a:t>
              </a:r>
              <a:r>
                <a:rPr lang="en-US" altLang="zh-CN" sz="2800" b="1" i="1" dirty="0">
                  <a:latin typeface="Times New Roman" pitchFamily="18" charset="0"/>
                </a:rPr>
                <a:t>n </a:t>
              </a:r>
              <a:r>
                <a:rPr lang="en-US" altLang="zh-CN" sz="2800" b="1" dirty="0">
                  <a:latin typeface="Times New Roman" pitchFamily="18" charset="0"/>
                </a:rPr>
                <a:t>=±∞ </a:t>
              </a:r>
              <a:r>
                <a:rPr lang="zh-CN" altLang="en-US" sz="2800" b="1" dirty="0">
                  <a:latin typeface="Times New Roman" pitchFamily="18" charset="0"/>
                </a:rPr>
                <a:t>，</a:t>
              </a:r>
              <a:r>
                <a:rPr lang="en-US" altLang="zh-CN" sz="2800" b="1" i="1" dirty="0" err="1">
                  <a:latin typeface="Times New Roman" pitchFamily="18" charset="0"/>
                </a:rPr>
                <a:t>pv</a:t>
              </a:r>
              <a:r>
                <a:rPr lang="en-US" altLang="zh-CN" sz="2800" b="1" baseline="30000" dirty="0">
                  <a:latin typeface="Times New Roman" pitchFamily="18" charset="0"/>
                </a:rPr>
                <a:t>±∞</a:t>
              </a:r>
              <a:r>
                <a:rPr lang="en-US" altLang="zh-CN" sz="2800" b="1" dirty="0">
                  <a:latin typeface="Times New Roman" pitchFamily="18" charset="0"/>
                </a:rPr>
                <a:t>= </a:t>
              </a:r>
              <a:r>
                <a:rPr lang="en-US" altLang="zh-CN" sz="2800" b="1" dirty="0" err="1">
                  <a:latin typeface="Times New Roman" pitchFamily="18" charset="0"/>
                </a:rPr>
                <a:t>const</a:t>
              </a:r>
              <a:r>
                <a:rPr lang="en-US" altLang="zh-CN" sz="2800" b="1" dirty="0">
                  <a:latin typeface="Times New Roman" pitchFamily="18" charset="0"/>
                </a:rPr>
                <a:t> </a:t>
              </a:r>
              <a:r>
                <a:rPr lang="en-US" altLang="zh-CN" sz="2800" b="1" i="1" dirty="0">
                  <a:latin typeface="Times New Roman" pitchFamily="18" charset="0"/>
                </a:rPr>
                <a:t>   </a:t>
              </a:r>
            </a:p>
          </p:txBody>
        </p:sp>
      </p:grpSp>
      <p:sp>
        <p:nvSpPr>
          <p:cNvPr id="41" name="Rectangle 18"/>
          <p:cNvSpPr>
            <a:spLocks noChangeArrowheads="1"/>
          </p:cNvSpPr>
          <p:nvPr/>
        </p:nvSpPr>
        <p:spPr bwMode="auto">
          <a:xfrm>
            <a:off x="202754" y="1541735"/>
            <a:ext cx="831641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lvl="3" eaLnBrk="0" hangingPunct="0">
              <a:spcBef>
                <a:spcPct val="200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当 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取某些特殊值时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多变过程就变为四种基本过程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:</a:t>
            </a:r>
          </a:p>
        </p:txBody>
      </p:sp>
      <p:sp>
        <p:nvSpPr>
          <p:cNvPr id="42" name="Rectangle 23"/>
          <p:cNvSpPr>
            <a:spLocks noChangeArrowheads="1"/>
          </p:cNvSpPr>
          <p:nvPr/>
        </p:nvSpPr>
        <p:spPr bwMode="auto">
          <a:xfrm>
            <a:off x="304800" y="5373216"/>
            <a:ext cx="85963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所以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四种基本热力过程是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可逆多变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过程的四种特例。</a:t>
            </a:r>
          </a:p>
        </p:txBody>
      </p:sp>
      <p:sp>
        <p:nvSpPr>
          <p:cNvPr id="5" name="横卷形 4"/>
          <p:cNvSpPr/>
          <p:nvPr/>
        </p:nvSpPr>
        <p:spPr>
          <a:xfrm>
            <a:off x="128675" y="1268760"/>
            <a:ext cx="8464574" cy="1033272"/>
          </a:xfrm>
          <a:prstGeom prst="horizontalScrol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Text Box 15"/>
          <p:cNvSpPr txBox="1">
            <a:spLocks noChangeArrowheads="1"/>
          </p:cNvSpPr>
          <p:nvPr/>
        </p:nvSpPr>
        <p:spPr bwMode="auto">
          <a:xfrm>
            <a:off x="2133600" y="3126376"/>
            <a:ext cx="4332288" cy="5186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</a:rPr>
              <a:t>p </a:t>
            </a:r>
            <a:r>
              <a:rPr lang="en-US" altLang="zh-CN" sz="2800" b="1" dirty="0">
                <a:latin typeface="Times New Roman" pitchFamily="18" charset="0"/>
              </a:rPr>
              <a:t>: </a:t>
            </a:r>
            <a:r>
              <a:rPr lang="en-US" altLang="zh-CN" sz="2800" b="1" i="1" dirty="0">
                <a:latin typeface="Times New Roman" pitchFamily="18" charset="0"/>
              </a:rPr>
              <a:t>n </a:t>
            </a:r>
            <a:r>
              <a:rPr lang="en-US" altLang="zh-CN" sz="2800" b="1" dirty="0">
                <a:latin typeface="Times New Roman" pitchFamily="18" charset="0"/>
              </a:rPr>
              <a:t>= 0 </a:t>
            </a:r>
            <a:r>
              <a:rPr lang="zh-CN" altLang="en-US" sz="2800" b="1" dirty="0">
                <a:latin typeface="Times New Roman" pitchFamily="18" charset="0"/>
              </a:rPr>
              <a:t>，    </a:t>
            </a:r>
            <a:r>
              <a:rPr lang="en-US" altLang="zh-CN" sz="2800" b="1" i="1" dirty="0">
                <a:latin typeface="Times New Roman" pitchFamily="18" charset="0"/>
              </a:rPr>
              <a:t>pv</a:t>
            </a:r>
            <a:r>
              <a:rPr lang="en-US" altLang="zh-CN" sz="2800" b="1" baseline="30000" dirty="0">
                <a:latin typeface="Times New Roman" pitchFamily="18" charset="0"/>
              </a:rPr>
              <a:t>0 </a:t>
            </a:r>
            <a:r>
              <a:rPr lang="en-US" altLang="zh-CN" sz="2800" b="1" dirty="0">
                <a:latin typeface="Times New Roman" pitchFamily="18" charset="0"/>
              </a:rPr>
              <a:t>= </a:t>
            </a:r>
            <a:r>
              <a:rPr lang="en-US" altLang="zh-CN" sz="2800" b="1" dirty="0" err="1">
                <a:latin typeface="Times New Roman" pitchFamily="18" charset="0"/>
              </a:rPr>
              <a:t>const</a:t>
            </a:r>
            <a:r>
              <a:rPr lang="en-US" altLang="zh-CN" sz="2800" b="1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</a:rPr>
              <a:t>   </a:t>
            </a:r>
          </a:p>
        </p:txBody>
      </p:sp>
      <p:sp>
        <p:nvSpPr>
          <p:cNvPr id="44" name="Text Box 15"/>
          <p:cNvSpPr txBox="1">
            <a:spLocks noChangeArrowheads="1"/>
          </p:cNvSpPr>
          <p:nvPr/>
        </p:nvSpPr>
        <p:spPr bwMode="auto">
          <a:xfrm>
            <a:off x="2132831" y="3933056"/>
            <a:ext cx="4332288" cy="5186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</a:rPr>
              <a:t>T </a:t>
            </a:r>
            <a:r>
              <a:rPr lang="en-US" altLang="zh-CN" sz="2800" b="1" dirty="0">
                <a:latin typeface="Times New Roman" pitchFamily="18" charset="0"/>
              </a:rPr>
              <a:t>: </a:t>
            </a:r>
            <a:r>
              <a:rPr lang="en-US" altLang="zh-CN" sz="2800" b="1" i="1" dirty="0">
                <a:latin typeface="Times New Roman" pitchFamily="18" charset="0"/>
              </a:rPr>
              <a:t>n </a:t>
            </a:r>
            <a:r>
              <a:rPr lang="en-US" altLang="zh-CN" sz="2800" b="1" dirty="0">
                <a:latin typeface="Times New Roman" pitchFamily="18" charset="0"/>
              </a:rPr>
              <a:t>= 1 </a:t>
            </a:r>
            <a:r>
              <a:rPr lang="zh-CN" altLang="en-US" sz="2800" b="1" dirty="0">
                <a:latin typeface="Times New Roman" pitchFamily="18" charset="0"/>
              </a:rPr>
              <a:t>，   </a:t>
            </a:r>
            <a:r>
              <a:rPr lang="en-US" altLang="zh-CN" sz="2800" b="1" i="1" dirty="0" err="1">
                <a:latin typeface="Times New Roman" pitchFamily="18" charset="0"/>
              </a:rPr>
              <a:t>pv</a:t>
            </a:r>
            <a:r>
              <a:rPr lang="en-US" altLang="zh-CN" sz="2800" b="1" i="1" dirty="0">
                <a:latin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</a:rPr>
              <a:t>= </a:t>
            </a:r>
            <a:r>
              <a:rPr lang="en-US" altLang="zh-CN" sz="2800" b="1" dirty="0" err="1">
                <a:latin typeface="Times New Roman" pitchFamily="18" charset="0"/>
              </a:rPr>
              <a:t>const</a:t>
            </a:r>
            <a:r>
              <a:rPr lang="en-US" altLang="zh-CN" sz="2800" b="1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</a:rPr>
              <a:t>   </a:t>
            </a:r>
          </a:p>
        </p:txBody>
      </p:sp>
      <p:sp>
        <p:nvSpPr>
          <p:cNvPr id="45" name="Text Box 15"/>
          <p:cNvSpPr txBox="1">
            <a:spLocks noChangeArrowheads="1"/>
          </p:cNvSpPr>
          <p:nvPr/>
        </p:nvSpPr>
        <p:spPr bwMode="auto">
          <a:xfrm>
            <a:off x="2124514" y="4725144"/>
            <a:ext cx="4332288" cy="5186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</a:rPr>
              <a:t>s </a:t>
            </a:r>
            <a:r>
              <a:rPr lang="en-US" altLang="zh-CN" sz="2800" b="1" dirty="0">
                <a:latin typeface="Times New Roman" pitchFamily="18" charset="0"/>
              </a:rPr>
              <a:t>: </a:t>
            </a:r>
            <a:r>
              <a:rPr lang="en-US" altLang="zh-CN" sz="2800" b="1" i="1" dirty="0">
                <a:latin typeface="Times New Roman" pitchFamily="18" charset="0"/>
              </a:rPr>
              <a:t>n </a:t>
            </a:r>
            <a:r>
              <a:rPr lang="en-US" altLang="zh-CN" sz="2800" b="1" dirty="0">
                <a:latin typeface="Times New Roman" pitchFamily="18" charset="0"/>
              </a:rPr>
              <a:t>= </a:t>
            </a:r>
            <a:r>
              <a:rPr lang="en-US" altLang="zh-CN" sz="2800" b="1" i="1" dirty="0">
                <a:latin typeface="Times New Roman" pitchFamily="18" charset="0"/>
              </a:rPr>
              <a:t>κ</a:t>
            </a:r>
            <a:r>
              <a:rPr lang="en-US" altLang="zh-CN" sz="2800" b="1" dirty="0">
                <a:latin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</a:rPr>
              <a:t>，   </a:t>
            </a:r>
            <a:r>
              <a:rPr lang="en-US" altLang="zh-CN" sz="2800" b="1" i="1" dirty="0" err="1">
                <a:latin typeface="Times New Roman" pitchFamily="18" charset="0"/>
              </a:rPr>
              <a:t>pv</a:t>
            </a:r>
            <a:r>
              <a:rPr lang="en-US" altLang="zh-CN" sz="2800" b="1" i="1" baseline="30000" dirty="0" err="1">
                <a:latin typeface="Times New Roman" pitchFamily="18" charset="0"/>
              </a:rPr>
              <a:t>κ</a:t>
            </a:r>
            <a:r>
              <a:rPr lang="en-US" altLang="zh-CN" sz="2800" b="1" i="1" baseline="30000" dirty="0">
                <a:latin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</a:rPr>
              <a:t>= </a:t>
            </a:r>
            <a:r>
              <a:rPr lang="en-US" altLang="zh-CN" sz="2800" b="1" dirty="0" err="1">
                <a:latin typeface="Times New Roman" pitchFamily="18" charset="0"/>
              </a:rPr>
              <a:t>const</a:t>
            </a:r>
            <a:r>
              <a:rPr lang="en-US" altLang="zh-CN" sz="2800" b="1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</a:rPr>
              <a:t>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animBg="1"/>
      <p:bldP spid="44" grpId="0" animBg="1"/>
      <p:bldP spid="4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圆角矩形 35"/>
          <p:cNvSpPr/>
          <p:nvPr/>
        </p:nvSpPr>
        <p:spPr>
          <a:xfrm>
            <a:off x="2500298" y="2876306"/>
            <a:ext cx="3500462" cy="2928958"/>
          </a:xfrm>
          <a:prstGeom prst="roundRect">
            <a:avLst/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34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21880" y="1357298"/>
            <a:ext cx="36061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基本状态参数关系式</a:t>
            </a:r>
          </a:p>
        </p:txBody>
      </p:sp>
      <p:sp>
        <p:nvSpPr>
          <p:cNvPr id="30" name="矩形 29"/>
          <p:cNvSpPr/>
          <p:nvPr/>
        </p:nvSpPr>
        <p:spPr>
          <a:xfrm>
            <a:off x="107504" y="1357298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 2.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357158" y="1988840"/>
            <a:ext cx="738319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利用理想气体状态方程和多变过程方程推得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  <a:ea typeface="方正书宋简体" charset="-122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194949"/>
              </p:ext>
            </p:extLst>
          </p:nvPr>
        </p:nvGraphicFramePr>
        <p:xfrm>
          <a:off x="3090826" y="2930854"/>
          <a:ext cx="2201254" cy="693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2" r:id="rId7" imgW="698197" imgH="215806" progId="">
                  <p:embed/>
                </p:oleObj>
              </mc:Choice>
              <mc:Fallback>
                <p:oleObj r:id="rId7" imgW="698197" imgH="215806" progId="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26" y="2930854"/>
                        <a:ext cx="2201254" cy="6933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139263"/>
              </p:ext>
            </p:extLst>
          </p:nvPr>
        </p:nvGraphicFramePr>
        <p:xfrm>
          <a:off x="3090826" y="3892329"/>
          <a:ext cx="2417278" cy="66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3" r:id="rId9" imgW="799753" imgH="215806" progId="">
                  <p:embed/>
                </p:oleObj>
              </mc:Choice>
              <mc:Fallback>
                <p:oleObj r:id="rId9" imgW="799753" imgH="215806" progId="">
                  <p:embed/>
                  <p:pic>
                    <p:nvPicPr>
                      <p:cNvPr id="0" name="Picture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26" y="3892329"/>
                        <a:ext cx="2417278" cy="6621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283871"/>
              </p:ext>
            </p:extLst>
          </p:nvPr>
        </p:nvGraphicFramePr>
        <p:xfrm>
          <a:off x="2883327" y="4692470"/>
          <a:ext cx="2768793" cy="879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4" r:id="rId11" imgW="964781" imgH="304668" progId="">
                  <p:embed/>
                </p:oleObj>
              </mc:Choice>
              <mc:Fallback>
                <p:oleObj r:id="rId11" imgW="964781" imgH="304668" progId="">
                  <p:embed/>
                  <p:pic>
                    <p:nvPicPr>
                      <p:cNvPr id="0" name="Picture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327" y="4692470"/>
                        <a:ext cx="2768793" cy="8796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571472" y="3857628"/>
            <a:ext cx="177698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一般形式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3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35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0" name="矩形 29"/>
          <p:cNvSpPr/>
          <p:nvPr/>
        </p:nvSpPr>
        <p:spPr>
          <a:xfrm>
            <a:off x="357161" y="1484784"/>
            <a:ext cx="3278735" cy="466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chemeClr val="accent1"/>
                </a:solidFill>
                <a:latin typeface="Bernard MT Condensed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种基本热力过程：</a:t>
            </a:r>
          </a:p>
        </p:txBody>
      </p:sp>
      <p:sp>
        <p:nvSpPr>
          <p:cNvPr id="37" name="矩形 36"/>
          <p:cNvSpPr/>
          <p:nvPr/>
        </p:nvSpPr>
        <p:spPr>
          <a:xfrm>
            <a:off x="611560" y="2143117"/>
            <a:ext cx="7429552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0" lvl="3" indent="-1193800" eaLnBrk="0" hangingPunct="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定容过程：</a:t>
            </a:r>
            <a:r>
              <a:rPr lang="en-US" altLang="zh-CN" sz="2800" b="1" i="1" dirty="0">
                <a:latin typeface="Times New Roman" pitchFamily="18" charset="0"/>
              </a:rPr>
              <a:t>v = </a:t>
            </a:r>
            <a:r>
              <a:rPr lang="en-US" altLang="zh-CN" sz="2800" b="1" dirty="0">
                <a:latin typeface="Times New Roman" pitchFamily="18" charset="0"/>
              </a:rPr>
              <a:t>const</a:t>
            </a:r>
            <a:r>
              <a:rPr lang="en-US" altLang="zh-CN" sz="2800" b="1" i="1" dirty="0">
                <a:latin typeface="Times New Roman" pitchFamily="18" charset="0"/>
              </a:rPr>
              <a:t>→T</a:t>
            </a:r>
            <a:r>
              <a:rPr lang="en-US" altLang="zh-CN" sz="2800" b="1" baseline="-25000" dirty="0">
                <a:latin typeface="Times New Roman" pitchFamily="18" charset="0"/>
              </a:rPr>
              <a:t>1</a:t>
            </a:r>
            <a:r>
              <a:rPr lang="en-US" altLang="zh-CN" sz="2800" b="1" i="1" baseline="-25000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</a:rPr>
              <a:t>/ T</a:t>
            </a:r>
            <a:r>
              <a:rPr lang="en-US" altLang="zh-CN" sz="2800" b="1" baseline="-25000" dirty="0">
                <a:latin typeface="Times New Roman" pitchFamily="18" charset="0"/>
              </a:rPr>
              <a:t>2</a:t>
            </a:r>
            <a:r>
              <a:rPr lang="en-US" altLang="zh-CN" sz="2800" b="1" i="1" dirty="0">
                <a:latin typeface="Times New Roman" pitchFamily="18" charset="0"/>
              </a:rPr>
              <a:t>= p</a:t>
            </a:r>
            <a:r>
              <a:rPr lang="en-US" altLang="zh-CN" sz="2800" b="1" baseline="-25000" dirty="0">
                <a:latin typeface="Times New Roman" pitchFamily="18" charset="0"/>
              </a:rPr>
              <a:t>1</a:t>
            </a:r>
            <a:r>
              <a:rPr lang="en-US" altLang="zh-CN" sz="2800" b="1" i="1" baseline="-25000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</a:rPr>
              <a:t>/p</a:t>
            </a:r>
            <a:r>
              <a:rPr lang="en-US" altLang="zh-CN" sz="2800" b="1" baseline="-25000" dirty="0">
                <a:latin typeface="Times New Roman" pitchFamily="18" charset="0"/>
              </a:rPr>
              <a:t>2</a:t>
            </a:r>
            <a:r>
              <a:rPr lang="en-US" altLang="zh-CN" sz="2800" b="1" i="1" baseline="-25000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</a:rPr>
              <a:t>= </a:t>
            </a:r>
            <a:r>
              <a:rPr lang="en-US" altLang="zh-CN" sz="2800" b="1" dirty="0">
                <a:latin typeface="Times New Roman" pitchFamily="18" charset="0"/>
              </a:rPr>
              <a:t>const</a:t>
            </a:r>
            <a:r>
              <a:rPr lang="en-US" altLang="zh-CN" sz="2800" b="1" i="1" dirty="0">
                <a:latin typeface="Times New Roman" pitchFamily="18" charset="0"/>
              </a:rPr>
              <a:t>    </a:t>
            </a:r>
          </a:p>
        </p:txBody>
      </p:sp>
      <p:sp>
        <p:nvSpPr>
          <p:cNvPr id="39" name="矩形 38"/>
          <p:cNvSpPr/>
          <p:nvPr/>
        </p:nvSpPr>
        <p:spPr>
          <a:xfrm>
            <a:off x="611560" y="2857496"/>
            <a:ext cx="7358114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0" lvl="3" indent="-1193800" eaLnBrk="0" hangingPunct="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定压过程：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itchFamily="18" charset="0"/>
              </a:rPr>
              <a:t>p = </a:t>
            </a:r>
            <a:r>
              <a:rPr lang="en-US" altLang="zh-CN" sz="2800" b="1" dirty="0">
                <a:solidFill>
                  <a:prstClr val="black"/>
                </a:solidFill>
                <a:latin typeface="Times New Roman" pitchFamily="18" charset="0"/>
              </a:rPr>
              <a:t>const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itchFamily="18" charset="0"/>
              </a:rPr>
              <a:t>→T</a:t>
            </a:r>
            <a:r>
              <a:rPr lang="en-US" altLang="zh-CN" sz="2800" b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800" b="1" i="1" baseline="-250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itchFamily="18" charset="0"/>
              </a:rPr>
              <a:t>/ T</a:t>
            </a:r>
            <a:r>
              <a:rPr lang="en-US" altLang="zh-CN" sz="2800" b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itchFamily="18" charset="0"/>
              </a:rPr>
              <a:t>= v</a:t>
            </a:r>
            <a:r>
              <a:rPr lang="en-US" altLang="zh-CN" sz="2800" b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800" b="1" i="1" baseline="-250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itchFamily="18" charset="0"/>
              </a:rPr>
              <a:t>/v</a:t>
            </a:r>
            <a:r>
              <a:rPr lang="en-US" altLang="zh-CN" sz="2800" b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sz="2800" b="1" i="1" baseline="-250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sz="2800" b="1" dirty="0">
                <a:solidFill>
                  <a:prstClr val="black"/>
                </a:solidFill>
                <a:latin typeface="Times New Roman" pitchFamily="18" charset="0"/>
              </a:rPr>
              <a:t>const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053672" y="3573016"/>
            <a:ext cx="675090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定温过程：</a:t>
            </a:r>
            <a:r>
              <a:rPr lang="en-US" altLang="zh-CN" sz="2800" b="1" i="1" dirty="0">
                <a:latin typeface="Times New Roman" pitchFamily="18" charset="0"/>
              </a:rPr>
              <a:t>T= </a:t>
            </a:r>
            <a:r>
              <a:rPr lang="en-US" altLang="zh-CN" sz="2800" b="1" dirty="0">
                <a:latin typeface="Times New Roman" pitchFamily="18" charset="0"/>
              </a:rPr>
              <a:t>const  → </a:t>
            </a:r>
            <a:r>
              <a:rPr lang="en-US" altLang="zh-CN" sz="2800" b="1" i="1" dirty="0">
                <a:latin typeface="Times New Roman" pitchFamily="18" charset="0"/>
              </a:rPr>
              <a:t>p</a:t>
            </a:r>
            <a:r>
              <a:rPr lang="en-US" altLang="zh-CN" sz="2800" b="1" baseline="-25000" dirty="0">
                <a:latin typeface="Times New Roman" pitchFamily="18" charset="0"/>
              </a:rPr>
              <a:t>1</a:t>
            </a:r>
            <a:r>
              <a:rPr lang="en-US" altLang="zh-CN" sz="2800" b="1" i="1" dirty="0">
                <a:latin typeface="Times New Roman" pitchFamily="18" charset="0"/>
              </a:rPr>
              <a:t>v</a:t>
            </a:r>
            <a:r>
              <a:rPr lang="en-US" altLang="zh-CN" sz="2800" b="1" baseline="-25000" dirty="0">
                <a:latin typeface="Times New Roman" pitchFamily="18" charset="0"/>
              </a:rPr>
              <a:t>1</a:t>
            </a:r>
            <a:r>
              <a:rPr lang="en-US" altLang="zh-CN" sz="2800" b="1" i="1" dirty="0">
                <a:latin typeface="Times New Roman" pitchFamily="18" charset="0"/>
              </a:rPr>
              <a:t>= p</a:t>
            </a:r>
            <a:r>
              <a:rPr lang="en-US" altLang="zh-CN" sz="2800" b="1" baseline="-25000" dirty="0">
                <a:latin typeface="Times New Roman" pitchFamily="18" charset="0"/>
              </a:rPr>
              <a:t>2</a:t>
            </a:r>
            <a:r>
              <a:rPr lang="en-US" altLang="zh-CN" sz="2800" b="1" i="1" dirty="0">
                <a:latin typeface="Times New Roman" pitchFamily="18" charset="0"/>
              </a:rPr>
              <a:t>v</a:t>
            </a:r>
            <a:r>
              <a:rPr lang="en-US" altLang="zh-CN" sz="2800" b="1" baseline="-25000" dirty="0">
                <a:latin typeface="Times New Roman" pitchFamily="18" charset="0"/>
              </a:rPr>
              <a:t>2</a:t>
            </a:r>
            <a:r>
              <a:rPr lang="en-US" altLang="zh-CN" sz="2800" b="1" i="1" baseline="-25000" dirty="0">
                <a:latin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</a:rPr>
              <a:t>= </a:t>
            </a:r>
            <a:r>
              <a:rPr lang="en-US" altLang="zh-CN" sz="2800" b="1" dirty="0">
                <a:latin typeface="Times New Roman" pitchFamily="18" charset="0"/>
              </a:rPr>
              <a:t>const</a:t>
            </a:r>
          </a:p>
          <a:p>
            <a:pPr marL="0" lvl="3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定熵过程：</a:t>
            </a:r>
            <a:r>
              <a:rPr lang="en-US" altLang="zh-CN" sz="2800" b="1" i="1" dirty="0">
                <a:latin typeface="Times New Roman" pitchFamily="18" charset="0"/>
              </a:rPr>
              <a:t>s = </a:t>
            </a:r>
            <a:r>
              <a:rPr lang="en-US" altLang="zh-CN" sz="2800" b="1" dirty="0">
                <a:latin typeface="Times New Roman" pitchFamily="18" charset="0"/>
              </a:rPr>
              <a:t>const</a:t>
            </a:r>
            <a:r>
              <a:rPr lang="en-US" altLang="zh-CN" sz="2800" b="1" i="1" dirty="0">
                <a:latin typeface="Times New Roman" pitchFamily="18" charset="0"/>
              </a:rPr>
              <a:t> →  </a:t>
            </a:r>
          </a:p>
          <a:p>
            <a:pPr marL="0" lvl="3">
              <a:lnSpc>
                <a:spcPct val="150000"/>
              </a:lnSpc>
            </a:pPr>
            <a:r>
              <a:rPr lang="en-US" altLang="zh-CN" sz="2800" b="1" i="1" dirty="0">
                <a:latin typeface="Times New Roman" pitchFamily="18" charset="0"/>
              </a:rPr>
              <a:t>                  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将多变过程公式中的 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换为 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κ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800" b="1" dirty="0">
                <a:latin typeface="Times New Roman" pitchFamily="18" charset="0"/>
              </a:rPr>
              <a:t>      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36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965896" y="1357298"/>
            <a:ext cx="67185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功量和热量的计算</a:t>
            </a:r>
          </a:p>
        </p:txBody>
      </p:sp>
      <p:sp>
        <p:nvSpPr>
          <p:cNvPr id="30" name="矩形 29"/>
          <p:cNvSpPr/>
          <p:nvPr/>
        </p:nvSpPr>
        <p:spPr>
          <a:xfrm>
            <a:off x="251520" y="1357298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3.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357158" y="2048524"/>
            <a:ext cx="36760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(1)  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功量（</a:t>
            </a:r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种途径）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445060"/>
              </p:ext>
            </p:extLst>
          </p:nvPr>
        </p:nvGraphicFramePr>
        <p:xfrm>
          <a:off x="2989263" y="2719388"/>
          <a:ext cx="186055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5" name="公式" r:id="rId7" imgW="711000" imgH="266400" progId="Equation.3">
                  <p:embed/>
                </p:oleObj>
              </mc:Choice>
              <mc:Fallback>
                <p:oleObj name="公式" r:id="rId7" imgW="711000" imgH="266400" progId="Equation.3">
                  <p:embed/>
                  <p:pic>
                    <p:nvPicPr>
                      <p:cNvPr id="0" name="Picture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3" y="2719388"/>
                        <a:ext cx="1860550" cy="69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683568" y="2834342"/>
            <a:ext cx="18421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途径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：由</a:t>
            </a: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4652994" y="2838449"/>
            <a:ext cx="29433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，可推得容积功</a:t>
            </a:r>
          </a:p>
        </p:txBody>
      </p:sp>
      <p:graphicFrame>
        <p:nvGraphicFramePr>
          <p:cNvPr id="2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646618"/>
              </p:ext>
            </p:extLst>
          </p:nvPr>
        </p:nvGraphicFramePr>
        <p:xfrm>
          <a:off x="873125" y="3781425"/>
          <a:ext cx="7570788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6" name="公式" r:id="rId9" imgW="2895480" imgH="368280" progId="Equation.3">
                  <p:embed/>
                </p:oleObj>
              </mc:Choice>
              <mc:Fallback>
                <p:oleObj name="公式" r:id="rId9" imgW="2895480" imgH="368280" progId="Equation.3">
                  <p:embed/>
                  <p:pic>
                    <p:nvPicPr>
                      <p:cNvPr id="0" name="Picture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3781425"/>
                        <a:ext cx="7570788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447859"/>
              </p:ext>
            </p:extLst>
          </p:nvPr>
        </p:nvGraphicFramePr>
        <p:xfrm>
          <a:off x="973138" y="4933950"/>
          <a:ext cx="2224087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7" name="公式" r:id="rId11" imgW="850680" imgH="368280" progId="Equation.3">
                  <p:embed/>
                </p:oleObj>
              </mc:Choice>
              <mc:Fallback>
                <p:oleObj name="公式" r:id="rId11" imgW="850680" imgH="368280" progId="Equation.3">
                  <p:embed/>
                  <p:pic>
                    <p:nvPicPr>
                      <p:cNvPr id="0" name="Picture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4933950"/>
                        <a:ext cx="2224087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4765105" y="5157192"/>
            <a:ext cx="18181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3.51a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 animBg="1"/>
      <p:bldP spid="21" grpId="0"/>
      <p:bldP spid="23" grpId="0"/>
      <p:bldP spid="24" grpId="0"/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37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graphicFrame>
        <p:nvGraphicFramePr>
          <p:cNvPr id="31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699324277"/>
              </p:ext>
            </p:extLst>
          </p:nvPr>
        </p:nvGraphicFramePr>
        <p:xfrm>
          <a:off x="1344621" y="1685327"/>
          <a:ext cx="4451516" cy="108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29" name="公式" r:id="rId7" imgW="1511280" imgH="368280" progId="Equation.3">
                  <p:embed/>
                </p:oleObj>
              </mc:Choice>
              <mc:Fallback>
                <p:oleObj name="公式" r:id="rId7" imgW="1511280" imgH="368280" progId="Equation.3">
                  <p:embed/>
                  <p:pic>
                    <p:nvPicPr>
                      <p:cNvPr id="0" name="Picture 16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21" y="1685327"/>
                        <a:ext cx="4451516" cy="1084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571472" y="1196752"/>
            <a:ext cx="37753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类似方法可推得技术功</a:t>
            </a:r>
          </a:p>
        </p:txBody>
      </p:sp>
      <p:sp>
        <p:nvSpPr>
          <p:cNvPr id="35" name="Rectangle 3"/>
          <p:cNvSpPr>
            <a:spLocks noChangeArrowheads="1"/>
          </p:cNvSpPr>
          <p:nvPr/>
        </p:nvSpPr>
        <p:spPr bwMode="auto">
          <a:xfrm>
            <a:off x="599515" y="3284983"/>
            <a:ext cx="1859653" cy="72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70000"/>
              </a:lnSpc>
            </a:pPr>
            <a:r>
              <a:rPr lang="zh-CN" altLang="en-US" sz="2800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等温过程：</a:t>
            </a:r>
          </a:p>
        </p:txBody>
      </p:sp>
      <p:graphicFrame>
        <p:nvGraphicFramePr>
          <p:cNvPr id="3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786767"/>
              </p:ext>
            </p:extLst>
          </p:nvPr>
        </p:nvGraphicFramePr>
        <p:xfrm>
          <a:off x="3009026" y="5185870"/>
          <a:ext cx="1858181" cy="619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30" name="公式" r:id="rId9" imgW="685800" imgH="228600" progId="Equation.3">
                  <p:embed/>
                </p:oleObj>
              </mc:Choice>
              <mc:Fallback>
                <p:oleObj name="公式" r:id="rId9" imgW="685800" imgH="228600" progId="Equation.3">
                  <p:embed/>
                  <p:pic>
                    <p:nvPicPr>
                      <p:cNvPr id="0" name="Picture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026" y="5185870"/>
                        <a:ext cx="1858181" cy="6193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571604" y="5115301"/>
            <a:ext cx="543739" cy="66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endParaRPr kumimoji="0" lang="zh-CN" altLang="en-US" sz="280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825576" y="2823318"/>
            <a:ext cx="45496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（以上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式对定温过程不适用）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167877"/>
              </p:ext>
            </p:extLst>
          </p:nvPr>
        </p:nvGraphicFramePr>
        <p:xfrm>
          <a:off x="922096" y="3861048"/>
          <a:ext cx="7727398" cy="12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31" name="公式" r:id="rId11" imgW="2577960" imgH="406080" progId="Equation.3">
                  <p:embed/>
                </p:oleObj>
              </mc:Choice>
              <mc:Fallback>
                <p:oleObj name="公式" r:id="rId11" imgW="2577960" imgH="406080" progId="Equation.3">
                  <p:embed/>
                  <p:pic>
                    <p:nvPicPr>
                      <p:cNvPr id="0" name="Picture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96" y="3861048"/>
                        <a:ext cx="7727398" cy="1219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6336862" y="1988840"/>
            <a:ext cx="18181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3.52a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4" grpId="0"/>
      <p:bldP spid="25" grpId="0"/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38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364057" y="2780928"/>
            <a:ext cx="8600431" cy="1973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00200" lvl="3" indent="-1193800" eaLnBrk="0" hangingPunct="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等熵过程：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 过程方程与多变过程相似，其功量计算</a:t>
            </a:r>
          </a:p>
          <a:p>
            <a:pPr marL="1600200" lvl="3" indent="-1193800" eaLnBrk="0" hangingPunct="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表达式也与多变过程相似，同样是将多变过程公式</a:t>
            </a:r>
          </a:p>
          <a:p>
            <a:pPr marL="1600200" lvl="3" indent="-1193800" eaLnBrk="0" hangingPunct="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中的 </a:t>
            </a:r>
            <a:r>
              <a:rPr lang="en-US" altLang="zh-CN" sz="28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换为</a:t>
            </a:r>
            <a:r>
              <a:rPr lang="en-US" altLang="zh-CN" sz="3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κ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755576" y="1151571"/>
            <a:ext cx="1872208" cy="1557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70000"/>
              </a:lnSpc>
            </a:pPr>
            <a:r>
              <a:rPr lang="zh-CN" altLang="en-US" sz="2800" dirty="0">
                <a:solidFill>
                  <a:srgbClr val="CC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等容过程：</a:t>
            </a:r>
          </a:p>
          <a:p>
            <a:pPr>
              <a:lnSpc>
                <a:spcPct val="170000"/>
              </a:lnSpc>
            </a:pPr>
            <a:r>
              <a:rPr lang="zh-CN" altLang="en-US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等压过程：</a:t>
            </a:r>
          </a:p>
        </p:txBody>
      </p:sp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278282"/>
              </p:ext>
            </p:extLst>
          </p:nvPr>
        </p:nvGraphicFramePr>
        <p:xfrm>
          <a:off x="3406775" y="1389063"/>
          <a:ext cx="35925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7" name="公式" r:id="rId7" imgW="1358640" imgH="190440" progId="Equation.3">
                  <p:embed/>
                </p:oleObj>
              </mc:Choice>
              <mc:Fallback>
                <p:oleObj name="公式" r:id="rId7" imgW="1358640" imgH="190440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1389063"/>
                        <a:ext cx="3592513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871215"/>
              </p:ext>
            </p:extLst>
          </p:nvPr>
        </p:nvGraphicFramePr>
        <p:xfrm>
          <a:off x="2776240" y="2060848"/>
          <a:ext cx="4425280" cy="57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8" name="公式" r:id="rId9" imgW="1714500" imgH="228600" progId="Equation.3">
                  <p:embed/>
                </p:oleObj>
              </mc:Choice>
              <mc:Fallback>
                <p:oleObj name="公式" r:id="rId9" imgW="1714500" imgH="228600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240" y="2060848"/>
                        <a:ext cx="4425280" cy="5777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326259"/>
              </p:ext>
            </p:extLst>
          </p:nvPr>
        </p:nvGraphicFramePr>
        <p:xfrm>
          <a:off x="6041139" y="4735073"/>
          <a:ext cx="138271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9" name="公式" r:id="rId11" imgW="457200" imgH="190440" progId="Equation.3">
                  <p:embed/>
                </p:oleObj>
              </mc:Choice>
              <mc:Fallback>
                <p:oleObj name="公式" r:id="rId11" imgW="457200" imgH="190440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139" y="4735073"/>
                        <a:ext cx="1382713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827584" y="4770147"/>
            <a:ext cx="49685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由（</a:t>
            </a:r>
            <a:r>
              <a:rPr lang="en-US" altLang="zh-CN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3.51a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）和（</a:t>
            </a:r>
            <a:r>
              <a:rPr lang="en-US" altLang="zh-CN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3.52a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），有</a:t>
            </a:r>
          </a:p>
        </p:txBody>
      </p:sp>
      <p:sp>
        <p:nvSpPr>
          <p:cNvPr id="14" name="矩形 13"/>
          <p:cNvSpPr/>
          <p:nvPr/>
        </p:nvSpPr>
        <p:spPr>
          <a:xfrm>
            <a:off x="943292" y="5445224"/>
            <a:ext cx="5211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显然，上式对定容过程不适用。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6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39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395536" y="1331039"/>
            <a:ext cx="5073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途径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利用能量方程计算功量</a:t>
            </a:r>
          </a:p>
        </p:txBody>
      </p:sp>
      <p:graphicFrame>
        <p:nvGraphicFramePr>
          <p:cNvPr id="31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20586872"/>
              </p:ext>
            </p:extLst>
          </p:nvPr>
        </p:nvGraphicFramePr>
        <p:xfrm>
          <a:off x="2659063" y="1988840"/>
          <a:ext cx="40386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7" name="公式" r:id="rId7" imgW="1663700" imgH="228600" progId="Equation.3">
                  <p:embed/>
                </p:oleObj>
              </mc:Choice>
              <mc:Fallback>
                <p:oleObj name="公式" r:id="rId7" imgW="1663700" imgH="228600" progId="Equation.3">
                  <p:embed/>
                  <p:pic>
                    <p:nvPicPr>
                      <p:cNvPr id="0" name="Picture 1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1988840"/>
                        <a:ext cx="40386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3262330" y="2697173"/>
          <a:ext cx="38100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8" name="公式" r:id="rId9" imgW="1651000" imgH="228600" progId="Equation.3">
                  <p:embed/>
                </p:oleObj>
              </mc:Choice>
              <mc:Fallback>
                <p:oleObj name="公式" r:id="rId9" imgW="1651000" imgH="228600" progId="Equation.3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30" y="2697173"/>
                        <a:ext cx="3810000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049791"/>
              </p:ext>
            </p:extLst>
          </p:nvPr>
        </p:nvGraphicFramePr>
        <p:xfrm>
          <a:off x="3948130" y="3976447"/>
          <a:ext cx="1415958" cy="620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9" name="公式" r:id="rId11" imgW="520700" imgH="228600" progId="Equation.3">
                  <p:embed/>
                </p:oleObj>
              </mc:Choice>
              <mc:Fallback>
                <p:oleObj name="公式" r:id="rId11" imgW="520700" imgH="228600" progId="Equation.3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130" y="3976447"/>
                        <a:ext cx="1415958" cy="6209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6"/>
          <p:cNvSpPr>
            <a:spLocks noChangeArrowheads="1"/>
          </p:cNvSpPr>
          <p:nvPr/>
        </p:nvSpPr>
        <p:spPr bwMode="auto">
          <a:xfrm>
            <a:off x="1052530" y="2695573"/>
            <a:ext cx="1970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等熵过程：</a:t>
            </a:r>
          </a:p>
        </p:txBody>
      </p:sp>
      <p:graphicFrame>
        <p:nvGraphicFramePr>
          <p:cNvPr id="37" name="Object 7"/>
          <p:cNvGraphicFramePr>
            <a:graphicFrameLocks noChangeAspect="1"/>
          </p:cNvGraphicFramePr>
          <p:nvPr/>
        </p:nvGraphicFramePr>
        <p:xfrm>
          <a:off x="3262330" y="3357562"/>
          <a:ext cx="3048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0" name="公式" r:id="rId13" imgW="1384300" imgH="241300" progId="Equation.3">
                  <p:embed/>
                </p:oleObj>
              </mc:Choice>
              <mc:Fallback>
                <p:oleObj name="公式" r:id="rId13" imgW="1384300" imgH="241300" progId="Equation.3">
                  <p:embed/>
                  <p:pic>
                    <p:nvPicPr>
                      <p:cNvPr id="0" name="Picture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30" y="3357562"/>
                        <a:ext cx="30480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8"/>
          <p:cNvSpPr>
            <a:spLocks noChangeArrowheads="1"/>
          </p:cNvSpPr>
          <p:nvPr/>
        </p:nvSpPr>
        <p:spPr bwMode="auto">
          <a:xfrm>
            <a:off x="304800" y="4643446"/>
            <a:ext cx="8839200" cy="1233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上面公式对理想气体可逆绝热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等熵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过程和不可逆绝</a:t>
            </a:r>
            <a:r>
              <a:rPr 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热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过程均成立，绝热过程的技术功均为容积功的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κ 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40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357158" y="1285860"/>
            <a:ext cx="36760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(2) 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热量（</a:t>
            </a:r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种途径）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714348" y="2000240"/>
            <a:ext cx="84112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途径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利用比热容 （对定压和定容过程非常方便）</a:t>
            </a: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741387" y="2827354"/>
            <a:ext cx="40094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途径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利用熵的定义式</a:t>
            </a:r>
          </a:p>
        </p:txBody>
      </p:sp>
      <p:graphicFrame>
        <p:nvGraphicFramePr>
          <p:cNvPr id="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088224"/>
              </p:ext>
            </p:extLst>
          </p:nvPr>
        </p:nvGraphicFramePr>
        <p:xfrm>
          <a:off x="4941888" y="2693988"/>
          <a:ext cx="11874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55" name="公式" r:id="rId7" imgW="444240" imgH="342720" progId="Equation.3">
                  <p:embed/>
                </p:oleObj>
              </mc:Choice>
              <mc:Fallback>
                <p:oleObj name="公式" r:id="rId7" imgW="444240" imgH="342720" progId="Equation.3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2693988"/>
                        <a:ext cx="1187450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6218263" y="2827354"/>
            <a:ext cx="2068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，可推得：</a:t>
            </a:r>
            <a:r>
              <a:rPr lang="zh-CN" altLang="en-US" sz="2800" b="1" dirty="0"/>
              <a:t> </a:t>
            </a:r>
          </a:p>
        </p:txBody>
      </p:sp>
      <p:graphicFrame>
        <p:nvGraphicFramePr>
          <p:cNvPr id="3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120937"/>
              </p:ext>
            </p:extLst>
          </p:nvPr>
        </p:nvGraphicFramePr>
        <p:xfrm>
          <a:off x="3676650" y="3519488"/>
          <a:ext cx="14224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56" name="公式" r:id="rId9" imgW="545760" imgH="266400" progId="Equation.3">
                  <p:embed/>
                </p:oleObj>
              </mc:Choice>
              <mc:Fallback>
                <p:oleObj name="公式" r:id="rId9" imgW="545760" imgH="266400" progId="Equation.3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650" y="3519488"/>
                        <a:ext cx="1422400" cy="69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785786" y="4351354"/>
            <a:ext cx="49260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定温过程选用此公式很方便 。</a:t>
            </a:r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436587" y="5214950"/>
            <a:ext cx="33473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定温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过程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p18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endParaRPr lang="zh-CN" altLang="en-US" sz="2800" b="1" dirty="0"/>
          </a:p>
        </p:txBody>
      </p:sp>
      <p:graphicFrame>
        <p:nvGraphicFramePr>
          <p:cNvPr id="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226969"/>
              </p:ext>
            </p:extLst>
          </p:nvPr>
        </p:nvGraphicFramePr>
        <p:xfrm>
          <a:off x="2730500" y="5037138"/>
          <a:ext cx="507365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57" name="公式" r:id="rId11" imgW="2120760" imgH="380880" progId="Equation.3">
                  <p:embed/>
                </p:oleObj>
              </mc:Choice>
              <mc:Fallback>
                <p:oleObj name="公式" r:id="rId11" imgW="2120760" imgH="380880" progId="Equation.3">
                  <p:embed/>
                  <p:pic>
                    <p:nvPicPr>
                      <p:cNvPr id="0" name="Picture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5037138"/>
                        <a:ext cx="5073650" cy="903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32" grpId="0"/>
      <p:bldP spid="39" grpId="0"/>
      <p:bldP spid="4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41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888976" y="1481127"/>
            <a:ext cx="3733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途径</a:t>
            </a:r>
            <a:r>
              <a:rPr lang="en-US" altLang="zh-CN" sz="28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利用能量方程</a:t>
            </a:r>
          </a:p>
        </p:txBody>
      </p:sp>
      <p:graphicFrame>
        <p:nvGraphicFramePr>
          <p:cNvPr id="3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205606"/>
              </p:ext>
            </p:extLst>
          </p:nvPr>
        </p:nvGraphicFramePr>
        <p:xfrm>
          <a:off x="1571604" y="1990705"/>
          <a:ext cx="5584576" cy="971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5" name="公式" r:id="rId7" imgW="2425700" imgH="419100" progId="Equation.3">
                  <p:embed/>
                </p:oleObj>
              </mc:Choice>
              <mc:Fallback>
                <p:oleObj name="公式" r:id="rId7" imgW="2425700" imgH="419100" progId="Equation.3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1990705"/>
                        <a:ext cx="5584576" cy="971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076686"/>
              </p:ext>
            </p:extLst>
          </p:nvPr>
        </p:nvGraphicFramePr>
        <p:xfrm>
          <a:off x="2827470" y="4125653"/>
          <a:ext cx="22860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6" name="公式" r:id="rId9" imgW="901309" imgH="228501" progId="Equation.3">
                  <p:embed/>
                </p:oleObj>
              </mc:Choice>
              <mc:Fallback>
                <p:oleObj name="公式" r:id="rId9" imgW="901309" imgH="228501" progId="Equation.3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470" y="4125653"/>
                        <a:ext cx="2286000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020905"/>
              </p:ext>
            </p:extLst>
          </p:nvPr>
        </p:nvGraphicFramePr>
        <p:xfrm>
          <a:off x="2941770" y="4859078"/>
          <a:ext cx="18288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7" name="公式" r:id="rId11" imgW="710891" imgH="355446" progId="Equation.3">
                  <p:embed/>
                </p:oleObj>
              </mc:Choice>
              <mc:Fallback>
                <p:oleObj name="公式" r:id="rId11" imgW="710891" imgH="355446" progId="Equation.3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770" y="4859078"/>
                        <a:ext cx="1828800" cy="906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998646" y="4193905"/>
            <a:ext cx="1612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可推得：</a:t>
            </a:r>
          </a:p>
        </p:txBody>
      </p:sp>
      <p:graphicFrame>
        <p:nvGraphicFramePr>
          <p:cNvPr id="3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069219"/>
              </p:ext>
            </p:extLst>
          </p:nvPr>
        </p:nvGraphicFramePr>
        <p:xfrm>
          <a:off x="1859675" y="2852936"/>
          <a:ext cx="2900370" cy="103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8" name="公式" r:id="rId13" imgW="1358310" imgH="482391" progId="Equation.3">
                  <p:embed/>
                </p:oleObj>
              </mc:Choice>
              <mc:Fallback>
                <p:oleObj name="公式" r:id="rId13" imgW="1358310" imgH="482391" progId="Equation.3">
                  <p:embed/>
                  <p:pic>
                    <p:nvPicPr>
                      <p:cNvPr id="0" name="Picture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675" y="2852936"/>
                        <a:ext cx="2900370" cy="10314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4961070" y="5136891"/>
            <a:ext cx="24753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— 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多变比热容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6471568" y="4134023"/>
            <a:ext cx="122510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(3.54)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42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458476" y="1340768"/>
            <a:ext cx="8429652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0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=±∞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∞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表示定温过程中不论系统与外界交换多少热量，系统的温度始终不变。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所以，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等温过程不能用式（</a:t>
            </a:r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3.54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）计算热量。 </a:t>
            </a:r>
          </a:p>
        </p:txBody>
      </p:sp>
      <p:graphicFrame>
        <p:nvGraphicFramePr>
          <p:cNvPr id="819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277455"/>
              </p:ext>
            </p:extLst>
          </p:nvPr>
        </p:nvGraphicFramePr>
        <p:xfrm>
          <a:off x="2987059" y="1412776"/>
          <a:ext cx="2558408" cy="736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6" name="公式" r:id="rId7" imgW="736280" imgH="215806" progId="Equation.3">
                  <p:embed/>
                </p:oleObj>
              </mc:Choice>
              <mc:Fallback>
                <p:oleObj name="公式" r:id="rId7" imgW="736280" imgH="215806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059" y="1412776"/>
                        <a:ext cx="2558408" cy="7366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734882"/>
              </p:ext>
            </p:extLst>
          </p:nvPr>
        </p:nvGraphicFramePr>
        <p:xfrm>
          <a:off x="3036218" y="2060848"/>
          <a:ext cx="1295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7" name="公式" r:id="rId9" imgW="457200" imgH="228600" progId="Equation.3">
                  <p:embed/>
                </p:oleObj>
              </mc:Choice>
              <mc:Fallback>
                <p:oleObj name="公式" r:id="rId9" imgW="457200" imgH="228600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218" y="2060848"/>
                        <a:ext cx="12954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571472" y="4619335"/>
            <a:ext cx="7672936" cy="674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当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κ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0 , 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等熵过程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可直接判断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q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 0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5910" y="5293366"/>
            <a:ext cx="6822394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5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说明等熵过程工质不需吸热温度也能升高。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43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4276756" y="2280692"/>
            <a:ext cx="4495800" cy="195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endParaRPr lang="zh-CN" altLang="en-US" sz="2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定熵过程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热量计算公式不再与多变过程类似。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688535" y="1484784"/>
            <a:ext cx="5822032" cy="674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如下图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1-2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过程，加压使温度升高。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923956" y="4653136"/>
            <a:ext cx="7696200" cy="12033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途径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实际上是利用能量方程求出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，然后又归于途径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52556" y="2276872"/>
            <a:ext cx="2630488" cy="220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44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655861" y="1196752"/>
            <a:ext cx="2437656" cy="674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由能量方程</a:t>
            </a:r>
          </a:p>
        </p:txBody>
      </p:sp>
      <p:graphicFrame>
        <p:nvGraphicFramePr>
          <p:cNvPr id="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266563"/>
              </p:ext>
            </p:extLst>
          </p:nvPr>
        </p:nvGraphicFramePr>
        <p:xfrm>
          <a:off x="2195737" y="1849169"/>
          <a:ext cx="3240359" cy="533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4" name="公式" r:id="rId7" imgW="1422400" imgH="228600" progId="Equation.3">
                  <p:embed/>
                </p:oleObj>
              </mc:Choice>
              <mc:Fallback>
                <p:oleObj name="公式" r:id="rId7" imgW="1422400" imgH="228600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7" y="1849169"/>
                        <a:ext cx="3240359" cy="5335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912816"/>
              </p:ext>
            </p:extLst>
          </p:nvPr>
        </p:nvGraphicFramePr>
        <p:xfrm>
          <a:off x="2194149" y="2533230"/>
          <a:ext cx="3241947" cy="553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5" name="公式" r:id="rId9" imgW="1485900" imgH="241300" progId="Equation.3">
                  <p:embed/>
                </p:oleObj>
              </mc:Choice>
              <mc:Fallback>
                <p:oleObj name="公式" r:id="rId9" imgW="1485900" imgH="241300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149" y="2533230"/>
                        <a:ext cx="3241947" cy="5536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729457" y="3140968"/>
            <a:ext cx="48494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可推出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等温过程：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q=w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</a:t>
            </a:r>
            <a:endParaRPr lang="en-US" altLang="zh-CN" sz="28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726826" y="3689012"/>
            <a:ext cx="7517582" cy="1126462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各种过程的过程方程、基本状态参数间的关系、及功量和热量的计算公式见</a:t>
            </a:r>
            <a:r>
              <a:rPr lang="en-US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P.51</a:t>
            </a:r>
            <a:r>
              <a:rPr lang="zh-CN" altLang="en-US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729457" y="4822818"/>
            <a:ext cx="7068566" cy="11264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lvl="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使用条件：状态量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: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定比热、理想气体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marL="342900" lvl="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              过程量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: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定比热、理想气体、可逆过程。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45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357158" y="1285860"/>
            <a:ext cx="57364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lvl="3"/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(3)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过程在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p-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图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zh-CN" altLang="en-US" sz="16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T-s</a:t>
            </a:r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图上的表示</a:t>
            </a: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571472" y="1839056"/>
            <a:ext cx="5325415" cy="614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457200" lvl="3" indent="-457200" eaLnBrk="0" hangingPunct="0">
              <a:lnSpc>
                <a:spcPct val="135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四种基本过程线的斜率特点</a:t>
            </a:r>
          </a:p>
        </p:txBody>
      </p:sp>
      <p:grpSp>
        <p:nvGrpSpPr>
          <p:cNvPr id="30" name="Group 6"/>
          <p:cNvGrpSpPr>
            <a:grpSpLocks/>
          </p:cNvGrpSpPr>
          <p:nvPr/>
        </p:nvGrpSpPr>
        <p:grpSpPr bwMode="auto">
          <a:xfrm>
            <a:off x="4071934" y="5059420"/>
            <a:ext cx="3887788" cy="592138"/>
            <a:chOff x="295" y="426"/>
            <a:chExt cx="2449" cy="373"/>
          </a:xfrm>
        </p:grpSpPr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295" y="472"/>
              <a:ext cx="1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zh-CN" sz="2800" b="1">
                <a:ea typeface="方正书宋简体" charset="-122"/>
                <a:cs typeface="Times New Roman" pitchFamily="18" charset="0"/>
                <a:sym typeface="Symbol" pitchFamily="18" charset="2"/>
              </a:endParaRPr>
            </a:p>
          </p:txBody>
        </p:sp>
        <p:grpSp>
          <p:nvGrpSpPr>
            <p:cNvPr id="33" name="Group 8"/>
            <p:cNvGrpSpPr>
              <a:grpSpLocks/>
            </p:cNvGrpSpPr>
            <p:nvPr/>
          </p:nvGrpSpPr>
          <p:grpSpPr bwMode="auto">
            <a:xfrm>
              <a:off x="748" y="426"/>
              <a:ext cx="227" cy="327"/>
              <a:chOff x="1837" y="2795"/>
              <a:chExt cx="227" cy="327"/>
            </a:xfrm>
          </p:grpSpPr>
          <p:sp>
            <p:nvSpPr>
              <p:cNvPr id="44" name="Oval 9"/>
              <p:cNvSpPr>
                <a:spLocks noChangeArrowheads="1"/>
              </p:cNvSpPr>
              <p:nvPr/>
            </p:nvSpPr>
            <p:spPr bwMode="auto">
              <a:xfrm>
                <a:off x="1837" y="2887"/>
                <a:ext cx="227" cy="22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Text Box 10"/>
              <p:cNvSpPr txBox="1">
                <a:spLocks noChangeArrowheads="1"/>
              </p:cNvSpPr>
              <p:nvPr/>
            </p:nvSpPr>
            <p:spPr bwMode="auto">
              <a:xfrm>
                <a:off x="1837" y="2795"/>
                <a:ext cx="227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>
                    <a:latin typeface="Times New Roman" pitchFamily="18" charset="0"/>
                  </a:rPr>
                  <a:t>s</a:t>
                </a:r>
              </a:p>
            </p:txBody>
          </p:sp>
        </p:grpSp>
        <p:grpSp>
          <p:nvGrpSpPr>
            <p:cNvPr id="39" name="Group 11"/>
            <p:cNvGrpSpPr>
              <a:grpSpLocks/>
            </p:cNvGrpSpPr>
            <p:nvPr/>
          </p:nvGrpSpPr>
          <p:grpSpPr bwMode="auto">
            <a:xfrm>
              <a:off x="1610" y="462"/>
              <a:ext cx="317" cy="327"/>
              <a:chOff x="1565" y="2387"/>
              <a:chExt cx="317" cy="327"/>
            </a:xfrm>
          </p:grpSpPr>
          <p:sp>
            <p:nvSpPr>
              <p:cNvPr id="42" name="Oval 12"/>
              <p:cNvSpPr>
                <a:spLocks noChangeArrowheads="1"/>
              </p:cNvSpPr>
              <p:nvPr/>
            </p:nvSpPr>
            <p:spPr bwMode="auto">
              <a:xfrm>
                <a:off x="1565" y="2433"/>
                <a:ext cx="227" cy="22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Text Box 13"/>
              <p:cNvSpPr txBox="1">
                <a:spLocks noChangeArrowheads="1"/>
              </p:cNvSpPr>
              <p:nvPr/>
            </p:nvSpPr>
            <p:spPr bwMode="auto">
              <a:xfrm>
                <a:off x="1565" y="2387"/>
                <a:ext cx="317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>
                    <a:latin typeface="Times New Roman" pitchFamily="18" charset="0"/>
                  </a:rPr>
                  <a:t>T </a:t>
                </a:r>
              </a:p>
            </p:txBody>
          </p:sp>
        </p:grpSp>
        <p:sp>
          <p:nvSpPr>
            <p:cNvPr id="40" name="Text Box 14"/>
            <p:cNvSpPr txBox="1">
              <a:spLocks noChangeArrowheads="1"/>
            </p:cNvSpPr>
            <p:nvPr/>
          </p:nvSpPr>
          <p:spPr bwMode="auto">
            <a:xfrm>
              <a:off x="1020" y="462"/>
              <a:ext cx="72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微软雅黑" pitchFamily="34" charset="-122"/>
                  <a:ea typeface="微软雅黑" pitchFamily="34" charset="-122"/>
                </a:rPr>
                <a:t>线比</a:t>
              </a:r>
            </a:p>
          </p:txBody>
        </p:sp>
        <p:sp>
          <p:nvSpPr>
            <p:cNvPr id="41" name="Text Box 15"/>
            <p:cNvSpPr txBox="1">
              <a:spLocks noChangeArrowheads="1"/>
            </p:cNvSpPr>
            <p:nvPr/>
          </p:nvSpPr>
          <p:spPr bwMode="auto">
            <a:xfrm>
              <a:off x="1927" y="462"/>
              <a:ext cx="8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微软雅黑" pitchFamily="34" charset="-122"/>
                  <a:ea typeface="微软雅黑" pitchFamily="34" charset="-122"/>
                </a:rPr>
                <a:t>线陡</a:t>
              </a:r>
            </a:p>
          </p:txBody>
        </p:sp>
      </p:grpSp>
      <p:graphicFrame>
        <p:nvGraphicFramePr>
          <p:cNvPr id="4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372780"/>
              </p:ext>
            </p:extLst>
          </p:nvPr>
        </p:nvGraphicFramePr>
        <p:xfrm>
          <a:off x="1000100" y="3140968"/>
          <a:ext cx="2214578" cy="960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96" name="公式" r:id="rId7" imgW="1028254" imgH="444307" progId="Equation.3">
                  <p:embed/>
                </p:oleObj>
              </mc:Choice>
              <mc:Fallback>
                <p:oleObj name="公式" r:id="rId7" imgW="1028254" imgH="444307" progId="Equation.3">
                  <p:embed/>
                  <p:pic>
                    <p:nvPicPr>
                      <p:cNvPr id="0" name="Picture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3140968"/>
                        <a:ext cx="2214578" cy="9603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020502"/>
              </p:ext>
            </p:extLst>
          </p:nvPr>
        </p:nvGraphicFramePr>
        <p:xfrm>
          <a:off x="3421886" y="3140968"/>
          <a:ext cx="1942202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97" name="公式" r:id="rId9" imgW="939392" imgH="444307" progId="Equation.3">
                  <p:embed/>
                </p:oleObj>
              </mc:Choice>
              <mc:Fallback>
                <p:oleObj name="公式" r:id="rId9" imgW="939392" imgH="444307" progId="Equation.3">
                  <p:embed/>
                  <p:pic>
                    <p:nvPicPr>
                      <p:cNvPr id="0" name="Picture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886" y="3140968"/>
                        <a:ext cx="1942202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383698"/>
              </p:ext>
            </p:extLst>
          </p:nvPr>
        </p:nvGraphicFramePr>
        <p:xfrm>
          <a:off x="5715007" y="3140968"/>
          <a:ext cx="2384419" cy="102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98" name="公式" r:id="rId11" imgW="1129810" imgH="482391" progId="Equation.3">
                  <p:embed/>
                </p:oleObj>
              </mc:Choice>
              <mc:Fallback>
                <p:oleObj name="公式" r:id="rId11" imgW="1129810" imgH="482391" progId="Equation.3">
                  <p:embed/>
                  <p:pic>
                    <p:nvPicPr>
                      <p:cNvPr id="0" name="Picture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7" y="3140968"/>
                        <a:ext cx="2384419" cy="102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" name="Picture 2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1259632" y="4303844"/>
            <a:ext cx="2669426" cy="2332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矩形 49"/>
          <p:cNvSpPr/>
          <p:nvPr/>
        </p:nvSpPr>
        <p:spPr>
          <a:xfrm>
            <a:off x="357158" y="2428868"/>
            <a:ext cx="7643834" cy="616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0" lvl="3" indent="-1193800" eaLnBrk="0" hangingPunct="0">
              <a:lnSpc>
                <a:spcPct val="135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对定熵过程和定温过程的过程方程求导</a:t>
            </a:r>
          </a:p>
        </p:txBody>
      </p:sp>
      <p:sp>
        <p:nvSpPr>
          <p:cNvPr id="51" name="Rectangle 3"/>
          <p:cNvSpPr>
            <a:spLocks noChangeArrowheads="1"/>
          </p:cNvSpPr>
          <p:nvPr/>
        </p:nvSpPr>
        <p:spPr bwMode="auto">
          <a:xfrm>
            <a:off x="4643462" y="4437112"/>
            <a:ext cx="3429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∴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　在 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p-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图上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0" grpId="0"/>
      <p:bldP spid="5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4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46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571472" y="1405582"/>
            <a:ext cx="76199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同理可以证明在 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T-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图上，定容线比定压线陡。</a:t>
            </a:r>
          </a:p>
        </p:txBody>
      </p:sp>
      <p:sp>
        <p:nvSpPr>
          <p:cNvPr id="54" name="Rectangle 13"/>
          <p:cNvSpPr>
            <a:spLocks noChangeArrowheads="1"/>
          </p:cNvSpPr>
          <p:nvPr/>
        </p:nvSpPr>
        <p:spPr bwMode="auto">
          <a:xfrm>
            <a:off x="803468" y="4149080"/>
            <a:ext cx="3954213" cy="1304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∵ </a:t>
            </a:r>
            <a:r>
              <a:rPr lang="en-US" altLang="zh-CN" sz="2800" i="1" dirty="0" err="1">
                <a:latin typeface="Times New Roman" pitchFamily="18" charset="0"/>
              </a:rPr>
              <a:t>c</a:t>
            </a:r>
            <a:r>
              <a:rPr lang="en-US" altLang="zh-CN" sz="2800" i="1" baseline="-25000" dirty="0" err="1">
                <a:latin typeface="Times New Roman" pitchFamily="18" charset="0"/>
              </a:rPr>
              <a:t>V</a:t>
            </a:r>
            <a:r>
              <a:rPr lang="zh-CN" altLang="en-US" sz="2800" dirty="0">
                <a:latin typeface="Times New Roman" pitchFamily="18" charset="0"/>
              </a:rPr>
              <a:t>＜</a:t>
            </a:r>
            <a:r>
              <a:rPr lang="en-US" altLang="zh-CN" sz="2800" i="1" dirty="0" err="1">
                <a:latin typeface="Times New Roman" pitchFamily="18" charset="0"/>
              </a:rPr>
              <a:t>c</a:t>
            </a:r>
            <a:r>
              <a:rPr lang="en-US" altLang="zh-CN" sz="2800" i="1" baseline="-25000" dirty="0" err="1">
                <a:latin typeface="Times New Roman" pitchFamily="18" charset="0"/>
              </a:rPr>
              <a:t>p</a:t>
            </a:r>
            <a:r>
              <a:rPr lang="en-US" altLang="zh-CN" sz="2800" i="1" baseline="-25000" dirty="0">
                <a:latin typeface="Times New Roman" pitchFamily="18" charset="0"/>
              </a:rPr>
              <a:t> </a:t>
            </a:r>
            <a:endParaRPr lang="en-US" altLang="zh-CN" sz="2800" dirty="0">
              <a:latin typeface="Times New Roman" pitchFamily="18" charset="0"/>
              <a:ea typeface="方正书宋简体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∴ 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定容线比定压线陡。</a:t>
            </a:r>
          </a:p>
        </p:txBody>
      </p:sp>
      <p:pic>
        <p:nvPicPr>
          <p:cNvPr id="55" name="Picture 1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72132" y="3645024"/>
            <a:ext cx="2769666" cy="2428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571429" y="2314572"/>
            <a:ext cx="2068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定容过程： 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4714833" y="2314572"/>
            <a:ext cx="2068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定压过程： </a:t>
            </a: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642867" y="3212976"/>
            <a:ext cx="25717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均为对数曲线，</a:t>
            </a:r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3214635" y="3212976"/>
            <a:ext cx="2663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T-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图上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 ：</a:t>
            </a:r>
          </a:p>
        </p:txBody>
      </p:sp>
      <p:graphicFrame>
        <p:nvGraphicFramePr>
          <p:cNvPr id="4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199333"/>
              </p:ext>
            </p:extLst>
          </p:nvPr>
        </p:nvGraphicFramePr>
        <p:xfrm>
          <a:off x="2285941" y="2098948"/>
          <a:ext cx="1926019" cy="994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3" name="公式" r:id="rId8" imgW="1040948" imgH="533169" progId="Equation.3">
                  <p:embed/>
                </p:oleObj>
              </mc:Choice>
              <mc:Fallback>
                <p:oleObj name="公式" r:id="rId8" imgW="1040948" imgH="533169" progId="Equation.3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41" y="2098948"/>
                        <a:ext cx="1926019" cy="9943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474053"/>
              </p:ext>
            </p:extLst>
          </p:nvPr>
        </p:nvGraphicFramePr>
        <p:xfrm>
          <a:off x="6429345" y="2100259"/>
          <a:ext cx="1887071" cy="1008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4" name="公式" r:id="rId10" imgW="1028254" imgH="545863" progId="Equation.3">
                  <p:embed/>
                </p:oleObj>
              </mc:Choice>
              <mc:Fallback>
                <p:oleObj name="公式" r:id="rId10" imgW="1028254" imgH="545863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45" y="2100259"/>
                        <a:ext cx="1887071" cy="10083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0" grpId="0"/>
      <p:bldP spid="31" grpId="0"/>
      <p:bldP spid="32" grpId="0"/>
      <p:bldP spid="3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47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635270" y="1243460"/>
            <a:ext cx="7620000" cy="613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457200" lvl="3" indent="-457200" eaLnBrk="0" hangingPunct="0">
              <a:lnSpc>
                <a:spcPct val="135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各种过程的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p-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sz="105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图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T-s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图分析</a:t>
            </a: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795338" y="4929198"/>
            <a:ext cx="4873450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基本过程线是区域的分界线；</a:t>
            </a:r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827088" y="5498068"/>
            <a:ext cx="7681911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以定容线为界分为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个区域，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沿顺时针方向↑。</a:t>
            </a:r>
          </a:p>
        </p:txBody>
      </p:sp>
      <p:pic>
        <p:nvPicPr>
          <p:cNvPr id="40" name="Picture 8" descr="030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95338" y="1938664"/>
            <a:ext cx="7459932" cy="2876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48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492125" y="1182270"/>
            <a:ext cx="7319986" cy="662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例：作膨胀、吸热、降压、降温的过程线。   </a:t>
            </a:r>
          </a:p>
        </p:txBody>
      </p:sp>
      <p:pic>
        <p:nvPicPr>
          <p:cNvPr id="22" name="Picture 8" descr="030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71538" y="3239988"/>
            <a:ext cx="6819920" cy="2629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517152" y="2486293"/>
            <a:ext cx="79676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itchFamily="18" charset="0"/>
              </a:rPr>
              <a:t>2</a:t>
            </a:r>
            <a:r>
              <a:rPr lang="zh-CN" altLang="en-US" sz="2800" b="1" dirty="0">
                <a:latin typeface="ArialUnicodeMS" charset="-122"/>
                <a:ea typeface="ArialUnicodeMS" charset="-122"/>
              </a:rPr>
              <a:t>）根据过程特征或</a:t>
            </a:r>
            <a:r>
              <a:rPr lang="zh-CN" altLang="en-US" sz="2800" b="1" dirty="0"/>
              <a:t> </a:t>
            </a:r>
            <a:r>
              <a:rPr lang="en-US" altLang="zh-CN" sz="2800" b="1" i="1" dirty="0">
                <a:latin typeface="Times New Roman" pitchFamily="18" charset="0"/>
              </a:rPr>
              <a:t>n </a:t>
            </a:r>
            <a:r>
              <a:rPr lang="zh-CN" altLang="en-US" sz="2800" b="1" dirty="0"/>
              <a:t>值</a:t>
            </a:r>
            <a:r>
              <a:rPr lang="zh-CN" altLang="en-US" sz="2800" b="1" dirty="0">
                <a:latin typeface="ArialUnicodeMS" charset="-122"/>
                <a:ea typeface="ArialUnicodeMS" charset="-122"/>
              </a:rPr>
              <a:t>，确定过程线所在区间。</a:t>
            </a:r>
            <a:endParaRPr lang="en-US" altLang="zh-CN" sz="2800" b="1" dirty="0">
              <a:latin typeface="ArialUnicodeMS" charset="-122"/>
              <a:ea typeface="ArialUnicodeMS" charset="-122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92125" y="1916832"/>
            <a:ext cx="865187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itchFamily="18" charset="0"/>
              </a:rPr>
              <a:t>1</a:t>
            </a:r>
            <a:r>
              <a:rPr lang="zh-CN" altLang="en-US" sz="2800" b="1" dirty="0">
                <a:latin typeface="ArialUnicodeMS" charset="-122"/>
                <a:ea typeface="ArialUnicodeMS" charset="-122"/>
              </a:rPr>
              <a:t>）过程线始点总在基本过程线的交点上（图中点</a:t>
            </a:r>
            <a:r>
              <a:rPr lang="en-US" altLang="zh-CN" sz="2800" b="1" dirty="0">
                <a:latin typeface="Times New Roman" pitchFamily="18" charset="0"/>
              </a:rPr>
              <a:t>1</a:t>
            </a:r>
            <a:r>
              <a:rPr lang="zh-CN" altLang="en-US" sz="2800" b="1" dirty="0">
                <a:latin typeface="ArialUnicodeMS" charset="-122"/>
                <a:ea typeface="ArialUnicodeMS" charset="-122"/>
              </a:rPr>
              <a:t>）</a:t>
            </a:r>
            <a:r>
              <a:rPr lang="en-US" altLang="zh-CN" sz="2800" b="1" dirty="0">
                <a:latin typeface="ArialUnicodeMS" charset="-122"/>
                <a:ea typeface="ArialUnicodeMS" charset="-122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nathan\Desktop\20130513校长报告0511\幻灯片4.PNG"/>
          <p:cNvPicPr>
            <a:picLocks noChangeAspect="1" noChangeArrowheads="1"/>
          </p:cNvPicPr>
          <p:nvPr/>
        </p:nvPicPr>
        <p:blipFill>
          <a:blip r:embed="rId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786338" y="500042"/>
            <a:ext cx="33575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第三章 理想气体的热力性质及过程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956376" y="6425952"/>
            <a:ext cx="201622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49</a:t>
            </a:r>
            <a:endParaRPr lang="zh-CN" altLang="en-US" sz="2000" b="1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9"/>
          <p:cNvGrpSpPr>
            <a:grpSpLocks noChangeAspect="1"/>
          </p:cNvGrpSpPr>
          <p:nvPr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02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02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  <p:sp>
        <p:nvSpPr>
          <p:cNvPr id="32" name="Rectangle 2"/>
          <p:cNvSpPr>
            <a:spLocks noGrp="1" noChangeArrowheads="1"/>
          </p:cNvSpPr>
          <p:nvPr>
            <p:ph idx="1"/>
          </p:nvPr>
        </p:nvSpPr>
        <p:spPr>
          <a:xfrm>
            <a:off x="432098" y="2060848"/>
            <a:ext cx="8229600" cy="1756792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作业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:   3.10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3.13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3.15</a:t>
            </a:r>
          </a:p>
          <a:p>
            <a:pPr eaLnBrk="1" hangingPunct="1">
              <a:buFontTx/>
              <a:buNone/>
            </a:pPr>
            <a:endParaRPr lang="en-US" altLang="zh-C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3220</TotalTime>
  <Words>2639</Words>
  <Application>Microsoft Office PowerPoint</Application>
  <PresentationFormat>全屏显示(4:3)</PresentationFormat>
  <Paragraphs>443</Paragraphs>
  <Slides>51</Slides>
  <Notes>50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ArialUnicodeMS</vt:lpstr>
      <vt:lpstr>方正书宋简体</vt:lpstr>
      <vt:lpstr>黑体</vt:lpstr>
      <vt:lpstr>宋体</vt:lpstr>
      <vt:lpstr>微软雅黑</vt:lpstr>
      <vt:lpstr>Arial</vt:lpstr>
      <vt:lpstr>Bernard MT Condensed</vt:lpstr>
      <vt:lpstr>Calibri</vt:lpstr>
      <vt:lpstr>Symbol</vt:lpstr>
      <vt:lpstr>Times New Roman</vt:lpstr>
      <vt:lpstr>Wingdings</vt:lpstr>
      <vt:lpstr>Office 主题</vt:lpstr>
      <vt:lpstr>公式</vt:lpstr>
      <vt:lpstr>Document</vt:lpstr>
      <vt:lpstr>文档</vt:lpstr>
      <vt:lpstr>Equation</vt:lpstr>
      <vt:lpstr>第三章 理想气体的 热力性质及过程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ThinkPad</dc:creator>
  <cp:lastModifiedBy>86137</cp:lastModifiedBy>
  <cp:revision>504</cp:revision>
  <dcterms:created xsi:type="dcterms:W3CDTF">2013-08-29T08:41:10Z</dcterms:created>
  <dcterms:modified xsi:type="dcterms:W3CDTF">2021-10-11T14:13:07Z</dcterms:modified>
</cp:coreProperties>
</file>