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0"/>
  </p:notesMasterIdLst>
  <p:handoutMasterIdLst>
    <p:handoutMasterId r:id="rId71"/>
  </p:handoutMasterIdLst>
  <p:sldIdLst>
    <p:sldId id="256" r:id="rId3"/>
    <p:sldId id="257" r:id="rId4"/>
    <p:sldId id="260" r:id="rId5"/>
    <p:sldId id="261" r:id="rId6"/>
    <p:sldId id="262" r:id="rId7"/>
    <p:sldId id="258"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2" r:id="rId46"/>
    <p:sldId id="303" r:id="rId47"/>
    <p:sldId id="304" r:id="rId48"/>
    <p:sldId id="305" r:id="rId49"/>
    <p:sldId id="306" r:id="rId50"/>
    <p:sldId id="307" r:id="rId51"/>
    <p:sldId id="308" r:id="rId52"/>
    <p:sldId id="309" r:id="rId53"/>
    <p:sldId id="323" r:id="rId54"/>
    <p:sldId id="310" r:id="rId55"/>
    <p:sldId id="311" r:id="rId56"/>
    <p:sldId id="312" r:id="rId57"/>
    <p:sldId id="324" r:id="rId58"/>
    <p:sldId id="313" r:id="rId59"/>
    <p:sldId id="314" r:id="rId60"/>
    <p:sldId id="316" r:id="rId61"/>
    <p:sldId id="317" r:id="rId62"/>
    <p:sldId id="318" r:id="rId63"/>
    <p:sldId id="319" r:id="rId64"/>
    <p:sldId id="320" r:id="rId65"/>
    <p:sldId id="321" r:id="rId66"/>
    <p:sldId id="325" r:id="rId67"/>
    <p:sldId id="326" r:id="rId68"/>
    <p:sldId id="322" r:id="rId6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B3EEE"/>
    <a:srgbClr val="9933FF"/>
    <a:srgbClr val="B0413E"/>
    <a:srgbClr val="00CC00"/>
    <a:srgbClr val="FFCC00"/>
    <a:srgbClr val="FF6600"/>
    <a:srgbClr val="F779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8" autoAdjust="0"/>
    <p:restoredTop sz="94687" autoAdjust="0"/>
  </p:normalViewPr>
  <p:slideViewPr>
    <p:cSldViewPr>
      <p:cViewPr varScale="1">
        <p:scale>
          <a:sx n="78" d="100"/>
          <a:sy n="78" d="100"/>
        </p:scale>
        <p:origin x="930" y="2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5" d="100"/>
          <a:sy n="65" d="100"/>
        </p:scale>
        <p:origin x="-2928"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theme" Target="theme/theme1.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4"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22.wmf"/><Relationship Id="rId3" Type="http://schemas.openxmlformats.org/officeDocument/2006/relationships/image" Target="../media/image17.wmf"/><Relationship Id="rId7" Type="http://schemas.openxmlformats.org/officeDocument/2006/relationships/image" Target="../media/image21.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jpeg"/></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image" Target="../media/image46.wmf"/><Relationship Id="rId1" Type="http://schemas.openxmlformats.org/officeDocument/2006/relationships/image" Target="../media/image15.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49.wmf"/><Relationship Id="rId1" Type="http://schemas.openxmlformats.org/officeDocument/2006/relationships/image" Target="../media/image48.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 Id="rId5" Type="http://schemas.openxmlformats.org/officeDocument/2006/relationships/image" Target="../media/image58.wmf"/><Relationship Id="rId4"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1.wmf"/><Relationship Id="rId7" Type="http://schemas.openxmlformats.org/officeDocument/2006/relationships/image" Target="../media/image65.wmf"/><Relationship Id="rId2" Type="http://schemas.openxmlformats.org/officeDocument/2006/relationships/image" Target="../media/image60.wmf"/><Relationship Id="rId1" Type="http://schemas.openxmlformats.org/officeDocument/2006/relationships/image" Target="../media/image59.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69.wmf"/><Relationship Id="rId2" Type="http://schemas.openxmlformats.org/officeDocument/2006/relationships/image" Target="../media/image68.wmf"/><Relationship Id="rId1" Type="http://schemas.openxmlformats.org/officeDocument/2006/relationships/image" Target="../media/image67.wmf"/><Relationship Id="rId4" Type="http://schemas.openxmlformats.org/officeDocument/2006/relationships/image" Target="../media/image7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73.wmf"/><Relationship Id="rId1" Type="http://schemas.openxmlformats.org/officeDocument/2006/relationships/image" Target="../media/image72.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81.wmf"/><Relationship Id="rId1" Type="http://schemas.openxmlformats.org/officeDocument/2006/relationships/image" Target="../media/image80.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87.wmf"/><Relationship Id="rId1" Type="http://schemas.openxmlformats.org/officeDocument/2006/relationships/image" Target="../media/image86.wmf"/></Relationships>
</file>

<file path=ppt/drawings/_rels/vmlDrawing31.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wmf"/><Relationship Id="rId5" Type="http://schemas.openxmlformats.org/officeDocument/2006/relationships/image" Target="../media/image92.wmf"/><Relationship Id="rId4" Type="http://schemas.openxmlformats.org/officeDocument/2006/relationships/image" Target="../media/image91.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95.wmf"/><Relationship Id="rId1" Type="http://schemas.openxmlformats.org/officeDocument/2006/relationships/image" Target="../media/image9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100.wmf"/><Relationship Id="rId1" Type="http://schemas.openxmlformats.org/officeDocument/2006/relationships/image" Target="../media/image99.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4" Type="http://schemas.openxmlformats.org/officeDocument/2006/relationships/image" Target="../media/image105.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108.wmf"/><Relationship Id="rId2" Type="http://schemas.openxmlformats.org/officeDocument/2006/relationships/image" Target="../media/image107.wmf"/><Relationship Id="rId1" Type="http://schemas.openxmlformats.org/officeDocument/2006/relationships/image" Target="../media/image106.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11.wmf"/><Relationship Id="rId2" Type="http://schemas.openxmlformats.org/officeDocument/2006/relationships/image" Target="../media/image110.wmf"/><Relationship Id="rId1" Type="http://schemas.openxmlformats.org/officeDocument/2006/relationships/image" Target="../media/image109.wmf"/><Relationship Id="rId5" Type="http://schemas.openxmlformats.org/officeDocument/2006/relationships/image" Target="../media/image113.wmf"/><Relationship Id="rId4" Type="http://schemas.openxmlformats.org/officeDocument/2006/relationships/image" Target="../media/image112.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117.wmf"/><Relationship Id="rId2" Type="http://schemas.openxmlformats.org/officeDocument/2006/relationships/image" Target="../media/image116.wmf"/><Relationship Id="rId1" Type="http://schemas.openxmlformats.org/officeDocument/2006/relationships/image" Target="../media/image115.wmf"/><Relationship Id="rId5" Type="http://schemas.openxmlformats.org/officeDocument/2006/relationships/image" Target="../media/image119.wmf"/><Relationship Id="rId4" Type="http://schemas.openxmlformats.org/officeDocument/2006/relationships/image" Target="../media/image118.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123.wmf"/><Relationship Id="rId2" Type="http://schemas.openxmlformats.org/officeDocument/2006/relationships/image" Target="../media/image122.wmf"/><Relationship Id="rId1" Type="http://schemas.openxmlformats.org/officeDocument/2006/relationships/image" Target="../media/image121.wmf"/><Relationship Id="rId5" Type="http://schemas.openxmlformats.org/officeDocument/2006/relationships/image" Target="../media/image125.wmf"/><Relationship Id="rId4" Type="http://schemas.openxmlformats.org/officeDocument/2006/relationships/image" Target="../media/image12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89F2F74-C90E-4218-8D02-82000E74D2FA}" type="datetimeFigureOut">
              <a:rPr lang="zh-CN" altLang="en-US" smtClean="0"/>
              <a:pPr/>
              <a:t>2022/10/13</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9FAE3F4-DC60-4445-BA34-DE163A899399}" type="slidenum">
              <a:rPr lang="zh-CN" altLang="en-US" smtClean="0"/>
              <a:pPr/>
              <a:t>‹#›</a:t>
            </a:fld>
            <a:endParaRPr lang="zh-CN" altLang="en-US"/>
          </a:p>
        </p:txBody>
      </p:sp>
    </p:spTree>
    <p:extLst>
      <p:ext uri="{BB962C8B-B14F-4D97-AF65-F5344CB8AC3E}">
        <p14:creationId xmlns:p14="http://schemas.microsoft.com/office/powerpoint/2010/main" val="141393587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2BE123-A9AE-448F-8D78-F735838CEC6B}" type="datetimeFigureOut">
              <a:rPr lang="zh-CN" altLang="en-US" smtClean="0"/>
              <a:pPr/>
              <a:t>2022/10/13</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F5C11B-8088-48D6-99F1-F40A5041271C}" type="slidenum">
              <a:rPr lang="zh-CN" altLang="en-US" smtClean="0"/>
              <a:pPr/>
              <a:t>‹#›</a:t>
            </a:fld>
            <a:endParaRPr lang="zh-CN" altLang="en-US"/>
          </a:p>
        </p:txBody>
      </p:sp>
    </p:spTree>
    <p:extLst>
      <p:ext uri="{BB962C8B-B14F-4D97-AF65-F5344CB8AC3E}">
        <p14:creationId xmlns:p14="http://schemas.microsoft.com/office/powerpoint/2010/main" val="2511667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a:t>
            </a:fld>
            <a:endParaRPr lang="zh-CN" altLang="en-US"/>
          </a:p>
        </p:txBody>
      </p:sp>
    </p:spTree>
    <p:extLst>
      <p:ext uri="{BB962C8B-B14F-4D97-AF65-F5344CB8AC3E}">
        <p14:creationId xmlns:p14="http://schemas.microsoft.com/office/powerpoint/2010/main" val="1896647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3</a:t>
            </a:fld>
            <a:endParaRPr lang="zh-CN" altLang="en-US"/>
          </a:p>
        </p:txBody>
      </p:sp>
    </p:spTree>
    <p:extLst>
      <p:ext uri="{BB962C8B-B14F-4D97-AF65-F5344CB8AC3E}">
        <p14:creationId xmlns:p14="http://schemas.microsoft.com/office/powerpoint/2010/main" val="49611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4</a:t>
            </a:fld>
            <a:endParaRPr lang="zh-CN" altLang="en-US"/>
          </a:p>
        </p:txBody>
      </p:sp>
    </p:spTree>
    <p:extLst>
      <p:ext uri="{BB962C8B-B14F-4D97-AF65-F5344CB8AC3E}">
        <p14:creationId xmlns:p14="http://schemas.microsoft.com/office/powerpoint/2010/main" val="9290541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5</a:t>
            </a:fld>
            <a:endParaRPr lang="zh-CN" altLang="en-US"/>
          </a:p>
        </p:txBody>
      </p:sp>
    </p:spTree>
    <p:extLst>
      <p:ext uri="{BB962C8B-B14F-4D97-AF65-F5344CB8AC3E}">
        <p14:creationId xmlns:p14="http://schemas.microsoft.com/office/powerpoint/2010/main" val="2432633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6</a:t>
            </a:fld>
            <a:endParaRPr lang="zh-CN" altLang="en-US"/>
          </a:p>
        </p:txBody>
      </p:sp>
    </p:spTree>
    <p:extLst>
      <p:ext uri="{BB962C8B-B14F-4D97-AF65-F5344CB8AC3E}">
        <p14:creationId xmlns:p14="http://schemas.microsoft.com/office/powerpoint/2010/main" val="1227585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7</a:t>
            </a:fld>
            <a:endParaRPr lang="zh-CN" altLang="en-US"/>
          </a:p>
        </p:txBody>
      </p:sp>
    </p:spTree>
    <p:extLst>
      <p:ext uri="{BB962C8B-B14F-4D97-AF65-F5344CB8AC3E}">
        <p14:creationId xmlns:p14="http://schemas.microsoft.com/office/powerpoint/2010/main" val="10491046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8</a:t>
            </a:fld>
            <a:endParaRPr lang="zh-CN" altLang="en-US"/>
          </a:p>
        </p:txBody>
      </p:sp>
    </p:spTree>
    <p:extLst>
      <p:ext uri="{BB962C8B-B14F-4D97-AF65-F5344CB8AC3E}">
        <p14:creationId xmlns:p14="http://schemas.microsoft.com/office/powerpoint/2010/main" val="10020819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9</a:t>
            </a:fld>
            <a:endParaRPr lang="zh-CN" altLang="en-US"/>
          </a:p>
        </p:txBody>
      </p:sp>
    </p:spTree>
    <p:extLst>
      <p:ext uri="{BB962C8B-B14F-4D97-AF65-F5344CB8AC3E}">
        <p14:creationId xmlns:p14="http://schemas.microsoft.com/office/powerpoint/2010/main" val="34892129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10</a:t>
            </a:fld>
            <a:endParaRPr lang="zh-CN" altLang="en-US"/>
          </a:p>
        </p:txBody>
      </p:sp>
    </p:spTree>
    <p:extLst>
      <p:ext uri="{BB962C8B-B14F-4D97-AF65-F5344CB8AC3E}">
        <p14:creationId xmlns:p14="http://schemas.microsoft.com/office/powerpoint/2010/main" val="2143758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11</a:t>
            </a:fld>
            <a:endParaRPr lang="zh-CN" altLang="en-US"/>
          </a:p>
        </p:txBody>
      </p:sp>
    </p:spTree>
    <p:extLst>
      <p:ext uri="{BB962C8B-B14F-4D97-AF65-F5344CB8AC3E}">
        <p14:creationId xmlns:p14="http://schemas.microsoft.com/office/powerpoint/2010/main" val="7324105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12</a:t>
            </a:fld>
            <a:endParaRPr lang="zh-CN" altLang="en-US"/>
          </a:p>
        </p:txBody>
      </p:sp>
    </p:spTree>
    <p:extLst>
      <p:ext uri="{BB962C8B-B14F-4D97-AF65-F5344CB8AC3E}">
        <p14:creationId xmlns:p14="http://schemas.microsoft.com/office/powerpoint/2010/main" val="4586427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13</a:t>
            </a:fld>
            <a:endParaRPr lang="zh-CN" altLang="en-US"/>
          </a:p>
        </p:txBody>
      </p:sp>
    </p:spTree>
    <p:extLst>
      <p:ext uri="{BB962C8B-B14F-4D97-AF65-F5344CB8AC3E}">
        <p14:creationId xmlns:p14="http://schemas.microsoft.com/office/powerpoint/2010/main" val="1690128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14</a:t>
            </a:fld>
            <a:endParaRPr lang="zh-CN" altLang="en-US"/>
          </a:p>
        </p:txBody>
      </p:sp>
    </p:spTree>
    <p:extLst>
      <p:ext uri="{BB962C8B-B14F-4D97-AF65-F5344CB8AC3E}">
        <p14:creationId xmlns:p14="http://schemas.microsoft.com/office/powerpoint/2010/main" val="743224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15</a:t>
            </a:fld>
            <a:endParaRPr lang="zh-CN" altLang="en-US"/>
          </a:p>
        </p:txBody>
      </p:sp>
    </p:spTree>
    <p:extLst>
      <p:ext uri="{BB962C8B-B14F-4D97-AF65-F5344CB8AC3E}">
        <p14:creationId xmlns:p14="http://schemas.microsoft.com/office/powerpoint/2010/main" val="35531262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16</a:t>
            </a:fld>
            <a:endParaRPr lang="zh-CN" altLang="en-US"/>
          </a:p>
        </p:txBody>
      </p:sp>
    </p:spTree>
    <p:extLst>
      <p:ext uri="{BB962C8B-B14F-4D97-AF65-F5344CB8AC3E}">
        <p14:creationId xmlns:p14="http://schemas.microsoft.com/office/powerpoint/2010/main" val="12115970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17</a:t>
            </a:fld>
            <a:endParaRPr lang="zh-CN" altLang="en-US"/>
          </a:p>
        </p:txBody>
      </p:sp>
    </p:spTree>
    <p:extLst>
      <p:ext uri="{BB962C8B-B14F-4D97-AF65-F5344CB8AC3E}">
        <p14:creationId xmlns:p14="http://schemas.microsoft.com/office/powerpoint/2010/main" val="301705936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18</a:t>
            </a:fld>
            <a:endParaRPr lang="zh-CN" altLang="en-US"/>
          </a:p>
        </p:txBody>
      </p:sp>
    </p:spTree>
    <p:extLst>
      <p:ext uri="{BB962C8B-B14F-4D97-AF65-F5344CB8AC3E}">
        <p14:creationId xmlns:p14="http://schemas.microsoft.com/office/powerpoint/2010/main" val="14468287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19</a:t>
            </a:fld>
            <a:endParaRPr lang="zh-CN" altLang="en-US"/>
          </a:p>
        </p:txBody>
      </p:sp>
    </p:spTree>
    <p:extLst>
      <p:ext uri="{BB962C8B-B14F-4D97-AF65-F5344CB8AC3E}">
        <p14:creationId xmlns:p14="http://schemas.microsoft.com/office/powerpoint/2010/main" val="396653305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20</a:t>
            </a:fld>
            <a:endParaRPr lang="zh-CN" altLang="en-US"/>
          </a:p>
        </p:txBody>
      </p:sp>
    </p:spTree>
    <p:extLst>
      <p:ext uri="{BB962C8B-B14F-4D97-AF65-F5344CB8AC3E}">
        <p14:creationId xmlns:p14="http://schemas.microsoft.com/office/powerpoint/2010/main" val="49028437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21</a:t>
            </a:fld>
            <a:endParaRPr lang="zh-CN" altLang="en-US"/>
          </a:p>
        </p:txBody>
      </p:sp>
    </p:spTree>
    <p:extLst>
      <p:ext uri="{BB962C8B-B14F-4D97-AF65-F5344CB8AC3E}">
        <p14:creationId xmlns:p14="http://schemas.microsoft.com/office/powerpoint/2010/main" val="19308134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22</a:t>
            </a:fld>
            <a:endParaRPr lang="zh-CN" altLang="en-US"/>
          </a:p>
        </p:txBody>
      </p:sp>
    </p:spTree>
    <p:extLst>
      <p:ext uri="{BB962C8B-B14F-4D97-AF65-F5344CB8AC3E}">
        <p14:creationId xmlns:p14="http://schemas.microsoft.com/office/powerpoint/2010/main" val="33495067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23</a:t>
            </a:fld>
            <a:endParaRPr lang="zh-CN" altLang="en-US"/>
          </a:p>
        </p:txBody>
      </p:sp>
    </p:spTree>
    <p:extLst>
      <p:ext uri="{BB962C8B-B14F-4D97-AF65-F5344CB8AC3E}">
        <p14:creationId xmlns:p14="http://schemas.microsoft.com/office/powerpoint/2010/main" val="172936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0EF5C11B-8088-48D6-99F1-F40A5041271C}" type="slidenum">
              <a:rPr lang="zh-CN" altLang="en-US" smtClean="0"/>
              <a:pPr/>
              <a:t>62</a:t>
            </a:fld>
            <a:endParaRPr lang="zh-CN" altLang="en-US"/>
          </a:p>
        </p:txBody>
      </p:sp>
    </p:spTree>
    <p:extLst>
      <p:ext uri="{BB962C8B-B14F-4D97-AF65-F5344CB8AC3E}">
        <p14:creationId xmlns:p14="http://schemas.microsoft.com/office/powerpoint/2010/main" val="300576845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F60BEFF-3D59-4B64-A1A5-6E3D1AE4E261}"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D8DD09-8CD5-4E92-B2D6-6AE9673121AE}"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wjtu 建环">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pic>
        <p:nvPicPr>
          <p:cNvPr id="7" name="Picture 2" descr="C:\Users\nathan\Desktop\20130513校长报告0511\幻灯片4.PNG"/>
          <p:cNvPicPr>
            <a:picLocks noChangeAspect="1" noChangeArrowheads="1"/>
          </p:cNvPicPr>
          <p:nvPr userDrawn="1"/>
        </p:nvPicPr>
        <p:blipFill>
          <a:blip r:embed="rId2" cstate="print"/>
          <a:srcRect t="6952" b="82546"/>
          <a:stretch>
            <a:fillRect/>
          </a:stretch>
        </p:blipFill>
        <p:spPr bwMode="auto">
          <a:xfrm>
            <a:off x="1587" y="0"/>
            <a:ext cx="9142413" cy="720080"/>
          </a:xfrm>
          <a:prstGeom prst="rect">
            <a:avLst/>
          </a:prstGeom>
          <a:noFill/>
          <a:ln w="9525">
            <a:noFill/>
            <a:miter lim="800000"/>
            <a:headEnd/>
            <a:tailEnd/>
          </a:ln>
        </p:spPr>
      </p:pic>
      <p:sp>
        <p:nvSpPr>
          <p:cNvPr id="10" name="等腰三角形 9"/>
          <p:cNvSpPr/>
          <p:nvPr userDrawn="1"/>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TextBox 11"/>
          <p:cNvSpPr txBox="1">
            <a:spLocks noChangeArrowheads="1"/>
          </p:cNvSpPr>
          <p:nvPr userDrawn="1"/>
        </p:nvSpPr>
        <p:spPr bwMode="auto">
          <a:xfrm>
            <a:off x="4786338" y="642918"/>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第四章 热力学第二定律</a:t>
            </a:r>
          </a:p>
        </p:txBody>
      </p:sp>
      <p:cxnSp>
        <p:nvCxnSpPr>
          <p:cNvPr id="6" name="直接连接符 5"/>
          <p:cNvCxnSpPr/>
          <p:nvPr userDrawn="1"/>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p:cNvSpPr txBox="1"/>
          <p:nvPr userDrawn="1"/>
        </p:nvSpPr>
        <p:spPr>
          <a:xfrm>
            <a:off x="571472" y="142852"/>
            <a:ext cx="2704384"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wrap="square">
            <a:spAutoFit/>
          </a:bodyPr>
          <a:lstStyle/>
          <a:p>
            <a:pPr>
              <a:defRPr/>
            </a:pPr>
            <a:r>
              <a:rPr lang="zh-CN" altLang="en-US" sz="3200" b="1" dirty="0">
                <a:effectLst>
                  <a:outerShdw blurRad="38100" dist="38100" dir="2700000" algn="tl">
                    <a:srgbClr val="000000">
                      <a:alpha val="43137"/>
                    </a:srgbClr>
                  </a:outerShdw>
                </a:effectLst>
                <a:latin typeface="黑体" pitchFamily="49" charset="-122"/>
                <a:ea typeface="黑体" pitchFamily="49" charset="-122"/>
              </a:rPr>
              <a:t>工程热力学</a:t>
            </a:r>
          </a:p>
        </p:txBody>
      </p:sp>
      <p:grpSp>
        <p:nvGrpSpPr>
          <p:cNvPr id="15" name="组合 14"/>
          <p:cNvGrpSpPr>
            <a:grpSpLocks noChangeAspect="1"/>
          </p:cNvGrpSpPr>
          <p:nvPr userDrawn="1"/>
        </p:nvGrpSpPr>
        <p:grpSpPr>
          <a:xfrm>
            <a:off x="5572132" y="6072206"/>
            <a:ext cx="2947038" cy="720000"/>
            <a:chOff x="4857752" y="6000768"/>
            <a:chExt cx="2504982" cy="612000"/>
          </a:xfrm>
        </p:grpSpPr>
        <p:pic>
          <p:nvPicPr>
            <p:cNvPr id="16" name="Picture 2" descr="C:\Documents and Settings\Administrator\桌面\校徽-图.jpg"/>
            <p:cNvPicPr>
              <a:picLocks noChangeAspect="1" noChangeArrowheads="1"/>
            </p:cNvPicPr>
            <p:nvPr/>
          </p:nvPicPr>
          <p:blipFill>
            <a:blip r:embed="rId3" cstate="print"/>
            <a:srcRect/>
            <a:stretch>
              <a:fillRect/>
            </a:stretch>
          </p:blipFill>
          <p:spPr bwMode="auto">
            <a:xfrm>
              <a:off x="4857752" y="6000768"/>
              <a:ext cx="552084" cy="612000"/>
            </a:xfrm>
            <a:prstGeom prst="rect">
              <a:avLst/>
            </a:prstGeom>
            <a:noFill/>
          </p:spPr>
        </p:pic>
        <p:pic>
          <p:nvPicPr>
            <p:cNvPr id="17" name="Picture 3" descr="C:\Documents and Settings\Administrator\桌面\校徽-黑字.jpg"/>
            <p:cNvPicPr>
              <a:picLocks noChangeAspect="1" noChangeArrowheads="1"/>
            </p:cNvPicPr>
            <p:nvPr/>
          </p:nvPicPr>
          <p:blipFill>
            <a:blip r:embed="rId4" cstate="print"/>
            <a:srcRect/>
            <a:stretch>
              <a:fillRect/>
            </a:stretch>
          </p:blipFill>
          <p:spPr bwMode="auto">
            <a:xfrm>
              <a:off x="5500694" y="6122213"/>
              <a:ext cx="1862040" cy="396000"/>
            </a:xfrm>
            <a:prstGeom prst="rect">
              <a:avLst/>
            </a:prstGeom>
            <a:noFill/>
          </p:spPr>
        </p:pic>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7F8E377-D3F3-4823-9A32-2F7E94507DED}"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3.jpe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60BEFF-3D59-4B64-A1A5-6E3D1AE4E261}" type="datetimeFigureOut">
              <a:rPr lang="zh-CN" altLang="en-US" smtClean="0"/>
              <a:pPr/>
              <a:t>2022/10/13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D8DD09-8CD5-4E92-B2D6-6AE9673121AE}"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195B263-390E-4D37-9C4B-8E731B3FCA4B}" type="datetimeFigureOut">
              <a:rPr lang="zh-CN" altLang="en-US" smtClean="0"/>
              <a:pPr/>
              <a:t>2022/10/13</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F8E377-D3F3-4823-9A32-2F7E94507DED}" type="slidenum">
              <a:rPr lang="zh-CN" altLang="en-US" smtClean="0"/>
              <a:pPr/>
              <a:t>‹#›</a:t>
            </a:fld>
            <a:endParaRPr lang="zh-CN" altLang="en-US"/>
          </a:p>
        </p:txBody>
      </p:sp>
      <p:pic>
        <p:nvPicPr>
          <p:cNvPr id="7" name="Picture 2" descr="C:\Users\nathan\Desktop\20130513校长报告0511\幻灯片4.PNG"/>
          <p:cNvPicPr>
            <a:picLocks noChangeAspect="1" noChangeArrowheads="1"/>
          </p:cNvPicPr>
          <p:nvPr userDrawn="1"/>
        </p:nvPicPr>
        <p:blipFill>
          <a:blip r:embed="rId13" cstate="print"/>
          <a:srcRect t="6952" b="82546"/>
          <a:stretch>
            <a:fillRect/>
          </a:stretch>
        </p:blipFill>
        <p:spPr bwMode="auto">
          <a:xfrm>
            <a:off x="1587" y="0"/>
            <a:ext cx="9142413" cy="720080"/>
          </a:xfrm>
          <a:prstGeom prst="rect">
            <a:avLst/>
          </a:prstGeom>
          <a:noFill/>
          <a:ln w="9525">
            <a:noFill/>
            <a:miter lim="800000"/>
            <a:headEnd/>
            <a:tailEnd/>
          </a:ln>
        </p:spPr>
      </p:pic>
      <p:sp>
        <p:nvSpPr>
          <p:cNvPr id="8" name="等腰三角形 7"/>
          <p:cNvSpPr/>
          <p:nvPr userDrawn="1"/>
        </p:nvSpPr>
        <p:spPr>
          <a:xfrm>
            <a:off x="8460432" y="6237312"/>
            <a:ext cx="1368152" cy="620688"/>
          </a:xfrm>
          <a:prstGeom prst="triangle">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Box 11"/>
          <p:cNvSpPr txBox="1">
            <a:spLocks noChangeArrowheads="1"/>
          </p:cNvSpPr>
          <p:nvPr userDrawn="1"/>
        </p:nvSpPr>
        <p:spPr bwMode="auto">
          <a:xfrm>
            <a:off x="4786338" y="642918"/>
            <a:ext cx="3357562" cy="461665"/>
          </a:xfrm>
          <a:prstGeom prst="rect">
            <a:avLst/>
          </a:prstGeom>
          <a:noFill/>
          <a:ln w="9525">
            <a:noFill/>
            <a:miter lim="800000"/>
            <a:headEnd/>
            <a:tailEnd/>
          </a:ln>
        </p:spPr>
        <p:txBody>
          <a:bodyPr>
            <a:spAutoFit/>
          </a:bodyPr>
          <a:lstStyle/>
          <a:p>
            <a:pPr algn="ctr"/>
            <a:r>
              <a:rPr lang="zh-CN" altLang="en-US" sz="2400" b="1" dirty="0">
                <a:solidFill>
                  <a:srgbClr val="7F7F7F"/>
                </a:solidFill>
                <a:latin typeface="微软雅黑" pitchFamily="34" charset="-122"/>
                <a:ea typeface="微软雅黑" pitchFamily="34" charset="-122"/>
              </a:rPr>
              <a:t>第四章 热力学第二定律</a:t>
            </a:r>
          </a:p>
        </p:txBody>
      </p:sp>
      <p:cxnSp>
        <p:nvCxnSpPr>
          <p:cNvPr id="10" name="直接连接符 9"/>
          <p:cNvCxnSpPr/>
          <p:nvPr userDrawn="1"/>
        </p:nvCxnSpPr>
        <p:spPr>
          <a:xfrm>
            <a:off x="8154988" y="907009"/>
            <a:ext cx="989012" cy="1587"/>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rot="5400000">
            <a:off x="4517232" y="887165"/>
            <a:ext cx="323850" cy="1587"/>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userDrawn="1"/>
        </p:nvCxnSpPr>
        <p:spPr>
          <a:xfrm rot="5400000">
            <a:off x="7992269" y="887165"/>
            <a:ext cx="323850" cy="1588"/>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rot="5400000">
            <a:off x="45712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rot="5400000">
            <a:off x="7936707" y="887165"/>
            <a:ext cx="323850" cy="1587"/>
          </a:xfrm>
          <a:prstGeom prst="line">
            <a:avLst/>
          </a:prstGeom>
          <a:ln w="57150">
            <a:solidFill>
              <a:schemeClr val="accent1">
                <a:lumMod val="40000"/>
                <a:lumOff val="60000"/>
              </a:scheme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userDrawn="1"/>
        </p:nvCxnSpPr>
        <p:spPr>
          <a:xfrm>
            <a:off x="0" y="909142"/>
            <a:ext cx="4696916"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userDrawn="1"/>
        </p:nvSpPr>
        <p:spPr>
          <a:xfrm>
            <a:off x="571472" y="142852"/>
            <a:ext cx="2000264" cy="584775"/>
          </a:xfrm>
          <a:prstGeom prst="rect">
            <a:avLst/>
          </a:prstGeom>
          <a:noFill/>
          <a:effectLst>
            <a:outerShdw blurRad="152400" dist="317500" dir="5400000" sx="90000" sy="-19000" rotWithShape="0">
              <a:prstClr val="black">
                <a:alpha val="15000"/>
              </a:prstClr>
            </a:outerShdw>
          </a:effectLst>
          <a:scene3d>
            <a:camera prst="orthographicFront"/>
            <a:lightRig rig="threePt" dir="t"/>
          </a:scene3d>
          <a:sp3d>
            <a:bevelT/>
          </a:sp3d>
        </p:spPr>
        <p:txBody>
          <a:bodyPr>
            <a:spAutoFit/>
          </a:bodyPr>
          <a:lstStyle/>
          <a:p>
            <a:pPr>
              <a:defRPr/>
            </a:pPr>
            <a:r>
              <a:rPr lang="zh-CN" altLang="en-US" sz="3200" b="1" dirty="0">
                <a:effectLst>
                  <a:outerShdw blurRad="38100" dist="38100" dir="2700000" algn="tl">
                    <a:srgbClr val="000000">
                      <a:alpha val="43137"/>
                    </a:srgbClr>
                  </a:outerShdw>
                </a:effectLst>
                <a:latin typeface="黑体" pitchFamily="49" charset="-122"/>
                <a:ea typeface="黑体" pitchFamily="49" charset="-122"/>
              </a:rPr>
              <a:t>热工基础</a:t>
            </a:r>
          </a:p>
        </p:txBody>
      </p:sp>
      <p:grpSp>
        <p:nvGrpSpPr>
          <p:cNvPr id="17" name="组合 16"/>
          <p:cNvGrpSpPr>
            <a:grpSpLocks noChangeAspect="1"/>
          </p:cNvGrpSpPr>
          <p:nvPr userDrawn="1"/>
        </p:nvGrpSpPr>
        <p:grpSpPr>
          <a:xfrm>
            <a:off x="5572132" y="6072206"/>
            <a:ext cx="2947038" cy="720000"/>
            <a:chOff x="4857752" y="6000768"/>
            <a:chExt cx="2504982" cy="612000"/>
          </a:xfrm>
        </p:grpSpPr>
        <p:pic>
          <p:nvPicPr>
            <p:cNvPr id="18" name="Picture 2" descr="C:\Documents and Settings\Administrator\桌面\校徽-图.jpg"/>
            <p:cNvPicPr>
              <a:picLocks noChangeAspect="1" noChangeArrowheads="1"/>
            </p:cNvPicPr>
            <p:nvPr/>
          </p:nvPicPr>
          <p:blipFill>
            <a:blip r:embed="rId14" cstate="print"/>
            <a:srcRect/>
            <a:stretch>
              <a:fillRect/>
            </a:stretch>
          </p:blipFill>
          <p:spPr bwMode="auto">
            <a:xfrm>
              <a:off x="4857752" y="6000768"/>
              <a:ext cx="552084" cy="612000"/>
            </a:xfrm>
            <a:prstGeom prst="rect">
              <a:avLst/>
            </a:prstGeom>
            <a:noFill/>
          </p:spPr>
        </p:pic>
        <p:pic>
          <p:nvPicPr>
            <p:cNvPr id="19" name="Picture 3" descr="C:\Documents and Settings\Administrator\桌面\校徽-黑字.jpg"/>
            <p:cNvPicPr>
              <a:picLocks noChangeAspect="1" noChangeArrowheads="1"/>
            </p:cNvPicPr>
            <p:nvPr/>
          </p:nvPicPr>
          <p:blipFill>
            <a:blip r:embed="rId15" cstate="print"/>
            <a:srcRect/>
            <a:stretch>
              <a:fillRect/>
            </a:stretch>
          </p:blipFill>
          <p:spPr bwMode="auto">
            <a:xfrm>
              <a:off x="5500694" y="6122213"/>
              <a:ext cx="1862040" cy="396000"/>
            </a:xfrm>
            <a:prstGeom prst="rect">
              <a:avLst/>
            </a:prstGeom>
            <a:noFill/>
          </p:spPr>
        </p:pic>
      </p:gr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7"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6.wmf"/><Relationship Id="rId4" Type="http://schemas.openxmlformats.org/officeDocument/2006/relationships/oleObject" Target="../embeddings/oleObject1.bin"/></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6.wmf"/><Relationship Id="rId5" Type="http://schemas.openxmlformats.org/officeDocument/2006/relationships/oleObject" Target="../embeddings/oleObject3.bin"/><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11.xml"/><Relationship Id="rId7" Type="http://schemas.openxmlformats.org/officeDocument/2006/relationships/image" Target="../media/image10.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5.bin"/><Relationship Id="rId11" Type="http://schemas.openxmlformats.org/officeDocument/2006/relationships/image" Target="../media/image12.wmf"/><Relationship Id="rId5" Type="http://schemas.openxmlformats.org/officeDocument/2006/relationships/image" Target="../media/image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11.wmf"/></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8.bin"/><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openxmlformats.org/officeDocument/2006/relationships/oleObject" Target="../embeddings/oleObject11.bin"/><Relationship Id="rId13" Type="http://schemas.openxmlformats.org/officeDocument/2006/relationships/image" Target="../media/image19.wmf"/><Relationship Id="rId18" Type="http://schemas.openxmlformats.org/officeDocument/2006/relationships/oleObject" Target="../embeddings/oleObject16.bin"/><Relationship Id="rId3" Type="http://schemas.openxmlformats.org/officeDocument/2006/relationships/notesSlide" Target="../notesSlides/notesSlide14.xml"/><Relationship Id="rId7" Type="http://schemas.openxmlformats.org/officeDocument/2006/relationships/image" Target="../media/image16.wmf"/><Relationship Id="rId12" Type="http://schemas.openxmlformats.org/officeDocument/2006/relationships/oleObject" Target="../embeddings/oleObject13.bin"/><Relationship Id="rId17" Type="http://schemas.openxmlformats.org/officeDocument/2006/relationships/image" Target="../media/image21.wmf"/><Relationship Id="rId2" Type="http://schemas.openxmlformats.org/officeDocument/2006/relationships/slideLayout" Target="../slideLayouts/slideLayout2.xml"/><Relationship Id="rId16" Type="http://schemas.openxmlformats.org/officeDocument/2006/relationships/oleObject" Target="../embeddings/oleObject15.bin"/><Relationship Id="rId20" Type="http://schemas.openxmlformats.org/officeDocument/2006/relationships/oleObject" Target="../embeddings/oleObject17.bin"/><Relationship Id="rId1" Type="http://schemas.openxmlformats.org/officeDocument/2006/relationships/vmlDrawing" Target="../drawings/vmlDrawing5.vml"/><Relationship Id="rId6" Type="http://schemas.openxmlformats.org/officeDocument/2006/relationships/oleObject" Target="../embeddings/oleObject10.bin"/><Relationship Id="rId11" Type="http://schemas.openxmlformats.org/officeDocument/2006/relationships/image" Target="../media/image18.wmf"/><Relationship Id="rId5" Type="http://schemas.openxmlformats.org/officeDocument/2006/relationships/image" Target="../media/image15.wmf"/><Relationship Id="rId15" Type="http://schemas.openxmlformats.org/officeDocument/2006/relationships/image" Target="../media/image20.wmf"/><Relationship Id="rId10" Type="http://schemas.openxmlformats.org/officeDocument/2006/relationships/oleObject" Target="../embeddings/oleObject12.bin"/><Relationship Id="rId19" Type="http://schemas.openxmlformats.org/officeDocument/2006/relationships/image" Target="../media/image22.wmf"/><Relationship Id="rId4" Type="http://schemas.openxmlformats.org/officeDocument/2006/relationships/oleObject" Target="../embeddings/oleObject9.bin"/><Relationship Id="rId9" Type="http://schemas.openxmlformats.org/officeDocument/2006/relationships/image" Target="../media/image17.wmf"/><Relationship Id="rId14" Type="http://schemas.openxmlformats.org/officeDocument/2006/relationships/oleObject" Target="../embeddings/oleObject14.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3.wmf"/><Relationship Id="rId4" Type="http://schemas.openxmlformats.org/officeDocument/2006/relationships/oleObject" Target="../embeddings/oleObject18.bin"/></Relationships>
</file>

<file path=ppt/slides/_rels/slide17.xml.rels><?xml version="1.0" encoding="UTF-8" standalone="yes"?>
<Relationships xmlns="http://schemas.openxmlformats.org/package/2006/relationships"><Relationship Id="rId8" Type="http://schemas.openxmlformats.org/officeDocument/2006/relationships/image" Target="../media/image26.wmf"/><Relationship Id="rId3" Type="http://schemas.openxmlformats.org/officeDocument/2006/relationships/notesSlide" Target="../notesSlides/notesSlide16.xml"/><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4.jpeg"/><Relationship Id="rId5" Type="http://schemas.openxmlformats.org/officeDocument/2006/relationships/image" Target="../media/image25.wmf"/><Relationship Id="rId4"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28.wmf"/><Relationship Id="rId13" Type="http://schemas.openxmlformats.org/officeDocument/2006/relationships/oleObject" Target="../embeddings/oleObject25.bin"/><Relationship Id="rId3" Type="http://schemas.openxmlformats.org/officeDocument/2006/relationships/notesSlide" Target="../notesSlides/notesSlide18.xml"/><Relationship Id="rId7" Type="http://schemas.openxmlformats.org/officeDocument/2006/relationships/oleObject" Target="../embeddings/oleObject22.bin"/><Relationship Id="rId12" Type="http://schemas.openxmlformats.org/officeDocument/2006/relationships/image" Target="../media/image30.wmf"/><Relationship Id="rId2" Type="http://schemas.openxmlformats.org/officeDocument/2006/relationships/slideLayout" Target="../slideLayouts/slideLayout2.xml"/><Relationship Id="rId16" Type="http://schemas.openxmlformats.org/officeDocument/2006/relationships/image" Target="../media/image32.wmf"/><Relationship Id="rId1" Type="http://schemas.openxmlformats.org/officeDocument/2006/relationships/vmlDrawing" Target="../drawings/vmlDrawing8.vml"/><Relationship Id="rId6" Type="http://schemas.openxmlformats.org/officeDocument/2006/relationships/image" Target="../media/image27.w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29.wmf"/><Relationship Id="rId4" Type="http://schemas.openxmlformats.org/officeDocument/2006/relationships/image" Target="../media/image33.jpeg"/><Relationship Id="rId9" Type="http://schemas.openxmlformats.org/officeDocument/2006/relationships/oleObject" Target="../embeddings/oleObject23.bin"/><Relationship Id="rId14" Type="http://schemas.openxmlformats.org/officeDocument/2006/relationships/image" Target="../media/image31.wmf"/></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29.bin"/><Relationship Id="rId3" Type="http://schemas.openxmlformats.org/officeDocument/2006/relationships/notesSlide" Target="../notesSlides/notesSlide19.xml"/><Relationship Id="rId7" Type="http://schemas.openxmlformats.org/officeDocument/2006/relationships/image" Target="../media/image35.wmf"/><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28.bin"/><Relationship Id="rId5" Type="http://schemas.openxmlformats.org/officeDocument/2006/relationships/image" Target="../media/image34.wmf"/><Relationship Id="rId4" Type="http://schemas.openxmlformats.org/officeDocument/2006/relationships/oleObject" Target="../embeddings/oleObject27.bin"/><Relationship Id="rId9" Type="http://schemas.openxmlformats.org/officeDocument/2006/relationships/image" Target="../media/image36.w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32.bin"/><Relationship Id="rId3" Type="http://schemas.openxmlformats.org/officeDocument/2006/relationships/notesSlide" Target="../notesSlides/notesSlide21.xml"/><Relationship Id="rId7" Type="http://schemas.openxmlformats.org/officeDocument/2006/relationships/image" Target="../media/image38.wmf"/><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oleObject" Target="../embeddings/oleObject31.bin"/><Relationship Id="rId5" Type="http://schemas.openxmlformats.org/officeDocument/2006/relationships/image" Target="../media/image37.wmf"/><Relationship Id="rId4" Type="http://schemas.openxmlformats.org/officeDocument/2006/relationships/oleObject" Target="../embeddings/oleObject30.bin"/><Relationship Id="rId9" Type="http://schemas.openxmlformats.org/officeDocument/2006/relationships/image" Target="../media/image39.wmf"/></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40.wmf"/><Relationship Id="rId4" Type="http://schemas.openxmlformats.org/officeDocument/2006/relationships/oleObject" Target="../embeddings/oleObject33.bin"/></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41.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42.wmf"/></Relationships>
</file>

<file path=ppt/slides/_rels/slide26.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36.bin"/><Relationship Id="rId7"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44.wmf"/><Relationship Id="rId5" Type="http://schemas.openxmlformats.org/officeDocument/2006/relationships/oleObject" Target="../embeddings/oleObject37.bin"/><Relationship Id="rId4" Type="http://schemas.openxmlformats.org/officeDocument/2006/relationships/image" Target="../media/image43.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39.bin"/><Relationship Id="rId7" Type="http://schemas.openxmlformats.org/officeDocument/2006/relationships/image" Target="../media/image46.w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image" Target="../media/image15.wmf"/><Relationship Id="rId9" Type="http://schemas.openxmlformats.org/officeDocument/2006/relationships/image" Target="../media/image47.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9.wmf"/><Relationship Id="rId5" Type="http://schemas.openxmlformats.org/officeDocument/2006/relationships/oleObject" Target="../embeddings/oleObject44.bin"/><Relationship Id="rId4" Type="http://schemas.openxmlformats.org/officeDocument/2006/relationships/image" Target="../media/image48.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1.wmf"/><Relationship Id="rId5" Type="http://schemas.openxmlformats.org/officeDocument/2006/relationships/oleObject" Target="../embeddings/oleObject46.bin"/><Relationship Id="rId4" Type="http://schemas.openxmlformats.org/officeDocument/2006/relationships/image" Target="../media/image50.w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5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53.wmf"/></Relationships>
</file>

<file path=ppt/slides/_rels/slide33.xml.rels><?xml version="1.0" encoding="UTF-8" standalone="yes"?>
<Relationships xmlns="http://schemas.openxmlformats.org/package/2006/relationships"><Relationship Id="rId8" Type="http://schemas.openxmlformats.org/officeDocument/2006/relationships/image" Target="../media/image56.wmf"/><Relationship Id="rId3" Type="http://schemas.openxmlformats.org/officeDocument/2006/relationships/oleObject" Target="../embeddings/oleObject49.bin"/><Relationship Id="rId7" Type="http://schemas.openxmlformats.org/officeDocument/2006/relationships/oleObject" Target="../embeddings/oleObject51.bin"/><Relationship Id="rId12" Type="http://schemas.openxmlformats.org/officeDocument/2006/relationships/image" Target="../media/image58.wmf"/><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5.wmf"/><Relationship Id="rId11" Type="http://schemas.openxmlformats.org/officeDocument/2006/relationships/oleObject" Target="../embeddings/oleObject53.bin"/><Relationship Id="rId5" Type="http://schemas.openxmlformats.org/officeDocument/2006/relationships/oleObject" Target="../embeddings/oleObject50.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52.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56.bin"/><Relationship Id="rId13" Type="http://schemas.openxmlformats.org/officeDocument/2006/relationships/image" Target="../media/image63.wmf"/><Relationship Id="rId3" Type="http://schemas.openxmlformats.org/officeDocument/2006/relationships/image" Target="../media/image66.jpeg"/><Relationship Id="rId7" Type="http://schemas.openxmlformats.org/officeDocument/2006/relationships/image" Target="../media/image60.wmf"/><Relationship Id="rId12" Type="http://schemas.openxmlformats.org/officeDocument/2006/relationships/oleObject" Target="../embeddings/oleObject58.bin"/><Relationship Id="rId17" Type="http://schemas.openxmlformats.org/officeDocument/2006/relationships/image" Target="../media/image65.wmf"/><Relationship Id="rId2" Type="http://schemas.openxmlformats.org/officeDocument/2006/relationships/slideLayout" Target="../slideLayouts/slideLayout2.xml"/><Relationship Id="rId16" Type="http://schemas.openxmlformats.org/officeDocument/2006/relationships/oleObject" Target="../embeddings/oleObject60.bin"/><Relationship Id="rId1" Type="http://schemas.openxmlformats.org/officeDocument/2006/relationships/vmlDrawing" Target="../drawings/vmlDrawing21.vml"/><Relationship Id="rId6" Type="http://schemas.openxmlformats.org/officeDocument/2006/relationships/oleObject" Target="../embeddings/oleObject55.bin"/><Relationship Id="rId11" Type="http://schemas.openxmlformats.org/officeDocument/2006/relationships/image" Target="../media/image62.wmf"/><Relationship Id="rId5" Type="http://schemas.openxmlformats.org/officeDocument/2006/relationships/image" Target="../media/image59.wmf"/><Relationship Id="rId15" Type="http://schemas.openxmlformats.org/officeDocument/2006/relationships/image" Target="../media/image64.wmf"/><Relationship Id="rId10" Type="http://schemas.openxmlformats.org/officeDocument/2006/relationships/oleObject" Target="../embeddings/oleObject57.bin"/><Relationship Id="rId4" Type="http://schemas.openxmlformats.org/officeDocument/2006/relationships/oleObject" Target="../embeddings/oleObject54.bin"/><Relationship Id="rId9" Type="http://schemas.openxmlformats.org/officeDocument/2006/relationships/image" Target="../media/image61.wmf"/><Relationship Id="rId14" Type="http://schemas.openxmlformats.org/officeDocument/2006/relationships/oleObject" Target="../embeddings/oleObject59.bin"/></Relationships>
</file>

<file path=ppt/slides/_rels/slide35.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68.wmf"/><Relationship Id="rId11" Type="http://schemas.openxmlformats.org/officeDocument/2006/relationships/image" Target="../media/image71.png"/><Relationship Id="rId5" Type="http://schemas.openxmlformats.org/officeDocument/2006/relationships/oleObject" Target="../embeddings/oleObject62.bin"/><Relationship Id="rId10" Type="http://schemas.openxmlformats.org/officeDocument/2006/relationships/image" Target="../media/image70.wmf"/><Relationship Id="rId4" Type="http://schemas.openxmlformats.org/officeDocument/2006/relationships/image" Target="../media/image67.wmf"/><Relationship Id="rId9" Type="http://schemas.openxmlformats.org/officeDocument/2006/relationships/oleObject" Target="../embeddings/oleObject64.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image" Target="../media/image73.wmf"/><Relationship Id="rId5" Type="http://schemas.openxmlformats.org/officeDocument/2006/relationships/oleObject" Target="../embeddings/oleObject66.bin"/><Relationship Id="rId4" Type="http://schemas.openxmlformats.org/officeDocument/2006/relationships/image" Target="../media/image72.wmf"/></Relationships>
</file>

<file path=ppt/slides/_rels/slide37.x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24.vml"/><Relationship Id="rId6" Type="http://schemas.openxmlformats.org/officeDocument/2006/relationships/image" Target="../media/image75.wmf"/><Relationship Id="rId5" Type="http://schemas.openxmlformats.org/officeDocument/2006/relationships/oleObject" Target="../embeddings/oleObject68.bin"/><Relationship Id="rId4" Type="http://schemas.openxmlformats.org/officeDocument/2006/relationships/image" Target="../media/image74.wm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77.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26.vml"/><Relationship Id="rId4" Type="http://schemas.openxmlformats.org/officeDocument/2006/relationships/image" Target="../media/image79.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81.wmf"/><Relationship Id="rId5" Type="http://schemas.openxmlformats.org/officeDocument/2006/relationships/oleObject" Target="../embeddings/oleObject73.bin"/><Relationship Id="rId4" Type="http://schemas.openxmlformats.org/officeDocument/2006/relationships/image" Target="../media/image80.wmf"/></Relationships>
</file>

<file path=ppt/slides/_rels/slide46.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74.bin"/><Relationship Id="rId7"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image" Target="../media/image83.wmf"/><Relationship Id="rId5" Type="http://schemas.openxmlformats.org/officeDocument/2006/relationships/oleObject" Target="../embeddings/oleObject75.bin"/><Relationship Id="rId4" Type="http://schemas.openxmlformats.org/officeDocument/2006/relationships/image" Target="../media/image8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9.vml"/><Relationship Id="rId4" Type="http://schemas.openxmlformats.org/officeDocument/2006/relationships/image" Target="../media/image85.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87.wmf"/><Relationship Id="rId5" Type="http://schemas.openxmlformats.org/officeDocument/2006/relationships/oleObject" Target="../embeddings/oleObject79.bin"/><Relationship Id="rId4" Type="http://schemas.openxmlformats.org/officeDocument/2006/relationships/image" Target="../media/image86.wm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80.bin"/><Relationship Id="rId7" Type="http://schemas.openxmlformats.org/officeDocument/2006/relationships/oleObject" Target="../embeddings/oleObject82.bin"/><Relationship Id="rId12" Type="http://schemas.openxmlformats.org/officeDocument/2006/relationships/image" Target="../media/image92.wmf"/><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89.wmf"/><Relationship Id="rId11" Type="http://schemas.openxmlformats.org/officeDocument/2006/relationships/oleObject" Target="../embeddings/oleObject84.bin"/><Relationship Id="rId5" Type="http://schemas.openxmlformats.org/officeDocument/2006/relationships/oleObject" Target="../embeddings/oleObject81.bin"/><Relationship Id="rId10" Type="http://schemas.openxmlformats.org/officeDocument/2006/relationships/image" Target="../media/image91.wmf"/><Relationship Id="rId4" Type="http://schemas.openxmlformats.org/officeDocument/2006/relationships/image" Target="../media/image88.wmf"/><Relationship Id="rId9" Type="http://schemas.openxmlformats.org/officeDocument/2006/relationships/oleObject" Target="../embeddings/oleObject83.bin"/></Relationships>
</file>

<file path=ppt/slides/_rels/slide5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93.w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86.bin"/><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image" Target="../media/image95.wmf"/><Relationship Id="rId5" Type="http://schemas.openxmlformats.org/officeDocument/2006/relationships/oleObject" Target="../embeddings/oleObject87.bin"/><Relationship Id="rId4" Type="http://schemas.openxmlformats.org/officeDocument/2006/relationships/image" Target="../media/image94.wmf"/></Relationships>
</file>

<file path=ppt/slides/_rels/slide55.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97.wmf"/><Relationship Id="rId5" Type="http://schemas.openxmlformats.org/officeDocument/2006/relationships/oleObject" Target="../embeddings/oleObject89.bin"/><Relationship Id="rId4" Type="http://schemas.openxmlformats.org/officeDocument/2006/relationships/image" Target="../media/image96.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91.bin"/><Relationship Id="rId7" Type="http://schemas.openxmlformats.org/officeDocument/2006/relationships/oleObject" Target="../embeddings/oleObject93.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00.wmf"/><Relationship Id="rId5" Type="http://schemas.openxmlformats.org/officeDocument/2006/relationships/oleObject" Target="../embeddings/oleObject92.bin"/><Relationship Id="rId4" Type="http://schemas.openxmlformats.org/officeDocument/2006/relationships/image" Target="../media/image99.wmf"/></Relationships>
</file>

<file path=ppt/slides/_rels/slide59.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94.bin"/><Relationship Id="rId7" Type="http://schemas.openxmlformats.org/officeDocument/2006/relationships/oleObject" Target="../embeddings/oleObject96.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03.wmf"/><Relationship Id="rId5" Type="http://schemas.openxmlformats.org/officeDocument/2006/relationships/oleObject" Target="../embeddings/oleObject95.bin"/><Relationship Id="rId10" Type="http://schemas.openxmlformats.org/officeDocument/2006/relationships/image" Target="../media/image105.wmf"/><Relationship Id="rId4" Type="http://schemas.openxmlformats.org/officeDocument/2006/relationships/image" Target="../media/image102.wmf"/><Relationship Id="rId9" Type="http://schemas.openxmlformats.org/officeDocument/2006/relationships/oleObject" Target="../embeddings/oleObject97.bin"/></Relationships>
</file>

<file path=ppt/slides/_rels/slide60.xml.rels><?xml version="1.0" encoding="UTF-8" standalone="yes"?>
<Relationships xmlns="http://schemas.openxmlformats.org/package/2006/relationships"><Relationship Id="rId8" Type="http://schemas.openxmlformats.org/officeDocument/2006/relationships/image" Target="../media/image108.wmf"/><Relationship Id="rId3" Type="http://schemas.openxmlformats.org/officeDocument/2006/relationships/oleObject" Target="../embeddings/oleObject98.bin"/><Relationship Id="rId7"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37.vml"/><Relationship Id="rId6" Type="http://schemas.openxmlformats.org/officeDocument/2006/relationships/image" Target="../media/image107.wmf"/><Relationship Id="rId5" Type="http://schemas.openxmlformats.org/officeDocument/2006/relationships/oleObject" Target="../embeddings/oleObject99.bin"/><Relationship Id="rId4" Type="http://schemas.openxmlformats.org/officeDocument/2006/relationships/image" Target="../media/image106.wmf"/></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03.bin"/><Relationship Id="rId13" Type="http://schemas.openxmlformats.org/officeDocument/2006/relationships/image" Target="../media/image113.wmf"/><Relationship Id="rId3" Type="http://schemas.openxmlformats.org/officeDocument/2006/relationships/notesSlide" Target="../notesSlides/notesSlide23.xml"/><Relationship Id="rId7" Type="http://schemas.openxmlformats.org/officeDocument/2006/relationships/image" Target="../media/image110.wmf"/><Relationship Id="rId12" Type="http://schemas.openxmlformats.org/officeDocument/2006/relationships/oleObject" Target="../embeddings/oleObject105.bin"/><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102.bin"/><Relationship Id="rId11" Type="http://schemas.openxmlformats.org/officeDocument/2006/relationships/image" Target="../media/image112.wmf"/><Relationship Id="rId5" Type="http://schemas.openxmlformats.org/officeDocument/2006/relationships/image" Target="../media/image109.wmf"/><Relationship Id="rId10" Type="http://schemas.openxmlformats.org/officeDocument/2006/relationships/oleObject" Target="../embeddings/oleObject104.bin"/><Relationship Id="rId4" Type="http://schemas.openxmlformats.org/officeDocument/2006/relationships/oleObject" Target="../embeddings/oleObject101.bin"/><Relationship Id="rId9" Type="http://schemas.openxmlformats.org/officeDocument/2006/relationships/image" Target="../media/image111.wmf"/><Relationship Id="rId14" Type="http://schemas.openxmlformats.org/officeDocument/2006/relationships/image" Target="../media/image114.png"/></Relationships>
</file>

<file path=ppt/slides/_rels/slide63.xml.rels><?xml version="1.0" encoding="UTF-8" standalone="yes"?>
<Relationships xmlns="http://schemas.openxmlformats.org/package/2006/relationships"><Relationship Id="rId8" Type="http://schemas.openxmlformats.org/officeDocument/2006/relationships/image" Target="../media/image117.wmf"/><Relationship Id="rId13" Type="http://schemas.openxmlformats.org/officeDocument/2006/relationships/image" Target="../media/image120.png"/><Relationship Id="rId3" Type="http://schemas.openxmlformats.org/officeDocument/2006/relationships/oleObject" Target="../embeddings/oleObject106.bin"/><Relationship Id="rId7" Type="http://schemas.openxmlformats.org/officeDocument/2006/relationships/oleObject" Target="../embeddings/oleObject108.bin"/><Relationship Id="rId12" Type="http://schemas.openxmlformats.org/officeDocument/2006/relationships/image" Target="../media/image119.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116.wmf"/><Relationship Id="rId11" Type="http://schemas.openxmlformats.org/officeDocument/2006/relationships/oleObject" Target="../embeddings/oleObject110.bin"/><Relationship Id="rId5" Type="http://schemas.openxmlformats.org/officeDocument/2006/relationships/oleObject" Target="../embeddings/oleObject107.bin"/><Relationship Id="rId10" Type="http://schemas.openxmlformats.org/officeDocument/2006/relationships/image" Target="../media/image118.wmf"/><Relationship Id="rId4" Type="http://schemas.openxmlformats.org/officeDocument/2006/relationships/image" Target="../media/image115.wmf"/><Relationship Id="rId9" Type="http://schemas.openxmlformats.org/officeDocument/2006/relationships/oleObject" Target="../embeddings/oleObject109.bin"/></Relationships>
</file>

<file path=ppt/slides/_rels/slide64.xml.rels><?xml version="1.0" encoding="UTF-8" standalone="yes"?>
<Relationships xmlns="http://schemas.openxmlformats.org/package/2006/relationships"><Relationship Id="rId8" Type="http://schemas.openxmlformats.org/officeDocument/2006/relationships/image" Target="../media/image123.wmf"/><Relationship Id="rId13" Type="http://schemas.openxmlformats.org/officeDocument/2006/relationships/image" Target="../media/image126.png"/><Relationship Id="rId3" Type="http://schemas.openxmlformats.org/officeDocument/2006/relationships/oleObject" Target="../embeddings/oleObject111.bin"/><Relationship Id="rId7" Type="http://schemas.openxmlformats.org/officeDocument/2006/relationships/oleObject" Target="../embeddings/oleObject113.bin"/><Relationship Id="rId12" Type="http://schemas.openxmlformats.org/officeDocument/2006/relationships/image" Target="../media/image125.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122.wmf"/><Relationship Id="rId11" Type="http://schemas.openxmlformats.org/officeDocument/2006/relationships/oleObject" Target="../embeddings/oleObject115.bin"/><Relationship Id="rId5" Type="http://schemas.openxmlformats.org/officeDocument/2006/relationships/oleObject" Target="../embeddings/oleObject112.bin"/><Relationship Id="rId10" Type="http://schemas.openxmlformats.org/officeDocument/2006/relationships/image" Target="../media/image124.wmf"/><Relationship Id="rId4" Type="http://schemas.openxmlformats.org/officeDocument/2006/relationships/image" Target="../media/image121.wmf"/><Relationship Id="rId9" Type="http://schemas.openxmlformats.org/officeDocument/2006/relationships/oleObject" Target="../embeddings/oleObject114.bin"/><Relationship Id="rId14" Type="http://schemas.openxmlformats.org/officeDocument/2006/relationships/image" Target="../media/image127.png"/></Relationships>
</file>

<file path=ppt/slides/_rels/slide65.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395536" y="1556792"/>
            <a:ext cx="7772400" cy="1470025"/>
          </a:xfrm>
        </p:spPr>
        <p:txBody>
          <a:bodyPr>
            <a:normAutofit/>
          </a:bodyPr>
          <a:lstStyle/>
          <a:p>
            <a:r>
              <a:rPr lang="zh-CN" altLang="en-US" spc="400" dirty="0">
                <a:latin typeface="黑体" pitchFamily="49" charset="-122"/>
                <a:ea typeface="黑体" pitchFamily="49" charset="-122"/>
              </a:rPr>
              <a:t>第四章  热力学第二定律</a:t>
            </a:r>
          </a:p>
        </p:txBody>
      </p:sp>
      <p:sp>
        <p:nvSpPr>
          <p:cNvPr id="3" name="副标题 2"/>
          <p:cNvSpPr>
            <a:spLocks noGrp="1"/>
          </p:cNvSpPr>
          <p:nvPr>
            <p:ph type="subTitle" idx="1"/>
          </p:nvPr>
        </p:nvSpPr>
        <p:spPr/>
        <p:txBody>
          <a:bodyPr/>
          <a:lstStyle/>
          <a:p>
            <a:endParaRPr lang="zh-CN" altLang="en-US" dirty="0"/>
          </a:p>
        </p:txBody>
      </p:sp>
      <p:pic>
        <p:nvPicPr>
          <p:cNvPr id="6" name="Picture 41" descr="C:\Users\nathan\Desktop\20130513校长报告0511\幻灯片1.PNG"/>
          <p:cNvPicPr>
            <a:picLocks noChangeAspect="1" noChangeArrowheads="1"/>
          </p:cNvPicPr>
          <p:nvPr/>
        </p:nvPicPr>
        <p:blipFill>
          <a:blip r:embed="rId2" cstate="print"/>
          <a:srcRect r="-17" b="86746"/>
          <a:stretch>
            <a:fillRect/>
          </a:stretch>
        </p:blipFill>
        <p:spPr bwMode="auto">
          <a:xfrm>
            <a:off x="0" y="0"/>
            <a:ext cx="9144000" cy="908720"/>
          </a:xfrm>
          <a:prstGeom prst="rect">
            <a:avLst/>
          </a:prstGeom>
          <a:noFill/>
          <a:ln w="9525">
            <a:noFill/>
            <a:miter lim="800000"/>
            <a:headEnd/>
            <a:tailEnd/>
          </a:ln>
        </p:spPr>
      </p:pic>
      <p:pic>
        <p:nvPicPr>
          <p:cNvPr id="7" name="Picture 41" descr="C:\Users\nathan\Desktop\20130513校长报告0511\幻灯片1.PNG"/>
          <p:cNvPicPr>
            <a:picLocks noChangeAspect="1" noChangeArrowheads="1"/>
          </p:cNvPicPr>
          <p:nvPr/>
        </p:nvPicPr>
        <p:blipFill>
          <a:blip r:embed="rId2" cstate="print"/>
          <a:srcRect t="46861"/>
          <a:stretch>
            <a:fillRect/>
          </a:stretch>
        </p:blipFill>
        <p:spPr bwMode="auto">
          <a:xfrm>
            <a:off x="0" y="3213000"/>
            <a:ext cx="9145888" cy="3645024"/>
          </a:xfrm>
          <a:prstGeom prst="rect">
            <a:avLst/>
          </a:prstGeom>
          <a:noFill/>
          <a:ln w="9525">
            <a:noFill/>
            <a:miter lim="800000"/>
            <a:headEnd/>
            <a:tailEnd/>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4"/>
          <p:cNvSpPr>
            <a:spLocks noChangeArrowheads="1"/>
          </p:cNvSpPr>
          <p:nvPr/>
        </p:nvSpPr>
        <p:spPr bwMode="auto">
          <a:xfrm>
            <a:off x="357158" y="1714488"/>
            <a:ext cx="8429684" cy="642942"/>
          </a:xfrm>
          <a:prstGeom prst="rect">
            <a:avLst/>
          </a:prstGeom>
          <a:noFill/>
          <a:ln w="9525">
            <a:noFill/>
            <a:miter lim="800000"/>
            <a:headEnd/>
            <a:tailEnd/>
          </a:ln>
          <a:effectLst/>
        </p:spPr>
        <p:txBody>
          <a:bodyPr/>
          <a:lstStyle/>
          <a:p>
            <a:pPr>
              <a:lnSpc>
                <a:spcPct val="120000"/>
              </a:lnSpc>
              <a:buFontTx/>
              <a:buNone/>
            </a:pPr>
            <a:r>
              <a:rPr lang="zh-CN" altLang="en-US" sz="2800" dirty="0">
                <a:latin typeface="微软雅黑" pitchFamily="34" charset="-122"/>
                <a:ea typeface="微软雅黑" pitchFamily="34" charset="-122"/>
              </a:rPr>
              <a:t>热力学第一定律的实质是能量在转换过程中数量守恒。</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sp>
        <p:nvSpPr>
          <p:cNvPr id="33" name="TextBox 32"/>
          <p:cNvSpPr txBox="1"/>
          <p:nvPr/>
        </p:nvSpPr>
        <p:spPr>
          <a:xfrm>
            <a:off x="0" y="1143000"/>
            <a:ext cx="5572132"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4-1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热力学第二定律的表述与实质</a:t>
            </a:r>
          </a:p>
        </p:txBody>
      </p:sp>
      <p:sp>
        <p:nvSpPr>
          <p:cNvPr id="10" name="Rectangle 4"/>
          <p:cNvSpPr>
            <a:spLocks noChangeArrowheads="1"/>
          </p:cNvSpPr>
          <p:nvPr/>
        </p:nvSpPr>
        <p:spPr bwMode="auto">
          <a:xfrm>
            <a:off x="357158" y="2357430"/>
            <a:ext cx="5366970" cy="642942"/>
          </a:xfrm>
          <a:prstGeom prst="rect">
            <a:avLst/>
          </a:prstGeom>
          <a:noFill/>
          <a:ln w="9525">
            <a:noFill/>
            <a:miter lim="800000"/>
            <a:headEnd/>
            <a:tailEnd/>
          </a:ln>
          <a:effectLst/>
        </p:spPr>
        <p:txBody>
          <a:bodyPr/>
          <a:lstStyle/>
          <a:p>
            <a:pPr marL="609600" indent="-609600">
              <a:lnSpc>
                <a:spcPct val="120000"/>
              </a:lnSpc>
              <a:buFontTx/>
              <a:buNone/>
            </a:pPr>
            <a:r>
              <a:rPr lang="zh-CN" altLang="en-US" sz="2800" dirty="0">
                <a:latin typeface="微软雅黑" pitchFamily="34" charset="-122"/>
                <a:ea typeface="微软雅黑" pitchFamily="34" charset="-122"/>
              </a:rPr>
              <a:t>热力学第一定律的</a:t>
            </a:r>
            <a:r>
              <a:rPr lang="zh-CN" altLang="en-US" sz="2800" dirty="0">
                <a:solidFill>
                  <a:srgbClr val="FF0000"/>
                </a:solidFill>
                <a:latin typeface="微软雅黑" pitchFamily="34" charset="-122"/>
                <a:ea typeface="微软雅黑" pitchFamily="34" charset="-122"/>
              </a:rPr>
              <a:t>不足之处</a:t>
            </a:r>
            <a:r>
              <a:rPr lang="zh-CN" altLang="en-US" sz="2800" dirty="0">
                <a:latin typeface="微软雅黑" pitchFamily="34" charset="-122"/>
                <a:ea typeface="微软雅黑" pitchFamily="34" charset="-122"/>
              </a:rPr>
              <a:t>：</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sp>
        <p:nvSpPr>
          <p:cNvPr id="11" name="圆角矩形 10"/>
          <p:cNvSpPr/>
          <p:nvPr/>
        </p:nvSpPr>
        <p:spPr>
          <a:xfrm>
            <a:off x="428596" y="3071810"/>
            <a:ext cx="6286544"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buFont typeface="Wingdings" pitchFamily="2" charset="2"/>
              <a:buChar char="Ø"/>
            </a:pPr>
            <a:r>
              <a:rPr lang="zh-CN" altLang="en-US" sz="2800" dirty="0">
                <a:solidFill>
                  <a:schemeClr val="tx1"/>
                </a:solidFill>
                <a:latin typeface="微软雅黑" pitchFamily="34" charset="-122"/>
                <a:ea typeface="微软雅黑" pitchFamily="34" charset="-122"/>
              </a:rPr>
              <a:t>  不能反映能量品质的高低</a:t>
            </a:r>
          </a:p>
        </p:txBody>
      </p:sp>
      <p:sp>
        <p:nvSpPr>
          <p:cNvPr id="12" name="圆角矩形 11"/>
          <p:cNvSpPr/>
          <p:nvPr/>
        </p:nvSpPr>
        <p:spPr>
          <a:xfrm>
            <a:off x="428596" y="4143380"/>
            <a:ext cx="6286544"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buFont typeface="Wingdings" pitchFamily="2" charset="2"/>
              <a:buChar char="Ø"/>
            </a:pPr>
            <a:r>
              <a:rPr lang="zh-CN" altLang="en-US" sz="2800" dirty="0">
                <a:solidFill>
                  <a:schemeClr val="tx1"/>
                </a:solidFill>
                <a:latin typeface="微软雅黑" pitchFamily="34" charset="-122"/>
                <a:ea typeface="微软雅黑" pitchFamily="34" charset="-122"/>
              </a:rPr>
              <a:t>  能量转换过程中“质”不守恒</a:t>
            </a:r>
          </a:p>
        </p:txBody>
      </p:sp>
      <p:sp>
        <p:nvSpPr>
          <p:cNvPr id="13" name="圆角矩形 12"/>
          <p:cNvSpPr/>
          <p:nvPr/>
        </p:nvSpPr>
        <p:spPr>
          <a:xfrm>
            <a:off x="428596" y="5214950"/>
            <a:ext cx="6286544"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buFont typeface="Wingdings" pitchFamily="2" charset="2"/>
              <a:buChar char="Ø"/>
            </a:pPr>
            <a:r>
              <a:rPr lang="zh-CN" altLang="en-US" sz="2800" dirty="0">
                <a:solidFill>
                  <a:schemeClr val="tx1"/>
                </a:solidFill>
                <a:latin typeface="微软雅黑" pitchFamily="34" charset="-122"/>
                <a:ea typeface="微软雅黑" pitchFamily="34" charset="-122"/>
              </a:rPr>
              <a:t>  非自发过程进行需要一定的条件</a:t>
            </a:r>
          </a:p>
        </p:txBody>
      </p:sp>
      <p:sp>
        <p:nvSpPr>
          <p:cNvPr id="9" name="矩形 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247283" y="1196752"/>
            <a:ext cx="2053462"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800" dirty="0">
                <a:solidFill>
                  <a:schemeClr val="tx1"/>
                </a:solidFill>
                <a:latin typeface="微软雅黑" pitchFamily="34" charset="-122"/>
                <a:ea typeface="微软雅黑" pitchFamily="34" charset="-122"/>
              </a:rPr>
              <a:t>  能量品质</a:t>
            </a:r>
          </a:p>
        </p:txBody>
      </p:sp>
      <p:sp>
        <p:nvSpPr>
          <p:cNvPr id="8" name="Rectangle 4"/>
          <p:cNvSpPr>
            <a:spLocks noChangeArrowheads="1"/>
          </p:cNvSpPr>
          <p:nvPr/>
        </p:nvSpPr>
        <p:spPr bwMode="auto">
          <a:xfrm>
            <a:off x="357158" y="2060848"/>
            <a:ext cx="8429684" cy="1296144"/>
          </a:xfrm>
          <a:prstGeom prst="rect">
            <a:avLst/>
          </a:prstGeom>
          <a:noFill/>
          <a:ln w="9525">
            <a:noFill/>
            <a:miter lim="800000"/>
            <a:headEnd/>
            <a:tailEnd/>
          </a:ln>
          <a:effectLst/>
        </p:spPr>
        <p:txBody>
          <a:bodyPr/>
          <a:lstStyle/>
          <a:p>
            <a:pPr marL="457200" indent="-457200">
              <a:lnSpc>
                <a:spcPct val="150000"/>
              </a:lnSpc>
              <a:buFont typeface="Wingdings" panose="05000000000000000000" pitchFamily="2" charset="2"/>
              <a:buChar char="u"/>
            </a:pPr>
            <a:r>
              <a:rPr lang="zh-CN" altLang="en-US" sz="2800" dirty="0">
                <a:latin typeface="微软雅黑" pitchFamily="34" charset="-122"/>
                <a:ea typeface="微软雅黑" pitchFamily="34" charset="-122"/>
              </a:rPr>
              <a:t>电能、机械能等（有序能）几乎可</a:t>
            </a:r>
            <a:r>
              <a:rPr lang="en-US" altLang="zh-CN" sz="2800" dirty="0">
                <a:latin typeface="微软雅黑" pitchFamily="34" charset="-122"/>
                <a:ea typeface="微软雅黑" pitchFamily="34" charset="-122"/>
              </a:rPr>
              <a:t>100%</a:t>
            </a:r>
            <a:r>
              <a:rPr lang="zh-CN" altLang="en-US" sz="2800" dirty="0">
                <a:latin typeface="微软雅黑" pitchFamily="34" charset="-122"/>
                <a:ea typeface="微软雅黑" pitchFamily="34" charset="-122"/>
              </a:rPr>
              <a:t>地转换成任何其它形式的能量，称为</a:t>
            </a:r>
            <a:r>
              <a:rPr lang="zh-CN" altLang="en-US" sz="2800" dirty="0">
                <a:solidFill>
                  <a:srgbClr val="4B3EEE"/>
                </a:solidFill>
                <a:latin typeface="微软雅黑" pitchFamily="34" charset="-122"/>
                <a:ea typeface="微软雅黑" pitchFamily="34" charset="-122"/>
              </a:rPr>
              <a:t>无限可转换能</a:t>
            </a:r>
            <a:r>
              <a:rPr lang="zh-CN" altLang="en-US" sz="2800" dirty="0">
                <a:latin typeface="微软雅黑" pitchFamily="34" charset="-122"/>
                <a:ea typeface="微软雅黑" pitchFamily="34" charset="-122"/>
              </a:rPr>
              <a:t>；</a:t>
            </a:r>
          </a:p>
          <a:p>
            <a:pPr indent="504000" algn="r">
              <a:lnSpc>
                <a:spcPct val="150000"/>
              </a:lnSpc>
              <a:spcBef>
                <a:spcPts val="1200"/>
              </a:spcBef>
            </a:pPr>
            <a:endParaRPr lang="zh-CN" altLang="en-US" sz="2800" dirty="0">
              <a:latin typeface="微软雅黑" pitchFamily="34" charset="-122"/>
              <a:ea typeface="微软雅黑" pitchFamily="34" charset="-122"/>
            </a:endParaRPr>
          </a:p>
        </p:txBody>
      </p:sp>
      <p:sp>
        <p:nvSpPr>
          <p:cNvPr id="9" name="Rectangle 4"/>
          <p:cNvSpPr>
            <a:spLocks noChangeArrowheads="1"/>
          </p:cNvSpPr>
          <p:nvPr/>
        </p:nvSpPr>
        <p:spPr bwMode="auto">
          <a:xfrm>
            <a:off x="357158" y="3356992"/>
            <a:ext cx="8429684" cy="1944216"/>
          </a:xfrm>
          <a:prstGeom prst="rect">
            <a:avLst/>
          </a:prstGeom>
          <a:noFill/>
          <a:ln w="9525">
            <a:noFill/>
            <a:miter lim="800000"/>
            <a:headEnd/>
            <a:tailEnd/>
          </a:ln>
          <a:effectLst/>
        </p:spPr>
        <p:txBody>
          <a:bodyPr/>
          <a:lstStyle/>
          <a:p>
            <a:pPr marL="457200" indent="-457200" algn="just">
              <a:lnSpc>
                <a:spcPct val="150000"/>
              </a:lnSpc>
              <a:buFont typeface="Wingdings" panose="05000000000000000000" pitchFamily="2" charset="2"/>
              <a:buChar char="u"/>
            </a:pPr>
            <a:r>
              <a:rPr lang="zh-CN" altLang="en-US" sz="2800" dirty="0">
                <a:latin typeface="微软雅黑" pitchFamily="34" charset="-122"/>
                <a:ea typeface="微软雅黑" pitchFamily="34" charset="-122"/>
              </a:rPr>
              <a:t>高于环境温度的热能（无序能）可部分地转换为机械能，该能所处的势越高，可转换的份额就越大，这部分势能称为</a:t>
            </a:r>
            <a:r>
              <a:rPr lang="zh-CN" altLang="en-US" sz="2800" dirty="0">
                <a:solidFill>
                  <a:srgbClr val="4B3EEE"/>
                </a:solidFill>
                <a:latin typeface="微软雅黑" pitchFamily="34" charset="-122"/>
                <a:ea typeface="微软雅黑" pitchFamily="34" charset="-122"/>
              </a:rPr>
              <a:t>有限可转换能</a:t>
            </a:r>
            <a:r>
              <a:rPr lang="zh-CN" altLang="en-US" sz="2800" dirty="0">
                <a:latin typeface="微软雅黑" pitchFamily="34" charset="-122"/>
                <a:ea typeface="微软雅黑" pitchFamily="34" charset="-122"/>
              </a:rPr>
              <a:t>；</a:t>
            </a:r>
          </a:p>
        </p:txBody>
      </p:sp>
      <p:sp>
        <p:nvSpPr>
          <p:cNvPr id="14" name="Rectangle 4"/>
          <p:cNvSpPr>
            <a:spLocks noChangeArrowheads="1"/>
          </p:cNvSpPr>
          <p:nvPr/>
        </p:nvSpPr>
        <p:spPr bwMode="auto">
          <a:xfrm>
            <a:off x="357158" y="5378346"/>
            <a:ext cx="8429684" cy="642942"/>
          </a:xfrm>
          <a:prstGeom prst="rect">
            <a:avLst/>
          </a:prstGeom>
          <a:noFill/>
          <a:ln w="9525">
            <a:noFill/>
            <a:miter lim="800000"/>
            <a:headEnd/>
            <a:tailEnd/>
          </a:ln>
          <a:effectLst/>
        </p:spPr>
        <p:txBody>
          <a:bodyPr/>
          <a:lstStyle/>
          <a:p>
            <a:pPr marL="457200" indent="-457200">
              <a:lnSpc>
                <a:spcPct val="120000"/>
              </a:lnSpc>
              <a:buFont typeface="Wingdings" panose="05000000000000000000" pitchFamily="2" charset="2"/>
              <a:buChar char="u"/>
            </a:pPr>
            <a:r>
              <a:rPr lang="zh-CN" altLang="en-US" sz="2800" dirty="0">
                <a:latin typeface="微软雅黑" pitchFamily="34" charset="-122"/>
                <a:ea typeface="微软雅黑" pitchFamily="34" charset="-122"/>
              </a:rPr>
              <a:t>与环境同势的能为</a:t>
            </a:r>
            <a:r>
              <a:rPr lang="zh-CN" altLang="en-US" sz="2800" dirty="0">
                <a:solidFill>
                  <a:srgbClr val="4B3EEE"/>
                </a:solidFill>
                <a:latin typeface="微软雅黑" pitchFamily="34" charset="-122"/>
                <a:ea typeface="微软雅黑" pitchFamily="34" charset="-122"/>
              </a:rPr>
              <a:t>不可转换能</a:t>
            </a:r>
            <a:r>
              <a:rPr lang="zh-CN" altLang="en-US" sz="2800" dirty="0">
                <a:latin typeface="微软雅黑" pitchFamily="34" charset="-122"/>
                <a:ea typeface="微软雅黑" pitchFamily="34" charset="-122"/>
              </a:rPr>
              <a:t>。</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4"/>
          <p:cNvSpPr>
            <a:spLocks noChangeArrowheads="1"/>
          </p:cNvSpPr>
          <p:nvPr/>
        </p:nvSpPr>
        <p:spPr bwMode="auto">
          <a:xfrm>
            <a:off x="357158" y="2071678"/>
            <a:ext cx="8429684" cy="571504"/>
          </a:xfrm>
          <a:prstGeom prst="rect">
            <a:avLst/>
          </a:prstGeom>
          <a:noFill/>
          <a:ln w="9525">
            <a:noFill/>
            <a:miter lim="800000"/>
            <a:headEnd/>
            <a:tailEnd/>
          </a:ln>
          <a:effectLst/>
        </p:spPr>
        <p:txBody>
          <a:bodyPr/>
          <a:lstStyle/>
          <a:p>
            <a:pPr>
              <a:lnSpc>
                <a:spcPct val="120000"/>
              </a:lnSpc>
            </a:pPr>
            <a:r>
              <a:rPr lang="zh-CN" altLang="en-US" sz="2800" dirty="0">
                <a:latin typeface="微软雅黑" pitchFamily="34" charset="-122"/>
                <a:ea typeface="微软雅黑" pitchFamily="34" charset="-122"/>
              </a:rPr>
              <a:t>一切自发过程都是不可逆的，且具有方向性。</a:t>
            </a:r>
            <a:r>
              <a:rPr lang="zh-CN" altLang="en-US" sz="2800" dirty="0">
                <a:solidFill>
                  <a:prstClr val="black"/>
                </a:solidFill>
                <a:latin typeface="微软雅黑" pitchFamily="34" charset="-122"/>
                <a:ea typeface="微软雅黑" pitchFamily="34" charset="-122"/>
              </a:rPr>
              <a:t>例如：</a:t>
            </a:r>
            <a:endParaRPr lang="zh-CN" altLang="en-US" sz="2800" dirty="0">
              <a:latin typeface="微软雅黑" pitchFamily="34" charset="-122"/>
              <a:ea typeface="微软雅黑" pitchFamily="34" charset="-122"/>
            </a:endParaRPr>
          </a:p>
        </p:txBody>
      </p:sp>
      <p:sp>
        <p:nvSpPr>
          <p:cNvPr id="14" name="Rectangle 4"/>
          <p:cNvSpPr>
            <a:spLocks noChangeArrowheads="1"/>
          </p:cNvSpPr>
          <p:nvPr/>
        </p:nvSpPr>
        <p:spPr bwMode="auto">
          <a:xfrm>
            <a:off x="357158" y="3356992"/>
            <a:ext cx="8429684" cy="1296144"/>
          </a:xfrm>
          <a:prstGeom prst="rect">
            <a:avLst/>
          </a:prstGeom>
          <a:noFill/>
          <a:ln w="9525">
            <a:noFill/>
            <a:miter lim="800000"/>
            <a:headEnd/>
            <a:tailEnd/>
          </a:ln>
          <a:effectLst/>
        </p:spPr>
        <p:txBody>
          <a:bodyPr/>
          <a:lstStyle/>
          <a:p>
            <a:pPr marL="457200" indent="-457200">
              <a:lnSpc>
                <a:spcPct val="150000"/>
              </a:lnSpc>
              <a:buFont typeface="Wingdings" panose="05000000000000000000" pitchFamily="2" charset="2"/>
              <a:buChar char="u"/>
            </a:pPr>
            <a:r>
              <a:rPr lang="zh-CN" altLang="en-US" sz="2800" dirty="0">
                <a:latin typeface="微软雅黑" pitchFamily="34" charset="-122"/>
                <a:ea typeface="微软雅黑" pitchFamily="34" charset="-122"/>
              </a:rPr>
              <a:t>高温物体向低温物体传热、自由膨胀、重物下落、浓度扩散等</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系统从不平衡态变化到平衡态 </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a:t>
            </a:r>
          </a:p>
          <a:p>
            <a:pPr>
              <a:lnSpc>
                <a:spcPct val="150000"/>
              </a:lnSpc>
            </a:pPr>
            <a:endParaRPr lang="zh-CN" altLang="en-US" sz="2800" dirty="0">
              <a:solidFill>
                <a:srgbClr val="0070C0"/>
              </a:solidFill>
              <a:latin typeface="微软雅黑" pitchFamily="34" charset="-122"/>
              <a:ea typeface="微软雅黑" pitchFamily="34" charset="-122"/>
            </a:endParaRPr>
          </a:p>
        </p:txBody>
      </p:sp>
      <p:sp>
        <p:nvSpPr>
          <p:cNvPr id="6" name="圆角矩形 5"/>
          <p:cNvSpPr/>
          <p:nvPr/>
        </p:nvSpPr>
        <p:spPr>
          <a:xfrm>
            <a:off x="214282" y="1203022"/>
            <a:ext cx="5149806"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800" dirty="0">
                <a:solidFill>
                  <a:schemeClr val="tx1"/>
                </a:solidFill>
                <a:latin typeface="微软雅黑" pitchFamily="34" charset="-122"/>
                <a:ea typeface="微软雅黑" pitchFamily="34" charset="-122"/>
              </a:rPr>
              <a:t>  能量转换过程中“质”不守恒</a:t>
            </a:r>
          </a:p>
        </p:txBody>
      </p:sp>
      <p:sp>
        <p:nvSpPr>
          <p:cNvPr id="10" name="Rectangle 4"/>
          <p:cNvSpPr>
            <a:spLocks noChangeArrowheads="1"/>
          </p:cNvSpPr>
          <p:nvPr/>
        </p:nvSpPr>
        <p:spPr bwMode="auto">
          <a:xfrm>
            <a:off x="323528" y="2786058"/>
            <a:ext cx="8463314" cy="571504"/>
          </a:xfrm>
          <a:prstGeom prst="rect">
            <a:avLst/>
          </a:prstGeom>
          <a:noFill/>
          <a:ln w="9525">
            <a:noFill/>
            <a:miter lim="800000"/>
            <a:headEnd/>
            <a:tailEnd/>
          </a:ln>
          <a:effectLst/>
        </p:spPr>
        <p:txBody>
          <a:bodyPr/>
          <a:lstStyle/>
          <a:p>
            <a:pPr marL="457200" indent="-457200">
              <a:lnSpc>
                <a:spcPct val="120000"/>
              </a:lnSpc>
              <a:buFont typeface="Wingdings" panose="05000000000000000000" pitchFamily="2" charset="2"/>
              <a:buChar char="u"/>
            </a:pPr>
            <a:r>
              <a:rPr lang="zh-CN" altLang="en-US" sz="2800" dirty="0">
                <a:latin typeface="微软雅黑" pitchFamily="34" charset="-122"/>
                <a:ea typeface="微软雅黑" pitchFamily="34" charset="-122"/>
              </a:rPr>
              <a:t>电能或机械能转变为热能（有序能变为无序能）；</a:t>
            </a:r>
          </a:p>
        </p:txBody>
      </p:sp>
      <p:sp>
        <p:nvSpPr>
          <p:cNvPr id="13" name="Rectangle 4"/>
          <p:cNvSpPr>
            <a:spLocks noChangeArrowheads="1"/>
          </p:cNvSpPr>
          <p:nvPr/>
        </p:nvSpPr>
        <p:spPr bwMode="auto">
          <a:xfrm>
            <a:off x="501174" y="4797152"/>
            <a:ext cx="7815242" cy="65776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a:lnSpc>
                <a:spcPct val="120000"/>
              </a:lnSpc>
            </a:pPr>
            <a:r>
              <a:rPr lang="zh-CN" altLang="en-US" sz="2800" dirty="0">
                <a:latin typeface="微软雅黑" pitchFamily="34" charset="-122"/>
                <a:ea typeface="微软雅黑" pitchFamily="34" charset="-122"/>
              </a:rPr>
              <a:t>自发过程进行的方向都指向能量品质</a:t>
            </a:r>
            <a:r>
              <a:rPr lang="zh-CN" altLang="en-US" sz="2800" dirty="0">
                <a:solidFill>
                  <a:schemeClr val="tx1"/>
                </a:solidFill>
                <a:latin typeface="微软雅黑" pitchFamily="34" charset="-122"/>
                <a:ea typeface="微软雅黑" pitchFamily="34" charset="-122"/>
              </a:rPr>
              <a:t>降低</a:t>
            </a:r>
            <a:r>
              <a:rPr lang="zh-CN" altLang="en-US" sz="2800" dirty="0">
                <a:latin typeface="微软雅黑" pitchFamily="34" charset="-122"/>
                <a:ea typeface="微软雅黑" pitchFamily="34" charset="-122"/>
              </a:rPr>
              <a:t>的方向。</a:t>
            </a:r>
          </a:p>
        </p:txBody>
      </p:sp>
      <p:sp>
        <p:nvSpPr>
          <p:cNvPr id="16" name="Rectangle 4"/>
          <p:cNvSpPr>
            <a:spLocks noChangeArrowheads="1"/>
          </p:cNvSpPr>
          <p:nvPr/>
        </p:nvSpPr>
        <p:spPr bwMode="auto">
          <a:xfrm>
            <a:off x="319350" y="5517232"/>
            <a:ext cx="7925058" cy="535785"/>
          </a:xfrm>
          <a:prstGeom prst="rect">
            <a:avLst/>
          </a:prstGeom>
          <a:noFill/>
          <a:ln w="9525">
            <a:noFill/>
            <a:miter lim="800000"/>
            <a:headEnd/>
            <a:tailEnd/>
          </a:ln>
          <a:effectLst/>
        </p:spPr>
        <p:txBody>
          <a:bodyPr/>
          <a:lstStyle/>
          <a:p>
            <a:pPr>
              <a:lnSpc>
                <a:spcPct val="120000"/>
              </a:lnSpc>
            </a:pPr>
            <a:r>
              <a:rPr lang="zh-CN" altLang="en-US" sz="2800" dirty="0">
                <a:solidFill>
                  <a:srgbClr val="FF0000"/>
                </a:solidFill>
                <a:latin typeface="微软雅黑" pitchFamily="34" charset="-122"/>
                <a:ea typeface="微软雅黑" pitchFamily="34" charset="-122"/>
              </a:rPr>
              <a:t> 能量转换过程中“数量”守恒，“质量”不守恒。</a:t>
            </a:r>
          </a:p>
        </p:txBody>
      </p:sp>
      <p:sp>
        <p:nvSpPr>
          <p:cNvPr id="9" name="矩形 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bg/>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allAtOnce"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圆角矩形 8"/>
          <p:cNvSpPr/>
          <p:nvPr/>
        </p:nvSpPr>
        <p:spPr>
          <a:xfrm>
            <a:off x="285720" y="1419046"/>
            <a:ext cx="5870456" cy="785818"/>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r>
              <a:rPr lang="zh-CN" altLang="en-US" sz="2800" dirty="0">
                <a:solidFill>
                  <a:schemeClr val="tx1"/>
                </a:solidFill>
                <a:latin typeface="微软雅黑" pitchFamily="34" charset="-122"/>
                <a:ea typeface="微软雅黑" pitchFamily="34" charset="-122"/>
              </a:rPr>
              <a:t>  非自发过程进行需要一定的条件</a:t>
            </a:r>
          </a:p>
        </p:txBody>
      </p:sp>
      <p:sp>
        <p:nvSpPr>
          <p:cNvPr id="11" name="Rectangle 4"/>
          <p:cNvSpPr>
            <a:spLocks noChangeArrowheads="1"/>
          </p:cNvSpPr>
          <p:nvPr/>
        </p:nvSpPr>
        <p:spPr bwMode="auto">
          <a:xfrm>
            <a:off x="429166" y="2348880"/>
            <a:ext cx="8247290" cy="2592288"/>
          </a:xfrm>
          <a:prstGeom prst="rect">
            <a:avLst/>
          </a:prstGeom>
          <a:noFill/>
          <a:ln w="9525">
            <a:noFill/>
            <a:miter lim="800000"/>
            <a:headEnd/>
            <a:tailEnd/>
          </a:ln>
          <a:effectLst/>
        </p:spPr>
        <p:txBody>
          <a:bodyPr/>
          <a:lstStyle/>
          <a:p>
            <a:pPr lvl="0">
              <a:lnSpc>
                <a:spcPct val="150000"/>
              </a:lnSpc>
            </a:pPr>
            <a:r>
              <a:rPr lang="zh-CN" altLang="en-US" sz="2800" dirty="0">
                <a:latin typeface="微软雅黑" pitchFamily="34" charset="-122"/>
                <a:ea typeface="微软雅黑" pitchFamily="34" charset="-122"/>
              </a:rPr>
              <a:t>非自发过程是能量品质升高的过程，不能自发进行，必须以某种补偿过程为条件，该补偿过程是使能量品质降低的过程，因此整个过程中能量的品质不会升高。</a:t>
            </a:r>
            <a:r>
              <a:rPr lang="zh-CN" altLang="en-US" sz="2800" dirty="0">
                <a:solidFill>
                  <a:prstClr val="black"/>
                </a:solidFill>
                <a:latin typeface="微软雅黑" pitchFamily="34" charset="-122"/>
                <a:ea typeface="微软雅黑" pitchFamily="34" charset="-122"/>
              </a:rPr>
              <a:t>补偿量越少，越经济。</a:t>
            </a:r>
            <a:endParaRPr lang="en-US" altLang="zh-CN" sz="2800" dirty="0">
              <a:solidFill>
                <a:prstClr val="black"/>
              </a:solidFill>
              <a:latin typeface="微软雅黑" pitchFamily="34" charset="-122"/>
              <a:ea typeface="微软雅黑" pitchFamily="34" charset="-122"/>
            </a:endParaRPr>
          </a:p>
        </p:txBody>
      </p:sp>
      <p:sp>
        <p:nvSpPr>
          <p:cNvPr id="5" name="矩形 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a:t>
            </a:r>
            <a:endParaRPr lang="zh-CN" altLang="en-US" sz="2000" b="1" dirty="0">
              <a:solidFill>
                <a:schemeClr val="tx1"/>
              </a:solidFill>
              <a:latin typeface="黑体" pitchFamily="49" charset="-122"/>
              <a:ea typeface="黑体" pitchFamily="49" charset="-122"/>
            </a:endParaRPr>
          </a:p>
        </p:txBody>
      </p:sp>
      <p:sp>
        <p:nvSpPr>
          <p:cNvPr id="6" name="Rectangle 4"/>
          <p:cNvSpPr>
            <a:spLocks noChangeArrowheads="1"/>
          </p:cNvSpPr>
          <p:nvPr/>
        </p:nvSpPr>
        <p:spPr bwMode="auto">
          <a:xfrm>
            <a:off x="517334" y="5013176"/>
            <a:ext cx="6406466" cy="720080"/>
          </a:xfrm>
          <a:prstGeom prst="rect">
            <a:avLst/>
          </a:prstGeom>
          <a:noFill/>
          <a:ln w="9525">
            <a:noFill/>
            <a:miter lim="800000"/>
            <a:headEnd/>
            <a:tailEnd/>
          </a:ln>
          <a:effectLst/>
        </p:spPr>
        <p:txBody>
          <a:bodyPr/>
          <a:lstStyle/>
          <a:p>
            <a:pPr>
              <a:lnSpc>
                <a:spcPct val="150000"/>
              </a:lnSpc>
            </a:pPr>
            <a:r>
              <a:rPr lang="zh-CN" altLang="en-US" sz="2800" dirty="0">
                <a:solidFill>
                  <a:srgbClr val="FF0000"/>
                </a:solidFill>
                <a:latin typeface="微软雅黑" pitchFamily="34" charset="-122"/>
                <a:ea typeface="微软雅黑" pitchFamily="34" charset="-122"/>
              </a:rPr>
              <a:t>最小补偿量：可逆过程所需的补偿量。</a:t>
            </a:r>
            <a:endParaRPr lang="zh-CN" altLang="en-US" sz="2800" dirty="0">
              <a:solidFill>
                <a:prstClr val="black"/>
              </a:solidFill>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a:t>
            </a:r>
            <a:endParaRPr lang="zh-CN" altLang="en-US" sz="2000" b="1" dirty="0">
              <a:solidFill>
                <a:schemeClr val="tx1"/>
              </a:solidFill>
              <a:latin typeface="黑体" pitchFamily="49" charset="-122"/>
              <a:ea typeface="黑体" pitchFamily="49" charset="-122"/>
            </a:endParaRPr>
          </a:p>
        </p:txBody>
      </p:sp>
      <p:sp>
        <p:nvSpPr>
          <p:cNvPr id="34" name="TextBox 37"/>
          <p:cNvSpPr txBox="1">
            <a:spLocks noChangeArrowheads="1"/>
          </p:cNvSpPr>
          <p:nvPr/>
        </p:nvSpPr>
        <p:spPr bwMode="auto">
          <a:xfrm>
            <a:off x="755576" y="1124744"/>
            <a:ext cx="383879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热力学第二定律的表述</a:t>
            </a:r>
          </a:p>
        </p:txBody>
      </p:sp>
      <p:sp>
        <p:nvSpPr>
          <p:cNvPr id="35" name="矩形 34"/>
          <p:cNvSpPr/>
          <p:nvPr/>
        </p:nvSpPr>
        <p:spPr>
          <a:xfrm>
            <a:off x="93812" y="1138213"/>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sp>
        <p:nvSpPr>
          <p:cNvPr id="8" name="Rectangle 4"/>
          <p:cNvSpPr>
            <a:spLocks noChangeArrowheads="1"/>
          </p:cNvSpPr>
          <p:nvPr/>
        </p:nvSpPr>
        <p:spPr bwMode="auto">
          <a:xfrm>
            <a:off x="352065" y="1628800"/>
            <a:ext cx="8429684" cy="571504"/>
          </a:xfrm>
          <a:prstGeom prst="rect">
            <a:avLst/>
          </a:prstGeom>
          <a:noFill/>
          <a:ln w="9525">
            <a:noFill/>
            <a:miter lim="800000"/>
            <a:headEnd/>
            <a:tailEnd/>
          </a:ln>
          <a:effectLst/>
        </p:spPr>
        <p:txBody>
          <a:bodyPr/>
          <a:lstStyle/>
          <a:p>
            <a:pPr>
              <a:lnSpc>
                <a:spcPct val="120000"/>
              </a:lnSpc>
            </a:pPr>
            <a:r>
              <a:rPr lang="zh-CN" altLang="en-US" sz="2800" dirty="0">
                <a:solidFill>
                  <a:srgbClr val="000000"/>
                </a:solidFill>
                <a:latin typeface="微软雅黑" pitchFamily="34" charset="-122"/>
                <a:ea typeface="微软雅黑" pitchFamily="34" charset="-122"/>
              </a:rPr>
              <a:t>热力学第二定律的各种表述虽形式不同，但本质相同。</a:t>
            </a:r>
          </a:p>
          <a:p>
            <a:pPr>
              <a:lnSpc>
                <a:spcPct val="120000"/>
              </a:lnSpc>
            </a:pPr>
            <a:endParaRPr lang="zh-CN" altLang="en-US" sz="2800" dirty="0">
              <a:latin typeface="微软雅黑" pitchFamily="34" charset="-122"/>
              <a:ea typeface="微软雅黑" pitchFamily="34" charset="-122"/>
            </a:endParaRPr>
          </a:p>
        </p:txBody>
      </p:sp>
      <p:sp>
        <p:nvSpPr>
          <p:cNvPr id="9" name="Rectangle 4"/>
          <p:cNvSpPr>
            <a:spLocks noChangeArrowheads="1"/>
          </p:cNvSpPr>
          <p:nvPr/>
        </p:nvSpPr>
        <p:spPr bwMode="auto">
          <a:xfrm>
            <a:off x="379532" y="2132856"/>
            <a:ext cx="8429684" cy="3888432"/>
          </a:xfrm>
          <a:prstGeom prst="rect">
            <a:avLst/>
          </a:prstGeom>
          <a:noFill/>
          <a:ln w="9525">
            <a:noFill/>
            <a:miter lim="800000"/>
            <a:headEnd/>
            <a:tailEnd/>
          </a:ln>
          <a:effectLst/>
        </p:spPr>
        <p:txBody>
          <a:bodyPr/>
          <a:lstStyle/>
          <a:p>
            <a:pPr>
              <a:lnSpc>
                <a:spcPct val="150000"/>
              </a:lnSpc>
            </a:pPr>
            <a:r>
              <a:rPr lang="zh-CN" altLang="en-US" sz="2800" dirty="0">
                <a:latin typeface="微软雅黑" pitchFamily="34" charset="-122"/>
                <a:ea typeface="微软雅黑" pitchFamily="34" charset="-122"/>
              </a:rPr>
              <a:t>两种经典表述：</a:t>
            </a:r>
            <a:endParaRPr lang="en-US" altLang="zh-CN" sz="2800" dirty="0">
              <a:latin typeface="微软雅黑" pitchFamily="34" charset="-122"/>
              <a:ea typeface="微软雅黑" pitchFamily="34" charset="-122"/>
            </a:endParaRPr>
          </a:p>
          <a:p>
            <a:pPr>
              <a:lnSpc>
                <a:spcPct val="150000"/>
              </a:lnSpc>
            </a:pPr>
            <a:r>
              <a:rPr lang="zh-CN" altLang="en-US" sz="2800" dirty="0">
                <a:solidFill>
                  <a:srgbClr val="4B3EEE"/>
                </a:solidFill>
                <a:latin typeface="微软雅黑" pitchFamily="34" charset="-122"/>
                <a:ea typeface="微软雅黑" pitchFamily="34" charset="-122"/>
              </a:rPr>
              <a:t> </a:t>
            </a:r>
            <a:r>
              <a:rPr lang="en-US" altLang="zh-CN" sz="2800" dirty="0">
                <a:solidFill>
                  <a:srgbClr val="4B3EEE"/>
                </a:solidFill>
                <a:latin typeface="微软雅黑" pitchFamily="34" charset="-122"/>
                <a:ea typeface="微软雅黑" pitchFamily="34" charset="-122"/>
              </a:rPr>
              <a:t>(1) </a:t>
            </a:r>
            <a:r>
              <a:rPr lang="zh-CN" altLang="en-US" sz="2800" b="1" dirty="0">
                <a:solidFill>
                  <a:srgbClr val="4B3EEE"/>
                </a:solidFill>
                <a:latin typeface="微软雅黑" pitchFamily="34" charset="-122"/>
                <a:ea typeface="微软雅黑" pitchFamily="34" charset="-122"/>
              </a:rPr>
              <a:t>克劳修斯说法</a:t>
            </a:r>
            <a:r>
              <a:rPr lang="zh-CN" altLang="en-US" sz="2800" dirty="0">
                <a:solidFill>
                  <a:srgbClr val="4B3EEE"/>
                </a:solidFill>
                <a:latin typeface="微软雅黑" pitchFamily="34" charset="-122"/>
                <a:ea typeface="微软雅黑" pitchFamily="34" charset="-122"/>
              </a:rPr>
              <a:t>：</a:t>
            </a:r>
            <a:endParaRPr lang="en-US" altLang="zh-CN" sz="2800" dirty="0">
              <a:solidFill>
                <a:srgbClr val="4B3EEE"/>
              </a:solidFill>
              <a:latin typeface="微软雅黑" pitchFamily="34" charset="-122"/>
              <a:ea typeface="微软雅黑" pitchFamily="34" charset="-122"/>
            </a:endParaRPr>
          </a:p>
          <a:p>
            <a:pPr>
              <a:lnSpc>
                <a:spcPct val="150000"/>
              </a:lnSpc>
            </a:pPr>
            <a:r>
              <a:rPr lang="zh-CN" altLang="en-US" sz="2800" dirty="0">
                <a:solidFill>
                  <a:srgbClr val="000000"/>
                </a:solidFill>
                <a:latin typeface="微软雅黑" pitchFamily="34" charset="-122"/>
                <a:ea typeface="微软雅黑" pitchFamily="34" charset="-122"/>
              </a:rPr>
              <a:t>热量不可能自发地、不花任何代价地从低温物体传向高温物体（可满足热力学第一定律，但不满足热力学第二定律，必须消耗外功）。</a:t>
            </a:r>
          </a:p>
          <a:p>
            <a:pPr lvl="0">
              <a:lnSpc>
                <a:spcPct val="150000"/>
              </a:lnSpc>
            </a:pPr>
            <a:r>
              <a:rPr lang="zh-CN" altLang="en-US" sz="2800" dirty="0">
                <a:solidFill>
                  <a:srgbClr val="FF0000"/>
                </a:solidFill>
                <a:latin typeface="微软雅黑" pitchFamily="34" charset="-122"/>
                <a:ea typeface="微软雅黑" pitchFamily="34" charset="-122"/>
              </a:rPr>
              <a:t>实质：</a:t>
            </a:r>
            <a:r>
              <a:rPr lang="zh-CN" altLang="en-US" sz="2800" dirty="0">
                <a:latin typeface="微软雅黑" pitchFamily="34" charset="-122"/>
                <a:ea typeface="微软雅黑" pitchFamily="34" charset="-122"/>
              </a:rPr>
              <a:t>揭示自发传热过程的不可逆性。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3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a:t>
            </a:r>
            <a:endParaRPr lang="zh-CN" altLang="en-US" sz="2000" b="1" dirty="0">
              <a:solidFill>
                <a:schemeClr val="tx1"/>
              </a:solidFill>
              <a:latin typeface="黑体" pitchFamily="49" charset="-122"/>
              <a:ea typeface="黑体" pitchFamily="49" charset="-122"/>
            </a:endParaRPr>
          </a:p>
        </p:txBody>
      </p:sp>
      <p:sp>
        <p:nvSpPr>
          <p:cNvPr id="7" name="Rectangle 4"/>
          <p:cNvSpPr>
            <a:spLocks noChangeArrowheads="1"/>
          </p:cNvSpPr>
          <p:nvPr/>
        </p:nvSpPr>
        <p:spPr bwMode="auto">
          <a:xfrm>
            <a:off x="214282" y="1196752"/>
            <a:ext cx="8429684" cy="4000528"/>
          </a:xfrm>
          <a:prstGeom prst="rect">
            <a:avLst/>
          </a:prstGeom>
          <a:noFill/>
          <a:ln w="9525">
            <a:noFill/>
            <a:miter lim="800000"/>
            <a:headEnd/>
            <a:tailEnd/>
          </a:ln>
          <a:effectLst/>
        </p:spPr>
        <p:txBody>
          <a:bodyPr/>
          <a:lstStyle/>
          <a:p>
            <a:pPr>
              <a:lnSpc>
                <a:spcPct val="135000"/>
              </a:lnSpc>
              <a:spcBef>
                <a:spcPct val="50000"/>
              </a:spcBef>
            </a:pPr>
            <a:r>
              <a:rPr lang="en-US" altLang="zh-CN" sz="2800" dirty="0">
                <a:solidFill>
                  <a:srgbClr val="4B3EEE"/>
                </a:solidFill>
                <a:latin typeface="微软雅黑" pitchFamily="34" charset="-122"/>
                <a:ea typeface="微软雅黑" pitchFamily="34" charset="-122"/>
              </a:rPr>
              <a:t>(2) </a:t>
            </a:r>
            <a:r>
              <a:rPr lang="zh-CN" altLang="en-US" sz="2800" b="1" dirty="0">
                <a:solidFill>
                  <a:srgbClr val="4B3EEE"/>
                </a:solidFill>
                <a:latin typeface="微软雅黑" pitchFamily="34" charset="-122"/>
                <a:ea typeface="微软雅黑" pitchFamily="34" charset="-122"/>
              </a:rPr>
              <a:t>开尔文－普朗克说法</a:t>
            </a:r>
            <a:r>
              <a:rPr lang="zh-CN" altLang="en-US" sz="2800" dirty="0">
                <a:solidFill>
                  <a:srgbClr val="4B3EEE"/>
                </a:solidFill>
                <a:latin typeface="微软雅黑" pitchFamily="34" charset="-122"/>
                <a:ea typeface="微软雅黑" pitchFamily="34" charset="-122"/>
              </a:rPr>
              <a:t>：</a:t>
            </a:r>
          </a:p>
          <a:p>
            <a:pPr>
              <a:lnSpc>
                <a:spcPct val="135000"/>
              </a:lnSpc>
            </a:pPr>
            <a:r>
              <a:rPr lang="zh-CN" altLang="en-US" sz="2800" dirty="0">
                <a:latin typeface="微软雅黑" pitchFamily="34" charset="-122"/>
                <a:ea typeface="微软雅黑" pitchFamily="34" charset="-122"/>
              </a:rPr>
              <a:t>       不可能制造只从单一热源吸热，并使之连续不断地全部转化为有用功而不留下任何变化的热力循环发动机（动力循环需向环境放热，</a:t>
            </a:r>
            <a:r>
              <a:rPr lang="en-US" altLang="zh-CN" sz="2800" dirty="0">
                <a:latin typeface="微软雅黑" pitchFamily="34" charset="-122"/>
                <a:ea typeface="微软雅黑" pitchFamily="34" charset="-122"/>
              </a:rPr>
              <a:t>2</a:t>
            </a:r>
            <a:r>
              <a:rPr lang="en-US" altLang="zh-CN" sz="16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个热源）。</a:t>
            </a:r>
          </a:p>
          <a:p>
            <a:pPr>
              <a:lnSpc>
                <a:spcPct val="135000"/>
              </a:lnSpc>
            </a:pPr>
            <a:r>
              <a:rPr lang="zh-CN" altLang="en-US" sz="2800" dirty="0">
                <a:solidFill>
                  <a:srgbClr val="FF0000"/>
                </a:solidFill>
                <a:latin typeface="微软雅黑" pitchFamily="34" charset="-122"/>
                <a:ea typeface="微软雅黑" pitchFamily="34" charset="-122"/>
              </a:rPr>
              <a:t>实质</a:t>
            </a:r>
            <a:r>
              <a:rPr lang="zh-CN" altLang="en-US" sz="2800" dirty="0">
                <a:latin typeface="微软雅黑" pitchFamily="34" charset="-122"/>
                <a:ea typeface="微软雅黑" pitchFamily="34" charset="-122"/>
              </a:rPr>
              <a:t>：指出热要连续变成功必须有补偿条件（伴随着向环境放热</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部分热量由高温→低温），说明热功转换是不可逆的。</a:t>
            </a:r>
          </a:p>
        </p:txBody>
      </p:sp>
      <p:sp>
        <p:nvSpPr>
          <p:cNvPr id="12" name="Rectangle 4"/>
          <p:cNvSpPr>
            <a:spLocks noChangeArrowheads="1"/>
          </p:cNvSpPr>
          <p:nvPr/>
        </p:nvSpPr>
        <p:spPr bwMode="auto">
          <a:xfrm>
            <a:off x="318780" y="5373216"/>
            <a:ext cx="5189324" cy="53578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lstStyle/>
          <a:p>
            <a:pPr>
              <a:lnSpc>
                <a:spcPct val="120000"/>
              </a:lnSpc>
            </a:pPr>
            <a:r>
              <a:rPr lang="zh-CN" altLang="en-US" sz="2800" dirty="0">
                <a:latin typeface="微软雅黑" pitchFamily="34" charset="-122"/>
                <a:ea typeface="微软雅黑" pitchFamily="34" charset="-122"/>
              </a:rPr>
              <a:t>第二类永动机是不可能造成</a:t>
            </a:r>
            <a:r>
              <a:rPr lang="zh-CN" altLang="en-US" sz="2800" dirty="0">
                <a:solidFill>
                  <a:schemeClr val="tx1"/>
                </a:solidFill>
                <a:latin typeface="微软雅黑" pitchFamily="34" charset="-122"/>
                <a:ea typeface="微软雅黑" pitchFamily="34" charset="-122"/>
              </a:rPr>
              <a:t>的</a:t>
            </a:r>
            <a:r>
              <a:rPr lang="zh-CN" altLang="en-US" sz="2800" dirty="0">
                <a:latin typeface="微软雅黑" pitchFamily="34" charset="-122"/>
                <a:ea typeface="微软雅黑" pitchFamily="34" charset="-122"/>
              </a:rPr>
              <a:t>。 </a:t>
            </a:r>
          </a:p>
          <a:p>
            <a:pPr>
              <a:lnSpc>
                <a:spcPct val="120000"/>
              </a:lnSpc>
            </a:pPr>
            <a:endParaRPr lang="zh-CN" altLang="en-US" sz="2800" dirty="0">
              <a:latin typeface="微软雅黑" pitchFamily="34" charset="-122"/>
              <a:ea typeface="微软雅黑"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矩形 2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7</a:t>
            </a:r>
            <a:endParaRPr lang="zh-CN" altLang="en-US" sz="2000" b="1" dirty="0">
              <a:solidFill>
                <a:schemeClr val="tx1"/>
              </a:solidFill>
              <a:latin typeface="黑体" pitchFamily="49" charset="-122"/>
              <a:ea typeface="黑体" pitchFamily="49" charset="-122"/>
            </a:endParaRPr>
          </a:p>
        </p:txBody>
      </p:sp>
      <p:sp>
        <p:nvSpPr>
          <p:cNvPr id="6" name="TextBox 37"/>
          <p:cNvSpPr txBox="1">
            <a:spLocks noChangeArrowheads="1"/>
          </p:cNvSpPr>
          <p:nvPr/>
        </p:nvSpPr>
        <p:spPr bwMode="auto">
          <a:xfrm>
            <a:off x="661764" y="1124744"/>
            <a:ext cx="383879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热力学第二定律的实质</a:t>
            </a:r>
          </a:p>
        </p:txBody>
      </p:sp>
      <p:sp>
        <p:nvSpPr>
          <p:cNvPr id="8" name="矩形 7"/>
          <p:cNvSpPr/>
          <p:nvPr/>
        </p:nvSpPr>
        <p:spPr>
          <a:xfrm>
            <a:off x="0" y="1138213"/>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16" name="对角圆角矩形 15"/>
          <p:cNvSpPr/>
          <p:nvPr/>
        </p:nvSpPr>
        <p:spPr>
          <a:xfrm>
            <a:off x="428596" y="1738998"/>
            <a:ext cx="8429684" cy="1329962"/>
          </a:xfrm>
          <a:prstGeom prst="round2DiagRect">
            <a:avLst/>
          </a:prstGeom>
        </p:spPr>
        <p:style>
          <a:lnRef idx="1">
            <a:schemeClr val="accent5"/>
          </a:lnRef>
          <a:fillRef idx="2">
            <a:schemeClr val="accent5"/>
          </a:fillRef>
          <a:effectRef idx="1">
            <a:schemeClr val="accent5"/>
          </a:effectRef>
          <a:fontRef idx="minor">
            <a:schemeClr val="dk1"/>
          </a:fontRef>
        </p:style>
        <p:txBody>
          <a:bodyPr rtlCol="0" anchor="ctr"/>
          <a:lstStyle/>
          <a:p>
            <a:pPr marL="457200" indent="-457200">
              <a:lnSpc>
                <a:spcPct val="130000"/>
              </a:lnSpc>
              <a:buClr>
                <a:schemeClr val="accent1"/>
              </a:buClr>
              <a:buFont typeface="Wingdings" panose="05000000000000000000" pitchFamily="2" charset="2"/>
              <a:buChar char="Ø"/>
            </a:pPr>
            <a:r>
              <a:rPr lang="zh-CN" altLang="en-US" sz="2800" dirty="0">
                <a:latin typeface="微软雅黑" pitchFamily="34" charset="-122"/>
                <a:ea typeface="微软雅黑" pitchFamily="34" charset="-122"/>
              </a:rPr>
              <a:t>一切自发过程都是不可逆的，自发过程进行的方向总是指向能量品质降低的方向；</a:t>
            </a:r>
            <a:endParaRPr lang="en-US" altLang="zh-CN" sz="2800" dirty="0">
              <a:latin typeface="微软雅黑" pitchFamily="34" charset="-122"/>
              <a:ea typeface="微软雅黑" pitchFamily="34" charset="-122"/>
            </a:endParaRPr>
          </a:p>
        </p:txBody>
      </p:sp>
      <p:sp>
        <p:nvSpPr>
          <p:cNvPr id="19" name="Rectangle 4"/>
          <p:cNvSpPr>
            <a:spLocks noChangeArrowheads="1"/>
          </p:cNvSpPr>
          <p:nvPr/>
        </p:nvSpPr>
        <p:spPr bwMode="auto">
          <a:xfrm>
            <a:off x="571472" y="5085184"/>
            <a:ext cx="8286808" cy="1093230"/>
          </a:xfrm>
          <a:prstGeom prst="rect">
            <a:avLst/>
          </a:prstGeom>
          <a:noFill/>
          <a:ln w="9525">
            <a:noFill/>
            <a:miter lim="800000"/>
            <a:headEnd/>
            <a:tailEnd/>
          </a:ln>
          <a:effectLst/>
        </p:spPr>
        <p:txBody>
          <a:bodyPr/>
          <a:lstStyle/>
          <a:p>
            <a:pPr>
              <a:lnSpc>
                <a:spcPct val="120000"/>
              </a:lnSpc>
            </a:pPr>
            <a:r>
              <a:rPr lang="zh-CN" altLang="en-US" sz="2800" dirty="0">
                <a:latin typeface="微软雅黑" pitchFamily="34" charset="-122"/>
                <a:ea typeface="微软雅黑" pitchFamily="34" charset="-122"/>
              </a:rPr>
              <a:t>因此，热力学第二定律是一个方向性定律，给出了过程进行的条件和限度</a:t>
            </a:r>
            <a:r>
              <a:rPr lang="zh-CN" altLang="en-US" sz="2800" dirty="0"/>
              <a:t>。 </a:t>
            </a:r>
          </a:p>
        </p:txBody>
      </p:sp>
      <p:sp>
        <p:nvSpPr>
          <p:cNvPr id="2" name="矩形 1"/>
          <p:cNvSpPr/>
          <p:nvPr/>
        </p:nvSpPr>
        <p:spPr>
          <a:xfrm>
            <a:off x="428596" y="3287639"/>
            <a:ext cx="8429684" cy="1725537"/>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457200" lvl="0" indent="-457200">
              <a:lnSpc>
                <a:spcPct val="130000"/>
              </a:lnSpc>
              <a:buClr>
                <a:srgbClr val="4F81BD"/>
              </a:buClr>
              <a:buFont typeface="Wingdings" panose="05000000000000000000" pitchFamily="2" charset="2"/>
              <a:buChar char="Ø"/>
            </a:pPr>
            <a:r>
              <a:rPr lang="zh-CN" altLang="en-US" sz="2800" dirty="0">
                <a:solidFill>
                  <a:prstClr val="black"/>
                </a:solidFill>
                <a:latin typeface="微软雅黑" pitchFamily="34" charset="-122"/>
                <a:ea typeface="微软雅黑" pitchFamily="34" charset="-122"/>
              </a:rPr>
              <a:t>非自发过程必须具备一定的补偿条件。可逆过程的补偿量最小，且可以保持总体能量品质不变，但任何过程都不能朝着能量品质升高的方向进行。</a:t>
            </a:r>
            <a:endParaRPr lang="zh-CN" altLang="en-US" sz="2800" dirty="0">
              <a:solidFill>
                <a:prstClr val="black"/>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p:bldP spid="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0" y="1254172"/>
            <a:ext cx="5572132" cy="523220"/>
          </a:xfrm>
          <a:prstGeom prst="rect">
            <a:avLst/>
          </a:prstGeom>
          <a:noFill/>
        </p:spPr>
        <p:txBody>
          <a:bodyPr wrap="square">
            <a:spAutoFit/>
          </a:bodyPr>
          <a:lstStyle/>
          <a:p>
            <a:pPr>
              <a:defRPr/>
            </a:pPr>
            <a:r>
              <a:rPr lang="en-US" altLang="zh-CN" sz="2800" b="1" dirty="0">
                <a:solidFill>
                  <a:schemeClr val="accent1">
                    <a:lumMod val="50000"/>
                  </a:schemeClr>
                </a:solidFill>
                <a:latin typeface="微软雅黑" pitchFamily="34" charset="-122"/>
                <a:ea typeface="微软雅黑" pitchFamily="34" charset="-122"/>
                <a:cs typeface="Times New Roman" pitchFamily="18" charset="0"/>
              </a:rPr>
              <a:t>4-2 </a:t>
            </a:r>
            <a:r>
              <a:rPr lang="zh-CN" altLang="en-US" sz="2800" b="1" dirty="0">
                <a:solidFill>
                  <a:schemeClr val="accent1">
                    <a:lumMod val="50000"/>
                  </a:schemeClr>
                </a:solidFill>
                <a:latin typeface="微软雅黑" pitchFamily="34" charset="-122"/>
                <a:ea typeface="微软雅黑" pitchFamily="34" charset="-122"/>
                <a:cs typeface="Times New Roman" pitchFamily="18" charset="0"/>
              </a:rPr>
              <a:t>卡诺循环和</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卡诺定理</a:t>
            </a:r>
          </a:p>
        </p:txBody>
      </p:sp>
      <p:sp>
        <p:nvSpPr>
          <p:cNvPr id="8" name="TextBox 37"/>
          <p:cNvSpPr txBox="1">
            <a:spLocks noChangeArrowheads="1"/>
          </p:cNvSpPr>
          <p:nvPr/>
        </p:nvSpPr>
        <p:spPr bwMode="auto">
          <a:xfrm>
            <a:off x="661764" y="1897668"/>
            <a:ext cx="1838534"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热力循环</a:t>
            </a:r>
          </a:p>
        </p:txBody>
      </p:sp>
      <p:sp>
        <p:nvSpPr>
          <p:cNvPr id="9" name="矩形 8"/>
          <p:cNvSpPr/>
          <p:nvPr/>
        </p:nvSpPr>
        <p:spPr>
          <a:xfrm>
            <a:off x="0" y="1911137"/>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sp>
        <p:nvSpPr>
          <p:cNvPr id="15" name="Rectangle 4"/>
          <p:cNvSpPr>
            <a:spLocks noChangeArrowheads="1"/>
          </p:cNvSpPr>
          <p:nvPr/>
        </p:nvSpPr>
        <p:spPr bwMode="auto">
          <a:xfrm>
            <a:off x="467544" y="2607463"/>
            <a:ext cx="7786742" cy="642942"/>
          </a:xfrm>
          <a:prstGeom prst="rect">
            <a:avLst/>
          </a:prstGeom>
          <a:noFill/>
          <a:ln w="9525">
            <a:noFill/>
            <a:miter lim="800000"/>
            <a:headEnd/>
            <a:tailEnd/>
          </a:ln>
          <a:effectLst/>
        </p:spPr>
        <p:txBody>
          <a:bodyPr/>
          <a:lstStyle/>
          <a:p>
            <a:r>
              <a:rPr lang="en-US" altLang="zh-CN" sz="2800" dirty="0">
                <a:solidFill>
                  <a:srgbClr val="4B3EEE"/>
                </a:solidFill>
                <a:latin typeface="Times New Roman" pitchFamily="18" charset="0"/>
                <a:ea typeface="方正书宋简体" charset="-122"/>
              </a:rPr>
              <a:t>(1)  </a:t>
            </a:r>
            <a:r>
              <a:rPr lang="zh-CN" altLang="en-US" sz="2800" dirty="0">
                <a:solidFill>
                  <a:srgbClr val="4B3EEE"/>
                </a:solidFill>
                <a:latin typeface="微软雅黑" pitchFamily="34" charset="-122"/>
                <a:ea typeface="微软雅黑" pitchFamily="34" charset="-122"/>
              </a:rPr>
              <a:t>正循环（动力循环）</a:t>
            </a:r>
            <a:r>
              <a:rPr lang="en-US" altLang="zh-CN" sz="2000" dirty="0">
                <a:latin typeface="微软雅黑" pitchFamily="34" charset="-122"/>
                <a:ea typeface="微软雅黑" pitchFamily="34" charset="-122"/>
              </a:rPr>
              <a:t>——</a:t>
            </a:r>
            <a:r>
              <a:rPr lang="zh-CN" altLang="en-US" sz="2800" dirty="0">
                <a:latin typeface="微软雅黑" pitchFamily="34" charset="-122"/>
                <a:ea typeface="微软雅黑" pitchFamily="34" charset="-122"/>
              </a:rPr>
              <a:t>沿顺时针方向进行 </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pic>
        <p:nvPicPr>
          <p:cNvPr id="16" name="Picture 7" descr="r0401"/>
          <p:cNvPicPr>
            <a:picLocks noChangeAspect="1" noChangeArrowheads="1"/>
          </p:cNvPicPr>
          <p:nvPr/>
        </p:nvPicPr>
        <p:blipFill>
          <a:blip r:embed="rId3"/>
          <a:srcRect/>
          <a:stretch>
            <a:fillRect/>
          </a:stretch>
        </p:blipFill>
        <p:spPr bwMode="auto">
          <a:xfrm>
            <a:off x="721826" y="3429000"/>
            <a:ext cx="7126750" cy="2417763"/>
          </a:xfrm>
          <a:prstGeom prst="rect">
            <a:avLst/>
          </a:prstGeom>
          <a:noFill/>
          <a:ln w="9525">
            <a:noFill/>
            <a:miter lim="800000"/>
            <a:headEnd/>
            <a:tailEnd/>
          </a:ln>
        </p:spPr>
      </p:pic>
      <p:sp>
        <p:nvSpPr>
          <p:cNvPr id="11" name="矩形 10"/>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8</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611560" y="1573322"/>
            <a:ext cx="7344816" cy="1423630"/>
          </a:xfrm>
          <a:prstGeom prst="rect">
            <a:avLst/>
          </a:prstGeom>
          <a:noFill/>
          <a:ln w="9525">
            <a:noFill/>
            <a:miter lim="800000"/>
            <a:headEnd/>
            <a:tailEnd/>
          </a:ln>
          <a:effectLst/>
        </p:spPr>
        <p:txBody>
          <a:bodyPr/>
          <a:lstStyle/>
          <a:p>
            <a:pPr indent="609600">
              <a:lnSpc>
                <a:spcPct val="150000"/>
              </a:lnSpc>
            </a:pPr>
            <a:r>
              <a:rPr lang="zh-CN" altLang="en-US" sz="2800" dirty="0">
                <a:latin typeface="微软雅黑" pitchFamily="34" charset="-122"/>
                <a:ea typeface="微软雅黑" pitchFamily="34" charset="-122"/>
                <a:cs typeface="Times New Roman" pitchFamily="18" charset="0"/>
              </a:rPr>
              <a:t>由热</a:t>
            </a:r>
            <a:r>
              <a:rPr lang="en-US" altLang="zh-CN" sz="2800" dirty="0">
                <a:latin typeface="微软雅黑" pitchFamily="34" charset="-122"/>
                <a:ea typeface="微软雅黑" pitchFamily="34" charset="-122"/>
                <a:cs typeface="Times New Roman" pitchFamily="18" charset="0"/>
              </a:rPr>
              <a:t>Ⅰ</a:t>
            </a:r>
            <a:r>
              <a:rPr lang="zh-CN" altLang="en-US" sz="2800" dirty="0">
                <a:latin typeface="微软雅黑" pitchFamily="34" charset="-122"/>
                <a:ea typeface="微软雅黑" pitchFamily="34" charset="-122"/>
                <a:cs typeface="Times New Roman" pitchFamily="18" charset="0"/>
              </a:rPr>
              <a:t>：                   </a:t>
            </a:r>
            <a:r>
              <a:rPr lang="en-US" altLang="zh-CN" sz="2800" dirty="0">
                <a:latin typeface="微软雅黑" pitchFamily="34" charset="-122"/>
                <a:ea typeface="微软雅黑" pitchFamily="34" charset="-122"/>
                <a:cs typeface="Times New Roman" pitchFamily="18" charset="0"/>
              </a:rPr>
              <a:t>(</a:t>
            </a:r>
            <a:r>
              <a:rPr lang="en-US" altLang="zh-CN" sz="2800" i="1" dirty="0">
                <a:latin typeface="Times New Roman" pitchFamily="18" charset="0"/>
                <a:ea typeface="微软雅黑" pitchFamily="34" charset="-122"/>
                <a:cs typeface="Times New Roman" pitchFamily="18" charset="0"/>
              </a:rPr>
              <a:t>q</a:t>
            </a:r>
            <a:r>
              <a:rPr lang="en-US" altLang="zh-CN" sz="2800" baseline="-25000" dirty="0">
                <a:latin typeface="Times New Roman" pitchFamily="18" charset="0"/>
                <a:ea typeface="微软雅黑" pitchFamily="34" charset="-122"/>
                <a:cs typeface="Times New Roman" pitchFamily="18" charset="0"/>
              </a:rPr>
              <a:t>1</a:t>
            </a:r>
            <a:r>
              <a:rPr lang="zh-CN" altLang="en-US" sz="2800" dirty="0">
                <a:latin typeface="Times New Roman" panose="02020603050405020304" pitchFamily="18" charset="0"/>
                <a:ea typeface="微软雅黑" pitchFamily="34" charset="-122"/>
                <a:cs typeface="Times New Roman" panose="02020603050405020304" pitchFamily="18" charset="0"/>
              </a:rPr>
              <a:t>、</a:t>
            </a:r>
            <a:r>
              <a:rPr lang="en-US" altLang="zh-CN" sz="2800" i="1" dirty="0">
                <a:latin typeface="Times New Roman" pitchFamily="18" charset="0"/>
                <a:ea typeface="微软雅黑" pitchFamily="34" charset="-122"/>
                <a:cs typeface="Times New Roman" pitchFamily="18" charset="0"/>
              </a:rPr>
              <a:t>q</a:t>
            </a:r>
            <a:r>
              <a:rPr lang="en-US" altLang="zh-CN" sz="2800" baseline="-25000" dirty="0">
                <a:latin typeface="Times New Roman" pitchFamily="18" charset="0"/>
                <a:ea typeface="微软雅黑" pitchFamily="34" charset="-122"/>
                <a:cs typeface="Times New Roman" pitchFamily="18" charset="0"/>
              </a:rPr>
              <a:t>2</a:t>
            </a:r>
            <a:r>
              <a:rPr lang="zh-CN" altLang="en-US" sz="2800" dirty="0">
                <a:latin typeface="微软雅黑" pitchFamily="34" charset="-122"/>
                <a:ea typeface="微软雅黑" pitchFamily="34" charset="-122"/>
              </a:rPr>
              <a:t>均取绝对值</a:t>
            </a:r>
            <a:r>
              <a:rPr lang="en-US" altLang="zh-CN" sz="2800" dirty="0">
                <a:latin typeface="微软雅黑" pitchFamily="34" charset="-122"/>
                <a:ea typeface="微软雅黑" pitchFamily="34" charset="-122"/>
              </a:rPr>
              <a:t>)</a:t>
            </a:r>
          </a:p>
          <a:p>
            <a:pPr indent="609600">
              <a:lnSpc>
                <a:spcPct val="150000"/>
              </a:lnSpc>
              <a:spcBef>
                <a:spcPts val="600"/>
              </a:spcBef>
            </a:pPr>
            <a:r>
              <a:rPr lang="zh-CN" altLang="en-US" sz="2800" dirty="0">
                <a:latin typeface="微软雅黑" pitchFamily="34" charset="-122"/>
                <a:ea typeface="微软雅黑" pitchFamily="34" charset="-122"/>
              </a:rPr>
              <a:t>经济性指标（得到的／付出的）：</a:t>
            </a:r>
            <a:endParaRPr lang="zh-CN" altLang="en-US" sz="2800" dirty="0">
              <a:solidFill>
                <a:srgbClr val="000000"/>
              </a:solidFill>
              <a:latin typeface="微软雅黑" pitchFamily="34" charset="-122"/>
              <a:ea typeface="微软雅黑" pitchFamily="34" charset="-122"/>
            </a:endParaRPr>
          </a:p>
          <a:p>
            <a:pPr marL="609600" indent="-609600">
              <a:lnSpc>
                <a:spcPct val="150000"/>
              </a:lnSpc>
            </a:pPr>
            <a:endParaRPr lang="zh-CN" altLang="en-US" sz="2800" dirty="0">
              <a:latin typeface="微软雅黑" pitchFamily="34" charset="-122"/>
              <a:ea typeface="微软雅黑" pitchFamily="34" charset="-122"/>
            </a:endParaRPr>
          </a:p>
        </p:txBody>
      </p:sp>
      <p:graphicFrame>
        <p:nvGraphicFramePr>
          <p:cNvPr id="112643" name="Object 3"/>
          <p:cNvGraphicFramePr>
            <a:graphicFrameLocks noChangeAspect="1"/>
          </p:cNvGraphicFramePr>
          <p:nvPr>
            <p:extLst>
              <p:ext uri="{D42A27DB-BD31-4B8C-83A1-F6EECF244321}">
                <p14:modId xmlns:p14="http://schemas.microsoft.com/office/powerpoint/2010/main" val="2488609285"/>
              </p:ext>
            </p:extLst>
          </p:nvPr>
        </p:nvGraphicFramePr>
        <p:xfrm>
          <a:off x="2665601" y="1705368"/>
          <a:ext cx="1844240" cy="571504"/>
        </p:xfrm>
        <a:graphic>
          <a:graphicData uri="http://schemas.openxmlformats.org/presentationml/2006/ole">
            <mc:AlternateContent xmlns:mc="http://schemas.openxmlformats.org/markup-compatibility/2006">
              <mc:Choice xmlns:v="urn:schemas-microsoft-com:vml" Requires="v">
                <p:oleObj spid="_x0000_s1202" name="公式" r:id="rId4" imgW="736600" imgH="228600" progId="Equation.3">
                  <p:embed/>
                </p:oleObj>
              </mc:Choice>
              <mc:Fallback>
                <p:oleObj name="公式" r:id="rId4" imgW="736600" imgH="228600" progId="Equation.3">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5601" y="1705368"/>
                        <a:ext cx="1844240" cy="571504"/>
                      </a:xfrm>
                      <a:prstGeom prst="rect">
                        <a:avLst/>
                      </a:prstGeom>
                      <a:noFill/>
                    </p:spPr>
                  </p:pic>
                </p:oleObj>
              </mc:Fallback>
            </mc:AlternateContent>
          </a:graphicData>
        </a:graphic>
      </p:graphicFrame>
      <p:sp>
        <p:nvSpPr>
          <p:cNvPr id="14" name="Rectangle 6"/>
          <p:cNvSpPr>
            <a:spLocks noChangeArrowheads="1"/>
          </p:cNvSpPr>
          <p:nvPr/>
        </p:nvSpPr>
        <p:spPr bwMode="auto">
          <a:xfrm>
            <a:off x="1979712" y="3459353"/>
            <a:ext cx="1273174" cy="519112"/>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r>
              <a:rPr lang="zh-CN" altLang="en-US" sz="2800" dirty="0">
                <a:latin typeface="微软雅黑" pitchFamily="34" charset="-122"/>
                <a:ea typeface="微软雅黑" pitchFamily="34" charset="-122"/>
                <a:cs typeface="Times New Roman" pitchFamily="18" charset="0"/>
              </a:rPr>
              <a:t>热效率</a:t>
            </a:r>
            <a:r>
              <a:rPr lang="zh-CN" altLang="en-US" sz="2800" dirty="0">
                <a:solidFill>
                  <a:srgbClr val="000000"/>
                </a:solidFill>
                <a:latin typeface="Times New Roman" pitchFamily="18" charset="0"/>
                <a:ea typeface="方正书宋简体" charset="-122"/>
                <a:cs typeface="Times New Roman" pitchFamily="18" charset="0"/>
              </a:rPr>
              <a:t> </a:t>
            </a:r>
          </a:p>
        </p:txBody>
      </p:sp>
      <p:graphicFrame>
        <p:nvGraphicFramePr>
          <p:cNvPr id="112647" name="Object 7"/>
          <p:cNvGraphicFramePr>
            <a:graphicFrameLocks noChangeAspect="1"/>
          </p:cNvGraphicFramePr>
          <p:nvPr>
            <p:extLst>
              <p:ext uri="{D42A27DB-BD31-4B8C-83A1-F6EECF244321}">
                <p14:modId xmlns:p14="http://schemas.microsoft.com/office/powerpoint/2010/main" val="4145937777"/>
              </p:ext>
            </p:extLst>
          </p:nvPr>
        </p:nvGraphicFramePr>
        <p:xfrm>
          <a:off x="4318258" y="3221229"/>
          <a:ext cx="2735262" cy="971550"/>
        </p:xfrm>
        <a:graphic>
          <a:graphicData uri="http://schemas.openxmlformats.org/presentationml/2006/ole">
            <mc:AlternateContent xmlns:mc="http://schemas.openxmlformats.org/markup-compatibility/2006">
              <mc:Choice xmlns:v="urn:schemas-microsoft-com:vml" Requires="v">
                <p:oleObj spid="_x0000_s1203" name="公式" r:id="rId6" imgW="1218671" imgH="431613" progId="Equation.3">
                  <p:embed/>
                </p:oleObj>
              </mc:Choice>
              <mc:Fallback>
                <p:oleObj name="公式" r:id="rId6" imgW="1218671" imgH="431613"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18258" y="3221229"/>
                        <a:ext cx="2735262" cy="971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右箭头 16"/>
          <p:cNvSpPr/>
          <p:nvPr/>
        </p:nvSpPr>
        <p:spPr>
          <a:xfrm>
            <a:off x="3419872" y="3589946"/>
            <a:ext cx="776128" cy="24232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Rectangle 4"/>
          <p:cNvSpPr>
            <a:spLocks noChangeArrowheads="1"/>
          </p:cNvSpPr>
          <p:nvPr/>
        </p:nvSpPr>
        <p:spPr bwMode="auto">
          <a:xfrm>
            <a:off x="593511" y="4514250"/>
            <a:ext cx="7434873" cy="642942"/>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marL="609600" indent="-609600">
              <a:lnSpc>
                <a:spcPct val="120000"/>
              </a:lnSpc>
            </a:pPr>
            <a:r>
              <a:rPr lang="zh-CN" altLang="en-US" sz="2800" dirty="0">
                <a:latin typeface="微软雅黑" pitchFamily="34" charset="-122"/>
                <a:ea typeface="微软雅黑" pitchFamily="34" charset="-122"/>
              </a:rPr>
              <a:t> 上面的热效率公式适用于任意工质、任意循环</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sp>
        <p:nvSpPr>
          <p:cNvPr id="9" name="矩形 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9</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grpId="0" nodeType="afterEffect">
                                  <p:stCondLst>
                                    <p:cond delay="0"/>
                                  </p:stCondLst>
                                  <p:childTnLst>
                                    <p:set>
                                      <p:cBhvr>
                                        <p:cTn id="13" dur="1" fill="hold">
                                          <p:stCondLst>
                                            <p:cond delay="0"/>
                                          </p:stCondLst>
                                        </p:cTn>
                                        <p:tgtEl>
                                          <p:spTgt spid="17"/>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1264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autoUpdateAnimBg="0"/>
      <p:bldP spid="17" grpId="0" animBg="1"/>
      <p:bldP spid="1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
          <p:cNvSpPr>
            <a:spLocks noChangeArrowheads="1"/>
          </p:cNvSpPr>
          <p:nvPr/>
        </p:nvSpPr>
        <p:spPr bwMode="auto">
          <a:xfrm>
            <a:off x="214282" y="1285860"/>
            <a:ext cx="8858280" cy="500066"/>
          </a:xfrm>
          <a:prstGeom prst="rect">
            <a:avLst/>
          </a:prstGeom>
          <a:noFill/>
          <a:ln w="9525">
            <a:noFill/>
            <a:miter lim="800000"/>
            <a:headEnd/>
            <a:tailEnd/>
          </a:ln>
          <a:effectLst/>
        </p:spPr>
        <p:txBody>
          <a:bodyPr/>
          <a:lstStyle/>
          <a:p>
            <a:r>
              <a:rPr lang="en-US" altLang="zh-CN" sz="2800" dirty="0">
                <a:solidFill>
                  <a:srgbClr val="4B3EEE"/>
                </a:solidFill>
                <a:latin typeface="Times New Roman" pitchFamily="18" charset="0"/>
                <a:ea typeface="方正书宋简体" charset="-122"/>
              </a:rPr>
              <a:t>(2)  </a:t>
            </a:r>
            <a:r>
              <a:rPr lang="zh-CN" altLang="en-US" sz="2800" dirty="0">
                <a:solidFill>
                  <a:srgbClr val="4B3EEE"/>
                </a:solidFill>
                <a:latin typeface="微软雅黑" pitchFamily="34" charset="-122"/>
                <a:ea typeface="微软雅黑" pitchFamily="34" charset="-122"/>
                <a:cs typeface="Times New Roman" pitchFamily="18" charset="0"/>
              </a:rPr>
              <a:t>逆循环</a:t>
            </a:r>
            <a:r>
              <a:rPr lang="zh-CN" altLang="en-US" sz="2800" dirty="0">
                <a:solidFill>
                  <a:srgbClr val="4B3EEE"/>
                </a:solidFill>
                <a:latin typeface="微软雅黑" pitchFamily="34" charset="-122"/>
                <a:ea typeface="微软雅黑" pitchFamily="34" charset="-122"/>
              </a:rPr>
              <a:t>（制冷或热泵循环）</a:t>
            </a:r>
            <a:r>
              <a:rPr lang="en-US" altLang="zh-CN" sz="2000" dirty="0">
                <a:latin typeface="微软雅黑" pitchFamily="34" charset="-122"/>
                <a:ea typeface="微软雅黑" pitchFamily="34" charset="-122"/>
                <a:cs typeface="Times New Roman" pitchFamily="18" charset="0"/>
              </a:rPr>
              <a:t>——</a:t>
            </a:r>
            <a:r>
              <a:rPr lang="zh-CN" altLang="en-US" sz="2800" dirty="0">
                <a:latin typeface="微软雅黑" pitchFamily="34" charset="-122"/>
                <a:ea typeface="微软雅黑" pitchFamily="34" charset="-122"/>
              </a:rPr>
              <a:t>沿</a:t>
            </a:r>
            <a:r>
              <a:rPr lang="zh-CN" altLang="en-US" sz="2800" dirty="0">
                <a:latin typeface="微软雅黑" pitchFamily="34" charset="-122"/>
                <a:ea typeface="微软雅黑" pitchFamily="34" charset="-122"/>
                <a:cs typeface="Times New Roman" pitchFamily="18" charset="0"/>
              </a:rPr>
              <a:t>逆时针方向进行</a:t>
            </a:r>
            <a:endParaRPr lang="zh-CN" altLang="en-US" sz="2800" dirty="0">
              <a:latin typeface="微软雅黑" pitchFamily="34" charset="-122"/>
              <a:ea typeface="微软雅黑" pitchFamily="34" charset="-122"/>
            </a:endParaRPr>
          </a:p>
          <a:p>
            <a:pPr indent="504000" algn="r">
              <a:lnSpc>
                <a:spcPct val="120000"/>
              </a:lnSpc>
              <a:spcBef>
                <a:spcPts val="1200"/>
              </a:spcBef>
            </a:pPr>
            <a:endParaRPr lang="zh-CN" altLang="en-US" sz="2800" dirty="0">
              <a:latin typeface="微软雅黑" pitchFamily="34" charset="-122"/>
              <a:ea typeface="微软雅黑" pitchFamily="34" charset="-122"/>
            </a:endParaRPr>
          </a:p>
        </p:txBody>
      </p:sp>
      <p:pic>
        <p:nvPicPr>
          <p:cNvPr id="11" name="Picture 4" descr="r0402"/>
          <p:cNvPicPr>
            <a:picLocks noChangeAspect="1" noChangeArrowheads="1"/>
          </p:cNvPicPr>
          <p:nvPr/>
        </p:nvPicPr>
        <p:blipFill>
          <a:blip r:embed="rId4"/>
          <a:srcRect/>
          <a:stretch>
            <a:fillRect/>
          </a:stretch>
        </p:blipFill>
        <p:spPr bwMode="auto">
          <a:xfrm>
            <a:off x="1066800" y="1857364"/>
            <a:ext cx="6934200" cy="2568575"/>
          </a:xfrm>
          <a:prstGeom prst="rect">
            <a:avLst/>
          </a:prstGeom>
          <a:noFill/>
          <a:ln w="9525">
            <a:noFill/>
            <a:miter lim="800000"/>
            <a:headEnd/>
            <a:tailEnd/>
          </a:ln>
        </p:spPr>
      </p:pic>
      <p:sp>
        <p:nvSpPr>
          <p:cNvPr id="12" name="Rectangle 4"/>
          <p:cNvSpPr>
            <a:spLocks noChangeArrowheads="1"/>
          </p:cNvSpPr>
          <p:nvPr/>
        </p:nvSpPr>
        <p:spPr bwMode="auto">
          <a:xfrm>
            <a:off x="270762" y="4653136"/>
            <a:ext cx="8261678" cy="1368152"/>
          </a:xfrm>
          <a:prstGeom prst="rect">
            <a:avLst/>
          </a:prstGeom>
          <a:noFill/>
          <a:ln w="9525">
            <a:noFill/>
            <a:miter lim="800000"/>
            <a:headEnd/>
            <a:tailEnd/>
          </a:ln>
          <a:effectLst/>
        </p:spPr>
        <p:txBody>
          <a:bodyPr/>
          <a:lstStyle/>
          <a:p>
            <a:pPr>
              <a:lnSpc>
                <a:spcPct val="150000"/>
              </a:lnSpc>
            </a:pPr>
            <a:r>
              <a:rPr lang="zh-CN" altLang="en-US" sz="2800" dirty="0">
                <a:latin typeface="微软雅黑" pitchFamily="34" charset="-122"/>
                <a:ea typeface="微软雅黑" pitchFamily="34" charset="-122"/>
              </a:rPr>
              <a:t>    由热</a:t>
            </a:r>
            <a:r>
              <a:rPr lang="en-US" altLang="zh-CN" sz="2800" dirty="0">
                <a:latin typeface="微软雅黑" pitchFamily="34" charset="-122"/>
                <a:ea typeface="微软雅黑" pitchFamily="34" charset="-122"/>
              </a:rPr>
              <a:t>Ⅰ</a:t>
            </a:r>
            <a:r>
              <a:rPr lang="zh-CN" altLang="en-US" sz="2800" dirty="0">
                <a:latin typeface="微软雅黑" pitchFamily="34" charset="-122"/>
                <a:ea typeface="微软雅黑" pitchFamily="34" charset="-122"/>
              </a:rPr>
              <a:t>：                （</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 </a:t>
            </a:r>
            <a:r>
              <a:rPr lang="zh-CN" altLang="en-US" sz="2800" dirty="0">
                <a:latin typeface="微软雅黑" pitchFamily="34" charset="-122"/>
                <a:ea typeface="微软雅黑" pitchFamily="34" charset="-122"/>
              </a:rPr>
              <a:t>、</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2</a:t>
            </a:r>
            <a:r>
              <a:rPr lang="en-US" altLang="zh-CN" sz="2800" baseline="-250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均取绝对值） </a:t>
            </a:r>
            <a:endParaRPr lang="zh-CN" altLang="en-US" sz="2800" dirty="0">
              <a:solidFill>
                <a:srgbClr val="000000"/>
              </a:solidFill>
              <a:latin typeface="微软雅黑" pitchFamily="34" charset="-122"/>
              <a:ea typeface="微软雅黑" pitchFamily="34" charset="-122"/>
            </a:endParaRPr>
          </a:p>
          <a:p>
            <a:pPr>
              <a:lnSpc>
                <a:spcPct val="150000"/>
              </a:lnSpc>
            </a:pPr>
            <a:r>
              <a:rPr lang="zh-CN" altLang="en-US" sz="2800" dirty="0">
                <a:latin typeface="微软雅黑" pitchFamily="34" charset="-122"/>
                <a:ea typeface="微软雅黑" pitchFamily="34" charset="-122"/>
              </a:rPr>
              <a:t>    </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30000" dirty="0">
                <a:latin typeface="Times New Roman" panose="02020603050405020304" pitchFamily="18" charset="0"/>
                <a:ea typeface="微软雅黑" pitchFamily="34" charset="-122"/>
                <a:cs typeface="Times New Roman" panose="02020603050405020304" pitchFamily="18" charset="0"/>
              </a:rPr>
              <a:t>2</a:t>
            </a:r>
            <a:r>
              <a:rPr lang="zh-CN" altLang="en-US" sz="2800" dirty="0">
                <a:latin typeface="微软雅黑" pitchFamily="34" charset="-122"/>
                <a:ea typeface="微软雅黑" pitchFamily="34" charset="-122"/>
              </a:rPr>
              <a:t>为吸热量，</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30000" dirty="0">
                <a:latin typeface="Times New Roman" panose="02020603050405020304" pitchFamily="18" charset="0"/>
                <a:ea typeface="微软雅黑" pitchFamily="34" charset="-122"/>
                <a:cs typeface="Times New Roman" panose="02020603050405020304" pitchFamily="18" charset="0"/>
              </a:rPr>
              <a:t>1</a:t>
            </a:r>
            <a:r>
              <a:rPr lang="en-US" altLang="zh-CN" b="1" baseline="-30000" dirty="0">
                <a:latin typeface="Times New Roman" panose="02020603050405020304" pitchFamily="18" charset="0"/>
                <a:ea typeface="微软雅黑" pitchFamily="34" charset="-122"/>
                <a:cs typeface="Times New Roman" panose="02020603050405020304" pitchFamily="18" charset="0"/>
              </a:rPr>
              <a:t> </a:t>
            </a:r>
            <a:r>
              <a:rPr lang="zh-CN" altLang="en-US" sz="2800" dirty="0">
                <a:latin typeface="微软雅黑" pitchFamily="34" charset="-122"/>
                <a:ea typeface="微软雅黑" pitchFamily="34" charset="-122"/>
              </a:rPr>
              <a:t>为放热量</a:t>
            </a:r>
            <a:r>
              <a:rPr lang="zh-CN" altLang="en-US" sz="1600" dirty="0">
                <a:latin typeface="微软雅黑" pitchFamily="34" charset="-122"/>
                <a:ea typeface="微软雅黑" pitchFamily="34" charset="-122"/>
              </a:rPr>
              <a:t> </a:t>
            </a:r>
            <a:r>
              <a:rPr lang="en-US" altLang="zh-CN" sz="2800" dirty="0">
                <a:latin typeface="微软雅黑" pitchFamily="34" charset="-122"/>
                <a:ea typeface="微软雅黑" pitchFamily="34" charset="-122"/>
              </a:rPr>
              <a:t>,  </a:t>
            </a:r>
            <a:r>
              <a:rPr lang="en-US" altLang="zh-CN" sz="2800" b="1" i="1" dirty="0">
                <a:latin typeface="Times New Roman" panose="02020603050405020304" pitchFamily="18" charset="0"/>
                <a:ea typeface="微软雅黑" pitchFamily="34" charset="-122"/>
                <a:cs typeface="Times New Roman" panose="02020603050405020304" pitchFamily="18" charset="0"/>
              </a:rPr>
              <a:t>w</a:t>
            </a:r>
            <a:r>
              <a:rPr lang="en-US" altLang="zh-CN" sz="2800" b="1" baseline="-30000" dirty="0">
                <a:latin typeface="Times New Roman" panose="02020603050405020304" pitchFamily="18" charset="0"/>
                <a:ea typeface="微软雅黑" pitchFamily="34" charset="-122"/>
                <a:cs typeface="Times New Roman" panose="02020603050405020304" pitchFamily="18" charset="0"/>
              </a:rPr>
              <a:t>0</a:t>
            </a:r>
            <a:r>
              <a:rPr lang="en-US" altLang="zh-CN" sz="2800" baseline="-300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为循环消耗的外功。</a:t>
            </a:r>
          </a:p>
        </p:txBody>
      </p:sp>
      <p:graphicFrame>
        <p:nvGraphicFramePr>
          <p:cNvPr id="113669" name="Object 5"/>
          <p:cNvGraphicFramePr>
            <a:graphicFrameLocks noChangeAspect="1"/>
          </p:cNvGraphicFramePr>
          <p:nvPr>
            <p:extLst>
              <p:ext uri="{D42A27DB-BD31-4B8C-83A1-F6EECF244321}">
                <p14:modId xmlns:p14="http://schemas.microsoft.com/office/powerpoint/2010/main" val="4281262506"/>
              </p:ext>
            </p:extLst>
          </p:nvPr>
        </p:nvGraphicFramePr>
        <p:xfrm>
          <a:off x="2195736" y="4819687"/>
          <a:ext cx="1670050" cy="517525"/>
        </p:xfrm>
        <a:graphic>
          <a:graphicData uri="http://schemas.openxmlformats.org/presentationml/2006/ole">
            <mc:AlternateContent xmlns:mc="http://schemas.openxmlformats.org/markup-compatibility/2006">
              <mc:Choice xmlns:v="urn:schemas-microsoft-com:vml" Requires="v">
                <p:oleObj spid="_x0000_s2136" name="公式" r:id="rId5" imgW="736600" imgH="228600" progId="Equation.3">
                  <p:embed/>
                </p:oleObj>
              </mc:Choice>
              <mc:Fallback>
                <p:oleObj name="公式" r:id="rId5" imgW="736600" imgH="2286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736" y="4819687"/>
                        <a:ext cx="1670050" cy="517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10</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113669"/>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
          <p:cNvSpPr>
            <a:spLocks noChangeArrowheads="1"/>
          </p:cNvSpPr>
          <p:nvPr/>
        </p:nvSpPr>
        <p:spPr bwMode="auto">
          <a:xfrm>
            <a:off x="467544" y="1268760"/>
            <a:ext cx="8429684" cy="642942"/>
          </a:xfrm>
          <a:prstGeom prst="rect">
            <a:avLst/>
          </a:prstGeom>
          <a:noFill/>
          <a:ln w="9525">
            <a:noFill/>
            <a:miter lim="800000"/>
            <a:headEnd/>
            <a:tailEnd/>
          </a:ln>
          <a:effectLst/>
        </p:spPr>
        <p:txBody>
          <a:bodyPr/>
          <a:lstStyle/>
          <a:p>
            <a:pPr>
              <a:lnSpc>
                <a:spcPct val="130000"/>
              </a:lnSpc>
            </a:pPr>
            <a:r>
              <a:rPr lang="zh-CN" altLang="en-US" sz="2800" dirty="0">
                <a:latin typeface="微软雅黑" pitchFamily="34" charset="-122"/>
                <a:ea typeface="微软雅黑" pitchFamily="34" charset="-122"/>
              </a:rPr>
              <a:t>      经济性指标（得到的／付出的）：</a:t>
            </a:r>
          </a:p>
          <a:p>
            <a:pPr>
              <a:lnSpc>
                <a:spcPct val="130000"/>
              </a:lnSpc>
            </a:pPr>
            <a:endParaRPr lang="zh-CN" altLang="en-US" sz="2800" dirty="0">
              <a:latin typeface="微软雅黑" pitchFamily="34" charset="-122"/>
              <a:ea typeface="微软雅黑" pitchFamily="34" charset="-122"/>
            </a:endParaRPr>
          </a:p>
        </p:txBody>
      </p:sp>
      <p:sp>
        <p:nvSpPr>
          <p:cNvPr id="7" name="Rectangle 3"/>
          <p:cNvSpPr>
            <a:spLocks noChangeArrowheads="1"/>
          </p:cNvSpPr>
          <p:nvPr/>
        </p:nvSpPr>
        <p:spPr bwMode="auto">
          <a:xfrm>
            <a:off x="2411760" y="2331542"/>
            <a:ext cx="1726755" cy="523220"/>
          </a:xfrm>
          <a:prstGeom prst="rect">
            <a:avLst/>
          </a:prstGeom>
          <a:ln>
            <a:headEnd/>
            <a:tailEnd/>
          </a:ln>
        </p:spPr>
        <p:style>
          <a:lnRef idx="1">
            <a:schemeClr val="accent5"/>
          </a:lnRef>
          <a:fillRef idx="2">
            <a:schemeClr val="accent5"/>
          </a:fillRef>
          <a:effectRef idx="1">
            <a:schemeClr val="accent5"/>
          </a:effectRef>
          <a:fontRef idx="minor">
            <a:schemeClr val="dk1"/>
          </a:fontRef>
        </p:style>
        <p:txBody>
          <a:bodyPr wrap="none" anchor="ctr">
            <a:spAutoFit/>
          </a:bodyPr>
          <a:lstStyle/>
          <a:p>
            <a:r>
              <a:rPr lang="zh-CN" altLang="en-US" sz="2800" dirty="0">
                <a:latin typeface="微软雅黑" pitchFamily="34" charset="-122"/>
                <a:ea typeface="微软雅黑" pitchFamily="34" charset="-122"/>
              </a:rPr>
              <a:t>制冷系数</a:t>
            </a:r>
            <a:r>
              <a:rPr lang="zh-CN" altLang="en-US" sz="2800" dirty="0">
                <a:latin typeface="微软雅黑" pitchFamily="34" charset="-122"/>
                <a:ea typeface="微软雅黑" pitchFamily="34" charset="-122"/>
                <a:cs typeface="Times New Roman" pitchFamily="18" charset="0"/>
              </a:rPr>
              <a:t> </a:t>
            </a:r>
          </a:p>
        </p:txBody>
      </p:sp>
      <p:graphicFrame>
        <p:nvGraphicFramePr>
          <p:cNvPr id="8" name="Object 4"/>
          <p:cNvGraphicFramePr>
            <a:graphicFrameLocks noChangeAspect="1"/>
          </p:cNvGraphicFramePr>
          <p:nvPr>
            <p:extLst>
              <p:ext uri="{D42A27DB-BD31-4B8C-83A1-F6EECF244321}">
                <p14:modId xmlns:p14="http://schemas.microsoft.com/office/powerpoint/2010/main" val="2359789678"/>
              </p:ext>
            </p:extLst>
          </p:nvPr>
        </p:nvGraphicFramePr>
        <p:xfrm>
          <a:off x="4360634" y="2132856"/>
          <a:ext cx="2266216" cy="941804"/>
        </p:xfrm>
        <a:graphic>
          <a:graphicData uri="http://schemas.openxmlformats.org/presentationml/2006/ole">
            <mc:AlternateContent xmlns:mc="http://schemas.openxmlformats.org/markup-compatibility/2006">
              <mc:Choice xmlns:v="urn:schemas-microsoft-com:vml" Requires="v">
                <p:oleObj spid="_x0000_s4439" name="公式" r:id="rId4" imgW="1040948" imgH="431613" progId="Equation.3">
                  <p:embed/>
                </p:oleObj>
              </mc:Choice>
              <mc:Fallback>
                <p:oleObj name="公式" r:id="rId4" imgW="1040948"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60634" y="2132856"/>
                        <a:ext cx="2266216" cy="941804"/>
                      </a:xfrm>
                      <a:prstGeom prst="rect">
                        <a:avLst/>
                      </a:prstGeom>
                      <a:noFill/>
                    </p:spPr>
                  </p:pic>
                </p:oleObj>
              </mc:Fallback>
            </mc:AlternateContent>
          </a:graphicData>
        </a:graphic>
      </p:graphicFrame>
      <p:sp>
        <p:nvSpPr>
          <p:cNvPr id="9" name="Rectangle 5"/>
          <p:cNvSpPr>
            <a:spLocks noChangeArrowheads="1"/>
          </p:cNvSpPr>
          <p:nvPr/>
        </p:nvSpPr>
        <p:spPr bwMode="auto">
          <a:xfrm>
            <a:off x="2423935" y="3787422"/>
            <a:ext cx="1726755"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dirty="0">
                <a:solidFill>
                  <a:schemeClr val="tx1"/>
                </a:solidFill>
                <a:latin typeface="微软雅黑" pitchFamily="34" charset="-122"/>
                <a:ea typeface="微软雅黑" pitchFamily="34" charset="-122"/>
              </a:rPr>
              <a:t>供热系数 </a:t>
            </a:r>
          </a:p>
        </p:txBody>
      </p:sp>
      <p:graphicFrame>
        <p:nvGraphicFramePr>
          <p:cNvPr id="10" name="Object 6"/>
          <p:cNvGraphicFramePr>
            <a:graphicFrameLocks noChangeAspect="1"/>
          </p:cNvGraphicFramePr>
          <p:nvPr>
            <p:extLst>
              <p:ext uri="{D42A27DB-BD31-4B8C-83A1-F6EECF244321}">
                <p14:modId xmlns:p14="http://schemas.microsoft.com/office/powerpoint/2010/main" val="2576613701"/>
              </p:ext>
            </p:extLst>
          </p:nvPr>
        </p:nvGraphicFramePr>
        <p:xfrm>
          <a:off x="4353078" y="3573016"/>
          <a:ext cx="2294691" cy="933174"/>
        </p:xfrm>
        <a:graphic>
          <a:graphicData uri="http://schemas.openxmlformats.org/presentationml/2006/ole">
            <mc:AlternateContent xmlns:mc="http://schemas.openxmlformats.org/markup-compatibility/2006">
              <mc:Choice xmlns:v="urn:schemas-microsoft-com:vml" Requires="v">
                <p:oleObj spid="_x0000_s4440" name="公式" r:id="rId6" imgW="1066800" imgH="431800" progId="Equation.3">
                  <p:embed/>
                </p:oleObj>
              </mc:Choice>
              <mc:Fallback>
                <p:oleObj name="公式" r:id="rId6" imgW="1066800" imgH="4318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3078" y="3573016"/>
                        <a:ext cx="2294691" cy="933174"/>
                      </a:xfrm>
                      <a:prstGeom prst="rect">
                        <a:avLst/>
                      </a:prstGeom>
                      <a:noFill/>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3681510234"/>
              </p:ext>
            </p:extLst>
          </p:nvPr>
        </p:nvGraphicFramePr>
        <p:xfrm>
          <a:off x="6948264" y="3861048"/>
          <a:ext cx="852102" cy="449594"/>
        </p:xfrm>
        <a:graphic>
          <a:graphicData uri="http://schemas.openxmlformats.org/presentationml/2006/ole">
            <mc:AlternateContent xmlns:mc="http://schemas.openxmlformats.org/markup-compatibility/2006">
              <mc:Choice xmlns:v="urn:schemas-microsoft-com:vml" Requires="v">
                <p:oleObj spid="_x0000_s4441" name="公式" r:id="rId8" imgW="329914" imgH="177646" progId="Equation.3">
                  <p:embed/>
                </p:oleObj>
              </mc:Choice>
              <mc:Fallback>
                <p:oleObj name="公式" r:id="rId8" imgW="329914" imgH="177646"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48264" y="3861048"/>
                        <a:ext cx="852102" cy="449594"/>
                      </a:xfrm>
                      <a:prstGeom prst="rect">
                        <a:avLst/>
                      </a:prstGeom>
                      <a:noFill/>
                    </p:spPr>
                  </p:pic>
                </p:oleObj>
              </mc:Fallback>
            </mc:AlternateContent>
          </a:graphicData>
        </a:graphic>
      </p:graphicFrame>
      <p:sp>
        <p:nvSpPr>
          <p:cNvPr id="17" name="Rectangle 10"/>
          <p:cNvSpPr>
            <a:spLocks noChangeArrowheads="1"/>
          </p:cNvSpPr>
          <p:nvPr/>
        </p:nvSpPr>
        <p:spPr bwMode="auto">
          <a:xfrm>
            <a:off x="1115616" y="4750379"/>
            <a:ext cx="4570482" cy="523220"/>
          </a:xfrm>
          <a:prstGeom prst="rect">
            <a:avLst/>
          </a:prstGeom>
          <a:noFill/>
          <a:ln w="9525">
            <a:noFill/>
            <a:miter lim="800000"/>
            <a:headEnd/>
            <a:tailEnd/>
          </a:ln>
          <a:effectLst/>
        </p:spPr>
        <p:txBody>
          <a:bodyPr wrap="none">
            <a:spAutoFit/>
          </a:bodyPr>
          <a:lstStyle/>
          <a:p>
            <a:r>
              <a:rPr lang="zh-CN" altLang="en-US" sz="2800" dirty="0">
                <a:latin typeface="微软雅黑" pitchFamily="34" charset="-122"/>
                <a:ea typeface="微软雅黑" pitchFamily="34" charset="-122"/>
              </a:rPr>
              <a:t>（</a:t>
            </a:r>
            <a:r>
              <a:rPr lang="en-US" altLang="zh-CN" sz="2800" b="1" i="1" dirty="0">
                <a:latin typeface="Times New Roman" panose="02020603050405020304" pitchFamily="18" charset="0"/>
                <a:ea typeface="微软雅黑" pitchFamily="34" charset="-122"/>
                <a:cs typeface="Times New Roman" panose="02020603050405020304" pitchFamily="18" charset="0"/>
              </a:rPr>
              <a:t>w</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0</a:t>
            </a:r>
            <a:r>
              <a:rPr lang="zh-CN" altLang="en-US" sz="2800" dirty="0">
                <a:latin typeface="微软雅黑" pitchFamily="34" charset="-122"/>
                <a:ea typeface="微软雅黑" pitchFamily="34" charset="-122"/>
              </a:rPr>
              <a:t>、</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zh-CN" altLang="en-US" sz="2800" dirty="0">
                <a:latin typeface="微软雅黑" pitchFamily="34" charset="-122"/>
                <a:ea typeface="微软雅黑" pitchFamily="34" charset="-122"/>
              </a:rPr>
              <a:t>、</a:t>
            </a:r>
            <a:r>
              <a:rPr lang="en-US" altLang="zh-CN" sz="2800" b="1" i="1" dirty="0">
                <a:latin typeface="Times New Roman" panose="02020603050405020304" pitchFamily="18" charset="0"/>
                <a:ea typeface="微软雅黑" pitchFamily="34" charset="-122"/>
                <a:cs typeface="Times New Roman" panose="02020603050405020304" pitchFamily="18" charset="0"/>
              </a:rPr>
              <a:t>q</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2</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均取绝对值）</a:t>
            </a:r>
          </a:p>
        </p:txBody>
      </p:sp>
      <p:graphicFrame>
        <p:nvGraphicFramePr>
          <p:cNvPr id="18" name="Object 11"/>
          <p:cNvGraphicFramePr>
            <a:graphicFrameLocks noChangeAspect="1"/>
          </p:cNvGraphicFramePr>
          <p:nvPr>
            <p:extLst>
              <p:ext uri="{D42A27DB-BD31-4B8C-83A1-F6EECF244321}">
                <p14:modId xmlns:p14="http://schemas.microsoft.com/office/powerpoint/2010/main" val="2167644620"/>
              </p:ext>
            </p:extLst>
          </p:nvPr>
        </p:nvGraphicFramePr>
        <p:xfrm>
          <a:off x="6876256" y="1945452"/>
          <a:ext cx="971550" cy="1295400"/>
        </p:xfrm>
        <a:graphic>
          <a:graphicData uri="http://schemas.openxmlformats.org/presentationml/2006/ole">
            <mc:AlternateContent xmlns:mc="http://schemas.openxmlformats.org/markup-compatibility/2006">
              <mc:Choice xmlns:v="urn:schemas-microsoft-com:vml" Requires="v">
                <p:oleObj spid="_x0000_s4442" name="公式" r:id="rId10" imgW="419100" imgH="558800" progId="Equation.3">
                  <p:embed/>
                </p:oleObj>
              </mc:Choice>
              <mc:Fallback>
                <p:oleObj name="公式" r:id="rId10" imgW="419100" imgH="558800"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76256" y="1945452"/>
                        <a:ext cx="971550" cy="129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11</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881062" y="5445224"/>
            <a:ext cx="4805036" cy="52322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lvl="0"/>
            <a:r>
              <a:rPr lang="zh-CN" altLang="en-US" sz="2800" dirty="0">
                <a:latin typeface="微软雅黑" pitchFamily="34" charset="-122"/>
                <a:ea typeface="微软雅黑" pitchFamily="34" charset="-122"/>
              </a:rPr>
              <a:t>  适用于任意工质、任意循环</a:t>
            </a:r>
          </a:p>
        </p:txBody>
      </p:sp>
      <p:sp>
        <p:nvSpPr>
          <p:cNvPr id="3" name="矩形 2"/>
          <p:cNvSpPr/>
          <p:nvPr/>
        </p:nvSpPr>
        <p:spPr>
          <a:xfrm>
            <a:off x="934849" y="2331542"/>
            <a:ext cx="1476911" cy="523220"/>
          </a:xfrm>
          <a:prstGeom prst="rect">
            <a:avLst/>
          </a:prstGeom>
        </p:spPr>
        <p:txBody>
          <a:bodyPr wrap="square">
            <a:spAutoFit/>
          </a:bodyPr>
          <a:lstStyle/>
          <a:p>
            <a:r>
              <a:rPr lang="zh-CN" altLang="en-US" sz="2800" dirty="0">
                <a:solidFill>
                  <a:prstClr val="black"/>
                </a:solidFill>
                <a:latin typeface="微软雅黑" pitchFamily="34" charset="-122"/>
                <a:ea typeface="微软雅黑" pitchFamily="34" charset="-122"/>
                <a:cs typeface="Times New Roman" pitchFamily="18" charset="0"/>
              </a:rPr>
              <a:t>制冷机：</a:t>
            </a:r>
            <a:endParaRPr lang="zh-CN" altLang="en-US" dirty="0"/>
          </a:p>
        </p:txBody>
      </p:sp>
      <p:sp>
        <p:nvSpPr>
          <p:cNvPr id="4" name="矩形 3"/>
          <p:cNvSpPr/>
          <p:nvPr/>
        </p:nvSpPr>
        <p:spPr>
          <a:xfrm>
            <a:off x="1006857" y="3787422"/>
            <a:ext cx="1332895" cy="523220"/>
          </a:xfrm>
          <a:prstGeom prst="rect">
            <a:avLst/>
          </a:prstGeom>
        </p:spPr>
        <p:txBody>
          <a:bodyPr wrap="square">
            <a:spAutoFit/>
          </a:bodyPr>
          <a:lstStyle/>
          <a:p>
            <a:r>
              <a:rPr lang="zh-CN" altLang="en-US" sz="2800" dirty="0">
                <a:solidFill>
                  <a:prstClr val="black"/>
                </a:solidFill>
                <a:latin typeface="微软雅黑" pitchFamily="34" charset="-122"/>
                <a:ea typeface="微软雅黑" pitchFamily="34" charset="-122"/>
                <a:cs typeface="Times New Roman" pitchFamily="18" charset="0"/>
              </a:rPr>
              <a:t>热   泵：</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par>
                          <p:cTn id="19" fill="hold">
                            <p:stCondLst>
                              <p:cond delay="0"/>
                            </p:stCondLst>
                            <p:childTnLst>
                              <p:par>
                                <p:cTn id="20" presetID="1" presetClass="entr" presetSubtype="0" fill="hold" nodeType="afterEffect">
                                  <p:stCondLst>
                                    <p:cond delay="0"/>
                                  </p:stCondLst>
                                  <p:childTnLst>
                                    <p:set>
                                      <p:cBhvr>
                                        <p:cTn id="21" dur="1" fill="hold">
                                          <p:stCondLst>
                                            <p:cond delay="0"/>
                                          </p:stCondLst>
                                        </p:cTn>
                                        <p:tgtEl>
                                          <p:spTgt spid="18"/>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
                                        </p:tgtEl>
                                        <p:attrNameLst>
                                          <p:attrName>style.visibility</p:attrName>
                                        </p:attrNameLst>
                                      </p:cBhvr>
                                      <p:to>
                                        <p:strVal val="visible"/>
                                      </p:to>
                                    </p:set>
                                  </p:childTnLst>
                                </p:cTn>
                              </p:par>
                            </p:childTnLst>
                          </p:cTn>
                        </p:par>
                        <p:par>
                          <p:cTn id="34" fill="hold">
                            <p:stCondLst>
                              <p:cond delay="0"/>
                            </p:stCondLst>
                            <p:childTnLst>
                              <p:par>
                                <p:cTn id="35" presetID="1" presetClass="entr" presetSubtype="0"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9" grpId="0" animBg="1" autoUpdateAnimBg="0"/>
      <p:bldP spid="17" grpId="0"/>
      <p:bldP spid="2" grpId="0" animBg="1"/>
      <p:bldP spid="3"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4"/>
          <p:cNvSpPr>
            <a:spLocks noChangeArrowheads="1"/>
          </p:cNvSpPr>
          <p:nvPr/>
        </p:nvSpPr>
        <p:spPr bwMode="auto">
          <a:xfrm>
            <a:off x="357158" y="1768256"/>
            <a:ext cx="8429684" cy="202078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a:lstStyle/>
          <a:p>
            <a:pPr indent="720000" algn="just">
              <a:lnSpc>
                <a:spcPct val="150000"/>
              </a:lnSpc>
            </a:pPr>
            <a:r>
              <a:rPr lang="zh-CN" altLang="en-US" sz="2800" dirty="0">
                <a:latin typeface="微软雅黑" pitchFamily="34" charset="-122"/>
                <a:ea typeface="微软雅黑" pitchFamily="34" charset="-122"/>
              </a:rPr>
              <a:t>热机循环的热效率永远小于</a:t>
            </a:r>
            <a:r>
              <a:rPr lang="en-US" altLang="zh-CN" sz="2800" dirty="0">
                <a:latin typeface="微软雅黑" pitchFamily="34" charset="-122"/>
                <a:ea typeface="微软雅黑" pitchFamily="34" charset="-122"/>
              </a:rPr>
              <a:t>100%</a:t>
            </a:r>
            <a:r>
              <a:rPr lang="zh-CN" altLang="en-US" sz="2800" dirty="0">
                <a:latin typeface="微软雅黑" pitchFamily="34" charset="-122"/>
                <a:ea typeface="微软雅黑" pitchFamily="34" charset="-122"/>
              </a:rPr>
              <a:t>，那么在一定条件下，热效率最大能达到多少？热效率与那些因素有关？这正是卡诺循环与卡诺定理要解决的问题。</a:t>
            </a:r>
          </a:p>
        </p:txBody>
      </p:sp>
      <p:sp>
        <p:nvSpPr>
          <p:cNvPr id="8" name="TextBox 37"/>
          <p:cNvSpPr txBox="1">
            <a:spLocks noChangeArrowheads="1"/>
          </p:cNvSpPr>
          <p:nvPr/>
        </p:nvSpPr>
        <p:spPr bwMode="auto">
          <a:xfrm>
            <a:off x="661764" y="1196752"/>
            <a:ext cx="34816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卡诺循环与卡诺定律</a:t>
            </a:r>
          </a:p>
        </p:txBody>
      </p:sp>
      <p:sp>
        <p:nvSpPr>
          <p:cNvPr id="9" name="矩形 8"/>
          <p:cNvSpPr/>
          <p:nvPr/>
        </p:nvSpPr>
        <p:spPr>
          <a:xfrm>
            <a:off x="0" y="1196752"/>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11" name="Rectangle 4"/>
          <p:cNvSpPr>
            <a:spLocks noChangeArrowheads="1"/>
          </p:cNvSpPr>
          <p:nvPr/>
        </p:nvSpPr>
        <p:spPr bwMode="auto">
          <a:xfrm>
            <a:off x="357158" y="3933056"/>
            <a:ext cx="8429684" cy="201964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a:lstStyle/>
          <a:p>
            <a:pPr algn="just">
              <a:lnSpc>
                <a:spcPct val="150000"/>
              </a:lnSpc>
              <a:spcBef>
                <a:spcPct val="50000"/>
              </a:spcBef>
            </a:pPr>
            <a:r>
              <a:rPr lang="zh-CN" altLang="en-US" sz="2800" dirty="0">
                <a:latin typeface="微软雅黑" pitchFamily="34" charset="-122"/>
                <a:ea typeface="微软雅黑" pitchFamily="34" charset="-122"/>
              </a:rPr>
              <a:t>      因难以解决的结构问题和其它多种原因，卡诺循环实际上无法实现，但是卡诺循环奠定了热力学第二定律的理论基础，并指明了提高循环经济性的方向。</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12</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4"/>
          <p:cNvSpPr>
            <a:spLocks noChangeArrowheads="1"/>
          </p:cNvSpPr>
          <p:nvPr/>
        </p:nvSpPr>
        <p:spPr bwMode="auto">
          <a:xfrm>
            <a:off x="214282" y="1196752"/>
            <a:ext cx="8318158" cy="500066"/>
          </a:xfrm>
          <a:prstGeom prst="rect">
            <a:avLst/>
          </a:prstGeom>
          <a:noFill/>
          <a:ln w="9525">
            <a:noFill/>
            <a:miter lim="800000"/>
            <a:headEnd/>
            <a:tailEnd/>
          </a:ln>
          <a:effectLst/>
        </p:spPr>
        <p:txBody>
          <a:bodyPr/>
          <a:lstStyle/>
          <a:p>
            <a:r>
              <a:rPr lang="en-US" altLang="zh-CN" sz="2800" dirty="0">
                <a:solidFill>
                  <a:srgbClr val="4B3EEE"/>
                </a:solidFill>
                <a:latin typeface="Times New Roman" pitchFamily="18" charset="0"/>
                <a:ea typeface="方正书宋简体" charset="-122"/>
              </a:rPr>
              <a:t>(1)  </a:t>
            </a:r>
            <a:r>
              <a:rPr lang="zh-CN" altLang="en-US" sz="2800" dirty="0">
                <a:solidFill>
                  <a:srgbClr val="4B3EEE"/>
                </a:solidFill>
                <a:latin typeface="微软雅黑" pitchFamily="34" charset="-122"/>
                <a:ea typeface="微软雅黑" pitchFamily="34" charset="-122"/>
              </a:rPr>
              <a:t>卡诺循环</a:t>
            </a:r>
            <a:r>
              <a:rPr lang="zh-CN" altLang="en-US" sz="2400" dirty="0">
                <a:latin typeface="微软雅黑" pitchFamily="34" charset="-122"/>
                <a:ea typeface="微软雅黑" pitchFamily="34" charset="-122"/>
              </a:rPr>
              <a:t>（两个可逆等温过程 </a:t>
            </a:r>
            <a:r>
              <a:rPr lang="en-US" altLang="zh-CN" sz="2400" dirty="0">
                <a:latin typeface="微软雅黑" pitchFamily="34" charset="-122"/>
                <a:ea typeface="微软雅黑" pitchFamily="34" charset="-122"/>
              </a:rPr>
              <a:t>+ </a:t>
            </a:r>
            <a:r>
              <a:rPr lang="zh-CN" altLang="en-US" sz="2400" dirty="0">
                <a:latin typeface="微软雅黑" pitchFamily="34" charset="-122"/>
                <a:ea typeface="微软雅黑" pitchFamily="34" charset="-122"/>
              </a:rPr>
              <a:t>两个等熵过程） </a:t>
            </a:r>
          </a:p>
          <a:p>
            <a:pPr indent="504000" algn="r">
              <a:lnSpc>
                <a:spcPct val="120000"/>
              </a:lnSpc>
              <a:spcBef>
                <a:spcPts val="1200"/>
              </a:spcBef>
            </a:pPr>
            <a:endParaRPr lang="zh-CN" altLang="en-US" sz="2800" dirty="0">
              <a:solidFill>
                <a:srgbClr val="4B3EEE"/>
              </a:solidFill>
              <a:latin typeface="微软雅黑" pitchFamily="34" charset="-122"/>
              <a:ea typeface="微软雅黑" pitchFamily="34" charset="-122"/>
            </a:endParaRPr>
          </a:p>
        </p:txBody>
      </p:sp>
      <p:pic>
        <p:nvPicPr>
          <p:cNvPr id="6" name="Picture 7" descr="0403"/>
          <p:cNvPicPr>
            <a:picLocks noChangeAspect="1" noChangeArrowheads="1"/>
          </p:cNvPicPr>
          <p:nvPr/>
        </p:nvPicPr>
        <p:blipFill>
          <a:blip r:embed="rId4"/>
          <a:srcRect/>
          <a:stretch>
            <a:fillRect/>
          </a:stretch>
        </p:blipFill>
        <p:spPr bwMode="auto">
          <a:xfrm>
            <a:off x="990600" y="1824044"/>
            <a:ext cx="6821760" cy="2474489"/>
          </a:xfrm>
          <a:prstGeom prst="rect">
            <a:avLst/>
          </a:prstGeom>
          <a:noFill/>
          <a:ln w="9525">
            <a:noFill/>
            <a:miter lim="800000"/>
            <a:headEnd/>
            <a:tailEnd/>
          </a:ln>
        </p:spPr>
      </p:pic>
      <p:sp>
        <p:nvSpPr>
          <p:cNvPr id="7" name="Rectangle 3"/>
          <p:cNvSpPr>
            <a:spLocks noChangeArrowheads="1"/>
          </p:cNvSpPr>
          <p:nvPr/>
        </p:nvSpPr>
        <p:spPr bwMode="auto">
          <a:xfrm>
            <a:off x="990600" y="4749814"/>
            <a:ext cx="1726755"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non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热效率： </a:t>
            </a:r>
          </a:p>
        </p:txBody>
      </p:sp>
      <p:graphicFrame>
        <p:nvGraphicFramePr>
          <p:cNvPr id="8" name="Object 4"/>
          <p:cNvGraphicFramePr>
            <a:graphicFrameLocks noChangeAspect="1"/>
          </p:cNvGraphicFramePr>
          <p:nvPr>
            <p:extLst>
              <p:ext uri="{D42A27DB-BD31-4B8C-83A1-F6EECF244321}">
                <p14:modId xmlns:p14="http://schemas.microsoft.com/office/powerpoint/2010/main" val="1678755022"/>
              </p:ext>
            </p:extLst>
          </p:nvPr>
        </p:nvGraphicFramePr>
        <p:xfrm>
          <a:off x="3160713" y="4618038"/>
          <a:ext cx="3378200" cy="760412"/>
        </p:xfrm>
        <a:graphic>
          <a:graphicData uri="http://schemas.openxmlformats.org/presentationml/2006/ole">
            <mc:AlternateContent xmlns:mc="http://schemas.openxmlformats.org/markup-compatibility/2006">
              <mc:Choice xmlns:v="urn:schemas-microsoft-com:vml" Requires="v">
                <p:oleObj spid="_x0000_s40024" name="公式" r:id="rId5" imgW="1701720" imgH="380880" progId="Equation.3">
                  <p:embed/>
                </p:oleObj>
              </mc:Choice>
              <mc:Fallback>
                <p:oleObj name="公式" r:id="rId5" imgW="1701720" imgH="380880" progId="Equation.3">
                  <p:embed/>
                  <p:pic>
                    <p:nvPicPr>
                      <p:cNvPr id="0" name="Object 4"/>
                      <p:cNvPicPr>
                        <a:picLocks noChangeAspect="1" noChangeArrowheads="1"/>
                      </p:cNvPicPr>
                      <p:nvPr/>
                    </p:nvPicPr>
                    <p:blipFill>
                      <a:blip r:embed="rId6"/>
                      <a:srcRect/>
                      <a:stretch>
                        <a:fillRect/>
                      </a:stretch>
                    </p:blipFill>
                    <p:spPr bwMode="auto">
                      <a:xfrm>
                        <a:off x="3160713" y="4618038"/>
                        <a:ext cx="3378200" cy="760412"/>
                      </a:xfrm>
                      <a:prstGeom prst="rect">
                        <a:avLst/>
                      </a:prstGeom>
                      <a:noFill/>
                    </p:spPr>
                  </p:pic>
                </p:oleObj>
              </mc:Fallback>
            </mc:AlternateContent>
          </a:graphicData>
        </a:graphic>
      </p:graphicFrame>
      <p:sp>
        <p:nvSpPr>
          <p:cNvPr id="9" name="Rectangle 6"/>
          <p:cNvSpPr>
            <a:spLocks noChangeArrowheads="1"/>
          </p:cNvSpPr>
          <p:nvPr/>
        </p:nvSpPr>
        <p:spPr bwMode="auto">
          <a:xfrm>
            <a:off x="899592" y="5527860"/>
            <a:ext cx="6707087" cy="461665"/>
          </a:xfrm>
          <a:prstGeom prst="rect">
            <a:avLst/>
          </a:prstGeom>
          <a:noFill/>
          <a:ln w="9525" algn="ctr">
            <a:noFill/>
            <a:miter lim="800000"/>
            <a:headEnd/>
            <a:tailEnd/>
          </a:ln>
          <a:effectLst/>
        </p:spPr>
        <p:txBody>
          <a:bodyPr wrap="square" anchor="ctr">
            <a:spAutoFit/>
          </a:bodyPr>
          <a:lstStyle/>
          <a:p>
            <a:r>
              <a:rPr lang="en-US" altLang="zh-CN" sz="2400" dirty="0">
                <a:solidFill>
                  <a:srgbClr val="000000"/>
                </a:solidFill>
                <a:latin typeface="微软雅黑" pitchFamily="34" charset="-122"/>
                <a:ea typeface="微软雅黑" pitchFamily="34" charset="-122"/>
                <a:cs typeface="Times New Roman" pitchFamily="18" charset="0"/>
              </a:rPr>
              <a:t> </a:t>
            </a:r>
            <a:r>
              <a:rPr lang="en-US" altLang="zh-CN" sz="2400" b="1" i="1" dirty="0">
                <a:latin typeface="Times New Roman" panose="02020603050405020304" pitchFamily="18" charset="0"/>
                <a:ea typeface="微软雅黑" pitchFamily="34" charset="-122"/>
                <a:cs typeface="Times New Roman" panose="02020603050405020304" pitchFamily="18" charset="0"/>
              </a:rPr>
              <a:t>T</a:t>
            </a:r>
            <a:r>
              <a:rPr lang="en-US" altLang="zh-CN" sz="2400" b="1" baseline="-30000" dirty="0">
                <a:latin typeface="Times New Roman" panose="02020603050405020304" pitchFamily="18" charset="0"/>
                <a:ea typeface="微软雅黑" pitchFamily="34" charset="-122"/>
                <a:cs typeface="Times New Roman" panose="02020603050405020304" pitchFamily="18" charset="0"/>
              </a:rPr>
              <a:t>1</a:t>
            </a:r>
            <a:r>
              <a:rPr lang="zh-CN" altLang="en-US" sz="2400" dirty="0">
                <a:latin typeface="微软雅黑" pitchFamily="34" charset="-122"/>
                <a:ea typeface="微软雅黑" pitchFamily="34" charset="-122"/>
                <a:cs typeface="Times New Roman" pitchFamily="18" charset="0"/>
              </a:rPr>
              <a:t>、</a:t>
            </a:r>
            <a:r>
              <a:rPr lang="en-US" altLang="zh-CN" sz="2400" b="1" i="1" dirty="0">
                <a:latin typeface="Times New Roman" panose="02020603050405020304" pitchFamily="18" charset="0"/>
                <a:ea typeface="微软雅黑" pitchFamily="34" charset="-122"/>
                <a:cs typeface="Times New Roman" panose="02020603050405020304" pitchFamily="18" charset="0"/>
              </a:rPr>
              <a:t>T</a:t>
            </a:r>
            <a:r>
              <a:rPr lang="en-US" altLang="zh-CN" sz="2400" b="1" baseline="-30000" dirty="0">
                <a:latin typeface="Times New Roman" panose="02020603050405020304" pitchFamily="18" charset="0"/>
                <a:ea typeface="微软雅黑" pitchFamily="34" charset="-122"/>
                <a:cs typeface="Times New Roman" panose="02020603050405020304" pitchFamily="18" charset="0"/>
              </a:rPr>
              <a:t>2</a:t>
            </a:r>
            <a:r>
              <a:rPr lang="zh-CN" altLang="en-US" sz="2400" dirty="0">
                <a:latin typeface="微软雅黑" pitchFamily="34" charset="-122"/>
                <a:ea typeface="微软雅黑" pitchFamily="34" charset="-122"/>
                <a:cs typeface="Times New Roman" pitchFamily="18" charset="0"/>
              </a:rPr>
              <a:t>：恒温热源温度，亦即工质温度（可逆）</a:t>
            </a:r>
            <a:r>
              <a:rPr lang="zh-CN" altLang="en-US" sz="2400" dirty="0">
                <a:solidFill>
                  <a:srgbClr val="000000"/>
                </a:solidFill>
                <a:latin typeface="微软雅黑" pitchFamily="34" charset="-122"/>
                <a:ea typeface="微软雅黑" pitchFamily="34" charset="-122"/>
                <a:cs typeface="Times New Roman" pitchFamily="18" charset="0"/>
              </a:rPr>
              <a:t> </a:t>
            </a:r>
          </a:p>
        </p:txBody>
      </p:sp>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13</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par>
                          <p:cTn id="15" fill="hold">
                            <p:stCondLst>
                              <p:cond delay="0"/>
                            </p:stCondLst>
                            <p:childTnLst>
                              <p:par>
                                <p:cTn id="16" presetID="1" presetClass="entr" presetSubtype="0" fill="hold"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autoUpdateAnimBg="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3"/>
          <p:cNvSpPr>
            <a:spLocks noChangeArrowheads="1"/>
          </p:cNvSpPr>
          <p:nvPr/>
        </p:nvSpPr>
        <p:spPr bwMode="auto">
          <a:xfrm>
            <a:off x="132484" y="1000108"/>
            <a:ext cx="1367682" cy="523220"/>
          </a:xfrm>
          <a:prstGeom prst="rect">
            <a:avLst/>
          </a:prstGeom>
          <a:noFill/>
          <a:ln w="9525" algn="ctr">
            <a:noFill/>
            <a:miter lim="800000"/>
            <a:headEnd/>
            <a:tailEnd/>
          </a:ln>
          <a:effectLst/>
        </p:spPr>
        <p:txBody>
          <a:bodyPr wrap="none" anchor="ctr">
            <a:spAutoFit/>
          </a:bodyPr>
          <a:lstStyle/>
          <a:p>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讨论：</a:t>
            </a:r>
          </a:p>
        </p:txBody>
      </p:sp>
      <p:grpSp>
        <p:nvGrpSpPr>
          <p:cNvPr id="12" name="Group 4"/>
          <p:cNvGrpSpPr>
            <a:grpSpLocks/>
          </p:cNvGrpSpPr>
          <p:nvPr/>
        </p:nvGrpSpPr>
        <p:grpSpPr bwMode="auto">
          <a:xfrm>
            <a:off x="762000" y="3424043"/>
            <a:ext cx="4597400" cy="576263"/>
            <a:chOff x="855" y="2989"/>
            <a:chExt cx="2896" cy="363"/>
          </a:xfrm>
        </p:grpSpPr>
        <p:sp>
          <p:nvSpPr>
            <p:cNvPr id="13" name="Rectangle 5"/>
            <p:cNvSpPr>
              <a:spLocks noChangeArrowheads="1"/>
            </p:cNvSpPr>
            <p:nvPr/>
          </p:nvSpPr>
          <p:spPr bwMode="auto">
            <a:xfrm>
              <a:off x="855" y="3022"/>
              <a:ext cx="2896" cy="330"/>
            </a:xfrm>
            <a:prstGeom prst="rect">
              <a:avLst/>
            </a:prstGeom>
            <a:noFill/>
            <a:ln w="9525" algn="ctr">
              <a:noFill/>
              <a:miter lim="800000"/>
              <a:headEnd/>
              <a:tailEnd/>
            </a:ln>
            <a:effectLst/>
          </p:spPr>
          <p:txBody>
            <a:bodyPr wrap="none" anchor="ctr">
              <a:spAutoFit/>
            </a:bodyPr>
            <a:lstStyle/>
            <a:p>
              <a:r>
                <a:rPr lang="en-US" altLang="zh-CN" sz="2800" dirty="0">
                  <a:latin typeface="微软雅黑" pitchFamily="34" charset="-122"/>
                  <a:ea typeface="微软雅黑" pitchFamily="34" charset="-122"/>
                  <a:cs typeface="Times New Roman" pitchFamily="18" charset="0"/>
                </a:rPr>
                <a:t>③  </a:t>
              </a:r>
              <a:r>
                <a:rPr lang="en-US" altLang="zh-CN" sz="2800" b="1" i="1" dirty="0">
                  <a:latin typeface="Times New Roman" pitchFamily="18" charset="0"/>
                  <a:ea typeface="微软雅黑" pitchFamily="34" charset="-122"/>
                  <a:cs typeface="Times New Roman" pitchFamily="18" charset="0"/>
                </a:rPr>
                <a:t>T</a:t>
              </a:r>
              <a:r>
                <a:rPr lang="en-US" altLang="zh-CN" sz="2800" b="1" baseline="-30000" dirty="0">
                  <a:latin typeface="Times New Roman" panose="02020603050405020304" pitchFamily="18" charset="0"/>
                  <a:ea typeface="微软雅黑" pitchFamily="34" charset="-122"/>
                  <a:cs typeface="Times New Roman" panose="02020603050405020304" pitchFamily="18" charset="0"/>
                </a:rPr>
                <a:t>2</a:t>
              </a:r>
              <a:r>
                <a:rPr lang="zh-CN" altLang="en-US" sz="2800" b="1"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itchFamily="18" charset="0"/>
                  <a:ea typeface="微软雅黑" pitchFamily="34" charset="-122"/>
                  <a:cs typeface="Times New Roman" pitchFamily="18" charset="0"/>
                </a:rPr>
                <a:t>T</a:t>
              </a:r>
              <a:r>
                <a:rPr lang="en-US" altLang="zh-CN" sz="2800" b="1" baseline="-30000" dirty="0">
                  <a:latin typeface="Times New Roman" panose="02020603050405020304" pitchFamily="18" charset="0"/>
                  <a:ea typeface="微软雅黑" pitchFamily="34" charset="-122"/>
                  <a:cs typeface="Times New Roman" panose="02020603050405020304" pitchFamily="18" charset="0"/>
                </a:rPr>
                <a:t>1 </a:t>
              </a:r>
              <a:r>
                <a:rPr lang="zh-CN" altLang="en-US" sz="2800" dirty="0">
                  <a:latin typeface="微软雅黑" pitchFamily="34" charset="-122"/>
                  <a:ea typeface="微软雅黑" pitchFamily="34" charset="-122"/>
                </a:rPr>
                <a:t>时，</a:t>
              </a:r>
              <a:r>
                <a:rPr lang="en-US" altLang="zh-CN" sz="2800" dirty="0">
                  <a:solidFill>
                    <a:srgbClr val="FF0000"/>
                  </a:solidFill>
                  <a:latin typeface="微软雅黑" pitchFamily="34" charset="-122"/>
                  <a:ea typeface="微软雅黑" pitchFamily="34" charset="-122"/>
                </a:rPr>
                <a:t>(</a:t>
              </a:r>
              <a:r>
                <a:rPr lang="zh-CN" altLang="en-US" sz="2800" dirty="0">
                  <a:solidFill>
                    <a:srgbClr val="FF0000"/>
                  </a:solidFill>
                  <a:latin typeface="微软雅黑" pitchFamily="34" charset="-122"/>
                  <a:ea typeface="微软雅黑" pitchFamily="34" charset="-122"/>
                </a:rPr>
                <a:t>单一热源）</a:t>
              </a:r>
              <a:r>
                <a:rPr lang="en-US" altLang="zh-CN" sz="2800" dirty="0">
                  <a:latin typeface="微软雅黑" pitchFamily="34" charset="-122"/>
                  <a:ea typeface="微软雅黑" pitchFamily="34" charset="-122"/>
                </a:rPr>
                <a:t>,</a:t>
              </a:r>
            </a:p>
          </p:txBody>
        </p:sp>
        <p:graphicFrame>
          <p:nvGraphicFramePr>
            <p:cNvPr id="14" name="Object 6"/>
            <p:cNvGraphicFramePr>
              <a:graphicFrameLocks noChangeAspect="1"/>
            </p:cNvGraphicFramePr>
            <p:nvPr/>
          </p:nvGraphicFramePr>
          <p:xfrm>
            <a:off x="2570" y="3033"/>
            <a:ext cx="164" cy="274"/>
          </p:xfrm>
          <a:graphic>
            <a:graphicData uri="http://schemas.openxmlformats.org/presentationml/2006/ole">
              <mc:AlternateContent xmlns:mc="http://schemas.openxmlformats.org/markup-compatibility/2006">
                <mc:Choice xmlns:v="urn:schemas-microsoft-com:vml" Requires="v">
                  <p:oleObj spid="_x0000_s41747" name="公式" r:id="rId4" imgW="114151" imgH="215619" progId="Equation.3">
                    <p:embed/>
                  </p:oleObj>
                </mc:Choice>
                <mc:Fallback>
                  <p:oleObj name="公式" r:id="rId4" imgW="114151" imgH="215619"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0" y="3033"/>
                          <a:ext cx="164" cy="27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Text Box 7"/>
            <p:cNvSpPr txBox="1">
              <a:spLocks noChangeArrowheads="1"/>
            </p:cNvSpPr>
            <p:nvPr/>
          </p:nvSpPr>
          <p:spPr bwMode="auto">
            <a:xfrm>
              <a:off x="3185" y="2989"/>
              <a:ext cx="116" cy="327"/>
            </a:xfrm>
            <a:prstGeom prst="rect">
              <a:avLst/>
            </a:prstGeom>
            <a:noFill/>
            <a:ln w="9525" algn="ctr">
              <a:noFill/>
              <a:miter lim="800000"/>
              <a:headEnd/>
              <a:tailEnd/>
            </a:ln>
            <a:effectLst/>
          </p:spPr>
          <p:txBody>
            <a:bodyPr wrap="none">
              <a:spAutoFit/>
            </a:bodyPr>
            <a:lstStyle/>
            <a:p>
              <a:pPr marL="342900" indent="-342900" algn="ctr">
                <a:spcBef>
                  <a:spcPct val="20000"/>
                </a:spcBef>
              </a:pPr>
              <a:endParaRPr lang="zh-CN" altLang="zh-CN" sz="2800">
                <a:solidFill>
                  <a:srgbClr val="000000"/>
                </a:solidFill>
                <a:latin typeface="微软雅黑" pitchFamily="34" charset="-122"/>
                <a:ea typeface="微软雅黑" pitchFamily="34" charset="-122"/>
                <a:cs typeface="Times New Roman" pitchFamily="18" charset="0"/>
              </a:endParaRPr>
            </a:p>
          </p:txBody>
        </p:sp>
      </p:grpSp>
      <p:sp>
        <p:nvSpPr>
          <p:cNvPr id="17" name="Rectangle 8"/>
          <p:cNvSpPr>
            <a:spLocks noChangeArrowheads="1"/>
          </p:cNvSpPr>
          <p:nvPr/>
        </p:nvSpPr>
        <p:spPr bwMode="auto">
          <a:xfrm>
            <a:off x="869800" y="5210036"/>
            <a:ext cx="2190900" cy="52322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800" dirty="0">
                <a:latin typeface="微软雅黑" pitchFamily="34" charset="-122"/>
                <a:ea typeface="微软雅黑" pitchFamily="34" charset="-122"/>
                <a:cs typeface="Times New Roman" pitchFamily="18" charset="0"/>
              </a:rPr>
              <a:t>对于逆循环：</a:t>
            </a:r>
            <a:r>
              <a:rPr lang="zh-CN" altLang="en-US" sz="2800" dirty="0">
                <a:solidFill>
                  <a:srgbClr val="000000"/>
                </a:solidFill>
                <a:latin typeface="微软雅黑" pitchFamily="34" charset="-122"/>
                <a:ea typeface="微软雅黑" pitchFamily="34" charset="-122"/>
                <a:cs typeface="Times New Roman" pitchFamily="18" charset="0"/>
              </a:rPr>
              <a:t> </a:t>
            </a:r>
          </a:p>
        </p:txBody>
      </p:sp>
      <p:graphicFrame>
        <p:nvGraphicFramePr>
          <p:cNvPr id="18" name="Object 9"/>
          <p:cNvGraphicFramePr>
            <a:graphicFrameLocks noChangeAspect="1"/>
          </p:cNvGraphicFramePr>
          <p:nvPr>
            <p:extLst>
              <p:ext uri="{D42A27DB-BD31-4B8C-83A1-F6EECF244321}">
                <p14:modId xmlns:p14="http://schemas.microsoft.com/office/powerpoint/2010/main" val="1530687609"/>
              </p:ext>
            </p:extLst>
          </p:nvPr>
        </p:nvGraphicFramePr>
        <p:xfrm>
          <a:off x="3444289" y="4959462"/>
          <a:ext cx="1631767" cy="953827"/>
        </p:xfrm>
        <a:graphic>
          <a:graphicData uri="http://schemas.openxmlformats.org/presentationml/2006/ole">
            <mc:AlternateContent xmlns:mc="http://schemas.openxmlformats.org/markup-compatibility/2006">
              <mc:Choice xmlns:v="urn:schemas-microsoft-com:vml" Requires="v">
                <p:oleObj spid="_x0000_s41748" name="公式" r:id="rId6" imgW="647640" imgH="380880" progId="Equation.3">
                  <p:embed/>
                </p:oleObj>
              </mc:Choice>
              <mc:Fallback>
                <p:oleObj name="公式" r:id="rId6" imgW="647640" imgH="380880" progId="Equation.3">
                  <p:embed/>
                  <p:pic>
                    <p:nvPicPr>
                      <p:cNvPr id="0" name="Object 9"/>
                      <p:cNvPicPr>
                        <a:picLocks noChangeAspect="1" noChangeArrowheads="1"/>
                      </p:cNvPicPr>
                      <p:nvPr/>
                    </p:nvPicPr>
                    <p:blipFill>
                      <a:blip r:embed="rId7"/>
                      <a:srcRect/>
                      <a:stretch>
                        <a:fillRect/>
                      </a:stretch>
                    </p:blipFill>
                    <p:spPr bwMode="auto">
                      <a:xfrm>
                        <a:off x="3444289" y="4959462"/>
                        <a:ext cx="1631767" cy="953827"/>
                      </a:xfrm>
                      <a:prstGeom prst="rect">
                        <a:avLst/>
                      </a:prstGeom>
                      <a:noFill/>
                    </p:spPr>
                  </p:pic>
                </p:oleObj>
              </mc:Fallback>
            </mc:AlternateContent>
          </a:graphicData>
        </a:graphic>
      </p:graphicFrame>
      <p:graphicFrame>
        <p:nvGraphicFramePr>
          <p:cNvPr id="19" name="Object 10"/>
          <p:cNvGraphicFramePr>
            <a:graphicFrameLocks noChangeAspect="1"/>
          </p:cNvGraphicFramePr>
          <p:nvPr>
            <p:extLst>
              <p:ext uri="{D42A27DB-BD31-4B8C-83A1-F6EECF244321}">
                <p14:modId xmlns:p14="http://schemas.microsoft.com/office/powerpoint/2010/main" val="3193393639"/>
              </p:ext>
            </p:extLst>
          </p:nvPr>
        </p:nvGraphicFramePr>
        <p:xfrm>
          <a:off x="6228183" y="5028233"/>
          <a:ext cx="1601537" cy="921047"/>
        </p:xfrm>
        <a:graphic>
          <a:graphicData uri="http://schemas.openxmlformats.org/presentationml/2006/ole">
            <mc:AlternateContent xmlns:mc="http://schemas.openxmlformats.org/markup-compatibility/2006">
              <mc:Choice xmlns:v="urn:schemas-microsoft-com:vml" Requires="v">
                <p:oleObj spid="_x0000_s41749" name="公式" r:id="rId8" imgW="660240" imgH="380880" progId="Equation.3">
                  <p:embed/>
                </p:oleObj>
              </mc:Choice>
              <mc:Fallback>
                <p:oleObj name="公式" r:id="rId8" imgW="660240" imgH="380880" progId="Equation.3">
                  <p:embed/>
                  <p:pic>
                    <p:nvPicPr>
                      <p:cNvPr id="0" name="Object 10"/>
                      <p:cNvPicPr>
                        <a:picLocks noChangeAspect="1" noChangeArrowheads="1"/>
                      </p:cNvPicPr>
                      <p:nvPr/>
                    </p:nvPicPr>
                    <p:blipFill>
                      <a:blip r:embed="rId9"/>
                      <a:srcRect/>
                      <a:stretch>
                        <a:fillRect/>
                      </a:stretch>
                    </p:blipFill>
                    <p:spPr bwMode="auto">
                      <a:xfrm>
                        <a:off x="6228183" y="5028233"/>
                        <a:ext cx="1601537" cy="921047"/>
                      </a:xfrm>
                      <a:prstGeom prst="rect">
                        <a:avLst/>
                      </a:prstGeom>
                      <a:noFill/>
                    </p:spPr>
                  </p:pic>
                </p:oleObj>
              </mc:Fallback>
            </mc:AlternateContent>
          </a:graphicData>
        </a:graphic>
      </p:graphicFrame>
      <p:sp>
        <p:nvSpPr>
          <p:cNvPr id="20" name="Rectangle 11"/>
          <p:cNvSpPr>
            <a:spLocks noChangeArrowheads="1"/>
          </p:cNvSpPr>
          <p:nvPr/>
        </p:nvSpPr>
        <p:spPr bwMode="auto">
          <a:xfrm>
            <a:off x="1303338" y="2778350"/>
            <a:ext cx="3775393" cy="523220"/>
          </a:xfrm>
          <a:prstGeom prst="rect">
            <a:avLst/>
          </a:prstGeom>
          <a:noFill/>
          <a:ln w="9525">
            <a:noFill/>
            <a:miter lim="800000"/>
            <a:headEnd/>
            <a:tailEnd/>
          </a:ln>
          <a:effectLst/>
        </p:spPr>
        <p:txBody>
          <a:bodyPr wrap="none">
            <a:spAutoFit/>
          </a:bodyPr>
          <a:lstStyle/>
          <a:p>
            <a:r>
              <a:rPr lang="zh-CN" altLang="en-US" sz="2800" dirty="0">
                <a:latin typeface="微软雅黑" pitchFamily="34" charset="-122"/>
                <a:ea typeface="微软雅黑" pitchFamily="34" charset="-122"/>
              </a:rPr>
              <a:t>（受材料、环境限制）</a:t>
            </a:r>
          </a:p>
        </p:txBody>
      </p:sp>
      <p:sp>
        <p:nvSpPr>
          <p:cNvPr id="21" name="Rectangle 12"/>
          <p:cNvSpPr>
            <a:spLocks noChangeArrowheads="1"/>
          </p:cNvSpPr>
          <p:nvPr/>
        </p:nvSpPr>
        <p:spPr bwMode="auto">
          <a:xfrm>
            <a:off x="762000" y="1477020"/>
            <a:ext cx="6904454" cy="523220"/>
          </a:xfrm>
          <a:prstGeom prst="rect">
            <a:avLst/>
          </a:prstGeom>
          <a:noFill/>
          <a:ln w="9525">
            <a:noFill/>
            <a:miter lim="800000"/>
            <a:headEnd/>
            <a:tailEnd/>
          </a:ln>
          <a:effectLst/>
        </p:spPr>
        <p:txBody>
          <a:bodyPr wrap="none" anchor="ctr">
            <a:spAutoFit/>
          </a:bodyPr>
          <a:lstStyle/>
          <a:p>
            <a:r>
              <a:rPr lang="en-US" altLang="zh-CN" sz="2800" dirty="0">
                <a:solidFill>
                  <a:srgbClr val="000000"/>
                </a:solidFill>
                <a:latin typeface="微软雅黑" pitchFamily="34" charset="-122"/>
                <a:ea typeface="微软雅黑" pitchFamily="34" charset="-122"/>
              </a:rPr>
              <a:t>①       </a:t>
            </a:r>
            <a:r>
              <a:rPr lang="zh-CN" altLang="en-US" sz="2800" dirty="0">
                <a:latin typeface="微软雅黑" pitchFamily="34" charset="-122"/>
                <a:ea typeface="微软雅黑" pitchFamily="34" charset="-122"/>
              </a:rPr>
              <a:t>只取决于</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zh-CN" altLang="en-US" sz="2800"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2</a:t>
            </a:r>
            <a:r>
              <a:rPr lang="zh-CN" altLang="en-US" sz="2800" dirty="0">
                <a:latin typeface="微软雅黑" pitchFamily="34" charset="-122"/>
                <a:ea typeface="微软雅黑" pitchFamily="34" charset="-122"/>
              </a:rPr>
              <a:t>。</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en-US" altLang="zh-CN" sz="2800" dirty="0">
                <a:latin typeface="Times New Roman" panose="02020603050405020304" pitchFamily="18" charset="0"/>
                <a:ea typeface="微软雅黑" pitchFamily="34" charset="-122"/>
                <a:cs typeface="Times New Roman" panose="02020603050405020304" pitchFamily="18" charset="0"/>
              </a:rPr>
              <a:t>↑ </a:t>
            </a:r>
            <a:r>
              <a:rPr lang="zh-CN" altLang="en-US" sz="2800" dirty="0">
                <a:latin typeface="Times New Roman" panose="02020603050405020304" pitchFamily="18" charset="0"/>
                <a:ea typeface="微软雅黑" pitchFamily="34" charset="-122"/>
                <a:cs typeface="Times New Roman" panose="02020603050405020304" pitchFamily="18" charset="0"/>
              </a:rPr>
              <a:t>或 </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2</a:t>
            </a:r>
            <a:r>
              <a:rPr lang="en-US" altLang="zh-CN" sz="2800" dirty="0">
                <a:latin typeface="Times New Roman" panose="02020603050405020304" pitchFamily="18" charset="0"/>
                <a:ea typeface="微软雅黑" pitchFamily="34" charset="-122"/>
                <a:cs typeface="Times New Roman" panose="02020603050405020304" pitchFamily="18" charset="0"/>
              </a:rPr>
              <a:t>↓ →     ↑</a:t>
            </a:r>
            <a:r>
              <a:rPr lang="en-US" altLang="zh-CN" sz="2800" dirty="0">
                <a:latin typeface="微软雅黑" pitchFamily="34" charset="-122"/>
                <a:ea typeface="微软雅黑" pitchFamily="34" charset="-122"/>
              </a:rPr>
              <a:t> </a:t>
            </a:r>
          </a:p>
        </p:txBody>
      </p:sp>
      <p:graphicFrame>
        <p:nvGraphicFramePr>
          <p:cNvPr id="22" name="Object 14"/>
          <p:cNvGraphicFramePr>
            <a:graphicFrameLocks noChangeAspect="1"/>
          </p:cNvGraphicFramePr>
          <p:nvPr/>
        </p:nvGraphicFramePr>
        <p:xfrm>
          <a:off x="1447800" y="1390640"/>
          <a:ext cx="508000" cy="609600"/>
        </p:xfrm>
        <a:graphic>
          <a:graphicData uri="http://schemas.openxmlformats.org/presentationml/2006/ole">
            <mc:AlternateContent xmlns:mc="http://schemas.openxmlformats.org/markup-compatibility/2006">
              <mc:Choice xmlns:v="urn:schemas-microsoft-com:vml" Requires="v">
                <p:oleObj spid="_x0000_s41750" name="公式" r:id="rId10" imgW="190500" imgH="228600" progId="Equation.3">
                  <p:embed/>
                </p:oleObj>
              </mc:Choice>
              <mc:Fallback>
                <p:oleObj name="公式" r:id="rId10" imgW="190500" imgH="228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7800" y="1390640"/>
                        <a:ext cx="5080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16"/>
          <p:cNvSpPr>
            <a:spLocks noChangeArrowheads="1"/>
          </p:cNvSpPr>
          <p:nvPr/>
        </p:nvSpPr>
        <p:spPr bwMode="auto">
          <a:xfrm>
            <a:off x="762000" y="2143116"/>
            <a:ext cx="3999813" cy="523220"/>
          </a:xfrm>
          <a:prstGeom prst="rect">
            <a:avLst/>
          </a:prstGeom>
          <a:noFill/>
          <a:ln w="9525">
            <a:noFill/>
            <a:miter lim="800000"/>
            <a:headEnd/>
            <a:tailEnd/>
          </a:ln>
          <a:effectLst/>
        </p:spPr>
        <p:txBody>
          <a:bodyPr wrap="none">
            <a:spAutoFit/>
          </a:bodyPr>
          <a:lstStyle/>
          <a:p>
            <a:pPr marL="342900" indent="-342900"/>
            <a:r>
              <a:rPr lang="en-US" altLang="zh-CN" sz="2800" dirty="0">
                <a:latin typeface="微软雅黑" pitchFamily="34" charset="-122"/>
                <a:ea typeface="微软雅黑" pitchFamily="34" charset="-122"/>
              </a:rPr>
              <a:t>②   ∵ </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en-US" altLang="zh-CN" sz="2800" b="1" dirty="0">
                <a:latin typeface="Times New Roman" panose="02020603050405020304" pitchFamily="18" charset="0"/>
                <a:ea typeface="微软雅黑" pitchFamily="34" charset="-122"/>
                <a:cs typeface="Times New Roman" panose="02020603050405020304" pitchFamily="18" charset="0"/>
              </a:rPr>
              <a:t>&lt; </a:t>
            </a:r>
            <a:r>
              <a:rPr lang="en-US" altLang="zh-CN" sz="2800" b="1" dirty="0">
                <a:latin typeface="Times New Roman" panose="02020603050405020304" pitchFamily="18" charset="0"/>
                <a:ea typeface="微软雅黑" pitchFamily="34" charset="-122"/>
                <a:cs typeface="Times New Roman" panose="02020603050405020304" pitchFamily="18" charset="0"/>
                <a:sym typeface="Symbol" pitchFamily="18" charset="2"/>
              </a:rPr>
              <a:t></a:t>
            </a:r>
            <a:r>
              <a:rPr lang="zh-CN" altLang="en-US" sz="2800"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itchFamily="18" charset="0"/>
                <a:ea typeface="微软雅黑" pitchFamily="34" charset="-122"/>
                <a:cs typeface="Times New Roman"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2</a:t>
            </a:r>
            <a:r>
              <a:rPr lang="en-US" altLang="zh-CN" sz="2800" b="1" dirty="0">
                <a:latin typeface="Times New Roman" panose="02020603050405020304" pitchFamily="18" charset="0"/>
                <a:ea typeface="微软雅黑" pitchFamily="34" charset="-122"/>
                <a:cs typeface="Times New Roman" panose="02020603050405020304" pitchFamily="18" charset="0"/>
              </a:rPr>
              <a:t>&gt;0 </a:t>
            </a:r>
            <a:r>
              <a:rPr lang="zh-CN" altLang="en-US" sz="2800" dirty="0">
                <a:latin typeface="微软雅黑" pitchFamily="34" charset="-122"/>
                <a:ea typeface="微软雅黑" pitchFamily="34" charset="-122"/>
              </a:rPr>
              <a:t>，</a:t>
            </a:r>
            <a:r>
              <a:rPr lang="zh-CN" altLang="en-US" sz="2800" b="1" dirty="0">
                <a:latin typeface="微软雅黑" pitchFamily="34" charset="-122"/>
                <a:ea typeface="微软雅黑" pitchFamily="34" charset="-122"/>
              </a:rPr>
              <a:t>∴</a:t>
            </a:r>
            <a:r>
              <a:rPr lang="zh-CN" altLang="en-US" sz="2800" dirty="0">
                <a:latin typeface="微软雅黑" pitchFamily="34" charset="-122"/>
                <a:ea typeface="微软雅黑" pitchFamily="34" charset="-122"/>
              </a:rPr>
              <a:t> </a:t>
            </a:r>
          </a:p>
        </p:txBody>
      </p:sp>
      <p:graphicFrame>
        <p:nvGraphicFramePr>
          <p:cNvPr id="24" name="Object 17"/>
          <p:cNvGraphicFramePr>
            <a:graphicFrameLocks noChangeAspect="1"/>
          </p:cNvGraphicFramePr>
          <p:nvPr>
            <p:extLst>
              <p:ext uri="{D42A27DB-BD31-4B8C-83A1-F6EECF244321}">
                <p14:modId xmlns:p14="http://schemas.microsoft.com/office/powerpoint/2010/main" val="580923370"/>
              </p:ext>
            </p:extLst>
          </p:nvPr>
        </p:nvGraphicFramePr>
        <p:xfrm>
          <a:off x="4644008" y="2143116"/>
          <a:ext cx="889000" cy="533400"/>
        </p:xfrm>
        <a:graphic>
          <a:graphicData uri="http://schemas.openxmlformats.org/presentationml/2006/ole">
            <mc:AlternateContent xmlns:mc="http://schemas.openxmlformats.org/markup-compatibility/2006">
              <mc:Choice xmlns:v="urn:schemas-microsoft-com:vml" Requires="v">
                <p:oleObj spid="_x0000_s41751" name="公式" r:id="rId12" imgW="381000" imgH="228600" progId="Equation.3">
                  <p:embed/>
                </p:oleObj>
              </mc:Choice>
              <mc:Fallback>
                <p:oleObj name="公式" r:id="rId12" imgW="381000" imgH="22860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44008" y="2143116"/>
                        <a:ext cx="8890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9"/>
          <p:cNvGraphicFramePr>
            <a:graphicFrameLocks noChangeAspect="1"/>
          </p:cNvGraphicFramePr>
          <p:nvPr>
            <p:extLst>
              <p:ext uri="{D42A27DB-BD31-4B8C-83A1-F6EECF244321}">
                <p14:modId xmlns:p14="http://schemas.microsoft.com/office/powerpoint/2010/main" val="3581112618"/>
              </p:ext>
            </p:extLst>
          </p:nvPr>
        </p:nvGraphicFramePr>
        <p:xfrm>
          <a:off x="5334000" y="3424039"/>
          <a:ext cx="1219200" cy="609600"/>
        </p:xfrm>
        <a:graphic>
          <a:graphicData uri="http://schemas.openxmlformats.org/presentationml/2006/ole">
            <mc:AlternateContent xmlns:mc="http://schemas.openxmlformats.org/markup-compatibility/2006">
              <mc:Choice xmlns:v="urn:schemas-microsoft-com:vml" Requires="v">
                <p:oleObj spid="_x0000_s41752" r:id="rId14" imgW="380835" imgH="190417" progId="Equation.DSMT4">
                  <p:embed/>
                </p:oleObj>
              </mc:Choice>
              <mc:Fallback>
                <p:oleObj r:id="rId14" imgW="380835" imgH="190417" progId="Equation.DSMT4">
                  <p:embed/>
                  <p:pic>
                    <p:nvPicPr>
                      <p:cNvPr id="0" name="Object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334000" y="3424039"/>
                        <a:ext cx="12192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1"/>
          <p:cNvGraphicFramePr>
            <a:graphicFrameLocks noChangeAspect="1"/>
          </p:cNvGraphicFramePr>
          <p:nvPr>
            <p:extLst>
              <p:ext uri="{D42A27DB-BD31-4B8C-83A1-F6EECF244321}">
                <p14:modId xmlns:p14="http://schemas.microsoft.com/office/powerpoint/2010/main" val="1350271690"/>
              </p:ext>
            </p:extLst>
          </p:nvPr>
        </p:nvGraphicFramePr>
        <p:xfrm>
          <a:off x="1447800" y="4144119"/>
          <a:ext cx="542925" cy="571500"/>
        </p:xfrm>
        <a:graphic>
          <a:graphicData uri="http://schemas.openxmlformats.org/presentationml/2006/ole">
            <mc:AlternateContent xmlns:mc="http://schemas.openxmlformats.org/markup-compatibility/2006">
              <mc:Choice xmlns:v="urn:schemas-microsoft-com:vml" Requires="v">
                <p:oleObj spid="_x0000_s41753" r:id="rId16" imgW="177646" imgH="190335" progId="Equation.DSMT4">
                  <p:embed/>
                </p:oleObj>
              </mc:Choice>
              <mc:Fallback>
                <p:oleObj r:id="rId16" imgW="177646" imgH="190335"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447800" y="4144119"/>
                        <a:ext cx="542925"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Rectangle 22"/>
          <p:cNvSpPr>
            <a:spLocks noChangeArrowheads="1"/>
          </p:cNvSpPr>
          <p:nvPr/>
        </p:nvSpPr>
        <p:spPr bwMode="auto">
          <a:xfrm>
            <a:off x="1905000" y="4206032"/>
            <a:ext cx="2819400" cy="519112"/>
          </a:xfrm>
          <a:prstGeom prst="rect">
            <a:avLst/>
          </a:prstGeom>
          <a:noFill/>
          <a:ln w="9525">
            <a:noFill/>
            <a:miter lim="800000"/>
            <a:headEnd/>
            <a:tailEnd/>
          </a:ln>
          <a:effectLst/>
        </p:spPr>
        <p:txBody>
          <a:bodyPr anchor="ctr">
            <a:spAutoFit/>
          </a:bodyPr>
          <a:lstStyle/>
          <a:p>
            <a:r>
              <a:rPr lang="zh-CN" altLang="en-US" sz="2800" dirty="0">
                <a:latin typeface="微软雅黑" pitchFamily="34" charset="-122"/>
                <a:ea typeface="微软雅黑" pitchFamily="34" charset="-122"/>
                <a:cs typeface="Times New Roman" pitchFamily="18" charset="0"/>
              </a:rPr>
              <a:t>与工质性质无关。 </a:t>
            </a:r>
          </a:p>
        </p:txBody>
      </p:sp>
      <p:grpSp>
        <p:nvGrpSpPr>
          <p:cNvPr id="28" name="Group 24"/>
          <p:cNvGrpSpPr>
            <a:grpSpLocks/>
          </p:cNvGrpSpPr>
          <p:nvPr/>
        </p:nvGrpSpPr>
        <p:grpSpPr bwMode="auto">
          <a:xfrm>
            <a:off x="762000" y="4144119"/>
            <a:ext cx="1169988" cy="576263"/>
            <a:chOff x="839" y="3385"/>
            <a:chExt cx="737" cy="363"/>
          </a:xfrm>
        </p:grpSpPr>
        <p:sp>
          <p:nvSpPr>
            <p:cNvPr id="29" name="Rectangle 25"/>
            <p:cNvSpPr>
              <a:spLocks noChangeArrowheads="1"/>
            </p:cNvSpPr>
            <p:nvPr/>
          </p:nvSpPr>
          <p:spPr bwMode="auto">
            <a:xfrm>
              <a:off x="839" y="3385"/>
              <a:ext cx="341" cy="327"/>
            </a:xfrm>
            <a:prstGeom prst="rect">
              <a:avLst/>
            </a:prstGeom>
            <a:noFill/>
            <a:ln w="9525" algn="ctr">
              <a:noFill/>
              <a:miter lim="800000"/>
              <a:headEnd/>
              <a:tailEnd/>
            </a:ln>
            <a:effectLst/>
          </p:spPr>
          <p:txBody>
            <a:bodyPr wrap="none" anchor="ctr">
              <a:spAutoFit/>
            </a:bodyPr>
            <a:lstStyle/>
            <a:p>
              <a:r>
                <a:rPr lang="en-US" altLang="zh-CN" sz="2800" dirty="0">
                  <a:latin typeface="微软雅黑" pitchFamily="34" charset="-122"/>
                  <a:ea typeface="微软雅黑" pitchFamily="34" charset="-122"/>
                  <a:cs typeface="Times New Roman" pitchFamily="18" charset="0"/>
                </a:rPr>
                <a:t>④</a:t>
              </a:r>
              <a:endParaRPr lang="en-US" altLang="zh-CN" sz="2800" dirty="0">
                <a:solidFill>
                  <a:srgbClr val="000000"/>
                </a:solidFill>
                <a:latin typeface="微软雅黑" pitchFamily="34" charset="-122"/>
                <a:ea typeface="微软雅黑" pitchFamily="34" charset="-122"/>
                <a:cs typeface="Times New Roman" pitchFamily="18" charset="0"/>
              </a:endParaRPr>
            </a:p>
          </p:txBody>
        </p:sp>
        <p:graphicFrame>
          <p:nvGraphicFramePr>
            <p:cNvPr id="30" name="Object 26"/>
            <p:cNvGraphicFramePr>
              <a:graphicFrameLocks noChangeAspect="1"/>
            </p:cNvGraphicFramePr>
            <p:nvPr/>
          </p:nvGraphicFramePr>
          <p:xfrm>
            <a:off x="1261" y="3455"/>
            <a:ext cx="271" cy="117"/>
          </p:xfrm>
          <a:graphic>
            <a:graphicData uri="http://schemas.openxmlformats.org/presentationml/2006/ole">
              <mc:AlternateContent xmlns:mc="http://schemas.openxmlformats.org/markup-compatibility/2006">
                <mc:Choice xmlns:v="urn:schemas-microsoft-com:vml" Requires="v">
                  <p:oleObj spid="_x0000_s41754" name="公式" r:id="rId18" imgW="202848" imgH="88746" progId="Equation.3">
                    <p:embed/>
                  </p:oleObj>
                </mc:Choice>
                <mc:Fallback>
                  <p:oleObj name="公式" r:id="rId18" imgW="202848" imgH="88746" progId="Equation.3">
                    <p:embed/>
                    <p:pic>
                      <p:nvPicPr>
                        <p:cNvPr id="0" name="Object 2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261" y="3455"/>
                          <a:ext cx="271" cy="1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Rectangle 27"/>
            <p:cNvSpPr>
              <a:spLocks noChangeArrowheads="1"/>
            </p:cNvSpPr>
            <p:nvPr/>
          </p:nvSpPr>
          <p:spPr bwMode="auto">
            <a:xfrm>
              <a:off x="1460" y="3421"/>
              <a:ext cx="116" cy="327"/>
            </a:xfrm>
            <a:prstGeom prst="rect">
              <a:avLst/>
            </a:prstGeom>
            <a:noFill/>
            <a:ln w="9525" algn="ctr">
              <a:noFill/>
              <a:miter lim="800000"/>
              <a:headEnd/>
              <a:tailEnd/>
            </a:ln>
            <a:effectLst/>
          </p:spPr>
          <p:txBody>
            <a:bodyPr wrap="none" anchor="ctr">
              <a:spAutoFit/>
            </a:bodyPr>
            <a:lstStyle/>
            <a:p>
              <a:endParaRPr lang="zh-CN" altLang="zh-CN" sz="2800">
                <a:solidFill>
                  <a:srgbClr val="000000"/>
                </a:solidFill>
                <a:latin typeface="微软雅黑" pitchFamily="34" charset="-122"/>
                <a:ea typeface="微软雅黑" pitchFamily="34" charset="-122"/>
                <a:cs typeface="Times New Roman" pitchFamily="18" charset="0"/>
              </a:endParaRPr>
            </a:p>
          </p:txBody>
        </p:sp>
      </p:grpSp>
      <p:graphicFrame>
        <p:nvGraphicFramePr>
          <p:cNvPr id="40971" name="Object 15"/>
          <p:cNvGraphicFramePr>
            <a:graphicFrameLocks noChangeAspect="1"/>
          </p:cNvGraphicFramePr>
          <p:nvPr>
            <p:extLst>
              <p:ext uri="{D42A27DB-BD31-4B8C-83A1-F6EECF244321}">
                <p14:modId xmlns:p14="http://schemas.microsoft.com/office/powerpoint/2010/main" val="1537888602"/>
              </p:ext>
            </p:extLst>
          </p:nvPr>
        </p:nvGraphicFramePr>
        <p:xfrm>
          <a:off x="6719788" y="1412908"/>
          <a:ext cx="444500" cy="533400"/>
        </p:xfrm>
        <a:graphic>
          <a:graphicData uri="http://schemas.openxmlformats.org/presentationml/2006/ole">
            <mc:AlternateContent xmlns:mc="http://schemas.openxmlformats.org/markup-compatibility/2006">
              <mc:Choice xmlns:v="urn:schemas-microsoft-com:vml" Requires="v">
                <p:oleObj spid="_x0000_s41755" name="公式" r:id="rId20" imgW="190500" imgH="228600" progId="Equation.3">
                  <p:embed/>
                </p:oleObj>
              </mc:Choice>
              <mc:Fallback>
                <p:oleObj name="公式" r:id="rId20" imgW="190500" imgH="228600" progId="Equation.3">
                  <p:embed/>
                  <p:pic>
                    <p:nvPicPr>
                      <p:cNvPr id="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19788" y="1412908"/>
                        <a:ext cx="444500"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矩形 3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14</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autoUpdateAnimBg="0"/>
      <p:bldP spid="20" grpId="0"/>
      <p:bldP spid="23" grpId="0"/>
      <p:bldP spid="2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Rectangle 2"/>
          <p:cNvSpPr>
            <a:spLocks noChangeArrowheads="1"/>
          </p:cNvSpPr>
          <p:nvPr/>
        </p:nvSpPr>
        <p:spPr bwMode="auto">
          <a:xfrm>
            <a:off x="467544" y="1559923"/>
            <a:ext cx="8208912" cy="3453253"/>
          </a:xfrm>
          <a:prstGeom prst="rect">
            <a:avLst/>
          </a:prstGeom>
          <a:noFill/>
          <a:ln w="9525">
            <a:noFill/>
            <a:miter lim="800000"/>
            <a:headEnd/>
            <a:tailEnd/>
          </a:ln>
          <a:effectLst/>
        </p:spPr>
        <p:txBody>
          <a:bodyPr wrap="square" anchor="ctr">
            <a:spAutoFit/>
          </a:bodyPr>
          <a:lstStyle/>
          <a:p>
            <a:pPr>
              <a:lnSpc>
                <a:spcPct val="130000"/>
              </a:lnSpc>
            </a:pPr>
            <a:r>
              <a:rPr lang="zh-CN" altLang="en-US" sz="2800" dirty="0">
                <a:latin typeface="微软雅黑" pitchFamily="34" charset="-122"/>
                <a:ea typeface="微软雅黑" pitchFamily="34" charset="-122"/>
                <a:cs typeface="Times New Roman" pitchFamily="18" charset="0"/>
              </a:rPr>
              <a:t>     ①</a:t>
            </a:r>
            <a:r>
              <a:rPr lang="zh-CN" altLang="en-US" sz="2800" dirty="0">
                <a:latin typeface="Times New Roman" pitchFamily="18" charset="0"/>
                <a:cs typeface="Times New Roman" pitchFamily="18" charset="0"/>
              </a:rPr>
              <a:t>  </a:t>
            </a:r>
            <a:r>
              <a:rPr lang="zh-CN" altLang="en-US" sz="2800" dirty="0">
                <a:latin typeface="微软雅黑" pitchFamily="34" charset="-122"/>
                <a:ea typeface="微软雅黑" pitchFamily="34" charset="-122"/>
                <a:cs typeface="Times New Roman" pitchFamily="18" charset="0"/>
              </a:rPr>
              <a:t>制冷系数和供热系数也只取决于</a:t>
            </a:r>
            <a:r>
              <a:rPr lang="en-US" altLang="zh-CN" sz="2800" b="1" i="1" dirty="0">
                <a:latin typeface="Times New Roman" pitchFamily="18" charset="0"/>
                <a:cs typeface="Times New Roman" pitchFamily="18" charset="0"/>
              </a:rPr>
              <a:t>T</a:t>
            </a:r>
            <a:r>
              <a:rPr lang="en-US" altLang="zh-CN" sz="2800" b="1" baseline="-30000" dirty="0">
                <a:latin typeface="Times New Roman" pitchFamily="18" charset="0"/>
                <a:cs typeface="Times New Roman" pitchFamily="18" charset="0"/>
              </a:rPr>
              <a:t>1</a:t>
            </a:r>
            <a:r>
              <a:rPr lang="zh-CN" altLang="en-US" sz="2800" dirty="0">
                <a:latin typeface="Times New Roman" panose="02020603050405020304" pitchFamily="18" charset="0"/>
                <a:ea typeface="微软雅黑" pitchFamily="34" charset="-122"/>
                <a:cs typeface="Times New Roman" panose="02020603050405020304" pitchFamily="18" charset="0"/>
              </a:rPr>
              <a:t>和</a:t>
            </a:r>
            <a:r>
              <a:rPr lang="en-US" altLang="zh-CN" sz="2800" b="1" i="1" dirty="0">
                <a:latin typeface="Times New Roman" pitchFamily="18" charset="0"/>
                <a:cs typeface="Times New Roman" pitchFamily="18" charset="0"/>
              </a:rPr>
              <a:t>T</a:t>
            </a:r>
            <a:r>
              <a:rPr lang="en-US" altLang="zh-CN" sz="2800" b="1" baseline="-30000" dirty="0">
                <a:latin typeface="Times New Roman" pitchFamily="18" charset="0"/>
                <a:cs typeface="Times New Roman" pitchFamily="18" charset="0"/>
              </a:rPr>
              <a:t>2</a:t>
            </a:r>
            <a:r>
              <a:rPr lang="zh-CN" altLang="en-US" sz="2800" dirty="0">
                <a:latin typeface="微软雅黑" pitchFamily="34" charset="-122"/>
                <a:ea typeface="微软雅黑" pitchFamily="34" charset="-122"/>
                <a:cs typeface="Times New Roman" pitchFamily="18" charset="0"/>
              </a:rPr>
              <a:t>。</a:t>
            </a:r>
            <a:r>
              <a:rPr lang="en-US" altLang="zh-CN" sz="2800" b="1" i="1" dirty="0">
                <a:latin typeface="Times New Roman" pitchFamily="18" charset="0"/>
                <a:cs typeface="Times New Roman" pitchFamily="18" charset="0"/>
              </a:rPr>
              <a:t>T</a:t>
            </a:r>
            <a:r>
              <a:rPr lang="en-US" altLang="zh-CN" sz="2800" b="1" baseline="-30000" dirty="0">
                <a:latin typeface="Times New Roman" pitchFamily="18" charset="0"/>
                <a:cs typeface="Times New Roman" pitchFamily="18" charset="0"/>
              </a:rPr>
              <a:t>2</a:t>
            </a:r>
            <a:r>
              <a:rPr lang="en-US" altLang="zh-CN" sz="2800" dirty="0">
                <a:latin typeface="Times New Roman" panose="02020603050405020304" pitchFamily="18" charset="0"/>
                <a:cs typeface="Times New Roman" panose="02020603050405020304" pitchFamily="18" charset="0"/>
              </a:rPr>
              <a:t>↑</a:t>
            </a:r>
            <a:r>
              <a:rPr lang="zh-CN" altLang="en-US" sz="2800" dirty="0">
                <a:latin typeface="微软雅黑" pitchFamily="34" charset="-122"/>
                <a:ea typeface="微软雅黑" pitchFamily="34" charset="-122"/>
                <a:cs typeface="Times New Roman" pitchFamily="18" charset="0"/>
              </a:rPr>
              <a:t>或</a:t>
            </a:r>
            <a:r>
              <a:rPr lang="en-US" altLang="zh-CN" sz="2800" b="1" i="1" dirty="0">
                <a:latin typeface="Times New Roman" pitchFamily="18" charset="0"/>
                <a:cs typeface="Times New Roman" pitchFamily="18" charset="0"/>
              </a:rPr>
              <a:t>T</a:t>
            </a:r>
            <a:r>
              <a:rPr lang="en-US" altLang="zh-CN" sz="2800" b="1" baseline="-30000" dirty="0">
                <a:latin typeface="Times New Roman" pitchFamily="18" charset="0"/>
                <a:cs typeface="Times New Roman" pitchFamily="18" charset="0"/>
              </a:rPr>
              <a:t>1</a:t>
            </a:r>
            <a:r>
              <a:rPr lang="en-US" altLang="zh-CN" sz="2800" dirty="0">
                <a:latin typeface="Times New Roman" panose="02020603050405020304" pitchFamily="18" charset="0"/>
                <a:cs typeface="Times New Roman" panose="02020603050405020304" pitchFamily="18" charset="0"/>
              </a:rPr>
              <a:t>↓</a:t>
            </a:r>
            <a:r>
              <a:rPr lang="en-US" altLang="zh-CN" sz="2800" dirty="0"/>
              <a:t> →</a:t>
            </a:r>
            <a:r>
              <a:rPr lang="zh-CN" altLang="en-US" sz="2800" dirty="0">
                <a:latin typeface="微软雅黑" pitchFamily="34" charset="-122"/>
                <a:ea typeface="微软雅黑" pitchFamily="34" charset="-122"/>
                <a:cs typeface="Times New Roman" pitchFamily="18" charset="0"/>
              </a:rPr>
              <a:t>循环的耗功量</a:t>
            </a:r>
            <a:r>
              <a:rPr lang="zh-CN" altLang="en-US" sz="2800" dirty="0">
                <a:latin typeface="Times New Roman" panose="02020603050405020304" pitchFamily="18" charset="0"/>
                <a:cs typeface="Times New Roman" panose="02020603050405020304" pitchFamily="18" charset="0"/>
              </a:rPr>
              <a:t>↓</a:t>
            </a:r>
            <a:r>
              <a:rPr lang="zh-CN" altLang="en-US" sz="2800" dirty="0"/>
              <a:t> </a:t>
            </a:r>
            <a:r>
              <a:rPr lang="zh-CN" altLang="en-US" sz="2800" dirty="0">
                <a:latin typeface="微软雅黑" pitchFamily="34" charset="-122"/>
                <a:ea typeface="微软雅黑" pitchFamily="34" charset="-122"/>
                <a:cs typeface="Times New Roman" pitchFamily="18" charset="0"/>
              </a:rPr>
              <a:t>，因而经济性</a:t>
            </a:r>
            <a:r>
              <a:rPr lang="zh-CN" altLang="en-US" sz="2800" dirty="0">
                <a:latin typeface="Times New Roman" panose="02020603050405020304" pitchFamily="18" charset="0"/>
                <a:cs typeface="Times New Roman" panose="02020603050405020304" pitchFamily="18" charset="0"/>
              </a:rPr>
              <a:t>↑</a:t>
            </a:r>
            <a:r>
              <a:rPr lang="zh-CN" altLang="en-US" sz="2800" dirty="0"/>
              <a:t> </a:t>
            </a:r>
            <a:r>
              <a:rPr lang="zh-CN" altLang="en-US" sz="2800" dirty="0">
                <a:latin typeface="Times New Roman" pitchFamily="18" charset="0"/>
                <a:cs typeface="Times New Roman" pitchFamily="18" charset="0"/>
              </a:rPr>
              <a:t>；</a:t>
            </a:r>
            <a:endParaRPr lang="zh-CN" altLang="en-US" sz="2800" dirty="0"/>
          </a:p>
          <a:p>
            <a:pPr indent="266700" eaLnBrk="0" hangingPunct="0">
              <a:lnSpc>
                <a:spcPct val="130000"/>
              </a:lnSpc>
            </a:pPr>
            <a:r>
              <a:rPr lang="zh-CN" altLang="en-US" sz="2800" dirty="0">
                <a:latin typeface="Times New Roman" pitchFamily="18" charset="0"/>
                <a:cs typeface="Times New Roman" pitchFamily="18" charset="0"/>
              </a:rPr>
              <a:t>   </a:t>
            </a:r>
            <a:r>
              <a:rPr lang="zh-CN" altLang="en-US" sz="2800" dirty="0">
                <a:latin typeface="微软雅黑" pitchFamily="34" charset="-122"/>
                <a:ea typeface="微软雅黑" pitchFamily="34" charset="-122"/>
                <a:cs typeface="Times New Roman" pitchFamily="18" charset="0"/>
              </a:rPr>
              <a:t>②</a:t>
            </a:r>
            <a:r>
              <a:rPr lang="zh-CN" altLang="en-US" sz="2800" dirty="0">
                <a:latin typeface="Times New Roman" pitchFamily="18" charset="0"/>
                <a:cs typeface="Times New Roman" pitchFamily="18" charset="0"/>
              </a:rPr>
              <a:t>  </a:t>
            </a:r>
            <a:r>
              <a:rPr lang="zh-CN" altLang="en-US" sz="2800" dirty="0">
                <a:latin typeface="微软雅黑" pitchFamily="34" charset="-122"/>
                <a:ea typeface="微软雅黑" pitchFamily="34" charset="-122"/>
                <a:cs typeface="Times New Roman" pitchFamily="18" charset="0"/>
              </a:rPr>
              <a:t>制冷系数可以大于</a:t>
            </a:r>
            <a:r>
              <a:rPr lang="en-US" altLang="zh-CN" sz="2800" dirty="0"/>
              <a:t>1</a:t>
            </a:r>
            <a:r>
              <a:rPr lang="zh-CN" altLang="en-US" sz="2800" dirty="0"/>
              <a:t>、</a:t>
            </a:r>
            <a:r>
              <a:rPr lang="zh-CN" altLang="en-US" sz="2800" dirty="0">
                <a:latin typeface="微软雅黑" pitchFamily="34" charset="-122"/>
                <a:ea typeface="微软雅黑" pitchFamily="34" charset="-122"/>
                <a:cs typeface="Times New Roman" pitchFamily="18" charset="0"/>
              </a:rPr>
              <a:t>等于</a:t>
            </a:r>
            <a:r>
              <a:rPr lang="en-US" altLang="zh-CN" sz="2800" dirty="0"/>
              <a:t>1</a:t>
            </a:r>
            <a:r>
              <a:rPr lang="zh-CN" altLang="en-US" sz="2800" dirty="0">
                <a:latin typeface="微软雅黑" pitchFamily="34" charset="-122"/>
                <a:ea typeface="微软雅黑" pitchFamily="34" charset="-122"/>
                <a:cs typeface="Times New Roman" pitchFamily="18" charset="0"/>
              </a:rPr>
              <a:t>或小于</a:t>
            </a:r>
            <a:r>
              <a:rPr lang="en-US" altLang="zh-CN" sz="2800" dirty="0"/>
              <a:t>1</a:t>
            </a:r>
            <a:r>
              <a:rPr lang="zh-CN" altLang="en-US" sz="2800" dirty="0">
                <a:latin typeface="微软雅黑" pitchFamily="34" charset="-122"/>
                <a:ea typeface="微软雅黑" pitchFamily="34" charset="-122"/>
                <a:cs typeface="Times New Roman" pitchFamily="18" charset="0"/>
              </a:rPr>
              <a:t>，实际设计时，</a:t>
            </a:r>
            <a:r>
              <a:rPr lang="en-US" altLang="zh-CN" sz="2800" b="1" i="1" dirty="0">
                <a:latin typeface="Times New Roman" pitchFamily="18" charset="0"/>
                <a:cs typeface="Times New Roman" panose="02020603050405020304" pitchFamily="18" charset="0"/>
              </a:rPr>
              <a:t>T</a:t>
            </a:r>
            <a:r>
              <a:rPr lang="en-US" altLang="zh-CN" sz="2800" b="1" baseline="-25000" dirty="0">
                <a:latin typeface="Times New Roman" pitchFamily="18" charset="0"/>
                <a:cs typeface="Times New Roman" panose="02020603050405020304" pitchFamily="18" charset="0"/>
              </a:rPr>
              <a:t>2</a:t>
            </a:r>
            <a:r>
              <a:rPr lang="zh-CN" altLang="en-US" sz="2800" b="1" dirty="0">
                <a:latin typeface="Times New Roman" pitchFamily="18" charset="0"/>
                <a:cs typeface="Times New Roman" panose="02020603050405020304" pitchFamily="18" charset="0"/>
              </a:rPr>
              <a:t>＞</a:t>
            </a:r>
            <a:r>
              <a:rPr lang="en-US" altLang="zh-CN" sz="2800" b="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a:t>
            </a:r>
            <a:r>
              <a:rPr lang="en-US" altLang="zh-CN" sz="2800" b="1" baseline="-25000" dirty="0">
                <a:latin typeface="Times New Roman" pitchFamily="18" charset="0"/>
                <a:cs typeface="Times New Roman" panose="02020603050405020304" pitchFamily="18" charset="0"/>
              </a:rPr>
              <a:t>1</a:t>
            </a:r>
            <a:r>
              <a:rPr lang="zh-CN" altLang="en-US" sz="2800" b="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a:t>
            </a:r>
            <a:r>
              <a:rPr lang="en-US" altLang="zh-CN" sz="2800" b="1" baseline="-25000" dirty="0">
                <a:latin typeface="Times New Roman" pitchFamily="18" charset="0"/>
                <a:cs typeface="Times New Roman" panose="02020603050405020304" pitchFamily="18" charset="0"/>
              </a:rPr>
              <a:t>2</a:t>
            </a:r>
            <a:r>
              <a:rPr lang="en-US" altLang="zh-CN" sz="2800" b="1" dirty="0">
                <a:latin typeface="Times New Roman" panose="02020603050405020304" pitchFamily="18" charset="0"/>
                <a:cs typeface="Times New Roman" panose="02020603050405020304" pitchFamily="18" charset="0"/>
              </a:rPr>
              <a:t>)</a:t>
            </a:r>
            <a:r>
              <a:rPr lang="zh-CN" altLang="en-US" sz="2800" dirty="0">
                <a:latin typeface="微软雅黑" pitchFamily="34" charset="-122"/>
                <a:ea typeface="微软雅黑" pitchFamily="34" charset="-122"/>
                <a:cs typeface="Times New Roman" pitchFamily="18" charset="0"/>
              </a:rPr>
              <a:t>，因此，</a:t>
            </a:r>
            <a:r>
              <a:rPr lang="en-US" altLang="zh-CN" sz="2800" b="1" i="1" dirty="0">
                <a:latin typeface="Times New Roman" pitchFamily="18" charset="0"/>
                <a:cs typeface="Times New Roman" pitchFamily="18" charset="0"/>
              </a:rPr>
              <a:t>ε</a:t>
            </a:r>
            <a:r>
              <a:rPr lang="en-US" altLang="zh-CN" sz="2800" i="1" dirty="0">
                <a:latin typeface="Times New Roman" pitchFamily="18" charset="0"/>
                <a:cs typeface="Times New Roman" pitchFamily="18" charset="0"/>
              </a:rPr>
              <a:t> </a:t>
            </a:r>
            <a:r>
              <a:rPr lang="zh-CN" altLang="en-US" sz="2800" dirty="0">
                <a:latin typeface="微软雅黑" pitchFamily="34" charset="-122"/>
                <a:ea typeface="微软雅黑" pitchFamily="34" charset="-122"/>
                <a:cs typeface="Times New Roman" pitchFamily="18" charset="0"/>
              </a:rPr>
              <a:t>通常大于</a:t>
            </a:r>
            <a:r>
              <a:rPr lang="en-US" altLang="zh-CN" sz="2800" dirty="0"/>
              <a:t>1</a:t>
            </a:r>
            <a:r>
              <a:rPr lang="zh-CN" altLang="en-US" sz="2800" dirty="0">
                <a:latin typeface="微软雅黑" pitchFamily="34" charset="-122"/>
                <a:ea typeface="微软雅黑" pitchFamily="34" charset="-122"/>
                <a:cs typeface="Times New Roman" pitchFamily="18" charset="0"/>
              </a:rPr>
              <a:t>；</a:t>
            </a:r>
          </a:p>
          <a:p>
            <a:pPr indent="266700" eaLnBrk="0" hangingPunct="0">
              <a:lnSpc>
                <a:spcPct val="130000"/>
              </a:lnSpc>
            </a:pPr>
            <a:r>
              <a:rPr lang="zh-CN" altLang="en-US" sz="2800" dirty="0"/>
              <a:t>   </a:t>
            </a:r>
            <a:r>
              <a:rPr lang="zh-CN" altLang="en-US" sz="2800" dirty="0">
                <a:latin typeface="微软雅黑" pitchFamily="34" charset="-122"/>
                <a:ea typeface="微软雅黑" pitchFamily="34" charset="-122"/>
                <a:cs typeface="Times New Roman" pitchFamily="18" charset="0"/>
              </a:rPr>
              <a:t>③</a:t>
            </a:r>
            <a:r>
              <a:rPr lang="zh-CN" altLang="en-US" sz="2800" dirty="0"/>
              <a:t>  </a:t>
            </a:r>
            <a:r>
              <a:rPr lang="zh-CN" altLang="en-US" sz="2800" dirty="0">
                <a:latin typeface="微软雅黑" pitchFamily="34" charset="-122"/>
                <a:ea typeface="微软雅黑" pitchFamily="34" charset="-122"/>
                <a:cs typeface="Times New Roman" pitchFamily="18" charset="0"/>
              </a:rPr>
              <a:t>供热系数总是大于</a:t>
            </a:r>
            <a:r>
              <a:rPr lang="en-US" altLang="zh-CN" sz="2800" dirty="0"/>
              <a:t>1</a:t>
            </a:r>
            <a:r>
              <a:rPr lang="zh-CN" altLang="en-US" sz="2800" dirty="0">
                <a:latin typeface="微软雅黑" pitchFamily="34" charset="-122"/>
                <a:ea typeface="微软雅黑" pitchFamily="34" charset="-122"/>
                <a:cs typeface="Times New Roman" pitchFamily="18" charset="0"/>
              </a:rPr>
              <a:t>。当</a:t>
            </a:r>
            <a:r>
              <a:rPr lang="en-US" altLang="zh-CN" sz="2800" b="1" i="1" dirty="0">
                <a:latin typeface="Times New Roman" pitchFamily="18" charset="0"/>
              </a:rPr>
              <a:t>T</a:t>
            </a:r>
            <a:r>
              <a:rPr lang="en-US" altLang="zh-CN" sz="2800" b="1" baseline="-25000" dirty="0">
                <a:latin typeface="Times New Roman" pitchFamily="18" charset="0"/>
              </a:rPr>
              <a:t>1</a:t>
            </a:r>
            <a:r>
              <a:rPr lang="zh-CN" altLang="en-US" sz="2800" b="1" dirty="0">
                <a:latin typeface="Times New Roman" pitchFamily="18" charset="0"/>
              </a:rPr>
              <a:t>、</a:t>
            </a:r>
            <a:r>
              <a:rPr lang="en-US" altLang="zh-CN" sz="2800" b="1" i="1" dirty="0">
                <a:latin typeface="Times New Roman" pitchFamily="18" charset="0"/>
              </a:rPr>
              <a:t>T</a:t>
            </a:r>
            <a:r>
              <a:rPr lang="en-US" altLang="zh-CN" sz="2800" b="1" baseline="-25000" dirty="0">
                <a:latin typeface="Times New Roman" pitchFamily="18" charset="0"/>
              </a:rPr>
              <a:t>2</a:t>
            </a:r>
            <a:r>
              <a:rPr lang="zh-CN" altLang="en-US" sz="2800" dirty="0">
                <a:latin typeface="微软雅黑" pitchFamily="34" charset="-122"/>
                <a:ea typeface="微软雅黑" pitchFamily="34" charset="-122"/>
                <a:cs typeface="Times New Roman" pitchFamily="18" charset="0"/>
              </a:rPr>
              <a:t>不变时，制冷系数和供热系数之间的关系为</a:t>
            </a:r>
          </a:p>
        </p:txBody>
      </p:sp>
      <p:graphicFrame>
        <p:nvGraphicFramePr>
          <p:cNvPr id="32" name="Object 3"/>
          <p:cNvGraphicFramePr>
            <a:graphicFrameLocks noChangeAspect="1"/>
          </p:cNvGraphicFramePr>
          <p:nvPr>
            <p:extLst>
              <p:ext uri="{D42A27DB-BD31-4B8C-83A1-F6EECF244321}">
                <p14:modId xmlns:p14="http://schemas.microsoft.com/office/powerpoint/2010/main" val="1916761574"/>
              </p:ext>
            </p:extLst>
          </p:nvPr>
        </p:nvGraphicFramePr>
        <p:xfrm>
          <a:off x="3276601" y="4931890"/>
          <a:ext cx="1655439" cy="585342"/>
        </p:xfrm>
        <a:graphic>
          <a:graphicData uri="http://schemas.openxmlformats.org/presentationml/2006/ole">
            <mc:AlternateContent xmlns:mc="http://schemas.openxmlformats.org/markup-compatibility/2006">
              <mc:Choice xmlns:v="urn:schemas-microsoft-com:vml" Requires="v">
                <p:oleObj spid="_x0000_s42079" name="公式" r:id="rId4" imgW="647700" imgH="228600" progId="Equation.DSMT4">
                  <p:embed/>
                </p:oleObj>
              </mc:Choice>
              <mc:Fallback>
                <p:oleObj name="公式" r:id="rId4" imgW="647700"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1" y="4931890"/>
                        <a:ext cx="1655439" cy="585342"/>
                      </a:xfrm>
                      <a:prstGeom prst="rect">
                        <a:avLst/>
                      </a:prstGeom>
                      <a:noFill/>
                    </p:spPr>
                  </p:pic>
                </p:oleObj>
              </mc:Fallback>
            </mc:AlternateContent>
          </a:graphicData>
        </a:graphic>
      </p:graphicFrame>
      <p:grpSp>
        <p:nvGrpSpPr>
          <p:cNvPr id="33" name="Group 4"/>
          <p:cNvGrpSpPr>
            <a:grpSpLocks/>
          </p:cNvGrpSpPr>
          <p:nvPr/>
        </p:nvGrpSpPr>
        <p:grpSpPr bwMode="auto">
          <a:xfrm>
            <a:off x="611560" y="5481656"/>
            <a:ext cx="7631113" cy="519113"/>
            <a:chOff x="1207" y="3421"/>
            <a:chExt cx="4807" cy="327"/>
          </a:xfrm>
        </p:grpSpPr>
        <p:sp>
          <p:nvSpPr>
            <p:cNvPr id="34" name="Rectangle 5"/>
            <p:cNvSpPr>
              <a:spLocks noChangeArrowheads="1"/>
            </p:cNvSpPr>
            <p:nvPr/>
          </p:nvSpPr>
          <p:spPr bwMode="auto">
            <a:xfrm>
              <a:off x="1207" y="3421"/>
              <a:ext cx="565" cy="327"/>
            </a:xfrm>
            <a:prstGeom prst="rect">
              <a:avLst/>
            </a:prstGeom>
            <a:noFill/>
            <a:ln w="9525" algn="ctr">
              <a:noFill/>
              <a:miter lim="800000"/>
              <a:headEnd/>
              <a:tailEnd/>
            </a:ln>
            <a:effectLst/>
          </p:spPr>
          <p:txBody>
            <a:bodyPr wrap="none" anchor="ctr">
              <a:spAutoFit/>
            </a:bodyPr>
            <a:lstStyle/>
            <a:p>
              <a:r>
                <a:rPr lang="en-US" altLang="zh-CN" sz="2800" dirty="0">
                  <a:latin typeface="Times New Roman" pitchFamily="18" charset="0"/>
                  <a:cs typeface="Times New Roman" pitchFamily="18" charset="0"/>
                </a:rPr>
                <a:t>    </a:t>
              </a:r>
              <a:r>
                <a:rPr lang="en-US" altLang="zh-CN" sz="2800" dirty="0">
                  <a:latin typeface="微软雅黑" pitchFamily="34" charset="-122"/>
                  <a:ea typeface="微软雅黑" pitchFamily="34" charset="-122"/>
                  <a:cs typeface="Times New Roman" pitchFamily="18" charset="0"/>
                </a:rPr>
                <a:t>④</a:t>
              </a:r>
            </a:p>
          </p:txBody>
        </p:sp>
        <p:sp>
          <p:nvSpPr>
            <p:cNvPr id="36" name="Rectangle 7"/>
            <p:cNvSpPr>
              <a:spLocks noChangeArrowheads="1"/>
            </p:cNvSpPr>
            <p:nvPr/>
          </p:nvSpPr>
          <p:spPr bwMode="auto">
            <a:xfrm>
              <a:off x="1792" y="3421"/>
              <a:ext cx="4222" cy="327"/>
            </a:xfrm>
            <a:prstGeom prst="rect">
              <a:avLst/>
            </a:prstGeom>
            <a:noFill/>
            <a:ln w="9525" algn="ctr">
              <a:noFill/>
              <a:miter lim="800000"/>
              <a:headEnd/>
              <a:tailEnd/>
            </a:ln>
            <a:effectLst/>
          </p:spPr>
          <p:txBody>
            <a:bodyPr wrap="none" anchor="ctr">
              <a:spAutoFit/>
            </a:bodyPr>
            <a:lstStyle/>
            <a:p>
              <a:r>
                <a:rPr lang="zh-CN" altLang="en-US" sz="2800" dirty="0">
                  <a:latin typeface="微软雅黑" pitchFamily="34" charset="-122"/>
                  <a:ea typeface="微软雅黑" pitchFamily="34" charset="-122"/>
                  <a:cs typeface="Times New Roman" pitchFamily="18" charset="0"/>
                </a:rPr>
                <a:t>制冷系数和供热系数与工质的性质无关。 </a:t>
              </a:r>
            </a:p>
          </p:txBody>
        </p:sp>
      </p:grpSp>
      <p:sp>
        <p:nvSpPr>
          <p:cNvPr id="7" name="矩形 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15</a:t>
            </a:r>
            <a:endParaRPr lang="zh-CN" altLang="en-US" sz="2000" b="1" dirty="0">
              <a:solidFill>
                <a:schemeClr val="tx1"/>
              </a:solidFill>
              <a:latin typeface="黑体" pitchFamily="49" charset="-122"/>
              <a:ea typeface="黑体" pitchFamily="49" charset="-122"/>
            </a:endParaRPr>
          </a:p>
        </p:txBody>
      </p:sp>
      <p:sp>
        <p:nvSpPr>
          <p:cNvPr id="8" name="Rectangle 8"/>
          <p:cNvSpPr>
            <a:spLocks noChangeArrowheads="1"/>
          </p:cNvSpPr>
          <p:nvPr/>
        </p:nvSpPr>
        <p:spPr bwMode="auto">
          <a:xfrm>
            <a:off x="467544" y="1047418"/>
            <a:ext cx="2190900" cy="52322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nchor="ctr">
            <a:spAutoFit/>
          </a:bodyPr>
          <a:lstStyle/>
          <a:p>
            <a:r>
              <a:rPr lang="zh-CN" altLang="en-US" sz="2800" dirty="0">
                <a:latin typeface="微软雅黑" pitchFamily="34" charset="-122"/>
                <a:ea typeface="微软雅黑" pitchFamily="34" charset="-122"/>
                <a:cs typeface="Times New Roman" pitchFamily="18" charset="0"/>
              </a:rPr>
              <a:t>对于逆循环：</a:t>
            </a:r>
            <a:r>
              <a:rPr lang="zh-CN" altLang="en-US" sz="2800" dirty="0">
                <a:solidFill>
                  <a:srgbClr val="000000"/>
                </a:solidFill>
                <a:latin typeface="微软雅黑" pitchFamily="34" charset="-122"/>
                <a:ea typeface="微软雅黑" pitchFamily="34" charset="-122"/>
                <a:cs typeface="Times New Roman" pitchFamily="18" charset="0"/>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4"/>
          <p:cNvSpPr>
            <a:spLocks noChangeArrowheads="1"/>
          </p:cNvSpPr>
          <p:nvPr/>
        </p:nvSpPr>
        <p:spPr bwMode="auto">
          <a:xfrm>
            <a:off x="285720" y="1000108"/>
            <a:ext cx="2500330" cy="571504"/>
          </a:xfrm>
          <a:prstGeom prst="rect">
            <a:avLst/>
          </a:prstGeom>
          <a:noFill/>
          <a:ln w="9525">
            <a:noFill/>
            <a:miter lim="800000"/>
            <a:headEnd/>
            <a:tailEnd/>
          </a:ln>
          <a:effectLst/>
        </p:spPr>
        <p:txBody>
          <a:bodyPr/>
          <a:lstStyle/>
          <a:p>
            <a:pPr>
              <a:lnSpc>
                <a:spcPct val="120000"/>
              </a:lnSpc>
            </a:pPr>
            <a:r>
              <a:rPr lang="en-US" altLang="zh-CN" sz="2800" dirty="0">
                <a:solidFill>
                  <a:srgbClr val="4B3EEE"/>
                </a:solidFill>
                <a:latin typeface="微软雅黑" pitchFamily="34" charset="-122"/>
                <a:ea typeface="微软雅黑" pitchFamily="34" charset="-122"/>
              </a:rPr>
              <a:t>(2)  </a:t>
            </a:r>
            <a:r>
              <a:rPr lang="zh-CN" altLang="en-US" sz="2800" dirty="0">
                <a:solidFill>
                  <a:srgbClr val="4B3EEE"/>
                </a:solidFill>
                <a:latin typeface="微软雅黑" pitchFamily="34" charset="-122"/>
                <a:ea typeface="微软雅黑" pitchFamily="34" charset="-122"/>
              </a:rPr>
              <a:t>卡诺定理</a:t>
            </a:r>
          </a:p>
        </p:txBody>
      </p:sp>
      <p:sp>
        <p:nvSpPr>
          <p:cNvPr id="9" name="Rectangle 6"/>
          <p:cNvSpPr>
            <a:spLocks noChangeArrowheads="1"/>
          </p:cNvSpPr>
          <p:nvPr/>
        </p:nvSpPr>
        <p:spPr bwMode="auto">
          <a:xfrm>
            <a:off x="357158" y="1518737"/>
            <a:ext cx="8329642" cy="1384995"/>
          </a:xfrm>
          <a:prstGeom prst="rect">
            <a:avLst/>
          </a:prstGeom>
          <a:noFill/>
          <a:ln w="9525" algn="ctr">
            <a:noFill/>
            <a:miter lim="800000"/>
            <a:headEnd/>
            <a:tailEnd/>
          </a:ln>
          <a:effectLst/>
        </p:spPr>
        <p:txBody>
          <a:bodyPr wrap="square" anchor="ctr">
            <a:spAutoFit/>
          </a:bodyPr>
          <a:lstStyle/>
          <a:p>
            <a:pPr>
              <a:lnSpc>
                <a:spcPct val="150000"/>
              </a:lnSpc>
            </a:pPr>
            <a:r>
              <a:rPr lang="en-US" altLang="zh-CN" sz="2800" dirty="0">
                <a:solidFill>
                  <a:srgbClr val="000000"/>
                </a:solidFill>
                <a:latin typeface="微软雅黑" pitchFamily="34" charset="-122"/>
                <a:ea typeface="微软雅黑" pitchFamily="34" charset="-122"/>
              </a:rPr>
              <a:t>① </a:t>
            </a:r>
            <a:r>
              <a:rPr lang="zh-CN" altLang="en-US" sz="2800" dirty="0">
                <a:latin typeface="微软雅黑" pitchFamily="34" charset="-122"/>
                <a:ea typeface="微软雅黑" pitchFamily="34" charset="-122"/>
              </a:rPr>
              <a:t>设：</a:t>
            </a:r>
            <a:r>
              <a:rPr lang="en-US" altLang="zh-CN" sz="2800" b="1" i="1" dirty="0">
                <a:latin typeface="Times New Roman" pitchFamily="18" charset="0"/>
                <a:ea typeface="方正书宋简体" charset="-122"/>
              </a:rPr>
              <a:t>T</a:t>
            </a:r>
            <a:r>
              <a:rPr lang="en-US" altLang="zh-CN" sz="2800" b="1" baseline="-30000" dirty="0">
                <a:latin typeface="Times New Roman" pitchFamily="18" charset="0"/>
                <a:ea typeface="方正书宋简体" charset="-122"/>
              </a:rPr>
              <a:t>1</a:t>
            </a:r>
            <a:r>
              <a:rPr lang="zh-CN" altLang="en-US" sz="2800" b="1" dirty="0">
                <a:latin typeface="Times New Roman" pitchFamily="18" charset="0"/>
                <a:ea typeface="方正书宋简体" charset="-122"/>
              </a:rPr>
              <a:t>＝</a:t>
            </a:r>
            <a:r>
              <a:rPr lang="en-US" altLang="zh-CN" sz="2800" b="1" dirty="0">
                <a:latin typeface="Times New Roman" pitchFamily="18" charset="0"/>
                <a:ea typeface="方正书宋简体" charset="-122"/>
              </a:rPr>
              <a:t>const</a:t>
            </a:r>
            <a:r>
              <a:rPr lang="zh-CN" altLang="en-US" sz="2800" b="1" dirty="0">
                <a:latin typeface="Times New Roman" pitchFamily="18" charset="0"/>
                <a:ea typeface="方正书宋简体" charset="-122"/>
              </a:rPr>
              <a:t>，</a:t>
            </a:r>
            <a:r>
              <a:rPr lang="en-US" altLang="zh-CN" sz="2800" b="1" i="1" dirty="0">
                <a:latin typeface="Times New Roman" pitchFamily="18" charset="0"/>
                <a:ea typeface="方正书宋简体" charset="-122"/>
              </a:rPr>
              <a:t>T</a:t>
            </a:r>
            <a:r>
              <a:rPr lang="en-US" altLang="zh-CN" sz="2800" b="1" baseline="-30000" dirty="0">
                <a:latin typeface="Times New Roman" pitchFamily="18" charset="0"/>
                <a:ea typeface="方正书宋简体" charset="-122"/>
              </a:rPr>
              <a:t>2</a:t>
            </a:r>
            <a:r>
              <a:rPr lang="zh-CN" altLang="en-US" sz="2800" b="1" dirty="0">
                <a:latin typeface="Times New Roman" pitchFamily="18" charset="0"/>
                <a:ea typeface="方正书宋简体" charset="-122"/>
              </a:rPr>
              <a:t>＝</a:t>
            </a:r>
            <a:r>
              <a:rPr lang="en-US" altLang="zh-CN" sz="2800" b="1" dirty="0" err="1">
                <a:latin typeface="Times New Roman" pitchFamily="18" charset="0"/>
                <a:ea typeface="方正书宋简体" charset="-122"/>
              </a:rPr>
              <a:t>const</a:t>
            </a:r>
            <a:r>
              <a:rPr lang="zh-CN" altLang="en-US" sz="2800" b="1" dirty="0">
                <a:latin typeface="Times New Roman" pitchFamily="18" charset="0"/>
                <a:ea typeface="方正书宋简体" charset="-122"/>
              </a:rPr>
              <a:t>，</a:t>
            </a:r>
            <a:r>
              <a:rPr lang="zh-CN" altLang="en-US" sz="2800" dirty="0">
                <a:latin typeface="微软雅黑" pitchFamily="34" charset="-122"/>
                <a:ea typeface="微软雅黑" pitchFamily="34" charset="-122"/>
              </a:rPr>
              <a:t>对在</a:t>
            </a:r>
            <a:r>
              <a:rPr lang="en-US" altLang="zh-CN" sz="2800" b="1" i="1" dirty="0">
                <a:latin typeface="Times New Roman" pitchFamily="18" charset="0"/>
                <a:ea typeface="方正书宋简体" charset="-122"/>
              </a:rPr>
              <a:t>T</a:t>
            </a:r>
            <a:r>
              <a:rPr lang="en-US" altLang="zh-CN" sz="2800" b="1" baseline="-30000" dirty="0">
                <a:latin typeface="Times New Roman" pitchFamily="18" charset="0"/>
                <a:ea typeface="方正书宋简体" charset="-122"/>
              </a:rPr>
              <a:t>1</a:t>
            </a:r>
            <a:r>
              <a:rPr lang="zh-CN" altLang="en-US" sz="2800" b="1" dirty="0">
                <a:latin typeface="Times New Roman" pitchFamily="18" charset="0"/>
                <a:ea typeface="方正书宋简体" charset="-122"/>
              </a:rPr>
              <a:t>、</a:t>
            </a:r>
            <a:r>
              <a:rPr lang="en-US" altLang="zh-CN" sz="2800" b="1" i="1" dirty="0">
                <a:latin typeface="Times New Roman" pitchFamily="18" charset="0"/>
                <a:ea typeface="方正书宋简体" charset="-122"/>
              </a:rPr>
              <a:t>T</a:t>
            </a:r>
            <a:r>
              <a:rPr lang="en-US" altLang="zh-CN" sz="2800" b="1" baseline="-30000" dirty="0">
                <a:latin typeface="Times New Roman" pitchFamily="18" charset="0"/>
                <a:ea typeface="方正书宋简体" charset="-122"/>
              </a:rPr>
              <a:t>2</a:t>
            </a:r>
            <a:r>
              <a:rPr lang="zh-CN" altLang="en-US" sz="2800" dirty="0">
                <a:latin typeface="微软雅黑" pitchFamily="34" charset="-122"/>
                <a:ea typeface="微软雅黑" pitchFamily="34" charset="-122"/>
              </a:rPr>
              <a:t>间工作的所有可逆热机，则有</a:t>
            </a:r>
          </a:p>
        </p:txBody>
      </p:sp>
      <p:sp>
        <p:nvSpPr>
          <p:cNvPr id="11" name="Rectangle 12"/>
          <p:cNvSpPr>
            <a:spLocks noChangeArrowheads="1"/>
          </p:cNvSpPr>
          <p:nvPr/>
        </p:nvSpPr>
        <p:spPr bwMode="auto">
          <a:xfrm>
            <a:off x="395258" y="3534961"/>
            <a:ext cx="8253442" cy="1384995"/>
          </a:xfrm>
          <a:prstGeom prst="rect">
            <a:avLst/>
          </a:prstGeom>
          <a:noFill/>
          <a:ln w="9525" algn="ctr">
            <a:noFill/>
            <a:miter lim="800000"/>
            <a:headEnd/>
            <a:tailEnd/>
          </a:ln>
          <a:effectLst/>
        </p:spPr>
        <p:txBody>
          <a:bodyPr wrap="square" anchor="ctr">
            <a:spAutoFit/>
          </a:bodyPr>
          <a:lstStyle/>
          <a:p>
            <a:pPr>
              <a:lnSpc>
                <a:spcPct val="150000"/>
              </a:lnSpc>
            </a:pPr>
            <a:r>
              <a:rPr lang="en-US" altLang="zh-CN" sz="2800" dirty="0">
                <a:solidFill>
                  <a:prstClr val="black"/>
                </a:solidFill>
                <a:latin typeface="微软雅黑" pitchFamily="34" charset="-122"/>
                <a:ea typeface="微软雅黑" pitchFamily="34" charset="-122"/>
              </a:rPr>
              <a:t>②</a:t>
            </a:r>
            <a:r>
              <a:rPr lang="zh-CN" altLang="en-US" sz="2800" dirty="0">
                <a:latin typeface="Times New Roman" pitchFamily="18" charset="0"/>
                <a:cs typeface="Times New Roman" pitchFamily="18" charset="0"/>
              </a:rPr>
              <a:t> </a:t>
            </a:r>
            <a:r>
              <a:rPr lang="zh-CN" altLang="en-US" sz="2800" dirty="0">
                <a:latin typeface="微软雅黑" pitchFamily="34" charset="-122"/>
                <a:ea typeface="微软雅黑" pitchFamily="34" charset="-122"/>
              </a:rPr>
              <a:t>设：</a:t>
            </a:r>
            <a:r>
              <a:rPr lang="en-US" altLang="zh-CN" sz="2800" b="1" i="1" dirty="0">
                <a:latin typeface="Times New Roman" pitchFamily="18" charset="0"/>
                <a:ea typeface="方正书宋简体" charset="-122"/>
                <a:cs typeface="Times New Roman" pitchFamily="18" charset="0"/>
              </a:rPr>
              <a:t>T</a:t>
            </a:r>
            <a:r>
              <a:rPr lang="en-US" altLang="zh-CN" sz="2800" b="1" baseline="-30000" dirty="0">
                <a:ea typeface="方正书宋简体" charset="-122"/>
              </a:rPr>
              <a:t>1</a:t>
            </a:r>
            <a:r>
              <a:rPr lang="zh-CN" altLang="en-US" sz="2800" b="1" dirty="0">
                <a:latin typeface="Times New Roman" pitchFamily="18" charset="0"/>
                <a:ea typeface="方正书宋简体" charset="-122"/>
              </a:rPr>
              <a:t>＝</a:t>
            </a:r>
            <a:r>
              <a:rPr lang="en-US" altLang="zh-CN" sz="2800" b="1" dirty="0">
                <a:latin typeface="Times New Roman" pitchFamily="18" charset="0"/>
                <a:ea typeface="方正书宋简体" charset="-122"/>
              </a:rPr>
              <a:t>const</a:t>
            </a:r>
            <a:r>
              <a:rPr lang="zh-CN" altLang="en-US" sz="2800" b="1" dirty="0">
                <a:latin typeface="Times New Roman" pitchFamily="18" charset="0"/>
                <a:ea typeface="方正书宋简体" charset="-122"/>
              </a:rPr>
              <a:t>，</a:t>
            </a:r>
            <a:r>
              <a:rPr lang="en-US" altLang="zh-CN" sz="2800" b="1" i="1" dirty="0">
                <a:latin typeface="Times New Roman" pitchFamily="18" charset="0"/>
                <a:ea typeface="方正书宋简体" charset="-122"/>
              </a:rPr>
              <a:t>T</a:t>
            </a:r>
            <a:r>
              <a:rPr lang="en-US" altLang="zh-CN" sz="2800" b="1" baseline="-30000" dirty="0">
                <a:ea typeface="方正书宋简体" charset="-122"/>
              </a:rPr>
              <a:t>2</a:t>
            </a:r>
            <a:r>
              <a:rPr lang="zh-CN" altLang="en-US" sz="2800" b="1" dirty="0">
                <a:latin typeface="Times New Roman" pitchFamily="18" charset="0"/>
                <a:ea typeface="方正书宋简体" charset="-122"/>
              </a:rPr>
              <a:t>＝</a:t>
            </a:r>
            <a:r>
              <a:rPr lang="en-US" altLang="zh-CN" sz="2800" b="1" dirty="0" err="1">
                <a:latin typeface="Times New Roman" pitchFamily="18" charset="0"/>
                <a:ea typeface="方正书宋简体" charset="-122"/>
              </a:rPr>
              <a:t>const</a:t>
            </a:r>
            <a:r>
              <a:rPr lang="zh-CN" altLang="en-US" sz="2800" b="1" dirty="0">
                <a:latin typeface="Times New Roman" pitchFamily="18" charset="0"/>
                <a:ea typeface="方正书宋简体" charset="-122"/>
              </a:rPr>
              <a:t>，</a:t>
            </a:r>
            <a:r>
              <a:rPr lang="zh-CN" altLang="en-US" sz="2800" dirty="0">
                <a:solidFill>
                  <a:prstClr val="black"/>
                </a:solidFill>
                <a:latin typeface="微软雅黑" pitchFamily="34" charset="-122"/>
                <a:ea typeface="微软雅黑" pitchFamily="34" charset="-122"/>
              </a:rPr>
              <a:t>对在</a:t>
            </a:r>
            <a:r>
              <a:rPr lang="en-US" altLang="zh-CN" sz="2800" b="1" i="1" dirty="0">
                <a:solidFill>
                  <a:prstClr val="black"/>
                </a:solidFill>
                <a:latin typeface="Times New Roman" pitchFamily="18" charset="0"/>
                <a:ea typeface="方正书宋简体" charset="-122"/>
              </a:rPr>
              <a:t>T</a:t>
            </a:r>
            <a:r>
              <a:rPr lang="en-US" altLang="zh-CN" sz="2800" b="1" baseline="-30000" dirty="0">
                <a:solidFill>
                  <a:prstClr val="black"/>
                </a:solidFill>
                <a:latin typeface="Times New Roman" pitchFamily="18" charset="0"/>
                <a:ea typeface="方正书宋简体" charset="-122"/>
              </a:rPr>
              <a:t>1</a:t>
            </a:r>
            <a:r>
              <a:rPr lang="zh-CN" altLang="en-US" sz="2800" b="1" dirty="0">
                <a:solidFill>
                  <a:prstClr val="black"/>
                </a:solidFill>
                <a:latin typeface="Times New Roman" pitchFamily="18" charset="0"/>
                <a:ea typeface="方正书宋简体" charset="-122"/>
              </a:rPr>
              <a:t>、</a:t>
            </a:r>
            <a:r>
              <a:rPr lang="en-US" altLang="zh-CN" sz="2800" b="1" i="1" dirty="0">
                <a:solidFill>
                  <a:prstClr val="black"/>
                </a:solidFill>
                <a:latin typeface="Times New Roman" pitchFamily="18" charset="0"/>
                <a:ea typeface="方正书宋简体" charset="-122"/>
              </a:rPr>
              <a:t>T</a:t>
            </a:r>
            <a:r>
              <a:rPr lang="en-US" altLang="zh-CN" sz="2800" b="1" baseline="-30000" dirty="0">
                <a:solidFill>
                  <a:prstClr val="black"/>
                </a:solidFill>
                <a:latin typeface="Times New Roman" pitchFamily="18" charset="0"/>
                <a:ea typeface="方正书宋简体" charset="-122"/>
              </a:rPr>
              <a:t>2</a:t>
            </a:r>
            <a:r>
              <a:rPr lang="zh-CN" altLang="en-US" sz="2800" dirty="0">
                <a:solidFill>
                  <a:prstClr val="black"/>
                </a:solidFill>
                <a:latin typeface="微软雅黑" pitchFamily="34" charset="-122"/>
                <a:ea typeface="微软雅黑" pitchFamily="34" charset="-122"/>
              </a:rPr>
              <a:t>间工作的所有可逆</a:t>
            </a:r>
            <a:r>
              <a:rPr lang="zh-CN" altLang="en-US" sz="2800" dirty="0">
                <a:latin typeface="微软雅黑" pitchFamily="34" charset="-122"/>
                <a:ea typeface="微软雅黑" pitchFamily="34" charset="-122"/>
              </a:rPr>
              <a:t>或不可逆</a:t>
            </a:r>
            <a:r>
              <a:rPr lang="zh-CN" altLang="en-US" sz="2800" dirty="0">
                <a:solidFill>
                  <a:prstClr val="black"/>
                </a:solidFill>
                <a:latin typeface="微软雅黑" pitchFamily="34" charset="-122"/>
                <a:ea typeface="微软雅黑" pitchFamily="34" charset="-122"/>
              </a:rPr>
              <a:t>热机，</a:t>
            </a:r>
            <a:r>
              <a:rPr lang="zh-CN" altLang="en-US" sz="2800" dirty="0">
                <a:latin typeface="微软雅黑" pitchFamily="34" charset="-122"/>
                <a:ea typeface="微软雅黑" pitchFamily="34" charset="-122"/>
              </a:rPr>
              <a:t>则有  </a:t>
            </a:r>
          </a:p>
        </p:txBody>
      </p:sp>
      <p:sp>
        <p:nvSpPr>
          <p:cNvPr id="16" name="Rectangle 19"/>
          <p:cNvSpPr>
            <a:spLocks noChangeArrowheads="1"/>
          </p:cNvSpPr>
          <p:nvPr/>
        </p:nvSpPr>
        <p:spPr bwMode="auto">
          <a:xfrm>
            <a:off x="611560" y="5733256"/>
            <a:ext cx="3767634" cy="523220"/>
          </a:xfrm>
          <a:prstGeom prst="rect">
            <a:avLst/>
          </a:prstGeom>
          <a:noFill/>
          <a:ln w="9525" algn="ctr">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反证法证明。</a:t>
            </a:r>
            <a:r>
              <a:rPr lang="en-US" altLang="zh-CN" sz="2800" b="0" dirty="0">
                <a:latin typeface="Times New Roman" pitchFamily="18" charset="0"/>
                <a:ea typeface="方正书宋简体" charset="-122"/>
              </a:rPr>
              <a:t>(ref  P.65</a:t>
            </a:r>
            <a:r>
              <a:rPr lang="en-US" altLang="zh-CN" sz="2800" dirty="0">
                <a:latin typeface="Times New Roman" pitchFamily="18" charset="0"/>
                <a:ea typeface="方正书宋简体" charset="-122"/>
              </a:rPr>
              <a:t>)</a:t>
            </a:r>
          </a:p>
        </p:txBody>
      </p:sp>
      <p:graphicFrame>
        <p:nvGraphicFramePr>
          <p:cNvPr id="17" name="对象 16"/>
          <p:cNvGraphicFramePr>
            <a:graphicFrameLocks noChangeAspect="1"/>
          </p:cNvGraphicFramePr>
          <p:nvPr>
            <p:extLst>
              <p:ext uri="{D42A27DB-BD31-4B8C-83A1-F6EECF244321}">
                <p14:modId xmlns:p14="http://schemas.microsoft.com/office/powerpoint/2010/main" val="3748236793"/>
              </p:ext>
            </p:extLst>
          </p:nvPr>
        </p:nvGraphicFramePr>
        <p:xfrm>
          <a:off x="1907704" y="2885512"/>
          <a:ext cx="4449763" cy="608012"/>
        </p:xfrm>
        <a:graphic>
          <a:graphicData uri="http://schemas.openxmlformats.org/presentationml/2006/ole">
            <mc:AlternateContent xmlns:mc="http://schemas.openxmlformats.org/markup-compatibility/2006">
              <mc:Choice xmlns:v="urn:schemas-microsoft-com:vml" Requires="v">
                <p:oleObj spid="_x0000_s43192" name="公式" r:id="rId4" imgW="2044700" imgH="279400" progId="Equation.3">
                  <p:embed/>
                </p:oleObj>
              </mc:Choice>
              <mc:Fallback>
                <p:oleObj name="公式" r:id="rId4" imgW="2044700" imgH="27940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7704" y="2885512"/>
                        <a:ext cx="4449763" cy="608012"/>
                      </a:xfrm>
                      <a:prstGeom prst="rect">
                        <a:avLst/>
                      </a:prstGeom>
                      <a:blipFill>
                        <a:blip r:embed="rId6"/>
                        <a:tile tx="0" ty="0" sx="100000" sy="100000" flip="none" algn="tl"/>
                      </a:blipFill>
                    </p:spPr>
                  </p:pic>
                </p:oleObj>
              </mc:Fallback>
            </mc:AlternateContent>
          </a:graphicData>
        </a:graphic>
      </p:graphicFrame>
      <p:sp>
        <p:nvSpPr>
          <p:cNvPr id="18" name="矩形 1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16</a:t>
            </a:r>
            <a:endParaRPr lang="zh-CN" altLang="en-US" sz="2000" b="1" dirty="0">
              <a:solidFill>
                <a:schemeClr val="tx1"/>
              </a:solidFill>
              <a:latin typeface="黑体" pitchFamily="49" charset="-122"/>
              <a:ea typeface="黑体"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988841520"/>
              </p:ext>
            </p:extLst>
          </p:nvPr>
        </p:nvGraphicFramePr>
        <p:xfrm>
          <a:off x="2987824" y="4916619"/>
          <a:ext cx="2592288" cy="636852"/>
        </p:xfrm>
        <a:graphic>
          <a:graphicData uri="http://schemas.openxmlformats.org/presentationml/2006/ole">
            <mc:AlternateContent xmlns:mc="http://schemas.openxmlformats.org/markup-compatibility/2006">
              <mc:Choice xmlns:v="urn:schemas-microsoft-com:vml" Requires="v">
                <p:oleObj spid="_x0000_s43193" name="公式" r:id="rId7" imgW="825480" imgH="203040" progId="Equation.3">
                  <p:embed/>
                </p:oleObj>
              </mc:Choice>
              <mc:Fallback>
                <p:oleObj name="公式" r:id="rId7" imgW="825480" imgH="203040" progId="Equation.3">
                  <p:embed/>
                  <p:pic>
                    <p:nvPicPr>
                      <p:cNvPr id="0" name="Object 17"/>
                      <p:cNvPicPr>
                        <a:picLocks noChangeAspect="1" noChangeArrowheads="1"/>
                      </p:cNvPicPr>
                      <p:nvPr/>
                    </p:nvPicPr>
                    <p:blipFill>
                      <a:blip r:embed="rId8"/>
                      <a:srcRect/>
                      <a:stretch>
                        <a:fillRect/>
                      </a:stretch>
                    </p:blipFill>
                    <p:spPr bwMode="auto">
                      <a:xfrm>
                        <a:off x="2987824" y="4916619"/>
                        <a:ext cx="2592288" cy="636852"/>
                      </a:xfrm>
                      <a:prstGeom prst="rect">
                        <a:avLst/>
                      </a:prstGeom>
                      <a:blipFill>
                        <a:blip r:embed="rId6"/>
                        <a:tile tx="0" ty="0" sx="100000" sy="100000" flip="none" algn="tl"/>
                      </a:blip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9"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dissolve">
                                      <p:cBhvr>
                                        <p:cTn id="11" dur="50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dissolve">
                                      <p:cBhvr>
                                        <p:cTn id="20" dur="500"/>
                                        <p:tgtEl>
                                          <p:spTgt spid="11"/>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grpId="0"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dissolve">
                                      <p:cBhvr>
                                        <p:cTn id="25" dur="500"/>
                                        <p:tgtEl>
                                          <p:spTgt spid="16"/>
                                        </p:tgtEl>
                                      </p:cBhvr>
                                    </p:animEffect>
                                  </p:childTnLst>
                                </p:cTn>
                              </p:par>
                              <p:par>
                                <p:cTn id="26" presetID="1" presetClass="entr" presetSubtype="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1" grpId="0" autoUpdateAnimBg="0"/>
      <p:bldP spid="16"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4"/>
          <p:cNvSpPr>
            <a:spLocks noChangeArrowheads="1"/>
          </p:cNvSpPr>
          <p:nvPr/>
        </p:nvSpPr>
        <p:spPr bwMode="auto">
          <a:xfrm>
            <a:off x="1148505" y="4587602"/>
            <a:ext cx="6445950" cy="571504"/>
          </a:xfrm>
          <a:prstGeom prst="rect">
            <a:avLst/>
          </a:prstGeom>
          <a:noFill/>
          <a:ln w="9525">
            <a:noFill/>
            <a:miter lim="800000"/>
            <a:headEnd/>
            <a:tailEnd/>
          </a:ln>
          <a:effectLst/>
        </p:spPr>
        <p:txBody>
          <a:bodyPr/>
          <a:lstStyle/>
          <a:p>
            <a:pPr>
              <a:lnSpc>
                <a:spcPct val="120000"/>
              </a:lnSpc>
            </a:pPr>
            <a:r>
              <a:rPr lang="zh-CN" altLang="en-US" sz="2800" dirty="0">
                <a:solidFill>
                  <a:srgbClr val="4B3EEE"/>
                </a:solidFill>
                <a:latin typeface="微软雅黑" pitchFamily="34" charset="-122"/>
                <a:ea typeface="微软雅黑" pitchFamily="34" charset="-122"/>
              </a:rPr>
              <a:t>制冷系数和热泵系数同样符合卡诺定理。</a:t>
            </a:r>
          </a:p>
        </p:txBody>
      </p:sp>
      <p:sp>
        <p:nvSpPr>
          <p:cNvPr id="20" name="Rectangle 4"/>
          <p:cNvSpPr>
            <a:spLocks noChangeArrowheads="1"/>
          </p:cNvSpPr>
          <p:nvPr/>
        </p:nvSpPr>
        <p:spPr bwMode="auto">
          <a:xfrm>
            <a:off x="683568" y="2420888"/>
            <a:ext cx="7128792" cy="1714512"/>
          </a:xfrm>
          <a:prstGeom prst="rect">
            <a:avLst/>
          </a:prstGeom>
          <a:noFill/>
          <a:ln w="9525">
            <a:solidFill>
              <a:srgbClr val="FFC000"/>
            </a:solidFill>
            <a:miter lim="800000"/>
            <a:headEnd/>
            <a:tailEnd/>
          </a:ln>
          <a:effectLst/>
        </p:spPr>
        <p:txBody>
          <a:bodyPr/>
          <a:lstStyle/>
          <a:p>
            <a:pPr>
              <a:lnSpc>
                <a:spcPct val="150000"/>
              </a:lnSpc>
            </a:pPr>
            <a:r>
              <a:rPr lang="zh-CN" altLang="en-US" sz="2800" dirty="0">
                <a:solidFill>
                  <a:srgbClr val="FF0000"/>
                </a:solidFill>
                <a:latin typeface="微软雅黑" pitchFamily="34" charset="-122"/>
                <a:ea typeface="微软雅黑" pitchFamily="34" charset="-122"/>
              </a:rPr>
              <a:t>       提供了两个热源间循环效率的最高界限，从而给一切循环确定了最佳经济性的指标。  </a:t>
            </a:r>
          </a:p>
        </p:txBody>
      </p:sp>
      <p:sp>
        <p:nvSpPr>
          <p:cNvPr id="21" name="矩形 20"/>
          <p:cNvSpPr/>
          <p:nvPr/>
        </p:nvSpPr>
        <p:spPr>
          <a:xfrm>
            <a:off x="667657" y="1485998"/>
            <a:ext cx="3643338" cy="642942"/>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r>
              <a:rPr lang="zh-CN" altLang="en-US" sz="2800" dirty="0">
                <a:solidFill>
                  <a:schemeClr val="tx1"/>
                </a:solidFill>
                <a:latin typeface="微软雅黑" pitchFamily="34" charset="-122"/>
                <a:ea typeface="微软雅黑" pitchFamily="34" charset="-122"/>
                <a:cs typeface="Times New Roman" pitchFamily="18" charset="0"/>
              </a:rPr>
              <a:t>卡诺定理的指导意义：</a:t>
            </a:r>
          </a:p>
        </p:txBody>
      </p:sp>
      <p:sp>
        <p:nvSpPr>
          <p:cNvPr id="5" name="矩形 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17</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37"/>
          <p:cNvSpPr txBox="1">
            <a:spLocks noChangeArrowheads="1"/>
          </p:cNvSpPr>
          <p:nvPr/>
        </p:nvSpPr>
        <p:spPr bwMode="auto">
          <a:xfrm>
            <a:off x="661764" y="1285860"/>
            <a:ext cx="34816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变温热源的卡诺定理</a:t>
            </a:r>
          </a:p>
        </p:txBody>
      </p:sp>
      <p:sp>
        <p:nvSpPr>
          <p:cNvPr id="6" name="矩形 5"/>
          <p:cNvSpPr/>
          <p:nvPr/>
        </p:nvSpPr>
        <p:spPr>
          <a:xfrm>
            <a:off x="0" y="1299329"/>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3.</a:t>
            </a:r>
            <a:endParaRPr lang="zh-CN" altLang="en-US" sz="2800" i="1" dirty="0">
              <a:solidFill>
                <a:srgbClr val="C00000"/>
              </a:solidFill>
              <a:latin typeface="Bernard MT Condensed"/>
            </a:endParaRPr>
          </a:p>
        </p:txBody>
      </p:sp>
      <p:sp>
        <p:nvSpPr>
          <p:cNvPr id="8" name="Rectangle 7"/>
          <p:cNvSpPr>
            <a:spLocks noChangeArrowheads="1"/>
          </p:cNvSpPr>
          <p:nvPr/>
        </p:nvSpPr>
        <p:spPr bwMode="auto">
          <a:xfrm>
            <a:off x="714348" y="1916832"/>
            <a:ext cx="3575018" cy="523220"/>
          </a:xfrm>
          <a:prstGeom prst="rect">
            <a:avLst/>
          </a:prstGeom>
          <a:noFill/>
          <a:ln w="9525" algn="ctr">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对任意可逆循环</a:t>
            </a:r>
            <a:r>
              <a:rPr lang="en-US" altLang="zh-CN" sz="2800" i="1" dirty="0" err="1">
                <a:latin typeface="Times New Roman" pitchFamily="18" charset="0"/>
                <a:ea typeface="微软雅黑" pitchFamily="34" charset="-122"/>
                <a:cs typeface="Times New Roman" pitchFamily="18" charset="0"/>
              </a:rPr>
              <a:t>abcda</a:t>
            </a:r>
            <a:endParaRPr lang="en-US" altLang="zh-CN" sz="2800" i="1" dirty="0">
              <a:latin typeface="Times New Roman" pitchFamily="18" charset="0"/>
              <a:ea typeface="微软雅黑" pitchFamily="34" charset="-122"/>
              <a:cs typeface="Times New Roman" pitchFamily="18" charset="0"/>
            </a:endParaRPr>
          </a:p>
        </p:txBody>
      </p:sp>
      <p:pic>
        <p:nvPicPr>
          <p:cNvPr id="9" name="Picture 8" descr="32-1"/>
          <p:cNvPicPr>
            <a:picLocks noChangeAspect="1" noChangeArrowheads="1"/>
          </p:cNvPicPr>
          <p:nvPr/>
        </p:nvPicPr>
        <p:blipFill>
          <a:blip r:embed="rId4"/>
          <a:srcRect/>
          <a:stretch>
            <a:fillRect/>
          </a:stretch>
        </p:blipFill>
        <p:spPr bwMode="auto">
          <a:xfrm>
            <a:off x="5651501" y="1957396"/>
            <a:ext cx="3168972" cy="2614612"/>
          </a:xfrm>
          <a:prstGeom prst="rect">
            <a:avLst/>
          </a:prstGeom>
          <a:noFill/>
          <a:ln w="9525">
            <a:noFill/>
            <a:miter lim="800000"/>
            <a:headEnd/>
            <a:tailEnd/>
          </a:ln>
        </p:spPr>
      </p:pic>
      <p:graphicFrame>
        <p:nvGraphicFramePr>
          <p:cNvPr id="10" name="Object 10"/>
          <p:cNvGraphicFramePr>
            <a:graphicFrameLocks noChangeAspect="1"/>
          </p:cNvGraphicFramePr>
          <p:nvPr>
            <p:extLst>
              <p:ext uri="{D42A27DB-BD31-4B8C-83A1-F6EECF244321}">
                <p14:modId xmlns:p14="http://schemas.microsoft.com/office/powerpoint/2010/main" val="3046940692"/>
              </p:ext>
            </p:extLst>
          </p:nvPr>
        </p:nvGraphicFramePr>
        <p:xfrm>
          <a:off x="1214438" y="2565400"/>
          <a:ext cx="1943100" cy="503238"/>
        </p:xfrm>
        <a:graphic>
          <a:graphicData uri="http://schemas.openxmlformats.org/presentationml/2006/ole">
            <mc:AlternateContent xmlns:mc="http://schemas.openxmlformats.org/markup-compatibility/2006">
              <mc:Choice xmlns:v="urn:schemas-microsoft-com:vml" Requires="v">
                <p:oleObj spid="_x0000_s45568" name="公式" r:id="rId5" imgW="1282700" imgH="330200" progId="Equation.3">
                  <p:embed/>
                </p:oleObj>
              </mc:Choice>
              <mc:Fallback>
                <p:oleObj name="公式" r:id="rId5" imgW="1282700" imgH="3302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4438" y="2565400"/>
                        <a:ext cx="1943100"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2"/>
          <p:cNvGrpSpPr>
            <a:grpSpLocks/>
          </p:cNvGrpSpPr>
          <p:nvPr/>
        </p:nvGrpSpPr>
        <p:grpSpPr bwMode="auto">
          <a:xfrm>
            <a:off x="1214410" y="3212976"/>
            <a:ext cx="4230688" cy="561976"/>
            <a:chOff x="972" y="2695"/>
            <a:chExt cx="2665" cy="354"/>
          </a:xfrm>
        </p:grpSpPr>
        <p:graphicFrame>
          <p:nvGraphicFramePr>
            <p:cNvPr id="12" name="Object 13"/>
            <p:cNvGraphicFramePr>
              <a:graphicFrameLocks noChangeAspect="1"/>
            </p:cNvGraphicFramePr>
            <p:nvPr/>
          </p:nvGraphicFramePr>
          <p:xfrm>
            <a:off x="972" y="2725"/>
            <a:ext cx="1270" cy="324"/>
          </p:xfrm>
          <a:graphic>
            <a:graphicData uri="http://schemas.openxmlformats.org/presentationml/2006/ole">
              <mc:AlternateContent xmlns:mc="http://schemas.openxmlformats.org/markup-compatibility/2006">
                <mc:Choice xmlns:v="urn:schemas-microsoft-com:vml" Requires="v">
                  <p:oleObj spid="_x0000_s45569" name="Equation" r:id="rId7" imgW="1308100" imgH="330200" progId="Equation.DSMT4">
                    <p:embed/>
                  </p:oleObj>
                </mc:Choice>
                <mc:Fallback>
                  <p:oleObj name="Equation" r:id="rId7" imgW="1308100" imgH="3302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2" y="2725"/>
                          <a:ext cx="1270" cy="32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4"/>
            <p:cNvSpPr>
              <a:spLocks noChangeArrowheads="1"/>
            </p:cNvSpPr>
            <p:nvPr/>
          </p:nvSpPr>
          <p:spPr bwMode="auto">
            <a:xfrm>
              <a:off x="2109" y="2695"/>
              <a:ext cx="1528" cy="327"/>
            </a:xfrm>
            <a:prstGeom prst="rect">
              <a:avLst/>
            </a:prstGeom>
            <a:noFill/>
            <a:ln w="9525" algn="ctr">
              <a:noFill/>
              <a:miter lim="800000"/>
              <a:headEnd/>
              <a:tailEnd/>
            </a:ln>
            <a:effectLst/>
          </p:spPr>
          <p:txBody>
            <a:bodyPr wrap="non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（均取正值） </a:t>
              </a:r>
            </a:p>
          </p:txBody>
        </p:sp>
      </p:grpSp>
      <p:grpSp>
        <p:nvGrpSpPr>
          <p:cNvPr id="14" name="Group 17"/>
          <p:cNvGrpSpPr>
            <a:grpSpLocks/>
          </p:cNvGrpSpPr>
          <p:nvPr/>
        </p:nvGrpSpPr>
        <p:grpSpPr bwMode="auto">
          <a:xfrm>
            <a:off x="714348" y="3991553"/>
            <a:ext cx="4321175" cy="652463"/>
            <a:chOff x="521" y="3022"/>
            <a:chExt cx="2722" cy="411"/>
          </a:xfrm>
        </p:grpSpPr>
        <p:sp>
          <p:nvSpPr>
            <p:cNvPr id="15" name="Rectangle 18"/>
            <p:cNvSpPr>
              <a:spLocks noChangeArrowheads="1"/>
            </p:cNvSpPr>
            <p:nvPr/>
          </p:nvSpPr>
          <p:spPr bwMode="auto">
            <a:xfrm>
              <a:off x="521" y="3022"/>
              <a:ext cx="396" cy="327"/>
            </a:xfrm>
            <a:prstGeom prst="rect">
              <a:avLst/>
            </a:prstGeom>
            <a:noFill/>
            <a:ln w="9525" algn="ctr">
              <a:noFill/>
              <a:miter lim="800000"/>
              <a:headEnd/>
              <a:tailEnd/>
            </a:ln>
            <a:effectLst/>
          </p:spPr>
          <p:txBody>
            <a:bodyPr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令 </a:t>
              </a:r>
            </a:p>
          </p:txBody>
        </p:sp>
        <p:graphicFrame>
          <p:nvGraphicFramePr>
            <p:cNvPr id="16" name="Object 19"/>
            <p:cNvGraphicFramePr>
              <a:graphicFrameLocks noChangeAspect="1"/>
            </p:cNvGraphicFramePr>
            <p:nvPr/>
          </p:nvGraphicFramePr>
          <p:xfrm>
            <a:off x="930" y="3067"/>
            <a:ext cx="998" cy="286"/>
          </p:xfrm>
          <a:graphic>
            <a:graphicData uri="http://schemas.openxmlformats.org/presentationml/2006/ole">
              <mc:AlternateContent xmlns:mc="http://schemas.openxmlformats.org/markup-compatibility/2006">
                <mc:Choice xmlns:v="urn:schemas-microsoft-com:vml" Requires="v">
                  <p:oleObj spid="_x0000_s45570" name="公式" r:id="rId9" imgW="965200" imgH="279400" progId="Equation.3">
                    <p:embed/>
                  </p:oleObj>
                </mc:Choice>
                <mc:Fallback>
                  <p:oleObj name="公式" r:id="rId9" imgW="965200" imgH="279400" progId="Equation.3">
                    <p:embed/>
                    <p:pic>
                      <p:nvPicPr>
                        <p:cNvPr id="0" name="Object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30" y="3067"/>
                          <a:ext cx="998" cy="28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20"/>
            <p:cNvSpPr>
              <a:spLocks noChangeArrowheads="1"/>
            </p:cNvSpPr>
            <p:nvPr/>
          </p:nvSpPr>
          <p:spPr bwMode="auto">
            <a:xfrm>
              <a:off x="1894" y="3103"/>
              <a:ext cx="409" cy="330"/>
            </a:xfrm>
            <a:prstGeom prst="rect">
              <a:avLst/>
            </a:prstGeom>
            <a:noFill/>
            <a:ln w="9525" algn="ctr">
              <a:noFill/>
              <a:miter lim="800000"/>
              <a:headEnd/>
              <a:tailEnd/>
            </a:ln>
            <a:effectLst/>
          </p:spPr>
          <p:txBody>
            <a:bodyPr wrap="non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 </a:t>
              </a:r>
            </a:p>
          </p:txBody>
        </p:sp>
        <p:graphicFrame>
          <p:nvGraphicFramePr>
            <p:cNvPr id="19" name="Object 21"/>
            <p:cNvGraphicFramePr>
              <a:graphicFrameLocks noChangeAspect="1"/>
            </p:cNvGraphicFramePr>
            <p:nvPr/>
          </p:nvGraphicFramePr>
          <p:xfrm>
            <a:off x="2109" y="3067"/>
            <a:ext cx="1134" cy="305"/>
          </p:xfrm>
          <a:graphic>
            <a:graphicData uri="http://schemas.openxmlformats.org/presentationml/2006/ole">
              <mc:AlternateContent xmlns:mc="http://schemas.openxmlformats.org/markup-compatibility/2006">
                <mc:Choice xmlns:v="urn:schemas-microsoft-com:vml" Requires="v">
                  <p:oleObj spid="_x0000_s45571" name="公式" r:id="rId11" imgW="1028700" imgH="279400" progId="Equation.3">
                    <p:embed/>
                  </p:oleObj>
                </mc:Choice>
                <mc:Fallback>
                  <p:oleObj name="公式" r:id="rId11" imgW="1028700" imgH="27940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09" y="3067"/>
                          <a:ext cx="1134" cy="3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 name="Group 24"/>
          <p:cNvGrpSpPr>
            <a:grpSpLocks/>
          </p:cNvGrpSpPr>
          <p:nvPr/>
        </p:nvGrpSpPr>
        <p:grpSpPr bwMode="auto">
          <a:xfrm>
            <a:off x="714348" y="4800376"/>
            <a:ext cx="5184775" cy="1004888"/>
            <a:chOff x="521" y="3294"/>
            <a:chExt cx="3266" cy="633"/>
          </a:xfrm>
        </p:grpSpPr>
        <p:sp>
          <p:nvSpPr>
            <p:cNvPr id="23" name="Rectangle 25"/>
            <p:cNvSpPr>
              <a:spLocks noChangeArrowheads="1"/>
            </p:cNvSpPr>
            <p:nvPr/>
          </p:nvSpPr>
          <p:spPr bwMode="auto">
            <a:xfrm>
              <a:off x="521" y="3476"/>
              <a:ext cx="409" cy="330"/>
            </a:xfrm>
            <a:prstGeom prst="rect">
              <a:avLst/>
            </a:prstGeom>
            <a:noFill/>
            <a:ln w="9525" algn="ctr">
              <a:noFill/>
              <a:miter lim="800000"/>
              <a:headEnd/>
              <a:tailEnd/>
            </a:ln>
            <a:effectLst/>
          </p:spPr>
          <p:txBody>
            <a:bodyPr wrap="none" anchor="ctr">
              <a:spAutoFit/>
            </a:bodyPr>
            <a:lstStyle/>
            <a:p>
              <a:r>
                <a:rPr lang="zh-CN" altLang="en-US" sz="2800">
                  <a:solidFill>
                    <a:srgbClr val="000000"/>
                  </a:solidFill>
                  <a:latin typeface="微软雅黑" pitchFamily="34" charset="-122"/>
                  <a:ea typeface="微软雅黑" pitchFamily="34" charset="-122"/>
                  <a:cs typeface="Times New Roman" pitchFamily="18" charset="0"/>
                </a:rPr>
                <a:t>则 </a:t>
              </a:r>
            </a:p>
          </p:txBody>
        </p:sp>
        <p:graphicFrame>
          <p:nvGraphicFramePr>
            <p:cNvPr id="24" name="Object 26"/>
            <p:cNvGraphicFramePr>
              <a:graphicFrameLocks noChangeAspect="1"/>
            </p:cNvGraphicFramePr>
            <p:nvPr>
              <p:extLst>
                <p:ext uri="{D42A27DB-BD31-4B8C-83A1-F6EECF244321}">
                  <p14:modId xmlns:p14="http://schemas.microsoft.com/office/powerpoint/2010/main" val="1747872634"/>
                </p:ext>
              </p:extLst>
            </p:nvPr>
          </p:nvGraphicFramePr>
          <p:xfrm>
            <a:off x="884" y="3320"/>
            <a:ext cx="1407" cy="607"/>
          </p:xfrm>
          <a:graphic>
            <a:graphicData uri="http://schemas.openxmlformats.org/presentationml/2006/ole">
              <mc:AlternateContent xmlns:mc="http://schemas.openxmlformats.org/markup-compatibility/2006">
                <mc:Choice xmlns:v="urn:schemas-microsoft-com:vml" Requires="v">
                  <p:oleObj spid="_x0000_s45572" name="公式" r:id="rId13" imgW="850900" imgH="368300" progId="Equation.3">
                    <p:embed/>
                  </p:oleObj>
                </mc:Choice>
                <mc:Fallback>
                  <p:oleObj name="公式" r:id="rId13" imgW="850900" imgH="368300" progId="Equation.3">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84" y="3320"/>
                          <a:ext cx="1407" cy="6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7"/>
            <p:cNvGraphicFramePr>
              <a:graphicFrameLocks noChangeAspect="1"/>
            </p:cNvGraphicFramePr>
            <p:nvPr/>
          </p:nvGraphicFramePr>
          <p:xfrm>
            <a:off x="2381" y="3294"/>
            <a:ext cx="1406" cy="617"/>
          </p:xfrm>
          <a:graphic>
            <a:graphicData uri="http://schemas.openxmlformats.org/presentationml/2006/ole">
              <mc:AlternateContent xmlns:mc="http://schemas.openxmlformats.org/markup-compatibility/2006">
                <mc:Choice xmlns:v="urn:schemas-microsoft-com:vml" Requires="v">
                  <p:oleObj spid="_x0000_s45573" name="公式" r:id="rId15" imgW="1320227" imgH="583947" progId="Equation.3">
                    <p:embed/>
                  </p:oleObj>
                </mc:Choice>
                <mc:Fallback>
                  <p:oleObj name="公式" r:id="rId15" imgW="1320227" imgH="583947" progId="Equation.3">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81" y="3294"/>
                          <a:ext cx="1406" cy="61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0" name="矩形 1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18</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dissolv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dissolv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dissolv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dissolve">
                                      <p:cBhvr>
                                        <p:cTn id="27" dur="500"/>
                                        <p:tgtEl>
                                          <p:spTgt spid="14"/>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22"/>
                                        </p:tgtEl>
                                        <p:attrNameLst>
                                          <p:attrName>style.visibility</p:attrName>
                                        </p:attrNameLst>
                                      </p:cBhvr>
                                      <p:to>
                                        <p:strVal val="visible"/>
                                      </p:to>
                                    </p:set>
                                    <p:animEffect transition="in" filter="dissolve">
                                      <p:cBhvr>
                                        <p:cTn id="3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2"/>
          <p:cNvSpPr>
            <a:spLocks noChangeArrowheads="1"/>
          </p:cNvSpPr>
          <p:nvPr/>
        </p:nvSpPr>
        <p:spPr bwMode="auto">
          <a:xfrm>
            <a:off x="620738" y="1268760"/>
            <a:ext cx="1008609" cy="523220"/>
          </a:xfrm>
          <a:prstGeom prst="rect">
            <a:avLst/>
          </a:prstGeom>
          <a:noFill/>
          <a:ln w="9525" algn="ctr">
            <a:noFill/>
            <a:miter lim="800000"/>
            <a:headEnd/>
            <a:tailEnd/>
          </a:ln>
          <a:effectLst/>
        </p:spPr>
        <p:txBody>
          <a:bodyPr wrap="none" anchor="ctr">
            <a:spAutoFit/>
          </a:bodyPr>
          <a:lstStyle/>
          <a:p>
            <a:r>
              <a:rPr lang="zh-CN" altLang="en-US" sz="2800" dirty="0">
                <a:latin typeface="微软雅黑" pitchFamily="34" charset="-122"/>
                <a:ea typeface="微软雅黑" pitchFamily="34" charset="-122"/>
                <a:cs typeface="Times New Roman" pitchFamily="18" charset="0"/>
              </a:rPr>
              <a:t>式中</a:t>
            </a:r>
            <a:r>
              <a:rPr lang="zh-CN" altLang="en-US" sz="2800" dirty="0">
                <a:solidFill>
                  <a:srgbClr val="000000"/>
                </a:solidFill>
                <a:latin typeface="微软雅黑" pitchFamily="34" charset="-122"/>
                <a:ea typeface="微软雅黑" pitchFamily="34" charset="-122"/>
                <a:cs typeface="Times New Roman" pitchFamily="18" charset="0"/>
              </a:rPr>
              <a:t> </a:t>
            </a:r>
          </a:p>
        </p:txBody>
      </p:sp>
      <p:grpSp>
        <p:nvGrpSpPr>
          <p:cNvPr id="21" name="Group 3"/>
          <p:cNvGrpSpPr>
            <a:grpSpLocks/>
          </p:cNvGrpSpPr>
          <p:nvPr/>
        </p:nvGrpSpPr>
        <p:grpSpPr bwMode="auto">
          <a:xfrm>
            <a:off x="1653039" y="1268761"/>
            <a:ext cx="3862388" cy="523876"/>
            <a:chOff x="1104" y="346"/>
            <a:chExt cx="2433" cy="330"/>
          </a:xfrm>
        </p:grpSpPr>
        <p:graphicFrame>
          <p:nvGraphicFramePr>
            <p:cNvPr id="22" name="Object 4"/>
            <p:cNvGraphicFramePr>
              <a:graphicFrameLocks noChangeAspect="1"/>
            </p:cNvGraphicFramePr>
            <p:nvPr/>
          </p:nvGraphicFramePr>
          <p:xfrm>
            <a:off x="1104" y="391"/>
            <a:ext cx="188" cy="272"/>
          </p:xfrm>
          <a:graphic>
            <a:graphicData uri="http://schemas.openxmlformats.org/presentationml/2006/ole">
              <mc:AlternateContent xmlns:mc="http://schemas.openxmlformats.org/markup-compatibility/2006">
                <mc:Choice xmlns:v="urn:schemas-microsoft-com:vml" Requires="v">
                  <p:oleObj spid="_x0000_s46340" name="公式" r:id="rId4" imgW="190500" imgH="279400" progId="Equation.3">
                    <p:embed/>
                  </p:oleObj>
                </mc:Choice>
                <mc:Fallback>
                  <p:oleObj name="公式" r:id="rId4" imgW="190500" imgH="2794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04" y="391"/>
                          <a:ext cx="188"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 name="Rectangle 5"/>
            <p:cNvSpPr>
              <a:spLocks noChangeArrowheads="1"/>
            </p:cNvSpPr>
            <p:nvPr/>
          </p:nvSpPr>
          <p:spPr bwMode="auto">
            <a:xfrm>
              <a:off x="1282" y="346"/>
              <a:ext cx="2255" cy="330"/>
            </a:xfrm>
            <a:prstGeom prst="rect">
              <a:avLst/>
            </a:prstGeom>
            <a:noFill/>
            <a:ln w="9525" algn="ctr">
              <a:noFill/>
              <a:miter lim="800000"/>
              <a:headEnd/>
              <a:tailEnd/>
            </a:ln>
            <a:effectLst/>
          </p:spPr>
          <p:txBody>
            <a:bodyPr wrap="none" anchor="ctr">
              <a:spAutoFit/>
            </a:bodyPr>
            <a:lstStyle/>
            <a:p>
              <a:r>
                <a:rPr lang="en-US" altLang="zh-CN" sz="2800" dirty="0">
                  <a:latin typeface="微软雅黑" pitchFamily="34" charset="-122"/>
                  <a:ea typeface="微软雅黑" pitchFamily="34" charset="-122"/>
                  <a:cs typeface="Times New Roman" pitchFamily="18" charset="0"/>
                </a:rPr>
                <a:t>——</a:t>
              </a:r>
              <a:r>
                <a:rPr lang="zh-CN" altLang="en-US" sz="2800" dirty="0">
                  <a:latin typeface="微软雅黑" pitchFamily="34" charset="-122"/>
                  <a:ea typeface="微软雅黑" pitchFamily="34" charset="-122"/>
                  <a:cs typeface="Times New Roman" pitchFamily="18" charset="0"/>
                </a:rPr>
                <a:t>平均加热温度；</a:t>
              </a:r>
              <a:r>
                <a:rPr lang="zh-CN" altLang="en-US" sz="2800" dirty="0">
                  <a:solidFill>
                    <a:srgbClr val="000000"/>
                  </a:solidFill>
                  <a:latin typeface="微软雅黑" pitchFamily="34" charset="-122"/>
                  <a:ea typeface="微软雅黑" pitchFamily="34" charset="-122"/>
                  <a:cs typeface="Times New Roman" pitchFamily="18" charset="0"/>
                </a:rPr>
                <a:t> </a:t>
              </a:r>
            </a:p>
          </p:txBody>
        </p:sp>
      </p:grpSp>
      <p:grpSp>
        <p:nvGrpSpPr>
          <p:cNvPr id="27" name="Group 8"/>
          <p:cNvGrpSpPr>
            <a:grpSpLocks/>
          </p:cNvGrpSpPr>
          <p:nvPr/>
        </p:nvGrpSpPr>
        <p:grpSpPr bwMode="auto">
          <a:xfrm>
            <a:off x="1630814" y="2060848"/>
            <a:ext cx="4114800" cy="519113"/>
            <a:chOff x="1101" y="758"/>
            <a:chExt cx="2099" cy="327"/>
          </a:xfrm>
        </p:grpSpPr>
        <p:graphicFrame>
          <p:nvGraphicFramePr>
            <p:cNvPr id="28" name="Object 9"/>
            <p:cNvGraphicFramePr>
              <a:graphicFrameLocks noChangeAspect="1"/>
            </p:cNvGraphicFramePr>
            <p:nvPr/>
          </p:nvGraphicFramePr>
          <p:xfrm>
            <a:off x="1101" y="820"/>
            <a:ext cx="191" cy="265"/>
          </p:xfrm>
          <a:graphic>
            <a:graphicData uri="http://schemas.openxmlformats.org/presentationml/2006/ole">
              <mc:AlternateContent xmlns:mc="http://schemas.openxmlformats.org/markup-compatibility/2006">
                <mc:Choice xmlns:v="urn:schemas-microsoft-com:vml" Requires="v">
                  <p:oleObj spid="_x0000_s46341" name="公式" r:id="rId6" imgW="203112" imgH="279279" progId="Equation.3">
                    <p:embed/>
                  </p:oleObj>
                </mc:Choice>
                <mc:Fallback>
                  <p:oleObj name="公式" r:id="rId6" imgW="203112" imgH="279279"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01" y="820"/>
                          <a:ext cx="191" cy="2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10"/>
            <p:cNvSpPr>
              <a:spLocks noChangeArrowheads="1"/>
            </p:cNvSpPr>
            <p:nvPr/>
          </p:nvSpPr>
          <p:spPr bwMode="auto">
            <a:xfrm>
              <a:off x="1292" y="758"/>
              <a:ext cx="1908" cy="327"/>
            </a:xfrm>
            <a:prstGeom prst="rect">
              <a:avLst/>
            </a:prstGeom>
            <a:noFill/>
            <a:ln w="9525" algn="ctr">
              <a:noFill/>
              <a:miter lim="800000"/>
              <a:headEnd/>
              <a:tailEnd/>
            </a:ln>
            <a:effectLst/>
          </p:spPr>
          <p:txBody>
            <a:bodyPr anchor="ctr">
              <a:spAutoFit/>
            </a:bodyPr>
            <a:lstStyle/>
            <a:p>
              <a:r>
                <a:rPr lang="en-US" altLang="zh-CN" sz="2800" dirty="0">
                  <a:solidFill>
                    <a:srgbClr val="000000"/>
                  </a:solidFill>
                  <a:latin typeface="微软雅黑" pitchFamily="34" charset="-122"/>
                  <a:ea typeface="微软雅黑" pitchFamily="34" charset="-122"/>
                  <a:cs typeface="Times New Roman" pitchFamily="18" charset="0"/>
                </a:rPr>
                <a:t>——</a:t>
              </a:r>
              <a:r>
                <a:rPr lang="zh-CN" altLang="en-US" sz="2800" dirty="0">
                  <a:solidFill>
                    <a:srgbClr val="000000"/>
                  </a:solidFill>
                  <a:latin typeface="微软雅黑" pitchFamily="34" charset="-122"/>
                  <a:ea typeface="微软雅黑" pitchFamily="34" charset="-122"/>
                  <a:cs typeface="Times New Roman" pitchFamily="18" charset="0"/>
                </a:rPr>
                <a:t>平均放热温度。</a:t>
              </a:r>
            </a:p>
          </p:txBody>
        </p:sp>
      </p:grpSp>
      <p:graphicFrame>
        <p:nvGraphicFramePr>
          <p:cNvPr id="30" name="Object 11"/>
          <p:cNvGraphicFramePr>
            <a:graphicFrameLocks noChangeAspect="1"/>
          </p:cNvGraphicFramePr>
          <p:nvPr>
            <p:extLst>
              <p:ext uri="{D42A27DB-BD31-4B8C-83A1-F6EECF244321}">
                <p14:modId xmlns:p14="http://schemas.microsoft.com/office/powerpoint/2010/main" val="2594747638"/>
              </p:ext>
            </p:extLst>
          </p:nvPr>
        </p:nvGraphicFramePr>
        <p:xfrm>
          <a:off x="2771800" y="2924944"/>
          <a:ext cx="3122612" cy="1179512"/>
        </p:xfrm>
        <a:graphic>
          <a:graphicData uri="http://schemas.openxmlformats.org/presentationml/2006/ole">
            <mc:AlternateContent xmlns:mc="http://schemas.openxmlformats.org/markup-compatibility/2006">
              <mc:Choice xmlns:v="urn:schemas-microsoft-com:vml" Requires="v">
                <p:oleObj spid="_x0000_s46342" name="公式" r:id="rId8" imgW="1473200" imgH="558800" progId="Equation.3">
                  <p:embed/>
                </p:oleObj>
              </mc:Choice>
              <mc:Fallback>
                <p:oleObj name="公式" r:id="rId8" imgW="1473200" imgH="5588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71800" y="2924944"/>
                        <a:ext cx="3122612" cy="1179512"/>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0" scaled="1"/>
                        <a:tileRect/>
                      </a:gradFill>
                    </p:spPr>
                  </p:pic>
                </p:oleObj>
              </mc:Fallback>
            </mc:AlternateContent>
          </a:graphicData>
        </a:graphic>
      </p:graphicFrame>
      <p:sp>
        <p:nvSpPr>
          <p:cNvPr id="31" name="Rectangle 27"/>
          <p:cNvSpPr>
            <a:spLocks noChangeArrowheads="1"/>
          </p:cNvSpPr>
          <p:nvPr/>
        </p:nvSpPr>
        <p:spPr bwMode="auto">
          <a:xfrm>
            <a:off x="660702" y="4365104"/>
            <a:ext cx="7705725" cy="1308884"/>
          </a:xfrm>
          <a:prstGeom prst="rect">
            <a:avLst/>
          </a:prstGeom>
          <a:ln/>
        </p:spPr>
        <p:style>
          <a:lnRef idx="1">
            <a:schemeClr val="accent6"/>
          </a:lnRef>
          <a:fillRef idx="2">
            <a:schemeClr val="accent6"/>
          </a:fillRef>
          <a:effectRef idx="1">
            <a:schemeClr val="accent6"/>
          </a:effectRef>
          <a:fontRef idx="minor">
            <a:schemeClr val="dk1"/>
          </a:fontRef>
        </p:style>
        <p:txBody>
          <a:bodyPr wrap="square" anchor="ctr">
            <a:spAutoFit/>
          </a:bodyPr>
          <a:lstStyle/>
          <a:p>
            <a:pPr>
              <a:lnSpc>
                <a:spcPct val="150000"/>
              </a:lnSpc>
              <a:defRPr/>
            </a:pPr>
            <a:r>
              <a:rPr lang="zh-CN" altLang="en-US" sz="2800" dirty="0">
                <a:solidFill>
                  <a:srgbClr val="000000"/>
                </a:solidFill>
                <a:latin typeface="微软雅黑" pitchFamily="34" charset="-122"/>
                <a:ea typeface="微软雅黑" pitchFamily="34" charset="-122"/>
                <a:cs typeface="Times New Roman" pitchFamily="18" charset="0"/>
              </a:rPr>
              <a:t>卡诺定理同样适用于用平均温度表示的变温热源情况。</a:t>
            </a:r>
          </a:p>
        </p:txBody>
      </p:sp>
      <p:sp>
        <p:nvSpPr>
          <p:cNvPr id="13" name="矩形 12"/>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19</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3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4"/>
          <p:cNvSpPr>
            <a:spLocks noChangeArrowheads="1"/>
          </p:cNvSpPr>
          <p:nvPr/>
        </p:nvSpPr>
        <p:spPr bwMode="auto">
          <a:xfrm>
            <a:off x="409604" y="1276048"/>
            <a:ext cx="8305800" cy="5078313"/>
          </a:xfrm>
          <a:prstGeom prst="rect">
            <a:avLst/>
          </a:prstGeom>
          <a:noFill/>
          <a:ln w="9525">
            <a:noFill/>
            <a:miter lim="800000"/>
            <a:headEnd/>
            <a:tailEnd/>
          </a:ln>
          <a:effectLst/>
        </p:spPr>
        <p:txBody>
          <a:bodyPr anchor="ctr">
            <a:spAutoFit/>
          </a:bodyPr>
          <a:lstStyle/>
          <a:p>
            <a:pPr>
              <a:lnSpc>
                <a:spcPct val="150000"/>
              </a:lnSpc>
            </a:pPr>
            <a:r>
              <a:rPr lang="zh-CN" altLang="en-US" sz="2400" dirty="0">
                <a:solidFill>
                  <a:srgbClr val="FF0000"/>
                </a:solidFill>
                <a:latin typeface="微软雅黑" pitchFamily="34" charset="-122"/>
                <a:ea typeface="微软雅黑" pitchFamily="34" charset="-122"/>
              </a:rPr>
              <a:t>提高热机循环热效率的途径：</a:t>
            </a:r>
          </a:p>
          <a:p>
            <a:pPr>
              <a:lnSpc>
                <a:spcPct val="150000"/>
              </a:lnSpc>
            </a:pPr>
            <a:r>
              <a:rPr lang="zh-CN" altLang="en-US" sz="2400" dirty="0">
                <a:latin typeface="微软雅黑" pitchFamily="34" charset="-122"/>
                <a:ea typeface="微软雅黑" pitchFamily="34" charset="-122"/>
                <a:cs typeface="Times New Roman" pitchFamily="18" charset="0"/>
              </a:rPr>
              <a:t>①  </a:t>
            </a:r>
            <a:r>
              <a:rPr lang="zh-CN" altLang="en-US" sz="2400" dirty="0">
                <a:latin typeface="微软雅黑" pitchFamily="34" charset="-122"/>
                <a:ea typeface="微软雅黑" pitchFamily="34" charset="-122"/>
              </a:rPr>
              <a:t>降低循环的平均放热温度。但只能降低到天然冷源，若用低温的人工冷源，虽然可提高热效率，但总体是不经济的； </a:t>
            </a:r>
          </a:p>
          <a:p>
            <a:pPr>
              <a:lnSpc>
                <a:spcPct val="150000"/>
              </a:lnSpc>
            </a:pPr>
            <a:r>
              <a:rPr lang="zh-CN" altLang="en-US" sz="2400" dirty="0">
                <a:solidFill>
                  <a:srgbClr val="9933FF"/>
                </a:solidFill>
                <a:latin typeface="微软雅黑" pitchFamily="34" charset="-122"/>
                <a:ea typeface="微软雅黑" pitchFamily="34" charset="-122"/>
                <a:cs typeface="Times New Roman" pitchFamily="18" charset="0"/>
              </a:rPr>
              <a:t>②</a:t>
            </a:r>
            <a:r>
              <a:rPr lang="zh-CN" altLang="en-US" sz="2400" dirty="0">
                <a:solidFill>
                  <a:srgbClr val="9933FF"/>
                </a:solidFill>
                <a:latin typeface="微软雅黑" pitchFamily="34" charset="-122"/>
                <a:ea typeface="微软雅黑" pitchFamily="34" charset="-122"/>
              </a:rPr>
              <a:t>  提高平均吸热温度。这一直是热机发展的基本方向，取决于循环形式，以及材料的耐热程度；</a:t>
            </a:r>
          </a:p>
          <a:p>
            <a:pPr>
              <a:lnSpc>
                <a:spcPct val="150000"/>
              </a:lnSpc>
            </a:pPr>
            <a:r>
              <a:rPr lang="zh-CN" altLang="en-US" sz="2400" dirty="0">
                <a:latin typeface="微软雅黑" pitchFamily="34" charset="-122"/>
                <a:ea typeface="微软雅黑" pitchFamily="34" charset="-122"/>
                <a:cs typeface="Times New Roman" pitchFamily="18" charset="0"/>
              </a:rPr>
              <a:t>③  </a:t>
            </a:r>
            <a:r>
              <a:rPr lang="zh-CN" altLang="en-US" sz="2400" dirty="0">
                <a:latin typeface="微软雅黑" pitchFamily="34" charset="-122"/>
                <a:ea typeface="微软雅黑" pitchFamily="34" charset="-122"/>
              </a:rPr>
              <a:t>减小循环的不可逆程度。所有实际循环都是不可逆的，而在相同热源间工作的可逆热机的热效率最大，因此应尽量减小循环的不可逆程度。</a:t>
            </a:r>
          </a:p>
          <a:p>
            <a:pPr>
              <a:lnSpc>
                <a:spcPct val="150000"/>
              </a:lnSpc>
            </a:pPr>
            <a:r>
              <a:rPr lang="zh-CN" altLang="en-US" sz="2400" dirty="0">
                <a:solidFill>
                  <a:srgbClr val="4B3EEE"/>
                </a:solidFill>
                <a:latin typeface="微软雅黑" pitchFamily="34" charset="-122"/>
                <a:ea typeface="微软雅黑" pitchFamily="34" charset="-122"/>
              </a:rPr>
              <a:t>逆循环的分析方法与正循环相同。</a:t>
            </a:r>
          </a:p>
        </p:txBody>
      </p:sp>
      <p:sp>
        <p:nvSpPr>
          <p:cNvPr id="3" name="矩形 2"/>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20</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13">
                                            <p:txEl>
                                              <p:pRg st="1" end="1"/>
                                            </p:txEl>
                                          </p:spTgt>
                                        </p:tgtEl>
                                        <p:attrNameLst>
                                          <p:attrName>style.visibility</p:attrName>
                                        </p:attrNameLst>
                                      </p:cBhvr>
                                      <p:to>
                                        <p:strVal val="visible"/>
                                      </p:to>
                                    </p:set>
                                    <p:animEffect transition="in" filter="box(in)">
                                      <p:cBhvr>
                                        <p:cTn id="7" dur="500"/>
                                        <p:tgtEl>
                                          <p:spTgt spid="1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13">
                                            <p:txEl>
                                              <p:pRg st="2" end="2"/>
                                            </p:txEl>
                                          </p:spTgt>
                                        </p:tgtEl>
                                        <p:attrNameLst>
                                          <p:attrName>style.visibility</p:attrName>
                                        </p:attrNameLst>
                                      </p:cBhvr>
                                      <p:to>
                                        <p:strVal val="visible"/>
                                      </p:to>
                                    </p:set>
                                    <p:animEffect transition="in" filter="box(in)">
                                      <p:cBhvr>
                                        <p:cTn id="12" dur="500"/>
                                        <p:tgtEl>
                                          <p:spTgt spid="1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13">
                                            <p:txEl>
                                              <p:pRg st="3" end="3"/>
                                            </p:txEl>
                                          </p:spTgt>
                                        </p:tgtEl>
                                        <p:attrNameLst>
                                          <p:attrName>style.visibility</p:attrName>
                                        </p:attrNameLst>
                                      </p:cBhvr>
                                      <p:to>
                                        <p:strVal val="visible"/>
                                      </p:to>
                                    </p:set>
                                    <p:animEffect transition="in" filter="box(in)">
                                      <p:cBhvr>
                                        <p:cTn id="17" dur="500"/>
                                        <p:tgtEl>
                                          <p:spTgt spid="1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3">
                                            <p:txEl>
                                              <p:pRg st="4" end="4"/>
                                            </p:txEl>
                                          </p:spTgt>
                                        </p:tgtEl>
                                        <p:attrNameLst>
                                          <p:attrName>style.visibility</p:attrName>
                                        </p:attrNameLst>
                                      </p:cBhvr>
                                      <p:to>
                                        <p:strVal val="visible"/>
                                      </p:to>
                                    </p:set>
                                    <p:anim calcmode="lin" valueType="num">
                                      <p:cBhvr additive="base">
                                        <p:cTn id="22" dur="500" fill="hold"/>
                                        <p:tgtEl>
                                          <p:spTgt spid="13">
                                            <p:txEl>
                                              <p:pRg st="4" end="4"/>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1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2"/>
          <p:cNvSpPr txBox="1"/>
          <p:nvPr/>
        </p:nvSpPr>
        <p:spPr>
          <a:xfrm>
            <a:off x="0" y="1143000"/>
            <a:ext cx="5572132"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4-3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熵方程与孤立系统熵增原理</a:t>
            </a:r>
          </a:p>
        </p:txBody>
      </p:sp>
      <p:sp>
        <p:nvSpPr>
          <p:cNvPr id="10" name="Rectangle 4"/>
          <p:cNvSpPr>
            <a:spLocks noChangeArrowheads="1"/>
          </p:cNvSpPr>
          <p:nvPr/>
        </p:nvSpPr>
        <p:spPr bwMode="auto">
          <a:xfrm>
            <a:off x="642910" y="2214554"/>
            <a:ext cx="8429684" cy="642942"/>
          </a:xfrm>
          <a:prstGeom prst="rect">
            <a:avLst/>
          </a:prstGeom>
          <a:noFill/>
          <a:ln w="9525">
            <a:noFill/>
            <a:miter lim="800000"/>
            <a:headEnd/>
            <a:tailEnd/>
          </a:ln>
          <a:effectLst/>
        </p:spPr>
        <p:txBody>
          <a:bodyPr/>
          <a:lstStyle/>
          <a:p>
            <a:pPr marL="609600" lvl="2" indent="-609600">
              <a:lnSpc>
                <a:spcPct val="120000"/>
              </a:lnSpc>
            </a:pPr>
            <a:r>
              <a:rPr lang="zh-CN" altLang="en-US" sz="2800" dirty="0">
                <a:latin typeface="微软雅黑" pitchFamily="34" charset="-122"/>
                <a:ea typeface="微软雅黑" pitchFamily="34" charset="-122"/>
              </a:rPr>
              <a:t>由卡诺定理 （</a:t>
            </a:r>
            <a:r>
              <a:rPr lang="zh-CN" altLang="en-US" sz="2800" dirty="0">
                <a:solidFill>
                  <a:srgbClr val="0070C0"/>
                </a:solidFill>
                <a:latin typeface="微软雅黑" pitchFamily="34" charset="-122"/>
                <a:ea typeface="微软雅黑" pitchFamily="34" charset="-122"/>
                <a:cs typeface="Times New Roman" pitchFamily="18" charset="0"/>
              </a:rPr>
              <a:t>任意恒温热源间的可逆热机循环</a:t>
            </a:r>
            <a:r>
              <a:rPr lang="zh-CN" altLang="en-US" sz="2800" dirty="0">
                <a:latin typeface="微软雅黑" pitchFamily="34" charset="-122"/>
                <a:ea typeface="微软雅黑" pitchFamily="34" charset="-122"/>
              </a:rPr>
              <a:t>）</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sp>
        <p:nvSpPr>
          <p:cNvPr id="8" name="TextBox 37"/>
          <p:cNvSpPr txBox="1">
            <a:spLocks noChangeArrowheads="1"/>
          </p:cNvSpPr>
          <p:nvPr/>
        </p:nvSpPr>
        <p:spPr bwMode="auto">
          <a:xfrm>
            <a:off x="745742" y="1714488"/>
            <a:ext cx="5410434"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熵的定义式（一种经典导出方法）</a:t>
            </a:r>
          </a:p>
        </p:txBody>
      </p:sp>
      <p:sp>
        <p:nvSpPr>
          <p:cNvPr id="9" name="矩形 8"/>
          <p:cNvSpPr/>
          <p:nvPr/>
        </p:nvSpPr>
        <p:spPr>
          <a:xfrm>
            <a:off x="83978" y="1727957"/>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graphicFrame>
        <p:nvGraphicFramePr>
          <p:cNvPr id="11" name="Object 4"/>
          <p:cNvGraphicFramePr>
            <a:graphicFrameLocks noChangeAspect="1"/>
          </p:cNvGraphicFramePr>
          <p:nvPr>
            <p:extLst>
              <p:ext uri="{D42A27DB-BD31-4B8C-83A1-F6EECF244321}">
                <p14:modId xmlns:p14="http://schemas.microsoft.com/office/powerpoint/2010/main" val="754604646"/>
              </p:ext>
            </p:extLst>
          </p:nvPr>
        </p:nvGraphicFramePr>
        <p:xfrm>
          <a:off x="2627784" y="2780928"/>
          <a:ext cx="2328664" cy="855229"/>
        </p:xfrm>
        <a:graphic>
          <a:graphicData uri="http://schemas.openxmlformats.org/presentationml/2006/ole">
            <mc:AlternateContent xmlns:mc="http://schemas.openxmlformats.org/markup-compatibility/2006">
              <mc:Choice xmlns:v="urn:schemas-microsoft-com:vml" Requires="v">
                <p:oleObj spid="_x0000_s48391" name="Equation" r:id="rId4" imgW="1180588" imgH="431613" progId="Equation.3">
                  <p:embed/>
                </p:oleObj>
              </mc:Choice>
              <mc:Fallback>
                <p:oleObj name="Equation" r:id="rId4" imgW="1180588" imgH="431613"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784" y="2780928"/>
                        <a:ext cx="2328664" cy="855229"/>
                      </a:xfrm>
                      <a:prstGeom prst="rect">
                        <a:avLst/>
                      </a:prstGeom>
                      <a:noFill/>
                    </p:spPr>
                  </p:pic>
                </p:oleObj>
              </mc:Fallback>
            </mc:AlternateContent>
          </a:graphicData>
        </a:graphic>
      </p:graphicFrame>
      <p:graphicFrame>
        <p:nvGraphicFramePr>
          <p:cNvPr id="12" name="Object 6"/>
          <p:cNvGraphicFramePr>
            <a:graphicFrameLocks noChangeAspect="1"/>
          </p:cNvGraphicFramePr>
          <p:nvPr>
            <p:extLst>
              <p:ext uri="{D42A27DB-BD31-4B8C-83A1-F6EECF244321}">
                <p14:modId xmlns:p14="http://schemas.microsoft.com/office/powerpoint/2010/main" val="2850394185"/>
              </p:ext>
            </p:extLst>
          </p:nvPr>
        </p:nvGraphicFramePr>
        <p:xfrm>
          <a:off x="3131840" y="3743761"/>
          <a:ext cx="1480212" cy="909375"/>
        </p:xfrm>
        <a:graphic>
          <a:graphicData uri="http://schemas.openxmlformats.org/presentationml/2006/ole">
            <mc:AlternateContent xmlns:mc="http://schemas.openxmlformats.org/markup-compatibility/2006">
              <mc:Choice xmlns:v="urn:schemas-microsoft-com:vml" Requires="v">
                <p:oleObj spid="_x0000_s48392" name="Equation" r:id="rId6" imgW="698197" imgH="431613" progId="Equation.3">
                  <p:embed/>
                </p:oleObj>
              </mc:Choice>
              <mc:Fallback>
                <p:oleObj name="Equation" r:id="rId6" imgW="698197" imgH="431613"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31840" y="3743761"/>
                        <a:ext cx="1480212" cy="909375"/>
                      </a:xfrm>
                      <a:prstGeom prst="rect">
                        <a:avLst/>
                      </a:prstGeom>
                      <a:noFill/>
                    </p:spPr>
                  </p:pic>
                </p:oleObj>
              </mc:Fallback>
            </mc:AlternateContent>
          </a:graphicData>
        </a:graphic>
      </p:graphicFrame>
      <p:sp>
        <p:nvSpPr>
          <p:cNvPr id="13" name="Rectangle 7"/>
          <p:cNvSpPr>
            <a:spLocks noChangeArrowheads="1"/>
          </p:cNvSpPr>
          <p:nvPr/>
        </p:nvSpPr>
        <p:spPr bwMode="auto">
          <a:xfrm>
            <a:off x="714348" y="3918000"/>
            <a:ext cx="1255713" cy="519112"/>
          </a:xfrm>
          <a:prstGeom prst="rect">
            <a:avLst/>
          </a:prstGeom>
          <a:noFill/>
          <a:ln w="9525">
            <a:noFill/>
            <a:miter lim="800000"/>
            <a:headEnd/>
            <a:tailEnd/>
          </a:ln>
          <a:effectLst/>
        </p:spPr>
        <p:txBody>
          <a:bodyPr wrap="none">
            <a:spAutoFit/>
          </a:bodyPr>
          <a:lstStyle/>
          <a:p>
            <a:r>
              <a:rPr lang="zh-CN" altLang="en-US" sz="2800" dirty="0">
                <a:latin typeface="微软雅黑" pitchFamily="34" charset="-122"/>
                <a:ea typeface="微软雅黑" pitchFamily="34" charset="-122"/>
              </a:rPr>
              <a:t>可推得</a:t>
            </a:r>
          </a:p>
        </p:txBody>
      </p:sp>
      <p:graphicFrame>
        <p:nvGraphicFramePr>
          <p:cNvPr id="14" name="Object 8"/>
          <p:cNvGraphicFramePr>
            <a:graphicFrameLocks noChangeAspect="1"/>
          </p:cNvGraphicFramePr>
          <p:nvPr>
            <p:extLst>
              <p:ext uri="{D42A27DB-BD31-4B8C-83A1-F6EECF244321}">
                <p14:modId xmlns:p14="http://schemas.microsoft.com/office/powerpoint/2010/main" val="1579462917"/>
              </p:ext>
            </p:extLst>
          </p:nvPr>
        </p:nvGraphicFramePr>
        <p:xfrm>
          <a:off x="2935840" y="5517114"/>
          <a:ext cx="1934526" cy="908838"/>
        </p:xfrm>
        <a:graphic>
          <a:graphicData uri="http://schemas.openxmlformats.org/presentationml/2006/ole">
            <mc:AlternateContent xmlns:mc="http://schemas.openxmlformats.org/markup-compatibility/2006">
              <mc:Choice xmlns:v="urn:schemas-microsoft-com:vml" Requires="v">
                <p:oleObj spid="_x0000_s48393" name="Equation" r:id="rId8" imgW="914400" imgH="431800" progId="Equation.3">
                  <p:embed/>
                </p:oleObj>
              </mc:Choice>
              <mc:Fallback>
                <p:oleObj name="Equation" r:id="rId8" imgW="914400" imgH="4318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35840" y="5517114"/>
                        <a:ext cx="1934526" cy="908838"/>
                      </a:xfrm>
                      <a:prstGeom prst="rect">
                        <a:avLst/>
                      </a:prstGeom>
                      <a:noFill/>
                    </p:spPr>
                  </p:pic>
                </p:oleObj>
              </mc:Fallback>
            </mc:AlternateContent>
          </a:graphicData>
        </a:graphic>
      </p:graphicFrame>
      <p:sp>
        <p:nvSpPr>
          <p:cNvPr id="17" name="Rectangle 4"/>
          <p:cNvSpPr>
            <a:spLocks noChangeArrowheads="1"/>
          </p:cNvSpPr>
          <p:nvPr/>
        </p:nvSpPr>
        <p:spPr bwMode="auto">
          <a:xfrm>
            <a:off x="357158" y="4786322"/>
            <a:ext cx="6087050" cy="642942"/>
          </a:xfrm>
          <a:prstGeom prst="rect">
            <a:avLst/>
          </a:prstGeom>
          <a:noFill/>
          <a:ln w="9525">
            <a:noFill/>
            <a:miter lim="800000"/>
            <a:headEnd/>
            <a:tailEnd/>
          </a:ln>
          <a:effectLst/>
        </p:spPr>
        <p:txBody>
          <a:bodyPr/>
          <a:lstStyle/>
          <a:p>
            <a:pPr marL="0" lvl="2">
              <a:lnSpc>
                <a:spcPct val="120000"/>
              </a:lnSpc>
            </a:pPr>
            <a:r>
              <a:rPr lang="zh-CN" altLang="en-US" sz="2800" dirty="0">
                <a:latin typeface="微软雅黑" pitchFamily="34" charset="-122"/>
                <a:ea typeface="微软雅黑" pitchFamily="34" charset="-122"/>
              </a:rPr>
              <a:t>   若考虑 </a:t>
            </a:r>
            <a:r>
              <a:rPr lang="en-US" altLang="zh-CN" sz="2800" i="1" dirty="0">
                <a:latin typeface="Times New Roman" pitchFamily="18" charset="0"/>
              </a:rPr>
              <a:t>Q</a:t>
            </a:r>
            <a:r>
              <a:rPr lang="en-US" altLang="zh-CN" sz="2800" baseline="-25000" dirty="0">
                <a:latin typeface="Times New Roman" pitchFamily="18" charset="0"/>
              </a:rPr>
              <a:t>2 </a:t>
            </a:r>
            <a:r>
              <a:rPr lang="zh-CN" altLang="en-US" sz="2800" dirty="0">
                <a:latin typeface="微软雅黑" pitchFamily="34" charset="-122"/>
                <a:ea typeface="微软雅黑" pitchFamily="34" charset="-122"/>
              </a:rPr>
              <a:t>为放热量，代入负号，则</a:t>
            </a:r>
          </a:p>
          <a:p>
            <a:pPr indent="504000" algn="r">
              <a:lnSpc>
                <a:spcPct val="120000"/>
              </a:lnSpc>
              <a:spcBef>
                <a:spcPts val="1200"/>
              </a:spcBef>
            </a:pPr>
            <a:endParaRPr lang="zh-CN" altLang="en-US" sz="2800" dirty="0">
              <a:latin typeface="微软雅黑" pitchFamily="34" charset="-122"/>
              <a:ea typeface="微软雅黑" pitchFamily="34" charset="-122"/>
            </a:endParaRPr>
          </a:p>
        </p:txBody>
      </p:sp>
      <p:sp>
        <p:nvSpPr>
          <p:cNvPr id="15" name="矩形 1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21</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animBg="1"/>
      <p:bldP spid="13"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4"/>
          <p:cNvSpPr>
            <a:spLocks noChangeArrowheads="1"/>
          </p:cNvSpPr>
          <p:nvPr/>
        </p:nvSpPr>
        <p:spPr bwMode="auto">
          <a:xfrm>
            <a:off x="426342" y="1399647"/>
            <a:ext cx="3641602" cy="642942"/>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a:lstStyle/>
          <a:p>
            <a:pPr marL="0" lvl="2">
              <a:lnSpc>
                <a:spcPct val="120000"/>
              </a:lnSpc>
            </a:pPr>
            <a:r>
              <a:rPr lang="zh-CN" altLang="en-US" sz="2800" dirty="0">
                <a:solidFill>
                  <a:srgbClr val="000000"/>
                </a:solidFill>
                <a:latin typeface="微软雅黑" pitchFamily="34" charset="-122"/>
                <a:ea typeface="微软雅黑" pitchFamily="34" charset="-122"/>
                <a:cs typeface="Times New Roman" pitchFamily="18" charset="0"/>
              </a:rPr>
              <a:t>对</a:t>
            </a:r>
            <a:r>
              <a:rPr lang="zh-CN" altLang="en-US" sz="2800" dirty="0">
                <a:solidFill>
                  <a:srgbClr val="FF0000"/>
                </a:solidFill>
                <a:latin typeface="微软雅黑" pitchFamily="34" charset="-122"/>
                <a:ea typeface="微软雅黑" pitchFamily="34" charset="-122"/>
                <a:cs typeface="Times New Roman" pitchFamily="18" charset="0"/>
              </a:rPr>
              <a:t>卡诺循环</a:t>
            </a:r>
            <a:r>
              <a:rPr lang="zh-CN" altLang="en-US" sz="2800" dirty="0">
                <a:solidFill>
                  <a:srgbClr val="000000"/>
                </a:solidFill>
                <a:latin typeface="微软雅黑" pitchFamily="34" charset="-122"/>
                <a:ea typeface="微软雅黑" pitchFamily="34" charset="-122"/>
                <a:cs typeface="Times New Roman" pitchFamily="18" charset="0"/>
              </a:rPr>
              <a:t>，可导得： </a:t>
            </a:r>
            <a:endParaRPr lang="zh-CN" altLang="en-US" sz="2800" dirty="0">
              <a:latin typeface="微软雅黑" pitchFamily="34" charset="-122"/>
              <a:ea typeface="微软雅黑" pitchFamily="34" charset="-122"/>
            </a:endParaRPr>
          </a:p>
          <a:p>
            <a:pPr indent="504000" algn="r">
              <a:lnSpc>
                <a:spcPct val="120000"/>
              </a:lnSpc>
              <a:spcBef>
                <a:spcPts val="1200"/>
              </a:spcBef>
            </a:pPr>
            <a:endParaRPr lang="zh-CN" altLang="en-US" sz="2800" dirty="0">
              <a:latin typeface="微软雅黑" pitchFamily="34" charset="-122"/>
              <a:ea typeface="微软雅黑" pitchFamily="34" charset="-122"/>
            </a:endParaRPr>
          </a:p>
        </p:txBody>
      </p:sp>
      <p:graphicFrame>
        <p:nvGraphicFramePr>
          <p:cNvPr id="15" name="Object 19"/>
          <p:cNvGraphicFramePr>
            <a:graphicFrameLocks noChangeAspect="1"/>
          </p:cNvGraphicFramePr>
          <p:nvPr>
            <p:extLst>
              <p:ext uri="{D42A27DB-BD31-4B8C-83A1-F6EECF244321}">
                <p14:modId xmlns:p14="http://schemas.microsoft.com/office/powerpoint/2010/main" val="3993623178"/>
              </p:ext>
            </p:extLst>
          </p:nvPr>
        </p:nvGraphicFramePr>
        <p:xfrm>
          <a:off x="4639972" y="1268760"/>
          <a:ext cx="1156164" cy="806922"/>
        </p:xfrm>
        <a:graphic>
          <a:graphicData uri="http://schemas.openxmlformats.org/presentationml/2006/ole">
            <mc:AlternateContent xmlns:mc="http://schemas.openxmlformats.org/markup-compatibility/2006">
              <mc:Choice xmlns:v="urn:schemas-microsoft-com:vml" Requires="v">
                <p:oleObj spid="_x0000_s49262" name="公式" r:id="rId4" imgW="723586" imgH="507780" progId="Equation.3">
                  <p:embed/>
                </p:oleObj>
              </mc:Choice>
              <mc:Fallback>
                <p:oleObj name="公式" r:id="rId4" imgW="723586" imgH="507780" progId="Equation.3">
                  <p:embed/>
                  <p:pic>
                    <p:nvPicPr>
                      <p:cNvPr id="0" name="Object 1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39972" y="1268760"/>
                        <a:ext cx="1156164" cy="806922"/>
                      </a:xfrm>
                      <a:prstGeom prst="rect">
                        <a:avLst/>
                      </a:prstGeom>
                      <a:noFill/>
                    </p:spPr>
                  </p:pic>
                </p:oleObj>
              </mc:Fallback>
            </mc:AlternateContent>
          </a:graphicData>
        </a:graphic>
      </p:graphicFrame>
      <p:sp>
        <p:nvSpPr>
          <p:cNvPr id="16" name="Rectangle 4"/>
          <p:cNvSpPr>
            <a:spLocks noChangeArrowheads="1"/>
          </p:cNvSpPr>
          <p:nvPr/>
        </p:nvSpPr>
        <p:spPr bwMode="auto">
          <a:xfrm>
            <a:off x="395536" y="3861048"/>
            <a:ext cx="8429684" cy="1355042"/>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a:lstStyle/>
          <a:p>
            <a:pPr marL="0" lvl="2">
              <a:lnSpc>
                <a:spcPct val="150000"/>
              </a:lnSpc>
            </a:pPr>
            <a:r>
              <a:rPr lang="zh-CN" altLang="en-US" sz="2800" dirty="0">
                <a:latin typeface="微软雅黑" pitchFamily="34" charset="-122"/>
                <a:ea typeface="微软雅黑" pitchFamily="34" charset="-122"/>
                <a:cs typeface="Times New Roman" pitchFamily="18" charset="0"/>
              </a:rPr>
              <a:t>由状态参数的性质，循环积分为零是状态参数，所以</a:t>
            </a:r>
            <a:r>
              <a:rPr lang="zh-CN" altLang="en-US" sz="2800" dirty="0">
                <a:latin typeface="微软雅黑" pitchFamily="34" charset="-122"/>
                <a:ea typeface="微软雅黑" pitchFamily="34" charset="-122"/>
              </a:rPr>
              <a:t>克劳修斯</a:t>
            </a:r>
            <a:r>
              <a:rPr lang="zh-CN" altLang="en-US" sz="2800" dirty="0">
                <a:latin typeface="微软雅黑" pitchFamily="34" charset="-122"/>
                <a:ea typeface="微软雅黑" pitchFamily="34" charset="-122"/>
                <a:cs typeface="Times New Roman" pitchFamily="18" charset="0"/>
              </a:rPr>
              <a:t>将</a:t>
            </a:r>
            <a:r>
              <a:rPr lang="en-US" altLang="zh-CN" sz="2800" b="1" i="1" dirty="0" err="1">
                <a:latin typeface="Times New Roman" pitchFamily="18" charset="0"/>
                <a:cs typeface="Times New Roman" panose="02020603050405020304" pitchFamily="18" charset="0"/>
              </a:rPr>
              <a:t>δQ</a:t>
            </a:r>
            <a:r>
              <a:rPr lang="zh-CN" altLang="en-US" sz="2800" b="1" i="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 </a:t>
            </a:r>
            <a:r>
              <a:rPr lang="zh-CN" altLang="en-US" sz="2800" dirty="0">
                <a:latin typeface="微软雅黑" pitchFamily="34" charset="-122"/>
                <a:ea typeface="微软雅黑" pitchFamily="34" charset="-122"/>
                <a:cs typeface="Times New Roman" pitchFamily="18" charset="0"/>
              </a:rPr>
              <a:t>定义为状态参数熵。</a:t>
            </a:r>
          </a:p>
        </p:txBody>
      </p:sp>
      <p:sp>
        <p:nvSpPr>
          <p:cNvPr id="19" name="Rectangle 5"/>
          <p:cNvSpPr>
            <a:spLocks noChangeArrowheads="1"/>
          </p:cNvSpPr>
          <p:nvPr/>
        </p:nvSpPr>
        <p:spPr bwMode="auto">
          <a:xfrm>
            <a:off x="406607" y="2238817"/>
            <a:ext cx="8333228" cy="1384995"/>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square" anchor="ctr">
            <a:spAutoFit/>
          </a:bodyPr>
          <a:lstStyle/>
          <a:p>
            <a:pPr>
              <a:lnSpc>
                <a:spcPct val="150000"/>
              </a:lnSpc>
            </a:pPr>
            <a:r>
              <a:rPr lang="zh-CN" altLang="en-US" sz="2800" dirty="0">
                <a:solidFill>
                  <a:schemeClr val="tx1"/>
                </a:solidFill>
                <a:latin typeface="微软雅黑" pitchFamily="34" charset="-122"/>
                <a:ea typeface="微软雅黑" pitchFamily="34" charset="-122"/>
              </a:rPr>
              <a:t>对任意可逆循环（非卡诺循环），</a:t>
            </a:r>
            <a:r>
              <a:rPr lang="zh-CN" altLang="en-US" sz="2800" dirty="0">
                <a:solidFill>
                  <a:prstClr val="black"/>
                </a:solidFill>
                <a:latin typeface="微软雅黑" pitchFamily="34" charset="-122"/>
                <a:ea typeface="微软雅黑" pitchFamily="34" charset="-122"/>
              </a:rPr>
              <a:t>同样可得出上式。</a:t>
            </a:r>
            <a:endParaRPr lang="en-US" altLang="zh-CN" sz="2800" dirty="0">
              <a:solidFill>
                <a:prstClr val="black"/>
              </a:solidFill>
              <a:latin typeface="微软雅黑" pitchFamily="34" charset="-122"/>
              <a:ea typeface="微软雅黑" pitchFamily="34" charset="-122"/>
            </a:endParaRPr>
          </a:p>
          <a:p>
            <a:pPr>
              <a:lnSpc>
                <a:spcPct val="150000"/>
              </a:lnSpc>
            </a:pPr>
            <a:r>
              <a:rPr lang="en-US" altLang="zh-CN" sz="2800" dirty="0">
                <a:solidFill>
                  <a:srgbClr val="000000"/>
                </a:solidFill>
                <a:latin typeface="微软雅黑" pitchFamily="34" charset="-122"/>
                <a:ea typeface="微软雅黑" pitchFamily="34" charset="-122"/>
                <a:cs typeface="Times New Roman" pitchFamily="18" charset="0"/>
              </a:rPr>
              <a:t>(</a:t>
            </a:r>
            <a:r>
              <a:rPr lang="zh-CN" altLang="en-US" sz="2800" dirty="0">
                <a:solidFill>
                  <a:srgbClr val="000000"/>
                </a:solidFill>
                <a:latin typeface="微软雅黑" pitchFamily="34" charset="-122"/>
                <a:ea typeface="微软雅黑" pitchFamily="34" charset="-122"/>
                <a:cs typeface="Times New Roman" pitchFamily="18" charset="0"/>
              </a:rPr>
              <a:t>推导过程见教材</a:t>
            </a:r>
            <a:r>
              <a:rPr lang="en-US" altLang="zh-CN" sz="2800" dirty="0">
                <a:solidFill>
                  <a:srgbClr val="000000"/>
                </a:solidFill>
                <a:latin typeface="微软雅黑" pitchFamily="34" charset="-122"/>
                <a:ea typeface="微软雅黑" pitchFamily="34" charset="-122"/>
                <a:cs typeface="Times New Roman" pitchFamily="18" charset="0"/>
              </a:rPr>
              <a:t>P.</a:t>
            </a:r>
            <a:r>
              <a:rPr lang="en-US" altLang="zh-CN" sz="1100" dirty="0">
                <a:solidFill>
                  <a:srgbClr val="000000"/>
                </a:solidFill>
                <a:latin typeface="微软雅黑" pitchFamily="34" charset="-122"/>
                <a:ea typeface="微软雅黑" pitchFamily="34" charset="-122"/>
                <a:cs typeface="Times New Roman" pitchFamily="18" charset="0"/>
              </a:rPr>
              <a:t> </a:t>
            </a:r>
            <a:r>
              <a:rPr lang="en-US" altLang="zh-CN" sz="2800" dirty="0">
                <a:solidFill>
                  <a:srgbClr val="000000"/>
                </a:solidFill>
                <a:latin typeface="微软雅黑" pitchFamily="34" charset="-122"/>
                <a:ea typeface="微软雅黑" pitchFamily="34" charset="-122"/>
                <a:cs typeface="Times New Roman" pitchFamily="18" charset="0"/>
              </a:rPr>
              <a:t>68)</a:t>
            </a:r>
            <a:endParaRPr lang="zh-CN" altLang="en-US" sz="2800" dirty="0">
              <a:solidFill>
                <a:srgbClr val="000000"/>
              </a:solidFill>
              <a:latin typeface="微软雅黑" pitchFamily="34" charset="-122"/>
              <a:ea typeface="微软雅黑" pitchFamily="34" charset="-122"/>
              <a:cs typeface="Times New Roman" pitchFamily="18" charset="0"/>
            </a:endParaRPr>
          </a:p>
        </p:txBody>
      </p:sp>
      <p:sp>
        <p:nvSpPr>
          <p:cNvPr id="9" name="矩形 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22</a:t>
            </a:r>
            <a:endParaRPr lang="zh-CN" altLang="en-US" sz="2000" b="1" dirty="0">
              <a:solidFill>
                <a:schemeClr val="tx1"/>
              </a:solidFill>
              <a:latin typeface="黑体" pitchFamily="49" charset="-122"/>
              <a:ea typeface="黑体" pitchFamily="49" charset="-122"/>
            </a:endParaRPr>
          </a:p>
        </p:txBody>
      </p:sp>
      <p:sp>
        <p:nvSpPr>
          <p:cNvPr id="11" name="Text Box 13"/>
          <p:cNvSpPr txBox="1">
            <a:spLocks noChangeArrowheads="1"/>
          </p:cNvSpPr>
          <p:nvPr/>
        </p:nvSpPr>
        <p:spPr bwMode="auto">
          <a:xfrm>
            <a:off x="755576" y="5373216"/>
            <a:ext cx="6475071" cy="523220"/>
          </a:xfrm>
          <a:prstGeom prst="rect">
            <a:avLst/>
          </a:prstGeom>
          <a:noFill/>
          <a:ln w="9525">
            <a:noFill/>
            <a:miter lim="800000"/>
            <a:headEnd/>
            <a:tailEnd/>
          </a:ln>
          <a:effectLst/>
        </p:spPr>
        <p:txBody>
          <a:bodyPr>
            <a:spAutoFit/>
          </a:bodyPr>
          <a:lstStyle/>
          <a:p>
            <a:r>
              <a:rPr lang="zh-CN" altLang="en-US" sz="2800" dirty="0">
                <a:latin typeface="微软雅黑" pitchFamily="34" charset="-122"/>
                <a:ea typeface="微软雅黑" pitchFamily="34" charset="-122"/>
              </a:rPr>
              <a:t>式中</a:t>
            </a:r>
            <a:r>
              <a:rPr lang="zh-CN" altLang="en-US" sz="2800" dirty="0">
                <a:latin typeface="Times New Roman" pitchFamily="18" charset="0"/>
              </a:rPr>
              <a:t>   </a:t>
            </a:r>
            <a:r>
              <a:rPr lang="en-US" altLang="zh-CN" sz="2800" b="1" i="1" dirty="0">
                <a:latin typeface="Times New Roman" pitchFamily="18" charset="0"/>
              </a:rPr>
              <a:t>T</a:t>
            </a:r>
            <a:r>
              <a:rPr lang="en-US" altLang="zh-CN" sz="2800" b="0" i="1" dirty="0">
                <a:latin typeface="Times New Roman" pitchFamily="18" charset="0"/>
              </a:rPr>
              <a:t> </a:t>
            </a:r>
            <a:r>
              <a:rPr lang="en-US" altLang="zh-CN" sz="2800" b="1" i="1" dirty="0">
                <a:latin typeface="Times New Roman" pitchFamily="18" charset="0"/>
              </a:rPr>
              <a:t>— </a:t>
            </a:r>
            <a:r>
              <a:rPr lang="zh-CN" altLang="en-US" sz="2800" dirty="0">
                <a:latin typeface="微软雅黑" pitchFamily="34" charset="-122"/>
                <a:ea typeface="微软雅黑" pitchFamily="34" charset="-122"/>
              </a:rPr>
              <a:t>热源温度（等于工质温度）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9" grpId="0" animBg="1"/>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
          <p:cNvSpPr>
            <a:spLocks noChangeArrowheads="1"/>
          </p:cNvSpPr>
          <p:nvPr/>
        </p:nvSpPr>
        <p:spPr bwMode="auto">
          <a:xfrm>
            <a:off x="402852" y="1050682"/>
            <a:ext cx="2873003" cy="523220"/>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nchor="ctr">
            <a:spAutoFit/>
          </a:bodyPr>
          <a:lstStyle/>
          <a:p>
            <a:r>
              <a:rPr lang="en-US" altLang="zh-CN" sz="2800" dirty="0">
                <a:solidFill>
                  <a:srgbClr val="000000"/>
                </a:solidFill>
                <a:latin typeface="Times New Roman" pitchFamily="18" charset="0"/>
                <a:ea typeface="方正书宋简体" charset="-122"/>
                <a:cs typeface="Times New Roman" pitchFamily="18" charset="0"/>
              </a:rPr>
              <a:t> </a:t>
            </a:r>
            <a:r>
              <a:rPr lang="zh-CN" altLang="en-US" sz="2800" dirty="0">
                <a:solidFill>
                  <a:srgbClr val="000000"/>
                </a:solidFill>
                <a:latin typeface="微软雅黑" pitchFamily="34" charset="-122"/>
                <a:ea typeface="微软雅黑" pitchFamily="34" charset="-122"/>
                <a:cs typeface="Times New Roman" pitchFamily="18" charset="0"/>
              </a:rPr>
              <a:t>可逆过程的熵变</a:t>
            </a:r>
            <a:r>
              <a:rPr lang="en-US" altLang="zh-CN" sz="2800" dirty="0">
                <a:solidFill>
                  <a:srgbClr val="000000"/>
                </a:solidFill>
                <a:latin typeface="微软雅黑" pitchFamily="34" charset="-122"/>
                <a:ea typeface="微软雅黑" pitchFamily="34" charset="-122"/>
                <a:cs typeface="Times New Roman" pitchFamily="18" charset="0"/>
              </a:rPr>
              <a:t>:</a:t>
            </a:r>
            <a:endParaRPr lang="zh-CN" altLang="en-US" sz="2800" dirty="0">
              <a:solidFill>
                <a:srgbClr val="000000"/>
              </a:solidFill>
              <a:latin typeface="微软雅黑" pitchFamily="34" charset="-122"/>
              <a:ea typeface="微软雅黑" pitchFamily="34" charset="-122"/>
              <a:cs typeface="Times New Roman" pitchFamily="18" charset="0"/>
            </a:endParaRPr>
          </a:p>
        </p:txBody>
      </p:sp>
      <p:graphicFrame>
        <p:nvGraphicFramePr>
          <p:cNvPr id="23" name="Object 3"/>
          <p:cNvGraphicFramePr>
            <a:graphicFrameLocks noChangeAspect="1"/>
          </p:cNvGraphicFramePr>
          <p:nvPr>
            <p:extLst>
              <p:ext uri="{D42A27DB-BD31-4B8C-83A1-F6EECF244321}">
                <p14:modId xmlns:p14="http://schemas.microsoft.com/office/powerpoint/2010/main" val="2593966534"/>
              </p:ext>
            </p:extLst>
          </p:nvPr>
        </p:nvGraphicFramePr>
        <p:xfrm>
          <a:off x="2843808" y="1556792"/>
          <a:ext cx="2736304" cy="1530475"/>
        </p:xfrm>
        <a:graphic>
          <a:graphicData uri="http://schemas.openxmlformats.org/presentationml/2006/ole">
            <mc:AlternateContent xmlns:mc="http://schemas.openxmlformats.org/markup-compatibility/2006">
              <mc:Choice xmlns:v="urn:schemas-microsoft-com:vml" Requires="v">
                <p:oleObj spid="_x0000_s51294" name="公式" r:id="rId3" imgW="1409700" imgH="787400" progId="Equation.3">
                  <p:embed/>
                </p:oleObj>
              </mc:Choice>
              <mc:Fallback>
                <p:oleObj name="公式" r:id="rId3" imgW="1409700" imgH="7874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1556792"/>
                        <a:ext cx="2736304" cy="1530475"/>
                      </a:xfrm>
                      <a:prstGeom prst="rect">
                        <a:avLst/>
                      </a:prstGeom>
                      <a:noFill/>
                    </p:spPr>
                  </p:pic>
                </p:oleObj>
              </mc:Fallback>
            </mc:AlternateContent>
          </a:graphicData>
        </a:graphic>
      </p:graphicFrame>
      <p:sp>
        <p:nvSpPr>
          <p:cNvPr id="26" name="Rectangle 6"/>
          <p:cNvSpPr>
            <a:spLocks noChangeArrowheads="1"/>
          </p:cNvSpPr>
          <p:nvPr/>
        </p:nvSpPr>
        <p:spPr bwMode="auto">
          <a:xfrm>
            <a:off x="419128" y="3845947"/>
            <a:ext cx="8153400" cy="2031325"/>
          </a:xfrm>
          <a:prstGeom prst="rect">
            <a:avLst/>
          </a:prstGeom>
          <a:noFill/>
          <a:ln w="9525">
            <a:noFill/>
            <a:miter lim="800000"/>
            <a:headEnd/>
            <a:tailEnd/>
          </a:ln>
          <a:effectLst/>
        </p:spPr>
        <p:txBody>
          <a:bodyPr>
            <a:spAutoFit/>
          </a:bodyPr>
          <a:lstStyle/>
          <a:p>
            <a:pPr>
              <a:lnSpc>
                <a:spcPct val="150000"/>
              </a:lnSpc>
            </a:pPr>
            <a:r>
              <a:rPr lang="zh-CN" altLang="en-US" sz="2800" dirty="0">
                <a:solidFill>
                  <a:srgbClr val="000000"/>
                </a:solidFill>
                <a:latin typeface="微软雅黑" pitchFamily="34" charset="-122"/>
                <a:ea typeface="微软雅黑" pitchFamily="34" charset="-122"/>
                <a:cs typeface="Times New Roman" pitchFamily="18" charset="0"/>
              </a:rPr>
              <a:t>对等温过程，且换热量易求时，则可简单表示为：</a:t>
            </a:r>
            <a:endParaRPr lang="en-US" altLang="zh-CN" sz="2800" dirty="0">
              <a:solidFill>
                <a:srgbClr val="000000"/>
              </a:solidFill>
              <a:latin typeface="微软雅黑" pitchFamily="34" charset="-122"/>
              <a:ea typeface="微软雅黑" pitchFamily="34" charset="-122"/>
              <a:cs typeface="Times New Roman" pitchFamily="18" charset="0"/>
            </a:endParaRPr>
          </a:p>
          <a:p>
            <a:pPr>
              <a:lnSpc>
                <a:spcPct val="150000"/>
              </a:lnSpc>
            </a:pPr>
            <a:r>
              <a:rPr lang="en-US" altLang="zh-CN" sz="2800" b="1" dirty="0">
                <a:latin typeface="Times New Roman" pitchFamily="18" charset="0"/>
                <a:cs typeface="Times New Roman" panose="02020603050405020304" pitchFamily="18" charset="0"/>
              </a:rPr>
              <a:t>                       </a:t>
            </a:r>
            <a:r>
              <a:rPr lang="en-US" altLang="zh-CN" sz="2800" b="1" dirty="0" err="1">
                <a:latin typeface="Times New Roman" pitchFamily="18" charset="0"/>
                <a:cs typeface="Times New Roman" panose="02020603050405020304" pitchFamily="18" charset="0"/>
              </a:rPr>
              <a:t>d</a:t>
            </a:r>
            <a:r>
              <a:rPr lang="en-US" altLang="zh-CN" sz="2800" b="1" i="1" dirty="0" err="1">
                <a:latin typeface="Times New Roman" pitchFamily="18" charset="0"/>
                <a:cs typeface="Times New Roman" panose="02020603050405020304" pitchFamily="18" charset="0"/>
              </a:rPr>
              <a:t>S</a:t>
            </a:r>
            <a:r>
              <a:rPr lang="en-US" altLang="zh-CN" sz="2800" b="1" i="1" dirty="0">
                <a:latin typeface="Times New Roman"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r>
              <a:rPr lang="en-US" altLang="zh-CN" sz="2800" b="1" i="1" dirty="0" err="1">
                <a:latin typeface="Times New Roman" pitchFamily="18" charset="0"/>
                <a:cs typeface="Times New Roman" panose="02020603050405020304" pitchFamily="18" charset="0"/>
              </a:rPr>
              <a:t>δQ</a:t>
            </a:r>
            <a:r>
              <a:rPr lang="zh-CN" altLang="en-US" sz="2800" b="1" i="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        ΔS=</a:t>
            </a:r>
            <a:r>
              <a:rPr lang="en-US" altLang="zh-CN" b="1" i="1" dirty="0">
                <a:latin typeface="Times New Roman" pitchFamily="18" charset="0"/>
                <a:cs typeface="Times New Roman" panose="02020603050405020304" pitchFamily="18" charset="0"/>
              </a:rPr>
              <a:t> </a:t>
            </a:r>
            <a:r>
              <a:rPr lang="en-US" altLang="zh-CN" sz="2800" b="1" i="1" dirty="0">
                <a:latin typeface="Times New Roman" pitchFamily="18" charset="0"/>
                <a:cs typeface="Times New Roman" panose="02020603050405020304" pitchFamily="18" charset="0"/>
              </a:rPr>
              <a:t>Q</a:t>
            </a:r>
            <a:r>
              <a:rPr lang="zh-CN" altLang="en-US" sz="2800" b="1" i="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 </a:t>
            </a:r>
          </a:p>
          <a:p>
            <a:pPr>
              <a:lnSpc>
                <a:spcPct val="150000"/>
              </a:lnSpc>
            </a:pPr>
            <a:r>
              <a:rPr lang="en-US" altLang="zh-CN" sz="2800" b="1" dirty="0">
                <a:latin typeface="Times New Roman" pitchFamily="18" charset="0"/>
                <a:cs typeface="Times New Roman" panose="02020603050405020304" pitchFamily="18" charset="0"/>
              </a:rPr>
              <a:t>                       </a:t>
            </a:r>
            <a:r>
              <a:rPr lang="en-US" altLang="zh-CN" sz="2800" b="1" dirty="0" err="1">
                <a:latin typeface="Times New Roman" pitchFamily="18" charset="0"/>
                <a:cs typeface="Times New Roman" panose="02020603050405020304" pitchFamily="18" charset="0"/>
              </a:rPr>
              <a:t>d</a:t>
            </a:r>
            <a:r>
              <a:rPr lang="en-US" altLang="zh-CN" sz="2800" b="1" i="1" dirty="0" err="1">
                <a:latin typeface="Times New Roman" pitchFamily="18" charset="0"/>
                <a:cs typeface="Times New Roman" panose="02020603050405020304" pitchFamily="18" charset="0"/>
              </a:rPr>
              <a:t>s</a:t>
            </a:r>
            <a:r>
              <a:rPr lang="en-US" altLang="zh-CN" sz="2800" b="1" i="1" dirty="0">
                <a:latin typeface="Times New Roman" pitchFamily="18" charset="0"/>
                <a:cs typeface="Times New Roman" panose="02020603050405020304" pitchFamily="18" charset="0"/>
              </a:rPr>
              <a:t>=</a:t>
            </a:r>
            <a:r>
              <a:rPr lang="en-US" altLang="zh-CN" b="1" dirty="0">
                <a:latin typeface="Times New Roman" panose="02020603050405020304" pitchFamily="18" charset="0"/>
                <a:cs typeface="Times New Roman" panose="02020603050405020304" pitchFamily="18" charset="0"/>
              </a:rPr>
              <a:t> </a:t>
            </a:r>
            <a:r>
              <a:rPr lang="en-US" altLang="zh-CN" sz="2800" b="1" i="1" dirty="0" err="1">
                <a:latin typeface="Times New Roman" pitchFamily="18" charset="0"/>
                <a:cs typeface="Times New Roman" panose="02020603050405020304" pitchFamily="18" charset="0"/>
              </a:rPr>
              <a:t>δq</a:t>
            </a:r>
            <a:r>
              <a:rPr lang="zh-CN" altLang="en-US" sz="2800" b="1" i="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          Δs=</a:t>
            </a:r>
            <a:r>
              <a:rPr lang="en-US" altLang="zh-CN" b="1" i="1" dirty="0">
                <a:latin typeface="Times New Roman" pitchFamily="18" charset="0"/>
                <a:cs typeface="Times New Roman" panose="02020603050405020304" pitchFamily="18" charset="0"/>
              </a:rPr>
              <a:t> </a:t>
            </a:r>
            <a:r>
              <a:rPr lang="en-US" altLang="zh-CN" sz="2800" b="1" i="1" dirty="0">
                <a:latin typeface="Times New Roman" pitchFamily="18" charset="0"/>
                <a:cs typeface="Times New Roman" panose="02020603050405020304" pitchFamily="18" charset="0"/>
              </a:rPr>
              <a:t>q</a:t>
            </a:r>
            <a:r>
              <a:rPr lang="zh-CN" altLang="en-US" sz="2800" b="1" i="1" dirty="0">
                <a:latin typeface="Times New Roman" pitchFamily="18" charset="0"/>
                <a:cs typeface="Times New Roman" panose="02020603050405020304" pitchFamily="18" charset="0"/>
              </a:rPr>
              <a:t>／</a:t>
            </a:r>
            <a:r>
              <a:rPr lang="en-US" altLang="zh-CN" sz="2800" b="1" i="1" dirty="0">
                <a:latin typeface="Times New Roman" pitchFamily="18" charset="0"/>
                <a:cs typeface="Times New Roman" panose="02020603050405020304" pitchFamily="18" charset="0"/>
              </a:rPr>
              <a:t>T </a:t>
            </a:r>
          </a:p>
        </p:txBody>
      </p:sp>
      <p:sp>
        <p:nvSpPr>
          <p:cNvPr id="27" name="Text Box 7"/>
          <p:cNvSpPr txBox="1">
            <a:spLocks noChangeArrowheads="1"/>
          </p:cNvSpPr>
          <p:nvPr/>
        </p:nvSpPr>
        <p:spPr bwMode="auto">
          <a:xfrm>
            <a:off x="457200" y="3221732"/>
            <a:ext cx="8115328" cy="495300"/>
          </a:xfrm>
          <a:prstGeom prst="rect">
            <a:avLst/>
          </a:prstGeom>
          <a:solidFill>
            <a:srgbClr val="FFFFFF"/>
          </a:solidFill>
          <a:ln w="9525">
            <a:noFill/>
            <a:miter lim="800000"/>
            <a:headEnd/>
            <a:tailEnd/>
          </a:ln>
          <a:effectLst/>
        </p:spPr>
        <p:txBody>
          <a:bodyPr lIns="0" tIns="0" rIns="0" bIns="0"/>
          <a:lstStyle/>
          <a:p>
            <a:pPr>
              <a:lnSpc>
                <a:spcPct val="120000"/>
              </a:lnSpc>
            </a:pPr>
            <a:r>
              <a:rPr lang="zh-CN" altLang="en-US" sz="2800" b="1" dirty="0">
                <a:solidFill>
                  <a:srgbClr val="3333FF"/>
                </a:solidFill>
                <a:latin typeface="Times New Roman" pitchFamily="18" charset="0"/>
              </a:rPr>
              <a:t>第三章理想气体熵变的计算公式也是基于上式推出。</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23</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7"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3"/>
          <p:cNvSpPr txBox="1">
            <a:spLocks noChangeArrowheads="1"/>
          </p:cNvSpPr>
          <p:nvPr/>
        </p:nvSpPr>
        <p:spPr bwMode="auto">
          <a:xfrm>
            <a:off x="404406" y="4437112"/>
            <a:ext cx="8032406" cy="1440160"/>
          </a:xfrm>
          <a:prstGeom prst="rect">
            <a:avLst/>
          </a:prstGeom>
          <a:ln/>
        </p:spPr>
        <p:style>
          <a:lnRef idx="1">
            <a:schemeClr val="dk1"/>
          </a:lnRef>
          <a:fillRef idx="2">
            <a:schemeClr val="dk1"/>
          </a:fillRef>
          <a:effectRef idx="1">
            <a:schemeClr val="dk1"/>
          </a:effectRef>
          <a:fontRef idx="minor">
            <a:schemeClr val="dk1"/>
          </a:fontRef>
        </p:style>
        <p:txBody>
          <a:bodyPr lIns="0" tIns="0" rIns="0" bIns="0"/>
          <a:lstStyle>
            <a:lvl1pPr marL="342900" indent="-342900" eaLnBrk="0" hangingPunct="0">
              <a:defRPr b="1">
                <a:solidFill>
                  <a:schemeClr val="tx1"/>
                </a:solidFill>
                <a:latin typeface="Arial" pitchFamily="34" charset="0"/>
                <a:ea typeface="宋体" pitchFamily="2" charset="-122"/>
              </a:defRPr>
            </a:lvl1pPr>
            <a:lvl2pPr marL="742950" indent="-285750" eaLnBrk="0" hangingPunct="0">
              <a:defRPr b="1">
                <a:solidFill>
                  <a:schemeClr val="tx1"/>
                </a:solidFill>
                <a:latin typeface="Arial" pitchFamily="34" charset="0"/>
                <a:ea typeface="宋体" pitchFamily="2" charset="-122"/>
              </a:defRPr>
            </a:lvl2pPr>
            <a:lvl3pPr marL="1143000" indent="-228600" eaLnBrk="0" hangingPunct="0">
              <a:defRPr b="1">
                <a:solidFill>
                  <a:schemeClr val="tx1"/>
                </a:solidFill>
                <a:latin typeface="Arial" pitchFamily="34" charset="0"/>
                <a:ea typeface="宋体" pitchFamily="2" charset="-122"/>
              </a:defRPr>
            </a:lvl3pPr>
            <a:lvl4pPr marL="1600200" indent="-228600" eaLnBrk="0" hangingPunct="0">
              <a:defRPr b="1">
                <a:solidFill>
                  <a:schemeClr val="tx1"/>
                </a:solidFill>
                <a:latin typeface="Arial" pitchFamily="34" charset="0"/>
                <a:ea typeface="宋体" pitchFamily="2" charset="-122"/>
              </a:defRPr>
            </a:lvl4pPr>
            <a:lvl5pPr marL="2057400" indent="-228600" eaLnBrk="0" hangingPunct="0">
              <a:defRPr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b="1">
                <a:solidFill>
                  <a:schemeClr val="tx1"/>
                </a:solidFill>
                <a:latin typeface="Arial" pitchFamily="34" charset="0"/>
                <a:ea typeface="宋体" pitchFamily="2" charset="-122"/>
              </a:defRPr>
            </a:lvl9pPr>
          </a:lstStyle>
          <a:p>
            <a:pPr marL="0" indent="0" algn="just" eaLnBrk="1" hangingPunct="1">
              <a:lnSpc>
                <a:spcPct val="150000"/>
              </a:lnSpc>
              <a:defRPr/>
            </a:pPr>
            <a:r>
              <a:rPr lang="zh-CN" altLang="en-US" sz="2800" b="0" dirty="0">
                <a:solidFill>
                  <a:srgbClr val="FF0000"/>
                </a:solidFill>
                <a:latin typeface="微软雅黑" pitchFamily="34" charset="-122"/>
                <a:ea typeface="微软雅黑" pitchFamily="34" charset="-122"/>
              </a:rPr>
              <a:t> 可逆过程中熵的变化反映热交换的方向与大小。但 </a:t>
            </a:r>
            <a:endParaRPr lang="en-US" altLang="zh-CN" sz="2800" b="0" dirty="0">
              <a:solidFill>
                <a:srgbClr val="FF0000"/>
              </a:solidFill>
              <a:latin typeface="微软雅黑" pitchFamily="34" charset="-122"/>
              <a:ea typeface="微软雅黑" pitchFamily="34" charset="-122"/>
            </a:endParaRPr>
          </a:p>
          <a:p>
            <a:pPr marL="0" indent="0" algn="just" eaLnBrk="1" hangingPunct="1">
              <a:lnSpc>
                <a:spcPct val="150000"/>
              </a:lnSpc>
              <a:defRPr/>
            </a:pPr>
            <a:r>
              <a:rPr lang="zh-CN" altLang="en-US" sz="2800" b="0" dirty="0">
                <a:solidFill>
                  <a:srgbClr val="FF0000"/>
                </a:solidFill>
                <a:latin typeface="微软雅黑" pitchFamily="34" charset="-122"/>
                <a:ea typeface="微软雅黑" pitchFamily="34" charset="-122"/>
              </a:rPr>
              <a:t> 系统与外界交换功量不会引起系统的熵变。</a:t>
            </a:r>
          </a:p>
        </p:txBody>
      </p:sp>
      <p:sp>
        <p:nvSpPr>
          <p:cNvPr id="4" name="Rectangle 4"/>
          <p:cNvSpPr>
            <a:spLocks noChangeArrowheads="1"/>
          </p:cNvSpPr>
          <p:nvPr/>
        </p:nvSpPr>
        <p:spPr bwMode="auto">
          <a:xfrm>
            <a:off x="400080" y="1168016"/>
            <a:ext cx="8458200" cy="1311193"/>
          </a:xfrm>
          <a:prstGeom prst="rect">
            <a:avLst/>
          </a:prstGeom>
          <a:noFill/>
          <a:ln w="9525">
            <a:noFill/>
            <a:miter lim="800000"/>
            <a:headEnd/>
            <a:tailEnd/>
          </a:ln>
          <a:effectLst/>
        </p:spPr>
        <p:txBody>
          <a:bodyPr anchor="ctr">
            <a:spAutoFit/>
          </a:bodyPr>
          <a:lstStyle/>
          <a:p>
            <a:pPr>
              <a:lnSpc>
                <a:spcPct val="150000"/>
              </a:lnSpc>
            </a:pPr>
            <a:r>
              <a:rPr lang="zh-CN" altLang="en-US" sz="2800" dirty="0"/>
              <a:t>        </a:t>
            </a:r>
            <a:r>
              <a:rPr lang="zh-CN" altLang="en-US" sz="2800" dirty="0">
                <a:latin typeface="微软雅黑" pitchFamily="34" charset="-122"/>
                <a:ea typeface="微软雅黑" pitchFamily="34" charset="-122"/>
              </a:rPr>
              <a:t>液体和固体的容积变化很小，通常认为</a:t>
            </a:r>
            <a:r>
              <a:rPr lang="en-US" altLang="zh-CN" sz="2800" i="1" dirty="0">
                <a:latin typeface="Times New Roman" pitchFamily="18" charset="0"/>
              </a:rPr>
              <a:t>c</a:t>
            </a:r>
            <a:r>
              <a:rPr lang="en-US" altLang="zh-CN" sz="2800" i="1" baseline="-25000" dirty="0">
                <a:latin typeface="Times New Roman" pitchFamily="18" charset="0"/>
              </a:rPr>
              <a:t>p</a:t>
            </a:r>
            <a:r>
              <a:rPr lang="en-US" altLang="zh-CN" sz="2800" dirty="0">
                <a:latin typeface="Times New Roman" pitchFamily="18" charset="0"/>
              </a:rPr>
              <a:t>= </a:t>
            </a:r>
            <a:r>
              <a:rPr lang="en-US" altLang="zh-CN" sz="2800" i="1" dirty="0" err="1">
                <a:latin typeface="Times New Roman" pitchFamily="18" charset="0"/>
              </a:rPr>
              <a:t>c</a:t>
            </a:r>
            <a:r>
              <a:rPr lang="en-US" altLang="zh-CN" sz="2800" i="1" baseline="-25000" dirty="0" err="1">
                <a:latin typeface="Times New Roman" pitchFamily="18" charset="0"/>
              </a:rPr>
              <a:t>V</a:t>
            </a:r>
            <a:r>
              <a:rPr lang="en-US" altLang="zh-CN" sz="2800" i="1" dirty="0">
                <a:latin typeface="Times New Roman" pitchFamily="18" charset="0"/>
              </a:rPr>
              <a:t> </a:t>
            </a:r>
            <a:r>
              <a:rPr lang="en-US" altLang="zh-CN" sz="2800" dirty="0">
                <a:latin typeface="Times New Roman" pitchFamily="18" charset="0"/>
              </a:rPr>
              <a:t>= </a:t>
            </a:r>
            <a:r>
              <a:rPr lang="en-US" altLang="zh-CN" sz="2800" i="1" dirty="0">
                <a:latin typeface="Times New Roman" pitchFamily="18" charset="0"/>
              </a:rPr>
              <a:t>c</a:t>
            </a:r>
            <a:r>
              <a:rPr lang="zh-CN" altLang="en-US" sz="2800" dirty="0"/>
              <a:t>，</a:t>
            </a:r>
            <a:r>
              <a:rPr lang="zh-CN" altLang="en-US" sz="2800" dirty="0">
                <a:latin typeface="微软雅黑" pitchFamily="34" charset="-122"/>
                <a:ea typeface="微软雅黑" pitchFamily="34" charset="-122"/>
              </a:rPr>
              <a:t>其吸热量</a:t>
            </a:r>
            <a:r>
              <a:rPr lang="zh-CN" altLang="en-US" sz="2800" i="1" dirty="0">
                <a:latin typeface="Times New Roman" pitchFamily="18" charset="0"/>
                <a:sym typeface="Symbol" pitchFamily="18" charset="2"/>
              </a:rPr>
              <a:t> </a:t>
            </a:r>
            <a:r>
              <a:rPr lang="en-US" altLang="zh-CN" sz="2800" i="1" dirty="0">
                <a:latin typeface="Times New Roman" pitchFamily="18" charset="0"/>
              </a:rPr>
              <a:t>Q</a:t>
            </a:r>
            <a:r>
              <a:rPr lang="en-US" altLang="zh-CN" sz="2800" i="1" dirty="0">
                <a:latin typeface="Times New Roman" pitchFamily="18" charset="0"/>
                <a:sym typeface="Symbol" pitchFamily="18" charset="2"/>
              </a:rPr>
              <a:t> </a:t>
            </a:r>
            <a:r>
              <a:rPr lang="en-US" altLang="zh-CN" sz="2800" dirty="0">
                <a:latin typeface="Times New Roman" pitchFamily="18" charset="0"/>
                <a:sym typeface="Symbol" pitchFamily="18" charset="2"/>
              </a:rPr>
              <a:t>=</a:t>
            </a:r>
            <a:r>
              <a:rPr lang="en-US" altLang="zh-CN" sz="2800" i="1" dirty="0">
                <a:latin typeface="Times New Roman" pitchFamily="18" charset="0"/>
                <a:sym typeface="Symbol" pitchFamily="18" charset="2"/>
              </a:rPr>
              <a:t> </a:t>
            </a:r>
            <a:r>
              <a:rPr lang="en-US" altLang="zh-CN" sz="2800" i="1" dirty="0" err="1">
                <a:latin typeface="Times New Roman" pitchFamily="18" charset="0"/>
                <a:sym typeface="Symbol" pitchFamily="18" charset="2"/>
              </a:rPr>
              <a:t>mc</a:t>
            </a:r>
            <a:r>
              <a:rPr lang="en-US" altLang="zh-CN" sz="2800" dirty="0" err="1">
                <a:latin typeface="Times New Roman" pitchFamily="18" charset="0"/>
                <a:sym typeface="Symbol" pitchFamily="18" charset="2"/>
              </a:rPr>
              <a:t>d</a:t>
            </a:r>
            <a:r>
              <a:rPr lang="en-US" altLang="zh-CN" sz="2800" i="1" dirty="0" err="1">
                <a:latin typeface="Times New Roman" pitchFamily="18" charset="0"/>
                <a:sym typeface="Symbol" pitchFamily="18" charset="2"/>
              </a:rPr>
              <a:t>T</a:t>
            </a:r>
            <a:r>
              <a:rPr lang="zh-CN" altLang="en-US" sz="2800" dirty="0">
                <a:sym typeface="Symbol" pitchFamily="18" charset="2"/>
              </a:rPr>
              <a:t>。 </a:t>
            </a:r>
          </a:p>
        </p:txBody>
      </p:sp>
      <p:sp>
        <p:nvSpPr>
          <p:cNvPr id="5" name="Rectangle 5"/>
          <p:cNvSpPr>
            <a:spLocks noChangeArrowheads="1"/>
          </p:cNvSpPr>
          <p:nvPr/>
        </p:nvSpPr>
        <p:spPr bwMode="auto">
          <a:xfrm>
            <a:off x="395536" y="2676424"/>
            <a:ext cx="6970713"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根据熵的定义式，液体和固体熵变计算式为</a:t>
            </a:r>
          </a:p>
        </p:txBody>
      </p:sp>
      <p:graphicFrame>
        <p:nvGraphicFramePr>
          <p:cNvPr id="6" name="Object 7"/>
          <p:cNvGraphicFramePr>
            <a:graphicFrameLocks noChangeAspect="1"/>
          </p:cNvGraphicFramePr>
          <p:nvPr>
            <p:extLst>
              <p:ext uri="{D42A27DB-BD31-4B8C-83A1-F6EECF244321}">
                <p14:modId xmlns:p14="http://schemas.microsoft.com/office/powerpoint/2010/main" val="242667748"/>
              </p:ext>
            </p:extLst>
          </p:nvPr>
        </p:nvGraphicFramePr>
        <p:xfrm>
          <a:off x="1259632" y="3438004"/>
          <a:ext cx="5943600" cy="927100"/>
        </p:xfrm>
        <a:graphic>
          <a:graphicData uri="http://schemas.openxmlformats.org/presentationml/2006/ole">
            <mc:AlternateContent xmlns:mc="http://schemas.openxmlformats.org/markup-compatibility/2006">
              <mc:Choice xmlns:v="urn:schemas-microsoft-com:vml" Requires="v">
                <p:oleObj spid="_x0000_s52314" name="公式" r:id="rId3" imgW="2781300" imgH="431800" progId="Equation.3">
                  <p:embed/>
                </p:oleObj>
              </mc:Choice>
              <mc:Fallback>
                <p:oleObj name="公式" r:id="rId3" imgW="2781300" imgH="4318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59632" y="3438004"/>
                        <a:ext cx="5943600" cy="927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24</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ox(i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37"/>
          <p:cNvSpPr txBox="1">
            <a:spLocks noChangeArrowheads="1"/>
          </p:cNvSpPr>
          <p:nvPr/>
        </p:nvSpPr>
        <p:spPr bwMode="auto">
          <a:xfrm>
            <a:off x="730352" y="1124744"/>
            <a:ext cx="3481608"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克劳修斯积分不等式</a:t>
            </a:r>
          </a:p>
        </p:txBody>
      </p:sp>
      <p:sp>
        <p:nvSpPr>
          <p:cNvPr id="8" name="矩形 7"/>
          <p:cNvSpPr/>
          <p:nvPr/>
        </p:nvSpPr>
        <p:spPr>
          <a:xfrm>
            <a:off x="68588" y="1138213"/>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11" name="Rectangle 5"/>
          <p:cNvSpPr>
            <a:spLocks noChangeArrowheads="1"/>
          </p:cNvSpPr>
          <p:nvPr/>
        </p:nvSpPr>
        <p:spPr bwMode="auto">
          <a:xfrm>
            <a:off x="701769" y="1700808"/>
            <a:ext cx="5958463" cy="652486"/>
          </a:xfrm>
          <a:prstGeom prst="rect">
            <a:avLst/>
          </a:prstGeom>
          <a:noFill/>
          <a:ln w="9525" algn="ctr">
            <a:noFill/>
            <a:miter lim="800000"/>
            <a:headEnd/>
            <a:tailEnd/>
          </a:ln>
          <a:effectLst/>
        </p:spPr>
        <p:txBody>
          <a:bodyPr wrap="square" anchor="ctr">
            <a:spAutoFit/>
          </a:bodyPr>
          <a:lstStyle/>
          <a:p>
            <a:pPr>
              <a:lnSpc>
                <a:spcPct val="130000"/>
              </a:lnSpc>
            </a:pPr>
            <a:r>
              <a:rPr lang="zh-CN" altLang="en-US" sz="2800" dirty="0">
                <a:solidFill>
                  <a:srgbClr val="000000"/>
                </a:solidFill>
                <a:latin typeface="微软雅黑" pitchFamily="34" charset="-122"/>
                <a:ea typeface="微软雅黑" pitchFamily="34" charset="-122"/>
                <a:cs typeface="Times New Roman" pitchFamily="18" charset="0"/>
              </a:rPr>
              <a:t>根据卡诺定理，对不可逆循环，有：</a:t>
            </a:r>
          </a:p>
        </p:txBody>
      </p:sp>
      <p:graphicFrame>
        <p:nvGraphicFramePr>
          <p:cNvPr id="12" name="Object 6"/>
          <p:cNvGraphicFramePr>
            <a:graphicFrameLocks noChangeAspect="1"/>
          </p:cNvGraphicFramePr>
          <p:nvPr>
            <p:extLst>
              <p:ext uri="{D42A27DB-BD31-4B8C-83A1-F6EECF244321}">
                <p14:modId xmlns:p14="http://schemas.microsoft.com/office/powerpoint/2010/main" val="651374964"/>
              </p:ext>
            </p:extLst>
          </p:nvPr>
        </p:nvGraphicFramePr>
        <p:xfrm>
          <a:off x="2267744" y="2348880"/>
          <a:ext cx="3322638" cy="917575"/>
        </p:xfrm>
        <a:graphic>
          <a:graphicData uri="http://schemas.openxmlformats.org/presentationml/2006/ole">
            <mc:AlternateContent xmlns:mc="http://schemas.openxmlformats.org/markup-compatibility/2006">
              <mc:Choice xmlns:v="urn:schemas-microsoft-com:vml" Requires="v">
                <p:oleObj spid="_x0000_s53499" name="公式" r:id="rId3" imgW="1574800" imgH="431800" progId="Equation.3">
                  <p:embed/>
                </p:oleObj>
              </mc:Choice>
              <mc:Fallback>
                <p:oleObj name="公式" r:id="rId3" imgW="15748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7744" y="2348880"/>
                        <a:ext cx="3322638" cy="917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7"/>
          <p:cNvGraphicFramePr>
            <a:graphicFrameLocks noChangeAspect="1"/>
          </p:cNvGraphicFramePr>
          <p:nvPr>
            <p:extLst>
              <p:ext uri="{D42A27DB-BD31-4B8C-83A1-F6EECF244321}">
                <p14:modId xmlns:p14="http://schemas.microsoft.com/office/powerpoint/2010/main" val="567836786"/>
              </p:ext>
            </p:extLst>
          </p:nvPr>
        </p:nvGraphicFramePr>
        <p:xfrm>
          <a:off x="3203848" y="3429000"/>
          <a:ext cx="1441450" cy="857250"/>
        </p:xfrm>
        <a:graphic>
          <a:graphicData uri="http://schemas.openxmlformats.org/presentationml/2006/ole">
            <mc:AlternateContent xmlns:mc="http://schemas.openxmlformats.org/markup-compatibility/2006">
              <mc:Choice xmlns:v="urn:schemas-microsoft-com:vml" Requires="v">
                <p:oleObj spid="_x0000_s53500" name="公式" r:id="rId5" imgW="914003" imgH="545863" progId="Equation.3">
                  <p:embed/>
                </p:oleObj>
              </mc:Choice>
              <mc:Fallback>
                <p:oleObj name="公式" r:id="rId5" imgW="914003" imgH="545863"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848" y="3429000"/>
                        <a:ext cx="1441450" cy="857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 name="Rectangle 32"/>
          <p:cNvSpPr>
            <a:spLocks noChangeArrowheads="1"/>
          </p:cNvSpPr>
          <p:nvPr/>
        </p:nvSpPr>
        <p:spPr bwMode="auto">
          <a:xfrm>
            <a:off x="683568" y="4435059"/>
            <a:ext cx="4379725" cy="523220"/>
          </a:xfrm>
          <a:prstGeom prst="rect">
            <a:avLst/>
          </a:prstGeom>
          <a:noFill/>
          <a:ln w="9525" algn="ctr">
            <a:noFill/>
            <a:miter lim="800000"/>
            <a:headEnd/>
            <a:tailEnd/>
          </a:ln>
          <a:effectLst/>
        </p:spPr>
        <p:txBody>
          <a:bodyPr wrap="non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上式中</a:t>
            </a:r>
            <a:r>
              <a:rPr lang="en-US" altLang="zh-CN" sz="2800" i="1" dirty="0">
                <a:latin typeface="Times New Roman" pitchFamily="18" charset="0"/>
                <a:ea typeface="方正书宋简体" charset="-122"/>
                <a:cs typeface="Times New Roman" pitchFamily="18" charset="0"/>
              </a:rPr>
              <a:t>δQ</a:t>
            </a:r>
            <a:r>
              <a:rPr lang="en-US" altLang="zh-CN" sz="2800" i="1" baseline="-25000" dirty="0">
                <a:latin typeface="Times New Roman" pitchFamily="18" charset="0"/>
                <a:ea typeface="方正书宋简体" charset="-122"/>
                <a:cs typeface="Times New Roman" pitchFamily="18" charset="0"/>
              </a:rPr>
              <a:t>2  </a:t>
            </a:r>
            <a:r>
              <a:rPr lang="zh-CN" altLang="en-US" sz="2800" dirty="0">
                <a:solidFill>
                  <a:srgbClr val="000000"/>
                </a:solidFill>
                <a:latin typeface="微软雅黑" pitchFamily="34" charset="-122"/>
                <a:ea typeface="微软雅黑" pitchFamily="34" charset="-122"/>
                <a:cs typeface="Times New Roman" pitchFamily="18" charset="0"/>
              </a:rPr>
              <a:t>取负值</a:t>
            </a:r>
            <a:r>
              <a:rPr lang="en-US" altLang="zh-CN" sz="2800" dirty="0">
                <a:solidFill>
                  <a:srgbClr val="000000"/>
                </a:solidFill>
                <a:latin typeface="微软雅黑" pitchFamily="34" charset="-122"/>
                <a:ea typeface="微软雅黑" pitchFamily="34" charset="-122"/>
                <a:cs typeface="Times New Roman" pitchFamily="18" charset="0"/>
              </a:rPr>
              <a:t>, </a:t>
            </a:r>
            <a:r>
              <a:rPr lang="zh-CN" altLang="en-US" sz="2800" dirty="0">
                <a:solidFill>
                  <a:srgbClr val="000000"/>
                </a:solidFill>
                <a:latin typeface="微软雅黑" pitchFamily="34" charset="-122"/>
                <a:ea typeface="微软雅黑" pitchFamily="34" charset="-122"/>
                <a:cs typeface="Times New Roman" pitchFamily="18" charset="0"/>
              </a:rPr>
              <a:t>则有： </a:t>
            </a:r>
          </a:p>
        </p:txBody>
      </p:sp>
      <p:sp>
        <p:nvSpPr>
          <p:cNvPr id="16" name="矩形 1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25</a:t>
            </a:r>
            <a:endParaRPr lang="zh-CN" altLang="en-US" sz="2000" b="1" dirty="0">
              <a:solidFill>
                <a:schemeClr val="tx1"/>
              </a:solidFill>
              <a:latin typeface="黑体" pitchFamily="49" charset="-122"/>
              <a:ea typeface="黑体"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1735463042"/>
              </p:ext>
            </p:extLst>
          </p:nvPr>
        </p:nvGraphicFramePr>
        <p:xfrm>
          <a:off x="3191630" y="5157192"/>
          <a:ext cx="1871663" cy="833438"/>
        </p:xfrm>
        <a:graphic>
          <a:graphicData uri="http://schemas.openxmlformats.org/presentationml/2006/ole">
            <mc:AlternateContent xmlns:mc="http://schemas.openxmlformats.org/markup-compatibility/2006">
              <mc:Choice xmlns:v="urn:schemas-microsoft-com:vml" Requires="v">
                <p:oleObj spid="_x0000_s53501" name="公式" r:id="rId7" imgW="1218671" imgH="545863" progId="Equation.3">
                  <p:embed/>
                </p:oleObj>
              </mc:Choice>
              <mc:Fallback>
                <p:oleObj name="公式" r:id="rId7" imgW="1218671" imgH="545863"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91630" y="5157192"/>
                        <a:ext cx="187166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dissolv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dissolv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utoUpdateAnimBg="0"/>
      <p:bldP spid="15"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7"/>
          <p:cNvGraphicFramePr>
            <a:graphicFrameLocks noChangeAspect="1"/>
          </p:cNvGraphicFramePr>
          <p:nvPr/>
        </p:nvGraphicFramePr>
        <p:xfrm>
          <a:off x="1319213" y="3986215"/>
          <a:ext cx="182563" cy="341313"/>
        </p:xfrm>
        <a:graphic>
          <a:graphicData uri="http://schemas.openxmlformats.org/presentationml/2006/ole">
            <mc:AlternateContent xmlns:mc="http://schemas.openxmlformats.org/markup-compatibility/2006">
              <mc:Choice xmlns:v="urn:schemas-microsoft-com:vml" Requires="v">
                <p:oleObj spid="_x0000_s54662" name="公式" r:id="rId3" imgW="114151" imgH="215619" progId="Equation.3">
                  <p:embed/>
                </p:oleObj>
              </mc:Choice>
              <mc:Fallback>
                <p:oleObj name="公式" r:id="rId3" imgW="114151" imgH="215619"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19213" y="3986215"/>
                        <a:ext cx="182563"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0"/>
          <p:cNvGraphicFramePr>
            <a:graphicFrameLocks noChangeAspect="1"/>
          </p:cNvGraphicFramePr>
          <p:nvPr/>
        </p:nvGraphicFramePr>
        <p:xfrm>
          <a:off x="1328710" y="4767263"/>
          <a:ext cx="228600" cy="476250"/>
        </p:xfrm>
        <a:graphic>
          <a:graphicData uri="http://schemas.openxmlformats.org/presentationml/2006/ole">
            <mc:AlternateContent xmlns:mc="http://schemas.openxmlformats.org/markup-compatibility/2006">
              <mc:Choice xmlns:v="urn:schemas-microsoft-com:vml" Requires="v">
                <p:oleObj spid="_x0000_s54663" name="公式" r:id="rId5" imgW="114151" imgH="215619" progId="Equation.3">
                  <p:embed/>
                </p:oleObj>
              </mc:Choice>
              <mc:Fallback>
                <p:oleObj name="公式" r:id="rId5" imgW="114151" imgH="215619"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28710" y="4767263"/>
                        <a:ext cx="22860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Rectangle 12"/>
          <p:cNvSpPr>
            <a:spLocks noChangeArrowheads="1"/>
          </p:cNvSpPr>
          <p:nvPr/>
        </p:nvSpPr>
        <p:spPr bwMode="auto">
          <a:xfrm>
            <a:off x="755576" y="1340768"/>
            <a:ext cx="4599336" cy="523220"/>
          </a:xfrm>
          <a:prstGeom prst="rect">
            <a:avLst/>
          </a:prstGeom>
          <a:ln>
            <a:headEnd/>
            <a:tailEnd/>
          </a:ln>
        </p:spPr>
        <p:style>
          <a:lnRef idx="2">
            <a:schemeClr val="accent5"/>
          </a:lnRef>
          <a:fillRef idx="1">
            <a:schemeClr val="lt1"/>
          </a:fillRef>
          <a:effectRef idx="0">
            <a:schemeClr val="accent5"/>
          </a:effectRef>
          <a:fontRef idx="minor">
            <a:schemeClr val="dk1"/>
          </a:fontRef>
        </p:style>
        <p:txBody>
          <a:bodyPr wrap="non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对不可逆循环，类似可推得 </a:t>
            </a:r>
          </a:p>
        </p:txBody>
      </p:sp>
      <p:grpSp>
        <p:nvGrpSpPr>
          <p:cNvPr id="24" name="Group 26"/>
          <p:cNvGrpSpPr>
            <a:grpSpLocks/>
          </p:cNvGrpSpPr>
          <p:nvPr/>
        </p:nvGrpSpPr>
        <p:grpSpPr bwMode="auto">
          <a:xfrm>
            <a:off x="2771800" y="1988842"/>
            <a:ext cx="5456238" cy="781051"/>
            <a:chOff x="1821" y="1860"/>
            <a:chExt cx="3437" cy="492"/>
          </a:xfrm>
        </p:grpSpPr>
        <p:graphicFrame>
          <p:nvGraphicFramePr>
            <p:cNvPr id="25" name="Object 14"/>
            <p:cNvGraphicFramePr>
              <a:graphicFrameLocks noChangeAspect="1"/>
            </p:cNvGraphicFramePr>
            <p:nvPr>
              <p:extLst>
                <p:ext uri="{D42A27DB-BD31-4B8C-83A1-F6EECF244321}">
                  <p14:modId xmlns:p14="http://schemas.microsoft.com/office/powerpoint/2010/main" val="3220842159"/>
                </p:ext>
              </p:extLst>
            </p:nvPr>
          </p:nvGraphicFramePr>
          <p:xfrm>
            <a:off x="1821" y="1860"/>
            <a:ext cx="696" cy="492"/>
          </p:xfrm>
          <a:graphic>
            <a:graphicData uri="http://schemas.openxmlformats.org/presentationml/2006/ole">
              <mc:AlternateContent xmlns:mc="http://schemas.openxmlformats.org/markup-compatibility/2006">
                <mc:Choice xmlns:v="urn:schemas-microsoft-com:vml" Requires="v">
                  <p:oleObj spid="_x0000_s54664" name="公式" r:id="rId6" imgW="660113" imgH="469696" progId="Equation.3">
                    <p:embed/>
                  </p:oleObj>
                </mc:Choice>
                <mc:Fallback>
                  <p:oleObj name="公式" r:id="rId6" imgW="660113" imgH="469696"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21" y="1860"/>
                          <a:ext cx="696" cy="492"/>
                        </a:xfrm>
                        <a:prstGeom prst="rect">
                          <a:avLst/>
                        </a:prstGeom>
                        <a:noFill/>
                      </p:spPr>
                    </p:pic>
                  </p:oleObj>
                </mc:Fallback>
              </mc:AlternateContent>
            </a:graphicData>
          </a:graphic>
        </p:graphicFrame>
        <p:sp>
          <p:nvSpPr>
            <p:cNvPr id="26" name="Rectangle 15"/>
            <p:cNvSpPr>
              <a:spLocks noChangeArrowheads="1"/>
            </p:cNvSpPr>
            <p:nvPr/>
          </p:nvSpPr>
          <p:spPr bwMode="auto">
            <a:xfrm>
              <a:off x="2517" y="1933"/>
              <a:ext cx="2741" cy="330"/>
            </a:xfrm>
            <a:prstGeom prst="rect">
              <a:avLst/>
            </a:prstGeom>
            <a:noFill/>
            <a:ln w="9525" algn="ctr">
              <a:noFill/>
              <a:miter lim="800000"/>
              <a:headEnd/>
              <a:tailEnd/>
            </a:ln>
            <a:effectLst/>
          </p:spPr>
          <p:txBody>
            <a:bodyPr wrap="none" anchor="ctr">
              <a:spAutoFit/>
            </a:bodyPr>
            <a:lstStyle/>
            <a:p>
              <a:r>
                <a:rPr lang="zh-CN" altLang="en-US" sz="2800" dirty="0">
                  <a:solidFill>
                    <a:srgbClr val="4B3EEE"/>
                  </a:solidFill>
                  <a:latin typeface="微软雅黑" pitchFamily="34" charset="-122"/>
                  <a:ea typeface="微软雅黑" pitchFamily="34" charset="-122"/>
                  <a:cs typeface="Times New Roman" pitchFamily="18" charset="0"/>
                </a:rPr>
                <a:t>（注意：</a:t>
              </a:r>
              <a:r>
                <a:rPr lang="en-US" altLang="zh-CN" sz="2800" b="1" i="1" dirty="0" err="1">
                  <a:solidFill>
                    <a:srgbClr val="4B3EEE"/>
                  </a:solidFill>
                  <a:latin typeface="Times New Roman" pitchFamily="18" charset="0"/>
                  <a:ea typeface="方正书宋简体" charset="-122"/>
                  <a:cs typeface="Times New Roman" pitchFamily="18" charset="0"/>
                </a:rPr>
                <a:t>δQ</a:t>
              </a:r>
              <a:r>
                <a:rPr lang="zh-CN" altLang="en-US" sz="2800" b="1" i="1" dirty="0">
                  <a:solidFill>
                    <a:srgbClr val="4B3EEE"/>
                  </a:solidFill>
                  <a:latin typeface="Times New Roman" pitchFamily="18" charset="0"/>
                  <a:ea typeface="方正书宋简体" charset="-122"/>
                  <a:cs typeface="Times New Roman" pitchFamily="18" charset="0"/>
                </a:rPr>
                <a:t>／</a:t>
              </a:r>
              <a:r>
                <a:rPr lang="en-US" altLang="zh-CN" sz="2800" b="1" i="1" dirty="0">
                  <a:solidFill>
                    <a:srgbClr val="4B3EEE"/>
                  </a:solidFill>
                  <a:latin typeface="Times New Roman" pitchFamily="18" charset="0"/>
                  <a:ea typeface="方正书宋简体" charset="-122"/>
                  <a:cs typeface="Times New Roman" pitchFamily="18" charset="0"/>
                </a:rPr>
                <a:t>T</a:t>
              </a:r>
              <a:r>
                <a:rPr lang="en-US" altLang="zh-CN" sz="2800" i="1" dirty="0">
                  <a:solidFill>
                    <a:srgbClr val="4B3EEE"/>
                  </a:solidFill>
                  <a:latin typeface="Times New Roman" pitchFamily="18" charset="0"/>
                  <a:ea typeface="方正书宋简体" charset="-122"/>
                  <a:cs typeface="Times New Roman" pitchFamily="18" charset="0"/>
                </a:rPr>
                <a:t>  </a:t>
              </a:r>
              <a:r>
                <a:rPr lang="zh-CN" altLang="en-US" sz="2800" dirty="0">
                  <a:solidFill>
                    <a:srgbClr val="4B3EEE"/>
                  </a:solidFill>
                  <a:latin typeface="微软雅黑" pitchFamily="34" charset="-122"/>
                  <a:ea typeface="微软雅黑" pitchFamily="34" charset="-122"/>
                  <a:cs typeface="Times New Roman" pitchFamily="18" charset="0"/>
                </a:rPr>
                <a:t>不是熵）</a:t>
              </a:r>
              <a:r>
                <a:rPr lang="zh-CN" altLang="en-US" sz="2800" dirty="0">
                  <a:solidFill>
                    <a:srgbClr val="4B3EEE"/>
                  </a:solidFill>
                  <a:latin typeface="Times New Roman" pitchFamily="18" charset="0"/>
                  <a:ea typeface="方正书宋简体" charset="-122"/>
                  <a:cs typeface="Times New Roman" pitchFamily="18" charset="0"/>
                </a:rPr>
                <a:t> </a:t>
              </a:r>
            </a:p>
          </p:txBody>
        </p:sp>
      </p:grpSp>
      <p:sp>
        <p:nvSpPr>
          <p:cNvPr id="28" name="Rectangle 20"/>
          <p:cNvSpPr>
            <a:spLocks noChangeArrowheads="1"/>
          </p:cNvSpPr>
          <p:nvPr/>
        </p:nvSpPr>
        <p:spPr bwMode="auto">
          <a:xfrm>
            <a:off x="737170" y="3035052"/>
            <a:ext cx="2444900" cy="523220"/>
          </a:xfrm>
          <a:prstGeom prst="rect">
            <a:avLst/>
          </a:prstGeom>
          <a:noFill/>
          <a:ln w="9525" algn="ctr">
            <a:noFill/>
            <a:miter lim="800000"/>
            <a:headEnd/>
            <a:tailEnd/>
          </a:ln>
          <a:effectLst/>
        </p:spPr>
        <p:txBody>
          <a:bodyPr wrap="none" anchor="ctr">
            <a:spAutoFit/>
          </a:bodyPr>
          <a:lstStyle/>
          <a:p>
            <a:r>
              <a:rPr lang="zh-CN" altLang="en-US" sz="2800" dirty="0">
                <a:solidFill>
                  <a:srgbClr val="FF0000"/>
                </a:solidFill>
                <a:latin typeface="微软雅黑" pitchFamily="34" charset="-122"/>
                <a:ea typeface="微软雅黑" pitchFamily="34" charset="-122"/>
              </a:rPr>
              <a:t>对任意循环： </a:t>
            </a:r>
          </a:p>
        </p:txBody>
      </p:sp>
      <p:graphicFrame>
        <p:nvGraphicFramePr>
          <p:cNvPr id="29" name="Object 22"/>
          <p:cNvGraphicFramePr>
            <a:graphicFrameLocks noChangeAspect="1"/>
          </p:cNvGraphicFramePr>
          <p:nvPr>
            <p:extLst>
              <p:ext uri="{D42A27DB-BD31-4B8C-83A1-F6EECF244321}">
                <p14:modId xmlns:p14="http://schemas.microsoft.com/office/powerpoint/2010/main" val="75738878"/>
              </p:ext>
            </p:extLst>
          </p:nvPr>
        </p:nvGraphicFramePr>
        <p:xfrm>
          <a:off x="2985948" y="2852936"/>
          <a:ext cx="748609" cy="875977"/>
        </p:xfrm>
        <a:graphic>
          <a:graphicData uri="http://schemas.openxmlformats.org/presentationml/2006/ole">
            <mc:AlternateContent xmlns:mc="http://schemas.openxmlformats.org/markup-compatibility/2006">
              <mc:Choice xmlns:v="urn:schemas-microsoft-com:vml" Requires="v">
                <p:oleObj spid="_x0000_s54665" name="公式" r:id="rId8" imgW="291960" imgH="342720" progId="Equation.3">
                  <p:embed/>
                </p:oleObj>
              </mc:Choice>
              <mc:Fallback>
                <p:oleObj name="公式" r:id="rId8" imgW="291960" imgH="342720" progId="Equation.3">
                  <p:embed/>
                  <p:pic>
                    <p:nvPicPr>
                      <p:cNvPr id="0" name="Object 22"/>
                      <p:cNvPicPr>
                        <a:picLocks noChangeAspect="1" noChangeArrowheads="1"/>
                      </p:cNvPicPr>
                      <p:nvPr/>
                    </p:nvPicPr>
                    <p:blipFill>
                      <a:blip r:embed="rId9"/>
                      <a:srcRect/>
                      <a:stretch>
                        <a:fillRect/>
                      </a:stretch>
                    </p:blipFill>
                    <p:spPr bwMode="auto">
                      <a:xfrm>
                        <a:off x="2985948" y="2852936"/>
                        <a:ext cx="748609" cy="875977"/>
                      </a:xfrm>
                      <a:prstGeom prst="rect">
                        <a:avLst/>
                      </a:prstGeom>
                      <a:noFill/>
                    </p:spPr>
                  </p:pic>
                </p:oleObj>
              </mc:Fallback>
            </mc:AlternateContent>
          </a:graphicData>
        </a:graphic>
      </p:graphicFrame>
      <p:sp>
        <p:nvSpPr>
          <p:cNvPr id="30" name="Rectangle 23"/>
          <p:cNvSpPr>
            <a:spLocks noChangeArrowheads="1"/>
          </p:cNvSpPr>
          <p:nvPr/>
        </p:nvSpPr>
        <p:spPr bwMode="auto">
          <a:xfrm>
            <a:off x="3734557" y="3032638"/>
            <a:ext cx="4733925" cy="519112"/>
          </a:xfrm>
          <a:prstGeom prst="rect">
            <a:avLst/>
          </a:prstGeom>
          <a:noFill/>
          <a:ln w="9525" algn="ctr">
            <a:noFill/>
            <a:miter lim="800000"/>
            <a:headEnd/>
            <a:tailEnd/>
          </a:ln>
          <a:effectLst/>
        </p:spPr>
        <p:txBody>
          <a:bodyPr wrap="none" anchor="ctr">
            <a:spAutoFit/>
          </a:bodyPr>
          <a:lstStyle/>
          <a:p>
            <a:r>
              <a:rPr lang="en-US" altLang="zh-CN" sz="2800" b="1" dirty="0">
                <a:latin typeface="Times New Roman" pitchFamily="18" charset="0"/>
                <a:cs typeface="Times New Roman" pitchFamily="18" charset="0"/>
              </a:rPr>
              <a:t>≤</a:t>
            </a:r>
            <a:r>
              <a:rPr lang="en-US" altLang="zh-CN" sz="2800" b="1" dirty="0">
                <a:latin typeface="Times New Roman" pitchFamily="18" charset="0"/>
                <a:ea typeface="方正书宋简体" charset="-122"/>
                <a:cs typeface="Times New Roman" pitchFamily="18" charset="0"/>
              </a:rPr>
              <a:t>0</a:t>
            </a:r>
            <a:r>
              <a:rPr lang="en-US" altLang="zh-CN" sz="2800" dirty="0">
                <a:latin typeface="Times New Roman" pitchFamily="18" charset="0"/>
                <a:ea typeface="方正书宋简体" charset="-122"/>
                <a:cs typeface="Times New Roman" pitchFamily="18" charset="0"/>
              </a:rPr>
              <a:t>——</a:t>
            </a:r>
            <a:r>
              <a:rPr lang="zh-CN" altLang="en-US" sz="2800" dirty="0">
                <a:solidFill>
                  <a:srgbClr val="FF0000"/>
                </a:solidFill>
                <a:latin typeface="微软雅黑" pitchFamily="34" charset="-122"/>
                <a:ea typeface="微软雅黑" pitchFamily="34" charset="-122"/>
              </a:rPr>
              <a:t>克劳修斯积分不等式 </a:t>
            </a:r>
          </a:p>
        </p:txBody>
      </p:sp>
      <p:sp>
        <p:nvSpPr>
          <p:cNvPr id="31" name="Rectangle 28"/>
          <p:cNvSpPr>
            <a:spLocks noChangeArrowheads="1"/>
          </p:cNvSpPr>
          <p:nvPr/>
        </p:nvSpPr>
        <p:spPr bwMode="auto">
          <a:xfrm>
            <a:off x="827584" y="3831060"/>
            <a:ext cx="7928930" cy="2031325"/>
          </a:xfrm>
          <a:prstGeom prst="rect">
            <a:avLst/>
          </a:prstGeom>
          <a:noFill/>
          <a:ln w="9525" algn="ctr">
            <a:noFill/>
            <a:miter lim="800000"/>
            <a:headEnd/>
            <a:tailEnd/>
          </a:ln>
          <a:effectLst/>
        </p:spPr>
        <p:txBody>
          <a:bodyPr wrap="square" anchor="ctr">
            <a:spAutoFit/>
          </a:bodyPr>
          <a:lstStyle/>
          <a:p>
            <a:pPr>
              <a:lnSpc>
                <a:spcPct val="150000"/>
              </a:lnSpc>
            </a:pPr>
            <a:r>
              <a:rPr lang="zh-CN" altLang="en-US" sz="2800" dirty="0">
                <a:solidFill>
                  <a:srgbClr val="4B3EEE"/>
                </a:solidFill>
                <a:latin typeface="微软雅黑" pitchFamily="34" charset="-122"/>
                <a:ea typeface="微软雅黑" pitchFamily="34" charset="-122"/>
                <a:cs typeface="Times New Roman" pitchFamily="18" charset="0"/>
              </a:rPr>
              <a:t>克劳修斯积分式绝不可能大于零，表示循环进行的可能性及方向。是热力学第二定律的又一种数学表达式。 </a:t>
            </a:r>
          </a:p>
        </p:txBody>
      </p:sp>
      <p:sp>
        <p:nvSpPr>
          <p:cNvPr id="17" name="矩形 1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26</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dissolve">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dissolve">
                                      <p:cBhvr>
                                        <p:cTn id="12" dur="5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dissolve">
                                      <p:cBhvr>
                                        <p:cTn id="17" dur="5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dissolve">
                                      <p:cBhvr>
                                        <p:cTn id="22" dur="500"/>
                                        <p:tgtEl>
                                          <p:spTgt spid="29"/>
                                        </p:tgtEl>
                                      </p:cBhvr>
                                    </p:animEffect>
                                  </p:childTnLst>
                                </p:cTn>
                              </p:par>
                            </p:childTnLst>
                          </p:cTn>
                        </p:par>
                        <p:par>
                          <p:cTn id="23" fill="hold">
                            <p:stCondLst>
                              <p:cond delay="500"/>
                            </p:stCondLst>
                            <p:childTnLst>
                              <p:par>
                                <p:cTn id="24" presetID="9" presetClass="entr" presetSubtype="0" fill="hold" grpId="0" nodeType="after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dissolve">
                                      <p:cBhvr>
                                        <p:cTn id="26" dur="500"/>
                                        <p:tgtEl>
                                          <p:spTgt spid="30"/>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autoUpdateAnimBg="0"/>
      <p:bldP spid="28" grpId="0" autoUpdateAnimBg="0"/>
      <p:bldP spid="30" grpId="0" autoUpdateAnimBg="0"/>
      <p:bldP spid="31"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7"/>
          <p:cNvSpPr txBox="1">
            <a:spLocks noChangeArrowheads="1"/>
          </p:cNvSpPr>
          <p:nvPr/>
        </p:nvSpPr>
        <p:spPr bwMode="auto">
          <a:xfrm>
            <a:off x="791530" y="1196752"/>
            <a:ext cx="2124286"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熵流和熵产</a:t>
            </a:r>
          </a:p>
        </p:txBody>
      </p:sp>
      <p:sp>
        <p:nvSpPr>
          <p:cNvPr id="4" name="矩形 3"/>
          <p:cNvSpPr/>
          <p:nvPr/>
        </p:nvSpPr>
        <p:spPr>
          <a:xfrm>
            <a:off x="129766" y="1210221"/>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3.</a:t>
            </a:r>
            <a:endParaRPr lang="zh-CN" altLang="en-US" sz="2800" i="1" dirty="0">
              <a:solidFill>
                <a:srgbClr val="C00000"/>
              </a:solidFill>
              <a:latin typeface="Bernard MT Condensed"/>
            </a:endParaRPr>
          </a:p>
        </p:txBody>
      </p:sp>
      <p:sp>
        <p:nvSpPr>
          <p:cNvPr id="5" name="Rectangle 2"/>
          <p:cNvSpPr txBox="1">
            <a:spLocks noChangeArrowheads="1"/>
          </p:cNvSpPr>
          <p:nvPr/>
        </p:nvSpPr>
        <p:spPr>
          <a:xfrm>
            <a:off x="323528" y="1897782"/>
            <a:ext cx="4429156" cy="639730"/>
          </a:xfrm>
          <a:prstGeom prst="rect">
            <a:avLst/>
          </a:prstGeom>
        </p:spPr>
        <p:txBody>
          <a:bodyPr vert="horz" lIns="91440" tIns="45720" rIns="91440" bIns="45720" rtlCol="0">
            <a:normAutofit fontScale="77500" lnSpcReduction="20000"/>
          </a:bodyPr>
          <a:lstStyle/>
          <a:p>
            <a:pPr marL="342900" marR="0" lvl="0" indent="-342900" algn="l" defTabSz="914400" rtl="0" eaLnBrk="1" fontAlgn="auto" latinLnBrk="0" hangingPunct="1">
              <a:lnSpc>
                <a:spcPct val="125000"/>
              </a:lnSpc>
              <a:spcBef>
                <a:spcPct val="20000"/>
              </a:spcBef>
              <a:spcAft>
                <a:spcPts val="0"/>
              </a:spcAft>
              <a:buClrTx/>
              <a:buSzTx/>
              <a:buFontTx/>
              <a:buNone/>
              <a:tabLst/>
              <a:defRPr/>
            </a:pPr>
            <a:r>
              <a:rPr lang="zh-CN" altLang="en-US" sz="2800" dirty="0">
                <a:solidFill>
                  <a:srgbClr val="000000"/>
                </a:solidFill>
                <a:latin typeface="微软雅黑" pitchFamily="34" charset="-122"/>
                <a:ea typeface="微软雅黑" pitchFamily="34" charset="-122"/>
                <a:cs typeface="Times New Roman" pitchFamily="18" charset="0"/>
              </a:rPr>
              <a:t>    </a:t>
            </a:r>
            <a:r>
              <a:rPr lang="zh-CN" altLang="en-US" sz="3600" dirty="0">
                <a:solidFill>
                  <a:srgbClr val="000000"/>
                </a:solidFill>
                <a:latin typeface="微软雅黑" pitchFamily="34" charset="-122"/>
                <a:ea typeface="微软雅黑" pitchFamily="34" charset="-122"/>
                <a:cs typeface="Times New Roman" pitchFamily="18" charset="0"/>
              </a:rPr>
              <a:t>由克劳修斯积分不等式</a:t>
            </a:r>
          </a:p>
        </p:txBody>
      </p:sp>
      <p:graphicFrame>
        <p:nvGraphicFramePr>
          <p:cNvPr id="6" name="Object 3"/>
          <p:cNvGraphicFramePr>
            <a:graphicFrameLocks noChangeAspect="1"/>
          </p:cNvGraphicFramePr>
          <p:nvPr>
            <p:extLst>
              <p:ext uri="{D42A27DB-BD31-4B8C-83A1-F6EECF244321}">
                <p14:modId xmlns:p14="http://schemas.microsoft.com/office/powerpoint/2010/main" val="2312105365"/>
              </p:ext>
            </p:extLst>
          </p:nvPr>
        </p:nvGraphicFramePr>
        <p:xfrm>
          <a:off x="5045846" y="1719972"/>
          <a:ext cx="914400" cy="865188"/>
        </p:xfrm>
        <a:graphic>
          <a:graphicData uri="http://schemas.openxmlformats.org/presentationml/2006/ole">
            <mc:AlternateContent xmlns:mc="http://schemas.openxmlformats.org/markup-compatibility/2006">
              <mc:Choice xmlns:v="urn:schemas-microsoft-com:vml" Requires="v">
                <p:oleObj spid="_x0000_s55472" name="公式" r:id="rId3" imgW="342751" imgH="393529" progId="Equation.3">
                  <p:embed/>
                </p:oleObj>
              </mc:Choice>
              <mc:Fallback>
                <p:oleObj name="公式" r:id="rId3" imgW="342751" imgH="393529"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5846" y="1719972"/>
                        <a:ext cx="914400"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4"/>
          <p:cNvSpPr>
            <a:spLocks noChangeArrowheads="1"/>
          </p:cNvSpPr>
          <p:nvPr/>
        </p:nvSpPr>
        <p:spPr bwMode="auto">
          <a:xfrm>
            <a:off x="640306" y="2505790"/>
            <a:ext cx="8180166" cy="1295400"/>
          </a:xfrm>
          <a:prstGeom prst="rect">
            <a:avLst/>
          </a:prstGeom>
          <a:noFill/>
          <a:ln w="9525">
            <a:noFill/>
            <a:miter lim="800000"/>
            <a:headEnd/>
            <a:tailEnd/>
          </a:ln>
          <a:effectLst/>
        </p:spPr>
        <p:txBody>
          <a:bodyPr/>
          <a:lstStyle/>
          <a:p>
            <a:pPr>
              <a:lnSpc>
                <a:spcPct val="150000"/>
              </a:lnSpc>
            </a:pPr>
            <a:r>
              <a:rPr lang="zh-CN" altLang="en-US" sz="2800" dirty="0">
                <a:solidFill>
                  <a:srgbClr val="000000"/>
                </a:solidFill>
                <a:latin typeface="微软雅黑" pitchFamily="34" charset="-122"/>
                <a:ea typeface="微软雅黑" pitchFamily="34" charset="-122"/>
                <a:cs typeface="Times New Roman" pitchFamily="18" charset="0"/>
              </a:rPr>
              <a:t>又由状态参数的性质，经过一个循环后，状态参数的变化为零。所以对一个任意过程</a:t>
            </a:r>
            <a:r>
              <a:rPr lang="en-US" altLang="zh-CN" sz="2800" dirty="0">
                <a:latin typeface="Times New Roman" pitchFamily="18" charset="0"/>
              </a:rPr>
              <a:t>1-2</a:t>
            </a:r>
            <a:r>
              <a:rPr lang="zh-CN" altLang="en-US" sz="2800" dirty="0">
                <a:solidFill>
                  <a:srgbClr val="000000"/>
                </a:solidFill>
                <a:latin typeface="微软雅黑" pitchFamily="34" charset="-122"/>
                <a:ea typeface="微软雅黑" pitchFamily="34" charset="-122"/>
                <a:cs typeface="Times New Roman" pitchFamily="18" charset="0"/>
              </a:rPr>
              <a:t>，有</a:t>
            </a:r>
          </a:p>
        </p:txBody>
      </p:sp>
      <p:sp>
        <p:nvSpPr>
          <p:cNvPr id="8" name="Rectangle 5"/>
          <p:cNvSpPr>
            <a:spLocks noChangeArrowheads="1"/>
          </p:cNvSpPr>
          <p:nvPr/>
        </p:nvSpPr>
        <p:spPr bwMode="auto">
          <a:xfrm>
            <a:off x="701266" y="4797152"/>
            <a:ext cx="7874218" cy="1195777"/>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35000"/>
              </a:lnSpc>
              <a:spcBef>
                <a:spcPct val="50000"/>
              </a:spcBef>
            </a:pPr>
            <a:r>
              <a:rPr lang="zh-CN" altLang="en-US" sz="2800" dirty="0">
                <a:solidFill>
                  <a:schemeClr val="tx1"/>
                </a:solidFill>
                <a:latin typeface="微软雅黑" pitchFamily="34" charset="-122"/>
                <a:ea typeface="微软雅黑" pitchFamily="34" charset="-122"/>
                <a:cs typeface="Times New Roman" pitchFamily="18" charset="0"/>
              </a:rPr>
              <a:t>可逆过程克劳修斯积分式等于该过程的熵变，不可逆过程小于该过程的熵变。 </a:t>
            </a:r>
          </a:p>
        </p:txBody>
      </p:sp>
      <p:graphicFrame>
        <p:nvGraphicFramePr>
          <p:cNvPr id="9" name="Object 6"/>
          <p:cNvGraphicFramePr>
            <a:graphicFrameLocks noChangeAspect="1"/>
          </p:cNvGraphicFramePr>
          <p:nvPr>
            <p:extLst>
              <p:ext uri="{D42A27DB-BD31-4B8C-83A1-F6EECF244321}">
                <p14:modId xmlns:p14="http://schemas.microsoft.com/office/powerpoint/2010/main" val="3847570896"/>
              </p:ext>
            </p:extLst>
          </p:nvPr>
        </p:nvGraphicFramePr>
        <p:xfrm>
          <a:off x="3491880" y="3795664"/>
          <a:ext cx="1700213" cy="914400"/>
        </p:xfrm>
        <a:graphic>
          <a:graphicData uri="http://schemas.openxmlformats.org/presentationml/2006/ole">
            <mc:AlternateContent xmlns:mc="http://schemas.openxmlformats.org/markup-compatibility/2006">
              <mc:Choice xmlns:v="urn:schemas-microsoft-com:vml" Requires="v">
                <p:oleObj spid="_x0000_s55473" name="公式" r:id="rId5" imgW="634725" imgH="342751" progId="Equation.3">
                  <p:embed/>
                </p:oleObj>
              </mc:Choice>
              <mc:Fallback>
                <p:oleObj name="公式" r:id="rId5" imgW="634725" imgH="342751" progId="Equation.3">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880" y="3795664"/>
                        <a:ext cx="1700213" cy="914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4"/>
          <p:cNvSpPr>
            <a:spLocks noChangeArrowheads="1"/>
          </p:cNvSpPr>
          <p:nvPr/>
        </p:nvSpPr>
        <p:spPr bwMode="auto">
          <a:xfrm>
            <a:off x="5947043" y="1916832"/>
            <a:ext cx="561975" cy="523875"/>
          </a:xfrm>
          <a:prstGeom prst="rect">
            <a:avLst/>
          </a:prstGeom>
          <a:noFill/>
          <a:ln w="9525">
            <a:noFill/>
            <a:miter lim="800000"/>
            <a:headEnd/>
            <a:tailEnd/>
          </a:ln>
          <a:effectLst/>
        </p:spPr>
        <p:txBody>
          <a:bodyPr wrap="none">
            <a:spAutoFit/>
          </a:bodyPr>
          <a:lstStyle/>
          <a:p>
            <a:r>
              <a:rPr lang="en-US" altLang="zh-CN" sz="2800" b="1" dirty="0">
                <a:latin typeface="Times New Roman" pitchFamily="18" charset="0"/>
                <a:cs typeface="Times New Roman" pitchFamily="18" charset="0"/>
              </a:rPr>
              <a:t>≤0</a:t>
            </a:r>
          </a:p>
        </p:txBody>
      </p:sp>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27</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0-#ppt_w/2"/>
                                          </p:val>
                                        </p:tav>
                                        <p:tav tm="100000">
                                          <p:val>
                                            <p:strVal val="#ppt_x"/>
                                          </p:val>
                                        </p:tav>
                                      </p:tavLst>
                                    </p:anim>
                                    <p:anim calcmode="lin" valueType="num">
                                      <p:cBhvr additive="base">
                                        <p:cTn id="20"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 calcmode="lin" valueType="num">
                                      <p:cBhvr additive="base">
                                        <p:cTn id="29" dur="500" fill="hold"/>
                                        <p:tgtEl>
                                          <p:spTgt spid="8"/>
                                        </p:tgtEl>
                                        <p:attrNameLst>
                                          <p:attrName>ppt_x</p:attrName>
                                        </p:attrNameLst>
                                      </p:cBhvr>
                                      <p:tavLst>
                                        <p:tav tm="0">
                                          <p:val>
                                            <p:strVal val="0-#ppt_w/2"/>
                                          </p:val>
                                        </p:tav>
                                        <p:tav tm="100000">
                                          <p:val>
                                            <p:strVal val="#ppt_x"/>
                                          </p:val>
                                        </p:tav>
                                      </p:tavLst>
                                    </p:anim>
                                    <p:anim calcmode="lin" valueType="num">
                                      <p:cBhvr additive="base">
                                        <p:cTn id="30"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autoUpdateAnimBg="0"/>
      <p:bldP spid="7" grpId="0" autoUpdateAnimBg="0"/>
      <p:bldP spid="8" grpId="0" animBg="1" autoUpdateAnimBg="0"/>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spect="1" noChangeArrowheads="1"/>
          </p:cNvSpPr>
          <p:nvPr/>
        </p:nvSpPr>
        <p:spPr bwMode="auto">
          <a:xfrm>
            <a:off x="611560" y="3062546"/>
            <a:ext cx="5976664" cy="525463"/>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tIns="46800" bIns="46800"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 熵流</a:t>
            </a:r>
            <a:r>
              <a:rPr lang="zh-CN" altLang="en-US" sz="2800" dirty="0">
                <a:latin typeface="Times New Roman" pitchFamily="18" charset="0"/>
                <a:ea typeface="方正书宋简体" charset="-122"/>
              </a:rPr>
              <a:t> </a:t>
            </a:r>
            <a:r>
              <a:rPr lang="en-US" altLang="zh-CN" sz="2800" b="1" i="1" dirty="0" err="1">
                <a:latin typeface="Times New Roman" pitchFamily="18" charset="0"/>
                <a:ea typeface="方正书宋简体" charset="-122"/>
              </a:rPr>
              <a:t>δS</a:t>
            </a:r>
            <a:r>
              <a:rPr lang="en-US" altLang="zh-CN" sz="2800" b="1" baseline="-30000" dirty="0" err="1">
                <a:latin typeface="Times New Roman" pitchFamily="18" charset="0"/>
                <a:ea typeface="方正书宋简体" charset="-122"/>
              </a:rPr>
              <a:t>f</a:t>
            </a:r>
            <a:r>
              <a:rPr lang="zh-CN" altLang="en-US" sz="2800" dirty="0">
                <a:solidFill>
                  <a:srgbClr val="000000"/>
                </a:solidFill>
                <a:latin typeface="微软雅黑" pitchFamily="34" charset="-122"/>
                <a:ea typeface="微软雅黑" pitchFamily="34" charset="-122"/>
                <a:cs typeface="Times New Roman" pitchFamily="18" charset="0"/>
              </a:rPr>
              <a:t>：由传热引起的系统熵变化。</a:t>
            </a:r>
          </a:p>
        </p:txBody>
      </p:sp>
      <p:sp>
        <p:nvSpPr>
          <p:cNvPr id="4" name="Rectangle 4"/>
          <p:cNvSpPr>
            <a:spLocks noChangeArrowheads="1"/>
          </p:cNvSpPr>
          <p:nvPr/>
        </p:nvSpPr>
        <p:spPr bwMode="auto">
          <a:xfrm>
            <a:off x="611560" y="4600600"/>
            <a:ext cx="6912768" cy="523220"/>
          </a:xfrm>
          <a:prstGeom prst="rect">
            <a:avLst/>
          </a:prstGeom>
          <a:ln>
            <a:headEnd/>
            <a:tailEnd/>
          </a:ln>
        </p:spPr>
        <p:style>
          <a:lnRef idx="2">
            <a:schemeClr val="accent3"/>
          </a:lnRef>
          <a:fillRef idx="1">
            <a:schemeClr val="lt1"/>
          </a:fillRef>
          <a:effectRef idx="0">
            <a:schemeClr val="accent3"/>
          </a:effectRef>
          <a:fontRef idx="minor">
            <a:schemeClr val="dk1"/>
          </a:fontRef>
        </p:style>
        <p:txBody>
          <a:bodyPr wrap="squar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 熵产</a:t>
            </a:r>
            <a:r>
              <a:rPr lang="en-US" altLang="zh-CN" sz="2800" b="1" i="1" dirty="0" err="1">
                <a:latin typeface="Times New Roman" pitchFamily="18" charset="0"/>
                <a:ea typeface="方正书宋简体" charset="-122"/>
              </a:rPr>
              <a:t>δS</a:t>
            </a:r>
            <a:r>
              <a:rPr lang="en-US" altLang="zh-CN" sz="2800" b="1" baseline="-30000" dirty="0" err="1">
                <a:ea typeface="方正书宋简体" charset="-122"/>
              </a:rPr>
              <a:t>g</a:t>
            </a:r>
            <a:r>
              <a:rPr lang="zh-CN" altLang="en-US" sz="2800" dirty="0">
                <a:solidFill>
                  <a:srgbClr val="000000"/>
                </a:solidFill>
                <a:latin typeface="微软雅黑" pitchFamily="34" charset="-122"/>
                <a:ea typeface="微软雅黑" pitchFamily="34" charset="-122"/>
                <a:cs typeface="Times New Roman" pitchFamily="18" charset="0"/>
              </a:rPr>
              <a:t>：由不可逆因素引起的系统熵变化。</a:t>
            </a:r>
          </a:p>
        </p:txBody>
      </p:sp>
      <p:graphicFrame>
        <p:nvGraphicFramePr>
          <p:cNvPr id="5" name="Object 5"/>
          <p:cNvGraphicFramePr>
            <a:graphicFrameLocks noChangeAspect="1"/>
          </p:cNvGraphicFramePr>
          <p:nvPr>
            <p:extLst>
              <p:ext uri="{D42A27DB-BD31-4B8C-83A1-F6EECF244321}">
                <p14:modId xmlns:p14="http://schemas.microsoft.com/office/powerpoint/2010/main" val="1264662248"/>
              </p:ext>
            </p:extLst>
          </p:nvPr>
        </p:nvGraphicFramePr>
        <p:xfrm>
          <a:off x="2411760" y="5215726"/>
          <a:ext cx="3468687" cy="838200"/>
        </p:xfrm>
        <a:graphic>
          <a:graphicData uri="http://schemas.openxmlformats.org/presentationml/2006/ole">
            <mc:AlternateContent xmlns:mc="http://schemas.openxmlformats.org/markup-compatibility/2006">
              <mc:Choice xmlns:v="urn:schemas-microsoft-com:vml" Requires="v">
                <p:oleObj spid="_x0000_s56527" name="公式" r:id="rId3" imgW="1409400" imgH="342720" progId="Equation.3">
                  <p:embed/>
                </p:oleObj>
              </mc:Choice>
              <mc:Fallback>
                <p:oleObj name="公式" r:id="rId3" imgW="1409400" imgH="342720" progId="Equation.3">
                  <p:embed/>
                  <p:pic>
                    <p:nvPicPr>
                      <p:cNvPr id="0" name="Object 5"/>
                      <p:cNvPicPr>
                        <a:picLocks noChangeAspect="1" noChangeArrowheads="1"/>
                      </p:cNvPicPr>
                      <p:nvPr/>
                    </p:nvPicPr>
                    <p:blipFill>
                      <a:blip r:embed="rId4"/>
                      <a:srcRect/>
                      <a:stretch>
                        <a:fillRect/>
                      </a:stretch>
                    </p:blipFill>
                    <p:spPr bwMode="auto">
                      <a:xfrm>
                        <a:off x="2411760" y="5215726"/>
                        <a:ext cx="3468687" cy="838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Group 8"/>
          <p:cNvGrpSpPr>
            <a:grpSpLocks/>
          </p:cNvGrpSpPr>
          <p:nvPr/>
        </p:nvGrpSpPr>
        <p:grpSpPr bwMode="auto">
          <a:xfrm>
            <a:off x="2043113" y="3644925"/>
            <a:ext cx="4886325" cy="836612"/>
            <a:chOff x="1287" y="1041"/>
            <a:chExt cx="3078" cy="523"/>
          </a:xfrm>
        </p:grpSpPr>
        <p:graphicFrame>
          <p:nvGraphicFramePr>
            <p:cNvPr id="9" name="Object 9"/>
            <p:cNvGraphicFramePr>
              <a:graphicFrameLocks noChangeAspect="1"/>
            </p:cNvGraphicFramePr>
            <p:nvPr>
              <p:extLst>
                <p:ext uri="{D42A27DB-BD31-4B8C-83A1-F6EECF244321}">
                  <p14:modId xmlns:p14="http://schemas.microsoft.com/office/powerpoint/2010/main" val="1922535923"/>
                </p:ext>
              </p:extLst>
            </p:nvPr>
          </p:nvGraphicFramePr>
          <p:xfrm>
            <a:off x="1287" y="1041"/>
            <a:ext cx="835" cy="523"/>
          </p:xfrm>
          <a:graphic>
            <a:graphicData uri="http://schemas.openxmlformats.org/presentationml/2006/ole">
              <mc:AlternateContent xmlns:mc="http://schemas.openxmlformats.org/markup-compatibility/2006">
                <mc:Choice xmlns:v="urn:schemas-microsoft-com:vml" Requires="v">
                  <p:oleObj spid="_x0000_s56528" name="公式" r:id="rId5" imgW="545760" imgH="342720" progId="Equation.3">
                    <p:embed/>
                  </p:oleObj>
                </mc:Choice>
                <mc:Fallback>
                  <p:oleObj name="公式" r:id="rId5" imgW="545760" imgH="342720" progId="Equation.3">
                    <p:embed/>
                    <p:pic>
                      <p:nvPicPr>
                        <p:cNvPr id="0" name="Object 9"/>
                        <p:cNvPicPr>
                          <a:picLocks noChangeAspect="1" noChangeArrowheads="1"/>
                        </p:cNvPicPr>
                        <p:nvPr/>
                      </p:nvPicPr>
                      <p:blipFill>
                        <a:blip r:embed="rId6"/>
                        <a:srcRect/>
                        <a:stretch>
                          <a:fillRect/>
                        </a:stretch>
                      </p:blipFill>
                      <p:spPr bwMode="auto">
                        <a:xfrm>
                          <a:off x="1287" y="1041"/>
                          <a:ext cx="835" cy="5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0"/>
            <p:cNvSpPr txBox="1">
              <a:spLocks noChangeArrowheads="1"/>
            </p:cNvSpPr>
            <p:nvPr/>
          </p:nvSpPr>
          <p:spPr bwMode="auto">
            <a:xfrm>
              <a:off x="2448" y="1168"/>
              <a:ext cx="1917" cy="327"/>
            </a:xfrm>
            <a:prstGeom prst="rect">
              <a:avLst/>
            </a:prstGeom>
            <a:noFill/>
            <a:ln w="9525">
              <a:noFill/>
              <a:miter lim="800000"/>
              <a:headEnd/>
              <a:tailEnd/>
            </a:ln>
            <a:effectLst/>
          </p:spPr>
          <p:txBody>
            <a:bodyPr>
              <a:spAutoFit/>
            </a:bodyPr>
            <a:lstStyle/>
            <a:p>
              <a:pPr>
                <a:spcBef>
                  <a:spcPct val="50000"/>
                </a:spcBef>
              </a:pPr>
              <a:r>
                <a:rPr lang="en-US" altLang="zh-CN" sz="2800" dirty="0">
                  <a:solidFill>
                    <a:srgbClr val="000000"/>
                  </a:solidFill>
                  <a:latin typeface="微软雅黑" pitchFamily="34" charset="-122"/>
                  <a:ea typeface="微软雅黑" pitchFamily="34" charset="-122"/>
                  <a:cs typeface="Times New Roman" pitchFamily="18" charset="0"/>
                </a:rPr>
                <a:t>(</a:t>
              </a:r>
              <a:r>
                <a:rPr lang="zh-CN" altLang="en-US" sz="2800" dirty="0">
                  <a:solidFill>
                    <a:srgbClr val="000000"/>
                  </a:solidFill>
                  <a:latin typeface="微软雅黑" pitchFamily="34" charset="-122"/>
                  <a:ea typeface="微软雅黑" pitchFamily="34" charset="-122"/>
                  <a:cs typeface="Times New Roman" pitchFamily="18" charset="0"/>
                </a:rPr>
                <a:t>适用于任何过程）</a:t>
              </a:r>
            </a:p>
          </p:txBody>
        </p:sp>
      </p:grpSp>
      <p:sp>
        <p:nvSpPr>
          <p:cNvPr id="11" name="Rectangle 11"/>
          <p:cNvSpPr>
            <a:spLocks noChangeArrowheads="1"/>
          </p:cNvSpPr>
          <p:nvPr/>
        </p:nvSpPr>
        <p:spPr bwMode="auto">
          <a:xfrm>
            <a:off x="428596" y="1160487"/>
            <a:ext cx="8286808" cy="1902059"/>
          </a:xfrm>
          <a:prstGeom prst="rect">
            <a:avLst/>
          </a:prstGeom>
          <a:noFill/>
          <a:ln w="9525" algn="ctr">
            <a:noFill/>
            <a:miter lim="800000"/>
            <a:headEnd/>
            <a:tailEnd/>
          </a:ln>
          <a:effectLst/>
        </p:spPr>
        <p:txBody>
          <a:bodyPr wrap="square" anchor="ctr">
            <a:spAutoFit/>
          </a:bodyPr>
          <a:lstStyle/>
          <a:p>
            <a:pPr>
              <a:lnSpc>
                <a:spcPct val="140000"/>
              </a:lnSpc>
            </a:pPr>
            <a:r>
              <a:rPr lang="zh-CN" altLang="en-US" sz="2800" b="1" dirty="0">
                <a:solidFill>
                  <a:srgbClr val="FF0000"/>
                </a:solidFill>
                <a:latin typeface="微软雅黑" pitchFamily="34" charset="-122"/>
                <a:ea typeface="微软雅黑" pitchFamily="34" charset="-122"/>
              </a:rPr>
              <a:t>结论：</a:t>
            </a:r>
            <a:r>
              <a:rPr lang="zh-CN" altLang="en-US" sz="2800" dirty="0">
                <a:solidFill>
                  <a:srgbClr val="FF0000"/>
                </a:solidFill>
                <a:latin typeface="微软雅黑" pitchFamily="34" charset="-122"/>
                <a:ea typeface="微软雅黑" pitchFamily="34" charset="-122"/>
              </a:rPr>
              <a:t>在不可逆过程中，熵的变化大于过程中工质的吸热量除以热源温度所得的商。所以把熵分为熵流和熵产。 </a:t>
            </a:r>
          </a:p>
        </p:txBody>
      </p:sp>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28</a:t>
            </a:r>
            <a:endParaRPr lang="zh-CN" altLang="en-US" sz="2000" b="1" dirty="0">
              <a:solidFill>
                <a:schemeClr val="tx1"/>
              </a:solidFill>
              <a:latin typeface="黑体" pitchFamily="49" charset="-122"/>
              <a:ea typeface="黑体" pitchFamily="49" charset="-122"/>
            </a:endParaRPr>
          </a:p>
        </p:txBody>
      </p:sp>
      <p:sp>
        <p:nvSpPr>
          <p:cNvPr id="13" name="矩形 12"/>
          <p:cNvSpPr/>
          <p:nvPr/>
        </p:nvSpPr>
        <p:spPr>
          <a:xfrm>
            <a:off x="611561" y="5373216"/>
            <a:ext cx="1440160" cy="523220"/>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r>
              <a:rPr lang="zh-CN" altLang="en-US" sz="2800" dirty="0">
                <a:solidFill>
                  <a:srgbClr val="000000"/>
                </a:solidFill>
                <a:latin typeface="微软雅黑" pitchFamily="34" charset="-122"/>
                <a:ea typeface="微软雅黑" pitchFamily="34" charset="-122"/>
                <a:cs typeface="Times New Roman" pitchFamily="18" charset="0"/>
              </a:rPr>
              <a:t>总熵变：</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dissolve">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dissolv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dissolve">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dissolv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nimBg="1" autoUpdateAnimBg="0"/>
      <p:bldP spid="11" grpId="0" autoUpdateAnimBg="0"/>
      <p:bldP spid="1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ChangeAspect="1" noChangeArrowheads="1"/>
          </p:cNvSpPr>
          <p:nvPr/>
        </p:nvSpPr>
        <p:spPr bwMode="auto">
          <a:xfrm>
            <a:off x="251520" y="1124744"/>
            <a:ext cx="1187086" cy="525463"/>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tIns="46800" bIns="46800" anchor="ctr">
            <a:spAutoFit/>
          </a:bodyPr>
          <a:lstStyle/>
          <a:p>
            <a:r>
              <a:rPr lang="zh-CN" altLang="en-US" sz="2800" dirty="0">
                <a:latin typeface="微软雅黑" pitchFamily="34" charset="-122"/>
                <a:ea typeface="微软雅黑" pitchFamily="34" charset="-122"/>
                <a:cs typeface="Times New Roman" pitchFamily="18" charset="0"/>
              </a:rPr>
              <a:t>讨论：</a:t>
            </a:r>
          </a:p>
        </p:txBody>
      </p:sp>
      <p:sp>
        <p:nvSpPr>
          <p:cNvPr id="4" name="Rectangle 3"/>
          <p:cNvSpPr>
            <a:spLocks noChangeAspect="1" noChangeArrowheads="1"/>
          </p:cNvSpPr>
          <p:nvPr/>
        </p:nvSpPr>
        <p:spPr bwMode="auto">
          <a:xfrm>
            <a:off x="615948" y="1661437"/>
            <a:ext cx="7916492" cy="1137235"/>
          </a:xfrm>
          <a:prstGeom prst="rect">
            <a:avLst/>
          </a:prstGeom>
          <a:noFill/>
          <a:ln w="9525" algn="ctr">
            <a:noFill/>
            <a:miter lim="800000"/>
            <a:headEnd/>
            <a:tailEnd/>
          </a:ln>
          <a:effectLst/>
        </p:spPr>
        <p:txBody>
          <a:bodyPr wrap="square" tIns="46800" bIns="46800" anchor="ctr">
            <a:spAutoFit/>
          </a:bodyPr>
          <a:lstStyle/>
          <a:p>
            <a:pPr marL="457200" indent="-457200">
              <a:lnSpc>
                <a:spcPct val="150000"/>
              </a:lnSpc>
              <a:buClr>
                <a:schemeClr val="tx2">
                  <a:lumMod val="40000"/>
                  <a:lumOff val="60000"/>
                </a:schemeClr>
              </a:buClr>
              <a:buFont typeface="Wingdings" panose="05000000000000000000" pitchFamily="2" charset="2"/>
              <a:buChar char="Ø"/>
            </a:pPr>
            <a:r>
              <a:rPr lang="zh-CN" altLang="en-US" sz="2400" dirty="0">
                <a:latin typeface="微软雅黑" pitchFamily="34" charset="-122"/>
                <a:ea typeface="微软雅黑" pitchFamily="34" charset="-122"/>
                <a:cs typeface="Times New Roman" pitchFamily="18" charset="0"/>
              </a:rPr>
              <a:t>熵流可正可负 。系统吸热，熵流为正； 系统放热，熵流为负。</a:t>
            </a:r>
          </a:p>
        </p:txBody>
      </p:sp>
      <p:sp>
        <p:nvSpPr>
          <p:cNvPr id="5" name="Rectangle 3"/>
          <p:cNvSpPr>
            <a:spLocks noChangeAspect="1" noChangeArrowheads="1"/>
          </p:cNvSpPr>
          <p:nvPr/>
        </p:nvSpPr>
        <p:spPr bwMode="auto">
          <a:xfrm>
            <a:off x="615948" y="2705911"/>
            <a:ext cx="8060508" cy="1137235"/>
          </a:xfrm>
          <a:prstGeom prst="rect">
            <a:avLst/>
          </a:prstGeom>
          <a:noFill/>
          <a:ln w="9525" algn="ctr">
            <a:noFill/>
            <a:miter lim="800000"/>
            <a:headEnd/>
            <a:tailEnd/>
          </a:ln>
          <a:effectLst/>
        </p:spPr>
        <p:txBody>
          <a:bodyPr wrap="square" tIns="46800" bIns="46800" anchor="ctr">
            <a:spAutoFit/>
          </a:bodyPr>
          <a:lstStyle/>
          <a:p>
            <a:pPr marL="457200" indent="-457200">
              <a:lnSpc>
                <a:spcPct val="150000"/>
              </a:lnSpc>
              <a:buClr>
                <a:schemeClr val="tx2">
                  <a:lumMod val="40000"/>
                  <a:lumOff val="60000"/>
                </a:schemeClr>
              </a:buClr>
              <a:buFont typeface="Wingdings" panose="05000000000000000000" pitchFamily="2" charset="2"/>
              <a:buChar char="Ø"/>
            </a:pPr>
            <a:r>
              <a:rPr lang="zh-CN" altLang="en-US" sz="2400" dirty="0">
                <a:solidFill>
                  <a:srgbClr val="4B3EEE"/>
                </a:solidFill>
                <a:latin typeface="微软雅黑" pitchFamily="34" charset="-122"/>
                <a:ea typeface="微软雅黑" pitchFamily="34" charset="-122"/>
                <a:cs typeface="Times New Roman" pitchFamily="18" charset="0"/>
              </a:rPr>
              <a:t>熵产总为正。可逆过程熵产为零；不可逆过程熵产大于零。（可逆绝热</a:t>
            </a:r>
            <a:r>
              <a:rPr lang="en-US" altLang="zh-CN" sz="2400" dirty="0">
                <a:solidFill>
                  <a:srgbClr val="4B3EEE"/>
                </a:solidFill>
                <a:latin typeface="微软雅黑" pitchFamily="34" charset="-122"/>
                <a:ea typeface="微软雅黑" pitchFamily="34" charset="-122"/>
                <a:cs typeface="Times New Roman" pitchFamily="18" charset="0"/>
              </a:rPr>
              <a:t>=</a:t>
            </a:r>
            <a:r>
              <a:rPr lang="zh-CN" altLang="en-US" sz="2400" dirty="0">
                <a:solidFill>
                  <a:srgbClr val="4B3EEE"/>
                </a:solidFill>
                <a:latin typeface="微软雅黑" pitchFamily="34" charset="-122"/>
                <a:ea typeface="微软雅黑" pitchFamily="34" charset="-122"/>
                <a:cs typeface="Times New Roman" pitchFamily="18" charset="0"/>
              </a:rPr>
              <a:t>定熵）</a:t>
            </a:r>
          </a:p>
        </p:txBody>
      </p:sp>
      <p:sp>
        <p:nvSpPr>
          <p:cNvPr id="6" name="Rectangle 3"/>
          <p:cNvSpPr>
            <a:spLocks noChangeAspect="1" noChangeArrowheads="1"/>
          </p:cNvSpPr>
          <p:nvPr/>
        </p:nvSpPr>
        <p:spPr bwMode="auto">
          <a:xfrm>
            <a:off x="615948" y="3706004"/>
            <a:ext cx="8060508" cy="1202510"/>
          </a:xfrm>
          <a:prstGeom prst="rect">
            <a:avLst/>
          </a:prstGeom>
          <a:noFill/>
          <a:ln w="9525" algn="ctr">
            <a:noFill/>
            <a:miter lim="800000"/>
            <a:headEnd/>
            <a:tailEnd/>
          </a:ln>
          <a:effectLst/>
        </p:spPr>
        <p:txBody>
          <a:bodyPr wrap="square" tIns="46800" bIns="46800" anchor="ctr">
            <a:spAutoFit/>
          </a:bodyPr>
          <a:lstStyle/>
          <a:p>
            <a:pPr marL="457200" indent="-457200">
              <a:lnSpc>
                <a:spcPct val="150000"/>
              </a:lnSpc>
              <a:buClr>
                <a:schemeClr val="tx2">
                  <a:lumMod val="40000"/>
                  <a:lumOff val="60000"/>
                </a:schemeClr>
              </a:buClr>
              <a:buFont typeface="Wingdings" panose="05000000000000000000" pitchFamily="2" charset="2"/>
              <a:buChar char="Ø"/>
            </a:pPr>
            <a:r>
              <a:rPr lang="zh-CN" altLang="en-US" sz="2400" dirty="0">
                <a:latin typeface="微软雅黑" pitchFamily="34" charset="-122"/>
                <a:ea typeface="微软雅黑" pitchFamily="34" charset="-122"/>
                <a:cs typeface="Times New Roman" pitchFamily="18" charset="0"/>
              </a:rPr>
              <a:t>过程的不可逆程度越大，熵产的值越大。熵产是过程不可逆程度的一种度量。</a:t>
            </a:r>
          </a:p>
        </p:txBody>
      </p:sp>
      <p:sp>
        <p:nvSpPr>
          <p:cNvPr id="7" name="Rectangle 3"/>
          <p:cNvSpPr>
            <a:spLocks noChangeAspect="1" noChangeArrowheads="1"/>
          </p:cNvSpPr>
          <p:nvPr/>
        </p:nvSpPr>
        <p:spPr bwMode="auto">
          <a:xfrm>
            <a:off x="634279" y="4809052"/>
            <a:ext cx="8060508" cy="1137235"/>
          </a:xfrm>
          <a:prstGeom prst="rect">
            <a:avLst/>
          </a:prstGeom>
          <a:noFill/>
          <a:ln w="9525" algn="ctr">
            <a:noFill/>
            <a:miter lim="800000"/>
            <a:headEnd/>
            <a:tailEnd/>
          </a:ln>
          <a:effectLst/>
        </p:spPr>
        <p:txBody>
          <a:bodyPr wrap="square" tIns="46800" bIns="46800" anchor="ctr">
            <a:spAutoFit/>
          </a:bodyPr>
          <a:lstStyle/>
          <a:p>
            <a:pPr marL="457200" indent="-457200">
              <a:lnSpc>
                <a:spcPct val="150000"/>
              </a:lnSpc>
              <a:buClr>
                <a:schemeClr val="tx2">
                  <a:lumMod val="40000"/>
                  <a:lumOff val="60000"/>
                </a:schemeClr>
              </a:buClr>
              <a:buFont typeface="Wingdings" panose="05000000000000000000" pitchFamily="2" charset="2"/>
              <a:buChar char="Ø"/>
            </a:pPr>
            <a:r>
              <a:rPr lang="zh-CN" altLang="en-US" sz="2400" dirty="0">
                <a:solidFill>
                  <a:srgbClr val="4B3EEE"/>
                </a:solidFill>
                <a:latin typeface="微软雅黑" pitchFamily="34" charset="-122"/>
                <a:ea typeface="微软雅黑" pitchFamily="34" charset="-122"/>
                <a:cs typeface="Times New Roman" pitchFamily="18" charset="0"/>
              </a:rPr>
              <a:t>对可逆过程，熵变就等于熵流，但从概念上熵变是状态参数，而熵流不是状态参数，当然熵产也不是状态参数。</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29</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dissolve">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P spid="4" grpId="0" autoUpdateAnimBg="0"/>
      <p:bldP spid="5" grpId="0" autoUpdateAnimBg="0"/>
      <p:bldP spid="6" grpId="0" autoUpdateAnimBg="0"/>
      <p:bldP spid="7"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7"/>
          <p:cNvSpPr txBox="1">
            <a:spLocks noChangeArrowheads="1"/>
          </p:cNvSpPr>
          <p:nvPr/>
        </p:nvSpPr>
        <p:spPr bwMode="auto">
          <a:xfrm>
            <a:off x="791530" y="1052736"/>
            <a:ext cx="2124286"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熵方程</a:t>
            </a:r>
          </a:p>
        </p:txBody>
      </p:sp>
      <p:sp>
        <p:nvSpPr>
          <p:cNvPr id="4" name="矩形 3"/>
          <p:cNvSpPr/>
          <p:nvPr/>
        </p:nvSpPr>
        <p:spPr>
          <a:xfrm>
            <a:off x="129766" y="1066205"/>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4.</a:t>
            </a:r>
            <a:endParaRPr lang="zh-CN" altLang="en-US" sz="2800" i="1" dirty="0">
              <a:solidFill>
                <a:srgbClr val="C00000"/>
              </a:solidFill>
              <a:latin typeface="Bernard MT Condensed"/>
            </a:endParaRPr>
          </a:p>
        </p:txBody>
      </p:sp>
      <p:sp>
        <p:nvSpPr>
          <p:cNvPr id="5" name="Rectangle 2"/>
          <p:cNvSpPr txBox="1">
            <a:spLocks noChangeArrowheads="1"/>
          </p:cNvSpPr>
          <p:nvPr/>
        </p:nvSpPr>
        <p:spPr>
          <a:xfrm>
            <a:off x="395536" y="3730142"/>
            <a:ext cx="8458200" cy="1643074"/>
          </a:xfrm>
          <a:prstGeom prst="rect">
            <a:avLst/>
          </a:prstGeom>
          <a:ln>
            <a:noFill/>
          </a:ln>
        </p:spPr>
        <p:txBody>
          <a:bodyPr vert="horz" lIns="91440" tIns="45720" rIns="91440" bIns="45720" rtlCol="0">
            <a:noAutofit/>
          </a:bodyPr>
          <a:lstStyle/>
          <a:p>
            <a:pPr marR="0" lvl="0" algn="l" defTabSz="914400" rtl="0" eaLnBrk="1" fontAlgn="auto" latinLnBrk="0" hangingPunct="1">
              <a:lnSpc>
                <a:spcPct val="130000"/>
              </a:lnSpc>
              <a:spcAft>
                <a:spcPts val="0"/>
              </a:spcAft>
              <a:buClrTx/>
              <a:buSzTx/>
              <a:buFontTx/>
              <a:buNone/>
              <a:tabLst/>
              <a:defRPr/>
            </a:pPr>
            <a:r>
              <a:rPr lang="zh-CN" altLang="en-US" sz="2800" dirty="0">
                <a:solidFill>
                  <a:srgbClr val="FF00FF"/>
                </a:solidFill>
                <a:latin typeface="微软雅黑" pitchFamily="34" charset="-122"/>
                <a:ea typeface="微软雅黑" pitchFamily="34" charset="-122"/>
                <a:cs typeface="Times New Roman" pitchFamily="18" charset="0"/>
              </a:rPr>
              <a:t>      </a:t>
            </a:r>
            <a:r>
              <a:rPr lang="zh-CN" altLang="en-US" sz="2800" dirty="0">
                <a:solidFill>
                  <a:srgbClr val="0070C0"/>
                </a:solidFill>
                <a:latin typeface="微软雅黑" pitchFamily="34" charset="-122"/>
                <a:ea typeface="微软雅黑" pitchFamily="34" charset="-122"/>
                <a:cs typeface="Times New Roman" pitchFamily="18" charset="0"/>
              </a:rPr>
              <a:t>系统的熵变＝流入的熵＋系统的熵产－流出的熵 </a:t>
            </a:r>
          </a:p>
          <a:p>
            <a:pPr marR="0" lvl="0" algn="l" defTabSz="914400" rtl="0" eaLnBrk="1" fontAlgn="auto" latinLnBrk="0" hangingPunct="1">
              <a:lnSpc>
                <a:spcPct val="130000"/>
              </a:lnSpc>
              <a:spcAft>
                <a:spcPts val="0"/>
              </a:spcAft>
              <a:buClrTx/>
              <a:buSzTx/>
              <a:buFontTx/>
              <a:buNone/>
              <a:tabLst/>
              <a:defRPr/>
            </a:pPr>
            <a:r>
              <a:rPr kumimoji="0" lang="zh-CN" altLang="en-US" sz="2800" b="1" i="0" u="none" strike="noStrike" kern="1200" cap="none" spc="0" normalizeH="0" noProof="0" dirty="0">
                <a:ln>
                  <a:noFill/>
                </a:ln>
                <a:solidFill>
                  <a:schemeClr val="tx1"/>
                </a:solidFill>
                <a:effectLst/>
                <a:uLnTx/>
                <a:uFillTx/>
                <a:latin typeface="+mn-lt"/>
                <a:ea typeface="+mn-ea"/>
                <a:cs typeface="+mn-cs"/>
              </a:rPr>
              <a:t>        </a:t>
            </a:r>
            <a:r>
              <a:rPr lang="zh-CN" altLang="en-US" sz="2800" dirty="0">
                <a:latin typeface="微软雅黑" pitchFamily="34" charset="-122"/>
                <a:ea typeface="微软雅黑" pitchFamily="34" charset="-122"/>
              </a:rPr>
              <a:t>设系统进、出口截面工质处于平衡稳定状态，则在一微小时间间隔内该系统的熵变为</a:t>
            </a:r>
          </a:p>
        </p:txBody>
      </p:sp>
      <p:sp>
        <p:nvSpPr>
          <p:cNvPr id="6" name="Rectangle 4"/>
          <p:cNvSpPr>
            <a:spLocks noChangeArrowheads="1"/>
          </p:cNvSpPr>
          <p:nvPr/>
        </p:nvSpPr>
        <p:spPr bwMode="auto">
          <a:xfrm>
            <a:off x="467544" y="3154078"/>
            <a:ext cx="3112566" cy="565604"/>
          </a:xfrm>
          <a:prstGeom prst="rect">
            <a:avLst/>
          </a:prstGeom>
          <a:noFill/>
          <a:ln w="9525">
            <a:noFill/>
            <a:miter lim="800000"/>
            <a:headEnd/>
            <a:tailEnd/>
          </a:ln>
          <a:effectLst/>
        </p:spPr>
        <p:txBody>
          <a:bodyPr wrap="square">
            <a:spAutoFit/>
          </a:bodyPr>
          <a:lstStyle/>
          <a:p>
            <a:pPr indent="-342900">
              <a:lnSpc>
                <a:spcPct val="120000"/>
              </a:lnSpc>
            </a:pPr>
            <a:r>
              <a:rPr lang="en-US" altLang="zh-CN" sz="2800" dirty="0">
                <a:solidFill>
                  <a:srgbClr val="4B3EEE"/>
                </a:solidFill>
                <a:latin typeface="微软雅黑" pitchFamily="34" charset="-122"/>
                <a:ea typeface="微软雅黑" pitchFamily="34" charset="-122"/>
              </a:rPr>
              <a:t>(2)  </a:t>
            </a:r>
            <a:r>
              <a:rPr lang="zh-CN" altLang="en-US" sz="2800" dirty="0">
                <a:solidFill>
                  <a:srgbClr val="4B3EEE"/>
                </a:solidFill>
                <a:latin typeface="微软雅黑" pitchFamily="34" charset="-122"/>
                <a:ea typeface="微软雅黑" pitchFamily="34" charset="-122"/>
              </a:rPr>
              <a:t>开口系熵方程</a:t>
            </a:r>
          </a:p>
        </p:txBody>
      </p:sp>
      <p:graphicFrame>
        <p:nvGraphicFramePr>
          <p:cNvPr id="7" name="Object 6"/>
          <p:cNvGraphicFramePr>
            <a:graphicFrameLocks noChangeAspect="1"/>
          </p:cNvGraphicFramePr>
          <p:nvPr/>
        </p:nvGraphicFramePr>
        <p:xfrm>
          <a:off x="1562100" y="5500702"/>
          <a:ext cx="5961063" cy="585788"/>
        </p:xfrm>
        <a:graphic>
          <a:graphicData uri="http://schemas.openxmlformats.org/presentationml/2006/ole">
            <mc:AlternateContent xmlns:mc="http://schemas.openxmlformats.org/markup-compatibility/2006">
              <mc:Choice xmlns:v="urn:schemas-microsoft-com:vml" Requires="v">
                <p:oleObj spid="_x0000_s57430" name="公式" r:id="rId3" imgW="2222280" imgH="215640" progId="Equation.3">
                  <p:embed/>
                </p:oleObj>
              </mc:Choice>
              <mc:Fallback>
                <p:oleObj name="公式" r:id="rId3" imgW="2222280" imgH="21564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2100" y="5500702"/>
                        <a:ext cx="5961063" cy="585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3"/>
          <p:cNvSpPr>
            <a:spLocks noChangeAspect="1" noChangeArrowheads="1"/>
          </p:cNvSpPr>
          <p:nvPr/>
        </p:nvSpPr>
        <p:spPr bwMode="auto">
          <a:xfrm>
            <a:off x="488154" y="1556792"/>
            <a:ext cx="3091956" cy="525401"/>
          </a:xfrm>
          <a:prstGeom prst="rect">
            <a:avLst/>
          </a:prstGeom>
          <a:noFill/>
          <a:ln w="9525" algn="ctr">
            <a:noFill/>
            <a:miter lim="800000"/>
            <a:headEnd/>
            <a:tailEnd/>
          </a:ln>
          <a:effectLst/>
        </p:spPr>
        <p:txBody>
          <a:bodyPr wrap="square" tIns="46800" bIns="46800" anchor="ctr">
            <a:spAutoFit/>
          </a:bodyPr>
          <a:lstStyle/>
          <a:p>
            <a:r>
              <a:rPr lang="en-US" altLang="zh-CN" sz="2800" dirty="0">
                <a:solidFill>
                  <a:srgbClr val="4B3EEE"/>
                </a:solidFill>
                <a:latin typeface="微软雅黑" pitchFamily="34" charset="-122"/>
                <a:ea typeface="微软雅黑" pitchFamily="34" charset="-122"/>
              </a:rPr>
              <a:t>(1)  </a:t>
            </a:r>
            <a:r>
              <a:rPr lang="zh-CN" altLang="en-US" sz="2800" dirty="0">
                <a:solidFill>
                  <a:srgbClr val="4B3EEE"/>
                </a:solidFill>
                <a:latin typeface="微软雅黑" pitchFamily="34" charset="-122"/>
                <a:ea typeface="微软雅黑" pitchFamily="34" charset="-122"/>
              </a:rPr>
              <a:t>闭口系熵方程</a:t>
            </a:r>
          </a:p>
        </p:txBody>
      </p:sp>
      <p:sp>
        <p:nvSpPr>
          <p:cNvPr id="10" name="Rectangle 3"/>
          <p:cNvSpPr>
            <a:spLocks noChangeAspect="1" noChangeArrowheads="1"/>
          </p:cNvSpPr>
          <p:nvPr/>
        </p:nvSpPr>
        <p:spPr bwMode="auto">
          <a:xfrm>
            <a:off x="642910" y="1988840"/>
            <a:ext cx="7813704" cy="1128643"/>
          </a:xfrm>
          <a:prstGeom prst="rect">
            <a:avLst/>
          </a:prstGeom>
          <a:noFill/>
          <a:ln w="9525" algn="ctr">
            <a:noFill/>
            <a:miter lim="800000"/>
            <a:headEnd/>
            <a:tailEnd/>
          </a:ln>
          <a:effectLst/>
        </p:spPr>
        <p:txBody>
          <a:bodyPr wrap="square" tIns="46800" bIns="46800" anchor="ctr">
            <a:spAutoFit/>
          </a:bodyPr>
          <a:lstStyle/>
          <a:p>
            <a:pPr indent="-342900">
              <a:lnSpc>
                <a:spcPct val="120000"/>
              </a:lnSpc>
            </a:pPr>
            <a:r>
              <a:rPr lang="en-US" altLang="zh-CN" sz="2800" dirty="0">
                <a:latin typeface="Times New Roman" pitchFamily="18" charset="0"/>
                <a:cs typeface="Times New Roman" pitchFamily="18" charset="0"/>
              </a:rPr>
              <a:t>                              </a:t>
            </a:r>
            <a:r>
              <a:rPr lang="en-US" altLang="zh-CN" sz="2800" dirty="0" err="1">
                <a:latin typeface="Times New Roman" pitchFamily="18" charset="0"/>
                <a:cs typeface="Times New Roman" pitchFamily="18" charset="0"/>
              </a:rPr>
              <a:t>d</a:t>
            </a:r>
            <a:r>
              <a:rPr lang="en-US" altLang="zh-CN" sz="2800" i="1" dirty="0" err="1">
                <a:latin typeface="Times New Roman" pitchFamily="18" charset="0"/>
                <a:cs typeface="Times New Roman" pitchFamily="18" charset="0"/>
              </a:rPr>
              <a:t>s</a:t>
            </a:r>
            <a:r>
              <a:rPr lang="en-US" altLang="zh-CN" sz="2800" i="1" dirty="0">
                <a:latin typeface="Times New Roman" pitchFamily="18" charset="0"/>
                <a:cs typeface="Times New Roman" pitchFamily="18" charset="0"/>
              </a:rPr>
              <a:t> = </a:t>
            </a:r>
            <a:r>
              <a:rPr lang="en-US" altLang="zh-CN" sz="2800" i="1" dirty="0" err="1">
                <a:latin typeface="Times New Roman" pitchFamily="18" charset="0"/>
                <a:cs typeface="Times New Roman" pitchFamily="18" charset="0"/>
              </a:rPr>
              <a:t>δs</a:t>
            </a:r>
            <a:r>
              <a:rPr lang="en-US" altLang="zh-CN" sz="2800" baseline="-25000" dirty="0" err="1">
                <a:latin typeface="Times New Roman" pitchFamily="18" charset="0"/>
                <a:cs typeface="Times New Roman" pitchFamily="18" charset="0"/>
              </a:rPr>
              <a:t>f</a:t>
            </a:r>
            <a:r>
              <a:rPr lang="en-US" altLang="zh-CN" sz="2800" i="1" dirty="0">
                <a:latin typeface="Times New Roman" pitchFamily="18" charset="0"/>
                <a:cs typeface="Times New Roman" pitchFamily="18" charset="0"/>
              </a:rPr>
              <a:t> + </a:t>
            </a:r>
            <a:r>
              <a:rPr lang="en-US" altLang="zh-CN" sz="2800" i="1" dirty="0" err="1">
                <a:latin typeface="Times New Roman" pitchFamily="18" charset="0"/>
                <a:cs typeface="Times New Roman" pitchFamily="18" charset="0"/>
              </a:rPr>
              <a:t>δs</a:t>
            </a:r>
            <a:r>
              <a:rPr lang="en-US" altLang="zh-CN" sz="2800" baseline="-25000" dirty="0" err="1">
                <a:latin typeface="Times New Roman" pitchFamily="18" charset="0"/>
                <a:cs typeface="Times New Roman" pitchFamily="18" charset="0"/>
              </a:rPr>
              <a:t>g</a:t>
            </a:r>
            <a:endParaRPr lang="en-US" altLang="zh-CN" sz="2800" baseline="-25000" dirty="0">
              <a:latin typeface="Times New Roman" pitchFamily="18" charset="0"/>
              <a:cs typeface="Times New Roman" pitchFamily="18" charset="0"/>
            </a:endParaRPr>
          </a:p>
          <a:p>
            <a:pPr indent="-342900">
              <a:lnSpc>
                <a:spcPct val="120000"/>
              </a:lnSpc>
            </a:pPr>
            <a:r>
              <a:rPr lang="en-US" altLang="zh-CN" sz="2800" dirty="0">
                <a:latin typeface="Times New Roman" pitchFamily="18" charset="0"/>
                <a:cs typeface="Times New Roman" pitchFamily="18" charset="0"/>
              </a:rPr>
              <a:t>               </a:t>
            </a:r>
            <a:r>
              <a:rPr lang="zh-CN" altLang="en-US" sz="2800" dirty="0">
                <a:latin typeface="微软雅黑" pitchFamily="34" charset="-122"/>
                <a:ea typeface="微软雅黑" pitchFamily="34" charset="-122"/>
              </a:rPr>
              <a:t>或</a:t>
            </a:r>
            <a:r>
              <a:rPr lang="zh-CN" altLang="en-US" sz="2800" dirty="0">
                <a:latin typeface="Times New Roman" pitchFamily="18" charset="0"/>
                <a:cs typeface="Times New Roman" pitchFamily="18" charset="0"/>
              </a:rPr>
              <a:t>            </a:t>
            </a:r>
            <a:r>
              <a:rPr lang="en-US" altLang="zh-CN" sz="2800" i="1" dirty="0">
                <a:latin typeface="Times New Roman" pitchFamily="18" charset="0"/>
                <a:cs typeface="Times New Roman" pitchFamily="18" charset="0"/>
              </a:rPr>
              <a:t>Δs=</a:t>
            </a:r>
            <a:r>
              <a:rPr lang="en-US" altLang="zh-CN" sz="2800" i="1" dirty="0" err="1">
                <a:latin typeface="Times New Roman" pitchFamily="18" charset="0"/>
                <a:cs typeface="Times New Roman" pitchFamily="18" charset="0"/>
              </a:rPr>
              <a:t>Δs</a:t>
            </a:r>
            <a:r>
              <a:rPr lang="en-US" altLang="zh-CN" sz="2800" baseline="-25000" dirty="0" err="1">
                <a:latin typeface="Times New Roman" pitchFamily="18" charset="0"/>
                <a:cs typeface="Times New Roman" pitchFamily="18" charset="0"/>
              </a:rPr>
              <a:t>f</a:t>
            </a:r>
            <a:r>
              <a:rPr lang="en-US" altLang="zh-CN" sz="2800" i="1" dirty="0" err="1">
                <a:latin typeface="Times New Roman" pitchFamily="18" charset="0"/>
                <a:cs typeface="Times New Roman" pitchFamily="18" charset="0"/>
              </a:rPr>
              <a:t>+Δs</a:t>
            </a:r>
            <a:r>
              <a:rPr lang="en-US" altLang="zh-CN" sz="2800" baseline="-25000" dirty="0" err="1">
                <a:latin typeface="Times New Roman" pitchFamily="18" charset="0"/>
                <a:cs typeface="Times New Roman" pitchFamily="18" charset="0"/>
              </a:rPr>
              <a:t>g</a:t>
            </a:r>
            <a:endParaRPr lang="en-US" altLang="zh-CN" sz="2800" baseline="-25000" dirty="0">
              <a:latin typeface="Times New Roman" pitchFamily="18" charset="0"/>
              <a:cs typeface="Times New Roman" pitchFamily="18" charset="0"/>
            </a:endParaRPr>
          </a:p>
        </p:txBody>
      </p:sp>
      <p:sp>
        <p:nvSpPr>
          <p:cNvPr id="11" name="矩形 10"/>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30</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box(in)">
                                      <p:cBhvr>
                                        <p:cTn id="17" dur="500"/>
                                        <p:tgtEl>
                                          <p:spTgt spid="6">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checkerboard(across)">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animEffect transition="in" filter="box(in)">
                                      <p:cBhvr>
                                        <p:cTn id="27" dur="500"/>
                                        <p:tgtEl>
                                          <p:spTgt spid="5">
                                            <p:txEl>
                                              <p:pRg st="1" end="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utoUpdateAnimBg="0"/>
      <p:bldP spid="10"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2"/>
          <p:cNvSpPr txBox="1">
            <a:spLocks noChangeArrowheads="1"/>
          </p:cNvSpPr>
          <p:nvPr/>
        </p:nvSpPr>
        <p:spPr>
          <a:xfrm>
            <a:off x="467544" y="1327364"/>
            <a:ext cx="8229600" cy="4117860"/>
          </a:xfrm>
          <a:prstGeom prst="rect">
            <a:avLst/>
          </a:prstGeom>
        </p:spPr>
        <p:txBody>
          <a:bodyPr vert="horz" lIns="91440" tIns="45720" rIns="91440" bIns="45720" rtlCol="0">
            <a:normAutofit/>
          </a:bodyPr>
          <a:lstStyle/>
          <a:p>
            <a:pPr marR="0" lvl="0" algn="just" defTabSz="914400" rtl="0" eaLnBrk="1" fontAlgn="auto" latinLnBrk="0" hangingPunct="1">
              <a:lnSpc>
                <a:spcPct val="150000"/>
              </a:lnSpc>
              <a:spcAft>
                <a:spcPts val="0"/>
              </a:spcAft>
              <a:buClrTx/>
              <a:buSzTx/>
              <a:buFontTx/>
              <a:buNone/>
              <a:tabLst/>
              <a:defRPr/>
            </a:pPr>
            <a:r>
              <a:rPr kumimoji="0" lang="zh-CN" altLang="en-US" sz="2800" i="0" u="none" strike="noStrike" kern="1200" cap="none" spc="0" normalizeH="0" baseline="0" noProof="0" dirty="0">
                <a:ln>
                  <a:noFill/>
                </a:ln>
                <a:solidFill>
                  <a:schemeClr val="tx1"/>
                </a:solidFill>
                <a:effectLst/>
                <a:uLnTx/>
                <a:uFillTx/>
                <a:latin typeface="微软雅黑" pitchFamily="34" charset="-122"/>
                <a:ea typeface="微软雅黑" pitchFamily="34" charset="-122"/>
              </a:rPr>
              <a:t>对单股流体流动</a:t>
            </a:r>
            <a:r>
              <a:rPr lang="zh-CN" altLang="en-US" sz="2800" dirty="0">
                <a:latin typeface="微软雅黑" pitchFamily="34" charset="-122"/>
                <a:ea typeface="微软雅黑" pitchFamily="34" charset="-122"/>
              </a:rPr>
              <a:t>的稳流系：</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m</a:t>
            </a:r>
            <a:r>
              <a:rPr kumimoji="0" lang="en-US" altLang="zh-CN" sz="2800" b="1" i="0" u="none" strike="noStrike" kern="1200" cap="none" spc="0" normalizeH="0" baseline="-25000" noProof="0" dirty="0">
                <a:ln>
                  <a:noFill/>
                </a:ln>
                <a:solidFill>
                  <a:schemeClr val="tx1"/>
                </a:solidFill>
                <a:effectLst/>
                <a:uLnTx/>
                <a:uFillTx/>
                <a:latin typeface="Times New Roman" pitchFamily="18" charset="0"/>
              </a:rPr>
              <a:t>1</a:t>
            </a:r>
            <a:r>
              <a:rPr kumimoji="0" lang="en-US" altLang="zh-CN" sz="2800" b="1" i="1" u="none" strike="noStrike" kern="1200" cap="none" spc="0" normalizeH="0" baseline="-25000" noProof="0" dirty="0">
                <a:ln>
                  <a:noFill/>
                </a:ln>
                <a:solidFill>
                  <a:schemeClr val="tx1"/>
                </a:solidFill>
                <a:effectLst/>
                <a:uLnTx/>
                <a:uFillTx/>
                <a:latin typeface="Times New Roman" pitchFamily="18" charset="0"/>
              </a:rPr>
              <a:t> </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 m</a:t>
            </a:r>
            <a:r>
              <a:rPr kumimoji="0" lang="en-US" altLang="zh-CN" sz="2800" b="1" i="0" u="none" strike="noStrike" kern="1200" cap="none" spc="0" normalizeH="0" baseline="-25000" noProof="0" dirty="0">
                <a:ln>
                  <a:noFill/>
                </a:ln>
                <a:solidFill>
                  <a:schemeClr val="tx1"/>
                </a:solidFill>
                <a:effectLst/>
                <a:uLnTx/>
                <a:uFillTx/>
                <a:latin typeface="Times New Roman" pitchFamily="18" charset="0"/>
              </a:rPr>
              <a:t>2</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 m</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可用比熵表达</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系统的熵变</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Δs = </a:t>
            </a:r>
            <a:r>
              <a:rPr kumimoji="0" lang="en-US" altLang="zh-CN" sz="2800" b="1" i="0" u="none" strike="noStrike" kern="1200" cap="none" spc="0" normalizeH="0" baseline="0" noProof="0" dirty="0">
                <a:ln>
                  <a:noFill/>
                </a:ln>
                <a:solidFill>
                  <a:schemeClr val="tx1"/>
                </a:solidFill>
                <a:effectLst/>
                <a:uLnTx/>
                <a:uFillTx/>
                <a:latin typeface="Times New Roman" pitchFamily="18" charset="0"/>
              </a:rPr>
              <a:t>0</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 </a:t>
            </a:r>
            <a:r>
              <a:rPr lang="zh-CN" altLang="en-US" sz="2800" dirty="0">
                <a:latin typeface="微软雅黑" pitchFamily="34" charset="-122"/>
                <a:ea typeface="微软雅黑" pitchFamily="34" charset="-122"/>
              </a:rPr>
              <a:t>。故得</a:t>
            </a:r>
          </a:p>
          <a:p>
            <a:pPr marR="0" lvl="0" algn="just" defTabSz="914400" rtl="0" eaLnBrk="1" fontAlgn="auto" latinLnBrk="0" hangingPunct="1">
              <a:lnSpc>
                <a:spcPct val="150000"/>
              </a:lnSpc>
              <a:spcAft>
                <a:spcPts val="0"/>
              </a:spcAft>
              <a:buClrTx/>
              <a:buSzTx/>
              <a:buFontTx/>
              <a:buNone/>
              <a:tabLst/>
              <a:defRPr/>
            </a:pPr>
            <a:r>
              <a:rPr kumimoji="0" lang="zh-CN" altLang="en-US" sz="2800" b="1" i="1" u="none" strike="noStrike" kern="1200" cap="none" spc="0" normalizeH="0" baseline="0" noProof="0" dirty="0">
                <a:ln>
                  <a:noFill/>
                </a:ln>
                <a:solidFill>
                  <a:schemeClr val="tx1"/>
                </a:solidFill>
                <a:effectLst/>
                <a:uLnTx/>
                <a:uFillTx/>
                <a:latin typeface="Times New Roman" pitchFamily="18" charset="0"/>
              </a:rPr>
              <a:t>                           </a:t>
            </a:r>
            <a:r>
              <a:rPr kumimoji="0" lang="en-US" altLang="zh-CN" sz="2800" b="1" i="1" u="none" strike="noStrike" kern="1200" cap="none" spc="0" normalizeH="0" baseline="0" noProof="0" dirty="0" err="1">
                <a:ln>
                  <a:noFill/>
                </a:ln>
                <a:solidFill>
                  <a:schemeClr val="tx1"/>
                </a:solidFill>
                <a:effectLst/>
                <a:uLnTx/>
                <a:uFillTx/>
                <a:latin typeface="Times New Roman" pitchFamily="18" charset="0"/>
              </a:rPr>
              <a:t>Δs</a:t>
            </a:r>
            <a:r>
              <a:rPr kumimoji="0" lang="en-US" altLang="zh-CN" sz="2800" b="1" i="0" u="none" strike="noStrike" kern="1200" cap="none" spc="0" normalizeH="0" baseline="-25000" noProof="0" dirty="0" err="1">
                <a:ln>
                  <a:noFill/>
                </a:ln>
                <a:solidFill>
                  <a:schemeClr val="tx1"/>
                </a:solidFill>
                <a:effectLst/>
                <a:uLnTx/>
                <a:uFillTx/>
                <a:latin typeface="Times New Roman" pitchFamily="18" charset="0"/>
              </a:rPr>
              <a:t>f</a:t>
            </a:r>
            <a:r>
              <a:rPr kumimoji="0" lang="en-US" altLang="zh-CN" sz="2800" b="1" i="1" u="none" strike="noStrike" kern="1200" cap="none" spc="0" normalizeH="0" baseline="-25000" noProof="0" dirty="0">
                <a:ln>
                  <a:noFill/>
                </a:ln>
                <a:solidFill>
                  <a:schemeClr val="tx1"/>
                </a:solidFill>
                <a:effectLst/>
                <a:uLnTx/>
                <a:uFillTx/>
                <a:latin typeface="Times New Roman" pitchFamily="18" charset="0"/>
              </a:rPr>
              <a:t> </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a:t>
            </a:r>
            <a:r>
              <a:rPr kumimoji="0" lang="en-US" altLang="zh-CN" sz="2800" b="1" i="1" u="none" strike="noStrike" kern="1200" cap="none" spc="0" normalizeH="0" baseline="0" noProof="0" dirty="0" err="1">
                <a:ln>
                  <a:noFill/>
                </a:ln>
                <a:solidFill>
                  <a:schemeClr val="tx1"/>
                </a:solidFill>
                <a:effectLst/>
                <a:uLnTx/>
                <a:uFillTx/>
                <a:latin typeface="Times New Roman" pitchFamily="18" charset="0"/>
              </a:rPr>
              <a:t>Δs</a:t>
            </a:r>
            <a:r>
              <a:rPr kumimoji="0" lang="en-US" altLang="zh-CN" sz="2800" b="1" i="0" u="none" strike="noStrike" kern="1200" cap="none" spc="0" normalizeH="0" baseline="-25000" noProof="0" dirty="0" err="1">
                <a:ln>
                  <a:noFill/>
                </a:ln>
                <a:solidFill>
                  <a:schemeClr val="tx1"/>
                </a:solidFill>
                <a:effectLst/>
                <a:uLnTx/>
                <a:uFillTx/>
                <a:latin typeface="Times New Roman" pitchFamily="18" charset="0"/>
              </a:rPr>
              <a:t>g</a:t>
            </a:r>
            <a:r>
              <a:rPr kumimoji="0" lang="en-US" altLang="zh-CN" sz="2800" b="1" i="1" u="none" strike="noStrike" kern="1200" cap="none" spc="0" normalizeH="0" baseline="-25000" noProof="0" dirty="0">
                <a:ln>
                  <a:noFill/>
                </a:ln>
                <a:solidFill>
                  <a:schemeClr val="tx1"/>
                </a:solidFill>
                <a:effectLst/>
                <a:uLnTx/>
                <a:uFillTx/>
                <a:latin typeface="Times New Roman" pitchFamily="18" charset="0"/>
              </a:rPr>
              <a:t> </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 </a:t>
            </a:r>
            <a:r>
              <a:rPr kumimoji="0" lang="en-US" altLang="zh-CN" sz="2800" b="1" i="0" u="none" strike="noStrike" kern="1200" cap="none" spc="0" normalizeH="0" baseline="0" noProof="0" dirty="0">
                <a:ln>
                  <a:noFill/>
                </a:ln>
                <a:solidFill>
                  <a:schemeClr val="tx1"/>
                </a:solidFill>
                <a:effectLst/>
                <a:uLnTx/>
                <a:uFillTx/>
                <a:latin typeface="Times New Roman" pitchFamily="18" charset="0"/>
              </a:rPr>
              <a:t>(</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s</a:t>
            </a:r>
            <a:r>
              <a:rPr kumimoji="0" lang="en-US" altLang="zh-CN" sz="2800" b="1" i="0" u="none" strike="noStrike" kern="1200" cap="none" spc="0" normalizeH="0" baseline="-25000" noProof="0" dirty="0">
                <a:ln>
                  <a:noFill/>
                </a:ln>
                <a:solidFill>
                  <a:schemeClr val="tx1"/>
                </a:solidFill>
                <a:effectLst/>
                <a:uLnTx/>
                <a:uFillTx/>
                <a:latin typeface="Times New Roman" pitchFamily="18" charset="0"/>
              </a:rPr>
              <a:t>1 </a:t>
            </a:r>
            <a:r>
              <a:rPr kumimoji="0" lang="en-US" altLang="zh-CN" sz="2800" b="1" i="1" u="none" strike="noStrike" kern="1200" cap="none" spc="0" normalizeH="0" baseline="0" noProof="0" dirty="0">
                <a:ln>
                  <a:noFill/>
                </a:ln>
                <a:solidFill>
                  <a:schemeClr val="tx1"/>
                </a:solidFill>
                <a:effectLst/>
                <a:uLnTx/>
                <a:uFillTx/>
                <a:latin typeface="Times New Roman" pitchFamily="18" charset="0"/>
              </a:rPr>
              <a:t>- s</a:t>
            </a:r>
            <a:r>
              <a:rPr kumimoji="0" lang="en-US" altLang="zh-CN" sz="2800" b="1" i="0" u="none" strike="noStrike" kern="1200" cap="none" spc="0" normalizeH="0" baseline="-25000" noProof="0" dirty="0">
                <a:ln>
                  <a:noFill/>
                </a:ln>
                <a:solidFill>
                  <a:schemeClr val="tx1"/>
                </a:solidFill>
                <a:effectLst/>
                <a:uLnTx/>
                <a:uFillTx/>
                <a:latin typeface="Times New Roman" pitchFamily="18" charset="0"/>
              </a:rPr>
              <a:t>2</a:t>
            </a:r>
            <a:r>
              <a:rPr kumimoji="0" lang="en-US" altLang="zh-CN" sz="2800" b="1" i="0" u="none" strike="noStrike" kern="1200" cap="none" spc="0" normalizeH="0" baseline="0" noProof="0" dirty="0">
                <a:ln>
                  <a:noFill/>
                </a:ln>
                <a:solidFill>
                  <a:schemeClr val="tx1"/>
                </a:solidFill>
                <a:effectLst/>
                <a:uLnTx/>
                <a:uFillTx/>
                <a:latin typeface="Times New Roman" pitchFamily="18" charset="0"/>
              </a:rPr>
              <a:t>) = 0</a:t>
            </a:r>
          </a:p>
          <a:p>
            <a:pPr marR="0" lvl="0" algn="just" defTabSz="914400" rtl="0" eaLnBrk="1" fontAlgn="auto" latinLnBrk="0" hangingPunct="1">
              <a:lnSpc>
                <a:spcPct val="150000"/>
              </a:lnSpc>
              <a:spcAft>
                <a:spcPts val="0"/>
              </a:spcAft>
              <a:buClrTx/>
              <a:buSzTx/>
              <a:buFontTx/>
              <a:buNone/>
              <a:tabLst/>
              <a:defRPr/>
            </a:pPr>
            <a:r>
              <a:rPr kumimoji="0" lang="en-US" altLang="zh-CN" sz="2800" i="1" u="none" strike="noStrike" kern="1200" cap="none" spc="0" normalizeH="0" baseline="0" noProof="0" dirty="0">
                <a:ln>
                  <a:noFill/>
                </a:ln>
                <a:effectLst/>
                <a:uLnTx/>
                <a:uFillTx/>
                <a:latin typeface="Times New Roman" pitchFamily="18" charset="0"/>
              </a:rPr>
              <a:t>        </a:t>
            </a:r>
            <a:r>
              <a:rPr kumimoji="0" lang="en-US" altLang="zh-CN" sz="2800" b="1" i="1" u="none" strike="noStrike" kern="1200" cap="none" spc="0" normalizeH="0" baseline="0" noProof="0" dirty="0">
                <a:ln>
                  <a:noFill/>
                </a:ln>
                <a:effectLst/>
                <a:uLnTx/>
                <a:uFillTx/>
                <a:latin typeface="Times New Roman" pitchFamily="18" charset="0"/>
              </a:rPr>
              <a:t>s</a:t>
            </a:r>
            <a:r>
              <a:rPr kumimoji="0" lang="en-US" altLang="zh-CN" sz="2800" b="1" i="0" u="none" strike="noStrike" kern="1200" cap="none" spc="0" normalizeH="0" baseline="-25000" noProof="0" dirty="0">
                <a:ln>
                  <a:noFill/>
                </a:ln>
                <a:effectLst/>
                <a:uLnTx/>
                <a:uFillTx/>
                <a:latin typeface="Times New Roman" pitchFamily="18" charset="0"/>
              </a:rPr>
              <a:t>1</a:t>
            </a:r>
            <a:r>
              <a:rPr kumimoji="0" lang="zh-CN" altLang="en-US" sz="2800" b="1" i="1" u="none" strike="noStrike" kern="1200" cap="none" spc="0" normalizeH="0" baseline="0" noProof="0" dirty="0">
                <a:ln>
                  <a:noFill/>
                </a:ln>
                <a:effectLst/>
                <a:uLnTx/>
                <a:uFillTx/>
                <a:latin typeface="Times New Roman" pitchFamily="18" charset="0"/>
              </a:rPr>
              <a:t>、</a:t>
            </a:r>
            <a:r>
              <a:rPr kumimoji="0" lang="en-US" altLang="zh-CN" sz="2800" b="1" i="1" u="none" strike="noStrike" kern="1200" cap="none" spc="0" normalizeH="0" baseline="0" noProof="0" dirty="0">
                <a:ln>
                  <a:noFill/>
                </a:ln>
                <a:effectLst/>
                <a:uLnTx/>
                <a:uFillTx/>
                <a:latin typeface="Times New Roman" pitchFamily="18" charset="0"/>
              </a:rPr>
              <a:t>s</a:t>
            </a:r>
            <a:r>
              <a:rPr kumimoji="0" lang="en-US" altLang="zh-CN" sz="2800" b="1" i="0" u="none" strike="noStrike" kern="1200" cap="none" spc="0" normalizeH="0" baseline="-25000" noProof="0" dirty="0">
                <a:ln>
                  <a:noFill/>
                </a:ln>
                <a:effectLst/>
                <a:uLnTx/>
                <a:uFillTx/>
                <a:latin typeface="Times New Roman" pitchFamily="18" charset="0"/>
              </a:rPr>
              <a:t>2 </a:t>
            </a:r>
            <a:r>
              <a:rPr kumimoji="0" lang="en-US" altLang="zh-CN" sz="2400" b="1" i="0" u="none" strike="noStrike" kern="1200" cap="none" spc="0" normalizeH="0" noProof="0" dirty="0">
                <a:ln>
                  <a:noFill/>
                </a:ln>
                <a:effectLst/>
                <a:uLnTx/>
                <a:uFillTx/>
                <a:latin typeface="Times New Roman" pitchFamily="18" charset="0"/>
              </a:rPr>
              <a:t>——</a:t>
            </a:r>
            <a:r>
              <a:rPr lang="zh-CN" altLang="en-US" sz="2800" dirty="0">
                <a:latin typeface="微软雅黑" pitchFamily="34" charset="-122"/>
                <a:ea typeface="微软雅黑" pitchFamily="34" charset="-122"/>
              </a:rPr>
              <a:t>为进出口截面工质的比熵。</a:t>
            </a:r>
          </a:p>
          <a:p>
            <a:pPr marR="0" lvl="0" algn="just" defTabSz="914400" rtl="0" eaLnBrk="1" fontAlgn="auto" latinLnBrk="0" hangingPunct="1">
              <a:lnSpc>
                <a:spcPct val="150000"/>
              </a:lnSpc>
              <a:spcAft>
                <a:spcPts val="0"/>
              </a:spcAft>
              <a:buClrTx/>
              <a:buSzTx/>
              <a:buFontTx/>
              <a:buNone/>
              <a:tabLst/>
              <a:defRPr/>
            </a:pPr>
            <a:r>
              <a:rPr lang="zh-CN" altLang="en-US" sz="2800" dirty="0">
                <a:solidFill>
                  <a:srgbClr val="9933FF"/>
                </a:solidFill>
                <a:latin typeface="微软雅黑" pitchFamily="34" charset="-122"/>
                <a:ea typeface="微软雅黑" pitchFamily="34" charset="-122"/>
                <a:cs typeface="Times New Roman" pitchFamily="18" charset="0"/>
              </a:rPr>
              <a:t>若把进、出口看作过程的始点和终点</a:t>
            </a:r>
            <a:r>
              <a:rPr lang="en-US" altLang="zh-CN" sz="2800" dirty="0">
                <a:solidFill>
                  <a:srgbClr val="9933FF"/>
                </a:solidFill>
                <a:latin typeface="微软雅黑" pitchFamily="34" charset="-122"/>
                <a:ea typeface="微软雅黑" pitchFamily="34" charset="-122"/>
                <a:cs typeface="Times New Roman" pitchFamily="18" charset="0"/>
              </a:rPr>
              <a:t>, </a:t>
            </a:r>
            <a:r>
              <a:rPr lang="zh-CN" altLang="en-US" sz="2800" dirty="0">
                <a:solidFill>
                  <a:srgbClr val="9933FF"/>
                </a:solidFill>
                <a:latin typeface="微软雅黑" pitchFamily="34" charset="-122"/>
                <a:ea typeface="微软雅黑" pitchFamily="34" charset="-122"/>
                <a:cs typeface="Times New Roman" pitchFamily="18" charset="0"/>
              </a:rPr>
              <a:t>稳流系熵方程与闭口系熵方程相同。即</a:t>
            </a:r>
            <a:r>
              <a:rPr lang="en-US" altLang="zh-CN" sz="2800" dirty="0">
                <a:solidFill>
                  <a:srgbClr val="9933FF"/>
                </a:solidFill>
                <a:latin typeface="微软雅黑" pitchFamily="34" charset="-122"/>
                <a:ea typeface="微软雅黑" pitchFamily="34" charset="-122"/>
                <a:cs typeface="Times New Roman" pitchFamily="18" charset="0"/>
              </a:rPr>
              <a:t>:</a:t>
            </a:r>
            <a:endParaRPr lang="zh-CN" altLang="en-US" sz="2800" dirty="0">
              <a:solidFill>
                <a:srgbClr val="9933FF"/>
              </a:solidFill>
              <a:latin typeface="微软雅黑" pitchFamily="34" charset="-122"/>
              <a:ea typeface="微软雅黑" pitchFamily="34" charset="-122"/>
              <a:cs typeface="Times New Roman" pitchFamily="18" charset="0"/>
            </a:endParaRPr>
          </a:p>
        </p:txBody>
      </p:sp>
      <p:graphicFrame>
        <p:nvGraphicFramePr>
          <p:cNvPr id="12" name="Object 5"/>
          <p:cNvGraphicFramePr>
            <a:graphicFrameLocks noChangeAspect="1"/>
          </p:cNvGraphicFramePr>
          <p:nvPr>
            <p:extLst>
              <p:ext uri="{D42A27DB-BD31-4B8C-83A1-F6EECF244321}">
                <p14:modId xmlns:p14="http://schemas.microsoft.com/office/powerpoint/2010/main" val="1863475763"/>
              </p:ext>
            </p:extLst>
          </p:nvPr>
        </p:nvGraphicFramePr>
        <p:xfrm>
          <a:off x="2543188" y="5301208"/>
          <a:ext cx="3886200" cy="636587"/>
        </p:xfrm>
        <a:graphic>
          <a:graphicData uri="http://schemas.openxmlformats.org/presentationml/2006/ole">
            <mc:AlternateContent xmlns:mc="http://schemas.openxmlformats.org/markup-compatibility/2006">
              <mc:Choice xmlns:v="urn:schemas-microsoft-com:vml" Requires="v">
                <p:oleObj spid="_x0000_s58458" r:id="rId3" imgW="1218671" imgH="203112" progId="Equation.DSMT4">
                  <p:embed/>
                </p:oleObj>
              </mc:Choice>
              <mc:Fallback>
                <p:oleObj r:id="rId3" imgW="1218671" imgH="203112"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3188" y="5301208"/>
                        <a:ext cx="3886200" cy="636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矩形 3"/>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31</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7"/>
          <p:cNvSpPr txBox="1">
            <a:spLocks noChangeArrowheads="1"/>
          </p:cNvSpPr>
          <p:nvPr/>
        </p:nvSpPr>
        <p:spPr bwMode="auto">
          <a:xfrm>
            <a:off x="661764" y="1214422"/>
            <a:ext cx="3338732"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孤立系统熵增原理</a:t>
            </a:r>
          </a:p>
        </p:txBody>
      </p:sp>
      <p:sp>
        <p:nvSpPr>
          <p:cNvPr id="4" name="矩形 3"/>
          <p:cNvSpPr/>
          <p:nvPr/>
        </p:nvSpPr>
        <p:spPr>
          <a:xfrm>
            <a:off x="0" y="1227891"/>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5.</a:t>
            </a:r>
            <a:endParaRPr lang="zh-CN" altLang="en-US" sz="2800" i="1" dirty="0">
              <a:solidFill>
                <a:srgbClr val="C00000"/>
              </a:solidFill>
              <a:latin typeface="Bernard MT Condensed"/>
            </a:endParaRPr>
          </a:p>
        </p:txBody>
      </p:sp>
      <p:graphicFrame>
        <p:nvGraphicFramePr>
          <p:cNvPr id="5" name="Object 3"/>
          <p:cNvGraphicFramePr>
            <a:graphicFrameLocks noChangeAspect="1"/>
          </p:cNvGraphicFramePr>
          <p:nvPr>
            <p:extLst>
              <p:ext uri="{D42A27DB-BD31-4B8C-83A1-F6EECF244321}">
                <p14:modId xmlns:p14="http://schemas.microsoft.com/office/powerpoint/2010/main" val="3284392338"/>
              </p:ext>
            </p:extLst>
          </p:nvPr>
        </p:nvGraphicFramePr>
        <p:xfrm>
          <a:off x="1331641" y="3140968"/>
          <a:ext cx="1900982" cy="1262252"/>
        </p:xfrm>
        <a:graphic>
          <a:graphicData uri="http://schemas.openxmlformats.org/presentationml/2006/ole">
            <mc:AlternateContent xmlns:mc="http://schemas.openxmlformats.org/markup-compatibility/2006">
              <mc:Choice xmlns:v="urn:schemas-microsoft-com:vml" Requires="v">
                <p:oleObj spid="_x0000_s59839" name="公式" r:id="rId3" imgW="787320" imgH="520560" progId="Equation.3">
                  <p:embed/>
                </p:oleObj>
              </mc:Choice>
              <mc:Fallback>
                <p:oleObj name="公式" r:id="rId3" imgW="787320" imgH="520560" progId="Equation.3">
                  <p:embed/>
                  <p:pic>
                    <p:nvPicPr>
                      <p:cNvPr id="0" name="Object 3"/>
                      <p:cNvPicPr>
                        <a:picLocks noChangeAspect="1" noChangeArrowheads="1"/>
                      </p:cNvPicPr>
                      <p:nvPr/>
                    </p:nvPicPr>
                    <p:blipFill>
                      <a:blip r:embed="rId4"/>
                      <a:srcRect/>
                      <a:stretch>
                        <a:fillRect/>
                      </a:stretch>
                    </p:blipFill>
                    <p:spPr bwMode="auto">
                      <a:xfrm>
                        <a:off x="1331641" y="3140968"/>
                        <a:ext cx="1900982" cy="1262252"/>
                      </a:xfrm>
                      <a:prstGeom prst="rect">
                        <a:avLst/>
                      </a:prstGeom>
                      <a:noFill/>
                    </p:spPr>
                  </p:pic>
                </p:oleObj>
              </mc:Fallback>
            </mc:AlternateContent>
          </a:graphicData>
        </a:graphic>
      </p:graphicFrame>
      <p:sp>
        <p:nvSpPr>
          <p:cNvPr id="6" name="Rectangle 4"/>
          <p:cNvSpPr>
            <a:spLocks noChangeArrowheads="1"/>
          </p:cNvSpPr>
          <p:nvPr/>
        </p:nvSpPr>
        <p:spPr bwMode="auto">
          <a:xfrm>
            <a:off x="3565306" y="3140968"/>
            <a:ext cx="3969356" cy="1200329"/>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none" anchor="ctr">
            <a:spAutoFit/>
          </a:bodyPr>
          <a:lstStyle/>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孤立系熵增原理表达式，同</a:t>
            </a:r>
          </a:p>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样适用于闭口和稳流绝热系 </a:t>
            </a:r>
          </a:p>
        </p:txBody>
      </p:sp>
      <p:sp>
        <p:nvSpPr>
          <p:cNvPr id="7" name="Rectangle 5"/>
          <p:cNvSpPr>
            <a:spLocks noChangeArrowheads="1"/>
          </p:cNvSpPr>
          <p:nvPr/>
        </p:nvSpPr>
        <p:spPr bwMode="auto">
          <a:xfrm>
            <a:off x="734021" y="4365104"/>
            <a:ext cx="7940451" cy="1772793"/>
          </a:xfrm>
          <a:prstGeom prst="rect">
            <a:avLst/>
          </a:prstGeom>
          <a:noFill/>
          <a:ln w="9525" algn="ctr">
            <a:noFill/>
            <a:miter lim="800000"/>
            <a:headEnd/>
            <a:tailEnd/>
          </a:ln>
          <a:effectLst/>
        </p:spPr>
        <p:txBody>
          <a:bodyPr wrap="square" anchor="ctr">
            <a:spAutoFit/>
          </a:bodyPr>
          <a:lstStyle/>
          <a:p>
            <a:pPr>
              <a:lnSpc>
                <a:spcPct val="150000"/>
              </a:lnSpc>
            </a:pPr>
            <a:r>
              <a:rPr lang="zh-CN" altLang="en-US" sz="2800" b="1" dirty="0">
                <a:solidFill>
                  <a:srgbClr val="FF0000"/>
                </a:solidFill>
                <a:latin typeface="微软雅黑" pitchFamily="34" charset="-122"/>
                <a:ea typeface="微软雅黑" pitchFamily="34" charset="-122"/>
                <a:cs typeface="Times New Roman" pitchFamily="18" charset="0"/>
              </a:rPr>
              <a:t>结论：</a:t>
            </a:r>
            <a:r>
              <a:rPr lang="zh-CN" altLang="en-US" sz="2800" dirty="0">
                <a:solidFill>
                  <a:srgbClr val="FF0000"/>
                </a:solidFill>
                <a:latin typeface="微软雅黑" pitchFamily="34" charset="-122"/>
                <a:ea typeface="微软雅黑" pitchFamily="34" charset="-122"/>
                <a:cs typeface="Times New Roman" pitchFamily="18" charset="0"/>
              </a:rPr>
              <a:t>孤立系的熵绝不可能减少。</a:t>
            </a:r>
            <a:endParaRPr lang="en-US" altLang="zh-CN" sz="2800" dirty="0">
              <a:solidFill>
                <a:srgbClr val="FF0000"/>
              </a:solidFill>
              <a:latin typeface="微软雅黑" pitchFamily="34" charset="-122"/>
              <a:ea typeface="微软雅黑" pitchFamily="34" charset="-122"/>
              <a:cs typeface="Times New Roman" pitchFamily="18" charset="0"/>
            </a:endParaRPr>
          </a:p>
          <a:p>
            <a:pPr>
              <a:lnSpc>
                <a:spcPct val="120000"/>
              </a:lnSpc>
            </a:pPr>
            <a:r>
              <a:rPr lang="zh-CN" altLang="en-US" sz="2800" b="1" dirty="0">
                <a:latin typeface="+mn-ea"/>
                <a:cs typeface="Times New Roman" pitchFamily="18" charset="0"/>
              </a:rPr>
              <a:t>孤立系熵增原理也是热</a:t>
            </a:r>
            <a:r>
              <a:rPr lang="en-US" altLang="zh-CN" sz="2800" b="1" dirty="0">
                <a:latin typeface="+mn-ea"/>
                <a:cs typeface="Times New Roman" pitchFamily="18" charset="0"/>
              </a:rPr>
              <a:t>Ⅱ</a:t>
            </a:r>
            <a:r>
              <a:rPr lang="zh-CN" altLang="en-US" sz="2800" b="1" dirty="0">
                <a:latin typeface="+mn-ea"/>
                <a:cs typeface="Times New Roman" pitchFamily="18" charset="0"/>
              </a:rPr>
              <a:t>的一种表达式，指出了过程进行的方向。</a:t>
            </a:r>
          </a:p>
        </p:txBody>
      </p:sp>
      <p:sp>
        <p:nvSpPr>
          <p:cNvPr id="8" name="Rectangle 6"/>
          <p:cNvSpPr>
            <a:spLocks noChangeArrowheads="1"/>
          </p:cNvSpPr>
          <p:nvPr/>
        </p:nvSpPr>
        <p:spPr bwMode="auto">
          <a:xfrm>
            <a:off x="1000100" y="2475269"/>
            <a:ext cx="1843708" cy="519113"/>
          </a:xfrm>
          <a:prstGeom prst="rect">
            <a:avLst/>
          </a:prstGeom>
          <a:noFill/>
          <a:ln w="9525" algn="ctr">
            <a:noFill/>
            <a:miter lim="800000"/>
            <a:headEnd/>
            <a:tailEnd/>
          </a:ln>
          <a:effectLst/>
        </p:spPr>
        <p:txBody>
          <a:bodyPr wrap="square"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对孤立系</a:t>
            </a:r>
            <a:r>
              <a:rPr lang="en-US" altLang="zh-CN" sz="2800" dirty="0">
                <a:solidFill>
                  <a:srgbClr val="000000"/>
                </a:solidFill>
                <a:latin typeface="微软雅黑" pitchFamily="34" charset="-122"/>
                <a:ea typeface="微软雅黑" pitchFamily="34" charset="-122"/>
                <a:cs typeface="Times New Roman" pitchFamily="18" charset="0"/>
              </a:rPr>
              <a:t>:</a:t>
            </a:r>
            <a:endParaRPr lang="zh-CN" altLang="en-US" sz="2800" dirty="0">
              <a:solidFill>
                <a:srgbClr val="000000"/>
              </a:solidFill>
              <a:latin typeface="微软雅黑" pitchFamily="34" charset="-122"/>
              <a:ea typeface="微软雅黑" pitchFamily="34" charset="-122"/>
              <a:cs typeface="Times New Roman" pitchFamily="18" charset="0"/>
            </a:endParaRPr>
          </a:p>
        </p:txBody>
      </p:sp>
      <p:grpSp>
        <p:nvGrpSpPr>
          <p:cNvPr id="9" name="Group 7"/>
          <p:cNvGrpSpPr>
            <a:grpSpLocks/>
          </p:cNvGrpSpPr>
          <p:nvPr/>
        </p:nvGrpSpPr>
        <p:grpSpPr bwMode="auto">
          <a:xfrm>
            <a:off x="3203848" y="2445548"/>
            <a:ext cx="2183419" cy="548834"/>
            <a:chOff x="1008" y="1079"/>
            <a:chExt cx="1126" cy="291"/>
          </a:xfrm>
        </p:grpSpPr>
        <p:graphicFrame>
          <p:nvGraphicFramePr>
            <p:cNvPr id="10" name="Object 8"/>
            <p:cNvGraphicFramePr>
              <a:graphicFrameLocks noChangeAspect="1"/>
            </p:cNvGraphicFramePr>
            <p:nvPr/>
          </p:nvGraphicFramePr>
          <p:xfrm>
            <a:off x="1226" y="1111"/>
            <a:ext cx="908" cy="259"/>
          </p:xfrm>
          <a:graphic>
            <a:graphicData uri="http://schemas.openxmlformats.org/presentationml/2006/ole">
              <mc:AlternateContent xmlns:mc="http://schemas.openxmlformats.org/markup-compatibility/2006">
                <mc:Choice xmlns:v="urn:schemas-microsoft-com:vml" Requires="v">
                  <p:oleObj spid="_x0000_s59840" name="公式" r:id="rId5" imgW="800100" imgH="228600" progId="Equation.3">
                    <p:embed/>
                  </p:oleObj>
                </mc:Choice>
                <mc:Fallback>
                  <p:oleObj name="公式" r:id="rId5" imgW="800100" imgH="228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6" y="1111"/>
                          <a:ext cx="908" cy="2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9"/>
            <p:cNvSpPr txBox="1">
              <a:spLocks noChangeArrowheads="1"/>
            </p:cNvSpPr>
            <p:nvPr/>
          </p:nvSpPr>
          <p:spPr bwMode="auto">
            <a:xfrm>
              <a:off x="1008" y="1079"/>
              <a:ext cx="89" cy="227"/>
            </a:xfrm>
            <a:prstGeom prst="rect">
              <a:avLst/>
            </a:prstGeom>
            <a:noFill/>
            <a:ln w="9525">
              <a:noFill/>
              <a:miter lim="800000"/>
              <a:headEnd/>
              <a:tailEnd/>
            </a:ln>
            <a:effectLst/>
          </p:spPr>
          <p:txBody>
            <a:bodyPr wrap="none">
              <a:spAutoFit/>
            </a:bodyPr>
            <a:lstStyle/>
            <a:p>
              <a:endParaRPr lang="zh-CN" altLang="zh-CN" sz="2800"/>
            </a:p>
          </p:txBody>
        </p:sp>
      </p:grpSp>
      <p:sp>
        <p:nvSpPr>
          <p:cNvPr id="12" name="Rectangle 11"/>
          <p:cNvSpPr>
            <a:spLocks noChangeArrowheads="1"/>
          </p:cNvSpPr>
          <p:nvPr/>
        </p:nvSpPr>
        <p:spPr bwMode="auto">
          <a:xfrm>
            <a:off x="1000100" y="1795308"/>
            <a:ext cx="2362200" cy="519113"/>
          </a:xfrm>
          <a:prstGeom prst="rect">
            <a:avLst/>
          </a:prstGeom>
          <a:noFill/>
          <a:ln w="9525" algn="ctr">
            <a:noFill/>
            <a:miter lim="800000"/>
            <a:headEnd/>
            <a:tailEnd/>
          </a:ln>
          <a:effectLst/>
        </p:spPr>
        <p:txBody>
          <a:bodyPr anchor="ctr">
            <a:spAutoFit/>
          </a:bodyPr>
          <a:lstStyle/>
          <a:p>
            <a:r>
              <a:rPr lang="zh-CN" altLang="en-US" sz="2800" dirty="0">
                <a:solidFill>
                  <a:srgbClr val="000000"/>
                </a:solidFill>
                <a:latin typeface="微软雅黑" pitchFamily="34" charset="-122"/>
                <a:ea typeface="微软雅黑" pitchFamily="34" charset="-122"/>
                <a:cs typeface="Times New Roman" pitchFamily="18" charset="0"/>
              </a:rPr>
              <a:t>对任意过程 </a:t>
            </a:r>
            <a:r>
              <a:rPr lang="en-US" altLang="zh-CN" sz="2800" dirty="0">
                <a:solidFill>
                  <a:srgbClr val="000000"/>
                </a:solidFill>
                <a:latin typeface="微软雅黑" pitchFamily="34" charset="-122"/>
                <a:ea typeface="微软雅黑" pitchFamily="34" charset="-122"/>
                <a:cs typeface="Times New Roman" pitchFamily="18" charset="0"/>
              </a:rPr>
              <a:t>:</a:t>
            </a:r>
          </a:p>
        </p:txBody>
      </p:sp>
      <p:grpSp>
        <p:nvGrpSpPr>
          <p:cNvPr id="13" name="Group 12"/>
          <p:cNvGrpSpPr>
            <a:grpSpLocks/>
          </p:cNvGrpSpPr>
          <p:nvPr/>
        </p:nvGrpSpPr>
        <p:grpSpPr bwMode="auto">
          <a:xfrm>
            <a:off x="4704247" y="1740410"/>
            <a:ext cx="2220913" cy="712788"/>
            <a:chOff x="2892" y="2690"/>
            <a:chExt cx="1399" cy="449"/>
          </a:xfrm>
        </p:grpSpPr>
        <p:sp>
          <p:nvSpPr>
            <p:cNvPr id="14" name="Rectangle 13"/>
            <p:cNvSpPr>
              <a:spLocks noChangeArrowheads="1"/>
            </p:cNvSpPr>
            <p:nvPr/>
          </p:nvSpPr>
          <p:spPr bwMode="auto">
            <a:xfrm>
              <a:off x="2892" y="2741"/>
              <a:ext cx="396" cy="327"/>
            </a:xfrm>
            <a:prstGeom prst="rect">
              <a:avLst/>
            </a:prstGeom>
            <a:noFill/>
            <a:ln w="9525" algn="ctr">
              <a:noFill/>
              <a:miter lim="800000"/>
              <a:headEnd/>
              <a:tailEnd/>
            </a:ln>
            <a:effectLst/>
          </p:spPr>
          <p:txBody>
            <a:bodyPr wrap="none" anchor="ctr">
              <a:spAutoFit/>
            </a:bodyPr>
            <a:lstStyle/>
            <a:p>
              <a:r>
                <a:rPr lang="zh-CN" altLang="en-US" sz="2800" dirty="0">
                  <a:solidFill>
                    <a:srgbClr val="000000"/>
                  </a:solidFill>
                  <a:latin typeface="Times New Roman" pitchFamily="18" charset="0"/>
                  <a:ea typeface="方正书宋简体" charset="-122"/>
                  <a:cs typeface="Times New Roman" pitchFamily="18" charset="0"/>
                </a:rPr>
                <a:t>或 </a:t>
              </a:r>
            </a:p>
          </p:txBody>
        </p:sp>
        <p:graphicFrame>
          <p:nvGraphicFramePr>
            <p:cNvPr id="15" name="Object 14"/>
            <p:cNvGraphicFramePr>
              <a:graphicFrameLocks noChangeAspect="1"/>
            </p:cNvGraphicFramePr>
            <p:nvPr>
              <p:extLst>
                <p:ext uri="{D42A27DB-BD31-4B8C-83A1-F6EECF244321}">
                  <p14:modId xmlns:p14="http://schemas.microsoft.com/office/powerpoint/2010/main" val="4246270583"/>
                </p:ext>
              </p:extLst>
            </p:nvPr>
          </p:nvGraphicFramePr>
          <p:xfrm>
            <a:off x="3288" y="2817"/>
            <a:ext cx="285" cy="193"/>
          </p:xfrm>
          <a:graphic>
            <a:graphicData uri="http://schemas.openxmlformats.org/presentationml/2006/ole">
              <mc:AlternateContent xmlns:mc="http://schemas.openxmlformats.org/markup-compatibility/2006">
                <mc:Choice xmlns:v="urn:schemas-microsoft-com:vml" Requires="v">
                  <p:oleObj spid="_x0000_s59841" name="公式" r:id="rId7" imgW="291973" imgH="203112" progId="Equation.3">
                    <p:embed/>
                  </p:oleObj>
                </mc:Choice>
                <mc:Fallback>
                  <p:oleObj name="公式" r:id="rId7" imgW="291973" imgH="203112"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8" y="2817"/>
                          <a:ext cx="285" cy="193"/>
                        </a:xfrm>
                        <a:prstGeom prst="rect">
                          <a:avLst/>
                        </a:prstGeom>
                        <a:noFill/>
                      </p:spPr>
                    </p:pic>
                  </p:oleObj>
                </mc:Fallback>
              </mc:AlternateContent>
            </a:graphicData>
          </a:graphic>
        </p:graphicFrame>
        <p:sp>
          <p:nvSpPr>
            <p:cNvPr id="16" name="Rectangle 15"/>
            <p:cNvSpPr>
              <a:spLocks noChangeArrowheads="1"/>
            </p:cNvSpPr>
            <p:nvPr/>
          </p:nvSpPr>
          <p:spPr bwMode="auto">
            <a:xfrm>
              <a:off x="3573" y="2750"/>
              <a:ext cx="297" cy="330"/>
            </a:xfrm>
            <a:prstGeom prst="rect">
              <a:avLst/>
            </a:prstGeom>
            <a:noFill/>
            <a:ln w="9525" algn="ctr">
              <a:noFill/>
              <a:miter lim="800000"/>
              <a:headEnd/>
              <a:tailEnd/>
            </a:ln>
            <a:effectLst/>
          </p:spPr>
          <p:txBody>
            <a:bodyPr wrap="none" anchor="ctr">
              <a:spAutoFit/>
            </a:bodyPr>
            <a:lstStyle/>
            <a:p>
              <a:r>
                <a:rPr lang="en-US" altLang="zh-CN" sz="2800" dirty="0">
                  <a:solidFill>
                    <a:srgbClr val="000000"/>
                  </a:solidFill>
                  <a:latin typeface="Times New Roman" pitchFamily="18" charset="0"/>
                  <a:ea typeface="方正书宋简体" charset="-122"/>
                  <a:cs typeface="Times New Roman" pitchFamily="18" charset="0"/>
                </a:rPr>
                <a:t>≥ </a:t>
              </a:r>
            </a:p>
          </p:txBody>
        </p:sp>
        <p:graphicFrame>
          <p:nvGraphicFramePr>
            <p:cNvPr id="17" name="Object 16"/>
            <p:cNvGraphicFramePr>
              <a:graphicFrameLocks noChangeAspect="1"/>
            </p:cNvGraphicFramePr>
            <p:nvPr>
              <p:extLst>
                <p:ext uri="{D42A27DB-BD31-4B8C-83A1-F6EECF244321}">
                  <p14:modId xmlns:p14="http://schemas.microsoft.com/office/powerpoint/2010/main" val="372324643"/>
                </p:ext>
              </p:extLst>
            </p:nvPr>
          </p:nvGraphicFramePr>
          <p:xfrm>
            <a:off x="3807" y="2690"/>
            <a:ext cx="484" cy="449"/>
          </p:xfrm>
          <a:graphic>
            <a:graphicData uri="http://schemas.openxmlformats.org/presentationml/2006/ole">
              <mc:AlternateContent xmlns:mc="http://schemas.openxmlformats.org/markup-compatibility/2006">
                <mc:Choice xmlns:v="urn:schemas-microsoft-com:vml" Requires="v">
                  <p:oleObj spid="_x0000_s59842" name="公式" r:id="rId9" imgW="508000" imgH="469900" progId="Equation.3">
                    <p:embed/>
                  </p:oleObj>
                </mc:Choice>
                <mc:Fallback>
                  <p:oleObj name="公式" r:id="rId9" imgW="508000" imgH="469900" progId="Equation.3">
                    <p:embed/>
                    <p:pic>
                      <p:nvPicPr>
                        <p:cNvPr id="0" name="Object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07" y="2690"/>
                          <a:ext cx="484" cy="449"/>
                        </a:xfrm>
                        <a:prstGeom prst="rect">
                          <a:avLst/>
                        </a:prstGeom>
                        <a:noFill/>
                      </p:spPr>
                    </p:pic>
                  </p:oleObj>
                </mc:Fallback>
              </mc:AlternateContent>
            </a:graphicData>
          </a:graphic>
        </p:graphicFrame>
      </p:grpSp>
      <p:graphicFrame>
        <p:nvGraphicFramePr>
          <p:cNvPr id="18" name="Object 17"/>
          <p:cNvGraphicFramePr>
            <a:graphicFrameLocks noChangeAspect="1"/>
          </p:cNvGraphicFramePr>
          <p:nvPr>
            <p:extLst>
              <p:ext uri="{D42A27DB-BD31-4B8C-83A1-F6EECF244321}">
                <p14:modId xmlns:p14="http://schemas.microsoft.com/office/powerpoint/2010/main" val="1027576935"/>
              </p:ext>
            </p:extLst>
          </p:nvPr>
        </p:nvGraphicFramePr>
        <p:xfrm>
          <a:off x="3438500" y="1711442"/>
          <a:ext cx="1069237" cy="742679"/>
        </p:xfrm>
        <a:graphic>
          <a:graphicData uri="http://schemas.openxmlformats.org/presentationml/2006/ole">
            <mc:AlternateContent xmlns:mc="http://schemas.openxmlformats.org/markup-compatibility/2006">
              <mc:Choice xmlns:v="urn:schemas-microsoft-com:vml" Requires="v">
                <p:oleObj spid="_x0000_s59843" name="公式" r:id="rId11" imgW="609336" imgH="393529" progId="Equation.3">
                  <p:embed/>
                </p:oleObj>
              </mc:Choice>
              <mc:Fallback>
                <p:oleObj name="公式" r:id="rId11" imgW="609336" imgH="393529"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38500" y="1711442"/>
                        <a:ext cx="1069237" cy="742679"/>
                      </a:xfrm>
                      <a:prstGeom prst="rect">
                        <a:avLst/>
                      </a:prstGeom>
                      <a:noFill/>
                      <a:ln>
                        <a:noFill/>
                      </a:ln>
                      <a:effectLst/>
                    </p:spPr>
                  </p:pic>
                </p:oleObj>
              </mc:Fallback>
            </mc:AlternateContent>
          </a:graphicData>
        </a:graphic>
      </p:graphicFrame>
      <p:sp>
        <p:nvSpPr>
          <p:cNvPr id="19" name="矩形 18"/>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32</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1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dissolv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checkerboard(across)">
                                      <p:cBhvr>
                                        <p:cTn id="28" dur="5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9"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dissolve">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323850" y="1104278"/>
            <a:ext cx="6724918" cy="461665"/>
          </a:xfrm>
          <a:prstGeom prst="rect">
            <a:avLst/>
          </a:prstGeom>
          <a:noFill/>
          <a:ln w="9525" algn="ctr">
            <a:noFill/>
            <a:miter lim="800000"/>
            <a:headEnd/>
            <a:tailEnd/>
          </a:ln>
          <a:effectLst/>
        </p:spPr>
        <p:txBody>
          <a:bodyPr wrap="none" anchor="ctr">
            <a:spAutoFit/>
          </a:bodyPr>
          <a:lstStyle/>
          <a:p>
            <a:r>
              <a:rPr lang="zh-CN" altLang="en-US" sz="2400" dirty="0">
                <a:latin typeface="微软雅黑" pitchFamily="34" charset="-122"/>
                <a:ea typeface="微软雅黑" pitchFamily="34" charset="-122"/>
                <a:cs typeface="Times New Roman" pitchFamily="18" charset="0"/>
              </a:rPr>
              <a:t>例</a:t>
            </a:r>
            <a:r>
              <a:rPr lang="en-US" altLang="zh-CN" sz="2400" dirty="0">
                <a:solidFill>
                  <a:srgbClr val="000000"/>
                </a:solidFill>
                <a:latin typeface="Times New Roman" pitchFamily="18" charset="0"/>
                <a:ea typeface="方正书宋简体" charset="-122"/>
                <a:cs typeface="Times New Roman" pitchFamily="18" charset="0"/>
              </a:rPr>
              <a:t>1   </a:t>
            </a:r>
            <a:r>
              <a:rPr lang="zh-CN" altLang="zh-CN" sz="2400" dirty="0">
                <a:latin typeface="微软雅黑" pitchFamily="34" charset="-122"/>
                <a:ea typeface="微软雅黑" pitchFamily="34" charset="-122"/>
                <a:cs typeface="Times New Roman" pitchFamily="18" charset="0"/>
              </a:rPr>
              <a:t>求由卡诺热机与热源组成的孤立系的熵增</a:t>
            </a:r>
            <a:r>
              <a:rPr lang="zh-CN" altLang="zh-CN" sz="2400" dirty="0">
                <a:latin typeface="Calibri" pitchFamily="34" charset="0"/>
                <a:ea typeface="方正书宋简体" charset="-122"/>
                <a:cs typeface="Times New Roman" pitchFamily="18" charset="0"/>
              </a:rPr>
              <a:t>。</a:t>
            </a:r>
            <a:endParaRPr lang="zh-CN" altLang="en-US" sz="2400" dirty="0">
              <a:solidFill>
                <a:srgbClr val="000000"/>
              </a:solidFill>
              <a:latin typeface="Times New Roman" pitchFamily="18" charset="0"/>
              <a:ea typeface="方正书宋简体" charset="-122"/>
              <a:cs typeface="Times New Roman" pitchFamily="18" charset="0"/>
            </a:endParaRPr>
          </a:p>
        </p:txBody>
      </p:sp>
      <p:pic>
        <p:nvPicPr>
          <p:cNvPr id="4" name="Picture 3" descr="34"/>
          <p:cNvPicPr>
            <a:picLocks noChangeAspect="1" noChangeArrowheads="1"/>
          </p:cNvPicPr>
          <p:nvPr/>
        </p:nvPicPr>
        <p:blipFill>
          <a:blip r:embed="rId3"/>
          <a:srcRect/>
          <a:stretch>
            <a:fillRect/>
          </a:stretch>
        </p:blipFill>
        <p:spPr bwMode="auto">
          <a:xfrm>
            <a:off x="6300192" y="1954216"/>
            <a:ext cx="2432659" cy="2161060"/>
          </a:xfrm>
          <a:prstGeom prst="rect">
            <a:avLst/>
          </a:prstGeom>
          <a:noFill/>
          <a:ln w="9525">
            <a:noFill/>
            <a:miter lim="800000"/>
            <a:headEnd/>
            <a:tailEnd/>
          </a:ln>
        </p:spPr>
      </p:pic>
      <p:graphicFrame>
        <p:nvGraphicFramePr>
          <p:cNvPr id="5" name="Object 4"/>
          <p:cNvGraphicFramePr>
            <a:graphicFrameLocks noChangeAspect="1"/>
          </p:cNvGraphicFramePr>
          <p:nvPr>
            <p:extLst>
              <p:ext uri="{D42A27DB-BD31-4B8C-83A1-F6EECF244321}">
                <p14:modId xmlns:p14="http://schemas.microsoft.com/office/powerpoint/2010/main" val="166052294"/>
              </p:ext>
            </p:extLst>
          </p:nvPr>
        </p:nvGraphicFramePr>
        <p:xfrm>
          <a:off x="1763688" y="1637670"/>
          <a:ext cx="3096344" cy="467803"/>
        </p:xfrm>
        <a:graphic>
          <a:graphicData uri="http://schemas.openxmlformats.org/presentationml/2006/ole">
            <mc:AlternateContent xmlns:mc="http://schemas.openxmlformats.org/markup-compatibility/2006">
              <mc:Choice xmlns:v="urn:schemas-microsoft-com:vml" Requires="v">
                <p:oleObj spid="_x0000_s61027" name="公式" r:id="rId4" imgW="1511300" imgH="228600" progId="Equation.3">
                  <p:embed/>
                </p:oleObj>
              </mc:Choice>
              <mc:Fallback>
                <p:oleObj name="公式" r:id="rId4" imgW="1511300" imgH="22860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688" y="1637670"/>
                        <a:ext cx="3096344" cy="467803"/>
                      </a:xfrm>
                      <a:prstGeom prst="rect">
                        <a:avLst/>
                      </a:prstGeom>
                      <a:noFill/>
                    </p:spPr>
                  </p:pic>
                </p:oleObj>
              </mc:Fallback>
            </mc:AlternateContent>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2261659322"/>
              </p:ext>
            </p:extLst>
          </p:nvPr>
        </p:nvGraphicFramePr>
        <p:xfrm>
          <a:off x="1676400" y="2157057"/>
          <a:ext cx="1509650" cy="878663"/>
        </p:xfrm>
        <a:graphic>
          <a:graphicData uri="http://schemas.openxmlformats.org/presentationml/2006/ole">
            <mc:AlternateContent xmlns:mc="http://schemas.openxmlformats.org/markup-compatibility/2006">
              <mc:Choice xmlns:v="urn:schemas-microsoft-com:vml" Requires="v">
                <p:oleObj spid="_x0000_s61028" name="公式" r:id="rId6" imgW="736600" imgH="431800" progId="Equation.3">
                  <p:embed/>
                </p:oleObj>
              </mc:Choice>
              <mc:Fallback>
                <p:oleObj name="公式" r:id="rId6" imgW="736600" imgH="431800" progId="Equation.3">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2157057"/>
                        <a:ext cx="1509650" cy="878663"/>
                      </a:xfrm>
                      <a:prstGeom prst="rect">
                        <a:avLst/>
                      </a:prstGeom>
                      <a:noFill/>
                    </p:spPr>
                  </p:pic>
                </p:oleObj>
              </mc:Fallback>
            </mc:AlternateContent>
          </a:graphicData>
        </a:graphic>
      </p:graphicFrame>
      <p:graphicFrame>
        <p:nvGraphicFramePr>
          <p:cNvPr id="7" name="Object 7"/>
          <p:cNvGraphicFramePr>
            <a:graphicFrameLocks noChangeAspect="1"/>
          </p:cNvGraphicFramePr>
          <p:nvPr>
            <p:extLst>
              <p:ext uri="{D42A27DB-BD31-4B8C-83A1-F6EECF244321}">
                <p14:modId xmlns:p14="http://schemas.microsoft.com/office/powerpoint/2010/main" val="2922820767"/>
              </p:ext>
            </p:extLst>
          </p:nvPr>
        </p:nvGraphicFramePr>
        <p:xfrm>
          <a:off x="3851920" y="2180956"/>
          <a:ext cx="1224136" cy="833093"/>
        </p:xfrm>
        <a:graphic>
          <a:graphicData uri="http://schemas.openxmlformats.org/presentationml/2006/ole">
            <mc:AlternateContent xmlns:mc="http://schemas.openxmlformats.org/markup-compatibility/2006">
              <mc:Choice xmlns:v="urn:schemas-microsoft-com:vml" Requires="v">
                <p:oleObj spid="_x0000_s61029" name="公式" r:id="rId8" imgW="761669" imgH="520474" progId="Equation.3">
                  <p:embed/>
                </p:oleObj>
              </mc:Choice>
              <mc:Fallback>
                <p:oleObj name="公式" r:id="rId8" imgW="761669" imgH="520474"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51920" y="2180956"/>
                        <a:ext cx="1224136" cy="833093"/>
                      </a:xfrm>
                      <a:prstGeom prst="rect">
                        <a:avLst/>
                      </a:prstGeom>
                      <a:noFill/>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620027834"/>
              </p:ext>
            </p:extLst>
          </p:nvPr>
        </p:nvGraphicFramePr>
        <p:xfrm>
          <a:off x="1752019" y="3034746"/>
          <a:ext cx="1091789" cy="450986"/>
        </p:xfrm>
        <a:graphic>
          <a:graphicData uri="http://schemas.openxmlformats.org/presentationml/2006/ole">
            <mc:AlternateContent xmlns:mc="http://schemas.openxmlformats.org/markup-compatibility/2006">
              <mc:Choice xmlns:v="urn:schemas-microsoft-com:vml" Requires="v">
                <p:oleObj spid="_x0000_s61030" name="公式" r:id="rId10" imgW="520474" imgH="215806" progId="Equation.3">
                  <p:embed/>
                </p:oleObj>
              </mc:Choice>
              <mc:Fallback>
                <p:oleObj name="公式" r:id="rId10" imgW="520474" imgH="215806"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52019" y="3034746"/>
                        <a:ext cx="1091789" cy="450986"/>
                      </a:xfrm>
                      <a:prstGeom prst="rect">
                        <a:avLst/>
                      </a:prstGeom>
                      <a:noFill/>
                    </p:spPr>
                  </p:pic>
                </p:oleObj>
              </mc:Fallback>
            </mc:AlternateContent>
          </a:graphicData>
        </a:graphic>
      </p:graphicFrame>
      <p:sp>
        <p:nvSpPr>
          <p:cNvPr id="9" name="Rectangle 9"/>
          <p:cNvSpPr>
            <a:spLocks noChangeArrowheads="1"/>
          </p:cNvSpPr>
          <p:nvPr/>
        </p:nvSpPr>
        <p:spPr bwMode="auto">
          <a:xfrm>
            <a:off x="755576" y="3615407"/>
            <a:ext cx="2430474" cy="461665"/>
          </a:xfrm>
          <a:prstGeom prst="rect">
            <a:avLst/>
          </a:prstGeom>
          <a:noFill/>
          <a:ln w="9525" algn="ctr">
            <a:noFill/>
            <a:miter lim="800000"/>
            <a:headEnd/>
            <a:tailEnd/>
          </a:ln>
          <a:effectLst/>
        </p:spPr>
        <p:txBody>
          <a:bodyPr wrap="none" anchor="ctr">
            <a:spAutoFit/>
          </a:bodyPr>
          <a:lstStyle/>
          <a:p>
            <a:r>
              <a:rPr lang="zh-CN" altLang="en-US" sz="2400" dirty="0">
                <a:latin typeface="微软雅黑" pitchFamily="34" charset="-122"/>
                <a:ea typeface="微软雅黑" pitchFamily="34" charset="-122"/>
                <a:cs typeface="Times New Roman" pitchFamily="18" charset="0"/>
              </a:rPr>
              <a:t>由卡诺循环可知 </a:t>
            </a:r>
          </a:p>
        </p:txBody>
      </p:sp>
      <p:sp>
        <p:nvSpPr>
          <p:cNvPr id="10" name="Text Box 10"/>
          <p:cNvSpPr txBox="1">
            <a:spLocks noChangeArrowheads="1"/>
          </p:cNvSpPr>
          <p:nvPr/>
        </p:nvSpPr>
        <p:spPr bwMode="auto">
          <a:xfrm>
            <a:off x="2700337" y="3077397"/>
            <a:ext cx="1800225" cy="461665"/>
          </a:xfrm>
          <a:prstGeom prst="rect">
            <a:avLst/>
          </a:prstGeom>
          <a:noFill/>
          <a:ln w="9525" algn="ctr">
            <a:noFill/>
            <a:miter lim="800000"/>
            <a:headEnd/>
            <a:tailEnd/>
          </a:ln>
          <a:effectLst/>
        </p:spPr>
        <p:txBody>
          <a:bodyPr>
            <a:spAutoFit/>
          </a:bodyPr>
          <a:lstStyle/>
          <a:p>
            <a:pPr marL="342900" indent="-342900" algn="ctr">
              <a:spcBef>
                <a:spcPct val="50000"/>
              </a:spcBef>
            </a:pPr>
            <a:r>
              <a:rPr lang="zh-CN" altLang="en-US" sz="2400" dirty="0">
                <a:latin typeface="微软雅黑" pitchFamily="34" charset="-122"/>
                <a:ea typeface="微软雅黑" pitchFamily="34" charset="-122"/>
                <a:cs typeface="Times New Roman" pitchFamily="18" charset="0"/>
              </a:rPr>
              <a:t>（循环）</a:t>
            </a:r>
          </a:p>
        </p:txBody>
      </p:sp>
      <p:graphicFrame>
        <p:nvGraphicFramePr>
          <p:cNvPr id="11" name="Object 11"/>
          <p:cNvGraphicFramePr>
            <a:graphicFrameLocks noChangeAspect="1"/>
          </p:cNvGraphicFramePr>
          <p:nvPr>
            <p:extLst>
              <p:ext uri="{D42A27DB-BD31-4B8C-83A1-F6EECF244321}">
                <p14:modId xmlns:p14="http://schemas.microsoft.com/office/powerpoint/2010/main" val="1380490178"/>
              </p:ext>
            </p:extLst>
          </p:nvPr>
        </p:nvGraphicFramePr>
        <p:xfrm>
          <a:off x="1709752" y="4216321"/>
          <a:ext cx="1134056" cy="816690"/>
        </p:xfrm>
        <a:graphic>
          <a:graphicData uri="http://schemas.openxmlformats.org/presentationml/2006/ole">
            <mc:AlternateContent xmlns:mc="http://schemas.openxmlformats.org/markup-compatibility/2006">
              <mc:Choice xmlns:v="urn:schemas-microsoft-com:vml" Requires="v">
                <p:oleObj spid="_x0000_s61031" name="公式" r:id="rId12" imgW="748975" imgH="545863" progId="Equation.3">
                  <p:embed/>
                </p:oleObj>
              </mc:Choice>
              <mc:Fallback>
                <p:oleObj name="公式" r:id="rId12" imgW="748975" imgH="545863" progId="Equation.3">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709752" y="4216321"/>
                        <a:ext cx="1134056" cy="816690"/>
                      </a:xfrm>
                      <a:prstGeom prst="rect">
                        <a:avLst/>
                      </a:prstGeom>
                      <a:noFill/>
                    </p:spPr>
                  </p:pic>
                </p:oleObj>
              </mc:Fallback>
            </mc:AlternateContent>
          </a:graphicData>
        </a:graphic>
      </p:graphicFrame>
      <p:graphicFrame>
        <p:nvGraphicFramePr>
          <p:cNvPr id="12" name="Object 12"/>
          <p:cNvGraphicFramePr>
            <a:graphicFrameLocks noChangeAspect="1"/>
          </p:cNvGraphicFramePr>
          <p:nvPr>
            <p:extLst>
              <p:ext uri="{D42A27DB-BD31-4B8C-83A1-F6EECF244321}">
                <p14:modId xmlns:p14="http://schemas.microsoft.com/office/powerpoint/2010/main" val="3024514124"/>
              </p:ext>
            </p:extLst>
          </p:nvPr>
        </p:nvGraphicFramePr>
        <p:xfrm>
          <a:off x="3686309" y="4189248"/>
          <a:ext cx="2109827" cy="895935"/>
        </p:xfrm>
        <a:graphic>
          <a:graphicData uri="http://schemas.openxmlformats.org/presentationml/2006/ole">
            <mc:AlternateContent xmlns:mc="http://schemas.openxmlformats.org/markup-compatibility/2006">
              <mc:Choice xmlns:v="urn:schemas-microsoft-com:vml" Requires="v">
                <p:oleObj spid="_x0000_s61032" name="公式" r:id="rId14" imgW="1435100" imgH="609600" progId="Equation.3">
                  <p:embed/>
                </p:oleObj>
              </mc:Choice>
              <mc:Fallback>
                <p:oleObj name="公式" r:id="rId14" imgW="1435100" imgH="609600" progId="Equation.3">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86309" y="4189248"/>
                        <a:ext cx="2109827" cy="895935"/>
                      </a:xfrm>
                      <a:prstGeom prst="rect">
                        <a:avLst/>
                      </a:prstGeom>
                      <a:noFill/>
                    </p:spPr>
                  </p:pic>
                </p:oleObj>
              </mc:Fallback>
            </mc:AlternateContent>
          </a:graphicData>
        </a:graphic>
      </p:graphicFrame>
      <p:sp>
        <p:nvSpPr>
          <p:cNvPr id="13" name="Rectangle 13"/>
          <p:cNvSpPr>
            <a:spLocks noChangeArrowheads="1"/>
          </p:cNvSpPr>
          <p:nvPr/>
        </p:nvSpPr>
        <p:spPr bwMode="auto">
          <a:xfrm>
            <a:off x="910771" y="5261099"/>
            <a:ext cx="628650" cy="519113"/>
          </a:xfrm>
          <a:prstGeom prst="rect">
            <a:avLst/>
          </a:prstGeom>
          <a:noFill/>
          <a:ln w="9525" algn="ctr">
            <a:noFill/>
            <a:miter lim="800000"/>
            <a:headEnd/>
            <a:tailEnd/>
          </a:ln>
          <a:effectLst/>
        </p:spPr>
        <p:txBody>
          <a:bodyPr wrap="none" anchor="ctr">
            <a:spAutoFit/>
          </a:bodyPr>
          <a:lstStyle/>
          <a:p>
            <a:r>
              <a:rPr lang="en-US" altLang="zh-CN" sz="2800" dirty="0">
                <a:solidFill>
                  <a:srgbClr val="000000"/>
                </a:solidFill>
                <a:latin typeface="Times New Roman" pitchFamily="18" charset="0"/>
                <a:ea typeface="方正书宋简体" charset="-122"/>
                <a:cs typeface="Times New Roman" pitchFamily="18" charset="0"/>
              </a:rPr>
              <a:t>∴ </a:t>
            </a:r>
          </a:p>
        </p:txBody>
      </p:sp>
      <p:graphicFrame>
        <p:nvGraphicFramePr>
          <p:cNvPr id="14" name="Object 14"/>
          <p:cNvGraphicFramePr>
            <a:graphicFrameLocks noChangeAspect="1"/>
          </p:cNvGraphicFramePr>
          <p:nvPr>
            <p:extLst>
              <p:ext uri="{D42A27DB-BD31-4B8C-83A1-F6EECF244321}">
                <p14:modId xmlns:p14="http://schemas.microsoft.com/office/powerpoint/2010/main" val="2249025591"/>
              </p:ext>
            </p:extLst>
          </p:nvPr>
        </p:nvGraphicFramePr>
        <p:xfrm>
          <a:off x="1643042" y="5135102"/>
          <a:ext cx="3288998" cy="917893"/>
        </p:xfrm>
        <a:graphic>
          <a:graphicData uri="http://schemas.openxmlformats.org/presentationml/2006/ole">
            <mc:AlternateContent xmlns:mc="http://schemas.openxmlformats.org/markup-compatibility/2006">
              <mc:Choice xmlns:v="urn:schemas-microsoft-com:vml" Requires="v">
                <p:oleObj spid="_x0000_s61033" name="公式" r:id="rId16" imgW="1536700" imgH="431800" progId="Equation.3">
                  <p:embed/>
                </p:oleObj>
              </mc:Choice>
              <mc:Fallback>
                <p:oleObj name="公式" r:id="rId16" imgW="1536700" imgH="431800" progId="Equation.3">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643042" y="5135102"/>
                        <a:ext cx="3288998" cy="917893"/>
                      </a:xfrm>
                      <a:prstGeom prst="rect">
                        <a:avLst/>
                      </a:prstGeom>
                      <a:noFill/>
                    </p:spPr>
                  </p:pic>
                </p:oleObj>
              </mc:Fallback>
            </mc:AlternateContent>
          </a:graphicData>
        </a:graphic>
      </p:graphicFrame>
      <p:sp>
        <p:nvSpPr>
          <p:cNvPr id="15" name="矩形 1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33</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664549" y="1628659"/>
            <a:ext cx="80021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9"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dissolve">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dissolve">
                                      <p:cBhvr>
                                        <p:cTn id="21" dur="500"/>
                                        <p:tgtEl>
                                          <p:spTgt spid="6"/>
                                        </p:tgtEl>
                                      </p:cBhvr>
                                    </p:animEffect>
                                  </p:childTnLst>
                                </p:cTn>
                              </p:par>
                              <p:par>
                                <p:cTn id="22" presetID="9" presetClass="entr" presetSubtype="0" fill="hold"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dissolve">
                                      <p:cBhvr>
                                        <p:cTn id="24" dur="5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dissolve">
                                      <p:cBhvr>
                                        <p:cTn id="29" dur="500"/>
                                        <p:tgtEl>
                                          <p:spTgt spid="8"/>
                                        </p:tgtEl>
                                      </p:cBhvr>
                                    </p:animEffect>
                                  </p:childTnLst>
                                </p:cTn>
                              </p:par>
                              <p:par>
                                <p:cTn id="30" presetID="9" presetClass="entr" presetSubtype="0" fill="hold" grpId="0" nodeType="with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dissolve">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dissolv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9"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dissolve">
                                      <p:cBhvr>
                                        <p:cTn id="52" dur="500"/>
                                        <p:tgtEl>
                                          <p:spTgt spid="13"/>
                                        </p:tgtEl>
                                      </p:cBhvr>
                                    </p:animEffect>
                                  </p:childTnLst>
                                </p:cTn>
                              </p:par>
                              <p:par>
                                <p:cTn id="53" presetID="9" presetClass="entr" presetSubtype="0" fill="hold" nodeType="withEffect">
                                  <p:stCondLst>
                                    <p:cond delay="0"/>
                                  </p:stCondLst>
                                  <p:childTnLst>
                                    <p:set>
                                      <p:cBhvr>
                                        <p:cTn id="54" dur="1" fill="hold">
                                          <p:stCondLst>
                                            <p:cond delay="0"/>
                                          </p:stCondLst>
                                        </p:cTn>
                                        <p:tgtEl>
                                          <p:spTgt spid="14"/>
                                        </p:tgtEl>
                                        <p:attrNameLst>
                                          <p:attrName>style.visibility</p:attrName>
                                        </p:attrNameLst>
                                      </p:cBhvr>
                                      <p:to>
                                        <p:strVal val="visible"/>
                                      </p:to>
                                    </p:set>
                                    <p:animEffect transition="in" filter="dissolve">
                                      <p:cBhvr>
                                        <p:cTn id="55"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3" grpId="0"/>
      <p:bldP spid="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ChangeArrowheads="1"/>
          </p:cNvSpPr>
          <p:nvPr/>
        </p:nvSpPr>
        <p:spPr bwMode="auto">
          <a:xfrm>
            <a:off x="428595" y="1165422"/>
            <a:ext cx="8113941" cy="1643527"/>
          </a:xfrm>
          <a:prstGeom prst="rect">
            <a:avLst/>
          </a:prstGeom>
          <a:noFill/>
          <a:ln w="9525" algn="ctr">
            <a:noFill/>
            <a:miter lim="800000"/>
            <a:headEnd/>
            <a:tailEnd/>
          </a:ln>
          <a:effectLst/>
        </p:spPr>
        <p:txBody>
          <a:bodyPr wrap="square" anchor="ctr">
            <a:spAutoFit/>
          </a:bodyPr>
          <a:lstStyle/>
          <a:p>
            <a:pPr algn="just">
              <a:lnSpc>
                <a:spcPct val="140000"/>
              </a:lnSpc>
            </a:pPr>
            <a:r>
              <a:rPr lang="zh-CN" altLang="en-US" sz="2400" dirty="0">
                <a:solidFill>
                  <a:srgbClr val="000000"/>
                </a:solidFill>
                <a:latin typeface="微软雅黑" pitchFamily="34" charset="-122"/>
                <a:ea typeface="微软雅黑" pitchFamily="34" charset="-122"/>
                <a:cs typeface="Times New Roman" pitchFamily="18" charset="0"/>
              </a:rPr>
              <a:t>例</a:t>
            </a:r>
            <a:r>
              <a:rPr lang="en-US" altLang="zh-CN" sz="2400" dirty="0">
                <a:solidFill>
                  <a:srgbClr val="000000"/>
                </a:solidFill>
                <a:latin typeface="Times New Roman" pitchFamily="18" charset="0"/>
                <a:ea typeface="方正书宋简体" charset="-122"/>
                <a:cs typeface="Times New Roman" pitchFamily="18" charset="0"/>
              </a:rPr>
              <a:t>2   </a:t>
            </a:r>
            <a:r>
              <a:rPr lang="zh-CN" altLang="en-US" sz="2400" dirty="0">
                <a:solidFill>
                  <a:srgbClr val="000000"/>
                </a:solidFill>
                <a:latin typeface="微软雅黑" pitchFamily="34" charset="-122"/>
                <a:ea typeface="微软雅黑" pitchFamily="34" charset="-122"/>
                <a:cs typeface="Times New Roman" pitchFamily="18" charset="0"/>
              </a:rPr>
              <a:t>以</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20℃</a:t>
            </a:r>
            <a:r>
              <a:rPr lang="zh-CN" altLang="en-US" sz="2400" dirty="0">
                <a:solidFill>
                  <a:srgbClr val="000000"/>
                </a:solidFill>
                <a:latin typeface="微软雅黑" pitchFamily="34" charset="-122"/>
                <a:ea typeface="微软雅黑" pitchFamily="34" charset="-122"/>
                <a:cs typeface="Times New Roman" pitchFamily="18" charset="0"/>
              </a:rPr>
              <a:t>的环境为热源，以</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1000 kg </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温度为 </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0℃ </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的水为冷源的可逆热机，当冷源水温升至</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20℃</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时</a:t>
            </a:r>
            <a:r>
              <a:rPr lang="zh-CN" altLang="en-US" sz="2400" dirty="0">
                <a:solidFill>
                  <a:srgbClr val="000000"/>
                </a:solidFill>
                <a:latin typeface="微软雅黑" pitchFamily="34" charset="-122"/>
                <a:ea typeface="微软雅黑" pitchFamily="34" charset="-122"/>
                <a:cs typeface="Times New Roman" pitchFamily="18" charset="0"/>
              </a:rPr>
              <a:t>，热机对外所做的净功为多少？</a:t>
            </a:r>
          </a:p>
        </p:txBody>
      </p:sp>
      <p:sp>
        <p:nvSpPr>
          <p:cNvPr id="4" name="Rectangle 4"/>
          <p:cNvSpPr>
            <a:spLocks noChangeArrowheads="1"/>
          </p:cNvSpPr>
          <p:nvPr/>
        </p:nvSpPr>
        <p:spPr bwMode="auto">
          <a:xfrm>
            <a:off x="539552" y="2734586"/>
            <a:ext cx="4870648" cy="1126462"/>
          </a:xfrm>
          <a:prstGeom prst="rect">
            <a:avLst/>
          </a:prstGeom>
          <a:noFill/>
          <a:ln w="9525" algn="ctr">
            <a:noFill/>
            <a:miter lim="800000"/>
            <a:headEnd/>
            <a:tailEnd/>
          </a:ln>
          <a:effectLst/>
        </p:spPr>
        <p:txBody>
          <a:bodyPr wrap="square" anchor="ctr">
            <a:spAutoFit/>
          </a:bodyPr>
          <a:lstStyle/>
          <a:p>
            <a:pPr>
              <a:lnSpc>
                <a:spcPct val="140000"/>
              </a:lnSpc>
            </a:pPr>
            <a:r>
              <a:rPr lang="zh-CN" altLang="en-US" sz="2400" dirty="0">
                <a:solidFill>
                  <a:srgbClr val="4B3EEE"/>
                </a:solidFill>
                <a:latin typeface="微软雅黑" pitchFamily="34" charset="-122"/>
                <a:ea typeface="微软雅黑" pitchFamily="34" charset="-122"/>
                <a:cs typeface="Times New Roman" pitchFamily="18" charset="0"/>
              </a:rPr>
              <a:t>解法</a:t>
            </a:r>
            <a:r>
              <a:rPr lang="en-US" altLang="zh-CN" sz="2400" dirty="0">
                <a:solidFill>
                  <a:srgbClr val="4B3EEE"/>
                </a:solidFill>
                <a:latin typeface="微软雅黑" pitchFamily="34" charset="-122"/>
                <a:ea typeface="微软雅黑" pitchFamily="34" charset="-122"/>
                <a:cs typeface="Times New Roman" pitchFamily="18" charset="0"/>
              </a:rPr>
              <a:t>1</a:t>
            </a:r>
            <a:r>
              <a:rPr lang="zh-CN" altLang="en-US" sz="2400" dirty="0">
                <a:solidFill>
                  <a:srgbClr val="4B3EEE"/>
                </a:solidFill>
                <a:latin typeface="微软雅黑" pitchFamily="34" charset="-122"/>
                <a:ea typeface="微软雅黑" pitchFamily="34" charset="-122"/>
                <a:cs typeface="Times New Roman" pitchFamily="18" charset="0"/>
              </a:rPr>
              <a:t>：</a:t>
            </a:r>
            <a:r>
              <a:rPr lang="zh-CN" altLang="en-US" sz="2400" dirty="0">
                <a:solidFill>
                  <a:srgbClr val="000000"/>
                </a:solidFill>
                <a:latin typeface="微软雅黑" pitchFamily="34" charset="-122"/>
                <a:ea typeface="微软雅黑" pitchFamily="34" charset="-122"/>
                <a:cs typeface="Times New Roman" pitchFamily="18" charset="0"/>
              </a:rPr>
              <a:t>对任一微元（卡诺）循环，根据卡诺定理 </a:t>
            </a:r>
          </a:p>
        </p:txBody>
      </p:sp>
      <p:graphicFrame>
        <p:nvGraphicFramePr>
          <p:cNvPr id="5" name="Object 5"/>
          <p:cNvGraphicFramePr>
            <a:graphicFrameLocks noChangeAspect="1"/>
          </p:cNvGraphicFramePr>
          <p:nvPr>
            <p:extLst>
              <p:ext uri="{D42A27DB-BD31-4B8C-83A1-F6EECF244321}">
                <p14:modId xmlns:p14="http://schemas.microsoft.com/office/powerpoint/2010/main" val="4161824602"/>
              </p:ext>
            </p:extLst>
          </p:nvPr>
        </p:nvGraphicFramePr>
        <p:xfrm>
          <a:off x="1331913" y="3933056"/>
          <a:ext cx="1151855" cy="839562"/>
        </p:xfrm>
        <a:graphic>
          <a:graphicData uri="http://schemas.openxmlformats.org/presentationml/2006/ole">
            <mc:AlternateContent xmlns:mc="http://schemas.openxmlformats.org/markup-compatibility/2006">
              <mc:Choice xmlns:v="urn:schemas-microsoft-com:vml" Requires="v">
                <p:oleObj spid="_x0000_s61786" name="公式" r:id="rId3" imgW="774364" imgH="558558" progId="Equation.3">
                  <p:embed/>
                </p:oleObj>
              </mc:Choice>
              <mc:Fallback>
                <p:oleObj name="公式" r:id="rId3" imgW="774364" imgH="558558"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1913" y="3933056"/>
                        <a:ext cx="1151855" cy="839562"/>
                      </a:xfrm>
                      <a:prstGeom prst="rect">
                        <a:avLst/>
                      </a:prstGeom>
                      <a:noFill/>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2639294622"/>
              </p:ext>
            </p:extLst>
          </p:nvPr>
        </p:nvGraphicFramePr>
        <p:xfrm>
          <a:off x="3173413" y="4010843"/>
          <a:ext cx="1542603" cy="741716"/>
        </p:xfrm>
        <a:graphic>
          <a:graphicData uri="http://schemas.openxmlformats.org/presentationml/2006/ole">
            <mc:AlternateContent xmlns:mc="http://schemas.openxmlformats.org/markup-compatibility/2006">
              <mc:Choice xmlns:v="urn:schemas-microsoft-com:vml" Requires="v">
                <p:oleObj spid="_x0000_s61787" name="Equation" r:id="rId5" imgW="812447" imgH="393529" progId="Equation.3">
                  <p:embed/>
                </p:oleObj>
              </mc:Choice>
              <mc:Fallback>
                <p:oleObj name="Equation" r:id="rId5" imgW="812447" imgH="393529"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73413" y="4010843"/>
                        <a:ext cx="1542603" cy="741716"/>
                      </a:xfrm>
                      <a:prstGeom prst="rect">
                        <a:avLst/>
                      </a:prstGeom>
                      <a:noFill/>
                    </p:spPr>
                  </p:pic>
                </p:oleObj>
              </mc:Fallback>
            </mc:AlternateContent>
          </a:graphicData>
        </a:graphic>
      </p:graphicFrame>
      <p:graphicFrame>
        <p:nvGraphicFramePr>
          <p:cNvPr id="7" name="Object 9"/>
          <p:cNvGraphicFramePr>
            <a:graphicFrameLocks noChangeAspect="1"/>
          </p:cNvGraphicFramePr>
          <p:nvPr>
            <p:extLst>
              <p:ext uri="{D42A27DB-BD31-4B8C-83A1-F6EECF244321}">
                <p14:modId xmlns:p14="http://schemas.microsoft.com/office/powerpoint/2010/main" val="795254609"/>
              </p:ext>
            </p:extLst>
          </p:nvPr>
        </p:nvGraphicFramePr>
        <p:xfrm>
          <a:off x="1100333" y="4834936"/>
          <a:ext cx="3911406" cy="852828"/>
        </p:xfrm>
        <a:graphic>
          <a:graphicData uri="http://schemas.openxmlformats.org/presentationml/2006/ole">
            <mc:AlternateContent xmlns:mc="http://schemas.openxmlformats.org/markup-compatibility/2006">
              <mc:Choice xmlns:v="urn:schemas-microsoft-com:vml" Requires="v">
                <p:oleObj spid="_x0000_s61788" name="公式" r:id="rId7" imgW="2578100" imgH="558800" progId="Equation.3">
                  <p:embed/>
                </p:oleObj>
              </mc:Choice>
              <mc:Fallback>
                <p:oleObj name="公式" r:id="rId7" imgW="2578100" imgH="5588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333" y="4834936"/>
                        <a:ext cx="3911406" cy="852828"/>
                      </a:xfrm>
                      <a:prstGeom prst="rect">
                        <a:avLst/>
                      </a:prstGeom>
                      <a:noFill/>
                    </p:spPr>
                  </p:pic>
                </p:oleObj>
              </mc:Fallback>
            </mc:AlternateContent>
          </a:graphicData>
        </a:graphic>
      </p:graphicFrame>
      <p:sp>
        <p:nvSpPr>
          <p:cNvPr id="8" name="Rectangle 10"/>
          <p:cNvSpPr>
            <a:spLocks noChangeArrowheads="1"/>
          </p:cNvSpPr>
          <p:nvPr/>
        </p:nvSpPr>
        <p:spPr bwMode="auto">
          <a:xfrm>
            <a:off x="667445" y="5754368"/>
            <a:ext cx="569387" cy="461665"/>
          </a:xfrm>
          <a:prstGeom prst="rect">
            <a:avLst/>
          </a:prstGeom>
          <a:noFill/>
          <a:ln w="9525" algn="ctr">
            <a:noFill/>
            <a:miter lim="800000"/>
            <a:headEnd/>
            <a:tailEnd/>
          </a:ln>
          <a:effectLst/>
        </p:spPr>
        <p:txBody>
          <a:bodyPr wrap="none" anchor="ctr">
            <a:spAutoFit/>
          </a:bodyPr>
          <a:lstStyle/>
          <a:p>
            <a:r>
              <a:rPr lang="zh-CN" altLang="en-US" sz="2400" dirty="0">
                <a:solidFill>
                  <a:srgbClr val="000000"/>
                </a:solidFill>
                <a:latin typeface="微软雅黑" pitchFamily="34" charset="-122"/>
                <a:ea typeface="微软雅黑" pitchFamily="34" charset="-122"/>
                <a:cs typeface="Times New Roman" pitchFamily="18" charset="0"/>
              </a:rPr>
              <a:t>以</a:t>
            </a:r>
            <a:r>
              <a:rPr lang="zh-CN" altLang="en-US" sz="2400" dirty="0">
                <a:solidFill>
                  <a:srgbClr val="000000"/>
                </a:solidFill>
                <a:latin typeface="Times New Roman" pitchFamily="18" charset="0"/>
                <a:ea typeface="方正书宋简体" charset="-122"/>
                <a:cs typeface="Times New Roman" pitchFamily="18" charset="0"/>
              </a:rPr>
              <a:t> </a:t>
            </a:r>
          </a:p>
        </p:txBody>
      </p:sp>
      <p:graphicFrame>
        <p:nvGraphicFramePr>
          <p:cNvPr id="9" name="Object 11"/>
          <p:cNvGraphicFramePr>
            <a:graphicFrameLocks noChangeAspect="1"/>
          </p:cNvGraphicFramePr>
          <p:nvPr>
            <p:extLst>
              <p:ext uri="{D42A27DB-BD31-4B8C-83A1-F6EECF244321}">
                <p14:modId xmlns:p14="http://schemas.microsoft.com/office/powerpoint/2010/main" val="560774723"/>
              </p:ext>
            </p:extLst>
          </p:nvPr>
        </p:nvGraphicFramePr>
        <p:xfrm>
          <a:off x="1248936" y="5733256"/>
          <a:ext cx="1761713" cy="482777"/>
        </p:xfrm>
        <a:graphic>
          <a:graphicData uri="http://schemas.openxmlformats.org/presentationml/2006/ole">
            <mc:AlternateContent xmlns:mc="http://schemas.openxmlformats.org/markup-compatibility/2006">
              <mc:Choice xmlns:v="urn:schemas-microsoft-com:vml" Requires="v">
                <p:oleObj spid="_x0000_s61789" name="公式" r:id="rId9" imgW="787058" imgH="215806" progId="Equation.3">
                  <p:embed/>
                </p:oleObj>
              </mc:Choice>
              <mc:Fallback>
                <p:oleObj name="公式" r:id="rId9" imgW="787058" imgH="215806" progId="Equation.3">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48936" y="5733256"/>
                        <a:ext cx="1761713" cy="482777"/>
                      </a:xfrm>
                      <a:prstGeom prst="rect">
                        <a:avLst/>
                      </a:prstGeom>
                      <a:noFill/>
                    </p:spPr>
                  </p:pic>
                </p:oleObj>
              </mc:Fallback>
            </mc:AlternateContent>
          </a:graphicData>
        </a:graphic>
      </p:graphicFrame>
      <p:sp>
        <p:nvSpPr>
          <p:cNvPr id="10" name="Rectangle 12"/>
          <p:cNvSpPr>
            <a:spLocks noChangeArrowheads="1"/>
          </p:cNvSpPr>
          <p:nvPr/>
        </p:nvSpPr>
        <p:spPr bwMode="auto">
          <a:xfrm>
            <a:off x="3280499" y="5738493"/>
            <a:ext cx="1723549" cy="461665"/>
          </a:xfrm>
          <a:prstGeom prst="rect">
            <a:avLst/>
          </a:prstGeom>
          <a:noFill/>
          <a:ln w="9525" algn="ctr">
            <a:noFill/>
            <a:miter lim="800000"/>
            <a:headEnd/>
            <a:tailEnd/>
          </a:ln>
          <a:effectLst/>
        </p:spPr>
        <p:txBody>
          <a:bodyPr wrap="none" anchor="ctr">
            <a:spAutoFit/>
          </a:bodyPr>
          <a:lstStyle/>
          <a:p>
            <a:r>
              <a:rPr lang="zh-CN" altLang="en-US" sz="2400" dirty="0">
                <a:solidFill>
                  <a:srgbClr val="000000"/>
                </a:solidFill>
                <a:latin typeface="微软雅黑" pitchFamily="34" charset="-122"/>
                <a:ea typeface="微软雅黑" pitchFamily="34" charset="-122"/>
                <a:cs typeface="Times New Roman" pitchFamily="18" charset="0"/>
              </a:rPr>
              <a:t>代入上式得</a:t>
            </a:r>
          </a:p>
        </p:txBody>
      </p:sp>
      <p:pic>
        <p:nvPicPr>
          <p:cNvPr id="11" name="Picture 14"/>
          <p:cNvPicPr>
            <a:picLocks noChangeAspect="1" noChangeArrowheads="1"/>
          </p:cNvPicPr>
          <p:nvPr/>
        </p:nvPicPr>
        <p:blipFill>
          <a:blip r:embed="rId11"/>
          <a:srcRect/>
          <a:stretch>
            <a:fillRect/>
          </a:stretch>
        </p:blipFill>
        <p:spPr bwMode="auto">
          <a:xfrm>
            <a:off x="5572132" y="2881064"/>
            <a:ext cx="3086100" cy="2806700"/>
          </a:xfrm>
          <a:prstGeom prst="rect">
            <a:avLst/>
          </a:prstGeom>
          <a:noFill/>
          <a:ln w="9525">
            <a:noFill/>
            <a:miter lim="800000"/>
            <a:headEnd/>
            <a:tailEnd/>
          </a:ln>
        </p:spPr>
      </p:pic>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34</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par>
                          <p:cTn id="11" fill="hold">
                            <p:stCondLst>
                              <p:cond delay="0"/>
                            </p:stCondLst>
                            <p:childTnLst>
                              <p:par>
                                <p:cTn id="12" presetID="1" presetClass="entr" presetSubtype="0" fill="hold" nodeType="afterEffect">
                                  <p:stCondLst>
                                    <p:cond delay="0"/>
                                  </p:stCondLst>
                                  <p:childTnLst>
                                    <p:set>
                                      <p:cBhvr>
                                        <p:cTn id="13" dur="1" fill="hold">
                                          <p:stCondLst>
                                            <p:cond delay="0"/>
                                          </p:stCondLst>
                                        </p:cTn>
                                        <p:tgtEl>
                                          <p:spTgt spid="6"/>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childTnLst>
                                </p:cTn>
                              </p:par>
                            </p:childTnLst>
                          </p:cTn>
                        </p:par>
                        <p:par>
                          <p:cTn id="22" fill="hold">
                            <p:stCondLst>
                              <p:cond delay="0"/>
                            </p:stCondLst>
                            <p:childTnLst>
                              <p:par>
                                <p:cTn id="23" presetID="1" presetClass="entr" presetSubtype="0" fill="hold" nodeType="after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par>
                          <p:cTn id="25" fill="hold">
                            <p:stCondLst>
                              <p:cond delay="0"/>
                            </p:stCondLst>
                            <p:childTnLst>
                              <p:par>
                                <p:cTn id="26" presetID="1" presetClass="entr" presetSubtype="0" fill="hold" grpId="0" nodeType="after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P spid="8" grpId="0" autoUpdateAnimBg="0"/>
      <p:bldP spid="10"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3"/>
          <p:cNvGraphicFramePr>
            <a:graphicFrameLocks noChangeAspect="1"/>
          </p:cNvGraphicFramePr>
          <p:nvPr>
            <p:extLst>
              <p:ext uri="{D42A27DB-BD31-4B8C-83A1-F6EECF244321}">
                <p14:modId xmlns:p14="http://schemas.microsoft.com/office/powerpoint/2010/main" val="1757880595"/>
              </p:ext>
            </p:extLst>
          </p:nvPr>
        </p:nvGraphicFramePr>
        <p:xfrm>
          <a:off x="1045840" y="2348880"/>
          <a:ext cx="6622504" cy="3127293"/>
        </p:xfrm>
        <a:graphic>
          <a:graphicData uri="http://schemas.openxmlformats.org/presentationml/2006/ole">
            <mc:AlternateContent xmlns:mc="http://schemas.openxmlformats.org/markup-compatibility/2006">
              <mc:Choice xmlns:v="urn:schemas-microsoft-com:vml" Requires="v">
                <p:oleObj spid="_x0000_s62638" name="公式" r:id="rId3" imgW="2895600" imgH="1371600" progId="Equation.3">
                  <p:embed/>
                </p:oleObj>
              </mc:Choice>
              <mc:Fallback>
                <p:oleObj name="公式" r:id="rId3" imgW="2895600" imgH="13716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5840" y="2348880"/>
                        <a:ext cx="6622504" cy="3127293"/>
                      </a:xfrm>
                      <a:prstGeom prst="rect">
                        <a:avLst/>
                      </a:prstGeom>
                      <a:noFill/>
                    </p:spPr>
                  </p:pic>
                </p:oleObj>
              </mc:Fallback>
            </mc:AlternateContent>
          </a:graphicData>
        </a:graphic>
      </p:graphicFrame>
      <p:sp>
        <p:nvSpPr>
          <p:cNvPr id="4" name="Text Box 4"/>
          <p:cNvSpPr txBox="1">
            <a:spLocks noChangeArrowheads="1"/>
          </p:cNvSpPr>
          <p:nvPr/>
        </p:nvSpPr>
        <p:spPr bwMode="auto">
          <a:xfrm>
            <a:off x="1403623" y="5517232"/>
            <a:ext cx="1800225" cy="519112"/>
          </a:xfrm>
          <a:prstGeom prst="rect">
            <a:avLst/>
          </a:prstGeom>
          <a:noFill/>
          <a:ln w="9525" algn="ctr">
            <a:noFill/>
            <a:miter lim="800000"/>
            <a:headEnd/>
            <a:tailEnd/>
          </a:ln>
          <a:effectLst/>
        </p:spPr>
        <p:txBody>
          <a:bodyPr>
            <a:spAutoFit/>
          </a:bodyPr>
          <a:lstStyle/>
          <a:p>
            <a:pPr marL="342900" indent="-342900" algn="ctr">
              <a:spcBef>
                <a:spcPct val="20000"/>
              </a:spcBef>
            </a:pPr>
            <a:r>
              <a:rPr lang="en-US" altLang="zh-CN" sz="2800" b="0" dirty="0">
                <a:solidFill>
                  <a:srgbClr val="000000"/>
                </a:solidFill>
                <a:latin typeface="Times New Roman" pitchFamily="18" charset="0"/>
                <a:ea typeface="方正书宋简体" charset="-122"/>
                <a:cs typeface="Times New Roman" pitchFamily="18" charset="0"/>
              </a:rPr>
              <a:t>= 2995 kJ</a:t>
            </a:r>
          </a:p>
        </p:txBody>
      </p:sp>
      <p:graphicFrame>
        <p:nvGraphicFramePr>
          <p:cNvPr id="5" name="Object 5"/>
          <p:cNvGraphicFramePr>
            <a:graphicFrameLocks noChangeAspect="1"/>
          </p:cNvGraphicFramePr>
          <p:nvPr>
            <p:extLst>
              <p:ext uri="{D42A27DB-BD31-4B8C-83A1-F6EECF244321}">
                <p14:modId xmlns:p14="http://schemas.microsoft.com/office/powerpoint/2010/main" val="810453546"/>
              </p:ext>
            </p:extLst>
          </p:nvPr>
        </p:nvGraphicFramePr>
        <p:xfrm>
          <a:off x="827584" y="1221916"/>
          <a:ext cx="2880320" cy="986279"/>
        </p:xfrm>
        <a:graphic>
          <a:graphicData uri="http://schemas.openxmlformats.org/presentationml/2006/ole">
            <mc:AlternateContent xmlns:mc="http://schemas.openxmlformats.org/markup-compatibility/2006">
              <mc:Choice xmlns:v="urn:schemas-microsoft-com:vml" Requires="v">
                <p:oleObj spid="_x0000_s62639" name="公式" r:id="rId5" imgW="1269449" imgH="431613" progId="Equation.3">
                  <p:embed/>
                </p:oleObj>
              </mc:Choice>
              <mc:Fallback>
                <p:oleObj name="公式" r:id="rId5" imgW="1269449" imgH="431613"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7584" y="1221916"/>
                        <a:ext cx="2880320" cy="986279"/>
                      </a:xfrm>
                      <a:prstGeom prst="rect">
                        <a:avLst/>
                      </a:prstGeom>
                      <a:noFill/>
                    </p:spPr>
                  </p:pic>
                </p:oleObj>
              </mc:Fallback>
            </mc:AlternateContent>
          </a:graphicData>
        </a:graphic>
      </p:graphicFrame>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35</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txBox="1">
            <a:spLocks noChangeArrowheads="1"/>
          </p:cNvSpPr>
          <p:nvPr/>
        </p:nvSpPr>
        <p:spPr>
          <a:xfrm>
            <a:off x="467544" y="1248702"/>
            <a:ext cx="6120680" cy="685800"/>
          </a:xfrm>
          <a:prstGeom prst="rect">
            <a:avLst/>
          </a:prstGeom>
        </p:spPr>
        <p:txBody>
          <a:bodyPr vert="horz" lIns="91440" tIns="45720" rIns="91440" bIns="45720" rtlCol="0">
            <a:normAutofit fontScale="92500"/>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zh-CN" altLang="en-US"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解法</a:t>
            </a:r>
            <a:r>
              <a:rPr kumimoji="0" lang="en-US" altLang="zh-CN"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2</a:t>
            </a:r>
            <a:r>
              <a:rPr kumimoji="0" lang="zh-CN" altLang="en-US"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a:t>
            </a:r>
            <a:r>
              <a:rPr lang="zh-CN" altLang="en-US" sz="2800" dirty="0">
                <a:solidFill>
                  <a:srgbClr val="000000"/>
                </a:solidFill>
                <a:latin typeface="微软雅黑" pitchFamily="34" charset="-122"/>
                <a:ea typeface="微软雅黑" pitchFamily="34" charset="-122"/>
              </a:rPr>
              <a:t>由</a:t>
            </a:r>
            <a:r>
              <a:rPr kumimoji="0" lang="zh-CN" altLang="en-US"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孤立系熵增原理</a:t>
            </a:r>
            <a:r>
              <a:rPr kumimoji="0" lang="en-US" altLang="zh-CN"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 </a:t>
            </a:r>
            <a:r>
              <a:rPr kumimoji="0" lang="zh-CN" altLang="en-US"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可逆循环</a:t>
            </a:r>
            <a:r>
              <a:rPr kumimoji="0" lang="en-US" altLang="zh-CN"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 </a:t>
            </a:r>
            <a:r>
              <a:rPr kumimoji="0" lang="zh-CN" altLang="en-US" sz="2800" i="0" u="none" strike="noStrike" kern="1200" cap="none" spc="0" normalizeH="0" baseline="0" noProof="0" dirty="0">
                <a:ln>
                  <a:noFill/>
                </a:ln>
                <a:solidFill>
                  <a:srgbClr val="000000"/>
                </a:solidFill>
                <a:effectLst/>
                <a:uLnTx/>
                <a:uFillTx/>
                <a:latin typeface="微软雅黑" pitchFamily="34" charset="-122"/>
                <a:ea typeface="微软雅黑" pitchFamily="34" charset="-122"/>
              </a:rPr>
              <a:t>有</a:t>
            </a:r>
          </a:p>
        </p:txBody>
      </p:sp>
      <p:graphicFrame>
        <p:nvGraphicFramePr>
          <p:cNvPr id="5" name="Object 6"/>
          <p:cNvGraphicFramePr>
            <a:graphicFrameLocks noGrp="1" noChangeAspect="1"/>
          </p:cNvGraphicFramePr>
          <p:nvPr>
            <p:ph sz="quarter" idx="4294967295"/>
            <p:extLst>
              <p:ext uri="{D42A27DB-BD31-4B8C-83A1-F6EECF244321}">
                <p14:modId xmlns:p14="http://schemas.microsoft.com/office/powerpoint/2010/main" val="2398224970"/>
              </p:ext>
            </p:extLst>
          </p:nvPr>
        </p:nvGraphicFramePr>
        <p:xfrm>
          <a:off x="2524141" y="1850236"/>
          <a:ext cx="3488019" cy="926175"/>
        </p:xfrm>
        <a:graphic>
          <a:graphicData uri="http://schemas.openxmlformats.org/presentationml/2006/ole">
            <mc:AlternateContent xmlns:mc="http://schemas.openxmlformats.org/markup-compatibility/2006">
              <mc:Choice xmlns:v="urn:schemas-microsoft-com:vml" Requires="v">
                <p:oleObj spid="_x0000_s63752" name="公式" r:id="rId3" imgW="1625600" imgH="431800" progId="Equation.3">
                  <p:embed/>
                </p:oleObj>
              </mc:Choice>
              <mc:Fallback>
                <p:oleObj name="公式" r:id="rId3" imgW="1625600" imgH="431800" progId="Equation.3">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24141" y="1850236"/>
                        <a:ext cx="3488019" cy="926175"/>
                      </a:xfrm>
                      <a:prstGeom prst="rect">
                        <a:avLst/>
                      </a:prstGeom>
                      <a:noFill/>
                    </p:spPr>
                  </p:pic>
                </p:oleObj>
              </mc:Fallback>
            </mc:AlternateContent>
          </a:graphicData>
        </a:graphic>
      </p:graphicFrame>
      <p:sp>
        <p:nvSpPr>
          <p:cNvPr id="6" name="Rectangle 4"/>
          <p:cNvSpPr>
            <a:spLocks noChangeArrowheads="1"/>
          </p:cNvSpPr>
          <p:nvPr/>
        </p:nvSpPr>
        <p:spPr bwMode="auto">
          <a:xfrm>
            <a:off x="671530" y="5357826"/>
            <a:ext cx="6400800" cy="670120"/>
          </a:xfrm>
          <a:prstGeom prst="rect">
            <a:avLst/>
          </a:prstGeom>
          <a:noFill/>
          <a:ln w="9525">
            <a:noFill/>
            <a:miter lim="800000"/>
            <a:headEnd/>
            <a:tailEnd/>
          </a:ln>
          <a:effectLst/>
        </p:spPr>
        <p:txBody>
          <a:bodyPr>
            <a:spAutoFit/>
          </a:bodyPr>
          <a:lstStyle/>
          <a:p>
            <a:pPr>
              <a:lnSpc>
                <a:spcPct val="130000"/>
              </a:lnSpc>
            </a:pPr>
            <a:r>
              <a:rPr lang="zh-CN" altLang="en-US" sz="3200" dirty="0">
                <a:solidFill>
                  <a:srgbClr val="0070C0"/>
                </a:solidFill>
                <a:latin typeface="微软雅黑" pitchFamily="34" charset="-122"/>
                <a:ea typeface="微软雅黑" pitchFamily="34" charset="-122"/>
              </a:rPr>
              <a:t>作业：</a:t>
            </a:r>
            <a:r>
              <a:rPr lang="en-US" altLang="zh-CN" sz="3200" dirty="0">
                <a:solidFill>
                  <a:srgbClr val="0070C0"/>
                </a:solidFill>
                <a:latin typeface="微软雅黑" pitchFamily="34" charset="-122"/>
                <a:ea typeface="微软雅黑" pitchFamily="34" charset="-122"/>
              </a:rPr>
              <a:t>4.3</a:t>
            </a:r>
            <a:r>
              <a:rPr lang="zh-CN" altLang="en-US" sz="3200" dirty="0">
                <a:solidFill>
                  <a:srgbClr val="0070C0"/>
                </a:solidFill>
                <a:latin typeface="微软雅黑" pitchFamily="34" charset="-122"/>
                <a:ea typeface="微软雅黑" pitchFamily="34" charset="-122"/>
              </a:rPr>
              <a:t>，</a:t>
            </a:r>
            <a:r>
              <a:rPr lang="en-US" altLang="zh-CN" sz="3200" dirty="0">
                <a:solidFill>
                  <a:srgbClr val="0070C0"/>
                </a:solidFill>
                <a:latin typeface="微软雅黑" pitchFamily="34" charset="-122"/>
                <a:ea typeface="微软雅黑" pitchFamily="34" charset="-122"/>
              </a:rPr>
              <a:t>4.6</a:t>
            </a:r>
            <a:r>
              <a:rPr lang="zh-CN" altLang="en-US" sz="3200" dirty="0">
                <a:solidFill>
                  <a:srgbClr val="0070C0"/>
                </a:solidFill>
                <a:latin typeface="微软雅黑" pitchFamily="34" charset="-122"/>
                <a:ea typeface="微软雅黑" pitchFamily="34" charset="-122"/>
              </a:rPr>
              <a:t>，</a:t>
            </a:r>
            <a:r>
              <a:rPr lang="en-US" altLang="zh-CN" sz="3200" dirty="0">
                <a:solidFill>
                  <a:srgbClr val="0070C0"/>
                </a:solidFill>
                <a:latin typeface="微软雅黑" pitchFamily="34" charset="-122"/>
                <a:ea typeface="微软雅黑" pitchFamily="34" charset="-122"/>
              </a:rPr>
              <a:t>4.10           </a:t>
            </a:r>
          </a:p>
        </p:txBody>
      </p:sp>
      <p:sp>
        <p:nvSpPr>
          <p:cNvPr id="7" name="Rectangle 9"/>
          <p:cNvSpPr>
            <a:spLocks noChangeArrowheads="1"/>
          </p:cNvSpPr>
          <p:nvPr/>
        </p:nvSpPr>
        <p:spPr bwMode="auto">
          <a:xfrm>
            <a:off x="666776" y="2905780"/>
            <a:ext cx="7001568" cy="523220"/>
          </a:xfrm>
          <a:prstGeom prst="rect">
            <a:avLst/>
          </a:prstGeom>
          <a:noFill/>
          <a:ln w="9525">
            <a:noFill/>
            <a:miter lim="800000"/>
            <a:headEnd/>
            <a:tailEnd/>
          </a:ln>
          <a:effectLst/>
        </p:spPr>
        <p:txBody>
          <a:bodyPr wrap="square">
            <a:spAutoFit/>
          </a:bodyPr>
          <a:lstStyle/>
          <a:p>
            <a:r>
              <a:rPr lang="zh-CN" altLang="en-US" sz="2800" dirty="0">
                <a:solidFill>
                  <a:srgbClr val="000000"/>
                </a:solidFill>
                <a:latin typeface="微软雅黑" pitchFamily="34" charset="-122"/>
                <a:ea typeface="微软雅黑" pitchFamily="34" charset="-122"/>
              </a:rPr>
              <a:t>可求出 </a:t>
            </a:r>
            <a:r>
              <a:rPr lang="en-US" altLang="zh-CN" sz="2800" i="1" dirty="0">
                <a:solidFill>
                  <a:srgbClr val="000000"/>
                </a:solidFill>
                <a:latin typeface="Times New Roman" pitchFamily="18" charset="0"/>
              </a:rPr>
              <a:t>Q</a:t>
            </a:r>
            <a:r>
              <a:rPr lang="en-US" altLang="zh-CN" sz="2800" baseline="-25000" dirty="0">
                <a:solidFill>
                  <a:srgbClr val="000000"/>
                </a:solidFill>
                <a:latin typeface="Times New Roman" pitchFamily="18" charset="0"/>
              </a:rPr>
              <a:t>1 </a:t>
            </a:r>
            <a:r>
              <a:rPr lang="en-US" altLang="zh-CN" sz="2800" dirty="0">
                <a:solidFill>
                  <a:srgbClr val="000000"/>
                </a:solidFill>
                <a:latin typeface="微软雅黑" pitchFamily="34" charset="-122"/>
                <a:ea typeface="微软雅黑" pitchFamily="34" charset="-122"/>
              </a:rPr>
              <a:t>,  </a:t>
            </a:r>
            <a:r>
              <a:rPr lang="zh-CN" altLang="en-US" sz="2800" dirty="0">
                <a:solidFill>
                  <a:srgbClr val="000000"/>
                </a:solidFill>
                <a:latin typeface="微软雅黑" pitchFamily="34" charset="-122"/>
                <a:ea typeface="微软雅黑" pitchFamily="34" charset="-122"/>
              </a:rPr>
              <a:t>然后再利用下面的公式求出 </a:t>
            </a:r>
            <a:r>
              <a:rPr lang="en-US" altLang="zh-CN" sz="2800" i="1" dirty="0">
                <a:solidFill>
                  <a:srgbClr val="000000"/>
                </a:solidFill>
                <a:latin typeface="Times New Roman" pitchFamily="18" charset="0"/>
              </a:rPr>
              <a:t>Q</a:t>
            </a:r>
            <a:r>
              <a:rPr lang="en-US" altLang="zh-CN" sz="2800" baseline="-25000" dirty="0">
                <a:solidFill>
                  <a:srgbClr val="000000"/>
                </a:solidFill>
              </a:rPr>
              <a:t>2</a:t>
            </a:r>
          </a:p>
        </p:txBody>
      </p:sp>
      <p:graphicFrame>
        <p:nvGraphicFramePr>
          <p:cNvPr id="8" name="Object 13"/>
          <p:cNvGraphicFramePr>
            <a:graphicFrameLocks noGrp="1" noChangeAspect="1"/>
          </p:cNvGraphicFramePr>
          <p:nvPr>
            <p:ph sz="quarter" idx="4294967295"/>
            <p:extLst>
              <p:ext uri="{D42A27DB-BD31-4B8C-83A1-F6EECF244321}">
                <p14:modId xmlns:p14="http://schemas.microsoft.com/office/powerpoint/2010/main" val="622672994"/>
              </p:ext>
            </p:extLst>
          </p:nvPr>
        </p:nvGraphicFramePr>
        <p:xfrm>
          <a:off x="3059833" y="3612182"/>
          <a:ext cx="2304256" cy="483717"/>
        </p:xfrm>
        <a:graphic>
          <a:graphicData uri="http://schemas.openxmlformats.org/presentationml/2006/ole">
            <mc:AlternateContent xmlns:mc="http://schemas.openxmlformats.org/markup-compatibility/2006">
              <mc:Choice xmlns:v="urn:schemas-microsoft-com:vml" Requires="v">
                <p:oleObj spid="_x0000_s63753" name="公式" r:id="rId5" imgW="1028254" imgH="215806" progId="Equation.3">
                  <p:embed/>
                </p:oleObj>
              </mc:Choice>
              <mc:Fallback>
                <p:oleObj name="公式" r:id="rId5" imgW="1028254" imgH="215806"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833" y="3612182"/>
                        <a:ext cx="2304256" cy="483717"/>
                      </a:xfrm>
                      <a:prstGeom prst="rect">
                        <a:avLst/>
                      </a:prstGeom>
                      <a:noFill/>
                      <a:ln>
                        <a:noFill/>
                      </a:ln>
                    </p:spPr>
                  </p:pic>
                </p:oleObj>
              </mc:Fallback>
            </mc:AlternateContent>
          </a:graphicData>
        </a:graphic>
      </p:graphicFrame>
      <p:graphicFrame>
        <p:nvGraphicFramePr>
          <p:cNvPr id="9" name="Object 16"/>
          <p:cNvGraphicFramePr>
            <a:graphicFrameLocks noChangeAspect="1"/>
          </p:cNvGraphicFramePr>
          <p:nvPr>
            <p:extLst>
              <p:ext uri="{D42A27DB-BD31-4B8C-83A1-F6EECF244321}">
                <p14:modId xmlns:p14="http://schemas.microsoft.com/office/powerpoint/2010/main" val="1360302559"/>
              </p:ext>
            </p:extLst>
          </p:nvPr>
        </p:nvGraphicFramePr>
        <p:xfrm>
          <a:off x="3203848" y="4433344"/>
          <a:ext cx="1728192" cy="494455"/>
        </p:xfrm>
        <a:graphic>
          <a:graphicData uri="http://schemas.openxmlformats.org/presentationml/2006/ole">
            <mc:AlternateContent xmlns:mc="http://schemas.openxmlformats.org/markup-compatibility/2006">
              <mc:Choice xmlns:v="urn:schemas-microsoft-com:vml" Requires="v">
                <p:oleObj spid="_x0000_s63754" name="公式" r:id="rId7" imgW="800100" imgH="228600" progId="Equation.3">
                  <p:embed/>
                </p:oleObj>
              </mc:Choice>
              <mc:Fallback>
                <p:oleObj name="公式" r:id="rId7" imgW="800100" imgH="228600"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848" y="4433344"/>
                        <a:ext cx="1728192" cy="494455"/>
                      </a:xfrm>
                      <a:prstGeom prst="rect">
                        <a:avLst/>
                      </a:prstGeom>
                      <a:noFill/>
                    </p:spPr>
                  </p:pic>
                </p:oleObj>
              </mc:Fallback>
            </mc:AlternateContent>
          </a:graphicData>
        </a:graphic>
      </p:graphicFrame>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36</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dissolv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406" y="1143000"/>
            <a:ext cx="5572132" cy="523220"/>
          </a:xfrm>
          <a:prstGeom prst="rect">
            <a:avLst/>
          </a:prstGeom>
          <a:noFill/>
        </p:spPr>
        <p:txBody>
          <a:bodyPr wrap="square">
            <a:spAutoFit/>
          </a:bodyPr>
          <a:lstStyle/>
          <a:p>
            <a:pPr>
              <a:defRPr/>
            </a:pPr>
            <a:r>
              <a:rPr lang="en-US" altLang="zh-CN" sz="2800" b="1" dirty="0">
                <a:solidFill>
                  <a:schemeClr val="accent1">
                    <a:lumMod val="75000"/>
                  </a:schemeClr>
                </a:solidFill>
                <a:latin typeface="微软雅黑" pitchFamily="34" charset="-122"/>
                <a:ea typeface="微软雅黑" pitchFamily="34" charset="-122"/>
                <a:cs typeface="Times New Roman" pitchFamily="18" charset="0"/>
              </a:rPr>
              <a:t>4-4  </a:t>
            </a:r>
            <a:r>
              <a:rPr lang="zh-CN" altLang="en-US" sz="2800" b="1" dirty="0">
                <a:solidFill>
                  <a:schemeClr val="accent1">
                    <a:lumMod val="75000"/>
                  </a:schemeClr>
                </a:solidFill>
                <a:latin typeface="微软雅黑" pitchFamily="34" charset="-122"/>
                <a:ea typeface="微软雅黑" pitchFamily="34" charset="-122"/>
                <a:cs typeface="Times New Roman" pitchFamily="18" charset="0"/>
              </a:rPr>
              <a:t>做功能力和做功能力损失</a:t>
            </a:r>
          </a:p>
        </p:txBody>
      </p:sp>
      <p:sp>
        <p:nvSpPr>
          <p:cNvPr id="4" name="TextBox 37"/>
          <p:cNvSpPr txBox="1">
            <a:spLocks noChangeArrowheads="1"/>
          </p:cNvSpPr>
          <p:nvPr/>
        </p:nvSpPr>
        <p:spPr bwMode="auto">
          <a:xfrm>
            <a:off x="770061" y="1825660"/>
            <a:ext cx="3945955"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工质的做功能力</a:t>
            </a:r>
            <a:r>
              <a:rPr lang="en-US" altLang="zh-CN" sz="2800" b="1" dirty="0">
                <a:solidFill>
                  <a:srgbClr val="C00000"/>
                </a:solidFill>
                <a:latin typeface="微软雅黑" pitchFamily="34" charset="-122"/>
                <a:ea typeface="微软雅黑" pitchFamily="34" charset="-122"/>
              </a:rPr>
              <a:t>(</a:t>
            </a:r>
            <a:r>
              <a:rPr lang="zh-CN" altLang="en-US" sz="2800" b="1" dirty="0">
                <a:solidFill>
                  <a:srgbClr val="C00000"/>
                </a:solidFill>
                <a:latin typeface="微软雅黑" pitchFamily="34" charset="-122"/>
                <a:ea typeface="微软雅黑" pitchFamily="34" charset="-122"/>
              </a:rPr>
              <a:t>㶲</a:t>
            </a:r>
            <a:r>
              <a:rPr lang="en-US" altLang="zh-CN" sz="2800" b="1" i="1" dirty="0">
                <a:solidFill>
                  <a:srgbClr val="C00000"/>
                </a:solidFill>
                <a:latin typeface="Times New Roman" panose="02020603050405020304" pitchFamily="18" charset="0"/>
                <a:ea typeface="微软雅黑" pitchFamily="34" charset="-122"/>
                <a:cs typeface="Times New Roman" panose="02020603050405020304" pitchFamily="18" charset="0"/>
              </a:rPr>
              <a:t>E</a:t>
            </a:r>
            <a:r>
              <a:rPr lang="en-US" altLang="zh-CN" sz="2800" b="1" baseline="-20000" dirty="0">
                <a:solidFill>
                  <a:srgbClr val="C00000"/>
                </a:solidFill>
                <a:latin typeface="Times New Roman" panose="02020603050405020304" pitchFamily="18" charset="0"/>
                <a:ea typeface="微软雅黑" pitchFamily="34" charset="-122"/>
                <a:cs typeface="Times New Roman" panose="02020603050405020304" pitchFamily="18" charset="0"/>
              </a:rPr>
              <a:t>X</a:t>
            </a:r>
            <a:r>
              <a:rPr lang="zh-CN" altLang="en-US" sz="2800" b="1" dirty="0">
                <a:solidFill>
                  <a:srgbClr val="C00000"/>
                </a:solidFill>
                <a:latin typeface="微软雅黑" pitchFamily="34" charset="-122"/>
                <a:ea typeface="微软雅黑" pitchFamily="34" charset="-122"/>
              </a:rPr>
              <a:t>）</a:t>
            </a:r>
          </a:p>
        </p:txBody>
      </p:sp>
      <p:sp>
        <p:nvSpPr>
          <p:cNvPr id="5" name="矩形 4"/>
          <p:cNvSpPr/>
          <p:nvPr/>
        </p:nvSpPr>
        <p:spPr>
          <a:xfrm>
            <a:off x="108297" y="1839129"/>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1.</a:t>
            </a:r>
            <a:endParaRPr lang="zh-CN" altLang="en-US" sz="2800" i="1" dirty="0">
              <a:solidFill>
                <a:srgbClr val="C00000"/>
              </a:solidFill>
              <a:latin typeface="Bernard MT Condensed"/>
            </a:endParaRPr>
          </a:p>
        </p:txBody>
      </p:sp>
      <p:sp>
        <p:nvSpPr>
          <p:cNvPr id="6" name="Rectangle 3"/>
          <p:cNvSpPr txBox="1">
            <a:spLocks noChangeArrowheads="1"/>
          </p:cNvSpPr>
          <p:nvPr/>
        </p:nvSpPr>
        <p:spPr>
          <a:xfrm>
            <a:off x="571472" y="2348880"/>
            <a:ext cx="8072494" cy="1872208"/>
          </a:xfrm>
          <a:prstGeom prst="rect">
            <a:avLst/>
          </a:prstGeom>
        </p:spPr>
        <p:txBody>
          <a:bodyPr vert="horz" lIns="91440" tIns="45720" rIns="91440" bIns="45720" rtlCol="0">
            <a:noAutofit/>
          </a:bodyPr>
          <a:lstStyle>
            <a:defPPr>
              <a:defRPr lang="zh-CN"/>
            </a:defPPr>
            <a:lvl1pPr>
              <a:lnSpc>
                <a:spcPct val="150000"/>
              </a:lnSpc>
              <a:buFont typeface="Wingdings" pitchFamily="2" charset="2"/>
              <a:buChar char="Ø"/>
              <a:defRPr sz="2800">
                <a:solidFill>
                  <a:srgbClr val="FF0000"/>
                </a:solidFill>
                <a:latin typeface="微软雅黑" pitchFamily="34" charset="-122"/>
                <a:ea typeface="微软雅黑" pitchFamily="34" charset="-122"/>
                <a:cs typeface="Times New Roman" pitchFamily="18" charset="0"/>
              </a:defRPr>
            </a:lvl1pPr>
          </a:lstStyle>
          <a:p>
            <a:pPr>
              <a:buNone/>
            </a:pPr>
            <a:r>
              <a:rPr lang="zh-CN" altLang="en-US" sz="2600" dirty="0">
                <a:solidFill>
                  <a:schemeClr val="tx1"/>
                </a:solidFill>
              </a:rPr>
              <a:t>热力系统所处的状态只要与环境状态不平衡，系统就有过渡到与环境平衡的趋势。在这个变化过程中，系统与环境之间具有一定的做功能力。例如</a:t>
            </a:r>
            <a:r>
              <a:rPr lang="en-US" altLang="zh-CN" sz="2600" dirty="0">
                <a:solidFill>
                  <a:schemeClr val="tx1"/>
                </a:solidFill>
              </a:rPr>
              <a:t>: </a:t>
            </a:r>
          </a:p>
        </p:txBody>
      </p:sp>
      <p:sp>
        <p:nvSpPr>
          <p:cNvPr id="7" name="Rectangle 3"/>
          <p:cNvSpPr txBox="1">
            <a:spLocks noChangeArrowheads="1"/>
          </p:cNvSpPr>
          <p:nvPr/>
        </p:nvSpPr>
        <p:spPr>
          <a:xfrm>
            <a:off x="571472" y="4149080"/>
            <a:ext cx="8143932" cy="1947066"/>
          </a:xfrm>
          <a:prstGeom prst="rect">
            <a:avLst/>
          </a:prstGeom>
        </p:spPr>
        <p:txBody>
          <a:bodyPr vert="horz" lIns="91440" tIns="45720" rIns="91440" bIns="45720" rtlCol="0">
            <a:normAutofit fontScale="92500"/>
          </a:bodyPr>
          <a:lstStyle/>
          <a:p>
            <a:pPr>
              <a:lnSpc>
                <a:spcPct val="150000"/>
              </a:lnSpc>
              <a:buFont typeface="Wingdings" pitchFamily="2" charset="2"/>
              <a:buChar char="Ø"/>
              <a:defRPr/>
            </a:pPr>
            <a:r>
              <a:rPr lang="zh-CN" altLang="en-US" sz="2800" dirty="0">
                <a:latin typeface="微软雅黑" pitchFamily="34" charset="-122"/>
                <a:ea typeface="微软雅黑" pitchFamily="34" charset="-122"/>
                <a:cs typeface="Times New Roman" pitchFamily="18" charset="0"/>
              </a:rPr>
              <a:t>  高压气体可利用气体与环境介质的压差膨胀做功；</a:t>
            </a:r>
            <a:endParaRPr lang="en-US" altLang="zh-CN" sz="2800" dirty="0">
              <a:latin typeface="微软雅黑" pitchFamily="34" charset="-122"/>
              <a:ea typeface="微软雅黑" pitchFamily="34" charset="-122"/>
              <a:cs typeface="Times New Roman" pitchFamily="18" charset="0"/>
            </a:endParaRPr>
          </a:p>
          <a:p>
            <a:pPr>
              <a:lnSpc>
                <a:spcPct val="150000"/>
              </a:lnSpc>
              <a:buFont typeface="Wingdings" pitchFamily="2" charset="2"/>
              <a:buChar char="Ø"/>
              <a:defRPr/>
            </a:pPr>
            <a:r>
              <a:rPr lang="zh-CN" altLang="en-US" sz="2800" dirty="0">
                <a:latin typeface="微软雅黑" pitchFamily="34" charset="-122"/>
                <a:ea typeface="微软雅黑" pitchFamily="34" charset="-122"/>
                <a:cs typeface="Times New Roman" pitchFamily="18" charset="0"/>
              </a:rPr>
              <a:t>  高于环境温度的热量可以部分转变为功。由卡诺循环和卡诺定理知，可逆循环将热变为功的能力最大。 </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37</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533400" y="1124744"/>
            <a:ext cx="8042275" cy="4918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defRPr/>
            </a:pPr>
            <a:r>
              <a:rPr lang="zh-CN" altLang="en-US" sz="2800" b="1" dirty="0">
                <a:latin typeface="微软雅黑" pitchFamily="34" charset="-122"/>
                <a:ea typeface="微软雅黑" pitchFamily="34" charset="-122"/>
                <a:cs typeface="Times New Roman" pitchFamily="18" charset="0"/>
              </a:rPr>
              <a:t>定义</a:t>
            </a:r>
            <a:r>
              <a:rPr lang="en-US" altLang="zh-CN" sz="2800" b="1" dirty="0">
                <a:latin typeface="微软雅黑" pitchFamily="34" charset="-122"/>
                <a:ea typeface="微软雅黑" pitchFamily="34" charset="-122"/>
              </a:rPr>
              <a:t>:</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工质</a:t>
            </a:r>
            <a:r>
              <a:rPr lang="zh-CN" altLang="en-US" sz="2800" dirty="0">
                <a:solidFill>
                  <a:srgbClr val="9933FF"/>
                </a:solidFill>
                <a:latin typeface="微软雅黑" pitchFamily="34" charset="-122"/>
                <a:ea typeface="微软雅黑" pitchFamily="34" charset="-122"/>
              </a:rPr>
              <a:t>可逆地过渡到环境状态</a:t>
            </a:r>
            <a:r>
              <a:rPr lang="zh-CN" altLang="en-US" sz="2800" dirty="0">
                <a:latin typeface="微软雅黑" pitchFamily="34" charset="-122"/>
                <a:ea typeface="微软雅黑" pitchFamily="34" charset="-122"/>
              </a:rPr>
              <a:t>时所能做出的最大有用功 </a:t>
            </a:r>
            <a:r>
              <a:rPr lang="en-US" altLang="zh-CN" sz="2800" b="1" i="1" dirty="0">
                <a:latin typeface="Times New Roman" pitchFamily="18" charset="0"/>
              </a:rPr>
              <a:t>W</a:t>
            </a:r>
            <a:r>
              <a:rPr lang="en-US" altLang="zh-CN" b="1" dirty="0">
                <a:latin typeface="Times New Roman" pitchFamily="18" charset="0"/>
              </a:rPr>
              <a:t>e, max </a:t>
            </a:r>
            <a:r>
              <a:rPr lang="zh-CN" altLang="en-US" sz="2800" dirty="0">
                <a:latin typeface="微软雅黑" pitchFamily="34" charset="-122"/>
                <a:ea typeface="微软雅黑" pitchFamily="34" charset="-122"/>
              </a:rPr>
              <a:t>称为</a:t>
            </a:r>
            <a:r>
              <a:rPr lang="zh-CN" altLang="en-US" sz="2800" dirty="0">
                <a:solidFill>
                  <a:srgbClr val="FF0000"/>
                </a:solidFill>
                <a:latin typeface="微软雅黑" pitchFamily="34" charset="-122"/>
                <a:ea typeface="微软雅黑" pitchFamily="34" charset="-122"/>
                <a:cs typeface="Times New Roman" pitchFamily="18" charset="0"/>
              </a:rPr>
              <a:t>做功能力</a:t>
            </a:r>
            <a:r>
              <a:rPr lang="zh-CN" altLang="en-US" sz="2800" dirty="0"/>
              <a:t>。</a:t>
            </a:r>
            <a:r>
              <a:rPr lang="zh-CN" altLang="en-US" sz="2800" dirty="0">
                <a:latin typeface="微软雅黑" pitchFamily="34" charset="-122"/>
                <a:ea typeface="微软雅黑" pitchFamily="34" charset="-122"/>
              </a:rPr>
              <a:t>又称㶲、有效能或可用能。 </a:t>
            </a:r>
          </a:p>
          <a:p>
            <a:pPr>
              <a:lnSpc>
                <a:spcPct val="140000"/>
              </a:lnSpc>
              <a:defRPr/>
            </a:pPr>
            <a:r>
              <a:rPr lang="zh-CN" altLang="en-US" sz="2800" dirty="0">
                <a:solidFill>
                  <a:srgbClr val="4B3EEE"/>
                </a:solidFill>
                <a:latin typeface="微软雅黑" pitchFamily="34" charset="-122"/>
                <a:ea typeface="微软雅黑" pitchFamily="34" charset="-122"/>
              </a:rPr>
              <a:t>能量中不能转变为有用功的另外一部分能量则称为</a:t>
            </a:r>
            <a:r>
              <a:rPr lang="zh-CN" altLang="en-US" sz="2300" kern="300" spc="-600" dirty="0">
                <a:solidFill>
                  <a:srgbClr val="4B3EEE"/>
                </a:solidFill>
                <a:latin typeface="微软雅黑" pitchFamily="34" charset="-122"/>
                <a:ea typeface="微软雅黑" pitchFamily="34" charset="-122"/>
              </a:rPr>
              <a:t>火无         </a:t>
            </a:r>
            <a:r>
              <a:rPr lang="zh-CN" altLang="en-US" sz="2800" dirty="0">
                <a:solidFill>
                  <a:srgbClr val="4B3EEE"/>
                </a:solidFill>
                <a:latin typeface="微软雅黑" pitchFamily="34" charset="-122"/>
                <a:ea typeface="微软雅黑" pitchFamily="34" charset="-122"/>
              </a:rPr>
              <a:t>、无效能或不可用能。</a:t>
            </a:r>
          </a:p>
          <a:p>
            <a:pPr>
              <a:lnSpc>
                <a:spcPct val="140000"/>
              </a:lnSpc>
              <a:defRPr/>
            </a:pPr>
            <a:r>
              <a:rPr lang="zh-CN" altLang="en-US" sz="2800" dirty="0">
                <a:latin typeface="微软雅黑" pitchFamily="34" charset="-122"/>
                <a:ea typeface="微软雅黑" pitchFamily="34" charset="-122"/>
              </a:rPr>
              <a:t>任何一种形式的能量</a:t>
            </a:r>
            <a:r>
              <a:rPr lang="zh-CN" altLang="en-US" sz="1100" dirty="0">
                <a:latin typeface="微软雅黑" pitchFamily="34" charset="-122"/>
                <a:ea typeface="微软雅黑" pitchFamily="34" charset="-122"/>
              </a:rPr>
              <a:t> </a:t>
            </a:r>
            <a:r>
              <a:rPr lang="en-US" altLang="zh-CN" sz="2800" b="1" i="1" dirty="0">
                <a:latin typeface="Times New Roman" pitchFamily="18" charset="0"/>
              </a:rPr>
              <a:t>E </a:t>
            </a:r>
            <a:r>
              <a:rPr lang="zh-CN" altLang="en-US" sz="2800" dirty="0">
                <a:latin typeface="微软雅黑" pitchFamily="34" charset="-122"/>
                <a:ea typeface="微软雅黑" pitchFamily="34" charset="-122"/>
              </a:rPr>
              <a:t>都可以看作是由㶲</a:t>
            </a:r>
            <a:r>
              <a:rPr lang="zh-CN" altLang="en-US" sz="1200" dirty="0">
                <a:latin typeface="微软雅黑" pitchFamily="34" charset="-122"/>
                <a:ea typeface="微软雅黑" pitchFamily="34" charset="-122"/>
              </a:rPr>
              <a:t> </a:t>
            </a:r>
            <a:r>
              <a:rPr lang="en-US" altLang="zh-CN" sz="2800" b="1" i="1" dirty="0">
                <a:latin typeface="Times New Roman" pitchFamily="18" charset="0"/>
              </a:rPr>
              <a:t>E</a:t>
            </a:r>
            <a:r>
              <a:rPr lang="en-US" altLang="zh-CN" b="1" dirty="0">
                <a:latin typeface="Times New Roman" pitchFamily="18" charset="0"/>
              </a:rPr>
              <a:t>x</a:t>
            </a:r>
            <a:r>
              <a:rPr lang="en-US" altLang="zh-CN" dirty="0">
                <a:latin typeface="Times New Roman" pitchFamily="18" charset="0"/>
              </a:rPr>
              <a:t> </a:t>
            </a:r>
            <a:r>
              <a:rPr lang="zh-CN" altLang="en-US" sz="2800" dirty="0">
                <a:latin typeface="微软雅黑" pitchFamily="34" charset="-122"/>
                <a:ea typeface="微软雅黑" pitchFamily="34" charset="-122"/>
              </a:rPr>
              <a:t>和</a:t>
            </a:r>
            <a:r>
              <a:rPr lang="zh-CN" altLang="en-US" sz="2300" kern="300" spc="-600" dirty="0">
                <a:latin typeface="微软雅黑" pitchFamily="34" charset="-122"/>
                <a:ea typeface="微软雅黑" pitchFamily="34" charset="-122"/>
              </a:rPr>
              <a:t>火无</a:t>
            </a:r>
            <a:r>
              <a:rPr lang="zh-CN" altLang="en-US" sz="2300" kern="300" spc="-600" dirty="0">
                <a:solidFill>
                  <a:srgbClr val="4B3EEE"/>
                </a:solidFill>
                <a:latin typeface="微软雅黑" pitchFamily="34" charset="-122"/>
                <a:ea typeface="微软雅黑" pitchFamily="34" charset="-122"/>
              </a:rPr>
              <a:t>          </a:t>
            </a:r>
            <a:r>
              <a:rPr lang="en-US" altLang="zh-CN" sz="2800" b="1" i="1" dirty="0">
                <a:latin typeface="Times New Roman" pitchFamily="18" charset="0"/>
              </a:rPr>
              <a:t>A</a:t>
            </a:r>
            <a:r>
              <a:rPr lang="en-US" altLang="zh-CN" b="1" dirty="0">
                <a:latin typeface="Times New Roman" pitchFamily="18" charset="0"/>
              </a:rPr>
              <a:t>n</a:t>
            </a:r>
            <a:r>
              <a:rPr lang="zh-CN" altLang="en-US" sz="2800" dirty="0">
                <a:latin typeface="微软雅黑" pitchFamily="34" charset="-122"/>
                <a:ea typeface="微软雅黑" pitchFamily="34" charset="-122"/>
              </a:rPr>
              <a:t>（有效能和无效能）所组成，即</a:t>
            </a:r>
            <a:r>
              <a:rPr lang="zh-CN" altLang="en-US" sz="2800" dirty="0"/>
              <a:t> </a:t>
            </a:r>
          </a:p>
          <a:p>
            <a:pPr algn="ctr">
              <a:lnSpc>
                <a:spcPct val="140000"/>
              </a:lnSpc>
              <a:defRPr/>
            </a:pPr>
            <a:r>
              <a:rPr lang="zh-CN" altLang="en-US" sz="2800" dirty="0"/>
              <a:t> </a:t>
            </a:r>
            <a:r>
              <a:rPr lang="en-US" altLang="zh-CN" sz="2800" b="1" i="1" dirty="0">
                <a:latin typeface="Times New Roman" pitchFamily="18" charset="0"/>
              </a:rPr>
              <a:t>E = E</a:t>
            </a:r>
            <a:r>
              <a:rPr lang="en-US" altLang="zh-CN" b="1" dirty="0">
                <a:latin typeface="Times New Roman" pitchFamily="18" charset="0"/>
              </a:rPr>
              <a:t>x</a:t>
            </a:r>
            <a:r>
              <a:rPr lang="zh-CN" altLang="en-US" sz="2800" b="1" dirty="0">
                <a:latin typeface="Times New Roman" pitchFamily="18" charset="0"/>
              </a:rPr>
              <a:t>＋ </a:t>
            </a:r>
            <a:r>
              <a:rPr lang="en-US" altLang="zh-CN" sz="2800" b="1" i="1" dirty="0">
                <a:latin typeface="Times New Roman" pitchFamily="18" charset="0"/>
              </a:rPr>
              <a:t>A</a:t>
            </a:r>
            <a:r>
              <a:rPr lang="en-US" altLang="zh-CN" b="1" dirty="0">
                <a:latin typeface="Times New Roman" pitchFamily="18" charset="0"/>
              </a:rPr>
              <a:t>n</a:t>
            </a:r>
            <a:r>
              <a:rPr lang="en-US" altLang="zh-CN" sz="2800" b="1" dirty="0"/>
              <a:t> </a:t>
            </a:r>
          </a:p>
        </p:txBody>
      </p:sp>
      <p:sp>
        <p:nvSpPr>
          <p:cNvPr id="4" name="矩形 3"/>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38</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Effect transition="in" filter="blinds(horizontal)">
                                      <p:cBhvr>
                                        <p:cTn id="11" dur="500"/>
                                        <p:tgtEl>
                                          <p:spTgt spid="3">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box(in)">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8"/>
          <p:cNvSpPr>
            <a:spLocks noChangeArrowheads="1"/>
          </p:cNvSpPr>
          <p:nvPr/>
        </p:nvSpPr>
        <p:spPr bwMode="auto">
          <a:xfrm>
            <a:off x="390794" y="2420888"/>
            <a:ext cx="8153400" cy="1955215"/>
          </a:xfrm>
          <a:prstGeom prst="rect">
            <a:avLst/>
          </a:prstGeom>
          <a:ln/>
        </p:spPr>
        <p:style>
          <a:lnRef idx="1">
            <a:schemeClr val="accent3"/>
          </a:lnRef>
          <a:fillRef idx="2">
            <a:schemeClr val="accent3"/>
          </a:fillRef>
          <a:effectRef idx="1">
            <a:schemeClr val="accent3"/>
          </a:effectRef>
          <a:fontRef idx="minor">
            <a:schemeClr val="dk1"/>
          </a:fontRef>
        </p:style>
        <p:txBody>
          <a:bodyPr anchor="ctr">
            <a:spAutoFit/>
          </a:bodyPr>
          <a:lstStyle/>
          <a:p>
            <a:pPr algn="just">
              <a:lnSpc>
                <a:spcPct val="150000"/>
              </a:lnSpc>
              <a:defRPr/>
            </a:pPr>
            <a:r>
              <a:rPr lang="zh-CN" altLang="en-US" sz="2800" dirty="0">
                <a:solidFill>
                  <a:srgbClr val="0070C0"/>
                </a:solidFill>
                <a:latin typeface="微软雅黑" pitchFamily="34" charset="-122"/>
                <a:ea typeface="微软雅黑" pitchFamily="34" charset="-122"/>
              </a:rPr>
              <a:t>对于给定的环境压力和环境温度，做功能力（㶲）的大小仅与系统工质的初始状态有关。而同样的能量相对于不同的环境状态，其做功能力不同。</a:t>
            </a:r>
          </a:p>
        </p:txBody>
      </p:sp>
      <p:sp>
        <p:nvSpPr>
          <p:cNvPr id="4" name="Rectangle 9"/>
          <p:cNvSpPr>
            <a:spLocks noChangeArrowheads="1"/>
          </p:cNvSpPr>
          <p:nvPr/>
        </p:nvSpPr>
        <p:spPr bwMode="auto">
          <a:xfrm>
            <a:off x="390794" y="1267859"/>
            <a:ext cx="6734204" cy="609398"/>
          </a:xfrm>
          <a:prstGeom prst="rect">
            <a:avLst/>
          </a:prstGeom>
          <a:noFill/>
          <a:ln w="9525">
            <a:noFill/>
            <a:miter lim="800000"/>
            <a:headEnd/>
            <a:tailEnd/>
          </a:ln>
          <a:effectLst/>
        </p:spPr>
        <p:txBody>
          <a:bodyPr wrap="square">
            <a:spAutoFit/>
          </a:bodyPr>
          <a:lstStyle/>
          <a:p>
            <a:pPr>
              <a:lnSpc>
                <a:spcPct val="120000"/>
              </a:lnSpc>
            </a:pPr>
            <a:r>
              <a:rPr lang="zh-CN" altLang="en-US" sz="2800" dirty="0">
                <a:latin typeface="微软雅黑" pitchFamily="34" charset="-122"/>
                <a:ea typeface="微软雅黑" pitchFamily="34" charset="-122"/>
              </a:rPr>
              <a:t> 对</a:t>
            </a:r>
            <a:r>
              <a:rPr lang="en-US" altLang="zh-CN" sz="2800" dirty="0">
                <a:latin typeface="Times New Roman" pitchFamily="18" charset="0"/>
              </a:rPr>
              <a:t>1kg</a:t>
            </a:r>
            <a:r>
              <a:rPr lang="zh-CN" altLang="en-US" sz="2800" dirty="0">
                <a:latin typeface="微软雅黑" pitchFamily="34" charset="-122"/>
                <a:ea typeface="微软雅黑" pitchFamily="34" charset="-122"/>
              </a:rPr>
              <a:t>工质，有</a:t>
            </a:r>
            <a:r>
              <a:rPr lang="zh-CN" altLang="en-US" sz="2800" i="1" dirty="0"/>
              <a:t>  </a:t>
            </a:r>
          </a:p>
        </p:txBody>
      </p:sp>
      <p:sp>
        <p:nvSpPr>
          <p:cNvPr id="5" name="矩形 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39</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390794" y="4581128"/>
            <a:ext cx="8153400" cy="1384995"/>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just">
              <a:lnSpc>
                <a:spcPct val="150000"/>
              </a:lnSpc>
              <a:defRPr/>
            </a:pPr>
            <a:r>
              <a:rPr lang="zh-CN" altLang="en-US" sz="2800" dirty="0">
                <a:solidFill>
                  <a:srgbClr val="0070C0"/>
                </a:solidFill>
                <a:latin typeface="微软雅黑" pitchFamily="34" charset="-122"/>
                <a:ea typeface="微软雅黑" pitchFamily="34" charset="-122"/>
              </a:rPr>
              <a:t>相对于环境的势差越大，能量的品质越高，做功能力（㶲）也就越大。</a:t>
            </a:r>
          </a:p>
        </p:txBody>
      </p:sp>
      <p:graphicFrame>
        <p:nvGraphicFramePr>
          <p:cNvPr id="7" name="对象 6"/>
          <p:cNvGraphicFramePr>
            <a:graphicFrameLocks noChangeAspect="1"/>
          </p:cNvGraphicFramePr>
          <p:nvPr>
            <p:extLst>
              <p:ext uri="{D42A27DB-BD31-4B8C-83A1-F6EECF244321}">
                <p14:modId xmlns:p14="http://schemas.microsoft.com/office/powerpoint/2010/main" val="2711555585"/>
              </p:ext>
            </p:extLst>
          </p:nvPr>
        </p:nvGraphicFramePr>
        <p:xfrm>
          <a:off x="3221307" y="1772816"/>
          <a:ext cx="1900644" cy="619548"/>
        </p:xfrm>
        <a:graphic>
          <a:graphicData uri="http://schemas.openxmlformats.org/presentationml/2006/ole">
            <mc:AlternateContent xmlns:mc="http://schemas.openxmlformats.org/markup-compatibility/2006">
              <mc:Choice xmlns:v="urn:schemas-microsoft-com:vml" Requires="v">
                <p:oleObj spid="_x0000_s104489" name="公式" r:id="rId3" imgW="583920" imgH="190440" progId="Equation.3">
                  <p:embed/>
                </p:oleObj>
              </mc:Choice>
              <mc:Fallback>
                <p:oleObj name="公式" r:id="rId3" imgW="583920" imgH="190440" progId="Equation.3">
                  <p:embed/>
                  <p:pic>
                    <p:nvPicPr>
                      <p:cNvPr id="0" name="Object 16"/>
                      <p:cNvPicPr>
                        <a:picLocks noChangeAspect="1" noChangeArrowheads="1"/>
                      </p:cNvPicPr>
                      <p:nvPr/>
                    </p:nvPicPr>
                    <p:blipFill>
                      <a:blip r:embed="rId4"/>
                      <a:srcRect/>
                      <a:stretch>
                        <a:fillRect/>
                      </a:stretch>
                    </p:blipFill>
                    <p:spPr bwMode="auto">
                      <a:xfrm>
                        <a:off x="3221307" y="1772816"/>
                        <a:ext cx="1900644" cy="619548"/>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444068" y="3629923"/>
            <a:ext cx="8223448" cy="2031325"/>
          </a:xfrm>
          <a:prstGeom prst="rect">
            <a:avLst/>
          </a:prstGeom>
          <a:ln/>
        </p:spPr>
        <p:style>
          <a:lnRef idx="1">
            <a:schemeClr val="accent6"/>
          </a:lnRef>
          <a:fillRef idx="2">
            <a:schemeClr val="accent6"/>
          </a:fillRef>
          <a:effectRef idx="1">
            <a:schemeClr val="accent6"/>
          </a:effectRef>
          <a:fontRef idx="minor">
            <a:schemeClr val="dk1"/>
          </a:fontRef>
        </p:style>
        <p:txBody>
          <a:bodyPr wrap="square" anchor="ctr">
            <a:spAutoFit/>
          </a:bodyPr>
          <a:lstStyle/>
          <a:p>
            <a:pPr>
              <a:lnSpc>
                <a:spcPct val="150000"/>
              </a:lnSpc>
              <a:defRPr/>
            </a:pPr>
            <a:r>
              <a:rPr lang="zh-CN" altLang="en-US" sz="2800" dirty="0">
                <a:latin typeface="微软雅黑" pitchFamily="34" charset="-122"/>
                <a:ea typeface="微软雅黑" pitchFamily="34" charset="-122"/>
              </a:rPr>
              <a:t>闭口系统从任一给定状态可逆地过渡到环境状态，并只与环境交换热量时，所能做出的最大有用功称为闭口系统的做功能力，又称热力学能㶲。</a:t>
            </a:r>
          </a:p>
        </p:txBody>
      </p:sp>
      <p:sp>
        <p:nvSpPr>
          <p:cNvPr id="4" name="Rectangle 3"/>
          <p:cNvSpPr txBox="1">
            <a:spLocks noChangeArrowheads="1"/>
          </p:cNvSpPr>
          <p:nvPr/>
        </p:nvSpPr>
        <p:spPr>
          <a:xfrm>
            <a:off x="395536" y="2845887"/>
            <a:ext cx="7776864" cy="642942"/>
          </a:xfrm>
          <a:prstGeom prst="rect">
            <a:avLst/>
          </a:prstGeom>
        </p:spPr>
        <p:txBody>
          <a:bodyPr vert="horz" lIns="91440" tIns="45720" rIns="91440" bIns="45720" rtlCol="0">
            <a:normAutofit/>
          </a:bodyPr>
          <a:lstStyle/>
          <a:p>
            <a:pPr algn="just">
              <a:lnSpc>
                <a:spcPct val="120000"/>
              </a:lnSpc>
              <a:defRPr/>
            </a:pPr>
            <a:r>
              <a:rPr lang="en-US" altLang="zh-CN" sz="2800" dirty="0">
                <a:solidFill>
                  <a:srgbClr val="4B3EEE"/>
                </a:solidFill>
                <a:latin typeface="微软雅黑" pitchFamily="34" charset="-122"/>
                <a:ea typeface="微软雅黑" pitchFamily="34" charset="-122"/>
              </a:rPr>
              <a:t>(1)  </a:t>
            </a:r>
            <a:r>
              <a:rPr lang="zh-CN" altLang="en-US" sz="2800" dirty="0">
                <a:solidFill>
                  <a:srgbClr val="4B3EEE"/>
                </a:solidFill>
                <a:latin typeface="微软雅黑" pitchFamily="34" charset="-122"/>
                <a:ea typeface="微软雅黑" pitchFamily="34" charset="-122"/>
              </a:rPr>
              <a:t>闭口系统工质的做功能力</a:t>
            </a:r>
            <a:r>
              <a:rPr lang="zh-CN" altLang="en-US" sz="2800" dirty="0">
                <a:solidFill>
                  <a:prstClr val="black"/>
                </a:solidFill>
                <a:latin typeface="微软雅黑" pitchFamily="34" charset="-122"/>
                <a:ea typeface="微软雅黑" pitchFamily="34" charset="-122"/>
              </a:rPr>
              <a:t>（热力学能㶲</a:t>
            </a:r>
            <a:r>
              <a:rPr lang="en-US" altLang="zh-CN" sz="2800" b="1" i="1" dirty="0" err="1">
                <a:solidFill>
                  <a:prstClr val="black"/>
                </a:solidFill>
                <a:latin typeface="Times New Roman" pitchFamily="18" charset="0"/>
              </a:rPr>
              <a:t>E</a:t>
            </a:r>
            <a:r>
              <a:rPr lang="en-US" altLang="zh-CN" sz="2800" b="1" baseline="-25000" dirty="0" err="1">
                <a:solidFill>
                  <a:prstClr val="black"/>
                </a:solidFill>
                <a:latin typeface="Times New Roman" pitchFamily="18" charset="0"/>
              </a:rPr>
              <a:t>x,U</a:t>
            </a:r>
            <a:r>
              <a:rPr lang="en-US" altLang="zh-CN" sz="2800" dirty="0">
                <a:solidFill>
                  <a:prstClr val="black"/>
                </a:solidFill>
                <a:latin typeface="微软雅黑" panose="020B0503020204020204" pitchFamily="34" charset="-122"/>
                <a:ea typeface="微软雅黑" panose="020B0503020204020204" pitchFamily="34" charset="-122"/>
              </a:rPr>
              <a:t>)</a:t>
            </a:r>
            <a:endParaRPr lang="zh-CN" altLang="en-US" sz="2800" dirty="0">
              <a:solidFill>
                <a:srgbClr val="4B3EEE"/>
              </a:solidFill>
              <a:latin typeface="微软雅黑" pitchFamily="34" charset="-122"/>
              <a:ea typeface="微软雅黑" pitchFamily="34" charset="-122"/>
            </a:endParaRPr>
          </a:p>
        </p:txBody>
      </p:sp>
      <p:sp>
        <p:nvSpPr>
          <p:cNvPr id="5" name="Rectangle 3"/>
          <p:cNvSpPr txBox="1">
            <a:spLocks noChangeArrowheads="1"/>
          </p:cNvSpPr>
          <p:nvPr/>
        </p:nvSpPr>
        <p:spPr>
          <a:xfrm>
            <a:off x="428596" y="1124744"/>
            <a:ext cx="8142792" cy="1435030"/>
          </a:xfrm>
          <a:prstGeom prst="rect">
            <a:avLst/>
          </a:prstGeom>
        </p:spPr>
        <p:txBody>
          <a:bodyPr vert="horz" lIns="91440" tIns="45720" rIns="91440" bIns="45720" rtlCol="0">
            <a:noAutofit/>
          </a:bodyPr>
          <a:lstStyle/>
          <a:p>
            <a:pPr algn="just">
              <a:lnSpc>
                <a:spcPct val="170000"/>
              </a:lnSpc>
              <a:defRPr/>
            </a:pPr>
            <a:r>
              <a:rPr lang="zh-CN" altLang="en-US" sz="2800" dirty="0">
                <a:solidFill>
                  <a:srgbClr val="0070C0"/>
                </a:solidFill>
                <a:latin typeface="微软雅黑" pitchFamily="34" charset="-122"/>
                <a:ea typeface="微软雅黑" pitchFamily="34" charset="-122"/>
              </a:rPr>
              <a:t>根据不同的能量形式</a:t>
            </a:r>
            <a:r>
              <a:rPr lang="en-US" altLang="zh-CN" sz="2800" dirty="0">
                <a:solidFill>
                  <a:srgbClr val="0070C0"/>
                </a:solidFill>
                <a:latin typeface="微软雅黑" pitchFamily="34" charset="-122"/>
                <a:ea typeface="微软雅黑" pitchFamily="34" charset="-122"/>
              </a:rPr>
              <a:t>,  </a:t>
            </a:r>
            <a:r>
              <a:rPr lang="zh-CN" altLang="en-US" sz="2800" dirty="0">
                <a:solidFill>
                  <a:srgbClr val="0070C0"/>
                </a:solidFill>
                <a:latin typeface="微软雅黑" pitchFamily="34" charset="-122"/>
                <a:ea typeface="微软雅黑" pitchFamily="34" charset="-122"/>
              </a:rPr>
              <a:t>做功能力（㶲）也有不同的形式，本课程主要研究以下三种：</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40</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a:xfrm>
            <a:off x="4355977" y="1340768"/>
            <a:ext cx="4248472" cy="4550516"/>
          </a:xfrm>
          <a:prstGeom prst="rect">
            <a:avLst/>
          </a:prstGeom>
        </p:spPr>
        <p:txBody>
          <a:bodyPr vert="horz" lIns="91440" tIns="45720" rIns="91440" bIns="45720" rtlCol="0">
            <a:noAutofit/>
          </a:bodyPr>
          <a:lstStyle/>
          <a:p>
            <a:pPr lvl="0">
              <a:lnSpc>
                <a:spcPct val="150000"/>
              </a:lnSpc>
              <a:defRPr/>
            </a:pPr>
            <a:r>
              <a:rPr kumimoji="0" lang="zh-CN" altLang="en-US" sz="2400" i="0" u="none" strike="noStrike" kern="1200" cap="none" spc="0" normalizeH="0" baseline="0" noProof="0" dirty="0">
                <a:ln>
                  <a:noFill/>
                </a:ln>
                <a:solidFill>
                  <a:schemeClr val="tx1"/>
                </a:solidFill>
                <a:effectLst/>
                <a:uLnTx/>
                <a:uFillTx/>
                <a:latin typeface="微软雅黑" pitchFamily="34" charset="-122"/>
                <a:ea typeface="微软雅黑" pitchFamily="34" charset="-122"/>
              </a:rPr>
              <a:t>系统的过程只能为</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1-</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a</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-0 </a:t>
            </a:r>
            <a:r>
              <a:rPr kumimoji="0" lang="zh-CN" altLang="en-US" sz="2400" i="0" u="none" strike="noStrike" kern="1200" cap="none" spc="0" normalizeH="0" baseline="0" noProof="0" dirty="0">
                <a:ln>
                  <a:noFill/>
                </a:ln>
                <a:solidFill>
                  <a:schemeClr val="tx1"/>
                </a:solidFill>
                <a:effectLst/>
                <a:uLnTx/>
                <a:uFillTx/>
                <a:latin typeface="微软雅黑" pitchFamily="34" charset="-122"/>
                <a:ea typeface="微软雅黑" pitchFamily="34" charset="-122"/>
              </a:rPr>
              <a:t>过程，其中</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1-</a:t>
            </a:r>
            <a:r>
              <a:rPr kumimoji="0" lang="en-US" altLang="zh-CN" sz="2400" b="1" i="1"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a</a:t>
            </a:r>
            <a:r>
              <a:rPr kumimoji="0" lang="zh-CN" altLang="en-US" sz="2400" i="0" u="none" strike="noStrike" kern="1200" cap="none" spc="0" normalizeH="0" baseline="0" noProof="0" dirty="0">
                <a:ln>
                  <a:noFill/>
                </a:ln>
                <a:solidFill>
                  <a:schemeClr val="tx1"/>
                </a:solidFill>
                <a:effectLst/>
                <a:uLnTx/>
                <a:uFillTx/>
                <a:latin typeface="微软雅黑" pitchFamily="34" charset="-122"/>
                <a:ea typeface="微软雅黑" pitchFamily="34" charset="-122"/>
              </a:rPr>
              <a:t>工质从状态</a:t>
            </a:r>
            <a:r>
              <a:rPr kumimoji="0" lang="en-US"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微软雅黑" pitchFamily="34" charset="-122"/>
                <a:cs typeface="Times New Roman" panose="02020603050405020304" pitchFamily="18" charset="0"/>
              </a:rPr>
              <a:t>1</a:t>
            </a:r>
            <a:r>
              <a:rPr kumimoji="0" lang="zh-CN" altLang="en-US" sz="2400" i="0" u="none" strike="noStrike" kern="1200" cap="none" spc="0" normalizeH="0" baseline="0" noProof="0" dirty="0">
                <a:ln>
                  <a:noFill/>
                </a:ln>
                <a:solidFill>
                  <a:schemeClr val="tx1"/>
                </a:solidFill>
                <a:effectLst/>
                <a:uLnTx/>
                <a:uFillTx/>
                <a:latin typeface="微软雅黑" pitchFamily="34" charset="-122"/>
                <a:ea typeface="微软雅黑" pitchFamily="34" charset="-122"/>
              </a:rPr>
              <a:t>（</a:t>
            </a:r>
            <a:r>
              <a:rPr kumimoji="0" lang="en-US" altLang="zh-CN" sz="2400" b="1" i="1" u="none" strike="noStrike" kern="1200" cap="none" spc="0" normalizeH="0" baseline="0" noProof="0" dirty="0">
                <a:ln>
                  <a:noFill/>
                </a:ln>
                <a:solidFill>
                  <a:schemeClr val="tx1"/>
                </a:solidFill>
                <a:effectLst/>
                <a:uLnTx/>
                <a:uFillTx/>
                <a:latin typeface="Times New Roman" pitchFamily="18" charset="0"/>
              </a:rPr>
              <a:t>p</a:t>
            </a:r>
            <a:r>
              <a:rPr kumimoji="0" lang="en-US" altLang="zh-CN" sz="2400" b="1" i="0" u="none" strike="noStrike" kern="1200" cap="none" spc="0" normalizeH="0" baseline="-25000" noProof="0" dirty="0">
                <a:ln>
                  <a:noFill/>
                </a:ln>
                <a:solidFill>
                  <a:schemeClr val="tx1"/>
                </a:solidFill>
                <a:effectLst/>
                <a:uLnTx/>
                <a:uFillTx/>
                <a:latin typeface="Times New Roman" pitchFamily="18" charset="0"/>
              </a:rPr>
              <a:t>1</a:t>
            </a:r>
            <a:r>
              <a:rPr kumimoji="0" lang="zh-CN" altLang="en-US" sz="2400" b="1" i="0" u="none" strike="noStrike" kern="1200" cap="none" spc="0" normalizeH="0" baseline="0" noProof="0" dirty="0">
                <a:ln>
                  <a:noFill/>
                </a:ln>
                <a:solidFill>
                  <a:schemeClr val="tx1"/>
                </a:solidFill>
                <a:effectLst/>
                <a:uLnTx/>
                <a:uFillTx/>
                <a:latin typeface="Times New Roman" pitchFamily="18" charset="0"/>
              </a:rPr>
              <a:t>、</a:t>
            </a:r>
            <a:r>
              <a:rPr kumimoji="0" lang="en-US" altLang="zh-CN" sz="2400" b="1" i="1" u="none" strike="noStrike" kern="1200" cap="none" spc="0" normalizeH="0" baseline="0" noProof="0" dirty="0">
                <a:ln>
                  <a:noFill/>
                </a:ln>
                <a:solidFill>
                  <a:schemeClr val="tx1"/>
                </a:solidFill>
                <a:effectLst/>
                <a:uLnTx/>
                <a:uFillTx/>
                <a:latin typeface="Times New Roman" pitchFamily="18" charset="0"/>
              </a:rPr>
              <a:t>T</a:t>
            </a:r>
            <a:r>
              <a:rPr kumimoji="0" lang="en-US" altLang="zh-CN" sz="2400" b="1" i="0" u="none" strike="noStrike" kern="1200" cap="none" spc="0" normalizeH="0" baseline="-25000" noProof="0" dirty="0">
                <a:ln>
                  <a:noFill/>
                </a:ln>
                <a:solidFill>
                  <a:schemeClr val="tx1"/>
                </a:solidFill>
                <a:effectLst/>
                <a:uLnTx/>
                <a:uFillTx/>
                <a:latin typeface="Times New Roman" pitchFamily="18" charset="0"/>
              </a:rPr>
              <a:t>1</a:t>
            </a:r>
            <a:r>
              <a:rPr lang="zh-CN" altLang="en-US" sz="2400" dirty="0">
                <a:latin typeface="微软雅黑" pitchFamily="34" charset="-122"/>
                <a:ea typeface="微软雅黑" pitchFamily="34" charset="-122"/>
              </a:rPr>
              <a:t>）定熵膨胀到状态 </a:t>
            </a:r>
            <a:r>
              <a:rPr kumimoji="0" lang="en-US" altLang="zh-CN" sz="2400" b="1" i="1" u="none" strike="noStrike" kern="1200" cap="none" spc="0" normalizeH="0" baseline="0" noProof="0" dirty="0">
                <a:ln>
                  <a:noFill/>
                </a:ln>
                <a:solidFill>
                  <a:schemeClr val="tx1"/>
                </a:solidFill>
                <a:effectLst/>
                <a:uLnTx/>
                <a:uFillTx/>
                <a:latin typeface="Times New Roman"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itchFamily="18" charset="0"/>
              </a:rPr>
              <a:t>（</a:t>
            </a:r>
            <a:r>
              <a:rPr kumimoji="0" lang="en-US" altLang="zh-CN" sz="2400" b="1" i="1" u="none" strike="noStrike" kern="1200" cap="none" spc="0" normalizeH="0" baseline="0" noProof="0" dirty="0">
                <a:ln>
                  <a:noFill/>
                </a:ln>
                <a:solidFill>
                  <a:schemeClr val="tx1"/>
                </a:solidFill>
                <a:effectLst/>
                <a:uLnTx/>
                <a:uFillTx/>
                <a:latin typeface="Times New Roman" pitchFamily="18" charset="0"/>
              </a:rPr>
              <a:t>p</a:t>
            </a:r>
            <a:r>
              <a:rPr kumimoji="0" lang="en-US" altLang="zh-CN" sz="2400" b="1" i="1" u="none" strike="noStrike" kern="1200" cap="none" spc="0" normalizeH="0" baseline="-25000" noProof="0" dirty="0">
                <a:ln>
                  <a:noFill/>
                </a:ln>
                <a:solidFill>
                  <a:schemeClr val="tx1"/>
                </a:solidFill>
                <a:effectLst/>
                <a:uLnTx/>
                <a:uFillTx/>
                <a:latin typeface="Times New Roman" pitchFamily="18" charset="0"/>
              </a:rPr>
              <a:t>a</a:t>
            </a:r>
            <a:r>
              <a:rPr kumimoji="0" lang="zh-CN" altLang="en-US" sz="2400" b="1" i="0" u="none" strike="noStrike" kern="1200" cap="none" spc="0" normalizeH="0" baseline="0" noProof="0" dirty="0">
                <a:ln>
                  <a:noFill/>
                </a:ln>
                <a:solidFill>
                  <a:schemeClr val="tx1"/>
                </a:solidFill>
                <a:effectLst/>
                <a:uLnTx/>
                <a:uFillTx/>
                <a:latin typeface="Times New Roman" pitchFamily="18" charset="0"/>
              </a:rPr>
              <a:t>、</a:t>
            </a:r>
            <a:r>
              <a:rPr kumimoji="0" lang="en-US" altLang="zh-CN" sz="2400" b="1" i="1" u="none" strike="noStrike" kern="1200" cap="none" spc="0" normalizeH="0" baseline="0" noProof="0" dirty="0">
                <a:ln>
                  <a:noFill/>
                </a:ln>
                <a:solidFill>
                  <a:schemeClr val="tx1"/>
                </a:solidFill>
                <a:effectLst/>
                <a:uLnTx/>
                <a:uFillTx/>
                <a:latin typeface="Times New Roman" pitchFamily="18" charset="0"/>
              </a:rPr>
              <a:t>T</a:t>
            </a:r>
            <a:r>
              <a:rPr kumimoji="0" lang="en-US" altLang="zh-CN" sz="2400" b="1" i="0" u="none" strike="noStrike" kern="1200" cap="none" spc="0" normalizeH="0" baseline="-25000" noProof="0" dirty="0">
                <a:ln>
                  <a:noFill/>
                </a:ln>
                <a:solidFill>
                  <a:schemeClr val="tx1"/>
                </a:solidFill>
                <a:effectLst/>
                <a:uLnTx/>
                <a:uFillTx/>
                <a:latin typeface="Times New Roman" pitchFamily="18" charset="0"/>
              </a:rPr>
              <a:t>0</a:t>
            </a:r>
            <a:r>
              <a:rPr kumimoji="0" lang="zh-CN" altLang="en-US" sz="2400" b="1" i="0" u="none" strike="noStrike" kern="1200" cap="none" spc="0" normalizeH="0" baseline="0" noProof="0" dirty="0">
                <a:ln>
                  <a:noFill/>
                </a:ln>
                <a:solidFill>
                  <a:schemeClr val="tx1"/>
                </a:solidFill>
                <a:effectLst/>
                <a:uLnTx/>
                <a:uFillTx/>
                <a:latin typeface="Times New Roman" pitchFamily="18" charset="0"/>
              </a:rPr>
              <a:t>）</a:t>
            </a:r>
            <a:r>
              <a:rPr kumimoji="0" lang="zh-CN" altLang="en-US" sz="2400" i="0" u="none" strike="noStrike" kern="1200" cap="none" spc="0" normalizeH="0" baseline="0" noProof="0" dirty="0">
                <a:ln>
                  <a:noFill/>
                </a:ln>
                <a:solidFill>
                  <a:schemeClr val="tx1"/>
                </a:solidFill>
                <a:effectLst/>
                <a:uLnTx/>
                <a:uFillTx/>
                <a:latin typeface="Times New Roman" pitchFamily="18" charset="0"/>
              </a:rPr>
              <a:t>；</a:t>
            </a:r>
            <a:endParaRPr kumimoji="0" lang="en-US" altLang="zh-CN" sz="2400" i="0" u="none" strike="noStrike" kern="1200" cap="none" spc="0" normalizeH="0" baseline="0" noProof="0" dirty="0">
              <a:ln>
                <a:noFill/>
              </a:ln>
              <a:solidFill>
                <a:schemeClr val="tx1"/>
              </a:solidFill>
              <a:effectLst/>
              <a:uLnTx/>
              <a:uFillTx/>
              <a:latin typeface="Times New Roman" pitchFamily="18" charset="0"/>
            </a:endParaRPr>
          </a:p>
          <a:p>
            <a:pPr lvl="0">
              <a:lnSpc>
                <a:spcPct val="150000"/>
              </a:lnSpc>
              <a:spcBef>
                <a:spcPts val="600"/>
              </a:spcBef>
              <a:defRPr/>
            </a:pPr>
            <a:r>
              <a:rPr kumimoji="0" lang="en-US" altLang="zh-CN" sz="2400" i="1" u="none" strike="noStrike" kern="1200" cap="none" spc="0" normalizeH="0" baseline="0" noProof="0" dirty="0">
                <a:ln>
                  <a:noFill/>
                </a:ln>
                <a:solidFill>
                  <a:srgbClr val="C00000"/>
                </a:solidFill>
                <a:effectLst/>
                <a:uLnTx/>
                <a:uFillTx/>
                <a:latin typeface="Times New Roman" pitchFamily="18" charset="0"/>
              </a:rPr>
              <a:t>a</a:t>
            </a:r>
            <a:r>
              <a:rPr kumimoji="0" lang="en-US" altLang="zh-CN" sz="2400" i="0" u="none" strike="noStrike" kern="1200" cap="none" spc="0" normalizeH="0" baseline="0" noProof="0" dirty="0">
                <a:ln>
                  <a:noFill/>
                </a:ln>
                <a:solidFill>
                  <a:srgbClr val="C00000"/>
                </a:solidFill>
                <a:effectLst/>
                <a:uLnTx/>
                <a:uFillTx/>
                <a:latin typeface="Times New Roman" pitchFamily="18" charset="0"/>
              </a:rPr>
              <a:t>-0 </a:t>
            </a:r>
            <a:r>
              <a:rPr kumimoji="0" lang="zh-CN" altLang="en-US" sz="2400" i="0" u="none" strike="noStrike" kern="1200" cap="none" spc="0" normalizeH="0" baseline="0" noProof="0" dirty="0">
                <a:ln>
                  <a:noFill/>
                </a:ln>
                <a:solidFill>
                  <a:srgbClr val="C00000"/>
                </a:solidFill>
                <a:effectLst/>
                <a:uLnTx/>
                <a:uFillTx/>
                <a:latin typeface="微软雅黑" pitchFamily="34" charset="-122"/>
                <a:ea typeface="微软雅黑" pitchFamily="34" charset="-122"/>
              </a:rPr>
              <a:t>工质从状态 </a:t>
            </a:r>
            <a:r>
              <a:rPr kumimoji="0" lang="en-US" altLang="zh-CN" sz="2400" i="1" u="none" strike="noStrike" kern="1200" cap="none" spc="0" normalizeH="0" baseline="0" noProof="0" dirty="0">
                <a:ln>
                  <a:noFill/>
                </a:ln>
                <a:solidFill>
                  <a:srgbClr val="C00000"/>
                </a:solidFill>
                <a:effectLst/>
                <a:uLnTx/>
                <a:uFillTx/>
                <a:latin typeface="Times New Roman" pitchFamily="18" charset="0"/>
              </a:rPr>
              <a:t>a</a:t>
            </a:r>
            <a:r>
              <a:rPr kumimoji="0" lang="en-US" altLang="zh-CN" sz="2400" i="1" u="none" strike="noStrike" kern="1200" cap="none" spc="0" normalizeH="0" baseline="0" noProof="0" dirty="0">
                <a:ln>
                  <a:noFill/>
                </a:ln>
                <a:solidFill>
                  <a:srgbClr val="C00000"/>
                </a:solidFill>
                <a:effectLst/>
                <a:uLnTx/>
                <a:uFillTx/>
              </a:rPr>
              <a:t> </a:t>
            </a:r>
            <a:r>
              <a:rPr lang="zh-CN" altLang="en-US" sz="2400" dirty="0">
                <a:solidFill>
                  <a:srgbClr val="C00000"/>
                </a:solidFill>
                <a:latin typeface="微软雅黑" pitchFamily="34" charset="-122"/>
                <a:ea typeface="微软雅黑" pitchFamily="34" charset="-122"/>
              </a:rPr>
              <a:t>继续可逆定温膨胀到环境状态（</a:t>
            </a:r>
            <a:r>
              <a:rPr kumimoji="0" lang="en-US" altLang="zh-CN" sz="2400" i="1" u="none" strike="noStrike" kern="1200" cap="none" spc="0" normalizeH="0" baseline="0" noProof="0" dirty="0">
                <a:ln>
                  <a:noFill/>
                </a:ln>
                <a:solidFill>
                  <a:srgbClr val="C00000"/>
                </a:solidFill>
                <a:effectLst/>
                <a:uLnTx/>
                <a:uFillTx/>
                <a:latin typeface="Times New Roman" pitchFamily="18" charset="0"/>
              </a:rPr>
              <a:t>p</a:t>
            </a:r>
            <a:r>
              <a:rPr kumimoji="0" lang="en-US" altLang="zh-CN" sz="2400" i="0" u="none" strike="noStrike" kern="1200" cap="none" spc="0" normalizeH="0" baseline="-25000" noProof="0" dirty="0">
                <a:ln>
                  <a:noFill/>
                </a:ln>
                <a:solidFill>
                  <a:srgbClr val="C00000"/>
                </a:solidFill>
                <a:effectLst/>
                <a:uLnTx/>
                <a:uFillTx/>
                <a:latin typeface="Times New Roman" pitchFamily="18" charset="0"/>
              </a:rPr>
              <a:t>0</a:t>
            </a:r>
            <a:r>
              <a:rPr kumimoji="0" lang="zh-CN" altLang="en-US" sz="2400" i="0" u="none" strike="noStrike" kern="1200" cap="none" spc="0" normalizeH="0" baseline="0" noProof="0" dirty="0">
                <a:ln>
                  <a:noFill/>
                </a:ln>
                <a:solidFill>
                  <a:srgbClr val="C00000"/>
                </a:solidFill>
                <a:effectLst/>
                <a:uLnTx/>
                <a:uFillTx/>
                <a:latin typeface="Times New Roman" pitchFamily="18" charset="0"/>
              </a:rPr>
              <a:t>、</a:t>
            </a:r>
            <a:r>
              <a:rPr kumimoji="0" lang="en-US" altLang="zh-CN" sz="2400" i="1" u="none" strike="noStrike" kern="1200" cap="none" spc="0" normalizeH="0" baseline="0" noProof="0" dirty="0">
                <a:ln>
                  <a:noFill/>
                </a:ln>
                <a:solidFill>
                  <a:srgbClr val="C00000"/>
                </a:solidFill>
                <a:effectLst/>
                <a:uLnTx/>
                <a:uFillTx/>
                <a:latin typeface="Times New Roman" pitchFamily="18" charset="0"/>
              </a:rPr>
              <a:t>T</a:t>
            </a:r>
            <a:r>
              <a:rPr kumimoji="0" lang="en-US" altLang="zh-CN" sz="2400" i="0" u="none" strike="noStrike" kern="1200" cap="none" spc="0" normalizeH="0" baseline="-25000" noProof="0" dirty="0">
                <a:ln>
                  <a:noFill/>
                </a:ln>
                <a:solidFill>
                  <a:srgbClr val="C00000"/>
                </a:solidFill>
                <a:effectLst/>
                <a:uLnTx/>
                <a:uFillTx/>
                <a:latin typeface="Times New Roman" pitchFamily="18" charset="0"/>
              </a:rPr>
              <a:t>0</a:t>
            </a:r>
            <a:r>
              <a:rPr lang="zh-CN" altLang="en-US" sz="2400" dirty="0">
                <a:solidFill>
                  <a:srgbClr val="C00000"/>
                </a:solidFill>
                <a:latin typeface="微软雅黑" pitchFamily="34" charset="-122"/>
                <a:ea typeface="微软雅黑" pitchFamily="34" charset="-122"/>
              </a:rPr>
              <a:t>）。</a:t>
            </a:r>
            <a:endParaRPr lang="en-US" altLang="zh-CN" sz="2400" dirty="0">
              <a:solidFill>
                <a:srgbClr val="C00000"/>
              </a:solidFill>
              <a:latin typeface="微软雅黑" pitchFamily="34" charset="-122"/>
              <a:ea typeface="微软雅黑" pitchFamily="34" charset="-122"/>
            </a:endParaRPr>
          </a:p>
          <a:p>
            <a:pPr lvl="0">
              <a:lnSpc>
                <a:spcPct val="150000"/>
              </a:lnSpc>
              <a:spcBef>
                <a:spcPts val="600"/>
              </a:spcBef>
              <a:defRPr/>
            </a:pPr>
            <a:r>
              <a:rPr lang="zh-CN" altLang="en-US" sz="2400" dirty="0">
                <a:latin typeface="微软雅黑" pitchFamily="34" charset="-122"/>
                <a:ea typeface="微软雅黑" pitchFamily="34" charset="-122"/>
              </a:rPr>
              <a:t>系统仅在可逆定温膨胀过程中与环境换热，换热时工质的温度即为环境温度。</a:t>
            </a:r>
          </a:p>
        </p:txBody>
      </p:sp>
      <p:pic>
        <p:nvPicPr>
          <p:cNvPr id="4" name="Picture 4" descr="0410"/>
          <p:cNvPicPr>
            <a:picLocks noChangeAspect="1" noChangeArrowheads="1"/>
          </p:cNvPicPr>
          <p:nvPr/>
        </p:nvPicPr>
        <p:blipFill>
          <a:blip r:embed="rId2"/>
          <a:srcRect/>
          <a:stretch>
            <a:fillRect/>
          </a:stretch>
        </p:blipFill>
        <p:spPr bwMode="auto">
          <a:xfrm>
            <a:off x="523871" y="1362083"/>
            <a:ext cx="3616081" cy="3487289"/>
          </a:xfrm>
          <a:prstGeom prst="rect">
            <a:avLst/>
          </a:prstGeom>
          <a:noFill/>
          <a:ln w="9525">
            <a:noFill/>
            <a:miter lim="800000"/>
            <a:headEnd/>
            <a:tailEnd/>
          </a:ln>
        </p:spPr>
      </p:pic>
      <p:sp>
        <p:nvSpPr>
          <p:cNvPr id="5" name="Rectangle 5"/>
          <p:cNvSpPr>
            <a:spLocks noChangeArrowheads="1"/>
          </p:cNvSpPr>
          <p:nvPr/>
        </p:nvSpPr>
        <p:spPr bwMode="auto">
          <a:xfrm>
            <a:off x="785786" y="5120358"/>
            <a:ext cx="2835200" cy="523220"/>
          </a:xfrm>
          <a:prstGeom prst="rect">
            <a:avLst/>
          </a:prstGeom>
          <a:noFill/>
          <a:ln w="9525">
            <a:noFill/>
            <a:miter lim="800000"/>
            <a:headEnd/>
            <a:tailEnd/>
          </a:ln>
          <a:effectLst/>
        </p:spPr>
        <p:txBody>
          <a:bodyPr wrap="none">
            <a:spAutoFit/>
          </a:bodyPr>
          <a:lstStyle/>
          <a:p>
            <a:r>
              <a:rPr lang="zh-CN" altLang="en-US" sz="2800" dirty="0">
                <a:solidFill>
                  <a:srgbClr val="0070C0"/>
                </a:solidFill>
                <a:latin typeface="微软雅黑" pitchFamily="34" charset="-122"/>
                <a:ea typeface="微软雅黑" pitchFamily="34" charset="-122"/>
              </a:rPr>
              <a:t>教材</a:t>
            </a:r>
            <a:r>
              <a:rPr lang="en-US" altLang="zh-CN" sz="2800" dirty="0">
                <a:solidFill>
                  <a:srgbClr val="0070C0"/>
                </a:solidFill>
                <a:latin typeface="微软雅黑" pitchFamily="34" charset="-122"/>
                <a:ea typeface="微软雅黑" pitchFamily="34" charset="-122"/>
              </a:rPr>
              <a:t>P.76, </a:t>
            </a:r>
            <a:r>
              <a:rPr lang="zh-CN" altLang="en-US" sz="2800" dirty="0">
                <a:solidFill>
                  <a:srgbClr val="0070C0"/>
                </a:solidFill>
                <a:latin typeface="微软雅黑" pitchFamily="34" charset="-122"/>
                <a:ea typeface="微软雅黑" pitchFamily="34" charset="-122"/>
              </a:rPr>
              <a:t>图</a:t>
            </a:r>
            <a:r>
              <a:rPr lang="en-US" altLang="zh-CN" sz="2800" dirty="0">
                <a:solidFill>
                  <a:srgbClr val="0070C0"/>
                </a:solidFill>
                <a:latin typeface="微软雅黑" pitchFamily="34" charset="-122"/>
                <a:ea typeface="微软雅黑" pitchFamily="34" charset="-122"/>
              </a:rPr>
              <a:t>4.10</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41</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467544" y="1124744"/>
            <a:ext cx="8280920" cy="738664"/>
          </a:xfrm>
          <a:prstGeom prst="rect">
            <a:avLst/>
          </a:prstGeom>
          <a:noFill/>
          <a:ln w="9525">
            <a:noFill/>
            <a:miter lim="800000"/>
            <a:headEnd/>
            <a:tailEnd/>
          </a:ln>
          <a:effectLst/>
        </p:spPr>
        <p:txBody>
          <a:bodyPr wrap="square">
            <a:spAutoFit/>
          </a:bodyPr>
          <a:lstStyle/>
          <a:p>
            <a:pPr>
              <a:lnSpc>
                <a:spcPct val="150000"/>
              </a:lnSpc>
            </a:pPr>
            <a:r>
              <a:rPr lang="en-US" altLang="zh-CN" sz="2800" dirty="0">
                <a:solidFill>
                  <a:srgbClr val="FF0000"/>
                </a:solidFill>
                <a:latin typeface="Times New Roman" pitchFamily="18" charset="0"/>
              </a:rPr>
              <a:t> </a:t>
            </a:r>
            <a:r>
              <a:rPr lang="en-US" altLang="zh-CN" sz="2800" b="1" dirty="0">
                <a:solidFill>
                  <a:srgbClr val="FF0000"/>
                </a:solidFill>
                <a:latin typeface="Times New Roman" panose="02020603050405020304" pitchFamily="18" charset="0"/>
                <a:ea typeface="微软雅黑" pitchFamily="34" charset="-122"/>
                <a:cs typeface="Times New Roman" panose="02020603050405020304" pitchFamily="18" charset="0"/>
              </a:rPr>
              <a:t>1-</a:t>
            </a:r>
            <a:r>
              <a:rPr lang="en-US" altLang="zh-CN" sz="2800" b="1" i="1" dirty="0">
                <a:solidFill>
                  <a:srgbClr val="FF0000"/>
                </a:solidFill>
                <a:latin typeface="Times New Roman" panose="02020603050405020304" pitchFamily="18" charset="0"/>
                <a:ea typeface="微软雅黑" pitchFamily="34" charset="-122"/>
                <a:cs typeface="Times New Roman" panose="02020603050405020304" pitchFamily="18" charset="0"/>
              </a:rPr>
              <a:t>a</a:t>
            </a:r>
            <a:r>
              <a:rPr lang="en-US" altLang="zh-CN" sz="2800" b="1" dirty="0">
                <a:solidFill>
                  <a:srgbClr val="FF0000"/>
                </a:solidFill>
                <a:latin typeface="Times New Roman" panose="02020603050405020304" pitchFamily="18" charset="0"/>
                <a:ea typeface="微软雅黑" pitchFamily="34" charset="-122"/>
                <a:cs typeface="Times New Roman" panose="02020603050405020304" pitchFamily="18" charset="0"/>
              </a:rPr>
              <a:t>-0 </a:t>
            </a:r>
            <a:r>
              <a:rPr lang="zh-CN" altLang="en-US" sz="2800" dirty="0">
                <a:solidFill>
                  <a:srgbClr val="FF0000"/>
                </a:solidFill>
                <a:latin typeface="微软雅黑" pitchFamily="34" charset="-122"/>
                <a:ea typeface="微软雅黑" pitchFamily="34" charset="-122"/>
              </a:rPr>
              <a:t>过程中工质的最大有用功即为系统的做功能力。</a:t>
            </a:r>
            <a:endParaRPr lang="en-US" altLang="zh-CN" sz="2800" baseline="-25000" dirty="0">
              <a:solidFill>
                <a:srgbClr val="000000"/>
              </a:solidFill>
              <a:latin typeface="微软雅黑" pitchFamily="34" charset="-122"/>
              <a:ea typeface="微软雅黑" pitchFamily="34" charset="-122"/>
            </a:endParaRPr>
          </a:p>
        </p:txBody>
      </p:sp>
      <p:sp>
        <p:nvSpPr>
          <p:cNvPr id="5" name="Rectangle 9"/>
          <p:cNvSpPr>
            <a:spLocks noChangeArrowheads="1"/>
          </p:cNvSpPr>
          <p:nvPr/>
        </p:nvSpPr>
        <p:spPr bwMode="auto">
          <a:xfrm>
            <a:off x="651197" y="1772816"/>
            <a:ext cx="7977190" cy="738664"/>
          </a:xfrm>
          <a:prstGeom prst="rect">
            <a:avLst/>
          </a:prstGeom>
          <a:noFill/>
          <a:ln w="9525">
            <a:noFill/>
            <a:miter lim="800000"/>
            <a:headEnd/>
            <a:tailEnd/>
          </a:ln>
          <a:effectLst/>
        </p:spPr>
        <p:txBody>
          <a:bodyPr wrap="square">
            <a:spAutoFit/>
          </a:bodyPr>
          <a:lstStyle/>
          <a:p>
            <a:pPr>
              <a:lnSpc>
                <a:spcPct val="150000"/>
              </a:lnSpc>
            </a:pPr>
            <a:r>
              <a:rPr lang="zh-CN" altLang="en-US" sz="2800" dirty="0">
                <a:latin typeface="微软雅黑" pitchFamily="34" charset="-122"/>
                <a:ea typeface="微软雅黑" pitchFamily="34" charset="-122"/>
              </a:rPr>
              <a:t>由闭口系能量方程，过程</a:t>
            </a:r>
            <a:r>
              <a:rPr lang="en-US" altLang="zh-CN" sz="2800" b="1" dirty="0">
                <a:solidFill>
                  <a:prstClr val="black"/>
                </a:solidFill>
                <a:latin typeface="Times New Roman" panose="02020603050405020304" pitchFamily="18" charset="0"/>
                <a:ea typeface="微软雅黑" pitchFamily="34" charset="-122"/>
                <a:cs typeface="Times New Roman" panose="02020603050405020304" pitchFamily="18" charset="0"/>
              </a:rPr>
              <a:t>1-</a:t>
            </a:r>
            <a:r>
              <a:rPr lang="en-US" altLang="zh-CN" sz="2800" b="1" i="1" dirty="0">
                <a:solidFill>
                  <a:prstClr val="black"/>
                </a:solidFill>
                <a:latin typeface="Times New Roman" panose="02020603050405020304" pitchFamily="18" charset="0"/>
                <a:ea typeface="微软雅黑" pitchFamily="34" charset="-122"/>
                <a:cs typeface="Times New Roman" panose="02020603050405020304" pitchFamily="18" charset="0"/>
              </a:rPr>
              <a:t>a</a:t>
            </a:r>
            <a:r>
              <a:rPr lang="zh-CN" altLang="en-US" sz="2800" dirty="0">
                <a:latin typeface="微软雅黑" pitchFamily="34" charset="-122"/>
                <a:ea typeface="微软雅黑" pitchFamily="34" charset="-122"/>
              </a:rPr>
              <a:t>中</a:t>
            </a:r>
            <a:r>
              <a:rPr lang="en-US" altLang="zh-CN" sz="2800" b="1" dirty="0">
                <a:latin typeface="Times New Roman" panose="02020603050405020304" pitchFamily="18" charset="0"/>
                <a:ea typeface="微软雅黑" pitchFamily="34" charset="-122"/>
                <a:cs typeface="Times New Roman" panose="02020603050405020304" pitchFamily="18" charset="0"/>
              </a:rPr>
              <a:t>1</a:t>
            </a:r>
            <a:r>
              <a:rPr lang="zh-CN" altLang="en-US" sz="600" dirty="0">
                <a:latin typeface="微软雅黑" pitchFamily="34" charset="-122"/>
                <a:ea typeface="微软雅黑" pitchFamily="34" charset="-122"/>
              </a:rPr>
              <a:t> </a:t>
            </a:r>
            <a:r>
              <a:rPr lang="en-US" altLang="zh-CN" sz="2800" b="1" dirty="0">
                <a:latin typeface="Times New Roman" panose="02020603050405020304" pitchFamily="18" charset="0"/>
                <a:ea typeface="微软雅黑" pitchFamily="34" charset="-122"/>
                <a:cs typeface="Times New Roman" panose="02020603050405020304" pitchFamily="18" charset="0"/>
              </a:rPr>
              <a:t>kg</a:t>
            </a:r>
            <a:r>
              <a:rPr lang="en-US" altLang="zh-CN" sz="1200" b="1" dirty="0">
                <a:latin typeface="Times New Roman" panose="02020603050405020304" pitchFamily="18" charset="0"/>
                <a:ea typeface="微软雅黑" pitchFamily="34" charset="-122"/>
                <a:cs typeface="Times New Roman" panose="02020603050405020304" pitchFamily="18" charset="0"/>
              </a:rPr>
              <a:t> </a:t>
            </a:r>
            <a:r>
              <a:rPr lang="zh-CN" altLang="en-US" sz="2800" dirty="0">
                <a:latin typeface="微软雅黑" pitchFamily="34" charset="-122"/>
                <a:ea typeface="微软雅黑" pitchFamily="34" charset="-122"/>
              </a:rPr>
              <a:t>工质所做功为</a:t>
            </a:r>
            <a:endParaRPr lang="en-US" altLang="zh-CN" sz="2800" baseline="-25000" dirty="0">
              <a:solidFill>
                <a:srgbClr val="000000"/>
              </a:solidFill>
              <a:latin typeface="微软雅黑" pitchFamily="34" charset="-122"/>
              <a:ea typeface="微软雅黑" pitchFamily="34" charset="-122"/>
            </a:endParaRPr>
          </a:p>
        </p:txBody>
      </p:sp>
      <p:sp>
        <p:nvSpPr>
          <p:cNvPr id="6" name="Rectangle 9"/>
          <p:cNvSpPr>
            <a:spLocks noChangeArrowheads="1"/>
          </p:cNvSpPr>
          <p:nvPr/>
        </p:nvSpPr>
        <p:spPr bwMode="auto">
          <a:xfrm>
            <a:off x="3563888" y="2503044"/>
            <a:ext cx="2376264" cy="609398"/>
          </a:xfrm>
          <a:prstGeom prst="rect">
            <a:avLst/>
          </a:prstGeom>
          <a:noFill/>
          <a:ln w="9525">
            <a:noFill/>
            <a:miter lim="800000"/>
            <a:headEnd/>
            <a:tailEnd/>
          </a:ln>
          <a:effectLst/>
        </p:spPr>
        <p:txBody>
          <a:bodyPr wrap="square">
            <a:spAutoFit/>
          </a:bodyPr>
          <a:lstStyle/>
          <a:p>
            <a:pPr>
              <a:lnSpc>
                <a:spcPct val="120000"/>
              </a:lnSpc>
            </a:pPr>
            <a:r>
              <a:rPr lang="zh-CN" altLang="en-US" sz="2800" dirty="0"/>
              <a:t> </a:t>
            </a:r>
            <a:r>
              <a:rPr lang="en-US" altLang="zh-CN" sz="2800" b="1" i="1" dirty="0">
                <a:latin typeface="Times New Roman" pitchFamily="18" charset="0"/>
              </a:rPr>
              <a:t>w</a:t>
            </a:r>
            <a:r>
              <a:rPr lang="en-US" altLang="zh-CN" sz="2800" b="1" baseline="-25000" dirty="0">
                <a:latin typeface="Times New Roman" pitchFamily="18" charset="0"/>
              </a:rPr>
              <a:t>1</a:t>
            </a:r>
            <a:r>
              <a:rPr lang="en-US" altLang="zh-CN" sz="2800" baseline="-25000" dirty="0">
                <a:latin typeface="Times New Roman" pitchFamily="18" charset="0"/>
              </a:rPr>
              <a:t>-</a:t>
            </a:r>
            <a:r>
              <a:rPr lang="en-US" altLang="zh-CN" sz="2800" b="1" i="1" baseline="-25000" dirty="0">
                <a:latin typeface="Times New Roman" pitchFamily="18" charset="0"/>
              </a:rPr>
              <a:t>a</a:t>
            </a:r>
            <a:r>
              <a:rPr lang="en-US" altLang="zh-CN" sz="2800" b="1" i="1" dirty="0">
                <a:latin typeface="Times New Roman" pitchFamily="18" charset="0"/>
              </a:rPr>
              <a:t> </a:t>
            </a:r>
            <a:r>
              <a:rPr lang="en-US" altLang="zh-CN" sz="2800" b="1" dirty="0">
                <a:latin typeface="Times New Roman" pitchFamily="18" charset="0"/>
              </a:rPr>
              <a:t>=</a:t>
            </a:r>
            <a:r>
              <a:rPr lang="en-US" altLang="zh-CN" sz="2800" b="1" i="1" dirty="0">
                <a:latin typeface="Times New Roman" pitchFamily="18" charset="0"/>
              </a:rPr>
              <a:t>u</a:t>
            </a:r>
            <a:r>
              <a:rPr lang="en-US" altLang="zh-CN" sz="2800" b="1" baseline="-25000" dirty="0">
                <a:latin typeface="Times New Roman" pitchFamily="18" charset="0"/>
              </a:rPr>
              <a:t>1</a:t>
            </a:r>
            <a:r>
              <a:rPr lang="zh-CN" altLang="en-US" sz="2000" b="1" dirty="0">
                <a:latin typeface="Times New Roman" pitchFamily="18" charset="0"/>
              </a:rPr>
              <a:t>－</a:t>
            </a:r>
            <a:r>
              <a:rPr lang="en-US" altLang="zh-CN" sz="2800" b="1" i="1" dirty="0" err="1">
                <a:latin typeface="Times New Roman" pitchFamily="18" charset="0"/>
              </a:rPr>
              <a:t>u</a:t>
            </a:r>
            <a:r>
              <a:rPr lang="en-US" altLang="zh-CN" sz="2800" b="1" i="1" baseline="-25000" dirty="0" err="1">
                <a:latin typeface="Times New Roman" pitchFamily="18" charset="0"/>
              </a:rPr>
              <a:t>a</a:t>
            </a:r>
            <a:endParaRPr lang="en-US" altLang="zh-CN" sz="2800" b="1" baseline="-25000" dirty="0">
              <a:solidFill>
                <a:srgbClr val="000000"/>
              </a:solidFill>
              <a:latin typeface="微软雅黑" pitchFamily="34" charset="-122"/>
              <a:ea typeface="微软雅黑" pitchFamily="34" charset="-122"/>
            </a:endParaRPr>
          </a:p>
        </p:txBody>
      </p:sp>
      <p:sp>
        <p:nvSpPr>
          <p:cNvPr id="7" name="Rectangle 9"/>
          <p:cNvSpPr>
            <a:spLocks noChangeArrowheads="1"/>
          </p:cNvSpPr>
          <p:nvPr/>
        </p:nvSpPr>
        <p:spPr bwMode="auto">
          <a:xfrm>
            <a:off x="2411760" y="4581128"/>
            <a:ext cx="5112568" cy="652486"/>
          </a:xfrm>
          <a:prstGeom prst="rect">
            <a:avLst/>
          </a:prstGeom>
          <a:noFill/>
          <a:ln w="9525">
            <a:noFill/>
            <a:miter lim="800000"/>
            <a:headEnd/>
            <a:tailEnd/>
          </a:ln>
          <a:effectLst/>
        </p:spPr>
        <p:txBody>
          <a:bodyPr wrap="square">
            <a:spAutoFit/>
          </a:bodyPr>
          <a:lstStyle/>
          <a:p>
            <a:pPr>
              <a:lnSpc>
                <a:spcPct val="130000"/>
              </a:lnSpc>
            </a:pPr>
            <a:r>
              <a:rPr lang="en-US" altLang="zh-CN" sz="2800" b="1" i="1" dirty="0">
                <a:latin typeface="Times New Roman" pitchFamily="18" charset="0"/>
              </a:rPr>
              <a:t>q </a:t>
            </a:r>
            <a:r>
              <a:rPr lang="en-US" altLang="zh-CN" sz="2800" b="1" i="1" baseline="-25000" dirty="0">
                <a:latin typeface="Times New Roman" pitchFamily="18" charset="0"/>
              </a:rPr>
              <a:t>a</a:t>
            </a:r>
            <a:r>
              <a:rPr lang="en-US" altLang="zh-CN" sz="2800" baseline="-25000" dirty="0">
                <a:latin typeface="Times New Roman" pitchFamily="18" charset="0"/>
              </a:rPr>
              <a:t>-</a:t>
            </a:r>
            <a:r>
              <a:rPr lang="en-US" altLang="zh-CN" sz="2800" b="1" baseline="-25000" dirty="0">
                <a:latin typeface="Times New Roman" pitchFamily="18" charset="0"/>
              </a:rPr>
              <a:t>0</a:t>
            </a:r>
            <a:r>
              <a:rPr lang="en-US" altLang="zh-CN" sz="2800" b="1" dirty="0">
                <a:latin typeface="Times New Roman" pitchFamily="18" charset="0"/>
              </a:rPr>
              <a:t> =</a:t>
            </a:r>
            <a:r>
              <a:rPr lang="en-US" altLang="zh-CN" sz="2800" b="1" i="1" dirty="0">
                <a:latin typeface="Times New Roman" pitchFamily="18" charset="0"/>
              </a:rPr>
              <a:t>T</a:t>
            </a:r>
            <a:r>
              <a:rPr lang="en-US" altLang="zh-CN" sz="2800" b="1" baseline="-25000" dirty="0">
                <a:latin typeface="Times New Roman" pitchFamily="18" charset="0"/>
              </a:rPr>
              <a:t>0</a:t>
            </a:r>
            <a:r>
              <a:rPr lang="zh-CN" altLang="en-US" sz="24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0</a:t>
            </a:r>
            <a:r>
              <a:rPr lang="zh-CN" altLang="en-US" sz="2000" b="1" i="1" dirty="0">
                <a:latin typeface="Times New Roman" pitchFamily="18" charset="0"/>
              </a:rPr>
              <a:t>－</a:t>
            </a:r>
            <a:r>
              <a:rPr lang="en-US" altLang="zh-CN" sz="2800" b="1" i="1" dirty="0" err="1">
                <a:latin typeface="Times New Roman" pitchFamily="18" charset="0"/>
              </a:rPr>
              <a:t>s</a:t>
            </a:r>
            <a:r>
              <a:rPr lang="en-US" altLang="zh-CN" sz="2800" b="1" i="1" baseline="-25000" dirty="0" err="1">
                <a:latin typeface="Times New Roman" pitchFamily="18" charset="0"/>
              </a:rPr>
              <a:t>a</a:t>
            </a:r>
            <a:r>
              <a:rPr lang="zh-CN" altLang="en-US" sz="2400" b="1" dirty="0">
                <a:latin typeface="Times New Roman" pitchFamily="18" charset="0"/>
              </a:rPr>
              <a:t>）</a:t>
            </a:r>
            <a:r>
              <a:rPr lang="en-US" altLang="zh-CN" sz="2800" b="1" dirty="0"/>
              <a:t>=</a:t>
            </a:r>
            <a:r>
              <a:rPr lang="en-US" altLang="zh-CN" sz="2800" b="1" i="1" dirty="0">
                <a:latin typeface="Times New Roman" pitchFamily="18" charset="0"/>
              </a:rPr>
              <a:t>T</a:t>
            </a:r>
            <a:r>
              <a:rPr lang="en-US" altLang="zh-CN" sz="2800" b="1" baseline="-25000" dirty="0">
                <a:latin typeface="Times New Roman" pitchFamily="18" charset="0"/>
              </a:rPr>
              <a:t>0</a:t>
            </a:r>
            <a:r>
              <a:rPr lang="zh-CN" altLang="en-US" sz="28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0</a:t>
            </a:r>
            <a:r>
              <a:rPr lang="zh-CN" altLang="en-US" sz="2000" b="1" i="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1</a:t>
            </a:r>
            <a:r>
              <a:rPr lang="zh-CN" altLang="en-US" sz="2800" b="1" dirty="0">
                <a:latin typeface="Times New Roman" pitchFamily="18" charset="0"/>
              </a:rPr>
              <a:t>） </a:t>
            </a:r>
          </a:p>
        </p:txBody>
      </p:sp>
      <p:sp>
        <p:nvSpPr>
          <p:cNvPr id="8" name="矩形 7"/>
          <p:cNvSpPr/>
          <p:nvPr/>
        </p:nvSpPr>
        <p:spPr>
          <a:xfrm>
            <a:off x="1331640" y="4672664"/>
            <a:ext cx="436338" cy="523220"/>
          </a:xfrm>
          <a:prstGeom prst="rect">
            <a:avLst/>
          </a:prstGeom>
        </p:spPr>
        <p:txBody>
          <a:bodyPr wrap="none">
            <a:spAutoFit/>
          </a:bodyPr>
          <a:lstStyle/>
          <a:p>
            <a:r>
              <a:rPr lang="zh-CN" altLang="en-US" sz="2800" b="1" dirty="0">
                <a:latin typeface="微软雅黑" pitchFamily="34" charset="-122"/>
                <a:ea typeface="微软雅黑" pitchFamily="34" charset="-122"/>
              </a:rPr>
              <a:t>∵</a:t>
            </a:r>
          </a:p>
        </p:txBody>
      </p:sp>
      <p:sp>
        <p:nvSpPr>
          <p:cNvPr id="9" name="Rectangle 9"/>
          <p:cNvSpPr>
            <a:spLocks noChangeArrowheads="1"/>
          </p:cNvSpPr>
          <p:nvPr/>
        </p:nvSpPr>
        <p:spPr bwMode="auto">
          <a:xfrm>
            <a:off x="2443110" y="5301208"/>
            <a:ext cx="4721178" cy="652486"/>
          </a:xfrm>
          <a:prstGeom prst="rect">
            <a:avLst/>
          </a:prstGeom>
          <a:noFill/>
          <a:ln w="9525">
            <a:noFill/>
            <a:miter lim="800000"/>
            <a:headEnd/>
            <a:tailEnd/>
          </a:ln>
          <a:effectLst/>
        </p:spPr>
        <p:txBody>
          <a:bodyPr wrap="square">
            <a:spAutoFit/>
          </a:bodyPr>
          <a:lstStyle/>
          <a:p>
            <a:pPr>
              <a:lnSpc>
                <a:spcPct val="130000"/>
              </a:lnSpc>
            </a:pPr>
            <a:r>
              <a:rPr lang="en-US" altLang="zh-CN" sz="2800" b="1" i="1" dirty="0">
                <a:latin typeface="Times New Roman" pitchFamily="18" charset="0"/>
              </a:rPr>
              <a:t>w</a:t>
            </a:r>
            <a:r>
              <a:rPr lang="en-US" altLang="zh-CN" sz="2800" b="1" i="1" baseline="-25000" dirty="0">
                <a:latin typeface="Times New Roman" pitchFamily="18" charset="0"/>
              </a:rPr>
              <a:t>a</a:t>
            </a:r>
            <a:r>
              <a:rPr lang="en-US" altLang="zh-CN" sz="2800" baseline="-25000" dirty="0">
                <a:latin typeface="Times New Roman" pitchFamily="18" charset="0"/>
              </a:rPr>
              <a:t>-</a:t>
            </a:r>
            <a:r>
              <a:rPr lang="en-US" altLang="zh-CN" sz="2800" b="1" baseline="-25000" dirty="0">
                <a:latin typeface="Times New Roman" pitchFamily="18" charset="0"/>
              </a:rPr>
              <a:t>0</a:t>
            </a:r>
            <a:r>
              <a:rPr lang="en-US" altLang="zh-CN" sz="2800" b="1" i="1" baseline="-25000" dirty="0">
                <a:latin typeface="Times New Roman" pitchFamily="18" charset="0"/>
              </a:rPr>
              <a:t> </a:t>
            </a:r>
            <a:r>
              <a:rPr lang="en-US" altLang="zh-CN" sz="2800" b="1" dirty="0">
                <a:latin typeface="Times New Roman" pitchFamily="18" charset="0"/>
              </a:rPr>
              <a:t>=</a:t>
            </a:r>
            <a:r>
              <a:rPr lang="en-US" altLang="zh-CN" sz="2800" b="1" i="1" dirty="0">
                <a:latin typeface="Times New Roman" pitchFamily="18" charset="0"/>
              </a:rPr>
              <a:t>T</a:t>
            </a:r>
            <a:r>
              <a:rPr lang="en-US" altLang="zh-CN" sz="2800" b="1" baseline="-25000" dirty="0">
                <a:latin typeface="Times New Roman" pitchFamily="18" charset="0"/>
              </a:rPr>
              <a:t>0</a:t>
            </a:r>
            <a:r>
              <a:rPr lang="zh-CN" altLang="en-US" sz="2400" b="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0</a:t>
            </a:r>
            <a:r>
              <a:rPr lang="zh-CN" altLang="en-US" sz="2000" b="1" i="1" dirty="0">
                <a:latin typeface="Times New Roman" pitchFamily="18" charset="0"/>
              </a:rPr>
              <a:t>－</a:t>
            </a:r>
            <a:r>
              <a:rPr lang="en-US" altLang="zh-CN" sz="2800" b="1" i="1" dirty="0">
                <a:latin typeface="Times New Roman" pitchFamily="18" charset="0"/>
              </a:rPr>
              <a:t>s</a:t>
            </a:r>
            <a:r>
              <a:rPr lang="en-US" altLang="zh-CN" sz="2800" b="1" baseline="-25000" dirty="0">
                <a:latin typeface="Times New Roman" pitchFamily="18" charset="0"/>
              </a:rPr>
              <a:t>1</a:t>
            </a:r>
            <a:r>
              <a:rPr lang="zh-CN" altLang="en-US" sz="2400" b="1" dirty="0">
                <a:latin typeface="Times New Roman" pitchFamily="18" charset="0"/>
              </a:rPr>
              <a:t>）</a:t>
            </a:r>
            <a:r>
              <a:rPr lang="zh-CN" altLang="en-US" sz="2000" b="1" dirty="0">
                <a:latin typeface="Times New Roman" pitchFamily="18" charset="0"/>
              </a:rPr>
              <a:t>－</a:t>
            </a:r>
            <a:r>
              <a:rPr lang="zh-CN" altLang="en-US" sz="2400" b="1" dirty="0">
                <a:latin typeface="Times New Roman" pitchFamily="18" charset="0"/>
              </a:rPr>
              <a:t>（</a:t>
            </a:r>
            <a:r>
              <a:rPr lang="en-US" altLang="zh-CN" sz="2800" b="1" i="1" dirty="0">
                <a:latin typeface="Times New Roman" pitchFamily="18" charset="0"/>
              </a:rPr>
              <a:t>u</a:t>
            </a:r>
            <a:r>
              <a:rPr lang="en-US" altLang="zh-CN" sz="2800" b="1" baseline="-25000" dirty="0">
                <a:latin typeface="Times New Roman" pitchFamily="18" charset="0"/>
              </a:rPr>
              <a:t>0</a:t>
            </a:r>
            <a:r>
              <a:rPr lang="zh-CN" altLang="en-US" sz="2000" b="1" dirty="0">
                <a:latin typeface="Times New Roman" pitchFamily="18" charset="0"/>
              </a:rPr>
              <a:t>－</a:t>
            </a:r>
            <a:r>
              <a:rPr lang="en-US" altLang="zh-CN" sz="2800" b="1" i="1" dirty="0" err="1">
                <a:latin typeface="Times New Roman" pitchFamily="18" charset="0"/>
              </a:rPr>
              <a:t>u</a:t>
            </a:r>
            <a:r>
              <a:rPr lang="en-US" altLang="zh-CN" sz="2800" b="1" i="1" baseline="-25000" dirty="0" err="1">
                <a:latin typeface="Times New Roman" pitchFamily="18" charset="0"/>
              </a:rPr>
              <a:t>a</a:t>
            </a:r>
            <a:r>
              <a:rPr lang="zh-CN" altLang="en-US" sz="2400" b="1" dirty="0">
                <a:latin typeface="Times New Roman" pitchFamily="18" charset="0"/>
              </a:rPr>
              <a:t>）</a:t>
            </a:r>
            <a:endParaRPr lang="zh-CN" altLang="en-US" sz="2800" b="1" dirty="0">
              <a:latin typeface="Times New Roman" pitchFamily="18" charset="0"/>
            </a:endParaRPr>
          </a:p>
        </p:txBody>
      </p:sp>
      <p:sp>
        <p:nvSpPr>
          <p:cNvPr id="11" name="矩形 10"/>
          <p:cNvSpPr/>
          <p:nvPr/>
        </p:nvSpPr>
        <p:spPr>
          <a:xfrm>
            <a:off x="1333696" y="5445224"/>
            <a:ext cx="436338" cy="523220"/>
          </a:xfrm>
          <a:prstGeom prst="rect">
            <a:avLst/>
          </a:prstGeom>
        </p:spPr>
        <p:txBody>
          <a:bodyPr wrap="none">
            <a:spAutoFit/>
          </a:bodyPr>
          <a:lstStyle/>
          <a:p>
            <a:r>
              <a:rPr lang="zh-CN" altLang="en-US" sz="2800" b="1" dirty="0">
                <a:latin typeface="微软雅黑" pitchFamily="34" charset="-122"/>
                <a:ea typeface="微软雅黑" pitchFamily="34" charset="-122"/>
              </a:rPr>
              <a:t>∴</a:t>
            </a:r>
          </a:p>
        </p:txBody>
      </p:sp>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42</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614644" y="3284984"/>
            <a:ext cx="7977189" cy="1212640"/>
          </a:xfrm>
          <a:prstGeom prst="rect">
            <a:avLst/>
          </a:prstGeom>
        </p:spPr>
        <p:txBody>
          <a:bodyPr wrap="square">
            <a:spAutoFit/>
          </a:bodyPr>
          <a:lstStyle/>
          <a:p>
            <a:pPr lvl="0" fontAlgn="base">
              <a:lnSpc>
                <a:spcPct val="130000"/>
              </a:lnSpc>
              <a:spcBef>
                <a:spcPct val="0"/>
              </a:spcBef>
              <a:spcAft>
                <a:spcPct val="0"/>
              </a:spcAft>
              <a:defRPr/>
            </a:pPr>
            <a:r>
              <a:rPr lang="zh-CN" altLang="en-US" sz="2800" dirty="0">
                <a:latin typeface="微软雅黑" pitchFamily="34" charset="-122"/>
                <a:ea typeface="微软雅黑" pitchFamily="34" charset="-122"/>
              </a:rPr>
              <a:t>过程</a:t>
            </a:r>
            <a:r>
              <a:rPr lang="en-US" altLang="zh-CN" sz="2800" b="1" i="1" kern="0" dirty="0">
                <a:solidFill>
                  <a:srgbClr val="000000"/>
                </a:solidFill>
                <a:latin typeface="Times New Roman" pitchFamily="18" charset="0"/>
                <a:ea typeface="宋体" pitchFamily="2" charset="-122"/>
              </a:rPr>
              <a:t>a</a:t>
            </a:r>
            <a:r>
              <a:rPr lang="en-US" altLang="zh-CN" sz="2800" b="1" kern="0" dirty="0">
                <a:solidFill>
                  <a:srgbClr val="000000"/>
                </a:solidFill>
                <a:latin typeface="Times New Roman" pitchFamily="18" charset="0"/>
                <a:ea typeface="宋体" pitchFamily="2" charset="-122"/>
              </a:rPr>
              <a:t>-0</a:t>
            </a:r>
            <a:r>
              <a:rPr lang="zh-CN" altLang="en-US" sz="2800" dirty="0">
                <a:latin typeface="微软雅黑" pitchFamily="34" charset="-122"/>
                <a:ea typeface="微软雅黑" pitchFamily="34" charset="-122"/>
              </a:rPr>
              <a:t>中</a:t>
            </a:r>
            <a:r>
              <a:rPr lang="en-US" altLang="zh-CN" sz="2800" b="1" dirty="0">
                <a:latin typeface="Times New Roman" panose="02020603050405020304" pitchFamily="18" charset="0"/>
                <a:ea typeface="微软雅黑" pitchFamily="34" charset="-122"/>
                <a:cs typeface="Times New Roman" panose="02020603050405020304" pitchFamily="18" charset="0"/>
              </a:rPr>
              <a:t>1</a:t>
            </a:r>
            <a:r>
              <a:rPr lang="zh-CN" altLang="en-US" sz="1200" dirty="0">
                <a:latin typeface="微软雅黑" pitchFamily="34" charset="-122"/>
                <a:ea typeface="微软雅黑" pitchFamily="34" charset="-122"/>
              </a:rPr>
              <a:t> </a:t>
            </a:r>
            <a:r>
              <a:rPr lang="en-US" altLang="zh-CN" sz="2800" b="1" kern="0" dirty="0">
                <a:solidFill>
                  <a:srgbClr val="000000"/>
                </a:solidFill>
                <a:latin typeface="Times New Roman" pitchFamily="18" charset="0"/>
                <a:ea typeface="宋体" pitchFamily="2" charset="-122"/>
              </a:rPr>
              <a:t>kg</a:t>
            </a:r>
            <a:r>
              <a:rPr lang="en-US" altLang="zh-CN" sz="1200" b="1" kern="0" dirty="0">
                <a:solidFill>
                  <a:srgbClr val="000000"/>
                </a:solidFill>
                <a:latin typeface="Times New Roman" pitchFamily="18" charset="0"/>
                <a:ea typeface="宋体" pitchFamily="2" charset="-122"/>
              </a:rPr>
              <a:t> </a:t>
            </a:r>
            <a:r>
              <a:rPr lang="zh-CN" altLang="en-US" sz="2800" dirty="0">
                <a:latin typeface="微软雅黑" pitchFamily="34" charset="-122"/>
                <a:ea typeface="微软雅黑" pitchFamily="34" charset="-122"/>
              </a:rPr>
              <a:t>工质所做功为</a:t>
            </a:r>
          </a:p>
          <a:p>
            <a:pPr lvl="0" fontAlgn="base">
              <a:lnSpc>
                <a:spcPct val="130000"/>
              </a:lnSpc>
              <a:spcBef>
                <a:spcPct val="0"/>
              </a:spcBef>
              <a:spcAft>
                <a:spcPct val="0"/>
              </a:spcAft>
              <a:defRPr/>
            </a:pPr>
            <a:r>
              <a:rPr lang="zh-CN" altLang="en-US" sz="2800" b="1" i="1" kern="0" dirty="0">
                <a:solidFill>
                  <a:srgbClr val="000000"/>
                </a:solidFill>
                <a:latin typeface="Times New Roman" pitchFamily="18" charset="0"/>
                <a:ea typeface="宋体" pitchFamily="2" charset="-122"/>
              </a:rPr>
              <a:t>                            </a:t>
            </a:r>
            <a:r>
              <a:rPr lang="en-US" altLang="zh-CN" sz="2800" b="1" i="1" kern="0" dirty="0">
                <a:solidFill>
                  <a:srgbClr val="000000"/>
                </a:solidFill>
                <a:latin typeface="Times New Roman" pitchFamily="18" charset="0"/>
                <a:ea typeface="宋体" pitchFamily="2" charset="-122"/>
              </a:rPr>
              <a:t>w</a:t>
            </a:r>
            <a:r>
              <a:rPr lang="en-US" altLang="zh-CN" sz="2800" b="1" i="1" kern="0" baseline="-25000" dirty="0">
                <a:solidFill>
                  <a:srgbClr val="000000"/>
                </a:solidFill>
                <a:latin typeface="Times New Roman" pitchFamily="18" charset="0"/>
                <a:ea typeface="宋体" pitchFamily="2" charset="-122"/>
              </a:rPr>
              <a:t>a</a:t>
            </a:r>
            <a:r>
              <a:rPr lang="en-US" altLang="zh-CN" sz="2800" b="1" kern="0" baseline="-25000" dirty="0">
                <a:solidFill>
                  <a:srgbClr val="000000"/>
                </a:solidFill>
                <a:latin typeface="Times New Roman" pitchFamily="18" charset="0"/>
                <a:ea typeface="宋体" pitchFamily="2" charset="-122"/>
              </a:rPr>
              <a:t>-0</a:t>
            </a:r>
            <a:r>
              <a:rPr lang="en-US" altLang="zh-CN" sz="2800" b="1" i="1" kern="0" dirty="0">
                <a:solidFill>
                  <a:srgbClr val="000000"/>
                </a:solidFill>
                <a:latin typeface="Times New Roman" pitchFamily="18" charset="0"/>
                <a:ea typeface="宋体" pitchFamily="2" charset="-122"/>
              </a:rPr>
              <a:t> </a:t>
            </a:r>
            <a:r>
              <a:rPr lang="en-US" altLang="zh-CN" sz="2800" b="1" kern="0" dirty="0">
                <a:solidFill>
                  <a:srgbClr val="000000"/>
                </a:solidFill>
                <a:latin typeface="Times New Roman" pitchFamily="18" charset="0"/>
                <a:ea typeface="宋体" pitchFamily="2" charset="-122"/>
              </a:rPr>
              <a:t>= </a:t>
            </a:r>
            <a:r>
              <a:rPr lang="en-US" altLang="zh-CN" sz="2800" b="1" i="1" kern="0" dirty="0">
                <a:solidFill>
                  <a:srgbClr val="000000"/>
                </a:solidFill>
                <a:latin typeface="Times New Roman" pitchFamily="18" charset="0"/>
                <a:ea typeface="宋体" pitchFamily="2" charset="-122"/>
              </a:rPr>
              <a:t>q</a:t>
            </a:r>
            <a:r>
              <a:rPr lang="en-US" altLang="zh-CN" sz="2800" b="1" i="1" kern="0" baseline="-25000" dirty="0">
                <a:solidFill>
                  <a:srgbClr val="000000"/>
                </a:solidFill>
                <a:latin typeface="Times New Roman" pitchFamily="18" charset="0"/>
                <a:ea typeface="宋体" pitchFamily="2" charset="-122"/>
              </a:rPr>
              <a:t>a</a:t>
            </a:r>
            <a:r>
              <a:rPr lang="en-US" altLang="zh-CN" sz="2800" b="1" kern="0" baseline="-25000" dirty="0">
                <a:solidFill>
                  <a:srgbClr val="000000"/>
                </a:solidFill>
                <a:latin typeface="Times New Roman" pitchFamily="18" charset="0"/>
                <a:ea typeface="宋体" pitchFamily="2" charset="-122"/>
              </a:rPr>
              <a:t>-0</a:t>
            </a:r>
            <a:r>
              <a:rPr lang="zh-CN" altLang="en-US" sz="2000" b="1" kern="0" dirty="0">
                <a:solidFill>
                  <a:srgbClr val="000000"/>
                </a:solidFill>
                <a:latin typeface="Times New Roman" pitchFamily="18" charset="0"/>
                <a:ea typeface="宋体" pitchFamily="2" charset="-122"/>
              </a:rPr>
              <a:t>－</a:t>
            </a:r>
            <a:r>
              <a:rPr lang="zh-CN" altLang="en-US" sz="2400" b="1" kern="0" dirty="0">
                <a:solidFill>
                  <a:srgbClr val="000000"/>
                </a:solidFill>
                <a:latin typeface="Times New Roman" pitchFamily="18" charset="0"/>
                <a:ea typeface="宋体" pitchFamily="2" charset="-122"/>
              </a:rPr>
              <a:t>（</a:t>
            </a:r>
            <a:r>
              <a:rPr lang="en-US" altLang="zh-CN" sz="2800" b="1" i="1" kern="0" dirty="0">
                <a:solidFill>
                  <a:srgbClr val="000000"/>
                </a:solidFill>
                <a:latin typeface="Times New Roman" pitchFamily="18" charset="0"/>
                <a:ea typeface="宋体" pitchFamily="2" charset="-122"/>
              </a:rPr>
              <a:t>u</a:t>
            </a:r>
            <a:r>
              <a:rPr lang="en-US" altLang="zh-CN" sz="2800" b="1" kern="0" baseline="-25000" dirty="0">
                <a:solidFill>
                  <a:srgbClr val="000000"/>
                </a:solidFill>
                <a:latin typeface="Times New Roman" pitchFamily="18" charset="0"/>
                <a:ea typeface="宋体" pitchFamily="2" charset="-122"/>
              </a:rPr>
              <a:t>0</a:t>
            </a:r>
            <a:r>
              <a:rPr lang="zh-CN" altLang="en-US" sz="2000" b="1" kern="0" dirty="0">
                <a:solidFill>
                  <a:srgbClr val="000000"/>
                </a:solidFill>
                <a:latin typeface="Times New Roman" pitchFamily="18" charset="0"/>
                <a:ea typeface="宋体" pitchFamily="2" charset="-122"/>
              </a:rPr>
              <a:t>－</a:t>
            </a:r>
            <a:r>
              <a:rPr lang="en-US" altLang="zh-CN" sz="2800" b="1" i="1" kern="0" dirty="0" err="1">
                <a:solidFill>
                  <a:srgbClr val="000000"/>
                </a:solidFill>
                <a:latin typeface="Times New Roman" pitchFamily="18" charset="0"/>
                <a:ea typeface="宋体" pitchFamily="2" charset="-122"/>
              </a:rPr>
              <a:t>u</a:t>
            </a:r>
            <a:r>
              <a:rPr lang="en-US" altLang="zh-CN" sz="2800" b="1" i="1" kern="0" baseline="-25000" dirty="0" err="1">
                <a:solidFill>
                  <a:srgbClr val="000000"/>
                </a:solidFill>
                <a:latin typeface="Times New Roman" pitchFamily="18" charset="0"/>
                <a:ea typeface="宋体" pitchFamily="2" charset="-122"/>
              </a:rPr>
              <a:t>a</a:t>
            </a:r>
            <a:r>
              <a:rPr lang="zh-CN" altLang="en-US" sz="2400" b="1" kern="0" dirty="0">
                <a:solidFill>
                  <a:srgbClr val="000000"/>
                </a:solidFill>
                <a:latin typeface="Times New Roman" pitchFamily="18" charset="0"/>
                <a:ea typeface="宋体" pitchFamily="2" charset="-122"/>
              </a:rPr>
              <a:t>）</a:t>
            </a:r>
            <a:r>
              <a:rPr lang="zh-CN" altLang="en-US" sz="2800" b="1" kern="0" dirty="0">
                <a:solidFill>
                  <a:srgbClr val="000000"/>
                </a:solidFill>
                <a:latin typeface="Times New Roman" pitchFamily="18" charset="0"/>
                <a:ea typeface="宋体" pitchFamily="2"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9" grpId="0"/>
      <p:bldP spid="11" grpId="0"/>
      <p:bldP spid="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2719004" y="1772816"/>
            <a:ext cx="2681088" cy="609398"/>
          </a:xfrm>
          <a:prstGeom prst="rect">
            <a:avLst/>
          </a:prstGeom>
          <a:noFill/>
          <a:ln w="9525">
            <a:noFill/>
            <a:miter lim="800000"/>
            <a:headEnd/>
            <a:tailEnd/>
          </a:ln>
          <a:effectLst/>
        </p:spPr>
        <p:txBody>
          <a:bodyPr wrap="square">
            <a:spAutoFit/>
          </a:bodyPr>
          <a:lstStyle/>
          <a:p>
            <a:pPr>
              <a:lnSpc>
                <a:spcPct val="120000"/>
              </a:lnSpc>
            </a:pPr>
            <a:r>
              <a:rPr lang="en-US" altLang="zh-CN" sz="2800" b="1" i="1" dirty="0" err="1">
                <a:latin typeface="Times New Roman" pitchFamily="18" charset="0"/>
              </a:rPr>
              <a:t>w</a:t>
            </a:r>
            <a:r>
              <a:rPr lang="en-US" altLang="zh-CN" sz="2800" b="1" baseline="-25000" dirty="0" err="1">
                <a:latin typeface="Times New Roman" pitchFamily="18" charset="0"/>
              </a:rPr>
              <a:t>b</a:t>
            </a:r>
            <a:r>
              <a:rPr lang="en-US" altLang="zh-CN" sz="2800" b="1" i="1" dirty="0">
                <a:latin typeface="Times New Roman" pitchFamily="18" charset="0"/>
              </a:rPr>
              <a:t> </a:t>
            </a:r>
            <a:r>
              <a:rPr lang="en-US" altLang="zh-CN" sz="2800" b="1" dirty="0">
                <a:latin typeface="Times New Roman" pitchFamily="18" charset="0"/>
              </a:rPr>
              <a:t>=</a:t>
            </a:r>
            <a:r>
              <a:rPr lang="en-US" altLang="zh-CN" sz="2800" b="1" i="1" dirty="0">
                <a:latin typeface="Times New Roman" pitchFamily="18" charset="0"/>
              </a:rPr>
              <a:t>p</a:t>
            </a:r>
            <a:r>
              <a:rPr lang="en-US" altLang="zh-CN" sz="2800" b="1" baseline="-25000" dirty="0">
                <a:latin typeface="Times New Roman" pitchFamily="18" charset="0"/>
              </a:rPr>
              <a:t>0</a:t>
            </a:r>
            <a:r>
              <a:rPr lang="zh-CN" altLang="en-US" sz="2800" b="1" dirty="0">
                <a:latin typeface="Times New Roman" pitchFamily="18" charset="0"/>
              </a:rPr>
              <a:t>（</a:t>
            </a:r>
            <a:r>
              <a:rPr lang="en-US" altLang="zh-CN" sz="2800" b="1" i="1" dirty="0">
                <a:latin typeface="Times New Roman" pitchFamily="18" charset="0"/>
              </a:rPr>
              <a:t>v</a:t>
            </a:r>
            <a:r>
              <a:rPr lang="en-US" altLang="zh-CN" sz="2800" b="1" baseline="-25000" dirty="0">
                <a:latin typeface="Times New Roman" pitchFamily="18" charset="0"/>
              </a:rPr>
              <a:t>0</a:t>
            </a:r>
            <a:r>
              <a:rPr lang="zh-CN" altLang="en-US" sz="2800" b="1" dirty="0">
                <a:latin typeface="Times New Roman" pitchFamily="18" charset="0"/>
              </a:rPr>
              <a:t>－</a:t>
            </a:r>
            <a:r>
              <a:rPr lang="en-US" altLang="zh-CN" sz="2800" b="1" i="1" dirty="0">
                <a:latin typeface="Times New Roman" pitchFamily="18" charset="0"/>
              </a:rPr>
              <a:t>v</a:t>
            </a:r>
            <a:r>
              <a:rPr lang="en-US" altLang="zh-CN" sz="2800" b="1" baseline="-25000" dirty="0">
                <a:latin typeface="Times New Roman" pitchFamily="18" charset="0"/>
              </a:rPr>
              <a:t>1</a:t>
            </a:r>
            <a:r>
              <a:rPr lang="zh-CN" altLang="en-US" sz="2800" b="1" dirty="0">
                <a:latin typeface="Times New Roman" pitchFamily="18" charset="0"/>
              </a:rPr>
              <a:t>）</a:t>
            </a:r>
            <a:endParaRPr lang="en-US" altLang="zh-CN" sz="2800" b="1" baseline="-25000" dirty="0">
              <a:solidFill>
                <a:srgbClr val="000000"/>
              </a:solidFill>
              <a:latin typeface="微软雅黑" pitchFamily="34" charset="-122"/>
              <a:ea typeface="微软雅黑" pitchFamily="34" charset="-122"/>
            </a:endParaRPr>
          </a:p>
        </p:txBody>
      </p:sp>
      <p:sp>
        <p:nvSpPr>
          <p:cNvPr id="4" name="Rectangle 9"/>
          <p:cNvSpPr>
            <a:spLocks noChangeArrowheads="1"/>
          </p:cNvSpPr>
          <p:nvPr/>
        </p:nvSpPr>
        <p:spPr bwMode="auto">
          <a:xfrm>
            <a:off x="642910" y="2492896"/>
            <a:ext cx="4289130" cy="53553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20000"/>
              </a:lnSpc>
            </a:pPr>
            <a:r>
              <a:rPr lang="en-US" altLang="zh-CN" sz="2400" i="1" dirty="0">
                <a:solidFill>
                  <a:srgbClr val="0070C0"/>
                </a:solidFill>
                <a:latin typeface="微软雅黑" pitchFamily="34" charset="-122"/>
                <a:ea typeface="微软雅黑" pitchFamily="34" charset="-122"/>
              </a:rPr>
              <a:t> </a:t>
            </a:r>
            <a:r>
              <a:rPr lang="en-US" altLang="zh-CN" sz="2400" b="1" i="1" kern="0" dirty="0" err="1">
                <a:solidFill>
                  <a:srgbClr val="0070C0"/>
                </a:solidFill>
                <a:latin typeface="Times New Roman" pitchFamily="18" charset="0"/>
                <a:ea typeface="宋体" pitchFamily="2" charset="-122"/>
              </a:rPr>
              <a:t>w</a:t>
            </a:r>
            <a:r>
              <a:rPr lang="en-US" altLang="zh-CN" sz="2400" b="1" kern="0" baseline="-25000" dirty="0" err="1">
                <a:solidFill>
                  <a:srgbClr val="0070C0"/>
                </a:solidFill>
                <a:latin typeface="Times New Roman" pitchFamily="18" charset="0"/>
                <a:ea typeface="宋体" pitchFamily="2" charset="-122"/>
              </a:rPr>
              <a:t>b</a:t>
            </a:r>
            <a:r>
              <a:rPr lang="zh-CN" altLang="en-US" sz="2400" dirty="0">
                <a:solidFill>
                  <a:srgbClr val="0070C0"/>
                </a:solidFill>
                <a:latin typeface="微软雅黑" pitchFamily="34" charset="-122"/>
                <a:ea typeface="微软雅黑" pitchFamily="34" charset="-122"/>
              </a:rPr>
              <a:t>不能作为有用功输出。 </a:t>
            </a:r>
            <a:endParaRPr lang="en-US" altLang="zh-CN" sz="2400" b="1" baseline="-25000" dirty="0">
              <a:solidFill>
                <a:srgbClr val="0070C0"/>
              </a:solidFill>
              <a:latin typeface="微软雅黑" pitchFamily="34" charset="-122"/>
              <a:ea typeface="微软雅黑" pitchFamily="34" charset="-122"/>
            </a:endParaRPr>
          </a:p>
        </p:txBody>
      </p:sp>
      <p:sp>
        <p:nvSpPr>
          <p:cNvPr id="5" name="Rectangle 9"/>
          <p:cNvSpPr>
            <a:spLocks noChangeArrowheads="1"/>
          </p:cNvSpPr>
          <p:nvPr/>
        </p:nvSpPr>
        <p:spPr bwMode="auto">
          <a:xfrm>
            <a:off x="539552" y="1196752"/>
            <a:ext cx="6785544" cy="652486"/>
          </a:xfrm>
          <a:prstGeom prst="rect">
            <a:avLst/>
          </a:prstGeom>
          <a:noFill/>
          <a:ln w="9525">
            <a:noFill/>
            <a:miter lim="800000"/>
            <a:headEnd/>
            <a:tailEnd/>
          </a:ln>
          <a:effectLst/>
        </p:spPr>
        <p:txBody>
          <a:bodyPr wrap="square">
            <a:spAutoFit/>
          </a:bodyPr>
          <a:lstStyle/>
          <a:p>
            <a:pPr>
              <a:lnSpc>
                <a:spcPct val="130000"/>
              </a:lnSpc>
            </a:pPr>
            <a:r>
              <a:rPr lang="en-US" altLang="zh-CN" sz="2800" i="1" dirty="0">
                <a:latin typeface="Times New Roman" pitchFamily="18" charset="0"/>
              </a:rPr>
              <a:t> </a:t>
            </a:r>
            <a:r>
              <a:rPr lang="en-US" altLang="zh-CN" sz="2800" b="1" kern="0" dirty="0">
                <a:solidFill>
                  <a:srgbClr val="000000"/>
                </a:solidFill>
                <a:latin typeface="Times New Roman" pitchFamily="18" charset="0"/>
                <a:ea typeface="宋体" pitchFamily="2" charset="-122"/>
              </a:rPr>
              <a:t>1-</a:t>
            </a:r>
            <a:r>
              <a:rPr lang="en-US" altLang="zh-CN" sz="2800" b="1" i="1" kern="0" dirty="0">
                <a:solidFill>
                  <a:srgbClr val="000000"/>
                </a:solidFill>
                <a:latin typeface="Times New Roman" pitchFamily="18" charset="0"/>
                <a:ea typeface="宋体" pitchFamily="2" charset="-122"/>
              </a:rPr>
              <a:t>a</a:t>
            </a:r>
            <a:r>
              <a:rPr lang="en-US" altLang="zh-CN" sz="2800" b="1" kern="0" dirty="0">
                <a:solidFill>
                  <a:srgbClr val="000000"/>
                </a:solidFill>
                <a:latin typeface="Times New Roman" pitchFamily="18" charset="0"/>
                <a:ea typeface="宋体" pitchFamily="2" charset="-122"/>
              </a:rPr>
              <a:t>-0</a:t>
            </a:r>
            <a:r>
              <a:rPr lang="zh-CN" altLang="en-US" sz="2800" dirty="0">
                <a:latin typeface="微软雅黑" pitchFamily="34" charset="-122"/>
                <a:ea typeface="微软雅黑" pitchFamily="34" charset="-122"/>
              </a:rPr>
              <a:t>过程中工质膨胀、排斥大气所做功为</a:t>
            </a:r>
            <a:endParaRPr lang="zh-CN" altLang="en-US" sz="2800" b="1" dirty="0">
              <a:latin typeface="微软雅黑" pitchFamily="34" charset="-122"/>
              <a:ea typeface="微软雅黑" pitchFamily="34" charset="-122"/>
            </a:endParaRPr>
          </a:p>
        </p:txBody>
      </p:sp>
      <p:sp>
        <p:nvSpPr>
          <p:cNvPr id="6" name="Rectangle 9"/>
          <p:cNvSpPr>
            <a:spLocks noChangeArrowheads="1"/>
          </p:cNvSpPr>
          <p:nvPr/>
        </p:nvSpPr>
        <p:spPr bwMode="auto">
          <a:xfrm>
            <a:off x="642910" y="3140968"/>
            <a:ext cx="7977190" cy="609398"/>
          </a:xfrm>
          <a:prstGeom prst="rect">
            <a:avLst/>
          </a:prstGeom>
          <a:noFill/>
          <a:ln w="9525">
            <a:noFill/>
            <a:miter lim="800000"/>
            <a:headEnd/>
            <a:tailEnd/>
          </a:ln>
          <a:effectLst/>
        </p:spPr>
        <p:txBody>
          <a:bodyPr wrap="square">
            <a:spAutoFit/>
          </a:bodyPr>
          <a:lstStyle/>
          <a:p>
            <a:pPr>
              <a:lnSpc>
                <a:spcPct val="120000"/>
              </a:lnSpc>
            </a:pPr>
            <a:r>
              <a:rPr lang="zh-CN" altLang="en-US" sz="2800" dirty="0">
                <a:latin typeface="微软雅黑" pitchFamily="34" charset="-122"/>
                <a:ea typeface="微软雅黑" pitchFamily="34" charset="-122"/>
              </a:rPr>
              <a:t>所以</a:t>
            </a:r>
            <a:r>
              <a:rPr lang="en-US" altLang="zh-CN" sz="2800" dirty="0">
                <a:latin typeface="微软雅黑" pitchFamily="34" charset="-122"/>
                <a:ea typeface="微软雅黑" pitchFamily="34" charset="-122"/>
              </a:rPr>
              <a:t>, </a:t>
            </a:r>
            <a:r>
              <a:rPr lang="en-US" altLang="zh-CN" sz="2800" b="1" kern="0" dirty="0">
                <a:solidFill>
                  <a:srgbClr val="000000"/>
                </a:solidFill>
                <a:latin typeface="Times New Roman" pitchFamily="18" charset="0"/>
                <a:ea typeface="宋体" pitchFamily="2" charset="-122"/>
              </a:rPr>
              <a:t>1-</a:t>
            </a:r>
            <a:r>
              <a:rPr lang="en-US" altLang="zh-CN" sz="2800" b="1" i="1" kern="0" dirty="0">
                <a:solidFill>
                  <a:srgbClr val="000000"/>
                </a:solidFill>
                <a:latin typeface="Times New Roman" pitchFamily="18" charset="0"/>
                <a:ea typeface="宋体" pitchFamily="2" charset="-122"/>
              </a:rPr>
              <a:t>a</a:t>
            </a:r>
            <a:r>
              <a:rPr lang="en-US" altLang="zh-CN" sz="2800" b="1" kern="0" dirty="0">
                <a:solidFill>
                  <a:srgbClr val="000000"/>
                </a:solidFill>
                <a:latin typeface="Times New Roman" pitchFamily="18" charset="0"/>
                <a:ea typeface="宋体" pitchFamily="2" charset="-122"/>
              </a:rPr>
              <a:t>-0 </a:t>
            </a:r>
            <a:r>
              <a:rPr lang="zh-CN" altLang="en-US" sz="2800" dirty="0">
                <a:latin typeface="微软雅黑" pitchFamily="34" charset="-122"/>
                <a:ea typeface="微软雅黑" pitchFamily="34" charset="-122"/>
              </a:rPr>
              <a:t>过程中系统做出的最大有用功为</a:t>
            </a:r>
          </a:p>
        </p:txBody>
      </p:sp>
      <p:graphicFrame>
        <p:nvGraphicFramePr>
          <p:cNvPr id="7" name="Object 4"/>
          <p:cNvGraphicFramePr>
            <a:graphicFrameLocks noChangeAspect="1"/>
          </p:cNvGraphicFramePr>
          <p:nvPr>
            <p:extLst>
              <p:ext uri="{D42A27DB-BD31-4B8C-83A1-F6EECF244321}">
                <p14:modId xmlns:p14="http://schemas.microsoft.com/office/powerpoint/2010/main" val="1424338092"/>
              </p:ext>
            </p:extLst>
          </p:nvPr>
        </p:nvGraphicFramePr>
        <p:xfrm>
          <a:off x="1835696" y="3717032"/>
          <a:ext cx="4968553" cy="639835"/>
        </p:xfrm>
        <a:graphic>
          <a:graphicData uri="http://schemas.openxmlformats.org/presentationml/2006/ole">
            <mc:AlternateContent xmlns:mc="http://schemas.openxmlformats.org/markup-compatibility/2006">
              <mc:Choice xmlns:v="urn:schemas-microsoft-com:vml" Requires="v">
                <p:oleObj spid="_x0000_s64629" name="公式" r:id="rId3" imgW="1854200" imgH="241300" progId="Equation.3">
                  <p:embed/>
                </p:oleObj>
              </mc:Choice>
              <mc:Fallback>
                <p:oleObj name="公式" r:id="rId3" imgW="1854200" imgH="2413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696" y="3717032"/>
                        <a:ext cx="4968553" cy="639835"/>
                      </a:xfrm>
                      <a:prstGeom prst="rect">
                        <a:avLst/>
                      </a:prstGeom>
                      <a:noFill/>
                    </p:spPr>
                  </p:pic>
                </p:oleObj>
              </mc:Fallback>
            </mc:AlternateContent>
          </a:graphicData>
        </a:graphic>
      </p:graphicFrame>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43</a:t>
            </a:r>
            <a:endParaRPr lang="zh-CN" altLang="en-US" sz="2000" b="1" dirty="0">
              <a:solidFill>
                <a:schemeClr val="tx1"/>
              </a:solidFill>
              <a:latin typeface="黑体" pitchFamily="49" charset="-122"/>
              <a:ea typeface="黑体" pitchFamily="49" charset="-122"/>
            </a:endParaRPr>
          </a:p>
        </p:txBody>
      </p:sp>
      <p:sp>
        <p:nvSpPr>
          <p:cNvPr id="11" name="矩形 10"/>
          <p:cNvSpPr/>
          <p:nvPr/>
        </p:nvSpPr>
        <p:spPr>
          <a:xfrm>
            <a:off x="642910" y="4293096"/>
            <a:ext cx="7817522" cy="1846659"/>
          </a:xfrm>
          <a:prstGeom prst="rect">
            <a:avLst/>
          </a:prstGeom>
        </p:spPr>
        <p:txBody>
          <a:bodyPr wrap="square">
            <a:spAutoFit/>
          </a:bodyPr>
          <a:lstStyle/>
          <a:p>
            <a:pPr>
              <a:lnSpc>
                <a:spcPct val="150000"/>
              </a:lnSpc>
            </a:pPr>
            <a:r>
              <a:rPr lang="zh-CN" altLang="en-US" sz="2400" dirty="0">
                <a:solidFill>
                  <a:srgbClr val="FF0000"/>
                </a:solidFill>
                <a:latin typeface="微软雅黑" panose="020B0503020204020204" pitchFamily="34" charset="-122"/>
                <a:ea typeface="微软雅黑" panose="020B0503020204020204" pitchFamily="34" charset="-122"/>
              </a:rPr>
              <a:t>闭口系的有用功</a:t>
            </a:r>
            <a:r>
              <a:rPr lang="zh-CN" altLang="en-US" sz="2400" dirty="0">
                <a:latin typeface="微软雅黑" panose="020B0503020204020204" pitchFamily="34" charset="-122"/>
                <a:ea typeface="微软雅黑" panose="020B0503020204020204" pitchFamily="34" charset="-122"/>
              </a:rPr>
              <a:t>是过程的容积功减去排斥功，可逆过程的有用功为</a:t>
            </a:r>
            <a:r>
              <a:rPr lang="zh-CN" altLang="en-US" sz="2400" dirty="0">
                <a:solidFill>
                  <a:srgbClr val="FF0000"/>
                </a:solidFill>
                <a:latin typeface="微软雅黑" panose="020B0503020204020204" pitchFamily="34" charset="-122"/>
                <a:ea typeface="微软雅黑" panose="020B0503020204020204" pitchFamily="34" charset="-122"/>
              </a:rPr>
              <a:t>最大有用功</a:t>
            </a:r>
            <a:r>
              <a:rPr lang="zh-CN" altLang="en-US" sz="2400" dirty="0">
                <a:latin typeface="微软雅黑" panose="020B0503020204020204" pitchFamily="34" charset="-122"/>
                <a:ea typeface="微软雅黑" panose="020B0503020204020204" pitchFamily="34" charset="-122"/>
              </a:rPr>
              <a:t>，工质沿</a:t>
            </a:r>
            <a:r>
              <a:rPr lang="en-US" altLang="zh-CN" sz="2800" b="1" kern="0" dirty="0">
                <a:solidFill>
                  <a:srgbClr val="000000"/>
                </a:solidFill>
                <a:latin typeface="Times New Roman" pitchFamily="18" charset="0"/>
                <a:ea typeface="宋体" pitchFamily="2" charset="-122"/>
              </a:rPr>
              <a:t>1-</a:t>
            </a:r>
            <a:r>
              <a:rPr lang="en-US" altLang="zh-CN" sz="2800" b="1" i="1" kern="0" dirty="0">
                <a:solidFill>
                  <a:srgbClr val="000000"/>
                </a:solidFill>
                <a:latin typeface="Times New Roman" pitchFamily="18" charset="0"/>
                <a:ea typeface="宋体" pitchFamily="2" charset="-122"/>
              </a:rPr>
              <a:t>a</a:t>
            </a:r>
            <a:r>
              <a:rPr lang="en-US" altLang="zh-CN" sz="2800" b="1" kern="0" dirty="0">
                <a:solidFill>
                  <a:srgbClr val="000000"/>
                </a:solidFill>
                <a:latin typeface="Times New Roman" pitchFamily="18" charset="0"/>
                <a:ea typeface="宋体" pitchFamily="2" charset="-122"/>
              </a:rPr>
              <a:t>-0 </a:t>
            </a:r>
            <a:r>
              <a:rPr lang="zh-CN" altLang="en-US" sz="2400" dirty="0">
                <a:solidFill>
                  <a:prstClr val="black"/>
                </a:solidFill>
                <a:latin typeface="微软雅黑" pitchFamily="34" charset="-122"/>
                <a:ea typeface="微软雅黑" pitchFamily="34" charset="-122"/>
              </a:rPr>
              <a:t>过程</a:t>
            </a:r>
            <a:r>
              <a:rPr lang="zh-CN" altLang="en-US" sz="2400" dirty="0">
                <a:latin typeface="微软雅黑" panose="020B0503020204020204" pitchFamily="34" charset="-122"/>
                <a:ea typeface="微软雅黑" panose="020B0503020204020204" pitchFamily="34" charset="-122"/>
              </a:rPr>
              <a:t>膨胀到环境状态所做的最大有用功为</a:t>
            </a:r>
            <a:r>
              <a:rPr lang="zh-CN" altLang="en-US" sz="2400" dirty="0">
                <a:solidFill>
                  <a:srgbClr val="FF0000"/>
                </a:solidFill>
                <a:latin typeface="微软雅黑" panose="020B0503020204020204" pitchFamily="34" charset="-122"/>
                <a:ea typeface="微软雅黑" panose="020B0503020204020204" pitchFamily="34" charset="-122"/>
              </a:rPr>
              <a:t>热力学能㶲</a:t>
            </a:r>
            <a:r>
              <a:rPr lang="zh-CN" altLang="en-US" sz="2400" dirty="0">
                <a:latin typeface="微软雅黑" panose="020B0503020204020204" pitchFamily="34" charset="-122"/>
                <a:ea typeface="微软雅黑" panose="020B0503020204020204" pitchFamily="34"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blinds(horizontal)">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5" grpId="0"/>
      <p:bldP spid="6" grpId="0"/>
      <p:bldP spid="1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539552" y="1196752"/>
            <a:ext cx="7977190" cy="597664"/>
          </a:xfrm>
          <a:prstGeom prst="rect">
            <a:avLst/>
          </a:prstGeom>
          <a:noFill/>
          <a:ln w="9525">
            <a:noFill/>
            <a:miter lim="800000"/>
            <a:headEnd/>
            <a:tailEnd/>
          </a:ln>
          <a:effectLst/>
        </p:spPr>
        <p:txBody>
          <a:bodyPr wrap="square">
            <a:spAutoFit/>
          </a:bodyPr>
          <a:lstStyle/>
          <a:p>
            <a:pPr algn="just">
              <a:lnSpc>
                <a:spcPct val="130000"/>
              </a:lnSpc>
            </a:pPr>
            <a:r>
              <a:rPr lang="en-US" altLang="zh-CN" sz="2800" b="1" i="1" dirty="0" err="1">
                <a:solidFill>
                  <a:srgbClr val="000000"/>
                </a:solidFill>
                <a:latin typeface="Times New Roman" pitchFamily="18" charset="0"/>
                <a:ea typeface="宋体" pitchFamily="2" charset="-122"/>
              </a:rPr>
              <a:t>e</a:t>
            </a:r>
            <a:r>
              <a:rPr lang="en-US" altLang="zh-CN" sz="2800" b="1" baseline="-25000" dirty="0" err="1">
                <a:solidFill>
                  <a:srgbClr val="000000"/>
                </a:solidFill>
                <a:latin typeface="Times New Roman" pitchFamily="18" charset="0"/>
                <a:ea typeface="宋体" pitchFamily="2" charset="-122"/>
              </a:rPr>
              <a:t>x,U</a:t>
            </a:r>
            <a:r>
              <a:rPr lang="zh-CN" altLang="en-US" sz="2800" dirty="0">
                <a:latin typeface="微软雅黑" pitchFamily="34" charset="-122"/>
                <a:ea typeface="微软雅黑" pitchFamily="34" charset="-122"/>
              </a:rPr>
              <a:t>可用图 </a:t>
            </a:r>
            <a:r>
              <a:rPr lang="en-US" altLang="zh-CN" sz="2800" dirty="0">
                <a:latin typeface="微软雅黑" pitchFamily="34" charset="-122"/>
                <a:ea typeface="微软雅黑" pitchFamily="34" charset="-122"/>
              </a:rPr>
              <a:t>4.10 </a:t>
            </a:r>
            <a:r>
              <a:rPr lang="zh-CN" altLang="en-US" sz="2800" dirty="0">
                <a:latin typeface="微软雅黑" pitchFamily="34" charset="-122"/>
                <a:ea typeface="微软雅黑" pitchFamily="34" charset="-122"/>
              </a:rPr>
              <a:t>中的面积</a:t>
            </a:r>
            <a:r>
              <a:rPr lang="en-US" altLang="zh-CN" sz="2800" dirty="0">
                <a:latin typeface="Times New Roman" panose="02020603050405020304" pitchFamily="18" charset="0"/>
                <a:ea typeface="微软雅黑" pitchFamily="34" charset="-122"/>
                <a:cs typeface="Times New Roman" panose="02020603050405020304" pitchFamily="18" charset="0"/>
              </a:rPr>
              <a:t>0-</a:t>
            </a:r>
            <a:r>
              <a:rPr lang="en-US" altLang="zh-CN" sz="2800" i="1" dirty="0">
                <a:latin typeface="Times New Roman" panose="02020603050405020304" pitchFamily="18" charset="0"/>
                <a:ea typeface="微软雅黑" pitchFamily="34" charset="-122"/>
                <a:cs typeface="Times New Roman" panose="02020603050405020304" pitchFamily="18" charset="0"/>
              </a:rPr>
              <a:t>m-</a:t>
            </a:r>
            <a:r>
              <a:rPr lang="en-US" altLang="zh-CN" sz="2800" dirty="0">
                <a:latin typeface="Times New Roman" panose="02020603050405020304" pitchFamily="18" charset="0"/>
                <a:ea typeface="微软雅黑" pitchFamily="34" charset="-122"/>
                <a:cs typeface="Times New Roman" panose="02020603050405020304" pitchFamily="18" charset="0"/>
              </a:rPr>
              <a:t>1-</a:t>
            </a:r>
            <a:r>
              <a:rPr lang="en-US" altLang="zh-CN" sz="2800" i="1" dirty="0">
                <a:latin typeface="Times New Roman" panose="02020603050405020304" pitchFamily="18" charset="0"/>
                <a:ea typeface="微软雅黑" pitchFamily="34" charset="-122"/>
                <a:cs typeface="Times New Roman" panose="02020603050405020304" pitchFamily="18" charset="0"/>
              </a:rPr>
              <a:t>a-</a:t>
            </a:r>
            <a:r>
              <a:rPr lang="en-US" altLang="zh-CN" sz="2800" dirty="0">
                <a:latin typeface="Times New Roman" panose="02020603050405020304" pitchFamily="18" charset="0"/>
                <a:ea typeface="微软雅黑" pitchFamily="34" charset="-122"/>
                <a:cs typeface="Times New Roman" panose="02020603050405020304" pitchFamily="18" charset="0"/>
              </a:rPr>
              <a:t>0</a:t>
            </a:r>
            <a:r>
              <a:rPr lang="zh-CN" altLang="en-US" sz="2800" dirty="0">
                <a:latin typeface="微软雅黑" pitchFamily="34" charset="-122"/>
                <a:ea typeface="微软雅黑" pitchFamily="34" charset="-122"/>
              </a:rPr>
              <a:t>表示。 </a:t>
            </a:r>
          </a:p>
        </p:txBody>
      </p:sp>
      <p:sp>
        <p:nvSpPr>
          <p:cNvPr id="4" name="Rectangle 9"/>
          <p:cNvSpPr>
            <a:spLocks noChangeArrowheads="1"/>
          </p:cNvSpPr>
          <p:nvPr/>
        </p:nvSpPr>
        <p:spPr bwMode="auto">
          <a:xfrm>
            <a:off x="539552" y="3212976"/>
            <a:ext cx="7977190" cy="2031325"/>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just">
              <a:lnSpc>
                <a:spcPct val="150000"/>
              </a:lnSpc>
              <a:spcAft>
                <a:spcPts val="600"/>
              </a:spcAft>
            </a:pPr>
            <a:r>
              <a:rPr lang="zh-CN" altLang="en-US" sz="2800" dirty="0">
                <a:solidFill>
                  <a:schemeClr val="tx1"/>
                </a:solidFill>
                <a:latin typeface="微软雅黑" pitchFamily="34" charset="-122"/>
                <a:ea typeface="微软雅黑" pitchFamily="34" charset="-122"/>
              </a:rPr>
              <a:t>所以，热力学能㶲又可理解为是系统初态与环境状态的热力学能差减去放给环境的热量和排斥大气所做的功。相应的</a:t>
            </a:r>
            <a:r>
              <a:rPr lang="zh-CN" altLang="en-US" sz="2300" kern="300" spc="-600" dirty="0">
                <a:solidFill>
                  <a:schemeClr val="tx1"/>
                </a:solidFill>
                <a:latin typeface="微软雅黑" pitchFamily="34" charset="-122"/>
                <a:ea typeface="微软雅黑" pitchFamily="34" charset="-122"/>
              </a:rPr>
              <a:t>火无      </a:t>
            </a:r>
            <a:r>
              <a:rPr lang="zh-CN" altLang="en-US" sz="2800" dirty="0">
                <a:solidFill>
                  <a:schemeClr val="tx1"/>
                </a:solidFill>
                <a:latin typeface="微软雅黑" pitchFamily="34" charset="-122"/>
                <a:ea typeface="微软雅黑" pitchFamily="34" charset="-122"/>
              </a:rPr>
              <a:t>即为</a:t>
            </a:r>
            <a:endParaRPr lang="en-US" altLang="zh-CN" sz="2800" dirty="0">
              <a:solidFill>
                <a:schemeClr val="tx1"/>
              </a:solidFill>
              <a:latin typeface="微软雅黑" pitchFamily="34" charset="-122"/>
              <a:ea typeface="微软雅黑" pitchFamily="34" charset="-122"/>
            </a:endParaRPr>
          </a:p>
        </p:txBody>
      </p:sp>
      <p:sp>
        <p:nvSpPr>
          <p:cNvPr id="7" name="矩形 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44</a:t>
            </a:r>
            <a:endParaRPr lang="zh-CN" altLang="en-US" sz="2000" b="1" dirty="0">
              <a:solidFill>
                <a:schemeClr val="tx1"/>
              </a:solidFill>
              <a:latin typeface="黑体" pitchFamily="49" charset="-122"/>
              <a:ea typeface="黑体" pitchFamily="49" charset="-122"/>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496667463"/>
              </p:ext>
            </p:extLst>
          </p:nvPr>
        </p:nvGraphicFramePr>
        <p:xfrm>
          <a:off x="2123728" y="5445224"/>
          <a:ext cx="4999037" cy="541337"/>
        </p:xfrm>
        <a:graphic>
          <a:graphicData uri="http://schemas.openxmlformats.org/presentationml/2006/ole">
            <mc:AlternateContent xmlns:mc="http://schemas.openxmlformats.org/markup-compatibility/2006">
              <mc:Choice xmlns:v="urn:schemas-microsoft-com:vml" Requires="v">
                <p:oleObj spid="_x0000_s65696" name="公式" r:id="rId3" imgW="1854000" imgH="203040" progId="Equation.3">
                  <p:embed/>
                </p:oleObj>
              </mc:Choice>
              <mc:Fallback>
                <p:oleObj name="公式" r:id="rId3" imgW="1854000" imgH="203040" progId="Equation.3">
                  <p:embed/>
                  <p:pic>
                    <p:nvPicPr>
                      <p:cNvPr id="0" name="Object 7"/>
                      <p:cNvPicPr>
                        <a:picLocks noChangeAspect="1" noChangeArrowheads="1"/>
                      </p:cNvPicPr>
                      <p:nvPr/>
                    </p:nvPicPr>
                    <p:blipFill>
                      <a:blip r:embed="rId4"/>
                      <a:srcRect/>
                      <a:stretch>
                        <a:fillRect/>
                      </a:stretch>
                    </p:blipFill>
                    <p:spPr bwMode="auto">
                      <a:xfrm>
                        <a:off x="2123728" y="5445224"/>
                        <a:ext cx="4999037"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8"/>
          <p:cNvSpPr>
            <a:spLocks noChangeArrowheads="1"/>
          </p:cNvSpPr>
          <p:nvPr/>
        </p:nvSpPr>
        <p:spPr bwMode="auto">
          <a:xfrm>
            <a:off x="539552" y="1916832"/>
            <a:ext cx="1408240" cy="519113"/>
          </a:xfrm>
          <a:prstGeom prst="rect">
            <a:avLst/>
          </a:prstGeom>
          <a:noFill/>
          <a:ln w="9525">
            <a:noFill/>
            <a:miter lim="800000"/>
            <a:headEnd/>
            <a:tailEnd/>
          </a:ln>
          <a:effectLst/>
        </p:spPr>
        <p:txBody>
          <a:bodyPr wrap="square" anchor="ctr">
            <a:spAutoFit/>
          </a:bodyPr>
          <a:lstStyle/>
          <a:p>
            <a:r>
              <a:rPr lang="zh-CN" altLang="en-US" sz="2800" dirty="0">
                <a:solidFill>
                  <a:prstClr val="black"/>
                </a:solidFill>
                <a:latin typeface="微软雅黑" pitchFamily="34" charset="-122"/>
                <a:ea typeface="微软雅黑" pitchFamily="34" charset="-122"/>
              </a:rPr>
              <a:t>整理得</a:t>
            </a:r>
          </a:p>
        </p:txBody>
      </p:sp>
      <p:graphicFrame>
        <p:nvGraphicFramePr>
          <p:cNvPr id="9" name="Object 7"/>
          <p:cNvGraphicFramePr>
            <a:graphicFrameLocks noChangeAspect="1"/>
          </p:cNvGraphicFramePr>
          <p:nvPr>
            <p:extLst>
              <p:ext uri="{D42A27DB-BD31-4B8C-83A1-F6EECF244321}">
                <p14:modId xmlns:p14="http://schemas.microsoft.com/office/powerpoint/2010/main" val="3758367216"/>
              </p:ext>
            </p:extLst>
          </p:nvPr>
        </p:nvGraphicFramePr>
        <p:xfrm>
          <a:off x="1691680" y="2492896"/>
          <a:ext cx="6022631" cy="563434"/>
        </p:xfrm>
        <a:graphic>
          <a:graphicData uri="http://schemas.openxmlformats.org/presentationml/2006/ole">
            <mc:AlternateContent xmlns:mc="http://schemas.openxmlformats.org/markup-compatibility/2006">
              <mc:Choice xmlns:v="urn:schemas-microsoft-com:vml" Requires="v">
                <p:oleObj spid="_x0000_s65697" name="公式" r:id="rId5" imgW="2145960" imgH="203040" progId="Equation.3">
                  <p:embed/>
                </p:oleObj>
              </mc:Choice>
              <mc:Fallback>
                <p:oleObj name="公式" r:id="rId5" imgW="2145960" imgH="203040" progId="Equation.3">
                  <p:embed/>
                  <p:pic>
                    <p:nvPicPr>
                      <p:cNvPr id="0" name=""/>
                      <p:cNvPicPr>
                        <a:picLocks noChangeAspect="1" noChangeArrowheads="1"/>
                      </p:cNvPicPr>
                      <p:nvPr/>
                    </p:nvPicPr>
                    <p:blipFill>
                      <a:blip r:embed="rId6"/>
                      <a:srcRect/>
                      <a:stretch>
                        <a:fillRect/>
                      </a:stretch>
                    </p:blipFill>
                    <p:spPr bwMode="auto">
                      <a:xfrm>
                        <a:off x="1691680" y="2492896"/>
                        <a:ext cx="6022631" cy="563434"/>
                      </a:xfrm>
                      <a:prstGeom prst="rect">
                        <a:avLst/>
                      </a:prstGeom>
                      <a:noFill/>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checkerboard(across)">
                                      <p:cBhvr>
                                        <p:cTn id="11" dur="500"/>
                                        <p:tgtEl>
                                          <p:spTgt spid="8"/>
                                        </p:tgtEl>
                                      </p:cBhvr>
                                    </p:animEffect>
                                  </p:childTnLst>
                                </p:cTn>
                              </p:par>
                              <p:par>
                                <p:cTn id="12" presetID="5" presetClass="entr" presetSubtype="10"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checkerboard(across)">
                                      <p:cBhvr>
                                        <p:cTn id="14" dur="5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465049" y="2748141"/>
            <a:ext cx="8001056" cy="1298817"/>
          </a:xfrm>
          <a:prstGeom prst="rect">
            <a:avLst/>
          </a:prstGeom>
          <a:noFill/>
          <a:ln w="9525">
            <a:noFill/>
            <a:miter lim="800000"/>
            <a:headEnd/>
            <a:tailEnd/>
          </a:ln>
          <a:effectLst/>
        </p:spPr>
        <p:txBody>
          <a:bodyPr wrap="square">
            <a:spAutoFit/>
          </a:bodyPr>
          <a:lstStyle/>
          <a:p>
            <a:pPr>
              <a:lnSpc>
                <a:spcPct val="140000"/>
              </a:lnSpc>
            </a:pPr>
            <a:r>
              <a:rPr lang="zh-CN" altLang="en-US" sz="2800" dirty="0">
                <a:latin typeface="微软雅黑" pitchFamily="34" charset="-122"/>
                <a:ea typeface="微软雅黑" pitchFamily="34" charset="-122"/>
              </a:rPr>
              <a:t>由热力学能㶲和</a:t>
            </a:r>
            <a:r>
              <a:rPr lang="zh-CN" altLang="en-US" sz="2300" kern="300" spc="-600" dirty="0">
                <a:latin typeface="微软雅黑" pitchFamily="34" charset="-122"/>
                <a:ea typeface="微软雅黑" pitchFamily="34" charset="-122"/>
              </a:rPr>
              <a:t>火无</a:t>
            </a:r>
            <a:r>
              <a:rPr lang="zh-CN" altLang="en-US" sz="2300" kern="300" spc="-600" dirty="0">
                <a:solidFill>
                  <a:srgbClr val="FF0000"/>
                </a:solidFill>
                <a:latin typeface="微软雅黑" pitchFamily="34" charset="-122"/>
                <a:ea typeface="微软雅黑" pitchFamily="34" charset="-122"/>
              </a:rPr>
              <a:t>        </a:t>
            </a:r>
            <a:r>
              <a:rPr lang="zh-CN" altLang="en-US" sz="2800" dirty="0">
                <a:latin typeface="微软雅黑" pitchFamily="34" charset="-122"/>
                <a:ea typeface="微软雅黑" pitchFamily="34" charset="-122"/>
              </a:rPr>
              <a:t>的公式</a:t>
            </a:r>
            <a:r>
              <a:rPr lang="en-US" altLang="zh-CN" sz="2800" dirty="0">
                <a:latin typeface="微软雅黑" pitchFamily="34" charset="-122"/>
                <a:ea typeface="微软雅黑" pitchFamily="34" charset="-122"/>
              </a:rPr>
              <a:t>, </a:t>
            </a:r>
            <a:r>
              <a:rPr lang="zh-CN" altLang="en-US" sz="2800" dirty="0">
                <a:solidFill>
                  <a:srgbClr val="0070C0"/>
                </a:solidFill>
                <a:latin typeface="微软雅黑" pitchFamily="34" charset="-122"/>
                <a:ea typeface="微软雅黑" pitchFamily="34" charset="-122"/>
              </a:rPr>
              <a:t>热力学能㶲也可以看作系统初态时的热力学能减去</a:t>
            </a:r>
            <a:r>
              <a:rPr lang="zh-CN" altLang="en-US" sz="2300" kern="300" spc="-600" dirty="0">
                <a:solidFill>
                  <a:srgbClr val="FF0000"/>
                </a:solidFill>
                <a:latin typeface="微软雅黑" pitchFamily="34" charset="-122"/>
                <a:ea typeface="微软雅黑" pitchFamily="34" charset="-122"/>
              </a:rPr>
              <a:t>火无</a:t>
            </a:r>
            <a:r>
              <a:rPr lang="zh-CN" altLang="en-US" sz="2800" dirty="0">
                <a:solidFill>
                  <a:srgbClr val="0070C0"/>
                </a:solidFill>
                <a:latin typeface="微软雅黑" pitchFamily="34" charset="-122"/>
                <a:ea typeface="微软雅黑" pitchFamily="34" charset="-122"/>
              </a:rPr>
              <a:t>，</a:t>
            </a:r>
            <a:r>
              <a:rPr lang="zh-CN" altLang="en-US" sz="2800" dirty="0">
                <a:latin typeface="微软雅黑" pitchFamily="34" charset="-122"/>
                <a:ea typeface="微软雅黑" pitchFamily="34" charset="-122"/>
              </a:rPr>
              <a:t>即</a:t>
            </a:r>
          </a:p>
        </p:txBody>
      </p:sp>
      <p:graphicFrame>
        <p:nvGraphicFramePr>
          <p:cNvPr id="5" name="Object 5"/>
          <p:cNvGraphicFramePr>
            <a:graphicFrameLocks noChangeAspect="1"/>
          </p:cNvGraphicFramePr>
          <p:nvPr>
            <p:extLst>
              <p:ext uri="{D42A27DB-BD31-4B8C-83A1-F6EECF244321}">
                <p14:modId xmlns:p14="http://schemas.microsoft.com/office/powerpoint/2010/main" val="3199608816"/>
              </p:ext>
            </p:extLst>
          </p:nvPr>
        </p:nvGraphicFramePr>
        <p:xfrm>
          <a:off x="3347864" y="4046958"/>
          <a:ext cx="2045116" cy="545563"/>
        </p:xfrm>
        <a:graphic>
          <a:graphicData uri="http://schemas.openxmlformats.org/presentationml/2006/ole">
            <mc:AlternateContent xmlns:mc="http://schemas.openxmlformats.org/markup-compatibility/2006">
              <mc:Choice xmlns:v="urn:schemas-microsoft-com:vml" Requires="v">
                <p:oleObj spid="_x0000_s66827" name="公式" r:id="rId3" imgW="888614" imgH="241195" progId="Equation.3">
                  <p:embed/>
                </p:oleObj>
              </mc:Choice>
              <mc:Fallback>
                <p:oleObj name="公式" r:id="rId3" imgW="888614" imgH="241195"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7864" y="4046958"/>
                        <a:ext cx="2045116" cy="545563"/>
                      </a:xfrm>
                      <a:prstGeom prst="rect">
                        <a:avLst/>
                      </a:prstGeom>
                      <a:noFill/>
                    </p:spPr>
                  </p:pic>
                </p:oleObj>
              </mc:Fallback>
            </mc:AlternateContent>
          </a:graphicData>
        </a:graphic>
      </p:graphicFrame>
      <p:graphicFrame>
        <p:nvGraphicFramePr>
          <p:cNvPr id="6" name="Object 7"/>
          <p:cNvGraphicFramePr>
            <a:graphicFrameLocks noChangeAspect="1"/>
          </p:cNvGraphicFramePr>
          <p:nvPr>
            <p:extLst>
              <p:ext uri="{D42A27DB-BD31-4B8C-83A1-F6EECF244321}">
                <p14:modId xmlns:p14="http://schemas.microsoft.com/office/powerpoint/2010/main" val="105203480"/>
              </p:ext>
            </p:extLst>
          </p:nvPr>
        </p:nvGraphicFramePr>
        <p:xfrm>
          <a:off x="3491880" y="4747033"/>
          <a:ext cx="1908819" cy="539118"/>
        </p:xfrm>
        <a:graphic>
          <a:graphicData uri="http://schemas.openxmlformats.org/presentationml/2006/ole">
            <mc:AlternateContent xmlns:mc="http://schemas.openxmlformats.org/markup-compatibility/2006">
              <mc:Choice xmlns:v="urn:schemas-microsoft-com:vml" Requires="v">
                <p:oleObj spid="_x0000_s66828" name="公式" r:id="rId5" imgW="672840" imgH="190440" progId="Equation.3">
                  <p:embed/>
                </p:oleObj>
              </mc:Choice>
              <mc:Fallback>
                <p:oleObj name="公式" r:id="rId5" imgW="672840" imgH="190440" progId="Equation.3">
                  <p:embed/>
                  <p:pic>
                    <p:nvPicPr>
                      <p:cNvPr id="0" name="Object 7"/>
                      <p:cNvPicPr>
                        <a:picLocks noChangeAspect="1" noChangeArrowheads="1"/>
                      </p:cNvPicPr>
                      <p:nvPr/>
                    </p:nvPicPr>
                    <p:blipFill>
                      <a:blip r:embed="rId6"/>
                      <a:srcRect/>
                      <a:stretch>
                        <a:fillRect/>
                      </a:stretch>
                    </p:blipFill>
                    <p:spPr bwMode="auto">
                      <a:xfrm>
                        <a:off x="3491880" y="4747033"/>
                        <a:ext cx="1908819" cy="539118"/>
                      </a:xfrm>
                      <a:prstGeom prst="rect">
                        <a:avLst/>
                      </a:prstGeom>
                      <a:noFill/>
                    </p:spPr>
                  </p:pic>
                </p:oleObj>
              </mc:Fallback>
            </mc:AlternateContent>
          </a:graphicData>
        </a:graphic>
      </p:graphicFrame>
      <p:sp>
        <p:nvSpPr>
          <p:cNvPr id="7" name="Rectangle 9"/>
          <p:cNvSpPr>
            <a:spLocks noChangeArrowheads="1"/>
          </p:cNvSpPr>
          <p:nvPr/>
        </p:nvSpPr>
        <p:spPr bwMode="auto">
          <a:xfrm>
            <a:off x="1212823" y="5502175"/>
            <a:ext cx="996950"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可得</a:t>
            </a:r>
            <a:r>
              <a:rPr lang="zh-CN" altLang="en-US" sz="2800" dirty="0"/>
              <a:t> </a:t>
            </a:r>
          </a:p>
        </p:txBody>
      </p:sp>
      <p:sp>
        <p:nvSpPr>
          <p:cNvPr id="8" name="Rectangle 10"/>
          <p:cNvSpPr>
            <a:spLocks noChangeArrowheads="1"/>
          </p:cNvSpPr>
          <p:nvPr/>
        </p:nvSpPr>
        <p:spPr bwMode="auto">
          <a:xfrm>
            <a:off x="683568" y="4767038"/>
            <a:ext cx="2425700"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利用前面公式 </a:t>
            </a:r>
          </a:p>
        </p:txBody>
      </p:sp>
      <p:graphicFrame>
        <p:nvGraphicFramePr>
          <p:cNvPr id="9" name="Object 11"/>
          <p:cNvGraphicFramePr>
            <a:graphicFrameLocks noChangeAspect="1"/>
          </p:cNvGraphicFramePr>
          <p:nvPr>
            <p:extLst>
              <p:ext uri="{D42A27DB-BD31-4B8C-83A1-F6EECF244321}">
                <p14:modId xmlns:p14="http://schemas.microsoft.com/office/powerpoint/2010/main" val="2002244858"/>
              </p:ext>
            </p:extLst>
          </p:nvPr>
        </p:nvGraphicFramePr>
        <p:xfrm>
          <a:off x="3810980" y="5502175"/>
          <a:ext cx="1070584" cy="510059"/>
        </p:xfrm>
        <a:graphic>
          <a:graphicData uri="http://schemas.openxmlformats.org/presentationml/2006/ole">
            <mc:AlternateContent xmlns:mc="http://schemas.openxmlformats.org/markup-compatibility/2006">
              <mc:Choice xmlns:v="urn:schemas-microsoft-com:vml" Requires="v">
                <p:oleObj spid="_x0000_s66829" name="公式" r:id="rId7" imgW="393480" imgH="190440" progId="Equation.3">
                  <p:embed/>
                </p:oleObj>
              </mc:Choice>
              <mc:Fallback>
                <p:oleObj name="公式" r:id="rId7" imgW="393480" imgH="190440" progId="Equation.3">
                  <p:embed/>
                  <p:pic>
                    <p:nvPicPr>
                      <p:cNvPr id="0" name="Object 11"/>
                      <p:cNvPicPr>
                        <a:picLocks noChangeAspect="1" noChangeArrowheads="1"/>
                      </p:cNvPicPr>
                      <p:nvPr/>
                    </p:nvPicPr>
                    <p:blipFill>
                      <a:blip r:embed="rId8"/>
                      <a:srcRect/>
                      <a:stretch>
                        <a:fillRect/>
                      </a:stretch>
                    </p:blipFill>
                    <p:spPr bwMode="auto">
                      <a:xfrm>
                        <a:off x="3810980" y="5502175"/>
                        <a:ext cx="1070584" cy="510059"/>
                      </a:xfrm>
                      <a:prstGeom prst="rect">
                        <a:avLst/>
                      </a:prstGeom>
                      <a:noFill/>
                    </p:spPr>
                  </p:pic>
                </p:oleObj>
              </mc:Fallback>
            </mc:AlternateContent>
          </a:graphicData>
        </a:graphic>
      </p:graphicFrame>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45</a:t>
            </a:r>
            <a:endParaRPr lang="zh-CN" altLang="en-US" sz="2000" b="1" dirty="0">
              <a:solidFill>
                <a:schemeClr val="tx1"/>
              </a:solidFill>
              <a:latin typeface="黑体" pitchFamily="49" charset="-122"/>
              <a:ea typeface="黑体" pitchFamily="49" charset="-122"/>
            </a:endParaRPr>
          </a:p>
        </p:txBody>
      </p:sp>
      <p:sp>
        <p:nvSpPr>
          <p:cNvPr id="11" name="Rectangle 9"/>
          <p:cNvSpPr>
            <a:spLocks noChangeArrowheads="1"/>
          </p:cNvSpPr>
          <p:nvPr/>
        </p:nvSpPr>
        <p:spPr bwMode="auto">
          <a:xfrm>
            <a:off x="491410" y="1194352"/>
            <a:ext cx="7977190" cy="1643527"/>
          </a:xfrm>
          <a:prstGeom prst="rect">
            <a:avLst/>
          </a:prstGeom>
          <a:noFill/>
          <a:ln w="9525">
            <a:noFill/>
            <a:miter lim="800000"/>
            <a:headEnd/>
            <a:tailEnd/>
          </a:ln>
          <a:effectLst/>
        </p:spPr>
        <p:txBody>
          <a:bodyPr wrap="square">
            <a:spAutoFit/>
          </a:bodyPr>
          <a:lstStyle/>
          <a:p>
            <a:pPr algn="just">
              <a:lnSpc>
                <a:spcPct val="120000"/>
              </a:lnSpc>
            </a:pPr>
            <a:r>
              <a:rPr lang="zh-CN" altLang="en-US" sz="2800" dirty="0">
                <a:latin typeface="微软雅黑" pitchFamily="34" charset="-122"/>
                <a:ea typeface="微软雅黑" pitchFamily="34" charset="-122"/>
              </a:rPr>
              <a:t>在一定的环境条件下，热力学能㶲和</a:t>
            </a:r>
            <a:r>
              <a:rPr lang="zh-CN" altLang="en-US" sz="2300" kern="300" spc="-600" dirty="0">
                <a:latin typeface="微软雅黑" pitchFamily="34" charset="-122"/>
                <a:ea typeface="微软雅黑" pitchFamily="34" charset="-122"/>
              </a:rPr>
              <a:t>火无</a:t>
            </a:r>
            <a:r>
              <a:rPr lang="zh-CN" altLang="en-US" sz="1400" kern="300" spc="-600" dirty="0">
                <a:solidFill>
                  <a:srgbClr val="4B3EEE"/>
                </a:solidFill>
                <a:latin typeface="微软雅黑" pitchFamily="34" charset="-122"/>
                <a:ea typeface="微软雅黑" pitchFamily="34" charset="-122"/>
              </a:rPr>
              <a:t> </a:t>
            </a:r>
            <a:r>
              <a:rPr lang="zh-CN" altLang="en-US" sz="2800" dirty="0">
                <a:latin typeface="微软雅黑" pitchFamily="34" charset="-122"/>
                <a:ea typeface="微软雅黑" pitchFamily="34" charset="-122"/>
              </a:rPr>
              <a:t>只与系统的初态有关，因此</a:t>
            </a:r>
            <a:r>
              <a:rPr lang="zh-CN" altLang="en-US" sz="2800" dirty="0"/>
              <a:t>，</a:t>
            </a:r>
            <a:r>
              <a:rPr lang="zh-CN" altLang="en-US" sz="2800" dirty="0">
                <a:solidFill>
                  <a:srgbClr val="FF0000"/>
                </a:solidFill>
                <a:latin typeface="微软雅黑" pitchFamily="34" charset="-122"/>
                <a:ea typeface="微软雅黑" pitchFamily="34" charset="-122"/>
              </a:rPr>
              <a:t>热力学能㶲和</a:t>
            </a:r>
            <a:r>
              <a:rPr lang="zh-CN" altLang="en-US" sz="2300" kern="300" spc="-600" dirty="0">
                <a:solidFill>
                  <a:srgbClr val="FF0000"/>
                </a:solidFill>
                <a:latin typeface="微软雅黑" pitchFamily="34" charset="-122"/>
                <a:ea typeface="微软雅黑" pitchFamily="34" charset="-122"/>
              </a:rPr>
              <a:t>火无</a:t>
            </a:r>
            <a:r>
              <a:rPr lang="zh-CN" altLang="en-US" sz="1400" kern="300" spc="-600" dirty="0">
                <a:solidFill>
                  <a:srgbClr val="4B3EEE"/>
                </a:solidFill>
                <a:latin typeface="微软雅黑" pitchFamily="34" charset="-122"/>
                <a:ea typeface="微软雅黑" pitchFamily="34" charset="-122"/>
              </a:rPr>
              <a:t> </a:t>
            </a:r>
            <a:r>
              <a:rPr lang="zh-CN" altLang="en-US" sz="2800" dirty="0">
                <a:solidFill>
                  <a:srgbClr val="FF0000"/>
                </a:solidFill>
                <a:latin typeface="微软雅黑" pitchFamily="34" charset="-122"/>
                <a:ea typeface="微软雅黑" pitchFamily="34" charset="-122"/>
              </a:rPr>
              <a:t>也可作为状态参数。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 presetClass="entr" presetSubtype="16"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box(in)">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checkerboard(across)">
                                      <p:cBhvr>
                                        <p:cTn id="16" dur="500"/>
                                        <p:tgtEl>
                                          <p:spTgt spid="8"/>
                                        </p:tgtEl>
                                      </p:cBhvr>
                                    </p:animEffect>
                                  </p:childTnLst>
                                </p:cTn>
                              </p:par>
                              <p:par>
                                <p:cTn id="17" presetID="5" presetClass="entr" presetSubtype="1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par>
                                <p:cTn id="25" presetID="3" presetClass="entr" presetSubtype="10" fill="hold"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9"/>
          <p:cNvSpPr>
            <a:spLocks noChangeArrowheads="1"/>
          </p:cNvSpPr>
          <p:nvPr/>
        </p:nvSpPr>
        <p:spPr bwMode="auto">
          <a:xfrm>
            <a:off x="539552" y="1071545"/>
            <a:ext cx="7817522" cy="1200329"/>
          </a:xfrm>
          <a:prstGeom prst="rect">
            <a:avLst/>
          </a:prstGeom>
          <a:noFill/>
          <a:ln w="9525">
            <a:noFill/>
            <a:miter lim="800000"/>
            <a:headEnd/>
            <a:tailEnd/>
          </a:ln>
          <a:effectLst/>
        </p:spPr>
        <p:txBody>
          <a:bodyPr wrap="square">
            <a:spAutoFit/>
          </a:bodyPr>
          <a:lstStyle/>
          <a:p>
            <a:pPr algn="just">
              <a:lnSpc>
                <a:spcPct val="150000"/>
              </a:lnSpc>
            </a:pPr>
            <a:r>
              <a:rPr lang="zh-CN" altLang="en-US" sz="2400" dirty="0">
                <a:solidFill>
                  <a:srgbClr val="0070C0"/>
                </a:solidFill>
                <a:latin typeface="微软雅黑" pitchFamily="34" charset="-122"/>
                <a:ea typeface="微软雅黑" pitchFamily="34" charset="-122"/>
              </a:rPr>
              <a:t>上式说明闭口系工质只与环境交换热量时，所含有的能量就是热力学能。</a:t>
            </a:r>
            <a:endParaRPr lang="en-US" altLang="zh-CN" sz="2400" dirty="0">
              <a:latin typeface="微软雅黑" pitchFamily="34" charset="-122"/>
              <a:ea typeface="微软雅黑" pitchFamily="34" charset="-122"/>
            </a:endParaRPr>
          </a:p>
        </p:txBody>
      </p:sp>
      <p:sp>
        <p:nvSpPr>
          <p:cNvPr id="4" name="Rectangle 9"/>
          <p:cNvSpPr>
            <a:spLocks noChangeArrowheads="1"/>
          </p:cNvSpPr>
          <p:nvPr/>
        </p:nvSpPr>
        <p:spPr bwMode="auto">
          <a:xfrm>
            <a:off x="611560" y="2996952"/>
            <a:ext cx="8001056" cy="2243050"/>
          </a:xfrm>
          <a:prstGeom prst="rect">
            <a:avLst/>
          </a:prstGeom>
          <a:noFill/>
          <a:ln w="9525">
            <a:noFill/>
            <a:miter lim="800000"/>
            <a:headEnd/>
            <a:tailEnd/>
          </a:ln>
          <a:effectLst/>
        </p:spPr>
        <p:txBody>
          <a:bodyPr wrap="square">
            <a:spAutoFit/>
          </a:bodyPr>
          <a:lstStyle/>
          <a:p>
            <a:pPr algn="just">
              <a:lnSpc>
                <a:spcPct val="150000"/>
              </a:lnSpc>
            </a:pPr>
            <a:r>
              <a:rPr lang="zh-CN" altLang="en-US" sz="2400" dirty="0">
                <a:latin typeface="微软雅黑" pitchFamily="34" charset="-122"/>
                <a:ea typeface="微软雅黑" pitchFamily="34" charset="-122"/>
              </a:rPr>
              <a:t>如果系统从状态 </a:t>
            </a:r>
            <a:r>
              <a:rPr lang="en-US" altLang="zh-CN" sz="2400" b="1" dirty="0">
                <a:latin typeface="Times New Roman" pitchFamily="18" charset="0"/>
              </a:rPr>
              <a:t>1</a:t>
            </a:r>
            <a:r>
              <a:rPr lang="zh-CN" altLang="en-US" sz="2400" b="1" dirty="0"/>
              <a:t>（</a:t>
            </a:r>
            <a:r>
              <a:rPr lang="en-US" altLang="zh-CN" sz="2400" b="1" i="1" dirty="0">
                <a:latin typeface="Times New Roman" pitchFamily="18" charset="0"/>
              </a:rPr>
              <a:t>p</a:t>
            </a:r>
            <a:r>
              <a:rPr lang="en-US" altLang="zh-CN" sz="2400" b="1" baseline="-25000" dirty="0">
                <a:latin typeface="Times New Roman" pitchFamily="18" charset="0"/>
              </a:rPr>
              <a:t>1 </a:t>
            </a:r>
            <a:r>
              <a:rPr lang="en-US" altLang="zh-CN" sz="2400" b="1" dirty="0">
                <a:latin typeface="Times New Roman" pitchFamily="18" charset="0"/>
              </a:rPr>
              <a:t>, </a:t>
            </a:r>
            <a:r>
              <a:rPr lang="en-US" altLang="zh-CN" sz="2400" b="1" i="1" dirty="0">
                <a:latin typeface="Times New Roman" pitchFamily="18" charset="0"/>
              </a:rPr>
              <a:t>T</a:t>
            </a:r>
            <a:r>
              <a:rPr lang="en-US" altLang="zh-CN" sz="2400" b="1" baseline="-25000" dirty="0">
                <a:latin typeface="Times New Roman" pitchFamily="18" charset="0"/>
              </a:rPr>
              <a:t>1</a:t>
            </a:r>
            <a:r>
              <a:rPr lang="zh-CN" altLang="en-US" sz="2400" b="1" dirty="0"/>
              <a:t>）</a:t>
            </a:r>
            <a:r>
              <a:rPr lang="zh-CN" altLang="en-US" sz="2400" dirty="0">
                <a:latin typeface="微软雅黑" pitchFamily="34" charset="-122"/>
                <a:ea typeface="微软雅黑" pitchFamily="34" charset="-122"/>
              </a:rPr>
              <a:t>可逆地变化到状态 </a:t>
            </a:r>
            <a:r>
              <a:rPr lang="en-US" altLang="zh-CN" sz="2400" b="1" dirty="0">
                <a:latin typeface="Times New Roman" panose="02020603050405020304" pitchFamily="18" charset="0"/>
                <a:ea typeface="微软雅黑" pitchFamily="34" charset="-122"/>
                <a:cs typeface="Times New Roman" panose="02020603050405020304" pitchFamily="18" charset="0"/>
              </a:rPr>
              <a:t>2</a:t>
            </a:r>
            <a:r>
              <a:rPr lang="zh-CN" altLang="en-US" sz="2400" b="1" dirty="0">
                <a:latin typeface="+mn-ea"/>
              </a:rPr>
              <a:t>（</a:t>
            </a:r>
            <a:r>
              <a:rPr lang="en-US" altLang="zh-CN" sz="2400" b="1" i="1" dirty="0">
                <a:latin typeface="Times New Roman" pitchFamily="18" charset="0"/>
              </a:rPr>
              <a:t>p</a:t>
            </a:r>
            <a:r>
              <a:rPr lang="en-US" altLang="zh-CN" sz="2400" b="1" baseline="-25000" dirty="0">
                <a:latin typeface="Times New Roman" pitchFamily="18" charset="0"/>
              </a:rPr>
              <a:t>2 </a:t>
            </a:r>
            <a:r>
              <a:rPr lang="en-US" altLang="zh-CN" sz="2400" b="1" dirty="0">
                <a:latin typeface="Times New Roman" pitchFamily="18" charset="0"/>
              </a:rPr>
              <a:t>, </a:t>
            </a:r>
            <a:r>
              <a:rPr lang="en-US" altLang="zh-CN" sz="2400" b="1" i="1" dirty="0">
                <a:latin typeface="Times New Roman" pitchFamily="18" charset="0"/>
              </a:rPr>
              <a:t>T</a:t>
            </a:r>
            <a:r>
              <a:rPr lang="en-US" altLang="zh-CN" sz="2400" b="1" baseline="-25000" dirty="0">
                <a:latin typeface="Times New Roman" pitchFamily="18" charset="0"/>
              </a:rPr>
              <a:t>2</a:t>
            </a:r>
            <a:r>
              <a:rPr lang="zh-CN" altLang="en-US" sz="2400" b="1" dirty="0">
                <a:latin typeface="+mj-ea"/>
                <a:ea typeface="+mj-ea"/>
              </a:rPr>
              <a:t>）</a:t>
            </a:r>
            <a:r>
              <a:rPr lang="en-US" altLang="zh-CN" sz="2400" b="1" dirty="0">
                <a:latin typeface="+mj-ea"/>
                <a:ea typeface="+mj-ea"/>
              </a:rPr>
              <a:t>,</a:t>
            </a:r>
            <a:r>
              <a:rPr lang="zh-CN" altLang="en-US" sz="2400" dirty="0">
                <a:latin typeface="微软雅黑" pitchFamily="34" charset="-122"/>
                <a:ea typeface="微软雅黑" pitchFamily="34" charset="-122"/>
              </a:rPr>
              <a:t>过程中可以做出的最大有用功 </a:t>
            </a:r>
            <a:r>
              <a:rPr lang="en-US" altLang="zh-CN" sz="2400" dirty="0">
                <a:solidFill>
                  <a:srgbClr val="FF0000"/>
                </a:solidFill>
                <a:latin typeface="微软雅黑" pitchFamily="34" charset="-122"/>
                <a:ea typeface="微软雅黑" pitchFamily="34" charset="-122"/>
              </a:rPr>
              <a:t>(</a:t>
            </a:r>
            <a:r>
              <a:rPr lang="zh-CN" altLang="en-US" sz="2400" dirty="0">
                <a:solidFill>
                  <a:srgbClr val="FF0000"/>
                </a:solidFill>
                <a:latin typeface="微软雅黑" pitchFamily="34" charset="-122"/>
                <a:ea typeface="微软雅黑" pitchFamily="34" charset="-122"/>
              </a:rPr>
              <a:t>不是做功能力</a:t>
            </a:r>
            <a:r>
              <a:rPr lang="en-US" altLang="zh-CN" sz="2400" dirty="0">
                <a:solidFill>
                  <a:srgbClr val="FF0000"/>
                </a:solidFill>
                <a:latin typeface="微软雅黑" pitchFamily="34" charset="-122"/>
                <a:ea typeface="微软雅黑" pitchFamily="34" charset="-122"/>
              </a:rPr>
              <a:t>) </a:t>
            </a:r>
            <a:r>
              <a:rPr lang="zh-CN" altLang="en-US" sz="2400" dirty="0">
                <a:latin typeface="微软雅黑" pitchFamily="34" charset="-122"/>
                <a:ea typeface="微软雅黑" pitchFamily="34" charset="-122"/>
              </a:rPr>
              <a:t>可以用状态</a:t>
            </a:r>
            <a:r>
              <a:rPr lang="en-US" altLang="zh-CN" sz="2400" b="1" dirty="0">
                <a:solidFill>
                  <a:prstClr val="black"/>
                </a:solidFill>
                <a:latin typeface="Times New Roman" pitchFamily="18" charset="0"/>
              </a:rPr>
              <a:t>1</a:t>
            </a:r>
            <a:r>
              <a:rPr lang="en-US" altLang="zh-CN" sz="1100" b="1" dirty="0">
                <a:solidFill>
                  <a:prstClr val="black"/>
                </a:solidFill>
                <a:latin typeface="Times New Roman" pitchFamily="18" charset="0"/>
              </a:rPr>
              <a:t> </a:t>
            </a:r>
            <a:r>
              <a:rPr lang="zh-CN" altLang="en-US" sz="2400" dirty="0">
                <a:latin typeface="微软雅黑" pitchFamily="34" charset="-122"/>
                <a:ea typeface="微软雅黑" pitchFamily="34" charset="-122"/>
              </a:rPr>
              <a:t>和状态</a:t>
            </a:r>
            <a:r>
              <a:rPr lang="zh-CN" altLang="en-US" sz="1050" dirty="0">
                <a:latin typeface="微软雅黑" pitchFamily="34" charset="-122"/>
                <a:ea typeface="微软雅黑" pitchFamily="34" charset="-122"/>
              </a:rPr>
              <a:t> </a:t>
            </a:r>
            <a:r>
              <a:rPr lang="en-US" altLang="zh-CN" sz="2400" b="1" dirty="0">
                <a:solidFill>
                  <a:prstClr val="black"/>
                </a:solidFill>
                <a:latin typeface="Times New Roman" panose="02020603050405020304" pitchFamily="18" charset="0"/>
                <a:ea typeface="微软雅黑" pitchFamily="34" charset="-122"/>
                <a:cs typeface="Times New Roman" panose="02020603050405020304" pitchFamily="18" charset="0"/>
              </a:rPr>
              <a:t>2</a:t>
            </a:r>
            <a:r>
              <a:rPr lang="en-US" altLang="zh-CN" sz="1050" b="1" dirty="0">
                <a:solidFill>
                  <a:prstClr val="black"/>
                </a:solidFill>
                <a:latin typeface="Times New Roman" panose="02020603050405020304" pitchFamily="18" charset="0"/>
                <a:ea typeface="微软雅黑" pitchFamily="34" charset="-122"/>
                <a:cs typeface="Times New Roman" panose="02020603050405020304" pitchFamily="18" charset="0"/>
              </a:rPr>
              <a:t> </a:t>
            </a:r>
            <a:r>
              <a:rPr lang="zh-CN" altLang="en-US" sz="2400" dirty="0">
                <a:latin typeface="微软雅黑" pitchFamily="34" charset="-122"/>
                <a:ea typeface="微软雅黑" pitchFamily="34" charset="-122"/>
              </a:rPr>
              <a:t>之间的热力学能㶲差表示。对于给定的环境压力和环境温度，它们仅与系统工质的初终状态有关。即</a:t>
            </a:r>
          </a:p>
        </p:txBody>
      </p:sp>
      <p:graphicFrame>
        <p:nvGraphicFramePr>
          <p:cNvPr id="67589" name="Object 5"/>
          <p:cNvGraphicFramePr>
            <a:graphicFrameLocks noChangeAspect="1"/>
          </p:cNvGraphicFramePr>
          <p:nvPr>
            <p:extLst>
              <p:ext uri="{D42A27DB-BD31-4B8C-83A1-F6EECF244321}">
                <p14:modId xmlns:p14="http://schemas.microsoft.com/office/powerpoint/2010/main" val="3780392571"/>
              </p:ext>
            </p:extLst>
          </p:nvPr>
        </p:nvGraphicFramePr>
        <p:xfrm>
          <a:off x="1763688" y="5373216"/>
          <a:ext cx="5544616" cy="492661"/>
        </p:xfrm>
        <a:graphic>
          <a:graphicData uri="http://schemas.openxmlformats.org/presentationml/2006/ole">
            <mc:AlternateContent xmlns:mc="http://schemas.openxmlformats.org/markup-compatibility/2006">
              <mc:Choice xmlns:v="urn:schemas-microsoft-com:vml" Requires="v">
                <p:oleObj spid="_x0000_s68698" name="公式" r:id="rId3" imgW="2679700" imgH="241300" progId="Equation.3">
                  <p:embed/>
                </p:oleObj>
              </mc:Choice>
              <mc:Fallback>
                <p:oleObj name="公式" r:id="rId3" imgW="2679700" imgH="241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688" y="5373216"/>
                        <a:ext cx="5544616" cy="492661"/>
                      </a:xfrm>
                      <a:prstGeom prst="rect">
                        <a:avLst/>
                      </a:prstGeom>
                      <a:noFill/>
                    </p:spPr>
                  </p:pic>
                </p:oleObj>
              </mc:Fallback>
            </mc:AlternateContent>
          </a:graphicData>
        </a:graphic>
      </p:graphicFrame>
      <p:sp>
        <p:nvSpPr>
          <p:cNvPr id="5" name="矩形 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46</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647825" y="2354979"/>
            <a:ext cx="6408712" cy="497957"/>
          </a:xfrm>
          <a:prstGeom prst="rect">
            <a:avLst/>
          </a:prstGeom>
        </p:spPr>
        <p:style>
          <a:lnRef idx="1">
            <a:schemeClr val="accent2"/>
          </a:lnRef>
          <a:fillRef idx="2">
            <a:schemeClr val="accent2"/>
          </a:fillRef>
          <a:effectRef idx="1">
            <a:schemeClr val="accent2"/>
          </a:effectRef>
          <a:fontRef idx="minor">
            <a:schemeClr val="dk1"/>
          </a:fontRef>
        </p:style>
        <p:txBody>
          <a:bodyPr wrap="square">
            <a:spAutoFit/>
          </a:bodyPr>
          <a:lstStyle/>
          <a:p>
            <a:pPr lvl="0" algn="just">
              <a:lnSpc>
                <a:spcPct val="120000"/>
              </a:lnSpc>
            </a:pPr>
            <a:r>
              <a:rPr lang="zh-CN" altLang="en-US" sz="2400" dirty="0">
                <a:solidFill>
                  <a:prstClr val="black"/>
                </a:solidFill>
                <a:latin typeface="微软雅黑" pitchFamily="34" charset="-122"/>
                <a:ea typeface="微软雅黑" pitchFamily="34" charset="-122"/>
              </a:rPr>
              <a:t>注意区分热力学能㶲和热力学能的概念。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67589"/>
                                        </p:tgtEl>
                                        <p:attrNameLst>
                                          <p:attrName>style.visibility</p:attrName>
                                        </p:attrNameLst>
                                      </p:cBhvr>
                                      <p:to>
                                        <p:strVal val="visible"/>
                                      </p:to>
                                    </p:set>
                                    <p:animEffect transition="in" filter="box(in)">
                                      <p:cBhvr>
                                        <p:cTn id="15" dur="500"/>
                                        <p:tgtEl>
                                          <p:spTgt spid="675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5"/>
          <p:cNvSpPr>
            <a:spLocks noChangeArrowheads="1"/>
          </p:cNvSpPr>
          <p:nvPr/>
        </p:nvSpPr>
        <p:spPr bwMode="auto">
          <a:xfrm>
            <a:off x="450282" y="1831464"/>
            <a:ext cx="8154166" cy="2677656"/>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nchor="ctr">
            <a:spAutoFit/>
          </a:bodyPr>
          <a:lstStyle/>
          <a:p>
            <a:pPr>
              <a:lnSpc>
                <a:spcPct val="150000"/>
              </a:lnSpc>
            </a:pP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      </a:t>
            </a:r>
            <a:r>
              <a:rPr lang="zh-CN" altLang="en-US" sz="2800" dirty="0">
                <a:latin typeface="微软雅黑" pitchFamily="34" charset="-122"/>
                <a:ea typeface="微软雅黑" pitchFamily="34" charset="-122"/>
                <a:cs typeface="Times New Roman" pitchFamily="18" charset="0"/>
              </a:rPr>
              <a:t>如果系统除与环境换热外，还与其它系统可逆地交换热量，那么该系统的作功能力将会改变，其改变量就是系统所吸（放）热量的作功能力，</a:t>
            </a:r>
            <a:r>
              <a:rPr lang="zh-CN" altLang="en-US" sz="2800" dirty="0">
                <a:latin typeface="微软雅黑" pitchFamily="34" charset="-122"/>
                <a:ea typeface="微软雅黑" pitchFamily="34" charset="-122"/>
              </a:rPr>
              <a:t>又称热量㶲或热量的可用能。</a:t>
            </a:r>
          </a:p>
        </p:txBody>
      </p:sp>
      <p:sp>
        <p:nvSpPr>
          <p:cNvPr id="5" name="Rectangle 9"/>
          <p:cNvSpPr>
            <a:spLocks noChangeArrowheads="1"/>
          </p:cNvSpPr>
          <p:nvPr/>
        </p:nvSpPr>
        <p:spPr bwMode="auto">
          <a:xfrm>
            <a:off x="285720" y="1124744"/>
            <a:ext cx="8001056" cy="565348"/>
          </a:xfrm>
          <a:prstGeom prst="rect">
            <a:avLst/>
          </a:prstGeom>
          <a:noFill/>
          <a:ln w="9525">
            <a:noFill/>
            <a:miter lim="800000"/>
            <a:headEnd/>
            <a:tailEnd/>
          </a:ln>
          <a:effectLst/>
        </p:spPr>
        <p:txBody>
          <a:bodyPr wrap="square">
            <a:spAutoFit/>
          </a:bodyPr>
          <a:lstStyle/>
          <a:p>
            <a:pPr algn="just">
              <a:lnSpc>
                <a:spcPct val="120000"/>
              </a:lnSpc>
            </a:pPr>
            <a:r>
              <a:rPr lang="en-US" altLang="zh-CN" sz="2800" dirty="0">
                <a:solidFill>
                  <a:srgbClr val="4B3EEE"/>
                </a:solidFill>
                <a:latin typeface="微软雅黑" pitchFamily="34" charset="-122"/>
                <a:ea typeface="微软雅黑" pitchFamily="34" charset="-122"/>
              </a:rPr>
              <a:t>(2)  </a:t>
            </a:r>
            <a:r>
              <a:rPr lang="zh-CN" altLang="en-US" sz="2800" dirty="0">
                <a:solidFill>
                  <a:srgbClr val="4B3EEE"/>
                </a:solidFill>
                <a:latin typeface="微软雅黑" pitchFamily="34" charset="-122"/>
                <a:ea typeface="微软雅黑" pitchFamily="34" charset="-122"/>
                <a:cs typeface="Times New Roman" pitchFamily="18" charset="0"/>
              </a:rPr>
              <a:t>热量</a:t>
            </a:r>
            <a:r>
              <a:rPr lang="zh-CN" altLang="en-US" sz="2800" dirty="0">
                <a:solidFill>
                  <a:srgbClr val="4B3EEE"/>
                </a:solidFill>
                <a:latin typeface="微软雅黑" pitchFamily="34" charset="-122"/>
                <a:ea typeface="微软雅黑" pitchFamily="34" charset="-122"/>
              </a:rPr>
              <a:t>的做功能力</a:t>
            </a:r>
            <a:r>
              <a:rPr lang="zh-CN" altLang="en-US" sz="2800" dirty="0">
                <a:latin typeface="微软雅黑" pitchFamily="34" charset="-122"/>
                <a:ea typeface="微软雅黑" pitchFamily="34" charset="-122"/>
                <a:cs typeface="Times New Roman" pitchFamily="18" charset="0"/>
              </a:rPr>
              <a:t>（热量</a:t>
            </a:r>
            <a:r>
              <a:rPr lang="zh-CN" altLang="en-US" sz="2800" dirty="0">
                <a:latin typeface="微软雅黑" pitchFamily="34" charset="-122"/>
                <a:ea typeface="微软雅黑" pitchFamily="34" charset="-122"/>
              </a:rPr>
              <a:t>㶲 </a:t>
            </a:r>
            <a:r>
              <a:rPr lang="en-US" altLang="zh-CN" sz="2800" b="1" i="1" dirty="0">
                <a:latin typeface="Times New Roman" panose="02020603050405020304" pitchFamily="18" charset="0"/>
                <a:ea typeface="微软雅黑" pitchFamily="34" charset="-122"/>
                <a:cs typeface="Times New Roman" panose="02020603050405020304" pitchFamily="18" charset="0"/>
              </a:rPr>
              <a:t>E</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X,Q</a:t>
            </a:r>
            <a:r>
              <a:rPr lang="zh-CN" altLang="en-US" sz="2800" dirty="0">
                <a:latin typeface="微软雅黑" pitchFamily="34" charset="-122"/>
                <a:ea typeface="微软雅黑" pitchFamily="34" charset="-122"/>
                <a:cs typeface="Times New Roman" pitchFamily="18" charset="0"/>
              </a:rPr>
              <a:t>）</a:t>
            </a:r>
            <a:endParaRPr lang="zh-CN" altLang="en-US" sz="2800" dirty="0">
              <a:latin typeface="微软雅黑" pitchFamily="34" charset="-122"/>
              <a:ea typeface="微软雅黑" pitchFamily="34" charset="-122"/>
            </a:endParaRPr>
          </a:p>
        </p:txBody>
      </p:sp>
      <p:sp>
        <p:nvSpPr>
          <p:cNvPr id="7" name="Rectangle 9"/>
          <p:cNvSpPr>
            <a:spLocks noChangeArrowheads="1"/>
          </p:cNvSpPr>
          <p:nvPr/>
        </p:nvSpPr>
        <p:spPr bwMode="auto">
          <a:xfrm>
            <a:off x="450282" y="4712404"/>
            <a:ext cx="8154166" cy="1308884"/>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gn="just">
              <a:lnSpc>
                <a:spcPct val="150000"/>
              </a:lnSpc>
            </a:pPr>
            <a:r>
              <a:rPr lang="zh-CN" altLang="en-US" sz="2800" dirty="0">
                <a:solidFill>
                  <a:schemeClr val="tx1"/>
                </a:solidFill>
                <a:latin typeface="微软雅黑" pitchFamily="34" charset="-122"/>
                <a:ea typeface="微软雅黑" pitchFamily="34" charset="-122"/>
              </a:rPr>
              <a:t>定义：在给定的环境条件下，系统所传递的热量中可转换的最大有用功。</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47</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7"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611560" y="2796997"/>
            <a:ext cx="2990136" cy="523220"/>
          </a:xfrm>
          <a:prstGeom prst="rect">
            <a:avLst/>
          </a:prstGeom>
          <a:noFill/>
          <a:ln w="9525">
            <a:noFill/>
            <a:miter lim="800000"/>
            <a:headEnd/>
            <a:tailEnd/>
          </a:ln>
          <a:effectLst/>
        </p:spPr>
        <p:txBody>
          <a:bodyPr wrap="square" anchor="ctr">
            <a:spAutoFit/>
          </a:bodyPr>
          <a:lstStyle/>
          <a:p>
            <a:r>
              <a:rPr lang="zh-CN" altLang="en-US" sz="2800" dirty="0">
                <a:latin typeface="微软雅黑" pitchFamily="34" charset="-122"/>
                <a:ea typeface="微软雅黑" pitchFamily="34" charset="-122"/>
              </a:rPr>
              <a:t>相应的热量</a:t>
            </a:r>
            <a:r>
              <a:rPr lang="zh-CN" altLang="en-US" sz="2400" kern="300" spc="-600" dirty="0">
                <a:solidFill>
                  <a:prstClr val="black"/>
                </a:solidFill>
                <a:latin typeface="微软雅黑" pitchFamily="34" charset="-122"/>
                <a:ea typeface="微软雅黑" pitchFamily="34" charset="-122"/>
              </a:rPr>
              <a:t>火无</a:t>
            </a:r>
            <a:r>
              <a:rPr lang="zh-CN" altLang="en-US" sz="2300" kern="300" spc="-600" dirty="0">
                <a:solidFill>
                  <a:prstClr val="black"/>
                </a:solidFill>
                <a:latin typeface="微软雅黑" pitchFamily="34" charset="-122"/>
                <a:ea typeface="微软雅黑" pitchFamily="34" charset="-122"/>
              </a:rPr>
              <a:t>     </a:t>
            </a:r>
            <a:r>
              <a:rPr lang="zh-CN" altLang="en-US" sz="2800" dirty="0">
                <a:latin typeface="微软雅黑" pitchFamily="34" charset="-122"/>
                <a:ea typeface="微软雅黑" pitchFamily="34" charset="-122"/>
              </a:rPr>
              <a:t>为</a:t>
            </a:r>
          </a:p>
        </p:txBody>
      </p:sp>
      <p:graphicFrame>
        <p:nvGraphicFramePr>
          <p:cNvPr id="4" name="Object 5"/>
          <p:cNvGraphicFramePr>
            <a:graphicFrameLocks noChangeAspect="1"/>
          </p:cNvGraphicFramePr>
          <p:nvPr>
            <p:extLst>
              <p:ext uri="{D42A27DB-BD31-4B8C-83A1-F6EECF244321}">
                <p14:modId xmlns:p14="http://schemas.microsoft.com/office/powerpoint/2010/main" val="311561420"/>
              </p:ext>
            </p:extLst>
          </p:nvPr>
        </p:nvGraphicFramePr>
        <p:xfrm>
          <a:off x="3879541" y="2659552"/>
          <a:ext cx="3888432" cy="798110"/>
        </p:xfrm>
        <a:graphic>
          <a:graphicData uri="http://schemas.openxmlformats.org/presentationml/2006/ole">
            <mc:AlternateContent xmlns:mc="http://schemas.openxmlformats.org/markup-compatibility/2006">
              <mc:Choice xmlns:v="urn:schemas-microsoft-com:vml" Requires="v">
                <p:oleObj spid="_x0000_s90262" name="公式" r:id="rId3" imgW="1968500" imgH="393700" progId="Equation.3">
                  <p:embed/>
                </p:oleObj>
              </mc:Choice>
              <mc:Fallback>
                <p:oleObj name="公式" r:id="rId3" imgW="1968500" imgH="3937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9541" y="2659552"/>
                        <a:ext cx="3888432" cy="798110"/>
                      </a:xfrm>
                      <a:prstGeom prst="rect">
                        <a:avLst/>
                      </a:prstGeom>
                      <a:noFill/>
                    </p:spPr>
                  </p:pic>
                </p:oleObj>
              </mc:Fallback>
            </mc:AlternateContent>
          </a:graphicData>
        </a:graphic>
      </p:graphicFrame>
      <p:sp>
        <p:nvSpPr>
          <p:cNvPr id="5" name="Rectangle 7"/>
          <p:cNvSpPr>
            <a:spLocks noChangeArrowheads="1"/>
          </p:cNvSpPr>
          <p:nvPr/>
        </p:nvSpPr>
        <p:spPr bwMode="auto">
          <a:xfrm>
            <a:off x="659493" y="3500509"/>
            <a:ext cx="7661487" cy="1308884"/>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nchor="ctr">
            <a:spAutoFit/>
          </a:bodyPr>
          <a:lstStyle/>
          <a:p>
            <a:pPr algn="just">
              <a:lnSpc>
                <a:spcPct val="150000"/>
              </a:lnSpc>
            </a:pPr>
            <a:r>
              <a:rPr lang="zh-CN" altLang="en-US" sz="2800" dirty="0">
                <a:solidFill>
                  <a:prstClr val="black"/>
                </a:solidFill>
                <a:latin typeface="微软雅黑" pitchFamily="34" charset="-122"/>
                <a:ea typeface="微软雅黑" pitchFamily="34" charset="-122"/>
              </a:rPr>
              <a:t>热量所处的温度</a:t>
            </a:r>
            <a:r>
              <a:rPr lang="zh-CN" altLang="en-US" sz="2800" dirty="0">
                <a:latin typeface="微软雅黑" pitchFamily="34" charset="-122"/>
                <a:ea typeface="微软雅黑" pitchFamily="34" charset="-122"/>
              </a:rPr>
              <a:t>越高，品质越高，当环境温度一定时，热量㶲也就越大。</a:t>
            </a:r>
          </a:p>
        </p:txBody>
      </p:sp>
      <p:sp>
        <p:nvSpPr>
          <p:cNvPr id="7" name="矩形 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48</a:t>
            </a:r>
            <a:endParaRPr lang="zh-CN" altLang="en-US" sz="2000" b="1" dirty="0">
              <a:solidFill>
                <a:schemeClr val="tx1"/>
              </a:solidFill>
              <a:latin typeface="黑体" pitchFamily="49" charset="-122"/>
              <a:ea typeface="黑体" pitchFamily="49" charset="-122"/>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1601122244"/>
              </p:ext>
            </p:extLst>
          </p:nvPr>
        </p:nvGraphicFramePr>
        <p:xfrm>
          <a:off x="2051720" y="1838137"/>
          <a:ext cx="4968552" cy="798775"/>
        </p:xfrm>
        <a:graphic>
          <a:graphicData uri="http://schemas.openxmlformats.org/presentationml/2006/ole">
            <mc:AlternateContent xmlns:mc="http://schemas.openxmlformats.org/markup-compatibility/2006">
              <mc:Choice xmlns:v="urn:schemas-microsoft-com:vml" Requires="v">
                <p:oleObj spid="_x0000_s90263" name="公式" r:id="rId5" imgW="2705100" imgH="431800" progId="Equation.3">
                  <p:embed/>
                </p:oleObj>
              </mc:Choice>
              <mc:Fallback>
                <p:oleObj name="公式" r:id="rId5" imgW="2705100" imgH="4318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720" y="1838137"/>
                        <a:ext cx="4968552" cy="798775"/>
                      </a:xfrm>
                      <a:prstGeom prst="rect">
                        <a:avLst/>
                      </a:prstGeom>
                      <a:noFill/>
                    </p:spPr>
                  </p:pic>
                </p:oleObj>
              </mc:Fallback>
            </mc:AlternateContent>
          </a:graphicData>
        </a:graphic>
      </p:graphicFrame>
      <p:sp>
        <p:nvSpPr>
          <p:cNvPr id="9" name="Rectangle 9"/>
          <p:cNvSpPr>
            <a:spLocks noChangeArrowheads="1"/>
          </p:cNvSpPr>
          <p:nvPr/>
        </p:nvSpPr>
        <p:spPr bwMode="auto">
          <a:xfrm>
            <a:off x="646366" y="1124744"/>
            <a:ext cx="5869886" cy="609398"/>
          </a:xfrm>
          <a:prstGeom prst="rect">
            <a:avLst/>
          </a:prstGeom>
          <a:noFill/>
          <a:ln w="9525">
            <a:noFill/>
            <a:miter lim="800000"/>
            <a:headEnd/>
            <a:tailEnd/>
          </a:ln>
          <a:effectLst/>
        </p:spPr>
        <p:txBody>
          <a:bodyPr wrap="square">
            <a:spAutoFit/>
          </a:bodyPr>
          <a:lstStyle/>
          <a:p>
            <a:pPr algn="just">
              <a:lnSpc>
                <a:spcPct val="120000"/>
              </a:lnSpc>
            </a:pPr>
            <a:r>
              <a:rPr lang="zh-CN" altLang="en-US" sz="2800" dirty="0">
                <a:latin typeface="微软雅黑" pitchFamily="34" charset="-122"/>
                <a:ea typeface="微软雅黑" pitchFamily="34" charset="-122"/>
              </a:rPr>
              <a:t>由卡诺定理，热量㶲的计算式为</a:t>
            </a:r>
          </a:p>
        </p:txBody>
      </p:sp>
      <p:sp>
        <p:nvSpPr>
          <p:cNvPr id="2" name="矩形 1"/>
          <p:cNvSpPr/>
          <p:nvPr/>
        </p:nvSpPr>
        <p:spPr>
          <a:xfrm>
            <a:off x="641802" y="4814903"/>
            <a:ext cx="7674614" cy="1384995"/>
          </a:xfrm>
          <a:prstGeom prst="rect">
            <a:avLst/>
          </a:prstGeom>
        </p:spPr>
        <p:txBody>
          <a:bodyPr wrap="square">
            <a:spAutoFit/>
          </a:bodyPr>
          <a:lstStyle/>
          <a:p>
            <a:pPr lvl="0" algn="just">
              <a:lnSpc>
                <a:spcPct val="150000"/>
              </a:lnSpc>
            </a:pPr>
            <a:r>
              <a:rPr lang="zh-CN" altLang="en-US" sz="2800" dirty="0">
                <a:solidFill>
                  <a:srgbClr val="4B3EEE"/>
                </a:solidFill>
                <a:latin typeface="微软雅黑" pitchFamily="34" charset="-122"/>
                <a:ea typeface="微软雅黑" pitchFamily="34" charset="-122"/>
              </a:rPr>
              <a:t>热量㶲与热量一样，均与过程有关，因此不是状态量，是过程量。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animBg="1"/>
      <p:bldP spid="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300038" y="4527994"/>
            <a:ext cx="8486804" cy="1493294"/>
          </a:xfrm>
          <a:prstGeom prst="rect">
            <a:avLst/>
          </a:prstGeom>
          <a:ln>
            <a:headEnd/>
            <a:tailEnd/>
          </a:ln>
        </p:spPr>
        <p:style>
          <a:lnRef idx="2">
            <a:schemeClr val="accent6"/>
          </a:lnRef>
          <a:fillRef idx="1">
            <a:schemeClr val="lt1"/>
          </a:fillRef>
          <a:effectRef idx="0">
            <a:schemeClr val="accent6"/>
          </a:effectRef>
          <a:fontRef idx="minor">
            <a:schemeClr val="dk1"/>
          </a:fontRef>
        </p:style>
        <p:txBody>
          <a:bodyPr wrap="square" anchor="ctr">
            <a:spAutoFit/>
          </a:bodyPr>
          <a:lstStyle/>
          <a:p>
            <a:pPr algn="just">
              <a:lnSpc>
                <a:spcPct val="150000"/>
              </a:lnSpc>
            </a:pPr>
            <a:endParaRPr lang="en-US" altLang="zh-CN" sz="800" dirty="0">
              <a:solidFill>
                <a:schemeClr val="tx1"/>
              </a:solidFill>
              <a:latin typeface="微软雅黑" pitchFamily="34" charset="-122"/>
              <a:ea typeface="微软雅黑" pitchFamily="34" charset="-122"/>
            </a:endParaRPr>
          </a:p>
          <a:p>
            <a:pPr algn="just">
              <a:lnSpc>
                <a:spcPct val="150000"/>
              </a:lnSpc>
            </a:pPr>
            <a:r>
              <a:rPr lang="zh-CN" altLang="en-US" sz="2800" dirty="0">
                <a:solidFill>
                  <a:schemeClr val="tx1"/>
                </a:solidFill>
                <a:latin typeface="微软雅黑" pitchFamily="34" charset="-122"/>
                <a:ea typeface="微软雅黑" pitchFamily="34" charset="-122"/>
              </a:rPr>
              <a:t>同样，工质只能从状态</a:t>
            </a:r>
            <a:r>
              <a:rPr lang="en-US" altLang="zh-CN" sz="2800" dirty="0">
                <a:solidFill>
                  <a:schemeClr val="tx1"/>
                </a:solidFill>
                <a:latin typeface="微软雅黑" pitchFamily="34" charset="-122"/>
                <a:ea typeface="微软雅黑" pitchFamily="34" charset="-122"/>
              </a:rPr>
              <a:t>1</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p</a:t>
            </a:r>
            <a:r>
              <a:rPr lang="en-US" altLang="zh-CN" sz="2800" b="1" baseline="-20000" dirty="0">
                <a:solidFill>
                  <a:schemeClr val="tx1"/>
                </a:solidFill>
                <a:latin typeface="Times New Roman" panose="02020603050405020304" pitchFamily="18" charset="0"/>
                <a:ea typeface="微软雅黑" pitchFamily="34" charset="-122"/>
                <a:cs typeface="Times New Roman" panose="02020603050405020304" pitchFamily="18" charset="0"/>
              </a:rPr>
              <a:t>1</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T</a:t>
            </a:r>
            <a:r>
              <a:rPr lang="en-US" altLang="zh-CN" sz="2800" b="1" baseline="-20000" dirty="0">
                <a:solidFill>
                  <a:schemeClr val="tx1"/>
                </a:solidFill>
                <a:latin typeface="Times New Roman" panose="02020603050405020304" pitchFamily="18" charset="0"/>
                <a:ea typeface="微软雅黑" pitchFamily="34" charset="-122"/>
                <a:cs typeface="Times New Roman" panose="02020603050405020304" pitchFamily="18" charset="0"/>
              </a:rPr>
              <a:t>1</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zh-CN" altLang="en-US" sz="2800" dirty="0">
                <a:solidFill>
                  <a:schemeClr val="tx1"/>
                </a:solidFill>
                <a:latin typeface="微软雅黑" pitchFamily="34" charset="-122"/>
                <a:ea typeface="微软雅黑" pitchFamily="34" charset="-122"/>
              </a:rPr>
              <a:t>定熵膨胀到状态</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a</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p</a:t>
            </a:r>
            <a:r>
              <a:rPr lang="en-US" altLang="zh-CN" sz="2800" b="1" i="1" baseline="-20000" dirty="0">
                <a:solidFill>
                  <a:schemeClr val="tx1"/>
                </a:solidFill>
                <a:latin typeface="Times New Roman" panose="02020603050405020304" pitchFamily="18" charset="0"/>
                <a:ea typeface="微软雅黑" pitchFamily="34" charset="-122"/>
                <a:cs typeface="Times New Roman" panose="02020603050405020304" pitchFamily="18" charset="0"/>
              </a:rPr>
              <a:t>a</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T</a:t>
            </a:r>
            <a:r>
              <a:rPr lang="en-US" altLang="zh-CN" sz="2800" b="1" baseline="-20000" dirty="0">
                <a:solidFill>
                  <a:schemeClr val="tx1"/>
                </a:solidFill>
                <a:latin typeface="Times New Roman" panose="02020603050405020304" pitchFamily="18" charset="0"/>
                <a:ea typeface="微软雅黑" pitchFamily="34" charset="-122"/>
                <a:cs typeface="Times New Roman" panose="02020603050405020304" pitchFamily="18" charset="0"/>
              </a:rPr>
              <a:t>0</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dirty="0">
                <a:solidFill>
                  <a:schemeClr val="tx1"/>
                </a:solidFill>
                <a:latin typeface="Times New Roman" panose="02020603050405020304" pitchFamily="18" charset="0"/>
                <a:ea typeface="微软雅黑" pitchFamily="34" charset="-122"/>
                <a:cs typeface="Times New Roman" panose="02020603050405020304" pitchFamily="18" charset="0"/>
              </a:rPr>
              <a:t>, </a:t>
            </a:r>
            <a:r>
              <a:rPr lang="zh-CN" altLang="en-US" sz="2800" dirty="0">
                <a:solidFill>
                  <a:schemeClr val="tx1"/>
                </a:solidFill>
                <a:latin typeface="微软雅黑" panose="020B0503020204020204" pitchFamily="34" charset="-122"/>
                <a:ea typeface="微软雅黑" panose="020B0503020204020204" pitchFamily="34" charset="-122"/>
                <a:cs typeface="Times New Roman" panose="02020603050405020304" pitchFamily="18" charset="0"/>
              </a:rPr>
              <a:t>然后可逆定温膨胀到环境状态</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p</a:t>
            </a:r>
            <a:r>
              <a:rPr lang="en-US" altLang="zh-CN" sz="2800" b="1" baseline="-20000" dirty="0">
                <a:solidFill>
                  <a:schemeClr val="tx1"/>
                </a:solidFill>
                <a:latin typeface="Times New Roman" panose="02020603050405020304" pitchFamily="18" charset="0"/>
                <a:ea typeface="微软雅黑" pitchFamily="34" charset="-122"/>
                <a:cs typeface="Times New Roman" panose="02020603050405020304" pitchFamily="18" charset="0"/>
              </a:rPr>
              <a:t>0</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T</a:t>
            </a:r>
            <a:r>
              <a:rPr lang="en-US" altLang="zh-CN" sz="2800" b="1" baseline="-20000" dirty="0">
                <a:solidFill>
                  <a:schemeClr val="tx1"/>
                </a:solidFill>
                <a:latin typeface="Times New Roman" panose="02020603050405020304" pitchFamily="18" charset="0"/>
                <a:ea typeface="微软雅黑" pitchFamily="34" charset="-122"/>
                <a:cs typeface="Times New Roman" panose="02020603050405020304" pitchFamily="18" charset="0"/>
              </a:rPr>
              <a:t>0</a:t>
            </a:r>
            <a:r>
              <a:rPr lang="zh-CN" altLang="en-US" sz="2800" b="1" dirty="0">
                <a:solidFill>
                  <a:schemeClr val="tx1"/>
                </a:solidFill>
                <a:latin typeface="Times New Roman" panose="02020603050405020304" pitchFamily="18" charset="0"/>
                <a:ea typeface="微软雅黑" pitchFamily="34" charset="-122"/>
                <a:cs typeface="Times New Roman" panose="02020603050405020304" pitchFamily="18" charset="0"/>
              </a:rPr>
              <a:t>）。</a:t>
            </a:r>
          </a:p>
        </p:txBody>
      </p:sp>
      <p:sp>
        <p:nvSpPr>
          <p:cNvPr id="4" name="Rectangle 9"/>
          <p:cNvSpPr>
            <a:spLocks noChangeArrowheads="1"/>
          </p:cNvSpPr>
          <p:nvPr/>
        </p:nvSpPr>
        <p:spPr bwMode="auto">
          <a:xfrm>
            <a:off x="300038" y="1124744"/>
            <a:ext cx="8001056" cy="565604"/>
          </a:xfrm>
          <a:prstGeom prst="rect">
            <a:avLst/>
          </a:prstGeom>
          <a:noFill/>
          <a:ln w="9525">
            <a:noFill/>
            <a:miter lim="800000"/>
            <a:headEnd/>
            <a:tailEnd/>
          </a:ln>
          <a:effectLst/>
        </p:spPr>
        <p:txBody>
          <a:bodyPr wrap="square">
            <a:spAutoFit/>
          </a:bodyPr>
          <a:lstStyle/>
          <a:p>
            <a:pPr>
              <a:lnSpc>
                <a:spcPct val="120000"/>
              </a:lnSpc>
            </a:pPr>
            <a:r>
              <a:rPr lang="zh-CN" altLang="en-US" sz="2800" dirty="0">
                <a:solidFill>
                  <a:srgbClr val="4B3EEE"/>
                </a:solidFill>
                <a:latin typeface="微软雅黑" pitchFamily="34" charset="-122"/>
                <a:ea typeface="微软雅黑" pitchFamily="34" charset="-122"/>
              </a:rPr>
              <a:t>（</a:t>
            </a:r>
            <a:r>
              <a:rPr lang="en-US" altLang="zh-CN" sz="2800" dirty="0">
                <a:solidFill>
                  <a:srgbClr val="4B3EEE"/>
                </a:solidFill>
                <a:latin typeface="微软雅黑" pitchFamily="34" charset="-122"/>
                <a:ea typeface="微软雅黑" pitchFamily="34" charset="-122"/>
              </a:rPr>
              <a:t>3</a:t>
            </a:r>
            <a:r>
              <a:rPr lang="zh-CN" altLang="en-US" sz="2800" dirty="0">
                <a:solidFill>
                  <a:srgbClr val="4B3EEE"/>
                </a:solidFill>
                <a:latin typeface="微软雅黑" pitchFamily="34" charset="-122"/>
                <a:ea typeface="微软雅黑" pitchFamily="34" charset="-122"/>
              </a:rPr>
              <a:t>）稳流系统工质的作功能力（焓㶲）</a:t>
            </a:r>
          </a:p>
        </p:txBody>
      </p:sp>
      <p:sp>
        <p:nvSpPr>
          <p:cNvPr id="5" name="Rectangle 7"/>
          <p:cNvSpPr>
            <a:spLocks noChangeArrowheads="1"/>
          </p:cNvSpPr>
          <p:nvPr/>
        </p:nvSpPr>
        <p:spPr bwMode="auto">
          <a:xfrm>
            <a:off x="300038" y="1772816"/>
            <a:ext cx="8486804" cy="2677656"/>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square" anchor="ctr">
            <a:spAutoFit/>
          </a:bodyPr>
          <a:lstStyle/>
          <a:p>
            <a:pPr algn="just">
              <a:lnSpc>
                <a:spcPct val="150000"/>
              </a:lnSpc>
            </a:pPr>
            <a:r>
              <a:rPr lang="zh-CN" altLang="en-US" sz="2800" dirty="0">
                <a:latin typeface="微软雅黑" pitchFamily="34" charset="-122"/>
                <a:ea typeface="微软雅黑" pitchFamily="34" charset="-122"/>
              </a:rPr>
              <a:t>稳流系工质从进口状态</a:t>
            </a:r>
            <a:r>
              <a:rPr lang="zh-CN" altLang="en-US" sz="1100" dirty="0">
                <a:latin typeface="微软雅黑" pitchFamily="34" charset="-122"/>
                <a:ea typeface="微软雅黑" pitchFamily="34" charset="-122"/>
              </a:rPr>
              <a:t> </a:t>
            </a:r>
            <a:r>
              <a:rPr lang="en-US" altLang="zh-CN" sz="2800" dirty="0">
                <a:latin typeface="微软雅黑" pitchFamily="34" charset="-122"/>
                <a:ea typeface="微软雅黑" pitchFamily="34" charset="-122"/>
              </a:rPr>
              <a:t>1</a:t>
            </a:r>
            <a:r>
              <a:rPr lang="en-US" altLang="zh-CN" sz="11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可逆地过渡到与环境相平衡的出口状态</a:t>
            </a:r>
            <a:r>
              <a:rPr lang="zh-CN" altLang="en-US" sz="1100" dirty="0">
                <a:latin typeface="微软雅黑" pitchFamily="34" charset="-122"/>
                <a:ea typeface="微软雅黑" pitchFamily="34" charset="-122"/>
              </a:rPr>
              <a:t> </a:t>
            </a:r>
            <a:r>
              <a:rPr lang="en-US" altLang="zh-CN" sz="2800" dirty="0">
                <a:latin typeface="微软雅黑" pitchFamily="34" charset="-122"/>
                <a:ea typeface="微软雅黑" pitchFamily="34" charset="-122"/>
              </a:rPr>
              <a:t>2</a:t>
            </a:r>
            <a:r>
              <a:rPr lang="en-US" altLang="zh-CN" sz="1100" dirty="0">
                <a:latin typeface="微软雅黑" pitchFamily="34" charset="-122"/>
                <a:ea typeface="微软雅黑" pitchFamily="34" charset="-122"/>
              </a:rPr>
              <a:t> </a:t>
            </a:r>
            <a:r>
              <a:rPr lang="en-US" altLang="zh-CN" sz="2800" dirty="0">
                <a:latin typeface="微软雅黑" pitchFamily="34" charset="-122"/>
                <a:ea typeface="微软雅黑" pitchFamily="34" charset="-122"/>
              </a:rPr>
              <a:t>(</a:t>
            </a:r>
            <a:r>
              <a:rPr lang="zh-CN" altLang="en-US" sz="2800" dirty="0">
                <a:latin typeface="微软雅黑" pitchFamily="34" charset="-122"/>
                <a:ea typeface="微软雅黑" pitchFamily="34" charset="-122"/>
              </a:rPr>
              <a:t>忽略动、位能变化），并只与环境交换热量时，所能作出的最大有用功（技术功）称为稳流系工质的作功能力，</a:t>
            </a:r>
            <a:r>
              <a:rPr lang="zh-CN" altLang="en-US" sz="2800" dirty="0">
                <a:solidFill>
                  <a:prstClr val="black"/>
                </a:solidFill>
                <a:latin typeface="微软雅黑" pitchFamily="34" charset="-122"/>
                <a:ea typeface="微软雅黑" pitchFamily="34" charset="-122"/>
              </a:rPr>
              <a:t>又称</a:t>
            </a:r>
            <a:r>
              <a:rPr lang="zh-CN" altLang="en-US" sz="2800" dirty="0">
                <a:latin typeface="微软雅黑" pitchFamily="34" charset="-122"/>
                <a:ea typeface="微软雅黑" pitchFamily="34" charset="-122"/>
              </a:rPr>
              <a:t>焓㶲。</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49</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428596" y="1072254"/>
            <a:ext cx="7959828" cy="1298817"/>
          </a:xfrm>
          <a:prstGeom prst="rect">
            <a:avLst/>
          </a:prstGeom>
          <a:noFill/>
          <a:ln w="9525">
            <a:noFill/>
            <a:miter lim="800000"/>
            <a:headEnd/>
            <a:tailEnd/>
          </a:ln>
          <a:effectLst/>
        </p:spPr>
        <p:txBody>
          <a:bodyPr wrap="square" anchor="ctr">
            <a:spAutoFit/>
          </a:bodyPr>
          <a:lstStyle/>
          <a:p>
            <a:pPr algn="just">
              <a:lnSpc>
                <a:spcPct val="140000"/>
              </a:lnSpc>
            </a:pPr>
            <a:r>
              <a:rPr lang="zh-CN" altLang="en-US" sz="2800" dirty="0">
                <a:latin typeface="微软雅黑" pitchFamily="34" charset="-122"/>
                <a:ea typeface="微软雅黑" pitchFamily="34" charset="-122"/>
              </a:rPr>
              <a:t>由稳流系能量方程，可得稳流系</a:t>
            </a:r>
            <a:r>
              <a:rPr lang="en-US" altLang="zh-CN" sz="2800" dirty="0">
                <a:latin typeface="Times New Roman" panose="02020603050405020304" pitchFamily="18" charset="0"/>
                <a:ea typeface="微软雅黑" pitchFamily="34" charset="-122"/>
                <a:cs typeface="Times New Roman" panose="02020603050405020304" pitchFamily="18" charset="0"/>
              </a:rPr>
              <a:t>1</a:t>
            </a:r>
            <a:r>
              <a:rPr lang="zh-CN" altLang="en-US" sz="1200" dirty="0">
                <a:latin typeface="微软雅黑" pitchFamily="34" charset="-122"/>
                <a:ea typeface="微软雅黑" pitchFamily="34" charset="-122"/>
              </a:rPr>
              <a:t> </a:t>
            </a:r>
            <a:r>
              <a:rPr lang="en-US" altLang="zh-CN" sz="2800" dirty="0">
                <a:latin typeface="Times New Roman" panose="02020603050405020304" pitchFamily="18" charset="0"/>
                <a:ea typeface="微软雅黑" pitchFamily="34" charset="-122"/>
                <a:cs typeface="Times New Roman" panose="02020603050405020304" pitchFamily="18" charset="0"/>
              </a:rPr>
              <a:t>kg</a:t>
            </a:r>
            <a:r>
              <a:rPr lang="en-US" altLang="zh-CN" sz="16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工质的作功能力为</a:t>
            </a:r>
          </a:p>
        </p:txBody>
      </p:sp>
      <p:graphicFrame>
        <p:nvGraphicFramePr>
          <p:cNvPr id="4" name="Object 5"/>
          <p:cNvGraphicFramePr>
            <a:graphicFrameLocks noChangeAspect="1"/>
          </p:cNvGraphicFramePr>
          <p:nvPr>
            <p:extLst>
              <p:ext uri="{D42A27DB-BD31-4B8C-83A1-F6EECF244321}">
                <p14:modId xmlns:p14="http://schemas.microsoft.com/office/powerpoint/2010/main" val="1262993118"/>
              </p:ext>
            </p:extLst>
          </p:nvPr>
        </p:nvGraphicFramePr>
        <p:xfrm>
          <a:off x="1214415" y="2362765"/>
          <a:ext cx="6741962" cy="594740"/>
        </p:xfrm>
        <a:graphic>
          <a:graphicData uri="http://schemas.openxmlformats.org/presentationml/2006/ole">
            <mc:AlternateContent xmlns:mc="http://schemas.openxmlformats.org/markup-compatibility/2006">
              <mc:Choice xmlns:v="urn:schemas-microsoft-com:vml" Requires="v">
                <p:oleObj spid="_x0000_s91568" name="公式" r:id="rId3" imgW="3263900" imgH="241300" progId="Equation.3">
                  <p:embed/>
                </p:oleObj>
              </mc:Choice>
              <mc:Fallback>
                <p:oleObj name="公式" r:id="rId3" imgW="3263900" imgH="241300" progId="Equation.3">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15" y="2362765"/>
                        <a:ext cx="6741962" cy="594740"/>
                      </a:xfrm>
                      <a:prstGeom prst="rect">
                        <a:avLst/>
                      </a:prstGeom>
                      <a:noFill/>
                    </p:spPr>
                  </p:pic>
                </p:oleObj>
              </mc:Fallback>
            </mc:AlternateContent>
          </a:graphicData>
        </a:graphic>
      </p:graphicFrame>
      <p:sp>
        <p:nvSpPr>
          <p:cNvPr id="5" name="Rectangle 7"/>
          <p:cNvSpPr>
            <a:spLocks noChangeArrowheads="1"/>
          </p:cNvSpPr>
          <p:nvPr/>
        </p:nvSpPr>
        <p:spPr bwMode="auto">
          <a:xfrm>
            <a:off x="467544" y="3053903"/>
            <a:ext cx="898525"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由于</a:t>
            </a:r>
          </a:p>
        </p:txBody>
      </p:sp>
      <p:graphicFrame>
        <p:nvGraphicFramePr>
          <p:cNvPr id="6" name="Object 10"/>
          <p:cNvGraphicFramePr>
            <a:graphicFrameLocks noChangeAspect="1"/>
          </p:cNvGraphicFramePr>
          <p:nvPr>
            <p:extLst>
              <p:ext uri="{D42A27DB-BD31-4B8C-83A1-F6EECF244321}">
                <p14:modId xmlns:p14="http://schemas.microsoft.com/office/powerpoint/2010/main" val="2505361396"/>
              </p:ext>
            </p:extLst>
          </p:nvPr>
        </p:nvGraphicFramePr>
        <p:xfrm>
          <a:off x="2462213" y="3689350"/>
          <a:ext cx="3509962" cy="452438"/>
        </p:xfrm>
        <a:graphic>
          <a:graphicData uri="http://schemas.openxmlformats.org/presentationml/2006/ole">
            <mc:AlternateContent xmlns:mc="http://schemas.openxmlformats.org/markup-compatibility/2006">
              <mc:Choice xmlns:v="urn:schemas-microsoft-com:vml" Requires="v">
                <p:oleObj spid="_x0000_s91569" name="公式" r:id="rId5" imgW="1473120" imgH="190440" progId="Equation.3">
                  <p:embed/>
                </p:oleObj>
              </mc:Choice>
              <mc:Fallback>
                <p:oleObj name="公式" r:id="rId5" imgW="1473120" imgH="190440" progId="Equation.3">
                  <p:embed/>
                  <p:pic>
                    <p:nvPicPr>
                      <p:cNvPr id="0" name="Object 10"/>
                      <p:cNvPicPr>
                        <a:picLocks noChangeAspect="1" noChangeArrowheads="1"/>
                      </p:cNvPicPr>
                      <p:nvPr/>
                    </p:nvPicPr>
                    <p:blipFill>
                      <a:blip r:embed="rId6"/>
                      <a:srcRect/>
                      <a:stretch>
                        <a:fillRect/>
                      </a:stretch>
                    </p:blipFill>
                    <p:spPr bwMode="auto">
                      <a:xfrm>
                        <a:off x="2462213" y="3689350"/>
                        <a:ext cx="3509962" cy="452438"/>
                      </a:xfrm>
                      <a:prstGeom prst="rect">
                        <a:avLst/>
                      </a:prstGeom>
                      <a:noFill/>
                    </p:spPr>
                  </p:pic>
                </p:oleObj>
              </mc:Fallback>
            </mc:AlternateContent>
          </a:graphicData>
        </a:graphic>
      </p:graphicFrame>
      <p:graphicFrame>
        <p:nvGraphicFramePr>
          <p:cNvPr id="7" name="Object 12"/>
          <p:cNvGraphicFramePr>
            <a:graphicFrameLocks noChangeAspect="1"/>
          </p:cNvGraphicFramePr>
          <p:nvPr>
            <p:extLst>
              <p:ext uri="{D42A27DB-BD31-4B8C-83A1-F6EECF244321}">
                <p14:modId xmlns:p14="http://schemas.microsoft.com/office/powerpoint/2010/main" val="977261564"/>
              </p:ext>
            </p:extLst>
          </p:nvPr>
        </p:nvGraphicFramePr>
        <p:xfrm>
          <a:off x="3714744" y="2996952"/>
          <a:ext cx="1066800" cy="609599"/>
        </p:xfrm>
        <a:graphic>
          <a:graphicData uri="http://schemas.openxmlformats.org/presentationml/2006/ole">
            <mc:AlternateContent xmlns:mc="http://schemas.openxmlformats.org/markup-compatibility/2006">
              <mc:Choice xmlns:v="urn:schemas-microsoft-com:vml" Requires="v">
                <p:oleObj spid="_x0000_s91570" name="公式" r:id="rId7" imgW="419100" imgH="228600" progId="Equation.3">
                  <p:embed/>
                </p:oleObj>
              </mc:Choice>
              <mc:Fallback>
                <p:oleObj name="公式" r:id="rId7" imgW="419100" imgH="2286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14744" y="2996952"/>
                        <a:ext cx="1066800" cy="609599"/>
                      </a:xfrm>
                      <a:prstGeom prst="rect">
                        <a:avLst/>
                      </a:prstGeom>
                      <a:noFill/>
                    </p:spPr>
                  </p:pic>
                </p:oleObj>
              </mc:Fallback>
            </mc:AlternateContent>
          </a:graphicData>
        </a:graphic>
      </p:graphicFrame>
      <p:sp>
        <p:nvSpPr>
          <p:cNvPr id="8" name="Rectangle 14"/>
          <p:cNvSpPr>
            <a:spLocks noChangeArrowheads="1"/>
          </p:cNvSpPr>
          <p:nvPr/>
        </p:nvSpPr>
        <p:spPr bwMode="auto">
          <a:xfrm>
            <a:off x="510406" y="4149080"/>
            <a:ext cx="1711325"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所以，有</a:t>
            </a:r>
            <a:r>
              <a:rPr lang="zh-CN" altLang="en-US" sz="2800" dirty="0"/>
              <a:t> </a:t>
            </a:r>
          </a:p>
        </p:txBody>
      </p:sp>
      <p:graphicFrame>
        <p:nvGraphicFramePr>
          <p:cNvPr id="9" name="Object 15"/>
          <p:cNvGraphicFramePr>
            <a:graphicFrameLocks noChangeAspect="1"/>
          </p:cNvGraphicFramePr>
          <p:nvPr>
            <p:extLst>
              <p:ext uri="{D42A27DB-BD31-4B8C-83A1-F6EECF244321}">
                <p14:modId xmlns:p14="http://schemas.microsoft.com/office/powerpoint/2010/main" val="2084467545"/>
              </p:ext>
            </p:extLst>
          </p:nvPr>
        </p:nvGraphicFramePr>
        <p:xfrm>
          <a:off x="1930376" y="4785752"/>
          <a:ext cx="5521943" cy="566663"/>
        </p:xfrm>
        <a:graphic>
          <a:graphicData uri="http://schemas.openxmlformats.org/presentationml/2006/ole">
            <mc:AlternateContent xmlns:mc="http://schemas.openxmlformats.org/markup-compatibility/2006">
              <mc:Choice xmlns:v="urn:schemas-microsoft-com:vml" Requires="v">
                <p:oleObj spid="_x0000_s91571" name="公式" r:id="rId9" imgW="2324100" imgH="241300" progId="Equation.3">
                  <p:embed/>
                </p:oleObj>
              </mc:Choice>
              <mc:Fallback>
                <p:oleObj name="公式" r:id="rId9" imgW="2324100" imgH="241300" progId="Equation.3">
                  <p:embed/>
                  <p:pic>
                    <p:nvPicPr>
                      <p:cNvPr id="0" name="Object 1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30376" y="4785752"/>
                        <a:ext cx="5521943" cy="566663"/>
                      </a:xfrm>
                      <a:prstGeom prst="rect">
                        <a:avLst/>
                      </a:prstGeom>
                      <a:noFill/>
                    </p:spPr>
                  </p:pic>
                </p:oleObj>
              </mc:Fallback>
            </mc:AlternateContent>
          </a:graphicData>
        </a:graphic>
      </p:graphicFrame>
      <p:graphicFrame>
        <p:nvGraphicFramePr>
          <p:cNvPr id="10" name="Object 17"/>
          <p:cNvGraphicFramePr>
            <a:graphicFrameLocks noChangeAspect="1"/>
          </p:cNvGraphicFramePr>
          <p:nvPr>
            <p:extLst>
              <p:ext uri="{D42A27DB-BD31-4B8C-83A1-F6EECF244321}">
                <p14:modId xmlns:p14="http://schemas.microsoft.com/office/powerpoint/2010/main" val="3389829299"/>
              </p:ext>
            </p:extLst>
          </p:nvPr>
        </p:nvGraphicFramePr>
        <p:xfrm>
          <a:off x="2677781" y="5445224"/>
          <a:ext cx="3982452" cy="578305"/>
        </p:xfrm>
        <a:graphic>
          <a:graphicData uri="http://schemas.openxmlformats.org/presentationml/2006/ole">
            <mc:AlternateContent xmlns:mc="http://schemas.openxmlformats.org/markup-compatibility/2006">
              <mc:Choice xmlns:v="urn:schemas-microsoft-com:vml" Requires="v">
                <p:oleObj spid="_x0000_s91572" name="公式" r:id="rId11" imgW="1638300" imgH="241300" progId="Equation.3">
                  <p:embed/>
                </p:oleObj>
              </mc:Choice>
              <mc:Fallback>
                <p:oleObj name="公式" r:id="rId11" imgW="1638300" imgH="241300" progId="Equation.3">
                  <p:embed/>
                  <p:pic>
                    <p:nvPicPr>
                      <p:cNvPr id="0" name="Object 1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77781" y="5445224"/>
                        <a:ext cx="3982452" cy="578305"/>
                      </a:xfrm>
                      <a:prstGeom prst="rect">
                        <a:avLst/>
                      </a:prstGeom>
                      <a:noFill/>
                    </p:spPr>
                  </p:pic>
                </p:oleObj>
              </mc:Fallback>
            </mc:AlternateContent>
          </a:graphicData>
        </a:graphic>
      </p:graphicFrame>
      <p:sp>
        <p:nvSpPr>
          <p:cNvPr id="11" name="Rectangle 19"/>
          <p:cNvSpPr>
            <a:spLocks noChangeArrowheads="1"/>
          </p:cNvSpPr>
          <p:nvPr/>
        </p:nvSpPr>
        <p:spPr bwMode="auto">
          <a:xfrm>
            <a:off x="539552" y="5517232"/>
            <a:ext cx="639763"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即</a:t>
            </a:r>
            <a:r>
              <a:rPr lang="zh-CN" altLang="en-US" sz="2800" dirty="0"/>
              <a:t> </a:t>
            </a:r>
          </a:p>
        </p:txBody>
      </p:sp>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50</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11"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矩形 11"/>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51</a:t>
            </a:r>
            <a:endParaRPr lang="zh-CN" altLang="en-US" sz="2000" b="1" dirty="0">
              <a:solidFill>
                <a:prstClr val="black"/>
              </a:solidFill>
              <a:latin typeface="黑体" pitchFamily="49" charset="-122"/>
              <a:ea typeface="黑体" pitchFamily="49" charset="-122"/>
            </a:endParaRPr>
          </a:p>
        </p:txBody>
      </p:sp>
      <p:pic>
        <p:nvPicPr>
          <p:cNvPr id="13" name="Picture 4" descr="0410"/>
          <p:cNvPicPr>
            <a:picLocks noChangeAspect="1" noChangeArrowheads="1"/>
          </p:cNvPicPr>
          <p:nvPr/>
        </p:nvPicPr>
        <p:blipFill>
          <a:blip r:embed="rId2"/>
          <a:srcRect/>
          <a:stretch>
            <a:fillRect/>
          </a:stretch>
        </p:blipFill>
        <p:spPr bwMode="auto">
          <a:xfrm>
            <a:off x="2699792" y="1165847"/>
            <a:ext cx="3616081" cy="3487289"/>
          </a:xfrm>
          <a:prstGeom prst="rect">
            <a:avLst/>
          </a:prstGeom>
          <a:noFill/>
          <a:ln w="9525">
            <a:noFill/>
            <a:miter lim="800000"/>
            <a:headEnd/>
            <a:tailEnd/>
          </a:ln>
        </p:spPr>
      </p:pic>
      <p:sp>
        <p:nvSpPr>
          <p:cNvPr id="2" name="矩形 1"/>
          <p:cNvSpPr/>
          <p:nvPr/>
        </p:nvSpPr>
        <p:spPr>
          <a:xfrm>
            <a:off x="841872" y="4780309"/>
            <a:ext cx="7560839" cy="1384995"/>
          </a:xfrm>
          <a:prstGeom prst="rect">
            <a:avLst/>
          </a:prstGeom>
        </p:spPr>
        <p:txBody>
          <a:bodyPr wrap="square">
            <a:spAutoFit/>
          </a:bodyPr>
          <a:lstStyle/>
          <a:p>
            <a:pPr>
              <a:lnSpc>
                <a:spcPct val="150000"/>
              </a:lnSpc>
            </a:pPr>
            <a:r>
              <a:rPr lang="zh-CN" altLang="en-US" sz="2800" dirty="0">
                <a:solidFill>
                  <a:srgbClr val="FF0000"/>
                </a:solidFill>
                <a:latin typeface="微软雅黑" pitchFamily="34" charset="-122"/>
                <a:ea typeface="微软雅黑" pitchFamily="34" charset="-122"/>
              </a:rPr>
              <a:t>稳流系统工质的做功能力（焓㶲）为过程</a:t>
            </a:r>
            <a:r>
              <a:rPr lang="en-US" altLang="zh-CN" sz="2800" dirty="0">
                <a:solidFill>
                  <a:srgbClr val="FF0000"/>
                </a:solidFill>
                <a:latin typeface="微软雅黑" pitchFamily="34" charset="-122"/>
                <a:ea typeface="微软雅黑" pitchFamily="34" charset="-122"/>
              </a:rPr>
              <a:t>1-a-0</a:t>
            </a:r>
            <a:r>
              <a:rPr lang="zh-CN" altLang="en-US" sz="2800" dirty="0">
                <a:solidFill>
                  <a:srgbClr val="FF0000"/>
                </a:solidFill>
                <a:latin typeface="微软雅黑" pitchFamily="34" charset="-122"/>
                <a:ea typeface="微软雅黑" pitchFamily="34" charset="-122"/>
              </a:rPr>
              <a:t>左边的面积（技术功）。</a:t>
            </a:r>
            <a:endParaRPr lang="zh-CN" altLang="en-US" dirty="0"/>
          </a:p>
        </p:txBody>
      </p:sp>
    </p:spTree>
    <p:extLst>
      <p:ext uri="{BB962C8B-B14F-4D97-AF65-F5344CB8AC3E}">
        <p14:creationId xmlns:p14="http://schemas.microsoft.com/office/powerpoint/2010/main" val="2942550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9"/>
          <p:cNvSpPr>
            <a:spLocks noChangeArrowheads="1"/>
          </p:cNvSpPr>
          <p:nvPr/>
        </p:nvSpPr>
        <p:spPr bwMode="auto">
          <a:xfrm>
            <a:off x="611560" y="1424272"/>
            <a:ext cx="7776864" cy="1212640"/>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30000"/>
              </a:lnSpc>
            </a:pPr>
            <a:r>
              <a:rPr lang="zh-CN" altLang="en-US" sz="2800" dirty="0">
                <a:solidFill>
                  <a:schemeClr val="tx1"/>
                </a:solidFill>
                <a:latin typeface="微软雅黑" pitchFamily="34" charset="-122"/>
                <a:ea typeface="微软雅黑" pitchFamily="34" charset="-122"/>
              </a:rPr>
              <a:t>（对于固定边界系统的稳定流动系统，不涉及排斥功）。 </a:t>
            </a:r>
          </a:p>
        </p:txBody>
      </p:sp>
      <p:sp>
        <p:nvSpPr>
          <p:cNvPr id="5" name="Rectangle 9"/>
          <p:cNvSpPr>
            <a:spLocks noChangeArrowheads="1"/>
          </p:cNvSpPr>
          <p:nvPr/>
        </p:nvSpPr>
        <p:spPr bwMode="auto">
          <a:xfrm>
            <a:off x="611560" y="2704506"/>
            <a:ext cx="2342064" cy="652486"/>
          </a:xfrm>
          <a:prstGeom prst="rect">
            <a:avLst/>
          </a:prstGeom>
          <a:noFill/>
          <a:ln w="9525">
            <a:noFill/>
            <a:miter lim="800000"/>
            <a:headEnd/>
            <a:tailEnd/>
          </a:ln>
          <a:effectLst/>
        </p:spPr>
        <p:txBody>
          <a:bodyPr wrap="square">
            <a:spAutoFit/>
          </a:bodyPr>
          <a:lstStyle/>
          <a:p>
            <a:pPr>
              <a:lnSpc>
                <a:spcPct val="130000"/>
              </a:lnSpc>
            </a:pPr>
            <a:r>
              <a:rPr lang="zh-CN" altLang="en-US" sz="2800" dirty="0">
                <a:latin typeface="微软雅黑" pitchFamily="34" charset="-122"/>
                <a:ea typeface="微软雅黑" pitchFamily="34" charset="-122"/>
              </a:rPr>
              <a:t>相应的</a:t>
            </a:r>
            <a:r>
              <a:rPr lang="zh-CN" altLang="en-US" sz="2400" kern="300" spc="-600" dirty="0">
                <a:solidFill>
                  <a:prstClr val="black"/>
                </a:solidFill>
                <a:latin typeface="微软雅黑" pitchFamily="34" charset="-122"/>
                <a:ea typeface="微软雅黑" pitchFamily="34" charset="-122"/>
              </a:rPr>
              <a:t>火无    </a:t>
            </a:r>
            <a:r>
              <a:rPr lang="zh-CN" altLang="en-US" sz="2800" dirty="0">
                <a:latin typeface="微软雅黑" pitchFamily="34" charset="-122"/>
                <a:ea typeface="微软雅黑" pitchFamily="34" charset="-122"/>
              </a:rPr>
              <a:t>为 </a:t>
            </a:r>
          </a:p>
        </p:txBody>
      </p:sp>
      <p:graphicFrame>
        <p:nvGraphicFramePr>
          <p:cNvPr id="72709" name="Object 5"/>
          <p:cNvGraphicFramePr>
            <a:graphicFrameLocks noChangeAspect="1"/>
          </p:cNvGraphicFramePr>
          <p:nvPr>
            <p:extLst>
              <p:ext uri="{D42A27DB-BD31-4B8C-83A1-F6EECF244321}">
                <p14:modId xmlns:p14="http://schemas.microsoft.com/office/powerpoint/2010/main" val="1178213525"/>
              </p:ext>
            </p:extLst>
          </p:nvPr>
        </p:nvGraphicFramePr>
        <p:xfrm>
          <a:off x="2411323" y="3429000"/>
          <a:ext cx="3379877" cy="535310"/>
        </p:xfrm>
        <a:graphic>
          <a:graphicData uri="http://schemas.openxmlformats.org/presentationml/2006/ole">
            <mc:AlternateContent xmlns:mc="http://schemas.openxmlformats.org/markup-compatibility/2006">
              <mc:Choice xmlns:v="urn:schemas-microsoft-com:vml" Requires="v">
                <p:oleObj spid="_x0000_s92248" name="公式" r:id="rId3" imgW="1269720" imgH="203040" progId="Equation.3">
                  <p:embed/>
                </p:oleObj>
              </mc:Choice>
              <mc:Fallback>
                <p:oleObj name="公式" r:id="rId3" imgW="1269720" imgH="203040" progId="Equation.3">
                  <p:embed/>
                  <p:pic>
                    <p:nvPicPr>
                      <p:cNvPr id="0" name="Object 5"/>
                      <p:cNvPicPr>
                        <a:picLocks noChangeAspect="1" noChangeArrowheads="1"/>
                      </p:cNvPicPr>
                      <p:nvPr/>
                    </p:nvPicPr>
                    <p:blipFill>
                      <a:blip r:embed="rId4"/>
                      <a:srcRect/>
                      <a:stretch>
                        <a:fillRect/>
                      </a:stretch>
                    </p:blipFill>
                    <p:spPr bwMode="auto">
                      <a:xfrm>
                        <a:off x="2411323" y="3429000"/>
                        <a:ext cx="3379877" cy="535310"/>
                      </a:xfrm>
                      <a:prstGeom prst="rect">
                        <a:avLst/>
                      </a:prstGeom>
                      <a:noFill/>
                    </p:spPr>
                  </p:pic>
                </p:oleObj>
              </mc:Fallback>
            </mc:AlternateContent>
          </a:graphicData>
        </a:graphic>
      </p:graphicFrame>
      <p:sp>
        <p:nvSpPr>
          <p:cNvPr id="7" name="Rectangle 9"/>
          <p:cNvSpPr>
            <a:spLocks noChangeArrowheads="1"/>
          </p:cNvSpPr>
          <p:nvPr/>
        </p:nvSpPr>
        <p:spPr bwMode="auto">
          <a:xfrm>
            <a:off x="611560" y="4077072"/>
            <a:ext cx="7904350" cy="1955215"/>
          </a:xfrm>
          <a:prstGeom prst="rect">
            <a:avLst/>
          </a:prstGeom>
          <a:noFill/>
          <a:ln w="9525">
            <a:noFill/>
            <a:miter lim="800000"/>
            <a:headEnd/>
            <a:tailEnd/>
          </a:ln>
          <a:effectLst/>
        </p:spPr>
        <p:txBody>
          <a:bodyPr wrap="square">
            <a:spAutoFit/>
          </a:bodyPr>
          <a:lstStyle/>
          <a:p>
            <a:pPr algn="just">
              <a:lnSpc>
                <a:spcPct val="150000"/>
              </a:lnSpc>
            </a:pPr>
            <a:r>
              <a:rPr lang="zh-CN" altLang="en-US" sz="2800" dirty="0">
                <a:latin typeface="微软雅黑" pitchFamily="34" charset="-122"/>
                <a:ea typeface="微软雅黑" pitchFamily="34" charset="-122"/>
              </a:rPr>
              <a:t>当环境状态一定时，焓㶲和</a:t>
            </a:r>
            <a:r>
              <a:rPr lang="zh-CN" altLang="en-US" sz="2400" kern="300" spc="-600" dirty="0">
                <a:solidFill>
                  <a:prstClr val="black"/>
                </a:solidFill>
                <a:latin typeface="微软雅黑" pitchFamily="34" charset="-122"/>
                <a:ea typeface="微软雅黑" pitchFamily="34" charset="-122"/>
              </a:rPr>
              <a:t>火无 </a:t>
            </a:r>
            <a:r>
              <a:rPr lang="zh-CN" altLang="en-US" sz="2800" dirty="0">
                <a:latin typeface="微软雅黑" pitchFamily="34" charset="-122"/>
                <a:ea typeface="微软雅黑" pitchFamily="34" charset="-122"/>
              </a:rPr>
              <a:t>只取决于工质的进口状态，</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因此，</a:t>
            </a:r>
            <a:r>
              <a:rPr lang="zh-CN" altLang="en-US" sz="2800" dirty="0">
                <a:solidFill>
                  <a:srgbClr val="FF0000"/>
                </a:solidFill>
                <a:latin typeface="微软雅黑" pitchFamily="34" charset="-122"/>
                <a:ea typeface="微软雅黑" pitchFamily="34" charset="-122"/>
              </a:rPr>
              <a:t>稳流系统的做功能力（焓㶲）和</a:t>
            </a:r>
            <a:r>
              <a:rPr lang="zh-CN" altLang="en-US" sz="2400" kern="300" spc="-600" dirty="0">
                <a:solidFill>
                  <a:srgbClr val="FF0000"/>
                </a:solidFill>
                <a:latin typeface="微软雅黑" pitchFamily="34" charset="-122"/>
                <a:ea typeface="微软雅黑" pitchFamily="34" charset="-122"/>
              </a:rPr>
              <a:t>火无    </a:t>
            </a:r>
            <a:r>
              <a:rPr lang="zh-CN" altLang="en-US" sz="2800" dirty="0">
                <a:solidFill>
                  <a:srgbClr val="FF0000"/>
                </a:solidFill>
                <a:latin typeface="微软雅黑" pitchFamily="34" charset="-122"/>
                <a:ea typeface="微软雅黑" pitchFamily="34" charset="-122"/>
              </a:rPr>
              <a:t>也是状态参数。</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52</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72709"/>
                                        </p:tgtEl>
                                        <p:attrNameLst>
                                          <p:attrName>style.visibility</p:attrName>
                                        </p:attrNameLst>
                                      </p:cBhvr>
                                      <p:to>
                                        <p:strVal val="visible"/>
                                      </p:to>
                                    </p:set>
                                    <p:animEffect transition="in" filter="checkerboard(across)">
                                      <p:cBhvr>
                                        <p:cTn id="15" dur="500"/>
                                        <p:tgtEl>
                                          <p:spTgt spid="72709"/>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7"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p:cNvSpPr>
            <a:spLocks noChangeArrowheads="1"/>
          </p:cNvSpPr>
          <p:nvPr/>
        </p:nvSpPr>
        <p:spPr bwMode="auto">
          <a:xfrm>
            <a:off x="467544" y="1124744"/>
            <a:ext cx="8247860" cy="1384995"/>
          </a:xfrm>
          <a:prstGeom prst="rect">
            <a:avLst/>
          </a:prstGeom>
          <a:noFill/>
          <a:ln w="9525">
            <a:noFill/>
            <a:miter lim="800000"/>
            <a:headEnd/>
            <a:tailEnd/>
          </a:ln>
          <a:effectLst/>
        </p:spPr>
        <p:txBody>
          <a:bodyPr wrap="square">
            <a:spAutoFit/>
          </a:bodyPr>
          <a:lstStyle/>
          <a:p>
            <a:pPr algn="just">
              <a:lnSpc>
                <a:spcPct val="150000"/>
              </a:lnSpc>
            </a:pPr>
            <a:r>
              <a:rPr lang="zh-CN" altLang="en-US" sz="2800" dirty="0">
                <a:latin typeface="微软雅黑" pitchFamily="34" charset="-122"/>
                <a:ea typeface="微软雅黑" pitchFamily="34" charset="-122"/>
              </a:rPr>
              <a:t>稳流工质的焓变</a:t>
            </a:r>
            <a:r>
              <a:rPr lang="zh-CN" altLang="en-US" sz="2400" b="1"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anose="02020603050405020304" pitchFamily="18" charset="0"/>
                <a:ea typeface="微软雅黑" pitchFamily="34" charset="-122"/>
                <a:cs typeface="Times New Roman" panose="02020603050405020304" pitchFamily="18" charset="0"/>
              </a:rPr>
              <a:t>H</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zh-CN" altLang="en-US" sz="2800" b="1" baseline="-25000"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anose="02020603050405020304" pitchFamily="18" charset="0"/>
                <a:ea typeface="微软雅黑" pitchFamily="34" charset="-122"/>
                <a:cs typeface="Times New Roman" panose="02020603050405020304" pitchFamily="18" charset="0"/>
              </a:rPr>
              <a:t>H</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0</a:t>
            </a:r>
            <a:r>
              <a:rPr lang="zh-CN" altLang="en-US" sz="2400" b="1" dirty="0">
                <a:latin typeface="Times New Roman" panose="02020603050405020304" pitchFamily="18" charset="0"/>
                <a:ea typeface="微软雅黑" pitchFamily="34" charset="-122"/>
                <a:cs typeface="Times New Roman" panose="02020603050405020304" pitchFamily="18" charset="0"/>
              </a:rPr>
              <a:t>）</a:t>
            </a:r>
            <a:r>
              <a:rPr lang="zh-CN" altLang="en-US" sz="2800" dirty="0">
                <a:latin typeface="微软雅黑" pitchFamily="34" charset="-122"/>
                <a:ea typeface="微软雅黑" pitchFamily="34" charset="-122"/>
              </a:rPr>
              <a:t>中</a:t>
            </a:r>
            <a:r>
              <a:rPr lang="en-US" altLang="zh-CN" sz="2800" dirty="0">
                <a:latin typeface="微软雅黑" pitchFamily="34" charset="-122"/>
                <a:ea typeface="微软雅黑" pitchFamily="34" charset="-122"/>
              </a:rPr>
              <a:t>,</a:t>
            </a:r>
            <a:r>
              <a:rPr lang="en-US" altLang="zh-CN" sz="2800" i="1" dirty="0">
                <a:latin typeface="微软雅黑" pitchFamily="34" charset="-122"/>
                <a:ea typeface="微软雅黑" pitchFamily="34" charset="-122"/>
              </a:rPr>
              <a:t> </a:t>
            </a:r>
            <a:r>
              <a:rPr lang="en-US" altLang="zh-CN" sz="2800" b="1" i="1" dirty="0">
                <a:latin typeface="Times New Roman" panose="02020603050405020304" pitchFamily="18" charset="0"/>
                <a:ea typeface="微软雅黑" pitchFamily="34" charset="-122"/>
                <a:cs typeface="Times New Roman" panose="02020603050405020304" pitchFamily="18" charset="0"/>
              </a:rPr>
              <a:t>T</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0</a:t>
            </a:r>
            <a:r>
              <a:rPr lang="zh-CN" altLang="en-US" sz="2400" b="1"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anose="02020603050405020304" pitchFamily="18" charset="0"/>
                <a:ea typeface="微软雅黑" pitchFamily="34" charset="-122"/>
                <a:cs typeface="Times New Roman" panose="02020603050405020304" pitchFamily="18" charset="0"/>
              </a:rPr>
              <a:t>S</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1</a:t>
            </a:r>
            <a:r>
              <a:rPr lang="zh-CN" altLang="en-US" sz="2800" b="1" baseline="-25000" dirty="0">
                <a:latin typeface="Times New Roman" panose="02020603050405020304" pitchFamily="18" charset="0"/>
                <a:ea typeface="微软雅黑" pitchFamily="34" charset="-122"/>
                <a:cs typeface="Times New Roman" panose="02020603050405020304" pitchFamily="18" charset="0"/>
              </a:rPr>
              <a:t>￣</a:t>
            </a:r>
            <a:r>
              <a:rPr lang="en-US" altLang="zh-CN" sz="2800" b="1" i="1" dirty="0">
                <a:latin typeface="Times New Roman" panose="02020603050405020304" pitchFamily="18" charset="0"/>
                <a:ea typeface="微软雅黑" pitchFamily="34" charset="-122"/>
                <a:cs typeface="Times New Roman" panose="02020603050405020304" pitchFamily="18" charset="0"/>
              </a:rPr>
              <a:t>S</a:t>
            </a:r>
            <a:r>
              <a:rPr lang="en-US" altLang="zh-CN" sz="2800" b="1" baseline="-25000" dirty="0">
                <a:latin typeface="Times New Roman" panose="02020603050405020304" pitchFamily="18" charset="0"/>
                <a:ea typeface="微软雅黑" pitchFamily="34" charset="-122"/>
                <a:cs typeface="Times New Roman" panose="02020603050405020304" pitchFamily="18" charset="0"/>
              </a:rPr>
              <a:t>0</a:t>
            </a:r>
            <a:r>
              <a:rPr lang="zh-CN" altLang="en-US" sz="2400" b="1" dirty="0">
                <a:latin typeface="Times New Roman" panose="02020603050405020304" pitchFamily="18" charset="0"/>
                <a:ea typeface="微软雅黑" pitchFamily="34" charset="-122"/>
                <a:cs typeface="Times New Roman" panose="02020603050405020304" pitchFamily="18" charset="0"/>
              </a:rPr>
              <a:t>）</a:t>
            </a:r>
            <a:r>
              <a:rPr lang="zh-CN" altLang="en-US" sz="2800" dirty="0">
                <a:latin typeface="微软雅黑" pitchFamily="34" charset="-122"/>
                <a:ea typeface="微软雅黑" pitchFamily="34" charset="-122"/>
              </a:rPr>
              <a:t>那部分是不可能转变为功的。</a:t>
            </a:r>
          </a:p>
        </p:txBody>
      </p:sp>
      <p:graphicFrame>
        <p:nvGraphicFramePr>
          <p:cNvPr id="73735" name="Object 7"/>
          <p:cNvGraphicFramePr>
            <a:graphicFrameLocks noChangeAspect="1"/>
          </p:cNvGraphicFramePr>
          <p:nvPr>
            <p:extLst>
              <p:ext uri="{D42A27DB-BD31-4B8C-83A1-F6EECF244321}">
                <p14:modId xmlns:p14="http://schemas.microsoft.com/office/powerpoint/2010/main" val="1133439055"/>
              </p:ext>
            </p:extLst>
          </p:nvPr>
        </p:nvGraphicFramePr>
        <p:xfrm>
          <a:off x="3707904" y="4079478"/>
          <a:ext cx="1071563" cy="501650"/>
        </p:xfrm>
        <a:graphic>
          <a:graphicData uri="http://schemas.openxmlformats.org/presentationml/2006/ole">
            <mc:AlternateContent xmlns:mc="http://schemas.openxmlformats.org/markup-compatibility/2006">
              <mc:Choice xmlns:v="urn:schemas-microsoft-com:vml" Requires="v">
                <p:oleObj spid="_x0000_s93317" name="公式" r:id="rId3" imgW="406080" imgH="190440" progId="Equation.3">
                  <p:embed/>
                </p:oleObj>
              </mc:Choice>
              <mc:Fallback>
                <p:oleObj name="公式" r:id="rId3" imgW="406080" imgH="190440" progId="Equation.3">
                  <p:embed/>
                  <p:pic>
                    <p:nvPicPr>
                      <p:cNvPr id="0" name="Object 7"/>
                      <p:cNvPicPr>
                        <a:picLocks noChangeAspect="1" noChangeArrowheads="1"/>
                      </p:cNvPicPr>
                      <p:nvPr/>
                    </p:nvPicPr>
                    <p:blipFill>
                      <a:blip r:embed="rId4"/>
                      <a:srcRect/>
                      <a:stretch>
                        <a:fillRect/>
                      </a:stretch>
                    </p:blipFill>
                    <p:spPr bwMode="auto">
                      <a:xfrm>
                        <a:off x="3707904" y="4079478"/>
                        <a:ext cx="1071563"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9"/>
          <p:cNvSpPr>
            <a:spLocks noChangeArrowheads="1"/>
          </p:cNvSpPr>
          <p:nvPr/>
        </p:nvSpPr>
        <p:spPr bwMode="auto">
          <a:xfrm>
            <a:off x="532624" y="4669887"/>
            <a:ext cx="7973124" cy="1384995"/>
          </a:xfrm>
          <a:prstGeom prst="rect">
            <a:avLst/>
          </a:prstGeom>
          <a:noFill/>
          <a:ln w="9525">
            <a:noFill/>
            <a:miter lim="800000"/>
            <a:headEnd/>
            <a:tailEnd/>
          </a:ln>
          <a:effectLst/>
        </p:spPr>
        <p:txBody>
          <a:bodyPr wrap="square">
            <a:spAutoFit/>
          </a:bodyPr>
          <a:lstStyle/>
          <a:p>
            <a:pPr algn="just">
              <a:lnSpc>
                <a:spcPct val="150000"/>
              </a:lnSpc>
            </a:pPr>
            <a:r>
              <a:rPr lang="zh-CN" altLang="en-US" sz="2800" dirty="0">
                <a:solidFill>
                  <a:srgbClr val="0070C0"/>
                </a:solidFill>
                <a:latin typeface="微软雅黑" pitchFamily="34" charset="-122"/>
                <a:ea typeface="微软雅黑" pitchFamily="34" charset="-122"/>
              </a:rPr>
              <a:t>说明忽略动、位能时，稳流系统工质在进口处所具有的能量就是焓</a:t>
            </a:r>
            <a:r>
              <a:rPr lang="en-US" altLang="zh-CN" sz="2800" b="1" i="1" dirty="0">
                <a:solidFill>
                  <a:srgbClr val="0070C0"/>
                </a:solidFill>
                <a:latin typeface="Times New Roman" panose="02020603050405020304" pitchFamily="18" charset="0"/>
                <a:ea typeface="微软雅黑" pitchFamily="34" charset="-122"/>
                <a:cs typeface="Times New Roman" panose="02020603050405020304" pitchFamily="18" charset="0"/>
              </a:rPr>
              <a:t>H</a:t>
            </a:r>
            <a:r>
              <a:rPr lang="en-US" altLang="zh-CN" sz="2800" b="1" baseline="-25000" dirty="0">
                <a:solidFill>
                  <a:srgbClr val="0070C0"/>
                </a:solidFill>
                <a:latin typeface="Times New Roman" panose="02020603050405020304" pitchFamily="18" charset="0"/>
                <a:ea typeface="微软雅黑" pitchFamily="34" charset="-122"/>
                <a:cs typeface="Times New Roman" panose="02020603050405020304" pitchFamily="18" charset="0"/>
              </a:rPr>
              <a:t>1</a:t>
            </a:r>
            <a:r>
              <a:rPr lang="zh-CN" altLang="en-US" sz="2800" b="1" baseline="-25000" dirty="0">
                <a:solidFill>
                  <a:srgbClr val="0070C0"/>
                </a:solidFill>
                <a:latin typeface="Times New Roman" panose="02020603050405020304" pitchFamily="18" charset="0"/>
                <a:ea typeface="微软雅黑" pitchFamily="34" charset="-122"/>
                <a:cs typeface="Times New Roman" panose="02020603050405020304" pitchFamily="18" charset="0"/>
              </a:rPr>
              <a:t>。</a:t>
            </a:r>
            <a:endParaRPr lang="zh-CN" altLang="en-US" sz="2800" b="1" dirty="0">
              <a:solidFill>
                <a:srgbClr val="0070C0"/>
              </a:solidFill>
              <a:latin typeface="Times New Roman" panose="02020603050405020304" pitchFamily="18" charset="0"/>
              <a:ea typeface="微软雅黑" pitchFamily="34" charset="-122"/>
              <a:cs typeface="Times New Roman" panose="02020603050405020304" pitchFamily="18" charset="0"/>
            </a:endParaRPr>
          </a:p>
        </p:txBody>
      </p:sp>
      <p:sp>
        <p:nvSpPr>
          <p:cNvPr id="10" name="矩形 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53</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539552" y="3971730"/>
            <a:ext cx="1367682" cy="609398"/>
          </a:xfrm>
          <a:prstGeom prst="rect">
            <a:avLst/>
          </a:prstGeom>
        </p:spPr>
        <p:txBody>
          <a:bodyPr wrap="none">
            <a:spAutoFit/>
          </a:bodyPr>
          <a:lstStyle/>
          <a:p>
            <a:pPr lvl="0" algn="just">
              <a:lnSpc>
                <a:spcPct val="120000"/>
              </a:lnSpc>
            </a:pPr>
            <a:r>
              <a:rPr lang="zh-CN" altLang="en-US" sz="2800" dirty="0">
                <a:solidFill>
                  <a:prstClr val="black"/>
                </a:solidFill>
                <a:latin typeface="微软雅黑" pitchFamily="34" charset="-122"/>
                <a:ea typeface="微软雅黑" pitchFamily="34" charset="-122"/>
              </a:rPr>
              <a:t>可推得 </a:t>
            </a:r>
          </a:p>
        </p:txBody>
      </p:sp>
      <p:graphicFrame>
        <p:nvGraphicFramePr>
          <p:cNvPr id="4" name="对象 3"/>
          <p:cNvGraphicFramePr>
            <a:graphicFrameLocks noChangeAspect="1"/>
          </p:cNvGraphicFramePr>
          <p:nvPr>
            <p:extLst>
              <p:ext uri="{D42A27DB-BD31-4B8C-83A1-F6EECF244321}">
                <p14:modId xmlns:p14="http://schemas.microsoft.com/office/powerpoint/2010/main" val="1936219012"/>
              </p:ext>
            </p:extLst>
          </p:nvPr>
        </p:nvGraphicFramePr>
        <p:xfrm>
          <a:off x="3347864" y="3284984"/>
          <a:ext cx="1908175" cy="539750"/>
        </p:xfrm>
        <a:graphic>
          <a:graphicData uri="http://schemas.openxmlformats.org/presentationml/2006/ole">
            <mc:AlternateContent xmlns:mc="http://schemas.openxmlformats.org/markup-compatibility/2006">
              <mc:Choice xmlns:v="urn:schemas-microsoft-com:vml" Requires="v">
                <p:oleObj spid="_x0000_s93318" name="公式" r:id="rId5" imgW="672840" imgH="190440" progId="Equation.3">
                  <p:embed/>
                </p:oleObj>
              </mc:Choice>
              <mc:Fallback>
                <p:oleObj name="公式" r:id="rId5" imgW="672840" imgH="190440" progId="Equation.3">
                  <p:embed/>
                  <p:pic>
                    <p:nvPicPr>
                      <p:cNvPr id="0" name="Object 7"/>
                      <p:cNvPicPr>
                        <a:picLocks noChangeAspect="1" noChangeArrowheads="1"/>
                      </p:cNvPicPr>
                      <p:nvPr/>
                    </p:nvPicPr>
                    <p:blipFill>
                      <a:blip r:embed="rId6"/>
                      <a:srcRect/>
                      <a:stretch>
                        <a:fillRect/>
                      </a:stretch>
                    </p:blipFill>
                    <p:spPr bwMode="auto">
                      <a:xfrm>
                        <a:off x="3347864" y="3284984"/>
                        <a:ext cx="19081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矩形 5"/>
          <p:cNvSpPr/>
          <p:nvPr/>
        </p:nvSpPr>
        <p:spPr>
          <a:xfrm>
            <a:off x="467544" y="2617748"/>
            <a:ext cx="1980029" cy="523220"/>
          </a:xfrm>
          <a:prstGeom prst="rect">
            <a:avLst/>
          </a:prstGeom>
        </p:spPr>
        <p:txBody>
          <a:bodyPr wrap="none">
            <a:spAutoFit/>
          </a:bodyPr>
          <a:lstStyle/>
          <a:p>
            <a:r>
              <a:rPr lang="zh-CN" altLang="en-US" sz="2800" dirty="0">
                <a:solidFill>
                  <a:prstClr val="black"/>
                </a:solidFill>
                <a:latin typeface="微软雅黑" pitchFamily="34" charset="-122"/>
                <a:ea typeface="微软雅黑" pitchFamily="34" charset="-122"/>
              </a:rPr>
              <a:t>同理，利用</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5" presetClass="entr" presetSubtype="10" fill="hold" nodeType="withEffect">
                                  <p:stCondLst>
                                    <p:cond delay="0"/>
                                  </p:stCondLst>
                                  <p:childTnLst>
                                    <p:set>
                                      <p:cBhvr>
                                        <p:cTn id="8" dur="1" fill="hold">
                                          <p:stCondLst>
                                            <p:cond delay="0"/>
                                          </p:stCondLst>
                                        </p:cTn>
                                        <p:tgtEl>
                                          <p:spTgt spid="4"/>
                                        </p:tgtEl>
                                        <p:attrNameLst>
                                          <p:attrName>style.visibility</p:attrName>
                                        </p:attrNameLst>
                                      </p:cBhvr>
                                      <p:to>
                                        <p:strVal val="visible"/>
                                      </p:to>
                                    </p:set>
                                    <p:animEffect transition="in" filter="checkerboard(across)">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childTnLst>
                                </p:cTn>
                              </p:par>
                              <p:par>
                                <p:cTn id="14" presetID="3" presetClass="entr" presetSubtype="10" fill="hold" nodeType="withEffect">
                                  <p:stCondLst>
                                    <p:cond delay="0"/>
                                  </p:stCondLst>
                                  <p:childTnLst>
                                    <p:set>
                                      <p:cBhvr>
                                        <p:cTn id="15" dur="1" fill="hold">
                                          <p:stCondLst>
                                            <p:cond delay="0"/>
                                          </p:stCondLst>
                                        </p:cTn>
                                        <p:tgtEl>
                                          <p:spTgt spid="73735"/>
                                        </p:tgtEl>
                                        <p:attrNameLst>
                                          <p:attrName>style.visibility</p:attrName>
                                        </p:attrNameLst>
                                      </p:cBhvr>
                                      <p:to>
                                        <p:strVal val="visible"/>
                                      </p:to>
                                    </p:set>
                                    <p:animEffect transition="in" filter="blinds(horizontal)">
                                      <p:cBhvr>
                                        <p:cTn id="16" dur="500"/>
                                        <p:tgtEl>
                                          <p:spTgt spid="73735"/>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P spid="6"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467544" y="4725144"/>
            <a:ext cx="4939173" cy="523220"/>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none" anchor="ctr">
            <a:spAutoFit/>
          </a:bodyPr>
          <a:lstStyle/>
          <a:p>
            <a:r>
              <a:rPr lang="zh-CN" altLang="en-US" sz="2800" dirty="0">
                <a:latin typeface="微软雅黑" pitchFamily="34" charset="-122"/>
                <a:ea typeface="微软雅黑" pitchFamily="34" charset="-122"/>
              </a:rPr>
              <a:t>两个状态之间的最大有用功为</a:t>
            </a:r>
            <a:r>
              <a:rPr lang="en-US" altLang="zh-CN" sz="2800" dirty="0">
                <a:latin typeface="微软雅黑" pitchFamily="34" charset="-122"/>
                <a:ea typeface="微软雅黑" pitchFamily="34" charset="-122"/>
              </a:rPr>
              <a:t>:</a:t>
            </a:r>
            <a:endParaRPr lang="zh-CN" altLang="en-US" sz="2800" dirty="0">
              <a:latin typeface="微软雅黑" pitchFamily="34" charset="-122"/>
              <a:ea typeface="微软雅黑" pitchFamily="34" charset="-122"/>
            </a:endParaRPr>
          </a:p>
        </p:txBody>
      </p:sp>
      <p:graphicFrame>
        <p:nvGraphicFramePr>
          <p:cNvPr id="5" name="Object 13"/>
          <p:cNvGraphicFramePr>
            <a:graphicFrameLocks noChangeAspect="1"/>
          </p:cNvGraphicFramePr>
          <p:nvPr>
            <p:extLst>
              <p:ext uri="{D42A27DB-BD31-4B8C-83A1-F6EECF244321}">
                <p14:modId xmlns:p14="http://schemas.microsoft.com/office/powerpoint/2010/main" val="2317261876"/>
              </p:ext>
            </p:extLst>
          </p:nvPr>
        </p:nvGraphicFramePr>
        <p:xfrm>
          <a:off x="1187624" y="5283715"/>
          <a:ext cx="6840760" cy="737573"/>
        </p:xfrm>
        <a:graphic>
          <a:graphicData uri="http://schemas.openxmlformats.org/presentationml/2006/ole">
            <mc:AlternateContent xmlns:mc="http://schemas.openxmlformats.org/markup-compatibility/2006">
              <mc:Choice xmlns:v="urn:schemas-microsoft-com:vml" Requires="v">
                <p:oleObj spid="_x0000_s94434" name="公式" r:id="rId3" imgW="3619500" imgH="393700" progId="Equation.3">
                  <p:embed/>
                </p:oleObj>
              </mc:Choice>
              <mc:Fallback>
                <p:oleObj name="公式" r:id="rId3" imgW="3619500" imgH="3937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7624" y="5283715"/>
                        <a:ext cx="6840760" cy="737573"/>
                      </a:xfrm>
                      <a:prstGeom prst="rect">
                        <a:avLst/>
                      </a:prstGeom>
                      <a:noFill/>
                    </p:spPr>
                  </p:pic>
                </p:oleObj>
              </mc:Fallback>
            </mc:AlternateContent>
          </a:graphicData>
        </a:graphic>
      </p:graphicFrame>
      <p:sp>
        <p:nvSpPr>
          <p:cNvPr id="6" name="Rectangle 9"/>
          <p:cNvSpPr>
            <a:spLocks noChangeArrowheads="1"/>
          </p:cNvSpPr>
          <p:nvPr/>
        </p:nvSpPr>
        <p:spPr bwMode="auto">
          <a:xfrm>
            <a:off x="498430" y="2780928"/>
            <a:ext cx="8147140" cy="138499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zh-CN" altLang="en-US" sz="2800" dirty="0">
                <a:solidFill>
                  <a:schemeClr val="tx1"/>
                </a:solidFill>
                <a:latin typeface="微软雅黑" pitchFamily="34" charset="-122"/>
                <a:ea typeface="微软雅黑" pitchFamily="34" charset="-122"/>
              </a:rPr>
              <a:t>当计入动能差和位能差时，稳流工质的做功能力称为物流㶲，用</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E</a:t>
            </a:r>
            <a:r>
              <a:rPr lang="en-US" altLang="zh-CN" sz="2800" b="1" baseline="-25000" dirty="0">
                <a:solidFill>
                  <a:schemeClr val="tx1"/>
                </a:solidFill>
                <a:latin typeface="Times New Roman" panose="02020603050405020304" pitchFamily="18" charset="0"/>
                <a:ea typeface="微软雅黑" pitchFamily="34" charset="-122"/>
                <a:cs typeface="Times New Roman" panose="02020603050405020304" pitchFamily="18" charset="0"/>
              </a:rPr>
              <a:t>x</a:t>
            </a:r>
            <a:r>
              <a:rPr lang="zh-CN" altLang="en-US" sz="2800" dirty="0">
                <a:solidFill>
                  <a:schemeClr val="tx1"/>
                </a:solidFill>
                <a:latin typeface="Times New Roman" panose="02020603050405020304" pitchFamily="18" charset="0"/>
                <a:ea typeface="微软雅黑" pitchFamily="34" charset="-122"/>
                <a:cs typeface="Times New Roman" panose="02020603050405020304" pitchFamily="18" charset="0"/>
              </a:rPr>
              <a:t>（或</a:t>
            </a:r>
            <a:r>
              <a:rPr lang="en-US" altLang="zh-CN" sz="2800" b="1" i="1" dirty="0">
                <a:solidFill>
                  <a:schemeClr val="tx1"/>
                </a:solidFill>
                <a:latin typeface="Times New Roman" panose="02020603050405020304" pitchFamily="18" charset="0"/>
                <a:ea typeface="微软雅黑" pitchFamily="34" charset="-122"/>
                <a:cs typeface="Times New Roman" panose="02020603050405020304" pitchFamily="18" charset="0"/>
              </a:rPr>
              <a:t>e</a:t>
            </a:r>
            <a:r>
              <a:rPr lang="en-US" altLang="zh-CN" sz="2800" b="1" baseline="-25000" dirty="0">
                <a:solidFill>
                  <a:schemeClr val="tx1"/>
                </a:solidFill>
                <a:latin typeface="Times New Roman" panose="02020603050405020304" pitchFamily="18" charset="0"/>
                <a:ea typeface="微软雅黑" pitchFamily="34" charset="-122"/>
                <a:cs typeface="Times New Roman" panose="02020603050405020304" pitchFamily="18" charset="0"/>
              </a:rPr>
              <a:t>x</a:t>
            </a:r>
            <a:r>
              <a:rPr lang="zh-CN" altLang="en-US" sz="2800" dirty="0">
                <a:solidFill>
                  <a:schemeClr val="tx1"/>
                </a:solidFill>
                <a:latin typeface="Times New Roman" panose="02020603050405020304" pitchFamily="18" charset="0"/>
                <a:ea typeface="微软雅黑" pitchFamily="34" charset="-122"/>
                <a:cs typeface="Times New Roman" panose="02020603050405020304" pitchFamily="18" charset="0"/>
              </a:rPr>
              <a:t>）</a:t>
            </a:r>
            <a:r>
              <a:rPr lang="zh-CN" altLang="en-US" sz="2800" dirty="0">
                <a:solidFill>
                  <a:schemeClr val="tx1"/>
                </a:solidFill>
                <a:latin typeface="微软雅黑" pitchFamily="34" charset="-122"/>
                <a:ea typeface="微软雅黑" pitchFamily="34" charset="-122"/>
              </a:rPr>
              <a:t>表示</a:t>
            </a:r>
          </a:p>
        </p:txBody>
      </p:sp>
      <p:graphicFrame>
        <p:nvGraphicFramePr>
          <p:cNvPr id="73738" name="Object 10"/>
          <p:cNvGraphicFramePr>
            <a:graphicFrameLocks noChangeAspect="1"/>
          </p:cNvGraphicFramePr>
          <p:nvPr>
            <p:extLst>
              <p:ext uri="{D42A27DB-BD31-4B8C-83A1-F6EECF244321}">
                <p14:modId xmlns:p14="http://schemas.microsoft.com/office/powerpoint/2010/main" val="1142526842"/>
              </p:ext>
            </p:extLst>
          </p:nvPr>
        </p:nvGraphicFramePr>
        <p:xfrm>
          <a:off x="1800225" y="4149725"/>
          <a:ext cx="5400675" cy="493713"/>
        </p:xfrm>
        <a:graphic>
          <a:graphicData uri="http://schemas.openxmlformats.org/presentationml/2006/ole">
            <mc:AlternateContent xmlns:mc="http://schemas.openxmlformats.org/markup-compatibility/2006">
              <mc:Choice xmlns:v="urn:schemas-microsoft-com:vml" Requires="v">
                <p:oleObj spid="_x0000_s94435" name="公式" r:id="rId5" imgW="2603500" imgH="241300" progId="Equation.3">
                  <p:embed/>
                </p:oleObj>
              </mc:Choice>
              <mc:Fallback>
                <p:oleObj name="公式" r:id="rId5" imgW="2603500" imgH="241300" progId="Equation.3">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00225" y="4149725"/>
                        <a:ext cx="5400675" cy="493713"/>
                      </a:xfrm>
                      <a:prstGeom prst="rect">
                        <a:avLst/>
                      </a:prstGeom>
                      <a:noFill/>
                    </p:spPr>
                  </p:pic>
                </p:oleObj>
              </mc:Fallback>
            </mc:AlternateContent>
          </a:graphicData>
        </a:graphic>
      </p:graphicFrame>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54</a:t>
            </a:r>
            <a:endParaRPr lang="zh-CN" altLang="en-US" sz="2000" b="1" dirty="0">
              <a:solidFill>
                <a:schemeClr val="tx1"/>
              </a:solidFill>
              <a:latin typeface="黑体" pitchFamily="49" charset="-122"/>
              <a:ea typeface="黑体" pitchFamily="49" charset="-122"/>
            </a:endParaRPr>
          </a:p>
        </p:txBody>
      </p:sp>
      <p:sp>
        <p:nvSpPr>
          <p:cNvPr id="7" name="Rectangle 9"/>
          <p:cNvSpPr>
            <a:spLocks noChangeArrowheads="1"/>
          </p:cNvSpPr>
          <p:nvPr/>
        </p:nvSpPr>
        <p:spPr bwMode="auto">
          <a:xfrm>
            <a:off x="556367" y="1203323"/>
            <a:ext cx="8031266" cy="1126462"/>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gn="just">
              <a:lnSpc>
                <a:spcPct val="120000"/>
              </a:lnSpc>
            </a:pPr>
            <a:r>
              <a:rPr lang="zh-CN" altLang="en-US" sz="2800" dirty="0">
                <a:solidFill>
                  <a:prstClr val="black"/>
                </a:solidFill>
                <a:latin typeface="微软雅黑" pitchFamily="34" charset="-122"/>
                <a:ea typeface="微软雅黑" pitchFamily="34" charset="-122"/>
              </a:rPr>
              <a:t>两个状态之间的</a:t>
            </a:r>
            <a:r>
              <a:rPr lang="zh-CN" altLang="en-US" sz="2800" dirty="0">
                <a:latin typeface="微软雅黑" pitchFamily="34" charset="-122"/>
                <a:ea typeface="微软雅黑" pitchFamily="34" charset="-122"/>
              </a:rPr>
              <a:t>最大有用功为</a:t>
            </a:r>
            <a:r>
              <a:rPr lang="zh-CN" altLang="en-US" sz="2800" dirty="0">
                <a:solidFill>
                  <a:prstClr val="black"/>
                </a:solidFill>
                <a:latin typeface="微软雅黑" pitchFamily="34" charset="-122"/>
                <a:ea typeface="微软雅黑" pitchFamily="34" charset="-122"/>
              </a:rPr>
              <a:t>两状态间的焓㶲差，（不是做功能力）。</a:t>
            </a:r>
          </a:p>
        </p:txBody>
      </p:sp>
      <p:graphicFrame>
        <p:nvGraphicFramePr>
          <p:cNvPr id="2" name="对象 1"/>
          <p:cNvGraphicFramePr>
            <a:graphicFrameLocks noChangeAspect="1"/>
          </p:cNvGraphicFramePr>
          <p:nvPr>
            <p:extLst>
              <p:ext uri="{D42A27DB-BD31-4B8C-83A1-F6EECF244321}">
                <p14:modId xmlns:p14="http://schemas.microsoft.com/office/powerpoint/2010/main" val="1888367512"/>
              </p:ext>
            </p:extLst>
          </p:nvPr>
        </p:nvGraphicFramePr>
        <p:xfrm>
          <a:off x="2339752" y="2348880"/>
          <a:ext cx="3960441" cy="489492"/>
        </p:xfrm>
        <a:graphic>
          <a:graphicData uri="http://schemas.openxmlformats.org/presentationml/2006/ole">
            <mc:AlternateContent xmlns:mc="http://schemas.openxmlformats.org/markup-compatibility/2006">
              <mc:Choice xmlns:v="urn:schemas-microsoft-com:vml" Requires="v">
                <p:oleObj spid="_x0000_s94436" name="公式" r:id="rId7" imgW="1930400" imgH="241300" progId="Equation.3">
                  <p:embed/>
                </p:oleObj>
              </mc:Choice>
              <mc:Fallback>
                <p:oleObj name="公式" r:id="rId7" imgW="1930400" imgH="24130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39752" y="2348880"/>
                        <a:ext cx="3960441" cy="489492"/>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5" presetClass="entr" presetSubtype="10" fill="hold" nodeType="clickEffect">
                                  <p:stCondLst>
                                    <p:cond delay="0"/>
                                  </p:stCondLst>
                                  <p:childTnLst>
                                    <p:set>
                                      <p:cBhvr>
                                        <p:cTn id="15" dur="1" fill="hold">
                                          <p:stCondLst>
                                            <p:cond delay="0"/>
                                          </p:stCondLst>
                                        </p:cTn>
                                        <p:tgtEl>
                                          <p:spTgt spid="73738"/>
                                        </p:tgtEl>
                                        <p:attrNameLst>
                                          <p:attrName>style.visibility</p:attrName>
                                        </p:attrNameLst>
                                      </p:cBhvr>
                                      <p:to>
                                        <p:strVal val="visible"/>
                                      </p:to>
                                    </p:set>
                                    <p:animEffect transition="in" filter="checkerboard(across)">
                                      <p:cBhvr>
                                        <p:cTn id="16" dur="500"/>
                                        <p:tgtEl>
                                          <p:spTgt spid="73738"/>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dissolve">
                                      <p:cBhvr>
                                        <p:cTn id="21" dur="500"/>
                                        <p:tgtEl>
                                          <p:spTgt spid="4"/>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 calcmode="lin" valueType="num">
                                      <p:cBhvr additive="base">
                                        <p:cTn id="26" dur="500" fill="hold"/>
                                        <p:tgtEl>
                                          <p:spTgt spid="5"/>
                                        </p:tgtEl>
                                        <p:attrNameLst>
                                          <p:attrName>ppt_x</p:attrName>
                                        </p:attrNameLst>
                                      </p:cBhvr>
                                      <p:tavLst>
                                        <p:tav tm="0">
                                          <p:val>
                                            <p:strVal val="#ppt_x"/>
                                          </p:val>
                                        </p:tav>
                                        <p:tav tm="100000">
                                          <p:val>
                                            <p:strVal val="#ppt_x"/>
                                          </p:val>
                                        </p:tav>
                                      </p:tavLst>
                                    </p:anim>
                                    <p:anim calcmode="lin" valueType="num">
                                      <p:cBhvr additive="base">
                                        <p:cTn id="27"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2"/>
          <p:cNvSpPr>
            <a:spLocks noChangeArrowheads="1"/>
          </p:cNvSpPr>
          <p:nvPr/>
        </p:nvSpPr>
        <p:spPr bwMode="auto">
          <a:xfrm>
            <a:off x="467544" y="3772197"/>
            <a:ext cx="8352927" cy="1384995"/>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pPr marL="457200" lvl="0" indent="-457200">
              <a:lnSpc>
                <a:spcPct val="150000"/>
              </a:lnSpc>
              <a:buFont typeface="Wingdings" panose="05000000000000000000" pitchFamily="2" charset="2"/>
              <a:buChar char="Ø"/>
            </a:pPr>
            <a:r>
              <a:rPr lang="zh-CN" altLang="en-US" sz="2800" dirty="0">
                <a:solidFill>
                  <a:prstClr val="black"/>
                </a:solidFill>
                <a:latin typeface="微软雅黑" pitchFamily="34" charset="-122"/>
                <a:ea typeface="微软雅黑" pitchFamily="34" charset="-122"/>
              </a:rPr>
              <a:t>如果孤立系内部进行的是不可逆过程，㶲总是不可逆地转变为</a:t>
            </a:r>
            <a:r>
              <a:rPr lang="zh-CN" altLang="en-US" sz="2400" kern="300" spc="-600" dirty="0">
                <a:solidFill>
                  <a:prstClr val="black"/>
                </a:solidFill>
                <a:latin typeface="微软雅黑" pitchFamily="34" charset="-122"/>
                <a:ea typeface="微软雅黑" pitchFamily="34" charset="-122"/>
              </a:rPr>
              <a:t>火无    ，</a:t>
            </a:r>
            <a:r>
              <a:rPr lang="zh-CN" altLang="en-US" sz="2800" dirty="0">
                <a:solidFill>
                  <a:prstClr val="black"/>
                </a:solidFill>
                <a:latin typeface="微软雅黑" pitchFamily="34" charset="-122"/>
                <a:ea typeface="微软雅黑" pitchFamily="34" charset="-122"/>
              </a:rPr>
              <a:t>即㶲减少而</a:t>
            </a:r>
            <a:r>
              <a:rPr lang="zh-CN" altLang="en-US" sz="2400" kern="300" spc="-600" dirty="0">
                <a:solidFill>
                  <a:prstClr val="black"/>
                </a:solidFill>
                <a:latin typeface="微软雅黑" pitchFamily="34" charset="-122"/>
                <a:ea typeface="微软雅黑" pitchFamily="34" charset="-122"/>
              </a:rPr>
              <a:t>火无      </a:t>
            </a:r>
            <a:r>
              <a:rPr lang="zh-CN" altLang="en-US" sz="2800" dirty="0">
                <a:solidFill>
                  <a:prstClr val="black"/>
                </a:solidFill>
                <a:latin typeface="微软雅黑" pitchFamily="34" charset="-122"/>
                <a:ea typeface="微软雅黑" pitchFamily="34" charset="-122"/>
              </a:rPr>
              <a:t>增加；</a:t>
            </a:r>
          </a:p>
        </p:txBody>
      </p:sp>
      <p:sp>
        <p:nvSpPr>
          <p:cNvPr id="6" name="Rectangle 9"/>
          <p:cNvSpPr>
            <a:spLocks noChangeArrowheads="1"/>
          </p:cNvSpPr>
          <p:nvPr/>
        </p:nvSpPr>
        <p:spPr bwMode="auto">
          <a:xfrm>
            <a:off x="467545" y="2834352"/>
            <a:ext cx="8352927" cy="738664"/>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marL="457200" indent="-457200">
              <a:lnSpc>
                <a:spcPct val="150000"/>
              </a:lnSpc>
              <a:buFont typeface="Wingdings" panose="05000000000000000000" pitchFamily="2" charset="2"/>
              <a:buChar char="Ø"/>
            </a:pPr>
            <a:r>
              <a:rPr lang="zh-CN" altLang="en-US" sz="2800" dirty="0">
                <a:solidFill>
                  <a:prstClr val="black"/>
                </a:solidFill>
                <a:latin typeface="微软雅黑" pitchFamily="34" charset="-122"/>
                <a:ea typeface="微软雅黑" pitchFamily="34" charset="-122"/>
              </a:rPr>
              <a:t>如果孤立系内部进行的是可逆过程，㶲保持不变；</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prstClr val="black"/>
                </a:solidFill>
                <a:latin typeface="黑体" pitchFamily="49" charset="-122"/>
                <a:ea typeface="黑体" pitchFamily="49" charset="-122"/>
              </a:rPr>
              <a:t>55</a:t>
            </a:r>
            <a:endParaRPr lang="zh-CN" altLang="en-US" sz="2000" b="1" dirty="0">
              <a:solidFill>
                <a:prstClr val="black"/>
              </a:solidFill>
              <a:latin typeface="黑体" pitchFamily="49" charset="-122"/>
              <a:ea typeface="黑体" pitchFamily="49" charset="-122"/>
            </a:endParaRPr>
          </a:p>
        </p:txBody>
      </p:sp>
      <p:sp>
        <p:nvSpPr>
          <p:cNvPr id="7" name="Rectangle 9"/>
          <p:cNvSpPr>
            <a:spLocks noChangeArrowheads="1"/>
          </p:cNvSpPr>
          <p:nvPr/>
        </p:nvSpPr>
        <p:spPr bwMode="auto">
          <a:xfrm>
            <a:off x="487562" y="1826240"/>
            <a:ext cx="8332910" cy="738664"/>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spAutoFit/>
          </a:bodyPr>
          <a:lstStyle/>
          <a:p>
            <a:pPr marL="457200" indent="-457200" algn="just">
              <a:lnSpc>
                <a:spcPct val="150000"/>
              </a:lnSpc>
              <a:buFont typeface="Wingdings" panose="05000000000000000000" pitchFamily="2" charset="2"/>
              <a:buChar char="Ø"/>
            </a:pPr>
            <a:r>
              <a:rPr lang="zh-CN" altLang="en-US" sz="2800" dirty="0">
                <a:solidFill>
                  <a:prstClr val="black"/>
                </a:solidFill>
                <a:latin typeface="微软雅黑" pitchFamily="34" charset="-122"/>
                <a:ea typeface="微软雅黑" pitchFamily="34" charset="-122"/>
              </a:rPr>
              <a:t>一切过程中孤立系内㶲和</a:t>
            </a:r>
            <a:r>
              <a:rPr lang="zh-CN" altLang="en-US" sz="2400" kern="300" spc="-600" dirty="0">
                <a:solidFill>
                  <a:prstClr val="black"/>
                </a:solidFill>
                <a:latin typeface="微软雅黑" pitchFamily="34" charset="-122"/>
                <a:ea typeface="微软雅黑" pitchFamily="34" charset="-122"/>
              </a:rPr>
              <a:t>火无</a:t>
            </a:r>
            <a:r>
              <a:rPr lang="zh-CN" altLang="en-US" sz="1400" dirty="0">
                <a:solidFill>
                  <a:prstClr val="black"/>
                </a:solidFill>
                <a:latin typeface="微软雅黑" pitchFamily="34" charset="-122"/>
                <a:ea typeface="微软雅黑" pitchFamily="34" charset="-122"/>
              </a:rPr>
              <a:t>  </a:t>
            </a:r>
            <a:r>
              <a:rPr lang="zh-CN" altLang="en-US" sz="2800" dirty="0">
                <a:solidFill>
                  <a:prstClr val="black"/>
                </a:solidFill>
                <a:latin typeface="微软雅黑" pitchFamily="34" charset="-122"/>
                <a:ea typeface="微软雅黑" pitchFamily="34" charset="-122"/>
              </a:rPr>
              <a:t>的总量保持不变；</a:t>
            </a:r>
          </a:p>
        </p:txBody>
      </p:sp>
      <p:sp>
        <p:nvSpPr>
          <p:cNvPr id="3" name="矩形 2"/>
          <p:cNvSpPr/>
          <p:nvPr/>
        </p:nvSpPr>
        <p:spPr>
          <a:xfrm>
            <a:off x="487562" y="5373216"/>
            <a:ext cx="8332910" cy="523220"/>
          </a:xfrm>
          <a:prstGeom prst="rect">
            <a:avLst/>
          </a:prstGeom>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buFont typeface="Wingdings" panose="05000000000000000000" pitchFamily="2" charset="2"/>
              <a:buChar char="Ø"/>
            </a:pPr>
            <a:r>
              <a:rPr lang="zh-CN" altLang="en-US" sz="2400" kern="300" spc="-600" dirty="0">
                <a:solidFill>
                  <a:prstClr val="black"/>
                </a:solidFill>
                <a:latin typeface="微软雅黑" pitchFamily="34" charset="-122"/>
                <a:ea typeface="微软雅黑" pitchFamily="34" charset="-122"/>
              </a:rPr>
              <a:t>火无</a:t>
            </a:r>
            <a:r>
              <a:rPr lang="zh-CN" altLang="en-US" sz="1400" dirty="0">
                <a:solidFill>
                  <a:prstClr val="black"/>
                </a:solidFill>
                <a:latin typeface="微软雅黑" pitchFamily="34" charset="-122"/>
                <a:ea typeface="微软雅黑" pitchFamily="34" charset="-122"/>
              </a:rPr>
              <a:t>   </a:t>
            </a:r>
            <a:r>
              <a:rPr lang="zh-CN" altLang="en-US" sz="2800" dirty="0">
                <a:solidFill>
                  <a:prstClr val="black"/>
                </a:solidFill>
                <a:latin typeface="微软雅黑" pitchFamily="34" charset="-122"/>
                <a:ea typeface="微软雅黑" pitchFamily="34" charset="-122"/>
              </a:rPr>
              <a:t>转变为㶲的过程是不可能发生的。</a:t>
            </a:r>
            <a:endParaRPr lang="zh-CN" altLang="en-US" dirty="0"/>
          </a:p>
        </p:txBody>
      </p:sp>
      <p:sp>
        <p:nvSpPr>
          <p:cNvPr id="12" name="Rectangle 9"/>
          <p:cNvSpPr>
            <a:spLocks noChangeArrowheads="1"/>
          </p:cNvSpPr>
          <p:nvPr/>
        </p:nvSpPr>
        <p:spPr bwMode="auto">
          <a:xfrm>
            <a:off x="545499" y="1064825"/>
            <a:ext cx="8100071" cy="738664"/>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wrap="square">
            <a:spAutoFit/>
          </a:bodyPr>
          <a:lstStyle/>
          <a:p>
            <a:pPr algn="just">
              <a:lnSpc>
                <a:spcPct val="150000"/>
              </a:lnSpc>
            </a:pPr>
            <a:r>
              <a:rPr lang="zh-CN" altLang="en-US" sz="2800" dirty="0">
                <a:solidFill>
                  <a:prstClr val="black"/>
                </a:solidFill>
                <a:latin typeface="微软雅黑" pitchFamily="34" charset="-122"/>
                <a:ea typeface="微软雅黑" pitchFamily="34" charset="-122"/>
              </a:rPr>
              <a:t>结合热力学第二定律，对孤立系统，有㶲减原理：</a:t>
            </a:r>
          </a:p>
        </p:txBody>
      </p:sp>
    </p:spTree>
    <p:extLst>
      <p:ext uri="{BB962C8B-B14F-4D97-AF65-F5344CB8AC3E}">
        <p14:creationId xmlns:p14="http://schemas.microsoft.com/office/powerpoint/2010/main" val="1748708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3"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428596" y="1844824"/>
            <a:ext cx="8203785" cy="2031325"/>
          </a:xfrm>
          <a:prstGeom prst="rect">
            <a:avLst/>
          </a:prstGeom>
          <a:ln>
            <a:headEnd/>
            <a:tailEnd/>
          </a:ln>
        </p:spPr>
        <p:style>
          <a:lnRef idx="1">
            <a:schemeClr val="accent6"/>
          </a:lnRef>
          <a:fillRef idx="2">
            <a:schemeClr val="accent6"/>
          </a:fillRef>
          <a:effectRef idx="1">
            <a:schemeClr val="accent6"/>
          </a:effectRef>
          <a:fontRef idx="minor">
            <a:schemeClr val="dk1"/>
          </a:fontRef>
        </p:style>
        <p:txBody>
          <a:bodyPr wrap="square" anchor="ctr">
            <a:spAutoFit/>
          </a:bodyPr>
          <a:lstStyle/>
          <a:p>
            <a:pPr algn="just">
              <a:lnSpc>
                <a:spcPct val="150000"/>
              </a:lnSpc>
            </a:pPr>
            <a:r>
              <a:rPr lang="zh-CN" altLang="en-US" sz="2800" dirty="0">
                <a:latin typeface="微软雅黑" pitchFamily="34" charset="-122"/>
                <a:ea typeface="微软雅黑" pitchFamily="34" charset="-122"/>
              </a:rPr>
              <a:t>由于不可逆因素的存在，使工质本来具有的做功能力减少的部分称为做功能力损失，又称㶲损失或有效能损失，即</a:t>
            </a:r>
            <a:r>
              <a:rPr lang="zh-CN" altLang="en-US" sz="2800" dirty="0">
                <a:solidFill>
                  <a:prstClr val="black"/>
                </a:solidFill>
                <a:latin typeface="微软雅黑" pitchFamily="34" charset="-122"/>
                <a:ea typeface="微软雅黑" pitchFamily="34" charset="-122"/>
              </a:rPr>
              <a:t>㶲变为</a:t>
            </a:r>
            <a:r>
              <a:rPr lang="zh-CN" altLang="en-US" sz="2400" kern="300" spc="-600" dirty="0">
                <a:solidFill>
                  <a:prstClr val="black"/>
                </a:solidFill>
                <a:latin typeface="微软雅黑" pitchFamily="34" charset="-122"/>
                <a:ea typeface="微软雅黑" pitchFamily="34" charset="-122"/>
              </a:rPr>
              <a:t>火无       </a:t>
            </a:r>
            <a:r>
              <a:rPr lang="zh-CN" altLang="en-US" sz="2800" dirty="0">
                <a:solidFill>
                  <a:prstClr val="black"/>
                </a:solidFill>
                <a:latin typeface="微软雅黑" pitchFamily="34" charset="-122"/>
                <a:ea typeface="微软雅黑" pitchFamily="34" charset="-122"/>
              </a:rPr>
              <a:t>的部分，用</a:t>
            </a:r>
            <a:r>
              <a:rPr lang="en-US" altLang="zh-CN" sz="2800" b="1" i="1" dirty="0">
                <a:latin typeface="Times New Roman" panose="02020603050405020304" pitchFamily="18" charset="0"/>
                <a:ea typeface="微软雅黑" pitchFamily="34" charset="-122"/>
                <a:cs typeface="Times New Roman" panose="02020603050405020304" pitchFamily="18" charset="0"/>
              </a:rPr>
              <a:t>I</a:t>
            </a:r>
            <a:r>
              <a:rPr lang="zh-CN" altLang="en-US" sz="2800" dirty="0">
                <a:latin typeface="Times New Roman" panose="02020603050405020304" pitchFamily="18" charset="0"/>
                <a:ea typeface="微软雅黑" pitchFamily="34" charset="-122"/>
                <a:cs typeface="Times New Roman" panose="02020603050405020304" pitchFamily="18" charset="0"/>
              </a:rPr>
              <a:t>（</a:t>
            </a:r>
            <a:r>
              <a:rPr lang="en-US" altLang="zh-CN" sz="2800" b="1" i="1" dirty="0" err="1">
                <a:latin typeface="Times New Roman" panose="02020603050405020304" pitchFamily="18" charset="0"/>
                <a:ea typeface="微软雅黑" pitchFamily="34" charset="-122"/>
                <a:cs typeface="Times New Roman" panose="02020603050405020304" pitchFamily="18" charset="0"/>
              </a:rPr>
              <a:t>i</a:t>
            </a:r>
            <a:r>
              <a:rPr lang="zh-CN" altLang="en-US" sz="2800" dirty="0">
                <a:latin typeface="Times New Roman" panose="02020603050405020304" pitchFamily="18" charset="0"/>
                <a:ea typeface="微软雅黑" pitchFamily="34" charset="-122"/>
                <a:cs typeface="Times New Roman" panose="02020603050405020304" pitchFamily="18" charset="0"/>
              </a:rPr>
              <a:t>）</a:t>
            </a:r>
            <a:r>
              <a:rPr lang="zh-CN" altLang="en-US" sz="2800" dirty="0">
                <a:latin typeface="微软雅黑" pitchFamily="34" charset="-122"/>
                <a:ea typeface="微软雅黑" pitchFamily="34" charset="-122"/>
              </a:rPr>
              <a:t>表示。</a:t>
            </a:r>
          </a:p>
        </p:txBody>
      </p:sp>
      <p:sp>
        <p:nvSpPr>
          <p:cNvPr id="5" name="TextBox 37"/>
          <p:cNvSpPr txBox="1">
            <a:spLocks noChangeArrowheads="1"/>
          </p:cNvSpPr>
          <p:nvPr/>
        </p:nvSpPr>
        <p:spPr bwMode="auto">
          <a:xfrm>
            <a:off x="817750" y="1268760"/>
            <a:ext cx="4042282" cy="523220"/>
          </a:xfrm>
          <a:prstGeom prst="rect">
            <a:avLst/>
          </a:prstGeom>
          <a:noFill/>
          <a:ln w="9525">
            <a:noFill/>
            <a:miter lim="800000"/>
            <a:headEnd/>
            <a:tailEnd/>
          </a:ln>
        </p:spPr>
        <p:txBody>
          <a:bodyPr wrap="square">
            <a:spAutoFit/>
          </a:bodyPr>
          <a:lstStyle/>
          <a:p>
            <a:r>
              <a:rPr lang="zh-CN" altLang="en-US" sz="2800" b="1" dirty="0">
                <a:solidFill>
                  <a:srgbClr val="C00000"/>
                </a:solidFill>
                <a:latin typeface="微软雅黑" pitchFamily="34" charset="-122"/>
                <a:ea typeface="微软雅黑" pitchFamily="34" charset="-122"/>
              </a:rPr>
              <a:t>作功能力损失</a:t>
            </a:r>
            <a:r>
              <a:rPr lang="zh-CN" altLang="en-US" sz="2800" b="1" dirty="0">
                <a:latin typeface="微软雅黑" pitchFamily="34" charset="-122"/>
                <a:ea typeface="微软雅黑" pitchFamily="34" charset="-122"/>
              </a:rPr>
              <a:t>（㶲损失）</a:t>
            </a:r>
          </a:p>
        </p:txBody>
      </p:sp>
      <p:sp>
        <p:nvSpPr>
          <p:cNvPr id="6" name="矩形 5"/>
          <p:cNvSpPr/>
          <p:nvPr/>
        </p:nvSpPr>
        <p:spPr>
          <a:xfrm>
            <a:off x="155986" y="1282229"/>
            <a:ext cx="571500" cy="466725"/>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altLang="zh-CN" sz="2800" i="1" dirty="0">
                <a:solidFill>
                  <a:srgbClr val="C00000"/>
                </a:solidFill>
                <a:latin typeface="Bernard MT Condensed"/>
              </a:rPr>
              <a:t> 2.</a:t>
            </a:r>
            <a:endParaRPr lang="zh-CN" altLang="en-US" sz="2800" i="1" dirty="0">
              <a:solidFill>
                <a:srgbClr val="C00000"/>
              </a:solidFill>
              <a:latin typeface="Bernard MT Condensed"/>
            </a:endParaRPr>
          </a:p>
        </p:txBody>
      </p:sp>
      <p:sp>
        <p:nvSpPr>
          <p:cNvPr id="7" name="Rectangle 4"/>
          <p:cNvSpPr>
            <a:spLocks noChangeArrowheads="1"/>
          </p:cNvSpPr>
          <p:nvPr/>
        </p:nvSpPr>
        <p:spPr bwMode="auto">
          <a:xfrm>
            <a:off x="428596" y="3992822"/>
            <a:ext cx="8229023" cy="2031325"/>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nchor="ctr">
            <a:spAutoFit/>
          </a:bodyPr>
          <a:lstStyle/>
          <a:p>
            <a:pPr algn="just">
              <a:lnSpc>
                <a:spcPct val="150000"/>
              </a:lnSpc>
            </a:pPr>
            <a:r>
              <a:rPr lang="zh-CN" altLang="en-US" sz="2800" dirty="0">
                <a:latin typeface="微软雅黑" pitchFamily="34" charset="-122"/>
                <a:ea typeface="微软雅黑" pitchFamily="34" charset="-122"/>
              </a:rPr>
              <a:t>做功能力损失是由于过程的不可逆因素造成的，这种损失并没有减少系统具有的能量数量，但是降低了能量的品质，是能量品质的贬值。</a:t>
            </a:r>
          </a:p>
        </p:txBody>
      </p:sp>
      <p:sp>
        <p:nvSpPr>
          <p:cNvPr id="8" name="矩形 7"/>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56</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381000" y="1162352"/>
            <a:ext cx="8334404" cy="1384995"/>
          </a:xfrm>
          <a:prstGeom prst="rect">
            <a:avLst/>
          </a:prstGeom>
          <a:noFill/>
          <a:ln w="9525" algn="ctr">
            <a:noFill/>
            <a:miter lim="800000"/>
            <a:headEnd/>
            <a:tailEnd/>
          </a:ln>
          <a:effectLst/>
        </p:spPr>
        <p:txBody>
          <a:bodyPr wrap="square" anchor="ctr">
            <a:spAutoFit/>
          </a:bodyPr>
          <a:lstStyle/>
          <a:p>
            <a:pPr>
              <a:lnSpc>
                <a:spcPct val="150000"/>
              </a:lnSpc>
            </a:pPr>
            <a:r>
              <a:rPr lang="zh-CN" altLang="en-US" sz="2800" dirty="0">
                <a:latin typeface="微软雅黑" pitchFamily="34" charset="-122"/>
                <a:ea typeface="微软雅黑" pitchFamily="34" charset="-122"/>
                <a:cs typeface="Times New Roman" pitchFamily="18" charset="0"/>
              </a:rPr>
              <a:t>以闭口系为例</a:t>
            </a:r>
            <a:r>
              <a:rPr lang="en-US" altLang="zh-CN" sz="2800" dirty="0">
                <a:latin typeface="微软雅黑" pitchFamily="34" charset="-122"/>
                <a:ea typeface="微软雅黑" pitchFamily="34" charset="-122"/>
                <a:cs typeface="Times New Roman" pitchFamily="18" charset="0"/>
              </a:rPr>
              <a:t>,  </a:t>
            </a:r>
            <a:r>
              <a:rPr lang="zh-CN" altLang="en-US" sz="2800" dirty="0">
                <a:latin typeface="微软雅黑" pitchFamily="34" charset="-122"/>
                <a:ea typeface="微软雅黑" pitchFamily="34" charset="-122"/>
                <a:cs typeface="Times New Roman" pitchFamily="18" charset="0"/>
              </a:rPr>
              <a:t>工质从状态 </a:t>
            </a:r>
            <a:r>
              <a:rPr lang="en-US" altLang="zh-CN" sz="2800" dirty="0">
                <a:latin typeface="微软雅黑" pitchFamily="34" charset="-122"/>
                <a:ea typeface="微软雅黑" pitchFamily="34" charset="-122"/>
                <a:cs typeface="Times New Roman" pitchFamily="18" charset="0"/>
              </a:rPr>
              <a:t>1 </a:t>
            </a:r>
            <a:r>
              <a:rPr lang="zh-CN" altLang="en-US" sz="2800" dirty="0">
                <a:latin typeface="微软雅黑" pitchFamily="34" charset="-122"/>
                <a:ea typeface="微软雅黑" pitchFamily="34" charset="-122"/>
                <a:cs typeface="Times New Roman" pitchFamily="18" charset="0"/>
              </a:rPr>
              <a:t>经历一</a:t>
            </a:r>
            <a:r>
              <a:rPr lang="zh-CN" altLang="en-US" sz="2800" dirty="0">
                <a:solidFill>
                  <a:srgbClr val="FF0000"/>
                </a:solidFill>
                <a:latin typeface="微软雅黑" pitchFamily="34" charset="-122"/>
                <a:ea typeface="微软雅黑" pitchFamily="34" charset="-122"/>
                <a:cs typeface="Times New Roman" pitchFamily="18" charset="0"/>
              </a:rPr>
              <a:t>不可逆</a:t>
            </a:r>
            <a:r>
              <a:rPr lang="zh-CN" altLang="en-US" sz="2800" dirty="0">
                <a:latin typeface="微软雅黑" pitchFamily="34" charset="-122"/>
                <a:ea typeface="微软雅黑" pitchFamily="34" charset="-122"/>
                <a:cs typeface="Times New Roman" pitchFamily="18" charset="0"/>
              </a:rPr>
              <a:t>过程变化到状态 </a:t>
            </a:r>
            <a:r>
              <a:rPr lang="en-US" altLang="zh-CN" sz="2800" dirty="0">
                <a:latin typeface="微软雅黑" pitchFamily="34" charset="-122"/>
                <a:ea typeface="微软雅黑" pitchFamily="34" charset="-122"/>
                <a:cs typeface="Times New Roman" pitchFamily="18" charset="0"/>
              </a:rPr>
              <a:t>2 , </a:t>
            </a:r>
            <a:r>
              <a:rPr lang="zh-CN" altLang="en-US" sz="2800" dirty="0">
                <a:latin typeface="微软雅黑" pitchFamily="34" charset="-122"/>
                <a:ea typeface="微软雅黑" pitchFamily="34" charset="-122"/>
                <a:cs typeface="Times New Roman" pitchFamily="18" charset="0"/>
              </a:rPr>
              <a:t>做出的有用功为</a:t>
            </a:r>
            <a:r>
              <a:rPr lang="zh-CN" altLang="en-US" sz="2800" dirty="0">
                <a:cs typeface="Times New Roman" pitchFamily="18" charset="0"/>
              </a:rPr>
              <a:t> </a:t>
            </a:r>
          </a:p>
        </p:txBody>
      </p:sp>
      <p:graphicFrame>
        <p:nvGraphicFramePr>
          <p:cNvPr id="4" name="Object 8"/>
          <p:cNvGraphicFramePr>
            <a:graphicFrameLocks noChangeAspect="1"/>
          </p:cNvGraphicFramePr>
          <p:nvPr>
            <p:extLst>
              <p:ext uri="{D42A27DB-BD31-4B8C-83A1-F6EECF244321}">
                <p14:modId xmlns:p14="http://schemas.microsoft.com/office/powerpoint/2010/main" val="733620127"/>
              </p:ext>
            </p:extLst>
          </p:nvPr>
        </p:nvGraphicFramePr>
        <p:xfrm>
          <a:off x="2051720" y="2641611"/>
          <a:ext cx="4438470" cy="1219437"/>
        </p:xfrm>
        <a:graphic>
          <a:graphicData uri="http://schemas.openxmlformats.org/presentationml/2006/ole">
            <mc:AlternateContent xmlns:mc="http://schemas.openxmlformats.org/markup-compatibility/2006">
              <mc:Choice xmlns:v="urn:schemas-microsoft-com:vml" Requires="v">
                <p:oleObj spid="_x0000_s95456" name="公式" r:id="rId3" imgW="1904760" imgH="495000" progId="Equation.3">
                  <p:embed/>
                </p:oleObj>
              </mc:Choice>
              <mc:Fallback>
                <p:oleObj name="公式" r:id="rId3" imgW="1904760" imgH="495000" progId="Equation.3">
                  <p:embed/>
                  <p:pic>
                    <p:nvPicPr>
                      <p:cNvPr id="0" name="Object 8"/>
                      <p:cNvPicPr>
                        <a:picLocks noChangeAspect="1" noChangeArrowheads="1"/>
                      </p:cNvPicPr>
                      <p:nvPr/>
                    </p:nvPicPr>
                    <p:blipFill>
                      <a:blip r:embed="rId4"/>
                      <a:srcRect/>
                      <a:stretch>
                        <a:fillRect/>
                      </a:stretch>
                    </p:blipFill>
                    <p:spPr bwMode="auto">
                      <a:xfrm>
                        <a:off x="2051720" y="2641611"/>
                        <a:ext cx="4438470" cy="1219437"/>
                      </a:xfrm>
                      <a:prstGeom prst="rect">
                        <a:avLst/>
                      </a:prstGeom>
                      <a:noFill/>
                    </p:spPr>
                  </p:pic>
                </p:oleObj>
              </mc:Fallback>
            </mc:AlternateContent>
          </a:graphicData>
        </a:graphic>
      </p:graphicFrame>
      <p:sp>
        <p:nvSpPr>
          <p:cNvPr id="5" name="Rectangle 10"/>
          <p:cNvSpPr>
            <a:spLocks noChangeArrowheads="1"/>
          </p:cNvSpPr>
          <p:nvPr/>
        </p:nvSpPr>
        <p:spPr bwMode="auto">
          <a:xfrm>
            <a:off x="401387" y="4605633"/>
            <a:ext cx="3881191" cy="695575"/>
          </a:xfrm>
          <a:prstGeom prst="rect">
            <a:avLst/>
          </a:prstGeom>
          <a:noFill/>
          <a:ln w="9525">
            <a:noFill/>
            <a:miter lim="800000"/>
            <a:headEnd/>
            <a:tailEnd/>
          </a:ln>
          <a:effectLst/>
        </p:spPr>
        <p:txBody>
          <a:bodyPr wrap="none" anchor="ctr">
            <a:spAutoFit/>
          </a:bodyPr>
          <a:lstStyle/>
          <a:p>
            <a:pPr>
              <a:lnSpc>
                <a:spcPct val="140000"/>
              </a:lnSpc>
            </a:pPr>
            <a:r>
              <a:rPr lang="zh-CN" altLang="en-US" sz="2800" dirty="0">
                <a:latin typeface="微软雅黑" pitchFamily="34" charset="-122"/>
                <a:ea typeface="微软雅黑" pitchFamily="34" charset="-122"/>
                <a:cs typeface="Times New Roman" pitchFamily="18" charset="0"/>
              </a:rPr>
              <a:t>由作功能力损失的定义 </a:t>
            </a:r>
          </a:p>
        </p:txBody>
      </p:sp>
      <p:graphicFrame>
        <p:nvGraphicFramePr>
          <p:cNvPr id="6" name="Object 11"/>
          <p:cNvGraphicFramePr>
            <a:graphicFrameLocks noChangeAspect="1"/>
          </p:cNvGraphicFramePr>
          <p:nvPr>
            <p:extLst>
              <p:ext uri="{D42A27DB-BD31-4B8C-83A1-F6EECF244321}">
                <p14:modId xmlns:p14="http://schemas.microsoft.com/office/powerpoint/2010/main" val="1369136437"/>
              </p:ext>
            </p:extLst>
          </p:nvPr>
        </p:nvGraphicFramePr>
        <p:xfrm>
          <a:off x="2843808" y="5442374"/>
          <a:ext cx="2808312" cy="506906"/>
        </p:xfrm>
        <a:graphic>
          <a:graphicData uri="http://schemas.openxmlformats.org/presentationml/2006/ole">
            <mc:AlternateContent xmlns:mc="http://schemas.openxmlformats.org/markup-compatibility/2006">
              <mc:Choice xmlns:v="urn:schemas-microsoft-com:vml" Requires="v">
                <p:oleObj spid="_x0000_s95457" name="公式" r:id="rId5" imgW="1320227" imgH="241195" progId="Equation.3">
                  <p:embed/>
                </p:oleObj>
              </mc:Choice>
              <mc:Fallback>
                <p:oleObj name="公式" r:id="rId5" imgW="1320227" imgH="241195" progId="Equation.3">
                  <p:embed/>
                  <p:pic>
                    <p:nvPicPr>
                      <p:cNvPr id="0" name="Object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808" y="5442374"/>
                        <a:ext cx="2808312" cy="506906"/>
                      </a:xfrm>
                      <a:prstGeom prst="rect">
                        <a:avLst/>
                      </a:prstGeom>
                      <a:noFill/>
                    </p:spPr>
                  </p:pic>
                </p:oleObj>
              </mc:Fallback>
            </mc:AlternateContent>
          </a:graphicData>
        </a:graphic>
      </p:graphicFrame>
      <p:sp>
        <p:nvSpPr>
          <p:cNvPr id="7" name="矩形 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57</a:t>
            </a:r>
            <a:endParaRPr lang="zh-CN" altLang="en-US" sz="2000" b="1" dirty="0">
              <a:solidFill>
                <a:schemeClr val="tx1"/>
              </a:solidFill>
              <a:latin typeface="黑体" pitchFamily="49" charset="-122"/>
              <a:ea typeface="黑体" pitchFamily="49" charset="-122"/>
            </a:endParaRPr>
          </a:p>
        </p:txBody>
      </p:sp>
      <p:sp>
        <p:nvSpPr>
          <p:cNvPr id="8" name="Rectangle 10"/>
          <p:cNvSpPr>
            <a:spLocks noChangeArrowheads="1"/>
          </p:cNvSpPr>
          <p:nvPr/>
        </p:nvSpPr>
        <p:spPr bwMode="auto">
          <a:xfrm>
            <a:off x="449964" y="3885553"/>
            <a:ext cx="8667757" cy="695575"/>
          </a:xfrm>
          <a:prstGeom prst="rect">
            <a:avLst/>
          </a:prstGeom>
          <a:noFill/>
          <a:ln w="9525">
            <a:noFill/>
            <a:miter lim="800000"/>
            <a:headEnd/>
            <a:tailEnd/>
          </a:ln>
          <a:effectLst/>
        </p:spPr>
        <p:txBody>
          <a:bodyPr wrap="none" anchor="ctr">
            <a:spAutoFit/>
          </a:bodyPr>
          <a:lstStyle/>
          <a:p>
            <a:pPr>
              <a:lnSpc>
                <a:spcPct val="140000"/>
              </a:lnSpc>
            </a:pPr>
            <a:r>
              <a:rPr lang="zh-CN" altLang="en-US" sz="2800" dirty="0">
                <a:latin typeface="微软雅黑" pitchFamily="34" charset="-122"/>
                <a:ea typeface="微软雅黑" pitchFamily="34" charset="-122"/>
                <a:cs typeface="Times New Roman" pitchFamily="18" charset="0"/>
              </a:rPr>
              <a:t>   </a:t>
            </a:r>
            <a:r>
              <a:rPr lang="en-US" altLang="zh-CN" dirty="0">
                <a:latin typeface="微软雅黑" pitchFamily="34" charset="-122"/>
                <a:ea typeface="微软雅黑" pitchFamily="34" charset="-122"/>
                <a:cs typeface="Times New Roman" pitchFamily="18" charset="0"/>
              </a:rPr>
              <a:t>——</a:t>
            </a:r>
            <a:r>
              <a:rPr lang="zh-CN" altLang="en-US" sz="2800" dirty="0">
                <a:latin typeface="微软雅黑" pitchFamily="34" charset="-122"/>
                <a:ea typeface="微软雅黑" pitchFamily="34" charset="-122"/>
                <a:cs typeface="Times New Roman" pitchFamily="18" charset="0"/>
              </a:rPr>
              <a:t>工质从状态 </a:t>
            </a:r>
            <a:r>
              <a:rPr lang="en-US" altLang="zh-CN" sz="2800" dirty="0">
                <a:latin typeface="微软雅黑" pitchFamily="34" charset="-122"/>
                <a:ea typeface="微软雅黑" pitchFamily="34" charset="-122"/>
                <a:cs typeface="Times New Roman" pitchFamily="18" charset="0"/>
              </a:rPr>
              <a:t>1 </a:t>
            </a:r>
            <a:r>
              <a:rPr lang="zh-CN" altLang="en-US" sz="2800" dirty="0">
                <a:latin typeface="微软雅黑" pitchFamily="34" charset="-122"/>
                <a:ea typeface="微软雅黑" pitchFamily="34" charset="-122"/>
                <a:cs typeface="Times New Roman" pitchFamily="18" charset="0"/>
              </a:rPr>
              <a:t>变化到状态 </a:t>
            </a:r>
            <a:r>
              <a:rPr lang="en-US" altLang="zh-CN" sz="2800" dirty="0">
                <a:latin typeface="微软雅黑" pitchFamily="34" charset="-122"/>
                <a:ea typeface="微软雅黑" pitchFamily="34" charset="-122"/>
                <a:cs typeface="Times New Roman" pitchFamily="18" charset="0"/>
              </a:rPr>
              <a:t>2 </a:t>
            </a:r>
            <a:r>
              <a:rPr lang="zh-CN" altLang="en-US" sz="2800" dirty="0">
                <a:latin typeface="微软雅黑" pitchFamily="34" charset="-122"/>
                <a:ea typeface="微软雅黑" pitchFamily="34" charset="-122"/>
                <a:cs typeface="Times New Roman" pitchFamily="18" charset="0"/>
              </a:rPr>
              <a:t>与环境交换的热量。</a:t>
            </a:r>
          </a:p>
        </p:txBody>
      </p:sp>
      <p:graphicFrame>
        <p:nvGraphicFramePr>
          <p:cNvPr id="2" name="对象 1"/>
          <p:cNvGraphicFramePr>
            <a:graphicFrameLocks noChangeAspect="1"/>
          </p:cNvGraphicFramePr>
          <p:nvPr>
            <p:extLst>
              <p:ext uri="{D42A27DB-BD31-4B8C-83A1-F6EECF244321}">
                <p14:modId xmlns:p14="http://schemas.microsoft.com/office/powerpoint/2010/main" val="2073155085"/>
              </p:ext>
            </p:extLst>
          </p:nvPr>
        </p:nvGraphicFramePr>
        <p:xfrm>
          <a:off x="445783" y="4060760"/>
          <a:ext cx="453809" cy="523626"/>
        </p:xfrm>
        <a:graphic>
          <a:graphicData uri="http://schemas.openxmlformats.org/presentationml/2006/ole">
            <mc:AlternateContent xmlns:mc="http://schemas.openxmlformats.org/markup-compatibility/2006">
              <mc:Choice xmlns:v="urn:schemas-microsoft-com:vml" Requires="v">
                <p:oleObj spid="_x0000_s95458" name="公式" r:id="rId7" imgW="164880" imgH="190440" progId="Equation.3">
                  <p:embed/>
                </p:oleObj>
              </mc:Choice>
              <mc:Fallback>
                <p:oleObj name="公式" r:id="rId7" imgW="164880" imgH="190440" progId="Equation.3">
                  <p:embed/>
                  <p:pic>
                    <p:nvPicPr>
                      <p:cNvPr id="0" name=""/>
                      <p:cNvPicPr/>
                      <p:nvPr/>
                    </p:nvPicPr>
                    <p:blipFill>
                      <a:blip r:embed="rId8"/>
                      <a:stretch>
                        <a:fillRect/>
                      </a:stretch>
                    </p:blipFill>
                    <p:spPr>
                      <a:xfrm>
                        <a:off x="445783" y="4060760"/>
                        <a:ext cx="453809" cy="523626"/>
                      </a:xfrm>
                      <a:prstGeom prst="rect">
                        <a:avLst/>
                      </a:prstGeom>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ox(in)">
                                      <p:cBhvr>
                                        <p:cTn id="23" dur="500"/>
                                        <p:tgtEl>
                                          <p:spTgt spid="5"/>
                                        </p:tgtEl>
                                      </p:cBhvr>
                                    </p:animEffect>
                                  </p:childTnLst>
                                </p:cTn>
                              </p:par>
                              <p:par>
                                <p:cTn id="24" presetID="4" presetClass="entr" presetSubtype="16" fill="hold"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box(in)">
                                      <p:cBhvr>
                                        <p:cTn id="26"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p:cNvGraphicFramePr>
            <a:graphicFrameLocks noChangeAspect="1"/>
          </p:cNvGraphicFramePr>
          <p:nvPr>
            <p:extLst>
              <p:ext uri="{D42A27DB-BD31-4B8C-83A1-F6EECF244321}">
                <p14:modId xmlns:p14="http://schemas.microsoft.com/office/powerpoint/2010/main" val="3115048675"/>
              </p:ext>
            </p:extLst>
          </p:nvPr>
        </p:nvGraphicFramePr>
        <p:xfrm>
          <a:off x="1247055" y="1268760"/>
          <a:ext cx="4837113" cy="1143000"/>
        </p:xfrm>
        <a:graphic>
          <a:graphicData uri="http://schemas.openxmlformats.org/presentationml/2006/ole">
            <mc:AlternateContent xmlns:mc="http://schemas.openxmlformats.org/markup-compatibility/2006">
              <mc:Choice xmlns:v="urn:schemas-microsoft-com:vml" Requires="v">
                <p:oleObj spid="_x0000_s97578" name="公式" r:id="rId3" imgW="2095200" imgH="495000" progId="Equation.3">
                  <p:embed/>
                </p:oleObj>
              </mc:Choice>
              <mc:Fallback>
                <p:oleObj name="公式" r:id="rId3" imgW="2095200" imgH="495000" progId="Equation.3">
                  <p:embed/>
                  <p:pic>
                    <p:nvPicPr>
                      <p:cNvPr id="0" name="Object 6"/>
                      <p:cNvPicPr>
                        <a:picLocks noChangeAspect="1" noChangeArrowheads="1"/>
                      </p:cNvPicPr>
                      <p:nvPr/>
                    </p:nvPicPr>
                    <p:blipFill>
                      <a:blip r:embed="rId4"/>
                      <a:srcRect/>
                      <a:stretch>
                        <a:fillRect/>
                      </a:stretch>
                    </p:blipFill>
                    <p:spPr bwMode="auto">
                      <a:xfrm>
                        <a:off x="1247055" y="1268760"/>
                        <a:ext cx="4837113" cy="1143000"/>
                      </a:xfrm>
                      <a:prstGeom prst="rect">
                        <a:avLst/>
                      </a:prstGeom>
                      <a:noFill/>
                    </p:spPr>
                  </p:pic>
                </p:oleObj>
              </mc:Fallback>
            </mc:AlternateContent>
          </a:graphicData>
        </a:graphic>
      </p:graphicFrame>
      <p:graphicFrame>
        <p:nvGraphicFramePr>
          <p:cNvPr id="8" name="Object 8"/>
          <p:cNvGraphicFramePr>
            <a:graphicFrameLocks noChangeAspect="1"/>
          </p:cNvGraphicFramePr>
          <p:nvPr>
            <p:extLst>
              <p:ext uri="{D42A27DB-BD31-4B8C-83A1-F6EECF244321}">
                <p14:modId xmlns:p14="http://schemas.microsoft.com/office/powerpoint/2010/main" val="3476624507"/>
              </p:ext>
            </p:extLst>
          </p:nvPr>
        </p:nvGraphicFramePr>
        <p:xfrm>
          <a:off x="1221009" y="2492896"/>
          <a:ext cx="6925363" cy="956149"/>
        </p:xfrm>
        <a:graphic>
          <a:graphicData uri="http://schemas.openxmlformats.org/presentationml/2006/ole">
            <mc:AlternateContent xmlns:mc="http://schemas.openxmlformats.org/markup-compatibility/2006">
              <mc:Choice xmlns:v="urn:schemas-microsoft-com:vml" Requires="v">
                <p:oleObj spid="_x0000_s97579" name="公式" r:id="rId5" imgW="3517900" imgH="482600" progId="Equation.3">
                  <p:embed/>
                </p:oleObj>
              </mc:Choice>
              <mc:Fallback>
                <p:oleObj name="公式" r:id="rId5" imgW="3517900" imgH="482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21009" y="2492896"/>
                        <a:ext cx="6925363" cy="956149"/>
                      </a:xfrm>
                      <a:prstGeom prst="rect">
                        <a:avLst/>
                      </a:prstGeom>
                      <a:noFill/>
                    </p:spPr>
                  </p:pic>
                </p:oleObj>
              </mc:Fallback>
            </mc:AlternateContent>
          </a:graphicData>
        </a:graphic>
      </p:graphicFrame>
      <p:sp>
        <p:nvSpPr>
          <p:cNvPr id="9" name="Rectangle 11"/>
          <p:cNvSpPr>
            <a:spLocks noChangeArrowheads="1"/>
          </p:cNvSpPr>
          <p:nvPr/>
        </p:nvSpPr>
        <p:spPr bwMode="auto">
          <a:xfrm>
            <a:off x="730521" y="3757106"/>
            <a:ext cx="649537" cy="523220"/>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即 </a:t>
            </a:r>
          </a:p>
        </p:txBody>
      </p:sp>
      <p:graphicFrame>
        <p:nvGraphicFramePr>
          <p:cNvPr id="10" name="Object 10"/>
          <p:cNvGraphicFramePr>
            <a:graphicFrameLocks noChangeAspect="1"/>
          </p:cNvGraphicFramePr>
          <p:nvPr>
            <p:extLst>
              <p:ext uri="{D42A27DB-BD31-4B8C-83A1-F6EECF244321}">
                <p14:modId xmlns:p14="http://schemas.microsoft.com/office/powerpoint/2010/main" val="2959246794"/>
              </p:ext>
            </p:extLst>
          </p:nvPr>
        </p:nvGraphicFramePr>
        <p:xfrm>
          <a:off x="3563888" y="3762618"/>
          <a:ext cx="1440160" cy="554347"/>
        </p:xfrm>
        <a:graphic>
          <a:graphicData uri="http://schemas.openxmlformats.org/presentationml/2006/ole">
            <mc:AlternateContent xmlns:mc="http://schemas.openxmlformats.org/markup-compatibility/2006">
              <mc:Choice xmlns:v="urn:schemas-microsoft-com:vml" Requires="v">
                <p:oleObj spid="_x0000_s97580" name="公式" r:id="rId7" imgW="622030" imgH="241195" progId="Equation.3">
                  <p:embed/>
                </p:oleObj>
              </mc:Choice>
              <mc:Fallback>
                <p:oleObj name="公式" r:id="rId7" imgW="622030" imgH="241195"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63888" y="3762618"/>
                        <a:ext cx="1440160" cy="554347"/>
                      </a:xfrm>
                      <a:prstGeom prst="rect">
                        <a:avLst/>
                      </a:prstGeom>
                      <a:noFill/>
                    </p:spPr>
                  </p:pic>
                </p:oleObj>
              </mc:Fallback>
            </mc:AlternateContent>
          </a:graphicData>
        </a:graphic>
      </p:graphicFrame>
      <p:sp>
        <p:nvSpPr>
          <p:cNvPr id="15" name="矩形 14"/>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58</a:t>
            </a:r>
            <a:endParaRPr lang="zh-CN" altLang="en-US" sz="2000" b="1" dirty="0">
              <a:solidFill>
                <a:schemeClr val="tx1"/>
              </a:solidFill>
              <a:latin typeface="黑体" pitchFamily="49" charset="-122"/>
              <a:ea typeface="黑体" pitchFamily="49" charset="-122"/>
            </a:endParaRPr>
          </a:p>
        </p:txBody>
      </p:sp>
      <p:sp>
        <p:nvSpPr>
          <p:cNvPr id="12" name="Rectangle 12"/>
          <p:cNvSpPr>
            <a:spLocks noChangeArrowheads="1"/>
          </p:cNvSpPr>
          <p:nvPr/>
        </p:nvSpPr>
        <p:spPr bwMode="auto">
          <a:xfrm>
            <a:off x="827584" y="4507067"/>
            <a:ext cx="5570756" cy="523220"/>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如果将工质与环境组成孤立系，有</a:t>
            </a:r>
          </a:p>
        </p:txBody>
      </p:sp>
      <p:graphicFrame>
        <p:nvGraphicFramePr>
          <p:cNvPr id="2" name="对象 1"/>
          <p:cNvGraphicFramePr>
            <a:graphicFrameLocks noChangeAspect="1"/>
          </p:cNvGraphicFramePr>
          <p:nvPr>
            <p:extLst>
              <p:ext uri="{D42A27DB-BD31-4B8C-83A1-F6EECF244321}">
                <p14:modId xmlns:p14="http://schemas.microsoft.com/office/powerpoint/2010/main" val="534001467"/>
              </p:ext>
            </p:extLst>
          </p:nvPr>
        </p:nvGraphicFramePr>
        <p:xfrm>
          <a:off x="3566315" y="5229200"/>
          <a:ext cx="1581749" cy="533241"/>
        </p:xfrm>
        <a:graphic>
          <a:graphicData uri="http://schemas.openxmlformats.org/presentationml/2006/ole">
            <mc:AlternateContent xmlns:mc="http://schemas.openxmlformats.org/markup-compatibility/2006">
              <mc:Choice xmlns:v="urn:schemas-microsoft-com:vml" Requires="v">
                <p:oleObj spid="_x0000_s97581" name="公式" r:id="rId9" imgW="672808" imgH="228501" progId="Equation.3">
                  <p:embed/>
                </p:oleObj>
              </mc:Choice>
              <mc:Fallback>
                <p:oleObj name="公式" r:id="rId9" imgW="672808" imgH="228501" progId="Equation.3">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66315" y="5229200"/>
                        <a:ext cx="1581749" cy="533241"/>
                      </a:xfrm>
                      <a:prstGeom prst="rect">
                        <a:avLst/>
                      </a:prstGeom>
                      <a:noFill/>
                      <a:ln>
                        <a:noFill/>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blinds(horizontal)">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blinds(horizontal)">
                                      <p:cBhvr>
                                        <p:cTn id="16" dur="500"/>
                                        <p:tgtEl>
                                          <p:spTgt spid="9"/>
                                        </p:tgtEl>
                                      </p:cBhvr>
                                    </p:animEffect>
                                  </p:childTnLst>
                                </p:cTn>
                              </p:par>
                              <p:par>
                                <p:cTn id="17" presetID="5" presetClass="entr" presetSubtype="10" fill="hold"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checkerboard(across)">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16" fill="hold" grpId="0" nodeType="click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ox(in)">
                                      <p:cBhvr>
                                        <p:cTn id="24" dur="500"/>
                                        <p:tgtEl>
                                          <p:spTgt spid="12"/>
                                        </p:tgtEl>
                                      </p:cBhvr>
                                    </p:animEffect>
                                  </p:childTnLst>
                                </p:cTn>
                              </p:par>
                              <p:par>
                                <p:cTn id="25" presetID="4" presetClass="entr" presetSubtype="16" fill="hold" nodeType="with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in)">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5"/>
          <p:cNvSpPr>
            <a:spLocks noChangeArrowheads="1"/>
          </p:cNvSpPr>
          <p:nvPr/>
        </p:nvSpPr>
        <p:spPr bwMode="auto">
          <a:xfrm>
            <a:off x="683568" y="1340768"/>
            <a:ext cx="3078163" cy="519113"/>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对稳流系</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同样有 </a:t>
            </a:r>
          </a:p>
        </p:txBody>
      </p:sp>
      <p:graphicFrame>
        <p:nvGraphicFramePr>
          <p:cNvPr id="14" name="Object 16"/>
          <p:cNvGraphicFramePr>
            <a:graphicFrameLocks noChangeAspect="1"/>
          </p:cNvGraphicFramePr>
          <p:nvPr>
            <p:extLst>
              <p:ext uri="{D42A27DB-BD31-4B8C-83A1-F6EECF244321}">
                <p14:modId xmlns:p14="http://schemas.microsoft.com/office/powerpoint/2010/main" val="2605192924"/>
              </p:ext>
            </p:extLst>
          </p:nvPr>
        </p:nvGraphicFramePr>
        <p:xfrm>
          <a:off x="2771801" y="1988840"/>
          <a:ext cx="3096344" cy="541148"/>
        </p:xfrm>
        <a:graphic>
          <a:graphicData uri="http://schemas.openxmlformats.org/presentationml/2006/ole">
            <mc:AlternateContent xmlns:mc="http://schemas.openxmlformats.org/markup-compatibility/2006">
              <mc:Choice xmlns:v="urn:schemas-microsoft-com:vml" Requires="v">
                <p:oleObj spid="_x0000_s98569" name="公式" r:id="rId3" imgW="1358310" imgH="241195" progId="Equation.3">
                  <p:embed/>
                </p:oleObj>
              </mc:Choice>
              <mc:Fallback>
                <p:oleObj name="公式" r:id="rId3" imgW="1358310" imgH="241195" progId="Equation.3">
                  <p:embed/>
                  <p:pic>
                    <p:nvPicPr>
                      <p:cNvPr id="0" name="Object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1801" y="1988840"/>
                        <a:ext cx="3096344" cy="541148"/>
                      </a:xfrm>
                      <a:prstGeom prst="rect">
                        <a:avLst/>
                      </a:prstGeom>
                      <a:noFill/>
                    </p:spPr>
                  </p:pic>
                </p:oleObj>
              </mc:Fallback>
            </mc:AlternateContent>
          </a:graphicData>
        </a:graphic>
      </p:graphicFrame>
      <p:graphicFrame>
        <p:nvGraphicFramePr>
          <p:cNvPr id="98311" name="Object 4"/>
          <p:cNvGraphicFramePr>
            <a:graphicFrameLocks noChangeAspect="1"/>
          </p:cNvGraphicFramePr>
          <p:nvPr>
            <p:extLst>
              <p:ext uri="{D42A27DB-BD31-4B8C-83A1-F6EECF244321}">
                <p14:modId xmlns:p14="http://schemas.microsoft.com/office/powerpoint/2010/main" val="3638280930"/>
              </p:ext>
            </p:extLst>
          </p:nvPr>
        </p:nvGraphicFramePr>
        <p:xfrm>
          <a:off x="1331640" y="2780928"/>
          <a:ext cx="6369078" cy="1224136"/>
        </p:xfrm>
        <a:graphic>
          <a:graphicData uri="http://schemas.openxmlformats.org/presentationml/2006/ole">
            <mc:AlternateContent xmlns:mc="http://schemas.openxmlformats.org/markup-compatibility/2006">
              <mc:Choice xmlns:v="urn:schemas-microsoft-com:vml" Requires="v">
                <p:oleObj spid="_x0000_s98570" name="公式" r:id="rId5" imgW="2577960" imgH="495000" progId="Equation.3">
                  <p:embed/>
                </p:oleObj>
              </mc:Choice>
              <mc:Fallback>
                <p:oleObj name="公式" r:id="rId5" imgW="2577960" imgH="495000" progId="Equation.3">
                  <p:embed/>
                  <p:pic>
                    <p:nvPicPr>
                      <p:cNvPr id="0" name="Object 4"/>
                      <p:cNvPicPr>
                        <a:picLocks noChangeAspect="1" noChangeArrowheads="1"/>
                      </p:cNvPicPr>
                      <p:nvPr/>
                    </p:nvPicPr>
                    <p:blipFill>
                      <a:blip r:embed="rId6"/>
                      <a:srcRect/>
                      <a:stretch>
                        <a:fillRect/>
                      </a:stretch>
                    </p:blipFill>
                    <p:spPr bwMode="auto">
                      <a:xfrm>
                        <a:off x="1331640" y="2780928"/>
                        <a:ext cx="6369078" cy="1224136"/>
                      </a:xfrm>
                      <a:prstGeom prst="rect">
                        <a:avLst/>
                      </a:prstGeom>
                      <a:noFill/>
                    </p:spPr>
                  </p:pic>
                </p:oleObj>
              </mc:Fallback>
            </mc:AlternateContent>
          </a:graphicData>
        </a:graphic>
      </p:graphicFrame>
      <p:sp>
        <p:nvSpPr>
          <p:cNvPr id="17" name="矩形 16"/>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59</a:t>
            </a:r>
            <a:endParaRPr lang="zh-CN" altLang="en-US" sz="2000" b="1" dirty="0">
              <a:solidFill>
                <a:schemeClr val="tx1"/>
              </a:solidFill>
              <a:latin typeface="黑体" pitchFamily="49" charset="-122"/>
              <a:ea typeface="黑体" pitchFamily="49" charset="-122"/>
            </a:endParaRPr>
          </a:p>
        </p:txBody>
      </p:sp>
      <p:sp>
        <p:nvSpPr>
          <p:cNvPr id="8" name="Rectangle 10"/>
          <p:cNvSpPr>
            <a:spLocks noChangeArrowheads="1"/>
          </p:cNvSpPr>
          <p:nvPr/>
        </p:nvSpPr>
        <p:spPr bwMode="auto">
          <a:xfrm>
            <a:off x="827583" y="4293096"/>
            <a:ext cx="3089307" cy="523220"/>
          </a:xfrm>
          <a:prstGeom prst="rect">
            <a:avLst/>
          </a:prstGeom>
          <a:noFill/>
          <a:ln w="9525">
            <a:noFill/>
            <a:miter lim="800000"/>
            <a:headEnd/>
            <a:tailEnd/>
          </a:ln>
          <a:effectLst/>
        </p:spPr>
        <p:txBody>
          <a:bodyPr wrap="none" anchor="ctr">
            <a:spAutoFit/>
          </a:bodyPr>
          <a:lstStyle/>
          <a:p>
            <a:r>
              <a:rPr lang="zh-CN" altLang="en-US" sz="2800" dirty="0">
                <a:latin typeface="微软雅黑" pitchFamily="34" charset="-122"/>
                <a:ea typeface="微软雅黑" pitchFamily="34" charset="-122"/>
              </a:rPr>
              <a:t>对 </a:t>
            </a:r>
            <a:r>
              <a:rPr lang="en-US" altLang="zh-CN" sz="2800" dirty="0">
                <a:latin typeface="Times New Roman" panose="02020603050405020304" pitchFamily="18" charset="0"/>
                <a:ea typeface="微软雅黑" pitchFamily="34" charset="-122"/>
                <a:cs typeface="Times New Roman" panose="02020603050405020304" pitchFamily="18" charset="0"/>
              </a:rPr>
              <a:t>1kg</a:t>
            </a:r>
            <a:r>
              <a:rPr lang="en-US" altLang="zh-CN" sz="2800" dirty="0">
                <a:latin typeface="微软雅黑" pitchFamily="34" charset="-122"/>
                <a:ea typeface="微软雅黑" pitchFamily="34" charset="-122"/>
              </a:rPr>
              <a:t> </a:t>
            </a:r>
            <a:r>
              <a:rPr lang="zh-CN" altLang="en-US" sz="2800" dirty="0">
                <a:latin typeface="微软雅黑" pitchFamily="34" charset="-122"/>
                <a:ea typeface="微软雅黑" pitchFamily="34" charset="-122"/>
              </a:rPr>
              <a:t>工质，则有</a:t>
            </a:r>
          </a:p>
        </p:txBody>
      </p:sp>
      <p:graphicFrame>
        <p:nvGraphicFramePr>
          <p:cNvPr id="9" name="Object 9"/>
          <p:cNvGraphicFramePr>
            <a:graphicFrameLocks noChangeAspect="1"/>
          </p:cNvGraphicFramePr>
          <p:nvPr>
            <p:extLst>
              <p:ext uri="{D42A27DB-BD31-4B8C-83A1-F6EECF244321}">
                <p14:modId xmlns:p14="http://schemas.microsoft.com/office/powerpoint/2010/main" val="3973047117"/>
              </p:ext>
            </p:extLst>
          </p:nvPr>
        </p:nvGraphicFramePr>
        <p:xfrm>
          <a:off x="3419872" y="5085184"/>
          <a:ext cx="1565275" cy="666750"/>
        </p:xfrm>
        <a:graphic>
          <a:graphicData uri="http://schemas.openxmlformats.org/presentationml/2006/ole">
            <mc:AlternateContent xmlns:mc="http://schemas.openxmlformats.org/markup-compatibility/2006">
              <mc:Choice xmlns:v="urn:schemas-microsoft-com:vml" Requires="v">
                <p:oleObj spid="_x0000_s98571" name="公式" r:id="rId7" imgW="558558" imgH="241195" progId="Equation.3">
                  <p:embed/>
                </p:oleObj>
              </mc:Choice>
              <mc:Fallback>
                <p:oleObj name="公式" r:id="rId7" imgW="558558" imgH="241195"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872" y="5085184"/>
                        <a:ext cx="1565275"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amond(in)">
                                      <p:cBhvr>
                                        <p:cTn id="7" dur="2000"/>
                                        <p:tgtEl>
                                          <p:spTgt spid="13"/>
                                        </p:tgtEl>
                                      </p:cBhvr>
                                    </p:animEffect>
                                  </p:childTnLst>
                                </p:cTn>
                              </p:par>
                              <p:par>
                                <p:cTn id="8" presetID="8" presetClass="entr" presetSubtype="16"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diamond(in)">
                                      <p:cBhvr>
                                        <p:cTn id="10" dur="20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83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ppt_x"/>
                                          </p:val>
                                        </p:tav>
                                        <p:tav tm="100000">
                                          <p:val>
                                            <p:strVal val="#ppt_x"/>
                                          </p:val>
                                        </p:tav>
                                      </p:tavLst>
                                    </p:anim>
                                    <p:anim calcmode="lin" valueType="num">
                                      <p:cBhvr additive="base">
                                        <p:cTn id="20" dur="500" fill="hold"/>
                                        <p:tgtEl>
                                          <p:spTgt spid="8"/>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00" fill="hold"/>
                                        <p:tgtEl>
                                          <p:spTgt spid="9"/>
                                        </p:tgtEl>
                                        <p:attrNameLst>
                                          <p:attrName>ppt_x</p:attrName>
                                        </p:attrNameLst>
                                      </p:cBhvr>
                                      <p:tavLst>
                                        <p:tav tm="0">
                                          <p:val>
                                            <p:strVal val="#ppt_x"/>
                                          </p:val>
                                        </p:tav>
                                        <p:tav tm="100000">
                                          <p:val>
                                            <p:strVal val="#ppt_x"/>
                                          </p:val>
                                        </p:tav>
                                      </p:tavLst>
                                    </p:anim>
                                    <p:anim calcmode="lin" valueType="num">
                                      <p:cBhvr additive="base">
                                        <p:cTn id="2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8"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476710" y="1378823"/>
            <a:ext cx="8029203" cy="1308884"/>
          </a:xfrm>
          <a:prstGeom prst="rect">
            <a:avLst/>
          </a:prstGeom>
          <a:ln>
            <a:headEnd/>
            <a:tailEnd/>
          </a:ln>
        </p:spPr>
        <p:style>
          <a:lnRef idx="1">
            <a:schemeClr val="accent4"/>
          </a:lnRef>
          <a:fillRef idx="2">
            <a:schemeClr val="accent4"/>
          </a:fillRef>
          <a:effectRef idx="1">
            <a:schemeClr val="accent4"/>
          </a:effectRef>
          <a:fontRef idx="minor">
            <a:schemeClr val="dk1"/>
          </a:fontRef>
        </p:style>
        <p:txBody>
          <a:bodyPr wrap="square" anchor="ctr">
            <a:spAutoFit/>
          </a:bodyPr>
          <a:lstStyle/>
          <a:p>
            <a:pPr algn="just">
              <a:lnSpc>
                <a:spcPct val="150000"/>
              </a:lnSpc>
            </a:pPr>
            <a:r>
              <a:rPr lang="zh-CN" altLang="en-US" sz="2800" dirty="0">
                <a:latin typeface="微软雅黑" pitchFamily="34" charset="-122"/>
                <a:ea typeface="微软雅黑" pitchFamily="34" charset="-122"/>
              </a:rPr>
              <a:t>      上面的分析表明，无论是开口系还是稳流系，做功能力损失的计算公式相同。</a:t>
            </a:r>
          </a:p>
        </p:txBody>
      </p:sp>
      <p:sp>
        <p:nvSpPr>
          <p:cNvPr id="6" name="矩形 5"/>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60</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467543" y="3055600"/>
            <a:ext cx="8038369" cy="2677656"/>
          </a:xfrm>
          <a:prstGeom prst="rect">
            <a:avLst/>
          </a:prstGeom>
        </p:spPr>
        <p:style>
          <a:lnRef idx="1">
            <a:schemeClr val="dk1"/>
          </a:lnRef>
          <a:fillRef idx="2">
            <a:schemeClr val="dk1"/>
          </a:fillRef>
          <a:effectRef idx="1">
            <a:schemeClr val="dk1"/>
          </a:effectRef>
          <a:fontRef idx="minor">
            <a:schemeClr val="dk1"/>
          </a:fontRef>
        </p:style>
        <p:txBody>
          <a:bodyPr wrap="square">
            <a:spAutoFit/>
          </a:bodyPr>
          <a:lstStyle/>
          <a:p>
            <a:pPr lvl="0" algn="just">
              <a:lnSpc>
                <a:spcPct val="150000"/>
              </a:lnSpc>
            </a:pPr>
            <a:r>
              <a:rPr lang="zh-CN" altLang="en-US" sz="2800" dirty="0">
                <a:solidFill>
                  <a:prstClr val="black"/>
                </a:solidFill>
                <a:latin typeface="微软雅黑" pitchFamily="34" charset="-122"/>
                <a:ea typeface="微软雅黑" pitchFamily="34" charset="-122"/>
              </a:rPr>
              <a:t>由于在导出过程中未对不可逆因素种类、工质种类、工质状态和环境状态以及它们之间的关系作任何限定，所以，</a:t>
            </a:r>
            <a:r>
              <a:rPr lang="en-US" altLang="zh-CN" sz="2800" b="1" i="1" dirty="0">
                <a:solidFill>
                  <a:srgbClr val="FF0000"/>
                </a:solidFill>
                <a:latin typeface="Times New Roman" panose="02020603050405020304" pitchFamily="18" charset="0"/>
                <a:ea typeface="微软雅黑" pitchFamily="34" charset="-122"/>
                <a:cs typeface="Times New Roman" panose="02020603050405020304" pitchFamily="18" charset="0"/>
              </a:rPr>
              <a:t>I </a:t>
            </a:r>
            <a:r>
              <a:rPr lang="zh-CN" altLang="en-US" sz="2800" dirty="0">
                <a:solidFill>
                  <a:srgbClr val="FF0000"/>
                </a:solidFill>
                <a:latin typeface="微软雅黑" pitchFamily="34" charset="-122"/>
                <a:ea typeface="微软雅黑" pitchFamily="34" charset="-122"/>
              </a:rPr>
              <a:t>的计算公式可用于任意工质、任意过程、任意初、终状态间的做功能力损失的计算。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367522" y="1109277"/>
            <a:ext cx="7935186" cy="1200329"/>
          </a:xfrm>
          <a:prstGeom prst="rect">
            <a:avLst/>
          </a:prstGeom>
          <a:noFill/>
          <a:ln w="9525" algn="ctr">
            <a:noFill/>
            <a:miter lim="800000"/>
            <a:headEnd/>
            <a:tailEnd/>
          </a:ln>
          <a:effectLst/>
        </p:spPr>
        <p:txBody>
          <a:bodyPr wrap="none" anchor="ctr">
            <a:spAutoFit/>
          </a:bodyPr>
          <a:lstStyle/>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例</a:t>
            </a:r>
            <a:r>
              <a:rPr lang="en-US" altLang="zh-CN" sz="2400" dirty="0">
                <a:solidFill>
                  <a:srgbClr val="000000"/>
                </a:solidFill>
                <a:latin typeface="微软雅黑" pitchFamily="34" charset="-122"/>
                <a:ea typeface="微软雅黑" pitchFamily="34" charset="-122"/>
                <a:cs typeface="Times New Roman" pitchFamily="18" charset="0"/>
              </a:rPr>
              <a:t>3  </a:t>
            </a:r>
            <a:r>
              <a:rPr lang="zh-CN" altLang="en-US" sz="2400" dirty="0">
                <a:solidFill>
                  <a:srgbClr val="000000"/>
                </a:solidFill>
                <a:latin typeface="微软雅黑" pitchFamily="34" charset="-122"/>
                <a:ea typeface="微软雅黑" pitchFamily="34" charset="-122"/>
                <a:cs typeface="Times New Roman" pitchFamily="18" charset="0"/>
              </a:rPr>
              <a:t>求不可逆热机循环的有用功、有用功损失及做功能力</a:t>
            </a:r>
            <a:endParaRPr lang="en-US" altLang="zh-CN" sz="2400" dirty="0">
              <a:solidFill>
                <a:srgbClr val="000000"/>
              </a:solidFill>
              <a:latin typeface="微软雅黑" pitchFamily="34" charset="-122"/>
              <a:ea typeface="微软雅黑" pitchFamily="34" charset="-122"/>
              <a:cs typeface="Times New Roman" pitchFamily="18" charset="0"/>
            </a:endParaRPr>
          </a:p>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损失 </a:t>
            </a:r>
            <a:r>
              <a:rPr lang="en-US" altLang="zh-CN" sz="2400" dirty="0">
                <a:solidFill>
                  <a:srgbClr val="000000"/>
                </a:solidFill>
                <a:latin typeface="微软雅黑" pitchFamily="34" charset="-122"/>
                <a:ea typeface="微软雅黑" pitchFamily="34" charset="-122"/>
                <a:cs typeface="Times New Roman" pitchFamily="18" charset="0"/>
              </a:rPr>
              <a:t>(</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b-c</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为</a:t>
            </a:r>
            <a:r>
              <a:rPr lang="zh-CN" altLang="en-US" sz="2400" dirty="0">
                <a:solidFill>
                  <a:srgbClr val="000000"/>
                </a:solidFill>
                <a:latin typeface="微软雅黑" pitchFamily="34" charset="-122"/>
                <a:ea typeface="微软雅黑" pitchFamily="34" charset="-122"/>
                <a:cs typeface="Times New Roman" pitchFamily="18" charset="0"/>
              </a:rPr>
              <a:t>不可逆绝热膨胀</a:t>
            </a:r>
            <a:r>
              <a:rPr lang="en-US" altLang="zh-CN" sz="2400" dirty="0">
                <a:solidFill>
                  <a:srgbClr val="000000"/>
                </a:solidFill>
                <a:latin typeface="微软雅黑" pitchFamily="34" charset="-122"/>
                <a:ea typeface="微软雅黑" pitchFamily="34" charset="-122"/>
                <a:cs typeface="Times New Roman" pitchFamily="18" charset="0"/>
              </a:rPr>
              <a:t>)</a:t>
            </a:r>
          </a:p>
        </p:txBody>
      </p:sp>
      <p:graphicFrame>
        <p:nvGraphicFramePr>
          <p:cNvPr id="4" name="Object 5"/>
          <p:cNvGraphicFramePr>
            <a:graphicFrameLocks noChangeAspect="1"/>
          </p:cNvGraphicFramePr>
          <p:nvPr>
            <p:extLst>
              <p:ext uri="{D42A27DB-BD31-4B8C-83A1-F6EECF244321}">
                <p14:modId xmlns:p14="http://schemas.microsoft.com/office/powerpoint/2010/main" val="1849445690"/>
              </p:ext>
            </p:extLst>
          </p:nvPr>
        </p:nvGraphicFramePr>
        <p:xfrm>
          <a:off x="1835696" y="2334660"/>
          <a:ext cx="2934771" cy="435963"/>
        </p:xfrm>
        <a:graphic>
          <a:graphicData uri="http://schemas.openxmlformats.org/presentationml/2006/ole">
            <mc:AlternateContent xmlns:mc="http://schemas.openxmlformats.org/markup-compatibility/2006">
              <mc:Choice xmlns:v="urn:schemas-microsoft-com:vml" Requires="v">
                <p:oleObj spid="_x0000_s100829" name="公式" r:id="rId4" imgW="1536700" imgH="228600" progId="Equation.3">
                  <p:embed/>
                </p:oleObj>
              </mc:Choice>
              <mc:Fallback>
                <p:oleObj name="公式" r:id="rId4" imgW="1536700" imgH="22860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35696" y="2334660"/>
                        <a:ext cx="2934771" cy="435963"/>
                      </a:xfrm>
                      <a:prstGeom prst="rect">
                        <a:avLst/>
                      </a:prstGeom>
                      <a:noFill/>
                    </p:spPr>
                  </p:pic>
                </p:oleObj>
              </mc:Fallback>
            </mc:AlternateContent>
          </a:graphicData>
        </a:graphic>
      </p:graphicFrame>
      <p:sp>
        <p:nvSpPr>
          <p:cNvPr id="5" name="Rectangle 7"/>
          <p:cNvSpPr>
            <a:spLocks noChangeArrowheads="1"/>
          </p:cNvSpPr>
          <p:nvPr/>
        </p:nvSpPr>
        <p:spPr bwMode="auto">
          <a:xfrm>
            <a:off x="522317" y="3058621"/>
            <a:ext cx="574675" cy="461665"/>
          </a:xfrm>
          <a:prstGeom prst="rect">
            <a:avLst/>
          </a:prstGeom>
          <a:noFill/>
          <a:ln w="9525" algn="ctr">
            <a:noFill/>
            <a:miter lim="800000"/>
            <a:headEnd/>
            <a:tailEnd/>
          </a:ln>
          <a:effectLst/>
        </p:spPr>
        <p:txBody>
          <a:bodyPr anchor="ctr">
            <a:spAutoFit/>
          </a:bodyPr>
          <a:lstStyle/>
          <a:p>
            <a:r>
              <a:rPr lang="en-US" altLang="zh-CN" sz="2400" dirty="0">
                <a:solidFill>
                  <a:srgbClr val="000000"/>
                </a:solidFill>
                <a:latin typeface="Times New Roman" pitchFamily="18" charset="0"/>
                <a:ea typeface="方正书宋简体" charset="-122"/>
                <a:cs typeface="Times New Roman" pitchFamily="18" charset="0"/>
              </a:rPr>
              <a:t>∵ </a:t>
            </a:r>
          </a:p>
        </p:txBody>
      </p:sp>
      <p:graphicFrame>
        <p:nvGraphicFramePr>
          <p:cNvPr id="6" name="Object 8"/>
          <p:cNvGraphicFramePr>
            <a:graphicFrameLocks noChangeAspect="1"/>
          </p:cNvGraphicFramePr>
          <p:nvPr>
            <p:extLst>
              <p:ext uri="{D42A27DB-BD31-4B8C-83A1-F6EECF244321}">
                <p14:modId xmlns:p14="http://schemas.microsoft.com/office/powerpoint/2010/main" val="846984353"/>
              </p:ext>
            </p:extLst>
          </p:nvPr>
        </p:nvGraphicFramePr>
        <p:xfrm>
          <a:off x="1619672" y="2942586"/>
          <a:ext cx="1566470" cy="715548"/>
        </p:xfrm>
        <a:graphic>
          <a:graphicData uri="http://schemas.openxmlformats.org/presentationml/2006/ole">
            <mc:AlternateContent xmlns:mc="http://schemas.openxmlformats.org/markup-compatibility/2006">
              <mc:Choice xmlns:v="urn:schemas-microsoft-com:vml" Requires="v">
                <p:oleObj spid="_x0000_s100830" name="公式" r:id="rId6" imgW="1231366" imgH="558558" progId="Equation.3">
                  <p:embed/>
                </p:oleObj>
              </mc:Choice>
              <mc:Fallback>
                <p:oleObj name="公式" r:id="rId6" imgW="1231366" imgH="558558"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19672" y="2942586"/>
                        <a:ext cx="1566470" cy="715548"/>
                      </a:xfrm>
                      <a:prstGeom prst="rect">
                        <a:avLst/>
                      </a:prstGeom>
                      <a:noFill/>
                    </p:spPr>
                  </p:pic>
                </p:oleObj>
              </mc:Fallback>
            </mc:AlternateContent>
          </a:graphicData>
        </a:graphic>
      </p:graphicFrame>
      <p:sp>
        <p:nvSpPr>
          <p:cNvPr id="7" name="Rectangle 9"/>
          <p:cNvSpPr>
            <a:spLocks noChangeArrowheads="1"/>
          </p:cNvSpPr>
          <p:nvPr/>
        </p:nvSpPr>
        <p:spPr bwMode="auto">
          <a:xfrm>
            <a:off x="3617942" y="3131646"/>
            <a:ext cx="569387" cy="461665"/>
          </a:xfrm>
          <a:prstGeom prst="rect">
            <a:avLst/>
          </a:prstGeom>
          <a:noFill/>
          <a:ln w="9525" algn="ctr">
            <a:noFill/>
            <a:miter lim="800000"/>
            <a:headEnd/>
            <a:tailEnd/>
          </a:ln>
          <a:effectLst/>
        </p:spPr>
        <p:txBody>
          <a:bodyPr wrap="none" anchor="ctr">
            <a:spAutoFit/>
          </a:bodyPr>
          <a:lstStyle/>
          <a:p>
            <a:r>
              <a:rPr lang="en-US" altLang="zh-CN" sz="2400" dirty="0">
                <a:solidFill>
                  <a:srgbClr val="000000"/>
                </a:solidFill>
                <a:latin typeface="Times New Roman" pitchFamily="18" charset="0"/>
                <a:ea typeface="方正书宋简体" charset="-122"/>
                <a:cs typeface="Times New Roman" pitchFamily="18" charset="0"/>
              </a:rPr>
              <a:t>∴ </a:t>
            </a:r>
          </a:p>
        </p:txBody>
      </p:sp>
      <p:graphicFrame>
        <p:nvGraphicFramePr>
          <p:cNvPr id="8" name="Object 11"/>
          <p:cNvGraphicFramePr>
            <a:graphicFrameLocks noChangeAspect="1"/>
          </p:cNvGraphicFramePr>
          <p:nvPr>
            <p:extLst>
              <p:ext uri="{D42A27DB-BD31-4B8C-83A1-F6EECF244321}">
                <p14:modId xmlns:p14="http://schemas.microsoft.com/office/powerpoint/2010/main" val="1154374704"/>
              </p:ext>
            </p:extLst>
          </p:nvPr>
        </p:nvGraphicFramePr>
        <p:xfrm>
          <a:off x="4408068" y="2933060"/>
          <a:ext cx="1010099" cy="729052"/>
        </p:xfrm>
        <a:graphic>
          <a:graphicData uri="http://schemas.openxmlformats.org/presentationml/2006/ole">
            <mc:AlternateContent xmlns:mc="http://schemas.openxmlformats.org/markup-compatibility/2006">
              <mc:Choice xmlns:v="urn:schemas-microsoft-com:vml" Requires="v">
                <p:oleObj spid="_x0000_s100831" name="公式" r:id="rId8" imgW="748975" imgH="545863" progId="Equation.3">
                  <p:embed/>
                </p:oleObj>
              </mc:Choice>
              <mc:Fallback>
                <p:oleObj name="公式" r:id="rId8" imgW="748975" imgH="545863"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08068" y="2933060"/>
                        <a:ext cx="1010099" cy="729052"/>
                      </a:xfrm>
                      <a:prstGeom prst="rect">
                        <a:avLst/>
                      </a:prstGeom>
                      <a:noFill/>
                    </p:spPr>
                  </p:pic>
                </p:oleObj>
              </mc:Fallback>
            </mc:AlternateContent>
          </a:graphicData>
        </a:graphic>
      </p:graphicFrame>
      <p:sp>
        <p:nvSpPr>
          <p:cNvPr id="9" name="Rectangle 12"/>
          <p:cNvSpPr>
            <a:spLocks noChangeArrowheads="1"/>
          </p:cNvSpPr>
          <p:nvPr/>
        </p:nvSpPr>
        <p:spPr bwMode="auto">
          <a:xfrm>
            <a:off x="522317" y="3774587"/>
            <a:ext cx="569387" cy="461665"/>
          </a:xfrm>
          <a:prstGeom prst="rect">
            <a:avLst/>
          </a:prstGeom>
          <a:noFill/>
          <a:ln w="9525" algn="ctr">
            <a:noFill/>
            <a:miter lim="800000"/>
            <a:headEnd/>
            <a:tailEnd/>
          </a:ln>
          <a:effectLst/>
        </p:spPr>
        <p:txBody>
          <a:bodyPr wrap="none" anchor="ctr">
            <a:spAutoFit/>
          </a:bodyPr>
          <a:lstStyle/>
          <a:p>
            <a:r>
              <a:rPr lang="zh-CN" altLang="en-US" sz="2400" dirty="0">
                <a:solidFill>
                  <a:srgbClr val="000000"/>
                </a:solidFill>
                <a:latin typeface="Times New Roman" pitchFamily="18" charset="0"/>
                <a:ea typeface="方正书宋简体" charset="-122"/>
                <a:cs typeface="Times New Roman" pitchFamily="18" charset="0"/>
              </a:rPr>
              <a:t>又 </a:t>
            </a:r>
          </a:p>
        </p:txBody>
      </p:sp>
      <p:graphicFrame>
        <p:nvGraphicFramePr>
          <p:cNvPr id="10" name="Object 14"/>
          <p:cNvGraphicFramePr>
            <a:graphicFrameLocks noChangeAspect="1"/>
          </p:cNvGraphicFramePr>
          <p:nvPr>
            <p:extLst>
              <p:ext uri="{D42A27DB-BD31-4B8C-83A1-F6EECF244321}">
                <p14:modId xmlns:p14="http://schemas.microsoft.com/office/powerpoint/2010/main" val="4291121477"/>
              </p:ext>
            </p:extLst>
          </p:nvPr>
        </p:nvGraphicFramePr>
        <p:xfrm>
          <a:off x="1243655" y="3817300"/>
          <a:ext cx="1096097" cy="399753"/>
        </p:xfrm>
        <a:graphic>
          <a:graphicData uri="http://schemas.openxmlformats.org/presentationml/2006/ole">
            <mc:AlternateContent xmlns:mc="http://schemas.openxmlformats.org/markup-compatibility/2006">
              <mc:Choice xmlns:v="urn:schemas-microsoft-com:vml" Requires="v">
                <p:oleObj spid="_x0000_s100832" name="公式" r:id="rId10" imgW="736280" imgH="266584" progId="Equation.3">
                  <p:embed/>
                </p:oleObj>
              </mc:Choice>
              <mc:Fallback>
                <p:oleObj name="公式" r:id="rId10" imgW="736280" imgH="266584"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3655" y="3817300"/>
                        <a:ext cx="1096097" cy="399753"/>
                      </a:xfrm>
                      <a:prstGeom prst="rect">
                        <a:avLst/>
                      </a:prstGeom>
                      <a:noFill/>
                    </p:spPr>
                  </p:pic>
                </p:oleObj>
              </mc:Fallback>
            </mc:AlternateContent>
          </a:graphicData>
        </a:graphic>
      </p:graphicFrame>
      <p:sp>
        <p:nvSpPr>
          <p:cNvPr id="11" name="Rectangle 15"/>
          <p:cNvSpPr>
            <a:spLocks noChangeArrowheads="1"/>
          </p:cNvSpPr>
          <p:nvPr/>
        </p:nvSpPr>
        <p:spPr bwMode="auto">
          <a:xfrm>
            <a:off x="522317" y="4395646"/>
            <a:ext cx="628650" cy="519112"/>
          </a:xfrm>
          <a:prstGeom prst="rect">
            <a:avLst/>
          </a:prstGeom>
          <a:noFill/>
          <a:ln w="9525" algn="ctr">
            <a:noFill/>
            <a:miter lim="800000"/>
            <a:headEnd/>
            <a:tailEnd/>
          </a:ln>
          <a:effectLst/>
        </p:spPr>
        <p:txBody>
          <a:bodyPr wrap="none" anchor="ctr">
            <a:spAutoFit/>
          </a:bodyPr>
          <a:lstStyle/>
          <a:p>
            <a:r>
              <a:rPr lang="en-US" altLang="zh-CN" sz="2800" dirty="0">
                <a:solidFill>
                  <a:srgbClr val="000000"/>
                </a:solidFill>
                <a:latin typeface="Times New Roman" pitchFamily="18" charset="0"/>
                <a:ea typeface="方正书宋简体" charset="-122"/>
                <a:cs typeface="Times New Roman" pitchFamily="18" charset="0"/>
              </a:rPr>
              <a:t>∴ </a:t>
            </a:r>
          </a:p>
        </p:txBody>
      </p:sp>
      <p:graphicFrame>
        <p:nvGraphicFramePr>
          <p:cNvPr id="12" name="Object 17"/>
          <p:cNvGraphicFramePr>
            <a:graphicFrameLocks noChangeAspect="1"/>
          </p:cNvGraphicFramePr>
          <p:nvPr>
            <p:extLst>
              <p:ext uri="{D42A27DB-BD31-4B8C-83A1-F6EECF244321}">
                <p14:modId xmlns:p14="http://schemas.microsoft.com/office/powerpoint/2010/main" val="1837774288"/>
              </p:ext>
            </p:extLst>
          </p:nvPr>
        </p:nvGraphicFramePr>
        <p:xfrm>
          <a:off x="1403648" y="4276755"/>
          <a:ext cx="3698606" cy="824979"/>
        </p:xfrm>
        <a:graphic>
          <a:graphicData uri="http://schemas.openxmlformats.org/presentationml/2006/ole">
            <mc:AlternateContent xmlns:mc="http://schemas.openxmlformats.org/markup-compatibility/2006">
              <mc:Choice xmlns:v="urn:schemas-microsoft-com:vml" Requires="v">
                <p:oleObj spid="_x0000_s100833" name="公式" r:id="rId12" imgW="1930400" imgH="431800" progId="Equation.3">
                  <p:embed/>
                </p:oleObj>
              </mc:Choice>
              <mc:Fallback>
                <p:oleObj name="公式" r:id="rId12" imgW="1930400" imgH="43180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03648" y="4276755"/>
                        <a:ext cx="3698606" cy="824979"/>
                      </a:xfrm>
                      <a:prstGeom prst="rect">
                        <a:avLst/>
                      </a:prstGeom>
                      <a:noFill/>
                    </p:spPr>
                  </p:pic>
                </p:oleObj>
              </mc:Fallback>
            </mc:AlternateContent>
          </a:graphicData>
        </a:graphic>
      </p:graphicFrame>
      <p:sp>
        <p:nvSpPr>
          <p:cNvPr id="13" name="Line 18"/>
          <p:cNvSpPr>
            <a:spLocks noChangeShapeType="1"/>
          </p:cNvSpPr>
          <p:nvPr/>
        </p:nvSpPr>
        <p:spPr bwMode="auto">
          <a:xfrm flipH="1">
            <a:off x="3017194" y="5006325"/>
            <a:ext cx="355600" cy="393700"/>
          </a:xfrm>
          <a:prstGeom prst="line">
            <a:avLst/>
          </a:prstGeom>
          <a:noFill/>
          <a:ln w="6350">
            <a:solidFill>
              <a:srgbClr val="000000"/>
            </a:solidFill>
            <a:round/>
            <a:headEnd/>
            <a:tailEnd/>
          </a:ln>
        </p:spPr>
        <p:txBody>
          <a:bodyPr/>
          <a:lstStyle/>
          <a:p>
            <a:endParaRPr lang="zh-CN" altLang="en-US" sz="2800"/>
          </a:p>
        </p:txBody>
      </p:sp>
      <p:sp>
        <p:nvSpPr>
          <p:cNvPr id="14" name="Line 19"/>
          <p:cNvSpPr>
            <a:spLocks noChangeShapeType="1"/>
          </p:cNvSpPr>
          <p:nvPr/>
        </p:nvSpPr>
        <p:spPr bwMode="auto">
          <a:xfrm>
            <a:off x="4119215" y="5028642"/>
            <a:ext cx="431800" cy="371383"/>
          </a:xfrm>
          <a:prstGeom prst="line">
            <a:avLst/>
          </a:prstGeom>
          <a:noFill/>
          <a:ln w="6350">
            <a:solidFill>
              <a:srgbClr val="000000"/>
            </a:solidFill>
            <a:round/>
            <a:headEnd/>
            <a:tailEnd/>
          </a:ln>
        </p:spPr>
        <p:txBody>
          <a:bodyPr/>
          <a:lstStyle/>
          <a:p>
            <a:endParaRPr lang="zh-CN" altLang="en-US" sz="2800"/>
          </a:p>
        </p:txBody>
      </p:sp>
      <p:sp>
        <p:nvSpPr>
          <p:cNvPr id="15" name="Rectangle 20"/>
          <p:cNvSpPr>
            <a:spLocks noChangeArrowheads="1"/>
          </p:cNvSpPr>
          <p:nvPr/>
        </p:nvSpPr>
        <p:spPr bwMode="auto">
          <a:xfrm>
            <a:off x="1746279" y="5415607"/>
            <a:ext cx="2122697"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spAutoFit/>
          </a:bodyPr>
          <a:lstStyle/>
          <a:p>
            <a:r>
              <a:rPr lang="zh-CN" altLang="en-US" sz="2400" dirty="0">
                <a:solidFill>
                  <a:srgbClr val="000000"/>
                </a:solidFill>
                <a:latin typeface="微软雅黑" pitchFamily="34" charset="-122"/>
                <a:ea typeface="微软雅黑" pitchFamily="34" charset="-122"/>
                <a:cs typeface="Times New Roman" pitchFamily="18" charset="0"/>
              </a:rPr>
              <a:t>高温热源熵减 </a:t>
            </a:r>
          </a:p>
        </p:txBody>
      </p:sp>
      <p:sp>
        <p:nvSpPr>
          <p:cNvPr id="16" name="Rectangle 21"/>
          <p:cNvSpPr>
            <a:spLocks noChangeArrowheads="1"/>
          </p:cNvSpPr>
          <p:nvPr/>
        </p:nvSpPr>
        <p:spPr bwMode="auto">
          <a:xfrm>
            <a:off x="4221133" y="5410604"/>
            <a:ext cx="2031325" cy="461665"/>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wrap="none" anchor="ctr">
            <a:spAutoFit/>
          </a:bodyPr>
          <a:lstStyle/>
          <a:p>
            <a:r>
              <a:rPr lang="zh-CN" altLang="en-US" sz="2400" dirty="0">
                <a:solidFill>
                  <a:srgbClr val="000000"/>
                </a:solidFill>
                <a:latin typeface="微软雅黑" pitchFamily="34" charset="-122"/>
                <a:ea typeface="微软雅黑" pitchFamily="34" charset="-122"/>
                <a:cs typeface="Times New Roman" pitchFamily="18" charset="0"/>
              </a:rPr>
              <a:t>低温热源熵增</a:t>
            </a:r>
          </a:p>
        </p:txBody>
      </p:sp>
      <p:pic>
        <p:nvPicPr>
          <p:cNvPr id="19" name="Picture 27"/>
          <p:cNvPicPr>
            <a:picLocks noChangeAspect="1" noChangeArrowheads="1"/>
          </p:cNvPicPr>
          <p:nvPr/>
        </p:nvPicPr>
        <p:blipFill>
          <a:blip r:embed="rId14"/>
          <a:srcRect/>
          <a:stretch>
            <a:fillRect/>
          </a:stretch>
        </p:blipFill>
        <p:spPr bwMode="auto">
          <a:xfrm>
            <a:off x="6084088" y="2473312"/>
            <a:ext cx="2519107" cy="2708040"/>
          </a:xfrm>
          <a:prstGeom prst="rect">
            <a:avLst/>
          </a:prstGeom>
          <a:noFill/>
          <a:ln w="9525">
            <a:noFill/>
            <a:miter lim="800000"/>
            <a:headEnd/>
            <a:tailEnd/>
          </a:ln>
        </p:spPr>
      </p:pic>
      <p:sp>
        <p:nvSpPr>
          <p:cNvPr id="20" name="矩形 19"/>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61</a:t>
            </a:r>
            <a:endParaRPr lang="zh-CN" altLang="en-US" sz="2000" b="1" dirty="0">
              <a:solidFill>
                <a:schemeClr val="tx1"/>
              </a:solidFill>
              <a:latin typeface="黑体" pitchFamily="49" charset="-122"/>
              <a:ea typeface="黑体" pitchFamily="49" charset="-122"/>
            </a:endParaRPr>
          </a:p>
        </p:txBody>
      </p:sp>
      <p:sp>
        <p:nvSpPr>
          <p:cNvPr id="2" name="矩形 1"/>
          <p:cNvSpPr/>
          <p:nvPr/>
        </p:nvSpPr>
        <p:spPr>
          <a:xfrm>
            <a:off x="599261" y="2292843"/>
            <a:ext cx="800219" cy="461665"/>
          </a:xfrm>
          <a:prstGeom prst="rect">
            <a:avLst/>
          </a:prstGeom>
        </p:spPr>
        <p:txBody>
          <a:bodyPr wrap="none">
            <a:spAutoFit/>
          </a:bodyPr>
          <a:lstStyle/>
          <a:p>
            <a:r>
              <a:rPr lang="zh-CN" altLang="en-US" sz="2400" dirty="0">
                <a:latin typeface="微软雅黑" panose="020B0503020204020204" pitchFamily="34" charset="-122"/>
                <a:ea typeface="微软雅黑" panose="020B0503020204020204" pitchFamily="34" charset="-122"/>
              </a:rPr>
              <a:t>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dissolv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dissolve">
                                      <p:cBhvr>
                                        <p:cTn id="20" dur="500"/>
                                        <p:tgtEl>
                                          <p:spTgt spid="5"/>
                                        </p:tgtEl>
                                      </p:cBhvr>
                                    </p:animEffect>
                                  </p:childTnLst>
                                </p:cTn>
                              </p:par>
                              <p:par>
                                <p:cTn id="21" presetID="9" presetClass="entr" presetSubtype="0" fill="hold" nodeType="with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dissolve">
                                      <p:cBhvr>
                                        <p:cTn id="23" dur="500"/>
                                        <p:tgtEl>
                                          <p:spTgt spid="6"/>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dissolve">
                                      <p:cBhvr>
                                        <p:cTn id="28" dur="500"/>
                                        <p:tgtEl>
                                          <p:spTgt spid="7"/>
                                        </p:tgtEl>
                                      </p:cBhvr>
                                    </p:animEffect>
                                  </p:childTnLst>
                                </p:cTn>
                              </p:par>
                              <p:par>
                                <p:cTn id="29" presetID="9" presetClass="entr" presetSubtype="0" fill="hold" nodeType="with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dissolve">
                                      <p:cBhvr>
                                        <p:cTn id="31" dur="5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dissolve">
                                      <p:cBhvr>
                                        <p:cTn id="36" dur="500"/>
                                        <p:tgtEl>
                                          <p:spTgt spid="9"/>
                                        </p:tgtEl>
                                      </p:cBhvr>
                                    </p:animEffect>
                                  </p:childTnLst>
                                </p:cTn>
                              </p:par>
                              <p:par>
                                <p:cTn id="37" presetID="9" presetClass="entr" presetSubtype="0" fill="hold"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dissolve">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9" presetClass="entr" presetSubtype="0" fill="hold" grpId="0" nodeType="click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dissolve">
                                      <p:cBhvr>
                                        <p:cTn id="44" dur="500"/>
                                        <p:tgtEl>
                                          <p:spTgt spid="11"/>
                                        </p:tgtEl>
                                      </p:cBhvr>
                                    </p:animEffect>
                                  </p:childTnLst>
                                </p:cTn>
                              </p:par>
                              <p:par>
                                <p:cTn id="45" presetID="9" presetClass="entr" presetSubtype="0" fill="hold" nodeType="with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dissolve">
                                      <p:cBhvr>
                                        <p:cTn id="47" dur="500"/>
                                        <p:tgtEl>
                                          <p:spTgt spid="12"/>
                                        </p:tgtEl>
                                      </p:cBhvr>
                                    </p:animEffect>
                                  </p:childTnLst>
                                </p:cTn>
                              </p:par>
                              <p:par>
                                <p:cTn id="48" presetID="9" presetClass="entr" presetSubtype="0" fill="hold" grpId="0" nodeType="with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dissolve">
                                      <p:cBhvr>
                                        <p:cTn id="50" dur="500"/>
                                        <p:tgtEl>
                                          <p:spTgt spid="13"/>
                                        </p:tgtEl>
                                      </p:cBhvr>
                                    </p:animEffect>
                                  </p:childTnLst>
                                </p:cTn>
                              </p:par>
                              <p:par>
                                <p:cTn id="51" presetID="9" presetClass="entr" presetSubtype="0" fill="hold" grpId="0" nodeType="withEffect">
                                  <p:stCondLst>
                                    <p:cond delay="0"/>
                                  </p:stCondLst>
                                  <p:childTnLst>
                                    <p:set>
                                      <p:cBhvr>
                                        <p:cTn id="52" dur="1" fill="hold">
                                          <p:stCondLst>
                                            <p:cond delay="0"/>
                                          </p:stCondLst>
                                        </p:cTn>
                                        <p:tgtEl>
                                          <p:spTgt spid="15"/>
                                        </p:tgtEl>
                                        <p:attrNameLst>
                                          <p:attrName>style.visibility</p:attrName>
                                        </p:attrNameLst>
                                      </p:cBhvr>
                                      <p:to>
                                        <p:strVal val="visible"/>
                                      </p:to>
                                    </p:set>
                                    <p:animEffect transition="in" filter="dissolve">
                                      <p:cBhvr>
                                        <p:cTn id="53" dur="500"/>
                                        <p:tgtEl>
                                          <p:spTgt spid="15"/>
                                        </p:tgtEl>
                                      </p:cBhvr>
                                    </p:animEffect>
                                  </p:childTnLst>
                                </p:cTn>
                              </p:par>
                              <p:par>
                                <p:cTn id="54" presetID="9"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dissolve">
                                      <p:cBhvr>
                                        <p:cTn id="56" dur="500"/>
                                        <p:tgtEl>
                                          <p:spTgt spid="14"/>
                                        </p:tgtEl>
                                      </p:cBhvr>
                                    </p:animEffect>
                                  </p:childTnLst>
                                </p:cTn>
                              </p:par>
                              <p:par>
                                <p:cTn id="57" presetID="9" presetClass="entr" presetSubtype="0" fill="hold" grpId="0" nodeType="withEffect">
                                  <p:stCondLst>
                                    <p:cond delay="0"/>
                                  </p:stCondLst>
                                  <p:childTnLst>
                                    <p:set>
                                      <p:cBhvr>
                                        <p:cTn id="58" dur="1" fill="hold">
                                          <p:stCondLst>
                                            <p:cond delay="0"/>
                                          </p:stCondLst>
                                        </p:cTn>
                                        <p:tgtEl>
                                          <p:spTgt spid="16"/>
                                        </p:tgtEl>
                                        <p:attrNameLst>
                                          <p:attrName>style.visibility</p:attrName>
                                        </p:attrNameLst>
                                      </p:cBhvr>
                                      <p:to>
                                        <p:strVal val="visible"/>
                                      </p:to>
                                    </p:set>
                                    <p:animEffect transition="in" filter="dissolve">
                                      <p:cBhvr>
                                        <p:cTn id="5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9" grpId="0"/>
      <p:bldP spid="11" grpId="0"/>
      <p:bldP spid="13" grpId="0" animBg="1"/>
      <p:bldP spid="14" grpId="0" animBg="1"/>
      <p:bldP spid="15" grpId="0" animBg="1"/>
      <p:bldP spid="16" grpId="0" animBg="1"/>
      <p:bldP spid="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6"/>
          <p:cNvSpPr>
            <a:spLocks noChangeArrowheads="1"/>
          </p:cNvSpPr>
          <p:nvPr/>
        </p:nvSpPr>
        <p:spPr bwMode="auto">
          <a:xfrm>
            <a:off x="695181" y="2093924"/>
            <a:ext cx="492443" cy="572464"/>
          </a:xfrm>
          <a:prstGeom prst="rect">
            <a:avLst/>
          </a:prstGeom>
          <a:noFill/>
          <a:ln w="9525">
            <a:noFill/>
            <a:miter lim="800000"/>
            <a:headEnd/>
            <a:tailEnd/>
          </a:ln>
          <a:effectLst/>
        </p:spPr>
        <p:txBody>
          <a:bodyPr wrap="none">
            <a:spAutoFit/>
          </a:bodyPr>
          <a:lstStyle/>
          <a:p>
            <a:pPr>
              <a:lnSpc>
                <a:spcPct val="130000"/>
              </a:lnSpc>
            </a:pPr>
            <a:r>
              <a:rPr lang="zh-CN" altLang="en-US" sz="2400" dirty="0">
                <a:latin typeface="微软雅黑" pitchFamily="34" charset="-122"/>
                <a:ea typeface="微软雅黑" pitchFamily="34" charset="-122"/>
              </a:rPr>
              <a:t>当</a:t>
            </a:r>
          </a:p>
        </p:txBody>
      </p:sp>
      <p:graphicFrame>
        <p:nvGraphicFramePr>
          <p:cNvPr id="4" name="Object 9"/>
          <p:cNvGraphicFramePr>
            <a:graphicFrameLocks noGrp="1" noChangeAspect="1"/>
          </p:cNvGraphicFramePr>
          <p:nvPr>
            <p:ph sz="quarter" idx="1"/>
            <p:extLst>
              <p:ext uri="{D42A27DB-BD31-4B8C-83A1-F6EECF244321}">
                <p14:modId xmlns:p14="http://schemas.microsoft.com/office/powerpoint/2010/main" val="1759449590"/>
              </p:ext>
            </p:extLst>
          </p:nvPr>
        </p:nvGraphicFramePr>
        <p:xfrm>
          <a:off x="1071563" y="5445125"/>
          <a:ext cx="1851025" cy="493713"/>
        </p:xfrm>
        <a:graphic>
          <a:graphicData uri="http://schemas.openxmlformats.org/presentationml/2006/ole">
            <mc:AlternateContent xmlns:mc="http://schemas.openxmlformats.org/markup-compatibility/2006">
              <mc:Choice xmlns:v="urn:schemas-microsoft-com:vml" Requires="v">
                <p:oleObj spid="_x0000_s101774" name="公式" r:id="rId3" imgW="761760" imgH="203040" progId="Equation.3">
                  <p:embed/>
                </p:oleObj>
              </mc:Choice>
              <mc:Fallback>
                <p:oleObj name="公式" r:id="rId3" imgW="761760" imgH="203040" progId="Equation.3">
                  <p:embed/>
                  <p:pic>
                    <p:nvPicPr>
                      <p:cNvPr id="0" name="Object 9"/>
                      <p:cNvPicPr>
                        <a:picLocks noChangeAspect="1" noChangeArrowheads="1"/>
                      </p:cNvPicPr>
                      <p:nvPr/>
                    </p:nvPicPr>
                    <p:blipFill>
                      <a:blip r:embed="rId4"/>
                      <a:srcRect/>
                      <a:stretch>
                        <a:fillRect/>
                      </a:stretch>
                    </p:blipFill>
                    <p:spPr bwMode="auto">
                      <a:xfrm>
                        <a:off x="1071563" y="5445125"/>
                        <a:ext cx="1851025" cy="493713"/>
                      </a:xfrm>
                      <a:prstGeom prst="rect">
                        <a:avLst/>
                      </a:prstGeom>
                      <a:noFill/>
                    </p:spPr>
                  </p:pic>
                </p:oleObj>
              </mc:Fallback>
            </mc:AlternateContent>
          </a:graphicData>
        </a:graphic>
      </p:graphicFrame>
      <p:graphicFrame>
        <p:nvGraphicFramePr>
          <p:cNvPr id="5" name="Object 32"/>
          <p:cNvGraphicFramePr>
            <a:graphicFrameLocks noChangeAspect="1"/>
          </p:cNvGraphicFramePr>
          <p:nvPr>
            <p:extLst>
              <p:ext uri="{D42A27DB-BD31-4B8C-83A1-F6EECF244321}">
                <p14:modId xmlns:p14="http://schemas.microsoft.com/office/powerpoint/2010/main" val="1432631605"/>
              </p:ext>
            </p:extLst>
          </p:nvPr>
        </p:nvGraphicFramePr>
        <p:xfrm>
          <a:off x="1122814" y="2177584"/>
          <a:ext cx="954344" cy="505752"/>
        </p:xfrm>
        <a:graphic>
          <a:graphicData uri="http://schemas.openxmlformats.org/presentationml/2006/ole">
            <mc:AlternateContent xmlns:mc="http://schemas.openxmlformats.org/markup-compatibility/2006">
              <mc:Choice xmlns:v="urn:schemas-microsoft-com:vml" Requires="v">
                <p:oleObj spid="_x0000_s101775" name="公式" r:id="rId5" imgW="431613" imgH="228501" progId="Equation.3">
                  <p:embed/>
                </p:oleObj>
              </mc:Choice>
              <mc:Fallback>
                <p:oleObj name="公式" r:id="rId5" imgW="431613" imgH="228501" progId="Equation.3">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2814" y="2177584"/>
                        <a:ext cx="954344" cy="505752"/>
                      </a:xfrm>
                      <a:prstGeom prst="rect">
                        <a:avLst/>
                      </a:prstGeom>
                      <a:noFill/>
                    </p:spPr>
                  </p:pic>
                </p:oleObj>
              </mc:Fallback>
            </mc:AlternateContent>
          </a:graphicData>
        </a:graphic>
      </p:graphicFrame>
      <p:sp>
        <p:nvSpPr>
          <p:cNvPr id="6" name="Rectangle 11"/>
          <p:cNvSpPr>
            <a:spLocks noChangeArrowheads="1"/>
          </p:cNvSpPr>
          <p:nvPr/>
        </p:nvSpPr>
        <p:spPr bwMode="auto">
          <a:xfrm>
            <a:off x="2051720" y="2083107"/>
            <a:ext cx="566181" cy="525657"/>
          </a:xfrm>
          <a:prstGeom prst="rect">
            <a:avLst/>
          </a:prstGeom>
          <a:noFill/>
          <a:ln w="9525">
            <a:noFill/>
            <a:miter lim="800000"/>
            <a:headEnd/>
            <a:tailEnd/>
          </a:ln>
          <a:effectLst/>
        </p:spPr>
        <p:txBody>
          <a:bodyPr wrap="none">
            <a:spAutoFit/>
          </a:bodyPr>
          <a:lstStyle/>
          <a:p>
            <a:pPr>
              <a:lnSpc>
                <a:spcPct val="130000"/>
              </a:lnSpc>
            </a:pPr>
            <a:r>
              <a:rPr lang="zh-CN" altLang="en-US" sz="2400" dirty="0">
                <a:latin typeface="微软雅黑" pitchFamily="34" charset="-122"/>
                <a:ea typeface="微软雅黑" pitchFamily="34" charset="-122"/>
              </a:rPr>
              <a:t>时</a:t>
            </a:r>
            <a:r>
              <a:rPr lang="en-US" altLang="zh-CN" sz="2400" dirty="0">
                <a:latin typeface="微软雅黑" pitchFamily="34" charset="-122"/>
                <a:ea typeface="微软雅黑" pitchFamily="34" charset="-122"/>
              </a:rPr>
              <a:t>,</a:t>
            </a:r>
            <a:endParaRPr lang="zh-CN" altLang="en-US" sz="2400" dirty="0">
              <a:latin typeface="微软雅黑" pitchFamily="34" charset="-122"/>
              <a:ea typeface="微软雅黑" pitchFamily="34" charset="-122"/>
            </a:endParaRPr>
          </a:p>
        </p:txBody>
      </p:sp>
      <p:sp>
        <p:nvSpPr>
          <p:cNvPr id="7" name="Rectangle 35"/>
          <p:cNvSpPr>
            <a:spLocks noChangeArrowheads="1"/>
          </p:cNvSpPr>
          <p:nvPr/>
        </p:nvSpPr>
        <p:spPr bwMode="auto">
          <a:xfrm>
            <a:off x="2627784" y="2060848"/>
            <a:ext cx="2412840" cy="525657"/>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4B3EEE"/>
                </a:solidFill>
                <a:latin typeface="微软雅黑" pitchFamily="34" charset="-122"/>
                <a:ea typeface="微软雅黑" pitchFamily="34" charset="-122"/>
              </a:rPr>
              <a:t>做功能力损失为</a:t>
            </a:r>
            <a:r>
              <a:rPr lang="en-US" altLang="zh-CN" sz="2400" dirty="0">
                <a:solidFill>
                  <a:srgbClr val="4B3EEE"/>
                </a:solidFill>
                <a:latin typeface="微软雅黑" pitchFamily="34" charset="-122"/>
                <a:ea typeface="微软雅黑" pitchFamily="34" charset="-122"/>
              </a:rPr>
              <a:t>:</a:t>
            </a:r>
          </a:p>
        </p:txBody>
      </p:sp>
      <p:graphicFrame>
        <p:nvGraphicFramePr>
          <p:cNvPr id="8" name="Object 36"/>
          <p:cNvGraphicFramePr>
            <a:graphicFrameLocks noChangeAspect="1"/>
          </p:cNvGraphicFramePr>
          <p:nvPr>
            <p:extLst>
              <p:ext uri="{D42A27DB-BD31-4B8C-83A1-F6EECF244321}">
                <p14:modId xmlns:p14="http://schemas.microsoft.com/office/powerpoint/2010/main" val="4103475434"/>
              </p:ext>
            </p:extLst>
          </p:nvPr>
        </p:nvGraphicFramePr>
        <p:xfrm>
          <a:off x="1142976" y="2846666"/>
          <a:ext cx="3285008" cy="529164"/>
        </p:xfrm>
        <a:graphic>
          <a:graphicData uri="http://schemas.openxmlformats.org/presentationml/2006/ole">
            <mc:AlternateContent xmlns:mc="http://schemas.openxmlformats.org/markup-compatibility/2006">
              <mc:Choice xmlns:v="urn:schemas-microsoft-com:vml" Requires="v">
                <p:oleObj spid="_x0000_s101776" name="公式" r:id="rId7" imgW="1308100" imgH="241300" progId="Equation.3">
                  <p:embed/>
                </p:oleObj>
              </mc:Choice>
              <mc:Fallback>
                <p:oleObj name="公式" r:id="rId7" imgW="1308100" imgH="241300" progId="Equation.3">
                  <p:embed/>
                  <p:pic>
                    <p:nvPicPr>
                      <p:cNvPr id="0" name="Object 3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42976" y="2846666"/>
                        <a:ext cx="3285008" cy="529164"/>
                      </a:xfrm>
                      <a:prstGeom prst="rect">
                        <a:avLst/>
                      </a:prstGeom>
                      <a:noFill/>
                    </p:spPr>
                  </p:pic>
                </p:oleObj>
              </mc:Fallback>
            </mc:AlternateContent>
          </a:graphicData>
        </a:graphic>
      </p:graphicFrame>
      <p:graphicFrame>
        <p:nvGraphicFramePr>
          <p:cNvPr id="9" name="Object 37"/>
          <p:cNvGraphicFramePr>
            <a:graphicFrameLocks noChangeAspect="1"/>
          </p:cNvGraphicFramePr>
          <p:nvPr>
            <p:extLst>
              <p:ext uri="{D42A27DB-BD31-4B8C-83A1-F6EECF244321}">
                <p14:modId xmlns:p14="http://schemas.microsoft.com/office/powerpoint/2010/main" val="4126952033"/>
              </p:ext>
            </p:extLst>
          </p:nvPr>
        </p:nvGraphicFramePr>
        <p:xfrm>
          <a:off x="2023018" y="4060542"/>
          <a:ext cx="1948776" cy="552474"/>
        </p:xfrm>
        <a:graphic>
          <a:graphicData uri="http://schemas.openxmlformats.org/presentationml/2006/ole">
            <mc:AlternateContent xmlns:mc="http://schemas.openxmlformats.org/markup-compatibility/2006">
              <mc:Choice xmlns:v="urn:schemas-microsoft-com:vml" Requires="v">
                <p:oleObj spid="_x0000_s101777" name="公式" r:id="rId9" imgW="850531" imgH="241195" progId="Equation.3">
                  <p:embed/>
                </p:oleObj>
              </mc:Choice>
              <mc:Fallback>
                <p:oleObj name="公式" r:id="rId9" imgW="850531" imgH="241195" progId="Equation.3">
                  <p:embed/>
                  <p:pic>
                    <p:nvPicPr>
                      <p:cNvPr id="0" name="Object 3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23018" y="4060542"/>
                        <a:ext cx="1948776" cy="552474"/>
                      </a:xfrm>
                      <a:prstGeom prst="rect">
                        <a:avLst/>
                      </a:prstGeom>
                      <a:noFill/>
                    </p:spPr>
                  </p:pic>
                </p:oleObj>
              </mc:Fallback>
            </mc:AlternateContent>
          </a:graphicData>
        </a:graphic>
      </p:graphicFrame>
      <p:sp>
        <p:nvSpPr>
          <p:cNvPr id="10" name="Rectangle 40"/>
          <p:cNvSpPr>
            <a:spLocks noChangeArrowheads="1"/>
          </p:cNvSpPr>
          <p:nvPr/>
        </p:nvSpPr>
        <p:spPr bwMode="auto">
          <a:xfrm>
            <a:off x="724293" y="3412470"/>
            <a:ext cx="2105063" cy="525657"/>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4B3EEE"/>
                </a:solidFill>
                <a:latin typeface="微软雅黑" pitchFamily="34" charset="-122"/>
                <a:ea typeface="微软雅黑" pitchFamily="34" charset="-122"/>
              </a:rPr>
              <a:t>有用功损失为</a:t>
            </a:r>
            <a:r>
              <a:rPr lang="en-US" altLang="zh-CN" sz="2400" dirty="0">
                <a:solidFill>
                  <a:srgbClr val="4B3EEE"/>
                </a:solidFill>
                <a:latin typeface="微软雅黑" pitchFamily="34" charset="-122"/>
                <a:ea typeface="微软雅黑" pitchFamily="34" charset="-122"/>
              </a:rPr>
              <a:t>:</a:t>
            </a:r>
          </a:p>
        </p:txBody>
      </p:sp>
      <p:sp>
        <p:nvSpPr>
          <p:cNvPr id="11" name="Rectangle 41"/>
          <p:cNvSpPr>
            <a:spLocks noChangeArrowheads="1"/>
          </p:cNvSpPr>
          <p:nvPr/>
        </p:nvSpPr>
        <p:spPr bwMode="auto">
          <a:xfrm>
            <a:off x="680987" y="4643441"/>
            <a:ext cx="4493538" cy="572464"/>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FF0000"/>
                </a:solidFill>
                <a:latin typeface="微软雅黑" pitchFamily="34" charset="-122"/>
                <a:ea typeface="微软雅黑" pitchFamily="34" charset="-122"/>
              </a:rPr>
              <a:t>其中仍有一部分具有作功能力。</a:t>
            </a:r>
          </a:p>
        </p:txBody>
      </p:sp>
      <p:sp>
        <p:nvSpPr>
          <p:cNvPr id="12" name="Rectangle 43"/>
          <p:cNvSpPr>
            <a:spLocks noChangeArrowheads="1"/>
          </p:cNvSpPr>
          <p:nvPr/>
        </p:nvSpPr>
        <p:spPr bwMode="auto">
          <a:xfrm>
            <a:off x="2955504" y="5373216"/>
            <a:ext cx="4493538" cy="525657"/>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4B3EEE"/>
                </a:solidFill>
                <a:latin typeface="微软雅黑" pitchFamily="34" charset="-122"/>
                <a:ea typeface="微软雅黑" pitchFamily="34" charset="-122"/>
              </a:rPr>
              <a:t>有用功损失等于作功能力损失。</a:t>
            </a:r>
          </a:p>
        </p:txBody>
      </p:sp>
      <p:sp>
        <p:nvSpPr>
          <p:cNvPr id="14" name="矩形 13"/>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62</a:t>
            </a:r>
            <a:endParaRPr lang="zh-CN" altLang="en-US" sz="2000" b="1" dirty="0">
              <a:solidFill>
                <a:schemeClr val="tx1"/>
              </a:solidFill>
              <a:latin typeface="黑体" pitchFamily="49" charset="-122"/>
              <a:ea typeface="黑体" pitchFamily="49" charset="-122"/>
            </a:endParaRPr>
          </a:p>
        </p:txBody>
      </p:sp>
      <p:sp>
        <p:nvSpPr>
          <p:cNvPr id="15" name="Rectangle 24"/>
          <p:cNvSpPr>
            <a:spLocks noChangeArrowheads="1"/>
          </p:cNvSpPr>
          <p:nvPr/>
        </p:nvSpPr>
        <p:spPr bwMode="auto">
          <a:xfrm>
            <a:off x="599237" y="1268760"/>
            <a:ext cx="3336170" cy="525657"/>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4B3EEE"/>
                </a:solidFill>
                <a:latin typeface="微软雅黑" pitchFamily="34" charset="-122"/>
                <a:ea typeface="微软雅黑" pitchFamily="34" charset="-122"/>
              </a:rPr>
              <a:t>该不可逆热机的有用功</a:t>
            </a:r>
            <a:r>
              <a:rPr lang="en-US" altLang="zh-CN" sz="2400" dirty="0">
                <a:solidFill>
                  <a:srgbClr val="4B3EEE"/>
                </a:solidFill>
                <a:latin typeface="微软雅黑" pitchFamily="34" charset="-122"/>
                <a:ea typeface="微软雅黑" pitchFamily="34" charset="-122"/>
              </a:rPr>
              <a:t>:</a:t>
            </a:r>
          </a:p>
        </p:txBody>
      </p:sp>
      <p:graphicFrame>
        <p:nvGraphicFramePr>
          <p:cNvPr id="16" name="Object 25"/>
          <p:cNvGraphicFramePr>
            <a:graphicFrameLocks noChangeAspect="1"/>
          </p:cNvGraphicFramePr>
          <p:nvPr>
            <p:extLst>
              <p:ext uri="{D42A27DB-BD31-4B8C-83A1-F6EECF244321}">
                <p14:modId xmlns:p14="http://schemas.microsoft.com/office/powerpoint/2010/main" val="890337636"/>
              </p:ext>
            </p:extLst>
          </p:nvPr>
        </p:nvGraphicFramePr>
        <p:xfrm>
          <a:off x="3944938" y="1336675"/>
          <a:ext cx="3921125" cy="504825"/>
        </p:xfrm>
        <a:graphic>
          <a:graphicData uri="http://schemas.openxmlformats.org/presentationml/2006/ole">
            <mc:AlternateContent xmlns:mc="http://schemas.openxmlformats.org/markup-compatibility/2006">
              <mc:Choice xmlns:v="urn:schemas-microsoft-com:vml" Requires="v">
                <p:oleObj spid="_x0000_s101778" name="公式" r:id="rId11" imgW="1638300" imgH="241300" progId="Equation.3">
                  <p:embed/>
                </p:oleObj>
              </mc:Choice>
              <mc:Fallback>
                <p:oleObj name="公式" r:id="rId11" imgW="1638300" imgH="241300" progId="Equation.3">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44938" y="1336675"/>
                        <a:ext cx="3921125" cy="504825"/>
                      </a:xfrm>
                      <a:prstGeom prst="rect">
                        <a:avLst/>
                      </a:prstGeom>
                      <a:noFill/>
                    </p:spPr>
                  </p:pic>
                </p:oleObj>
              </mc:Fallback>
            </mc:AlternateContent>
          </a:graphicData>
        </a:graphic>
      </p:graphicFrame>
      <p:pic>
        <p:nvPicPr>
          <p:cNvPr id="101678" name="Picture 30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10150" y="2213210"/>
            <a:ext cx="2762250" cy="292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box(in)">
                                      <p:cBhvr>
                                        <p:cTn id="21" dur="500"/>
                                        <p:tgtEl>
                                          <p:spTgt spid="10"/>
                                        </p:tgtEl>
                                      </p:cBhvr>
                                    </p:animEffect>
                                  </p:childTnLst>
                                </p:cTn>
                              </p:par>
                              <p:par>
                                <p:cTn id="22" presetID="3" presetClass="entr" presetSubtype="1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blinds(horizontal)">
                                      <p:cBhvr>
                                        <p:cTn id="24" dur="5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box(in)">
                                      <p:cBhvr>
                                        <p:cTn id="29" dur="500"/>
                                        <p:tgtEl>
                                          <p:spTgt spid="11"/>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box(in)">
                                      <p:cBhvr>
                                        <p:cTn id="3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7" grpId="0"/>
      <p:bldP spid="10" grpId="0"/>
      <p:bldP spid="11" grpId="0"/>
      <p:bldP spid="12"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251520" y="964429"/>
            <a:ext cx="5544616" cy="1200329"/>
          </a:xfrm>
          <a:prstGeom prst="rect">
            <a:avLst/>
          </a:prstGeom>
          <a:noFill/>
          <a:ln w="9525" algn="ctr">
            <a:noFill/>
            <a:miter lim="800000"/>
            <a:headEnd/>
            <a:tailEnd/>
          </a:ln>
          <a:effectLst/>
        </p:spPr>
        <p:txBody>
          <a:bodyPr wrap="square" anchor="ctr">
            <a:spAutoFit/>
          </a:bodyPr>
          <a:lstStyle/>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例</a:t>
            </a:r>
            <a:r>
              <a:rPr lang="en-US" altLang="zh-CN" sz="2400" dirty="0">
                <a:solidFill>
                  <a:srgbClr val="000000"/>
                </a:solidFill>
                <a:latin typeface="微软雅黑" pitchFamily="34" charset="-122"/>
                <a:ea typeface="微软雅黑" pitchFamily="34" charset="-122"/>
                <a:cs typeface="Times New Roman" pitchFamily="18" charset="0"/>
              </a:rPr>
              <a:t>4   </a:t>
            </a:r>
            <a:r>
              <a:rPr lang="zh-CN" altLang="en-US" sz="2400" dirty="0">
                <a:solidFill>
                  <a:srgbClr val="000000"/>
                </a:solidFill>
                <a:latin typeface="微软雅黑" pitchFamily="34" charset="-122"/>
                <a:ea typeface="微软雅黑" pitchFamily="34" charset="-122"/>
                <a:cs typeface="Times New Roman" pitchFamily="18" charset="0"/>
              </a:rPr>
              <a:t>求温差传热过程的做功能力损失。</a:t>
            </a:r>
            <a:endParaRPr lang="en-US" altLang="zh-CN" sz="2400" dirty="0">
              <a:solidFill>
                <a:srgbClr val="000000"/>
              </a:solidFill>
              <a:latin typeface="微软雅黑" pitchFamily="34" charset="-122"/>
              <a:ea typeface="微软雅黑" pitchFamily="34" charset="-122"/>
              <a:cs typeface="Times New Roman" pitchFamily="18" charset="0"/>
            </a:endParaRPr>
          </a:p>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    （过程中</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A</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a:t>
            </a:r>
            <a:r>
              <a:rPr lang="en-US" altLang="zh-CN" sz="2400" dirty="0">
                <a:solidFill>
                  <a:srgbClr val="000000"/>
                </a:solidFill>
                <a:latin typeface="Times New Roman" panose="02020603050405020304" pitchFamily="18" charset="0"/>
                <a:ea typeface="微软雅黑" pitchFamily="34" charset="-122"/>
                <a:cs typeface="Times New Roman" panose="02020603050405020304" pitchFamily="18" charset="0"/>
              </a:rPr>
              <a:t>B</a:t>
            </a:r>
            <a:r>
              <a:rPr lang="zh-CN" altLang="en-US" sz="2400" dirty="0">
                <a:solidFill>
                  <a:srgbClr val="000000"/>
                </a:solidFill>
                <a:latin typeface="Times New Roman" panose="02020603050405020304" pitchFamily="18" charset="0"/>
                <a:ea typeface="微软雅黑" pitchFamily="34" charset="-122"/>
                <a:cs typeface="Times New Roman" panose="02020603050405020304" pitchFamily="18" charset="0"/>
              </a:rPr>
              <a:t>均</a:t>
            </a:r>
            <a:r>
              <a:rPr lang="zh-CN" altLang="en-US" sz="2400" dirty="0">
                <a:solidFill>
                  <a:srgbClr val="000000"/>
                </a:solidFill>
                <a:latin typeface="微软雅黑" pitchFamily="34" charset="-122"/>
                <a:ea typeface="微软雅黑" pitchFamily="34" charset="-122"/>
                <a:cs typeface="Times New Roman" pitchFamily="18" charset="0"/>
              </a:rPr>
              <a:t>保持恒温 ，         ）</a:t>
            </a:r>
          </a:p>
        </p:txBody>
      </p:sp>
      <p:sp>
        <p:nvSpPr>
          <p:cNvPr id="4" name="Rectangle 5"/>
          <p:cNvSpPr>
            <a:spLocks noChangeArrowheads="1"/>
          </p:cNvSpPr>
          <p:nvPr/>
        </p:nvSpPr>
        <p:spPr bwMode="auto">
          <a:xfrm>
            <a:off x="611560" y="2176616"/>
            <a:ext cx="3744416" cy="646331"/>
          </a:xfrm>
          <a:prstGeom prst="rect">
            <a:avLst/>
          </a:prstGeom>
          <a:noFill/>
          <a:ln w="9525" algn="ctr">
            <a:noFill/>
            <a:miter lim="800000"/>
            <a:headEnd/>
            <a:tailEnd/>
          </a:ln>
          <a:effectLst/>
        </p:spPr>
        <p:txBody>
          <a:bodyPr wrap="square" anchor="ctr">
            <a:spAutoFit/>
          </a:bodyPr>
          <a:lstStyle/>
          <a:p>
            <a:pPr>
              <a:lnSpc>
                <a:spcPct val="150000"/>
              </a:lnSpc>
            </a:pPr>
            <a:r>
              <a:rPr lang="zh-CN" altLang="en-US" sz="2400" dirty="0">
                <a:solidFill>
                  <a:srgbClr val="000000"/>
                </a:solidFill>
                <a:latin typeface="微软雅黑" pitchFamily="34" charset="-122"/>
                <a:ea typeface="微软雅黑" pitchFamily="34" charset="-122"/>
                <a:cs typeface="Times New Roman" pitchFamily="18" charset="0"/>
              </a:rPr>
              <a:t>解：选总容积为孤立系</a:t>
            </a:r>
            <a:endParaRPr lang="en-US" altLang="zh-CN" sz="2400" dirty="0">
              <a:solidFill>
                <a:srgbClr val="000000"/>
              </a:solidFill>
              <a:latin typeface="微软雅黑" pitchFamily="34" charset="-122"/>
              <a:ea typeface="微软雅黑" pitchFamily="34" charset="-122"/>
              <a:cs typeface="Times New Roman" pitchFamily="18" charset="0"/>
            </a:endParaRPr>
          </a:p>
        </p:txBody>
      </p:sp>
      <p:graphicFrame>
        <p:nvGraphicFramePr>
          <p:cNvPr id="6" name="Object 11"/>
          <p:cNvGraphicFramePr>
            <a:graphicFrameLocks noChangeAspect="1"/>
          </p:cNvGraphicFramePr>
          <p:nvPr>
            <p:extLst>
              <p:ext uri="{D42A27DB-BD31-4B8C-83A1-F6EECF244321}">
                <p14:modId xmlns:p14="http://schemas.microsoft.com/office/powerpoint/2010/main" val="2600666750"/>
              </p:ext>
            </p:extLst>
          </p:nvPr>
        </p:nvGraphicFramePr>
        <p:xfrm>
          <a:off x="4572000" y="1669612"/>
          <a:ext cx="864096" cy="410079"/>
        </p:xfrm>
        <a:graphic>
          <a:graphicData uri="http://schemas.openxmlformats.org/presentationml/2006/ole">
            <mc:AlternateContent xmlns:mc="http://schemas.openxmlformats.org/markup-compatibility/2006">
              <mc:Choice xmlns:v="urn:schemas-microsoft-com:vml" Requires="v">
                <p:oleObj spid="_x0000_s102827" name="公式" r:id="rId3" imgW="558558" imgH="266584" progId="Equation.3">
                  <p:embed/>
                </p:oleObj>
              </mc:Choice>
              <mc:Fallback>
                <p:oleObj name="公式" r:id="rId3" imgW="558558" imgH="266584" progId="Equation.3">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669612"/>
                        <a:ext cx="864096" cy="410079"/>
                      </a:xfrm>
                      <a:prstGeom prst="rect">
                        <a:avLst/>
                      </a:prstGeom>
                      <a:noFill/>
                    </p:spPr>
                  </p:pic>
                </p:oleObj>
              </mc:Fallback>
            </mc:AlternateContent>
          </a:graphicData>
        </a:graphic>
      </p:graphicFrame>
      <p:graphicFrame>
        <p:nvGraphicFramePr>
          <p:cNvPr id="7" name="Object 13"/>
          <p:cNvGraphicFramePr>
            <a:graphicFrameLocks noChangeAspect="1"/>
          </p:cNvGraphicFramePr>
          <p:nvPr>
            <p:extLst>
              <p:ext uri="{D42A27DB-BD31-4B8C-83A1-F6EECF244321}">
                <p14:modId xmlns:p14="http://schemas.microsoft.com/office/powerpoint/2010/main" val="2190282759"/>
              </p:ext>
            </p:extLst>
          </p:nvPr>
        </p:nvGraphicFramePr>
        <p:xfrm>
          <a:off x="1664091" y="2996952"/>
          <a:ext cx="1280753" cy="785073"/>
        </p:xfrm>
        <a:graphic>
          <a:graphicData uri="http://schemas.openxmlformats.org/presentationml/2006/ole">
            <mc:AlternateContent xmlns:mc="http://schemas.openxmlformats.org/markup-compatibility/2006">
              <mc:Choice xmlns:v="urn:schemas-microsoft-com:vml" Requires="v">
                <p:oleObj spid="_x0000_s102828" name="公式" r:id="rId5" imgW="698197" imgH="431613" progId="Equation.3">
                  <p:embed/>
                </p:oleObj>
              </mc:Choice>
              <mc:Fallback>
                <p:oleObj name="公式" r:id="rId5" imgW="698197" imgH="431613" progId="Equation.3">
                  <p:embed/>
                  <p:pic>
                    <p:nvPicPr>
                      <p:cNvPr id="0"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4091" y="2996952"/>
                        <a:ext cx="1280753" cy="785073"/>
                      </a:xfrm>
                      <a:prstGeom prst="rect">
                        <a:avLst/>
                      </a:prstGeom>
                      <a:noFill/>
                    </p:spPr>
                  </p:pic>
                </p:oleObj>
              </mc:Fallback>
            </mc:AlternateContent>
          </a:graphicData>
        </a:graphic>
      </p:graphicFrame>
      <p:graphicFrame>
        <p:nvGraphicFramePr>
          <p:cNvPr id="8" name="Object 16"/>
          <p:cNvGraphicFramePr>
            <a:graphicFrameLocks noChangeAspect="1"/>
          </p:cNvGraphicFramePr>
          <p:nvPr>
            <p:extLst>
              <p:ext uri="{D42A27DB-BD31-4B8C-83A1-F6EECF244321}">
                <p14:modId xmlns:p14="http://schemas.microsoft.com/office/powerpoint/2010/main" val="1994669537"/>
              </p:ext>
            </p:extLst>
          </p:nvPr>
        </p:nvGraphicFramePr>
        <p:xfrm>
          <a:off x="3635896" y="2996952"/>
          <a:ext cx="1150988" cy="808922"/>
        </p:xfrm>
        <a:graphic>
          <a:graphicData uri="http://schemas.openxmlformats.org/presentationml/2006/ole">
            <mc:AlternateContent xmlns:mc="http://schemas.openxmlformats.org/markup-compatibility/2006">
              <mc:Choice xmlns:v="urn:schemas-microsoft-com:vml" Requires="v">
                <p:oleObj spid="_x0000_s102829" name="公式" r:id="rId7" imgW="609336" imgH="431613" progId="Equation.3">
                  <p:embed/>
                </p:oleObj>
              </mc:Choice>
              <mc:Fallback>
                <p:oleObj name="公式" r:id="rId7" imgW="609336" imgH="431613" progId="Equation.3">
                  <p:embed/>
                  <p:pic>
                    <p:nvPicPr>
                      <p:cNvPr id="0" name="Object 1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35896" y="2996952"/>
                        <a:ext cx="1150988" cy="808922"/>
                      </a:xfrm>
                      <a:prstGeom prst="rect">
                        <a:avLst/>
                      </a:prstGeom>
                      <a:noFill/>
                    </p:spPr>
                  </p:pic>
                </p:oleObj>
              </mc:Fallback>
            </mc:AlternateContent>
          </a:graphicData>
        </a:graphic>
      </p:graphicFrame>
      <p:graphicFrame>
        <p:nvGraphicFramePr>
          <p:cNvPr id="9" name="Object 18"/>
          <p:cNvGraphicFramePr>
            <a:graphicFrameLocks noChangeAspect="1"/>
          </p:cNvGraphicFramePr>
          <p:nvPr>
            <p:extLst>
              <p:ext uri="{D42A27DB-BD31-4B8C-83A1-F6EECF244321}">
                <p14:modId xmlns:p14="http://schemas.microsoft.com/office/powerpoint/2010/main" val="3546586234"/>
              </p:ext>
            </p:extLst>
          </p:nvPr>
        </p:nvGraphicFramePr>
        <p:xfrm>
          <a:off x="1331640" y="3916136"/>
          <a:ext cx="3925234" cy="1422615"/>
        </p:xfrm>
        <a:graphic>
          <a:graphicData uri="http://schemas.openxmlformats.org/presentationml/2006/ole">
            <mc:AlternateContent xmlns:mc="http://schemas.openxmlformats.org/markup-compatibility/2006">
              <mc:Choice xmlns:v="urn:schemas-microsoft-com:vml" Requires="v">
                <p:oleObj spid="_x0000_s102830" name="公式" r:id="rId9" imgW="2032000" imgH="736600" progId="Equation.3">
                  <p:embed/>
                </p:oleObj>
              </mc:Choice>
              <mc:Fallback>
                <p:oleObj name="公式" r:id="rId9" imgW="2032000" imgH="7366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331640" y="3916136"/>
                        <a:ext cx="3925234" cy="1422615"/>
                      </a:xfrm>
                      <a:prstGeom prst="rect">
                        <a:avLst/>
                      </a:prstGeom>
                      <a:noFill/>
                    </p:spPr>
                  </p:pic>
                </p:oleObj>
              </mc:Fallback>
            </mc:AlternateContent>
          </a:graphicData>
        </a:graphic>
      </p:graphicFrame>
      <p:sp>
        <p:nvSpPr>
          <p:cNvPr id="10" name="Rectangle 19"/>
          <p:cNvSpPr>
            <a:spLocks noChangeArrowheads="1"/>
          </p:cNvSpPr>
          <p:nvPr/>
        </p:nvSpPr>
        <p:spPr bwMode="auto">
          <a:xfrm>
            <a:off x="611560" y="5445224"/>
            <a:ext cx="2105063" cy="525657"/>
          </a:xfrm>
          <a:prstGeom prst="rect">
            <a:avLst/>
          </a:prstGeom>
          <a:noFill/>
          <a:ln w="9525">
            <a:noFill/>
            <a:miter lim="800000"/>
            <a:headEnd/>
            <a:tailEnd/>
          </a:ln>
          <a:effectLst/>
        </p:spPr>
        <p:txBody>
          <a:bodyPr wrap="none">
            <a:spAutoFit/>
          </a:bodyPr>
          <a:lstStyle/>
          <a:p>
            <a:pPr>
              <a:lnSpc>
                <a:spcPct val="130000"/>
              </a:lnSpc>
            </a:pPr>
            <a:r>
              <a:rPr lang="zh-CN" altLang="en-US" sz="2400" dirty="0">
                <a:solidFill>
                  <a:srgbClr val="4B3EEE"/>
                </a:solidFill>
                <a:latin typeface="微软雅黑" pitchFamily="34" charset="-122"/>
                <a:ea typeface="微软雅黑" pitchFamily="34" charset="-122"/>
              </a:rPr>
              <a:t>作功能力损失</a:t>
            </a:r>
            <a:r>
              <a:rPr lang="en-US" altLang="zh-CN" sz="2400" dirty="0">
                <a:solidFill>
                  <a:srgbClr val="4B3EEE"/>
                </a:solidFill>
                <a:latin typeface="微软雅黑" pitchFamily="34" charset="-122"/>
                <a:ea typeface="微软雅黑" pitchFamily="34" charset="-122"/>
              </a:rPr>
              <a:t>:</a:t>
            </a:r>
          </a:p>
        </p:txBody>
      </p:sp>
      <p:graphicFrame>
        <p:nvGraphicFramePr>
          <p:cNvPr id="11" name="Object 20"/>
          <p:cNvGraphicFramePr>
            <a:graphicFrameLocks noChangeAspect="1"/>
          </p:cNvGraphicFramePr>
          <p:nvPr>
            <p:extLst>
              <p:ext uri="{D42A27DB-BD31-4B8C-83A1-F6EECF244321}">
                <p14:modId xmlns:p14="http://schemas.microsoft.com/office/powerpoint/2010/main" val="3475662657"/>
              </p:ext>
            </p:extLst>
          </p:nvPr>
        </p:nvGraphicFramePr>
        <p:xfrm>
          <a:off x="3257388" y="5530698"/>
          <a:ext cx="1746660" cy="527099"/>
        </p:xfrm>
        <a:graphic>
          <a:graphicData uri="http://schemas.openxmlformats.org/presentationml/2006/ole">
            <mc:AlternateContent xmlns:mc="http://schemas.openxmlformats.org/markup-compatibility/2006">
              <mc:Choice xmlns:v="urn:schemas-microsoft-com:vml" Requires="v">
                <p:oleObj spid="_x0000_s102831" name="公式" r:id="rId11" imgW="698500" imgH="241300" progId="Equation.3">
                  <p:embed/>
                </p:oleObj>
              </mc:Choice>
              <mc:Fallback>
                <p:oleObj name="公式" r:id="rId11" imgW="698500" imgH="241300" progId="Equation.3">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57388" y="5530698"/>
                        <a:ext cx="1746660" cy="527099"/>
                      </a:xfrm>
                      <a:prstGeom prst="rect">
                        <a:avLst/>
                      </a:prstGeom>
                      <a:noFill/>
                    </p:spPr>
                  </p:pic>
                </p:oleObj>
              </mc:Fallback>
            </mc:AlternateContent>
          </a:graphicData>
        </a:graphic>
      </p:graphicFrame>
      <p:pic>
        <p:nvPicPr>
          <p:cNvPr id="12" name="Picture 23"/>
          <p:cNvPicPr>
            <a:picLocks noChangeAspect="1" noChangeArrowheads="1"/>
          </p:cNvPicPr>
          <p:nvPr/>
        </p:nvPicPr>
        <p:blipFill>
          <a:blip r:embed="rId13"/>
          <a:srcRect/>
          <a:stretch>
            <a:fillRect/>
          </a:stretch>
        </p:blipFill>
        <p:spPr bwMode="auto">
          <a:xfrm>
            <a:off x="6096000" y="1564593"/>
            <a:ext cx="2085975" cy="1514475"/>
          </a:xfrm>
          <a:prstGeom prst="rect">
            <a:avLst/>
          </a:prstGeom>
          <a:noFill/>
          <a:ln w="9525">
            <a:noFill/>
            <a:miter lim="800000"/>
            <a:headEnd/>
            <a:tailEnd/>
          </a:ln>
        </p:spPr>
      </p:pic>
      <p:pic>
        <p:nvPicPr>
          <p:cNvPr id="13" name="Picture 24"/>
          <p:cNvPicPr>
            <a:picLocks noChangeAspect="1" noChangeArrowheads="1"/>
          </p:cNvPicPr>
          <p:nvPr/>
        </p:nvPicPr>
        <p:blipFill>
          <a:blip r:embed="rId14"/>
          <a:srcRect/>
          <a:stretch>
            <a:fillRect/>
          </a:stretch>
        </p:blipFill>
        <p:spPr bwMode="auto">
          <a:xfrm>
            <a:off x="6019800" y="3356992"/>
            <a:ext cx="2571750" cy="2419350"/>
          </a:xfrm>
          <a:prstGeom prst="rect">
            <a:avLst/>
          </a:prstGeom>
          <a:noFill/>
          <a:ln w="9525">
            <a:noFill/>
            <a:miter lim="800000"/>
            <a:headEnd/>
            <a:tailEnd/>
          </a:ln>
        </p:spPr>
      </p:pic>
      <p:sp>
        <p:nvSpPr>
          <p:cNvPr id="14" name="矩形 13"/>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63</a:t>
            </a:r>
            <a:endParaRPr lang="zh-CN" altLang="en-US" sz="2000" b="1" dirty="0">
              <a:solidFill>
                <a:schemeClr val="tx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dissolve">
                                      <p:cBhvr>
                                        <p:cTn id="17" dur="500"/>
                                        <p:tgtEl>
                                          <p:spTgt spid="7"/>
                                        </p:tgtEl>
                                      </p:cBhvr>
                                    </p:animEffect>
                                  </p:childTnLst>
                                </p:cTn>
                              </p:par>
                              <p:par>
                                <p:cTn id="18" presetID="9" presetClass="entr" presetSubtype="0" fill="hold" nodeType="with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dissolv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nodeType="click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dissolve">
                                      <p:cBhvr>
                                        <p:cTn id="29" dur="500"/>
                                        <p:tgtEl>
                                          <p:spTgt spid="9"/>
                                        </p:tgtEl>
                                      </p:cBhvr>
                                    </p:animEffect>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linds(horizontal)">
                                      <p:cBhvr>
                                        <p:cTn id="34" dur="500"/>
                                        <p:tgtEl>
                                          <p:spTgt spid="10"/>
                                        </p:tgtEl>
                                      </p:cBhvr>
                                    </p:animEffect>
                                  </p:childTnLst>
                                </p:cTn>
                              </p:par>
                              <p:par>
                                <p:cTn id="35" presetID="9" presetClass="entr" presetSubtype="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dissolve">
                                      <p:cBhvr>
                                        <p:cTn id="3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2400" dirty="0" smtClean="0"/>
              <a:t>例</a:t>
            </a:r>
            <a:r>
              <a:rPr lang="en-US" altLang="zh-CN" sz="2400" dirty="0" smtClean="0"/>
              <a:t>5</a:t>
            </a:r>
            <a:r>
              <a:rPr lang="zh-CN" altLang="en-US" sz="2400" dirty="0" smtClean="0"/>
              <a:t>：</a:t>
            </a:r>
            <a:r>
              <a:rPr lang="zh-CN" altLang="zh-CN" sz="2400" dirty="0" smtClean="0"/>
              <a:t>如</a:t>
            </a:r>
            <a:r>
              <a:rPr lang="zh-CN" altLang="zh-CN" sz="2400" dirty="0"/>
              <a:t>图所示的气缸内充以空气，活塞面积</a:t>
            </a:r>
            <a:r>
              <a:rPr lang="en-US" altLang="zh-CN" sz="2400" i="1" dirty="0"/>
              <a:t>A</a:t>
            </a:r>
            <a:r>
              <a:rPr lang="zh-CN" altLang="zh-CN" sz="2400" dirty="0"/>
              <a:t>＝</a:t>
            </a:r>
            <a:r>
              <a:rPr lang="en-US" altLang="zh-CN" sz="2400" dirty="0"/>
              <a:t>100</a:t>
            </a:r>
            <a:r>
              <a:rPr lang="en-US" altLang="zh-CN" sz="2400" baseline="-25000" dirty="0">
                <a:sym typeface="Symbol" panose="05050102010706020507" pitchFamily="18" charset="2"/>
              </a:rPr>
              <a:t></a:t>
            </a:r>
            <a:r>
              <a:rPr lang="en-US" altLang="zh-CN" sz="2400" dirty="0"/>
              <a:t>cm</a:t>
            </a:r>
            <a:r>
              <a:rPr lang="en-US" altLang="zh-CN" sz="2400" baseline="30000" dirty="0"/>
              <a:t>2</a:t>
            </a:r>
            <a:r>
              <a:rPr lang="zh-CN" altLang="zh-CN" sz="2400" dirty="0"/>
              <a:t>，距底面高度</a:t>
            </a:r>
            <a:r>
              <a:rPr lang="en-US" altLang="zh-CN" sz="2400" i="1" dirty="0"/>
              <a:t>H</a:t>
            </a:r>
            <a:r>
              <a:rPr lang="zh-CN" altLang="zh-CN" sz="2400" dirty="0"/>
              <a:t>＝</a:t>
            </a:r>
            <a:r>
              <a:rPr lang="en-US" altLang="zh-CN" sz="2400" dirty="0"/>
              <a:t>10</a:t>
            </a:r>
            <a:r>
              <a:rPr lang="en-US" altLang="zh-CN" sz="2400" dirty="0">
                <a:sym typeface="Symbol" panose="05050102010706020507" pitchFamily="18" charset="2"/>
              </a:rPr>
              <a:t></a:t>
            </a:r>
            <a:r>
              <a:rPr lang="en-US" altLang="zh-CN" sz="2400" dirty="0"/>
              <a:t>cm</a:t>
            </a:r>
            <a:r>
              <a:rPr lang="zh-CN" altLang="zh-CN" sz="2400" dirty="0"/>
              <a:t>，活塞及其上重物的总质量</a:t>
            </a:r>
            <a:r>
              <a:rPr lang="en-US" altLang="zh-CN" sz="2400" i="1" dirty="0"/>
              <a:t>m</a:t>
            </a:r>
            <a:r>
              <a:rPr lang="en-US" altLang="zh-CN" sz="2400" baseline="-25000" dirty="0"/>
              <a:t>1</a:t>
            </a:r>
            <a:r>
              <a:rPr lang="zh-CN" altLang="zh-CN" sz="2400" dirty="0"/>
              <a:t>＝</a:t>
            </a:r>
            <a:r>
              <a:rPr lang="en-US" altLang="zh-CN" sz="2400" dirty="0"/>
              <a:t>195</a:t>
            </a:r>
            <a:r>
              <a:rPr lang="en-US" altLang="zh-CN" sz="2400" dirty="0">
                <a:sym typeface="Symbol" panose="05050102010706020507" pitchFamily="18" charset="2"/>
              </a:rPr>
              <a:t></a:t>
            </a:r>
            <a:r>
              <a:rPr lang="en-US" altLang="zh-CN" sz="2400" dirty="0"/>
              <a:t>kg</a:t>
            </a:r>
            <a:r>
              <a:rPr lang="zh-CN" altLang="zh-CN" sz="2400" dirty="0"/>
              <a:t>，当地大气压力</a:t>
            </a:r>
            <a:r>
              <a:rPr lang="en-US" altLang="zh-CN" sz="2400" i="1" dirty="0" err="1"/>
              <a:t>p</a:t>
            </a:r>
            <a:r>
              <a:rPr lang="en-US" altLang="zh-CN" sz="2400" baseline="-25000" dirty="0" err="1"/>
              <a:t>b</a:t>
            </a:r>
            <a:r>
              <a:rPr lang="zh-CN" altLang="zh-CN" sz="2400" b="1" dirty="0"/>
              <a:t>＝</a:t>
            </a:r>
            <a:r>
              <a:rPr lang="en-US" altLang="zh-CN" sz="2400" dirty="0"/>
              <a:t>102</a:t>
            </a:r>
            <a:r>
              <a:rPr lang="en-US" altLang="zh-CN" sz="2400" dirty="0">
                <a:sym typeface="Symbol" panose="05050102010706020507" pitchFamily="18" charset="2"/>
              </a:rPr>
              <a:t></a:t>
            </a:r>
            <a:r>
              <a:rPr lang="en-US" altLang="zh-CN" sz="2400" dirty="0"/>
              <a:t>kPa</a:t>
            </a:r>
            <a:r>
              <a:rPr lang="zh-CN" altLang="zh-CN" sz="2400" dirty="0"/>
              <a:t>，环境温度</a:t>
            </a:r>
            <a:r>
              <a:rPr lang="en-US" altLang="zh-CN" sz="2400" i="1" dirty="0"/>
              <a:t>t</a:t>
            </a:r>
            <a:r>
              <a:rPr lang="en-US" altLang="zh-CN" sz="2400" baseline="-25000" dirty="0"/>
              <a:t>0</a:t>
            </a:r>
            <a:r>
              <a:rPr lang="zh-CN" altLang="zh-CN" sz="2400" b="1" dirty="0"/>
              <a:t>＝</a:t>
            </a:r>
            <a:r>
              <a:rPr lang="en-US" altLang="zh-CN" sz="2400" dirty="0"/>
              <a:t>27</a:t>
            </a:r>
            <a:r>
              <a:rPr lang="en-US" altLang="zh-CN" sz="2400" dirty="0">
                <a:sym typeface="Symbol" panose="05050102010706020507" pitchFamily="18" charset="2"/>
              </a:rPr>
              <a:t></a:t>
            </a:r>
            <a:r>
              <a:rPr lang="en-US" altLang="zh-CN" sz="2400" dirty="0"/>
              <a:t>C</a:t>
            </a:r>
            <a:r>
              <a:rPr lang="zh-CN" altLang="zh-CN" sz="2400" dirty="0"/>
              <a:t>。当气缸内的气体与外界处于热平衡时，把活塞重物拿去</a:t>
            </a:r>
            <a:r>
              <a:rPr lang="en-US" altLang="zh-CN" sz="2400" dirty="0"/>
              <a:t>100</a:t>
            </a:r>
            <a:r>
              <a:rPr lang="en-US" altLang="zh-CN" sz="2400" dirty="0">
                <a:sym typeface="Symbol" panose="05050102010706020507" pitchFamily="18" charset="2"/>
              </a:rPr>
              <a:t></a:t>
            </a:r>
            <a:r>
              <a:rPr lang="en-US" altLang="zh-CN" sz="2400" dirty="0"/>
              <a:t>kg</a:t>
            </a:r>
            <a:r>
              <a:rPr lang="zh-CN" altLang="zh-CN" sz="2400" dirty="0"/>
              <a:t>，活塞将会突然上升，最后达到新的热力平衡。假定活塞与气缸壁之间无摩擦，气缸壁为良导热材料，求活塞上升的距离</a:t>
            </a:r>
            <a:r>
              <a:rPr lang="en-US" altLang="zh-CN" sz="2400" i="1" dirty="0"/>
              <a:t>ΔH</a:t>
            </a:r>
            <a:r>
              <a:rPr lang="zh-CN" altLang="zh-CN" sz="2400" dirty="0"/>
              <a:t>和气体的换热量</a:t>
            </a:r>
            <a:r>
              <a:rPr lang="en-US" altLang="zh-CN" sz="2400" i="1" dirty="0"/>
              <a:t>Q</a:t>
            </a:r>
            <a:r>
              <a:rPr lang="zh-CN" altLang="zh-CN" sz="2400" dirty="0"/>
              <a:t>。（取</a:t>
            </a:r>
            <a:r>
              <a:rPr lang="en-US" altLang="zh-CN" sz="2400" i="1" dirty="0"/>
              <a:t>g</a:t>
            </a:r>
            <a:r>
              <a:rPr lang="zh-CN" altLang="zh-CN" sz="2400" dirty="0"/>
              <a:t>＝</a:t>
            </a:r>
            <a:r>
              <a:rPr lang="en-US" altLang="zh-CN" sz="2400" dirty="0"/>
              <a:t>9.8</a:t>
            </a:r>
            <a:r>
              <a:rPr lang="en-US" altLang="zh-CN" sz="2400" dirty="0">
                <a:sym typeface="Symbol" panose="05050102010706020507" pitchFamily="18" charset="2"/>
              </a:rPr>
              <a:t></a:t>
            </a:r>
            <a:r>
              <a:rPr lang="en-US" altLang="zh-CN" sz="2400" dirty="0"/>
              <a:t>m/s</a:t>
            </a:r>
            <a:r>
              <a:rPr lang="en-US" altLang="zh-CN" sz="2400" baseline="30000" dirty="0"/>
              <a:t>2</a:t>
            </a:r>
            <a:r>
              <a:rPr lang="zh-CN" altLang="zh-CN" sz="2400" dirty="0"/>
              <a:t>）</a:t>
            </a:r>
            <a:r>
              <a:rPr lang="en-US" altLang="zh-CN" sz="2400" dirty="0"/>
              <a:t> </a:t>
            </a:r>
            <a:endParaRPr lang="zh-CN" altLang="en-US" sz="2400" dirty="0"/>
          </a:p>
        </p:txBody>
      </p:sp>
      <p:pic>
        <p:nvPicPr>
          <p:cNvPr id="105474" name="Picture 2" descr="0214"/>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76256" y="4293096"/>
            <a:ext cx="1933203" cy="14669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280012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pPr marL="0" indent="0">
              <a:buNone/>
            </a:pPr>
            <a:r>
              <a:rPr lang="zh-CN" altLang="en-US" sz="2400" dirty="0" smtClean="0"/>
              <a:t>例</a:t>
            </a:r>
            <a:r>
              <a:rPr lang="en-US" altLang="zh-CN" sz="2400" dirty="0" smtClean="0"/>
              <a:t>6</a:t>
            </a:r>
            <a:r>
              <a:rPr lang="zh-CN" altLang="en-US" sz="2400" dirty="0" smtClean="0"/>
              <a:t>：</a:t>
            </a:r>
            <a:r>
              <a:rPr lang="zh-CN" altLang="zh-CN" sz="2400" dirty="0"/>
              <a:t>某燃气轮机装置</a:t>
            </a:r>
            <a:r>
              <a:rPr lang="en-US" altLang="zh-CN" sz="2400" dirty="0"/>
              <a:t>,</a:t>
            </a:r>
            <a:r>
              <a:rPr lang="zh-CN" altLang="zh-CN" sz="2400" dirty="0"/>
              <a:t>在稳定工况下工作，压气机进口处气体的焓为</a:t>
            </a:r>
            <a:r>
              <a:rPr lang="en-US" altLang="zh-CN" sz="2400" i="1" dirty="0"/>
              <a:t>h</a:t>
            </a:r>
            <a:r>
              <a:rPr lang="en-US" altLang="zh-CN" sz="2400" baseline="-25000" dirty="0"/>
              <a:t>1</a:t>
            </a:r>
            <a:r>
              <a:rPr lang="zh-CN" altLang="zh-CN" sz="2400" dirty="0"/>
              <a:t>＝</a:t>
            </a:r>
            <a:r>
              <a:rPr lang="en-US" altLang="zh-CN" sz="2400" dirty="0"/>
              <a:t>280 kJ/kg</a:t>
            </a:r>
            <a:r>
              <a:rPr lang="zh-CN" altLang="zh-CN" sz="2400" dirty="0"/>
              <a:t>，出口处气体的焓为</a:t>
            </a:r>
            <a:r>
              <a:rPr lang="en-US" altLang="zh-CN" sz="2400" i="1" dirty="0"/>
              <a:t>h</a:t>
            </a:r>
            <a:r>
              <a:rPr lang="en-US" altLang="zh-CN" sz="2400" baseline="-25000" dirty="0"/>
              <a:t>2</a:t>
            </a:r>
            <a:r>
              <a:rPr lang="zh-CN" altLang="zh-CN" sz="2400" dirty="0"/>
              <a:t>＝</a:t>
            </a:r>
            <a:r>
              <a:rPr lang="en-US" altLang="zh-CN" sz="2400" dirty="0"/>
              <a:t>560 kJ/kg</a:t>
            </a:r>
            <a:r>
              <a:rPr lang="zh-CN" altLang="zh-CN" sz="2400" dirty="0"/>
              <a:t>，每</a:t>
            </a:r>
            <a:r>
              <a:rPr lang="en-US" altLang="zh-CN" sz="2400" dirty="0"/>
              <a:t>kg</a:t>
            </a:r>
            <a:r>
              <a:rPr lang="zh-CN" altLang="zh-CN" sz="2400" dirty="0"/>
              <a:t>气体流经燃烧室的吸热量为 </a:t>
            </a:r>
            <a:r>
              <a:rPr lang="en-US" altLang="zh-CN" sz="2400" i="1" dirty="0"/>
              <a:t>q</a:t>
            </a:r>
            <a:r>
              <a:rPr lang="en-US" altLang="zh-CN" sz="2400" baseline="-25000" dirty="0"/>
              <a:t>2-3</a:t>
            </a:r>
            <a:r>
              <a:rPr lang="en-US" altLang="zh-CN" sz="2400" dirty="0"/>
              <a:t>=650 kJ/kg</a:t>
            </a:r>
            <a:r>
              <a:rPr lang="zh-CN" altLang="zh-CN" sz="2400" dirty="0"/>
              <a:t>，流经涡轮作功后，出口处气体的焓为</a:t>
            </a:r>
            <a:r>
              <a:rPr lang="en-US" altLang="zh-CN" sz="2400" i="1" dirty="0"/>
              <a:t>h</a:t>
            </a:r>
            <a:r>
              <a:rPr lang="en-US" altLang="zh-CN" sz="2400" baseline="-25000" dirty="0"/>
              <a:t>4</a:t>
            </a:r>
            <a:r>
              <a:rPr lang="zh-CN" altLang="zh-CN" sz="2400" dirty="0"/>
              <a:t>＝</a:t>
            </a:r>
            <a:r>
              <a:rPr lang="en-US" altLang="zh-CN" sz="2400" dirty="0"/>
              <a:t>750 kJ/kg</a:t>
            </a:r>
            <a:r>
              <a:rPr lang="zh-CN" altLang="zh-CN" sz="2400" dirty="0"/>
              <a:t>。忽略燃气轮机进出口气体的动、位能差及加入的燃料量，试求：</a:t>
            </a:r>
          </a:p>
          <a:p>
            <a:pPr lvl="0"/>
            <a:r>
              <a:rPr lang="zh-CN" altLang="zh-CN" sz="2400" dirty="0"/>
              <a:t>每</a:t>
            </a:r>
            <a:r>
              <a:rPr lang="en-US" altLang="zh-CN" sz="2400" dirty="0"/>
              <a:t>kg</a:t>
            </a:r>
            <a:r>
              <a:rPr lang="zh-CN" altLang="zh-CN" sz="2400" dirty="0"/>
              <a:t>气体流经涡轮时所作的功；</a:t>
            </a:r>
          </a:p>
          <a:p>
            <a:pPr lvl="0"/>
            <a:r>
              <a:rPr lang="zh-CN" altLang="zh-CN" sz="2400" dirty="0"/>
              <a:t>每</a:t>
            </a:r>
            <a:r>
              <a:rPr lang="en-US" altLang="zh-CN" sz="2400" dirty="0"/>
              <a:t>kg</a:t>
            </a:r>
            <a:r>
              <a:rPr lang="zh-CN" altLang="zh-CN" sz="2400" dirty="0"/>
              <a:t>气体流经燃气轮机装置时，装置对外所作的功及其热效率；</a:t>
            </a:r>
          </a:p>
          <a:p>
            <a:pPr lvl="0"/>
            <a:r>
              <a:rPr lang="zh-CN" altLang="zh-CN" sz="2400" dirty="0"/>
              <a:t>若气体流量为</a:t>
            </a:r>
            <a:r>
              <a:rPr lang="en-US" altLang="zh-CN" sz="2400" dirty="0"/>
              <a:t>5 kg/s</a:t>
            </a:r>
            <a:r>
              <a:rPr lang="zh-CN" altLang="zh-CN" sz="2400" dirty="0"/>
              <a:t>，计算燃气轮机装置的功率；</a:t>
            </a:r>
          </a:p>
          <a:p>
            <a:pPr marL="0" indent="0">
              <a:buNone/>
            </a:pPr>
            <a:endParaRPr lang="zh-CN" altLang="en-US" dirty="0"/>
          </a:p>
        </p:txBody>
      </p:sp>
    </p:spTree>
    <p:extLst>
      <p:ext uri="{BB962C8B-B14F-4D97-AF65-F5344CB8AC3E}">
        <p14:creationId xmlns:p14="http://schemas.microsoft.com/office/powerpoint/2010/main" val="396718158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ChangeArrowheads="1"/>
          </p:cNvSpPr>
          <p:nvPr/>
        </p:nvSpPr>
        <p:spPr bwMode="auto">
          <a:xfrm>
            <a:off x="430202" y="1725609"/>
            <a:ext cx="5927747" cy="1532727"/>
          </a:xfrm>
          <a:prstGeom prst="rect">
            <a:avLst/>
          </a:prstGeom>
          <a:noFill/>
          <a:ln w="9525">
            <a:noFill/>
            <a:miter lim="800000"/>
            <a:headEnd/>
            <a:tailEnd/>
          </a:ln>
          <a:effectLst/>
        </p:spPr>
        <p:txBody>
          <a:bodyPr wrap="square">
            <a:spAutoFit/>
          </a:bodyPr>
          <a:lstStyle/>
          <a:p>
            <a:pPr>
              <a:lnSpc>
                <a:spcPct val="130000"/>
              </a:lnSpc>
            </a:pPr>
            <a:r>
              <a:rPr lang="zh-CN" altLang="en-US" sz="3600" dirty="0">
                <a:solidFill>
                  <a:srgbClr val="3333FF"/>
                </a:solidFill>
                <a:latin typeface="微软雅黑" pitchFamily="34" charset="-122"/>
                <a:ea typeface="微软雅黑" pitchFamily="34" charset="-122"/>
              </a:rPr>
              <a:t>作业：           </a:t>
            </a:r>
          </a:p>
          <a:p>
            <a:pPr>
              <a:lnSpc>
                <a:spcPct val="130000"/>
              </a:lnSpc>
            </a:pPr>
            <a:r>
              <a:rPr lang="en-US" altLang="zh-CN" sz="3600" dirty="0">
                <a:solidFill>
                  <a:srgbClr val="3333FF"/>
                </a:solidFill>
                <a:latin typeface="微软雅黑" pitchFamily="34" charset="-122"/>
                <a:ea typeface="微软雅黑" pitchFamily="34" charset="-122"/>
              </a:rPr>
              <a:t>           4.14,  4.15  </a:t>
            </a:r>
          </a:p>
        </p:txBody>
      </p:sp>
      <p:sp>
        <p:nvSpPr>
          <p:cNvPr id="4" name="矩形 3"/>
          <p:cNvSpPr/>
          <p:nvPr/>
        </p:nvSpPr>
        <p:spPr>
          <a:xfrm>
            <a:off x="7956376" y="6425952"/>
            <a:ext cx="2016224" cy="4320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chemeClr val="tx1"/>
                </a:solidFill>
                <a:latin typeface="黑体" pitchFamily="49" charset="-122"/>
                <a:ea typeface="黑体" pitchFamily="49" charset="-122"/>
              </a:rPr>
              <a:t>64</a:t>
            </a:r>
            <a:endParaRPr lang="zh-CN" altLang="en-US" sz="2000" b="1" dirty="0">
              <a:solidFill>
                <a:schemeClr val="tx1"/>
              </a:solidFill>
              <a:latin typeface="黑体" pitchFamily="49" charset="-122"/>
              <a:ea typeface="黑体" pitchFamily="49" charset="-122"/>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wjtu 建环">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4836</TotalTime>
  <Words>4065</Words>
  <Application>Microsoft Office PowerPoint</Application>
  <PresentationFormat>全屏显示(4:3)</PresentationFormat>
  <Paragraphs>380</Paragraphs>
  <Slides>67</Slides>
  <Notes>23</Notes>
  <HiddenSlides>0</HiddenSlides>
  <MMClips>0</MMClips>
  <ScaleCrop>false</ScaleCrop>
  <HeadingPairs>
    <vt:vector size="8" baseType="variant">
      <vt:variant>
        <vt:lpstr>已用的字体</vt:lpstr>
      </vt:variant>
      <vt:variant>
        <vt:i4>10</vt:i4>
      </vt:variant>
      <vt:variant>
        <vt:lpstr>主题</vt:lpstr>
      </vt:variant>
      <vt:variant>
        <vt:i4>2</vt:i4>
      </vt:variant>
      <vt:variant>
        <vt:lpstr>嵌入 OLE 服务器</vt:lpstr>
      </vt:variant>
      <vt:variant>
        <vt:i4>3</vt:i4>
      </vt:variant>
      <vt:variant>
        <vt:lpstr>幻灯片标题</vt:lpstr>
      </vt:variant>
      <vt:variant>
        <vt:i4>67</vt:i4>
      </vt:variant>
    </vt:vector>
  </HeadingPairs>
  <TitlesOfParts>
    <vt:vector size="82" baseType="lpstr">
      <vt:lpstr>方正书宋简体</vt:lpstr>
      <vt:lpstr>黑体</vt:lpstr>
      <vt:lpstr>宋体</vt:lpstr>
      <vt:lpstr>微软雅黑</vt:lpstr>
      <vt:lpstr>Arial</vt:lpstr>
      <vt:lpstr>Bernard MT Condensed</vt:lpstr>
      <vt:lpstr>Calibri</vt:lpstr>
      <vt:lpstr>Symbol</vt:lpstr>
      <vt:lpstr>Times New Roman</vt:lpstr>
      <vt:lpstr>Wingdings</vt:lpstr>
      <vt:lpstr>Office 主题</vt:lpstr>
      <vt:lpstr>swjtu 建环</vt:lpstr>
      <vt:lpstr>公式</vt:lpstr>
      <vt:lpstr>MathType 6.0 Equation</vt:lpstr>
      <vt:lpstr>Equation</vt:lpstr>
      <vt:lpstr>第四章  热力学第二定律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ThinkPad</dc:creator>
  <cp:lastModifiedBy>86137</cp:lastModifiedBy>
  <cp:revision>511</cp:revision>
  <dcterms:created xsi:type="dcterms:W3CDTF">2013-08-29T08:41:10Z</dcterms:created>
  <dcterms:modified xsi:type="dcterms:W3CDTF">2022-10-13T01:43:33Z</dcterms:modified>
</cp:coreProperties>
</file>