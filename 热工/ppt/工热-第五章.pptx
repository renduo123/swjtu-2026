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8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2" r:id="rId25"/>
    <p:sldId id="278" r:id="rId26"/>
    <p:sldId id="279" r:id="rId27"/>
    <p:sldId id="289" r:id="rId28"/>
    <p:sldId id="280" r:id="rId29"/>
    <p:sldId id="281" r:id="rId30"/>
    <p:sldId id="290" r:id="rId31"/>
    <p:sldId id="282" r:id="rId32"/>
    <p:sldId id="284" r:id="rId33"/>
    <p:sldId id="283" r:id="rId34"/>
    <p:sldId id="285" r:id="rId35"/>
    <p:sldId id="291" r:id="rId36"/>
  </p:sldIdLst>
  <p:sldSz cx="9144000" cy="6858000" type="screen4x3"/>
  <p:notesSz cx="6858000" cy="9144000"/>
  <p:custShowLst>
    <p:custShow name="自定义放映 1" id="0">
      <p:sldLst>
        <p:sld r:id="rId3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47E3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83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057C4-DBEA-4726-A2D9-61CFA61A520C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88E2A-4857-4838-B5EC-57412002DD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08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wjtu 建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571612"/>
            <a:ext cx="8229600" cy="45259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Picture 2" descr="C:\Users\nathan\Desktop\20130513校长报告0511\幻灯片4.PNG"/>
          <p:cNvPicPr>
            <a:picLocks noChangeAspect="1" noChangeArrowheads="1"/>
          </p:cNvPicPr>
          <p:nvPr userDrawn="1"/>
        </p:nvPicPr>
        <p:blipFill>
          <a:blip r:embed="rId2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等腰三角形 9"/>
          <p:cNvSpPr/>
          <p:nvPr userDrawn="1"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4786338" y="642918"/>
            <a:ext cx="33575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第五章   </a:t>
            </a:r>
            <a:r>
              <a:rPr lang="zh-CN" altLang="en-US" sz="2400" b="1" kern="12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水蒸气</a:t>
            </a:r>
            <a:endParaRPr lang="zh-CN" altLang="en-US" sz="2400" b="1" dirty="0">
              <a:solidFill>
                <a:srgbClr val="7F7F7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571472" y="142852"/>
            <a:ext cx="2704384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  <p:grpSp>
        <p:nvGrpSpPr>
          <p:cNvPr id="2" name="组合 14"/>
          <p:cNvGrpSpPr>
            <a:grpSpLocks noChangeAspect="1"/>
          </p:cNvGrpSpPr>
          <p:nvPr userDrawn="1"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2019/11/25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7.wmf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1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2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26.wmf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4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8032" y="1556792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pc="400" dirty="0">
                <a:latin typeface="黑体" pitchFamily="49" charset="-122"/>
                <a:ea typeface="黑体" pitchFamily="49" charset="-122"/>
              </a:rPr>
              <a:t>第五章  水蒸气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Picture 41" descr="C:\Users\nathan\Desktop\20130513校长报告0511\幻灯片1.PNG"/>
          <p:cNvPicPr>
            <a:picLocks noChangeAspect="1" noChangeArrowheads="1"/>
          </p:cNvPicPr>
          <p:nvPr/>
        </p:nvPicPr>
        <p:blipFill>
          <a:blip r:embed="rId2" cstate="print"/>
          <a:srcRect r="-17" b="86746"/>
          <a:stretch>
            <a:fillRect/>
          </a:stretch>
        </p:blipFill>
        <p:spPr bwMode="auto">
          <a:xfrm>
            <a:off x="0" y="0"/>
            <a:ext cx="9144000" cy="90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1" descr="C:\Users\nathan\Desktop\20130513校长报告0511\幻灯片1.PNG"/>
          <p:cNvPicPr>
            <a:picLocks noChangeAspect="1" noChangeArrowheads="1"/>
          </p:cNvPicPr>
          <p:nvPr/>
        </p:nvPicPr>
        <p:blipFill>
          <a:blip r:embed="rId2" cstate="print"/>
          <a:srcRect t="46861"/>
          <a:stretch>
            <a:fillRect/>
          </a:stretch>
        </p:blipFill>
        <p:spPr bwMode="auto">
          <a:xfrm>
            <a:off x="0" y="3213000"/>
            <a:ext cx="9145888" cy="3645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428596" y="2060848"/>
            <a:ext cx="8031836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5A47E3"/>
                </a:solidFill>
                <a:latin typeface="微软雅黑" pitchFamily="34" charset="-122"/>
                <a:ea typeface="微软雅黑" pitchFamily="34" charset="-122"/>
              </a:rPr>
              <a:t>水蒸气具有良好的膨胀性能与传热性能，资源丰富，成本低、无毒无味，是热力工程中广泛应用的工质。</a:t>
            </a:r>
            <a:endParaRPr lang="en-US" altLang="zh-CN" sz="2800" dirty="0">
              <a:solidFill>
                <a:srgbClr val="5A47E3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通常情况下，蒸气的分子间距较小，其热力学性质与理想气体差异较大，理想气体的参数关系式不能用于蒸气。</a:t>
            </a:r>
          </a:p>
        </p:txBody>
      </p:sp>
      <p:sp>
        <p:nvSpPr>
          <p:cNvPr id="4" name="矩形 3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2042" y="1465620"/>
            <a:ext cx="3711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为什么要研究水蒸气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?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96100" y="1417336"/>
            <a:ext cx="4143404" cy="571504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395536" y="1412776"/>
            <a:ext cx="8208912" cy="263117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  除水蒸气外，工程上常用的蒸气还有石油气和各种制冷剂蒸气（如氨蒸气、氟利昂蒸气）等。各种蒸气的热力学性质尽管不完全相同，但仍具有许多类似之处，其基本概念和分析研究方法都相同。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  <a:p>
            <a:pPr indent="504000">
              <a:lnSpc>
                <a:spcPct val="150000"/>
              </a:lnSpc>
              <a:spcBef>
                <a:spcPts val="1200"/>
              </a:spcBef>
            </a:pP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4348261"/>
            <a:ext cx="8208912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  因此，本章以水蒸气为例进行讨论，其研究方法及所得基本结论适用于其它蒸气</a:t>
            </a:r>
            <a:r>
              <a:rPr lang="zh-CN" altLang="en-US" sz="2800" b="1" dirty="0"/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642910" y="2060848"/>
            <a:ext cx="7643866" cy="1224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物质从液态变成气态的过程，称为汽化。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汽化有两种形式：蒸发和沸腾。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921" y="1052736"/>
            <a:ext cx="25728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5-1 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基本概念 </a:t>
            </a: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>
            <a:off x="928662" y="1655695"/>
            <a:ext cx="10615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汽化</a:t>
            </a:r>
          </a:p>
        </p:txBody>
      </p:sp>
      <p:sp>
        <p:nvSpPr>
          <p:cNvPr id="35" name="矩形 34"/>
          <p:cNvSpPr/>
          <p:nvPr/>
        </p:nvSpPr>
        <p:spPr>
          <a:xfrm>
            <a:off x="214282" y="1700808"/>
            <a:ext cx="424598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1.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67544" y="4005064"/>
            <a:ext cx="7827932" cy="1948206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  <a:tabLst>
                <a:tab pos="457200" algn="l"/>
              </a:tabLst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在液体表面进行的汽化过程称为蒸发。蒸发可以在敞开的物体表面进行，也可以在密闭的容器内进行。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在任何温度下，蒸发都可以进行。</a:t>
            </a:r>
            <a:endParaRPr lang="zh-CN" altLang="en-US" sz="2800" b="1" dirty="0">
              <a:solidFill>
                <a:srgbClr val="3333F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0924" y="3481844"/>
            <a:ext cx="1564852" cy="52322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5A47E3"/>
                </a:solidFill>
                <a:latin typeface="微软雅黑" pitchFamily="34" charset="-122"/>
                <a:ea typeface="微软雅黑" pitchFamily="34" charset="-122"/>
              </a:rPr>
              <a:t>(1)  </a:t>
            </a:r>
            <a:r>
              <a:rPr lang="zh-CN" altLang="en-US" sz="2800" dirty="0">
                <a:solidFill>
                  <a:srgbClr val="5A47E3"/>
                </a:solidFill>
                <a:latin typeface="微软雅黑" pitchFamily="34" charset="-122"/>
                <a:ea typeface="微软雅黑" pitchFamily="34" charset="-122"/>
              </a:rPr>
              <a:t>蒸发</a:t>
            </a:r>
            <a:endParaRPr lang="zh-CN" altLang="en-US" dirty="0">
              <a:solidFill>
                <a:srgbClr val="5A47E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4980" y="1196752"/>
            <a:ext cx="77153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蒸发既可以靠消耗自身的内能汽化，也可以靠外界供给能量汽化。前者称为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自然蒸发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，后者称为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强制蒸发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800" dirty="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4348" y="3284984"/>
            <a:ext cx="22145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蒸发的机理</a:t>
            </a: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zh-CN" altLang="en-US" sz="28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348" y="3855348"/>
            <a:ext cx="7858180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蒸发是由于液体表面能量较高的分子，克服邻近分子的引力作用而脱离液体，逸入液体外的空间而引起的。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1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642910" y="1787066"/>
            <a:ext cx="7786742" cy="135390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  <a:spcBef>
                <a:spcPts val="500"/>
              </a:spcBef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液体温度越高，蒸发表面积越大，液面上方蒸气分子的密度越小，蒸发越快。</a:t>
            </a:r>
          </a:p>
        </p:txBody>
      </p:sp>
      <p:sp>
        <p:nvSpPr>
          <p:cNvPr id="5" name="矩形 4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5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2910" y="3696982"/>
            <a:ext cx="7673506" cy="13161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蒸发过程中，由于能量较高的分子逸出液面，液体内的分子平均动能减少而使液体温度降低。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6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>
            <a:off x="392737" y="1302392"/>
            <a:ext cx="1669366" cy="52322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5A47E3"/>
                </a:solidFill>
                <a:latin typeface="微软雅黑" pitchFamily="34" charset="-122"/>
                <a:ea typeface="微软雅黑" pitchFamily="34" charset="-122"/>
              </a:rPr>
              <a:t>(2)  </a:t>
            </a:r>
            <a:r>
              <a:rPr lang="zh-CN" altLang="en-US" sz="2800" dirty="0">
                <a:solidFill>
                  <a:srgbClr val="5A47E3"/>
                </a:solidFill>
                <a:latin typeface="微软雅黑" pitchFamily="34" charset="-122"/>
                <a:ea typeface="微软雅黑" pitchFamily="34" charset="-122"/>
              </a:rPr>
              <a:t>沸腾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14348" y="1916832"/>
            <a:ext cx="7786742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tabLst>
                <a:tab pos="457200" algn="l"/>
              </a:tabLst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在液体表面和内部同时进行的剧烈的汽化现象称为沸腾 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indent="266700">
              <a:lnSpc>
                <a:spcPct val="150000"/>
              </a:lnSpc>
              <a:tabLst>
                <a:tab pos="457200" algn="l"/>
              </a:tabLst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endParaRPr lang="zh-CN" altLang="en-US" sz="2800" b="1" dirty="0">
              <a:solidFill>
                <a:srgbClr val="3333FF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4348" y="3861048"/>
            <a:ext cx="7786742" cy="194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     在一定压力下，当液体温度达到该压力所对应的饱和温度（沸点）时，液体内部会产生大量气泡，气泡上升到液面破裂而释放大量蒸气。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p:sp>
        <p:nvSpPr>
          <p:cNvPr id="6" name="TextBox 37"/>
          <p:cNvSpPr txBox="1">
            <a:spLocks noChangeArrowheads="1"/>
          </p:cNvSpPr>
          <p:nvPr/>
        </p:nvSpPr>
        <p:spPr bwMode="auto">
          <a:xfrm>
            <a:off x="428596" y="3284984"/>
            <a:ext cx="3338732" cy="58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266700">
              <a:lnSpc>
                <a:spcPct val="125000"/>
              </a:lnSpc>
              <a:tabLst>
                <a:tab pos="457200" algn="l"/>
              </a:tabLst>
            </a:pP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沸腾的机理</a:t>
            </a: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28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7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7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447107" y="3090620"/>
            <a:ext cx="7989768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饱和温度  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一定压力下的沸腾温度。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饱和压力 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与沸腾温度对应的压力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5A47E3"/>
                </a:solidFill>
                <a:latin typeface="微软雅黑" pitchFamily="34" charset="-122"/>
                <a:ea typeface="微软雅黑" pitchFamily="34" charset="-122"/>
              </a:rPr>
              <a:t>二者一</a:t>
            </a:r>
            <a:r>
              <a:rPr lang="zh-CN" altLang="en-US" sz="2000" dirty="0">
                <a:solidFill>
                  <a:srgbClr val="5A47E3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5A47E3"/>
                </a:solidFill>
                <a:latin typeface="微软雅黑" pitchFamily="34" charset="-122"/>
                <a:ea typeface="微软雅黑" pitchFamily="34" charset="-122"/>
              </a:rPr>
              <a:t>一对应，互相不独立。</a:t>
            </a:r>
            <a:endParaRPr lang="en-US" altLang="zh-CN" sz="2800" dirty="0">
              <a:solidFill>
                <a:srgbClr val="5A47E3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工程上通常把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atm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下液体的沸点称为正常沸点。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819" y="1506444"/>
            <a:ext cx="8001056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  加热不是使液体沸腾的唯一途径，降低压力也可以使液体沸腾。沸腾时的液体为饱和液体。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35819" y="4429132"/>
            <a:ext cx="7736581" cy="137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indent="504000">
              <a:lnSpc>
                <a:spcPct val="120000"/>
              </a:lnSpc>
              <a:spcBef>
                <a:spcPts val="1200"/>
              </a:spcBef>
            </a:pP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8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14282" y="2060848"/>
            <a:ext cx="8286808" cy="143104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1">
              <a:lnSpc>
                <a:spcPct val="150000"/>
              </a:lnSpc>
              <a:tabLst>
                <a:tab pos="266700" algn="l"/>
              </a:tabLst>
            </a:pP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自然蒸发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饱和状态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蒸发与凝结处于动态平衡的状态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发生在密闭容器内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>
            <a:off x="857224" y="1412776"/>
            <a:ext cx="17705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饱和状态</a:t>
            </a:r>
          </a:p>
        </p:txBody>
      </p:sp>
      <p:sp>
        <p:nvSpPr>
          <p:cNvPr id="35" name="矩形 34"/>
          <p:cNvSpPr/>
          <p:nvPr/>
        </p:nvSpPr>
        <p:spPr>
          <a:xfrm>
            <a:off x="285720" y="1412776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2.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4714884"/>
            <a:ext cx="8543924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lvl="1">
              <a:lnSpc>
                <a:spcPct val="125000"/>
              </a:lnSpc>
              <a:tabLst>
                <a:tab pos="266700" algn="l"/>
              </a:tabLst>
            </a:pPr>
            <a:r>
              <a:rPr lang="zh-CN" altLang="en-US" sz="2800" b="1" dirty="0">
                <a:solidFill>
                  <a:srgbClr val="9900CC"/>
                </a:solidFill>
              </a:rPr>
              <a:t>     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14282" y="3789040"/>
            <a:ext cx="8358246" cy="202021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lvl="1">
              <a:lnSpc>
                <a:spcPct val="145000"/>
              </a:lnSpc>
              <a:tabLst>
                <a:tab pos="266700" algn="l"/>
              </a:tabLst>
            </a:pP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强制蒸发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饱和状态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沸腾的液体为饱和液体，对饱和液体继续加热， 液体不断蒸发汽化，直至全部变为气体。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9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2948" y="1757715"/>
            <a:ext cx="7786742" cy="20313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从饱和液体到干饱和蒸汽的各状态均属饱和状态。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其压力、温度均为饱和压力和饱和温度，但其余参数各不相同</a:t>
            </a:r>
            <a:r>
              <a:rPr lang="zh-CN" altLang="en-US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（与理想气体的区别）。</a:t>
            </a:r>
            <a:endParaRPr lang="en-US" altLang="zh-CN" sz="28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10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428596" y="2357430"/>
            <a:ext cx="8329642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68" y="1143000"/>
            <a:ext cx="5143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5-2 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水蒸汽的定压发生过程</a:t>
            </a:r>
          </a:p>
        </p:txBody>
      </p:sp>
      <p:pic>
        <p:nvPicPr>
          <p:cNvPr id="9" name="Picture 14" descr="05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1857364"/>
            <a:ext cx="7715304" cy="2687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214414" y="4786322"/>
            <a:ext cx="17283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预热阶段 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3786182" y="4786322"/>
            <a:ext cx="1612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汽化阶段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6357950" y="4786322"/>
            <a:ext cx="1612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过热阶段</a:t>
            </a:r>
          </a:p>
        </p:txBody>
      </p:sp>
      <p:grpSp>
        <p:nvGrpSpPr>
          <p:cNvPr id="16" name="Group 9"/>
          <p:cNvGrpSpPr>
            <a:grpSpLocks/>
          </p:cNvGrpSpPr>
          <p:nvPr/>
        </p:nvGrpSpPr>
        <p:grpSpPr bwMode="auto">
          <a:xfrm>
            <a:off x="1571604" y="5429264"/>
            <a:ext cx="4406900" cy="519112"/>
            <a:chOff x="624" y="3484"/>
            <a:chExt cx="2776" cy="327"/>
          </a:xfrm>
        </p:grpSpPr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624" y="3484"/>
              <a:ext cx="10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itchFamily="34" charset="-122"/>
                  <a:ea typeface="微软雅黑" pitchFamily="34" charset="-122"/>
                </a:rPr>
                <a:t>由过冷水</a:t>
              </a:r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>
              <a:off x="1659" y="3754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1614" y="3529"/>
              <a:ext cx="178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18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三个阶段、三种中间状态</a:t>
              </a:r>
            </a:p>
          </p:txBody>
        </p:sp>
      </p:grp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5857884" y="5429264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过热蒸汽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1142976" y="4500570"/>
            <a:ext cx="785818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rot="10800000" flipV="1">
            <a:off x="1928794" y="4500570"/>
            <a:ext cx="857256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14" idx="0"/>
          </p:cNvCxnSpPr>
          <p:nvPr/>
        </p:nvCxnSpPr>
        <p:spPr>
          <a:xfrm>
            <a:off x="2928926" y="4500570"/>
            <a:ext cx="1663706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endCxn id="14" idx="0"/>
          </p:cNvCxnSpPr>
          <p:nvPr/>
        </p:nvCxnSpPr>
        <p:spPr>
          <a:xfrm rot="10800000" flipV="1">
            <a:off x="4592632" y="4500570"/>
            <a:ext cx="1479566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endCxn id="15" idx="0"/>
          </p:cNvCxnSpPr>
          <p:nvPr/>
        </p:nvCxnSpPr>
        <p:spPr>
          <a:xfrm>
            <a:off x="6286512" y="4500570"/>
            <a:ext cx="877888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endCxn id="15" idx="0"/>
          </p:cNvCxnSpPr>
          <p:nvPr/>
        </p:nvCxnSpPr>
        <p:spPr>
          <a:xfrm rot="10800000" flipV="1">
            <a:off x="7164400" y="4500570"/>
            <a:ext cx="693748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圆角矩形 66"/>
          <p:cNvSpPr/>
          <p:nvPr/>
        </p:nvSpPr>
        <p:spPr>
          <a:xfrm>
            <a:off x="1214414" y="4786322"/>
            <a:ext cx="1571636" cy="500066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圆角矩形 67"/>
          <p:cNvSpPr/>
          <p:nvPr/>
        </p:nvSpPr>
        <p:spPr>
          <a:xfrm>
            <a:off x="3786182" y="4786322"/>
            <a:ext cx="1571636" cy="500066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圆角矩形 68"/>
          <p:cNvSpPr/>
          <p:nvPr/>
        </p:nvSpPr>
        <p:spPr>
          <a:xfrm>
            <a:off x="6357950" y="4786322"/>
            <a:ext cx="1643074" cy="500066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32" grpId="0"/>
      <p:bldP spid="67" grpId="0" animBg="1"/>
      <p:bldP spid="68" grpId="0" animBg="1"/>
      <p:bldP spid="6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11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1560" y="1543960"/>
            <a:ext cx="778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湿（饱和）蒸汽：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饱和水＋饱和蒸汽的混合物。 </a:t>
            </a: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>
            <a:off x="611560" y="2216524"/>
            <a:ext cx="28575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干度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en-US" sz="2800" i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湿度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y</a:t>
            </a:r>
            <a:r>
              <a:rPr lang="en-US" altLang="zh-CN" sz="2800" i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 </a:t>
            </a:r>
          </a:p>
        </p:txBody>
      </p:sp>
      <p:graphicFrame>
        <p:nvGraphicFramePr>
          <p:cNvPr id="798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959741"/>
              </p:ext>
            </p:extLst>
          </p:nvPr>
        </p:nvGraphicFramePr>
        <p:xfrm>
          <a:off x="1986604" y="2931276"/>
          <a:ext cx="4133209" cy="1121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" name="公式" r:id="rId4" imgW="1320480" imgH="355320" progId="Equation.3">
                  <p:embed/>
                </p:oleObj>
              </mc:Choice>
              <mc:Fallback>
                <p:oleObj name="公式" r:id="rId4" imgW="1320480" imgH="355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6604" y="2931276"/>
                        <a:ext cx="4133209" cy="11217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20770" y="4280264"/>
            <a:ext cx="6072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湿蒸汽中饱和水的质量；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90027"/>
              </p:ext>
            </p:extLst>
          </p:nvPr>
        </p:nvGraphicFramePr>
        <p:xfrm>
          <a:off x="1115616" y="4924021"/>
          <a:ext cx="576064" cy="559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" name="公式" r:id="rId6" imgW="190440" imgH="164880" progId="Equation.3">
                  <p:embed/>
                </p:oleObj>
              </mc:Choice>
              <mc:Fallback>
                <p:oleObj name="公式" r:id="rId6" imgW="190440" imgH="1648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15616" y="4924021"/>
                        <a:ext cx="576064" cy="559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520770" y="4994012"/>
            <a:ext cx="53525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湿蒸汽中饱和蒸汽的质量；</a:t>
            </a:r>
            <a:endParaRPr lang="en-US" altLang="zh-CN" sz="28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461792"/>
              </p:ext>
            </p:extLst>
          </p:nvPr>
        </p:nvGraphicFramePr>
        <p:xfrm>
          <a:off x="1115616" y="4268567"/>
          <a:ext cx="576064" cy="534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" name="公式" r:id="rId8" imgW="177480" imgH="164880" progId="Equation.3">
                  <p:embed/>
                </p:oleObj>
              </mc:Choice>
              <mc:Fallback>
                <p:oleObj name="公式" r:id="rId8" imgW="177480" imgH="1648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15616" y="4268567"/>
                        <a:ext cx="576064" cy="5349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8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12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14414" y="5333088"/>
            <a:ext cx="6731501" cy="76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5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过热蒸汽实际温度与相应饱和温度的温差。</a:t>
            </a:r>
          </a:p>
        </p:txBody>
      </p:sp>
      <p:sp>
        <p:nvSpPr>
          <p:cNvPr id="6" name="TextBox 37"/>
          <p:cNvSpPr txBox="1">
            <a:spLocks noChangeArrowheads="1"/>
          </p:cNvSpPr>
          <p:nvPr/>
        </p:nvSpPr>
        <p:spPr bwMode="auto">
          <a:xfrm>
            <a:off x="467545" y="1197809"/>
            <a:ext cx="1944216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液体热 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q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</a:t>
            </a: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  <p:sp>
        <p:nvSpPr>
          <p:cNvPr id="7" name="TextBox 37"/>
          <p:cNvSpPr txBox="1">
            <a:spLocks noChangeArrowheads="1"/>
          </p:cNvSpPr>
          <p:nvPr/>
        </p:nvSpPr>
        <p:spPr bwMode="auto">
          <a:xfrm>
            <a:off x="1187520" y="1848878"/>
            <a:ext cx="69128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预热阶段由未饱和水→饱和水所需热量。</a:t>
            </a:r>
          </a:p>
        </p:txBody>
      </p:sp>
      <p:sp>
        <p:nvSpPr>
          <p:cNvPr id="9" name="TextBox 37"/>
          <p:cNvSpPr txBox="1">
            <a:spLocks noChangeArrowheads="1"/>
          </p:cNvSpPr>
          <p:nvPr/>
        </p:nvSpPr>
        <p:spPr bwMode="auto">
          <a:xfrm>
            <a:off x="472846" y="2420888"/>
            <a:ext cx="2082096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汽化潜热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r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  <p:sp>
        <p:nvSpPr>
          <p:cNvPr id="11" name="TextBox 37"/>
          <p:cNvSpPr txBox="1">
            <a:spLocks noChangeArrowheads="1"/>
          </p:cNvSpPr>
          <p:nvPr/>
        </p:nvSpPr>
        <p:spPr bwMode="auto">
          <a:xfrm>
            <a:off x="1214414" y="3068960"/>
            <a:ext cx="72866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汽化阶段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饱和水→干饱和蒸汽所需热量。</a:t>
            </a:r>
          </a:p>
        </p:txBody>
      </p:sp>
      <p:sp>
        <p:nvSpPr>
          <p:cNvPr id="12" name="TextBox 37"/>
          <p:cNvSpPr txBox="1">
            <a:spLocks noChangeArrowheads="1"/>
          </p:cNvSpPr>
          <p:nvPr/>
        </p:nvSpPr>
        <p:spPr bwMode="auto">
          <a:xfrm>
            <a:off x="512624" y="3669149"/>
            <a:ext cx="2200898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过热热 </a:t>
            </a:r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q</a:t>
            </a:r>
            <a:r>
              <a:rPr lang="en-US" altLang="zh-CN" sz="28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sup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  <p:sp>
        <p:nvSpPr>
          <p:cNvPr id="13" name="TextBox 37"/>
          <p:cNvSpPr txBox="1">
            <a:spLocks noChangeArrowheads="1"/>
          </p:cNvSpPr>
          <p:nvPr/>
        </p:nvSpPr>
        <p:spPr bwMode="auto">
          <a:xfrm>
            <a:off x="1214414" y="4293096"/>
            <a:ext cx="72866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过热阶段干饱和蒸汽→过热蒸汽所需热量。</a:t>
            </a:r>
          </a:p>
        </p:txBody>
      </p:sp>
      <p:sp>
        <p:nvSpPr>
          <p:cNvPr id="14" name="TextBox 37"/>
          <p:cNvSpPr txBox="1">
            <a:spLocks noChangeArrowheads="1"/>
          </p:cNvSpPr>
          <p:nvPr/>
        </p:nvSpPr>
        <p:spPr bwMode="auto">
          <a:xfrm>
            <a:off x="520391" y="4904460"/>
            <a:ext cx="1956855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过热度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" grpId="0" animBg="1"/>
      <p:bldP spid="7" grpId="0"/>
      <p:bldP spid="9" grpId="0" animBg="1"/>
      <p:bldP spid="11" grpId="0"/>
      <p:bldP spid="12" grpId="0" animBg="1"/>
      <p:bldP spid="13" grpId="0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13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0" name="Picture 5" descr="05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1844824"/>
            <a:ext cx="6400800" cy="244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20003" y="1197333"/>
            <a:ext cx="7807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水蒸汽定压发生过程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800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p-v</a:t>
            </a:r>
            <a:r>
              <a:rPr lang="en-US" altLang="zh-CN" sz="2800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图和 </a:t>
            </a:r>
            <a:r>
              <a:rPr lang="en-US" altLang="zh-CN" sz="2800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T-s 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图上的表示：</a:t>
            </a:r>
            <a:endParaRPr lang="zh-CN" altLang="en-US" sz="2800" dirty="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9490" y="4377761"/>
            <a:ext cx="80724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↑→ </a:t>
            </a:r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q</a:t>
            </a:r>
            <a:r>
              <a:rPr lang="en-US" altLang="zh-CN" sz="2800" i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↑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↓,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当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时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，饱和水和干饱和蒸汽重合为一点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该点称为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临界点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。临界点所有参数称为临界参数。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14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1202832"/>
            <a:ext cx="39769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 eaLnBrk="0" hangingPunct="0">
              <a:spcBef>
                <a:spcPct val="200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水蒸汽的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p-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v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图和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T-s</a:t>
            </a:r>
            <a:r>
              <a:rPr lang="en-US" altLang="zh-CN" sz="2800" i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图</a:t>
            </a:r>
          </a:p>
        </p:txBody>
      </p:sp>
      <p:pic>
        <p:nvPicPr>
          <p:cNvPr id="6" name="Picture 5" descr="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7091" y="1844824"/>
            <a:ext cx="4267466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2040" y="1751183"/>
            <a:ext cx="3774869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339681"/>
              </p:ext>
            </p:extLst>
          </p:nvPr>
        </p:nvGraphicFramePr>
        <p:xfrm>
          <a:off x="1547664" y="5511359"/>
          <a:ext cx="58197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35" name="公式" r:id="rId6" imgW="2387600" imgH="241300" progId="Equation.3">
                  <p:embed/>
                </p:oleObj>
              </mc:Choice>
              <mc:Fallback>
                <p:oleObj name="公式" r:id="rId6" imgW="23876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5511359"/>
                        <a:ext cx="5819775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6837" y="4911240"/>
            <a:ext cx="2491027" cy="60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水的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临界点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15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986" y="1700808"/>
            <a:ext cx="807249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3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水蒸汽的 </a:t>
            </a:r>
            <a:r>
              <a:rPr lang="en-US" altLang="zh-CN" sz="2800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p-</a:t>
            </a:r>
            <a:r>
              <a:rPr lang="en-US" altLang="zh-CN" sz="2800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v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图和</a:t>
            </a:r>
            <a:r>
              <a:rPr lang="en-US" altLang="zh-CN" sz="2800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T-s</a:t>
            </a:r>
            <a:r>
              <a:rPr lang="en-US" altLang="zh-CN" sz="2800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图可概括为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一点、两线、三区、五态；</a:t>
            </a:r>
            <a:endParaRPr lang="en-US" altLang="zh-CN" sz="2800" dirty="0"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5A47E3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湿蒸汽区内，相对应的饱和压力线和饱和温度线为同一条水平线；</a:t>
            </a:r>
            <a:endParaRPr lang="en-US" altLang="zh-CN" sz="2800" dirty="0">
              <a:solidFill>
                <a:srgbClr val="5A47E3"/>
              </a:solidFill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随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↑→ </a:t>
            </a:r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q</a:t>
            </a:r>
            <a:r>
              <a:rPr lang="en-US" altLang="zh-CN" sz="28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↑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↓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，当 </a:t>
            </a:r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≥</a:t>
            </a:r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=0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800" i="1" dirty="0">
                <a:solidFill>
                  <a:srgbClr val="CC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dirty="0">
                <a:solidFill>
                  <a:srgbClr val="CC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en-US" altLang="zh-CN" sz="2800" i="1" dirty="0" err="1">
                <a:solidFill>
                  <a:srgbClr val="CC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aseline="-25000" dirty="0" err="1">
                <a:solidFill>
                  <a:srgbClr val="CC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无论 </a:t>
            </a:r>
            <a:r>
              <a:rPr lang="en-US" altLang="zh-CN" sz="2800" i="1" dirty="0">
                <a:solidFill>
                  <a:srgbClr val="CC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多大</a:t>
            </a:r>
            <a:r>
              <a:rPr lang="en-US" altLang="zh-CN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水蒸气都不会液化（永久气体）</a:t>
            </a:r>
            <a:endParaRPr lang="zh-CN" altLang="en-US" sz="2800" i="1" dirty="0">
              <a:solidFill>
                <a:srgbClr val="CC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6024" y="1196752"/>
            <a:ext cx="4716016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水蒸汽定压发生过程的特点：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16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428596" y="1596843"/>
            <a:ext cx="8215370" cy="176014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目前采用理论与实验相结合的方法，得出的有关水蒸气热力性质的计算方程十分复杂，只能用计算机计算，通常在工程上利用其图表。</a:t>
            </a: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>
            <a:off x="1000100" y="3429000"/>
            <a:ext cx="26243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零点的规定</a:t>
            </a:r>
          </a:p>
        </p:txBody>
      </p:sp>
      <p:sp>
        <p:nvSpPr>
          <p:cNvPr id="35" name="矩形 34"/>
          <p:cNvSpPr/>
          <p:nvPr/>
        </p:nvSpPr>
        <p:spPr>
          <a:xfrm>
            <a:off x="428596" y="3429000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1.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960574" y="3415630"/>
            <a:ext cx="405969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计算基准：水的三相点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008" y="1143000"/>
            <a:ext cx="4355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5-3  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水蒸气热力性质图表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65192"/>
              </p:ext>
            </p:extLst>
          </p:nvPr>
        </p:nvGraphicFramePr>
        <p:xfrm>
          <a:off x="1140615" y="4006244"/>
          <a:ext cx="2351265" cy="443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31" name="公式" r:id="rId4" imgW="1206500" imgH="228600" progId="Equation.3">
                  <p:embed/>
                </p:oleObj>
              </mc:Choice>
              <mc:Fallback>
                <p:oleObj name="公式" r:id="rId4" imgW="1206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615" y="4006244"/>
                        <a:ext cx="2351265" cy="4435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052336"/>
              </p:ext>
            </p:extLst>
          </p:nvPr>
        </p:nvGraphicFramePr>
        <p:xfrm>
          <a:off x="4193117" y="3951497"/>
          <a:ext cx="2107075" cy="48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32" name="公式" r:id="rId6" imgW="990600" imgH="228600" progId="Equation.3">
                  <p:embed/>
                </p:oleObj>
              </mc:Choice>
              <mc:Fallback>
                <p:oleObj name="公式" r:id="rId6" imgW="990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117" y="3951497"/>
                        <a:ext cx="2107075" cy="485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559465"/>
              </p:ext>
            </p:extLst>
          </p:nvPr>
        </p:nvGraphicFramePr>
        <p:xfrm>
          <a:off x="1187624" y="4509120"/>
          <a:ext cx="4824536" cy="468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33" name="公式" r:id="rId8" imgW="1968480" imgH="190440" progId="Equation.3">
                  <p:embed/>
                </p:oleObj>
              </mc:Choice>
              <mc:Fallback>
                <p:oleObj name="公式" r:id="rId8" imgW="19684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509120"/>
                        <a:ext cx="4824536" cy="468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122785"/>
              </p:ext>
            </p:extLst>
          </p:nvPr>
        </p:nvGraphicFramePr>
        <p:xfrm>
          <a:off x="1187624" y="5013176"/>
          <a:ext cx="3802798" cy="470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34" name="公式" r:id="rId10" imgW="1523880" imgH="190440" progId="Equation.3">
                  <p:embed/>
                </p:oleObj>
              </mc:Choice>
              <mc:Fallback>
                <p:oleObj name="公式" r:id="rId10" imgW="15238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013176"/>
                        <a:ext cx="3802798" cy="470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700486"/>
              </p:ext>
            </p:extLst>
          </p:nvPr>
        </p:nvGraphicFramePr>
        <p:xfrm>
          <a:off x="1187624" y="5517232"/>
          <a:ext cx="4896544" cy="478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35" name="公式" r:id="rId12" imgW="1955520" imgH="190440" progId="Equation.3">
                  <p:embed/>
                </p:oleObj>
              </mc:Choice>
              <mc:Fallback>
                <p:oleObj name="公式" r:id="rId12" imgW="19555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517232"/>
                        <a:ext cx="4896544" cy="478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8"/>
          <p:cNvSpPr>
            <a:spLocks noChangeArrowheads="1"/>
          </p:cNvSpPr>
          <p:nvPr/>
        </p:nvSpPr>
        <p:spPr bwMode="auto">
          <a:xfrm>
            <a:off x="6038101" y="5507979"/>
            <a:ext cx="23503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4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4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4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4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4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（任何压力下）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4" grpId="0"/>
      <p:bldP spid="35" grpId="0" animBg="1"/>
      <p:bldP spid="7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17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>
            <a:off x="857224" y="1052736"/>
            <a:ext cx="26243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水蒸气表</a:t>
            </a:r>
          </a:p>
        </p:txBody>
      </p:sp>
      <p:sp>
        <p:nvSpPr>
          <p:cNvPr id="35" name="矩形 34"/>
          <p:cNvSpPr/>
          <p:nvPr/>
        </p:nvSpPr>
        <p:spPr>
          <a:xfrm>
            <a:off x="285752" y="1052736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2.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39552" y="3573016"/>
            <a:ext cx="7643866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湿蒸汽热力状态的确定：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设干度为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，则</a:t>
            </a:r>
          </a:p>
          <a:p>
            <a:endParaRPr lang="zh-CN" altLang="en-US" sz="2800" b="1" dirty="0">
              <a:latin typeface="Times New Roman" pitchFamily="18" charset="0"/>
              <a:ea typeface="方正书宋简体" charset="-122"/>
              <a:cs typeface="Times New Roman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71472" y="1484784"/>
            <a:ext cx="8072494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附表</a:t>
            </a: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：以温度为准编排的饱和水与干饱和蒸汽表。附表</a:t>
            </a: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：以压力为准编排的饱和水与干饱和蒸汽表。附表</a:t>
            </a: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：未饱和水与过热蒸汽表 。</a:t>
            </a:r>
            <a:endParaRPr lang="zh-CN" altLang="en-US" sz="2800" dirty="0">
              <a:ea typeface="方正书宋简体" charset="-122"/>
              <a:cs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149080"/>
            <a:ext cx="7929563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18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510" y="1196401"/>
            <a:ext cx="81514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4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例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1: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根据蒸汽的已知参数求蒸汽的其余状态参数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,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并判断蒸汽所处的状态。</a:t>
            </a:r>
          </a:p>
          <a:p>
            <a:pPr marL="342900" indent="-342900">
              <a:lnSpc>
                <a:spcPct val="14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⑴</a:t>
            </a:r>
            <a:r>
              <a:rPr lang="en-US" altLang="zh-CN" sz="24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:  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0.5 bar,   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0.92</a:t>
            </a:r>
          </a:p>
          <a:p>
            <a:pPr marL="342900" indent="-342900">
              <a:lnSpc>
                <a:spcPct val="14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⑵:  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4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5 bar,   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168 ℃</a:t>
            </a:r>
          </a:p>
          <a:p>
            <a:pPr marL="342900" indent="-342900">
              <a:lnSpc>
                <a:spcPct val="14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⑶:  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4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200℃,   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2000 kJ/kg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3788689"/>
            <a:ext cx="7858180" cy="216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4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解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:  ⑴ 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∵  0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＜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＜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，∴  为湿蒸汽状态</a:t>
            </a:r>
          </a:p>
          <a:p>
            <a:pPr marL="342900" indent="-342900">
              <a:lnSpc>
                <a:spcPct val="14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查附表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，当</a:t>
            </a:r>
            <a:r>
              <a:rPr lang="zh-CN" altLang="en-US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0.5 bar =0.05 </a:t>
            </a:r>
            <a:r>
              <a:rPr lang="en-US" altLang="zh-CN" sz="2400" b="1" dirty="0" err="1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MPa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时</a:t>
            </a:r>
          </a:p>
          <a:p>
            <a:pPr marL="342900" indent="-342900">
              <a:lnSpc>
                <a:spcPct val="14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</a:t>
            </a:r>
            <a:r>
              <a:rPr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400" b="1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= 81.3388 ℃</a:t>
            </a:r>
          </a:p>
          <a:p>
            <a:pPr marL="342900" indent="-342900">
              <a:lnSpc>
                <a:spcPct val="140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′=0.0010299 m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/kg       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″=3.2409 m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/kg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28184" y="4447372"/>
            <a:ext cx="2000296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400" b="1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的单位为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kPa</a:t>
            </a:r>
            <a:endParaRPr lang="en-US" altLang="zh-CN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796136" y="4221088"/>
            <a:ext cx="2520280" cy="136815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19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4880" y="2204864"/>
            <a:ext cx="54292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i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xv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″+(1-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′= </a:t>
            </a:r>
            <a:r>
              <a:rPr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′+</a:t>
            </a:r>
            <a:r>
              <a:rPr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v″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v′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=2.9817 m</a:t>
            </a:r>
            <a:r>
              <a:rPr lang="en-US" altLang="zh-CN" sz="24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/kg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xh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″+(1-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′= </a:t>
            </a:r>
            <a:r>
              <a:rPr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′+</a:t>
            </a:r>
            <a:r>
              <a:rPr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h″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h′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=2460.9292 kJ/kg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xs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″+(1-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′= </a:t>
            </a:r>
            <a:r>
              <a:rPr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′+</a:t>
            </a:r>
            <a:r>
              <a:rPr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v″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v′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=7.0727 kJ/(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kg·K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</a:t>
            </a:r>
            <a:r>
              <a:rPr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400" b="1" i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- </a:t>
            </a:r>
            <a:r>
              <a:rPr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pv</a:t>
            </a:r>
            <a:r>
              <a:rPr lang="en-US" altLang="zh-CN" sz="2400" b="1" i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=2311.8442 kJ/kg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10" y="1124744"/>
            <a:ext cx="7929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′=340.55 kJ/kg     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″=2645.31kJ/kg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zh-CN" sz="24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′=1.0912 kJ/(</a:t>
            </a:r>
            <a:r>
              <a:rPr lang="en-US" altLang="zh-CN" sz="2400" b="1" dirty="0" err="1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kg·K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       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4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″=7.5928 kJ/(</a:t>
            </a:r>
            <a:r>
              <a:rPr lang="en-US" altLang="zh-CN" sz="2400" b="1" dirty="0" err="1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kg·K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20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41842" y="4149080"/>
            <a:ext cx="4734214" cy="60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再查附表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(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用线性插值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1135"/>
              </p:ext>
            </p:extLst>
          </p:nvPr>
        </p:nvGraphicFramePr>
        <p:xfrm>
          <a:off x="509471" y="4941168"/>
          <a:ext cx="7982181" cy="93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8" name="公式" r:id="rId4" imgW="2933640" imgH="342720" progId="Equation.3">
                  <p:embed/>
                </p:oleObj>
              </mc:Choice>
              <mc:Fallback>
                <p:oleObj name="公式" r:id="rId4" imgW="2933640" imgH="342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71" y="4941168"/>
                        <a:ext cx="7982181" cy="9361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57158" y="1340768"/>
            <a:ext cx="82868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⑵</a:t>
            </a:r>
            <a:r>
              <a:rPr lang="en-US" altLang="zh-CN" sz="28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∵ 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 </a:t>
            </a:r>
            <a:r>
              <a:rPr lang="en-US" altLang="zh-CN" sz="2800" i="1" dirty="0"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i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800" i="1" baseline="-25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=168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℃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t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＞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i="1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800" i="1" baseline="-25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800" i="1" baseline="-25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∴ 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为过热蒸汽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9900CC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8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先查附表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28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当</a:t>
            </a: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5 bar =0.5 </a:t>
            </a:r>
            <a:r>
              <a:rPr lang="en-US" altLang="zh-CN" sz="2800" b="1" dirty="0" err="1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MPa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时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</a:t>
            </a:r>
            <a:r>
              <a:rPr lang="en-US" altLang="zh-CN" sz="2800" b="1" i="1" dirty="0" err="1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i="1" baseline="-25000" dirty="0" err="1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= 151.867 ℃ →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= 319.867℃≈320℃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21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1560" y="4581128"/>
            <a:ext cx="7776864" cy="1308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用同样的插值方法可求出</a:t>
            </a:r>
            <a:r>
              <a:rPr lang="zh-CN" altLang="en-US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800" b="1" i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, 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然后再求得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</a:t>
            </a:r>
            <a:r>
              <a:rPr lang="zh-CN" altLang="en-US" sz="28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800" dirty="0">
              <a:solidFill>
                <a:srgbClr val="0070C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也需插值 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需算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 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次插值。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33810"/>
              </p:ext>
            </p:extLst>
          </p:nvPr>
        </p:nvGraphicFramePr>
        <p:xfrm>
          <a:off x="889000" y="2522538"/>
          <a:ext cx="7351713" cy="195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2" name="公式" r:id="rId4" imgW="3009600" imgH="799920" progId="Equation.3">
                  <p:embed/>
                </p:oleObj>
              </mc:Choice>
              <mc:Fallback>
                <p:oleObj name="公式" r:id="rId4" imgW="3009600" imgH="7999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2522538"/>
                        <a:ext cx="7351713" cy="1954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67544" y="1251337"/>
            <a:ext cx="82089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若所求值不在间隔中点，如：间隔为</a:t>
            </a:r>
            <a:r>
              <a:rPr lang="en-US" altLang="zh-CN" sz="2800" kern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300℃</a:t>
            </a:r>
            <a:r>
              <a:rPr lang="zh-CN" altLang="en-US" sz="2800" kern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～</a:t>
            </a:r>
            <a:r>
              <a:rPr lang="en-US" altLang="zh-CN" sz="2800" kern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350℃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，求得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22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6745" y="2492896"/>
            <a:ext cx="70723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         </a:t>
            </a:r>
            <a:r>
              <a:rPr lang="en-US" altLang="zh-CN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baseline="-25000" dirty="0" err="1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 = 1.55366 </a:t>
            </a:r>
            <a:r>
              <a:rPr lang="en-US" altLang="zh-CN" sz="2800" b="1" dirty="0" err="1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MPa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′= 852.34 kJ/kg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″= 2792.47 kJ/kg</a:t>
            </a:r>
            <a:endParaRPr lang="en-US" altLang="zh-CN" sz="2800" dirty="0">
              <a:solidFill>
                <a:schemeClr val="accent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4315" y="1196752"/>
            <a:ext cx="8001056" cy="1308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⑶ 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200℃,  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 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2000 kJ/kg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先查附表 </a:t>
            </a:r>
            <a:r>
              <a:rPr lang="en-US" altLang="zh-CN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4, </a:t>
            </a:r>
            <a:r>
              <a:rPr lang="zh-CN" altLang="en-US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当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200℃</a:t>
            </a:r>
            <a:r>
              <a:rPr lang="zh-CN" altLang="en-US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,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662" y="4500570"/>
            <a:ext cx="70723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∵ 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h′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＜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＜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h″</a:t>
            </a:r>
            <a:r>
              <a:rPr lang="en-US" altLang="zh-CN" sz="2800" b="1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∴  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为湿蒸汽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由   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800" b="1" i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xh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″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+(1-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8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′</a:t>
            </a:r>
            <a:r>
              <a:rPr lang="en-US" altLang="zh-CN" sz="2800" b="1" dirty="0" err="1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h″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h′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23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8793" y="3911623"/>
            <a:ext cx="7242028" cy="65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然后可利用同 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的方法求得所有状态参数。</a:t>
            </a:r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27504"/>
              </p:ext>
            </p:extLst>
          </p:nvPr>
        </p:nvGraphicFramePr>
        <p:xfrm>
          <a:off x="827584" y="2420888"/>
          <a:ext cx="7401178" cy="976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18" name="公式" r:id="rId4" imgW="2463800" imgH="393700" progId="Equation.3">
                  <p:embed/>
                </p:oleObj>
              </mc:Choice>
              <mc:Fallback>
                <p:oleObj name="公式" r:id="rId4" imgW="24638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420888"/>
                        <a:ext cx="7401178" cy="9768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2910" y="1556792"/>
            <a:ext cx="1408810" cy="65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可求得 </a:t>
            </a:r>
            <a:endParaRPr lang="zh-CN" altLang="en-US" sz="2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24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>
            <a:off x="740078" y="1247228"/>
            <a:ext cx="32558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水蒸气的焓</a:t>
            </a:r>
            <a:r>
              <a:rPr lang="en-US" altLang="zh-CN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熵图 </a:t>
            </a:r>
          </a:p>
        </p:txBody>
      </p:sp>
      <p:sp>
        <p:nvSpPr>
          <p:cNvPr id="35" name="矩形 34"/>
          <p:cNvSpPr/>
          <p:nvPr/>
        </p:nvSpPr>
        <p:spPr>
          <a:xfrm>
            <a:off x="214282" y="1306091"/>
            <a:ext cx="583163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3.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39552" y="5229200"/>
            <a:ext cx="7675216" cy="64294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因此，工程上也常用热力性质图，即焓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熵图。</a:t>
            </a:r>
          </a:p>
          <a:p>
            <a:r>
              <a:rPr lang="zh-CN" altLang="en-US" sz="2800" dirty="0">
                <a:ea typeface="方正书宋简体" charset="-122"/>
                <a:cs typeface="Times New Roman" pitchFamily="18" charset="0"/>
              </a:rPr>
              <a:t> </a:t>
            </a:r>
          </a:p>
        </p:txBody>
      </p:sp>
      <p:sp>
        <p:nvSpPr>
          <p:cNvPr id="9" name="TextBox 37"/>
          <p:cNvSpPr txBox="1">
            <a:spLocks noChangeArrowheads="1"/>
          </p:cNvSpPr>
          <p:nvPr/>
        </p:nvSpPr>
        <p:spPr bwMode="auto">
          <a:xfrm>
            <a:off x="505862" y="1844824"/>
            <a:ext cx="8170594" cy="3247877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 利用水蒸气热力性质表确定状态参数的特点是</a:t>
            </a:r>
            <a:r>
              <a:rPr lang="zh-CN" altLang="en-US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精确度高，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但由于表中所列</a:t>
            </a:r>
            <a:r>
              <a:rPr lang="zh-CN" altLang="en-US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数据不连续 ，常常需要繁杂的内插计算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，尤其当已知参数不是基本参数（压力或温度）、或分析过程需要跨越两相状态时，内插计算非常繁杂。</a:t>
            </a:r>
            <a:endParaRPr lang="zh-CN" altLang="en-US" sz="28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25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8578" y="1351484"/>
            <a:ext cx="6999766" cy="6093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P.93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 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5.5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所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示为水蒸气的焓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熵图简图 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576" y="2669091"/>
            <a:ext cx="671517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同样有</a:t>
            </a:r>
            <a:r>
              <a:rPr lang="zh-CN" altLang="en-US" sz="28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一点、两线、三区、五态。</a:t>
            </a:r>
            <a:endParaRPr lang="en-US" altLang="zh-CN" sz="2800" dirty="0">
              <a:solidFill>
                <a:srgbClr val="0070C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a—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线为饱和水线；</a:t>
            </a:r>
            <a:endParaRPr lang="en-US" altLang="zh-CN" sz="28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c—d</a:t>
            </a: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线为干饱和蒸气线；</a:t>
            </a:r>
            <a:endParaRPr lang="en-US" altLang="zh-CN" sz="28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a—c—d</a:t>
            </a:r>
            <a:r>
              <a:rPr lang="en-US" altLang="zh-CN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线下面为湿蒸气区；</a:t>
            </a:r>
            <a:endParaRPr lang="en-US" altLang="zh-CN" sz="28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c—d</a:t>
            </a: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线上方为过热蒸气区。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568" y="2016605"/>
            <a:ext cx="2939617" cy="65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水蒸气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h-s</a:t>
            </a:r>
            <a:r>
              <a:rPr lang="en-US" altLang="zh-CN" sz="2800" b="1" i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图中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800" i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26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9552" y="1196752"/>
            <a:ext cx="806489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在湿蒸气区，等压线与等温线重合；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在干饱和蒸气线上，等压线与等温线分开；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在过热蒸气区，等压线为向上翘曲的曲线，等温线为先弯曲而后渐趋平坦的曲线（图</a:t>
            </a:r>
            <a:r>
              <a:rPr lang="en-US" altLang="zh-CN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5.5</a:t>
            </a:r>
            <a:r>
              <a:rPr lang="zh-CN" altLang="en-US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改）；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湿蒸气区的虚线为等干度线；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等压线和等比容线在延伸方向上相近，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h-s</a:t>
            </a: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图中，等比容线印成红线（见附图） 。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27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1844824"/>
            <a:ext cx="7488832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  工程上所用的蒸气通常是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干度大于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50%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的湿蒸气或过热蒸气，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所以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h-s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图的实用部分为其右上角部分。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28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>
            <a:off x="928662" y="1196752"/>
            <a:ext cx="32861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水蒸气的热力过程</a:t>
            </a:r>
          </a:p>
        </p:txBody>
      </p:sp>
      <p:sp>
        <p:nvSpPr>
          <p:cNvPr id="35" name="矩形 34"/>
          <p:cNvSpPr/>
          <p:nvPr/>
        </p:nvSpPr>
        <p:spPr>
          <a:xfrm>
            <a:off x="214282" y="1241295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4.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37560" y="1836639"/>
            <a:ext cx="8072494" cy="1880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  水蒸气热力过程的分析和计算，与理想气体热力过程的方法、步骤类似，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同样可利用热力学的基本公式。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ea typeface="方正书宋简体" charset="-122"/>
                <a:cs typeface="Times New Roman" pitchFamily="18" charset="0"/>
              </a:rPr>
              <a:t> </a:t>
            </a:r>
            <a:endParaRPr lang="zh-CN" altLang="en-US" sz="2800" b="1" dirty="0">
              <a:ea typeface="方正书宋简体" charset="-122"/>
              <a:cs typeface="Times New Roman" pitchFamily="18" charset="0"/>
            </a:endParaRPr>
          </a:p>
        </p:txBody>
      </p:sp>
      <p:sp>
        <p:nvSpPr>
          <p:cNvPr id="12" name="TextBox 37"/>
          <p:cNvSpPr txBox="1">
            <a:spLocks noChangeArrowheads="1"/>
          </p:cNvSpPr>
          <p:nvPr/>
        </p:nvSpPr>
        <p:spPr bwMode="auto">
          <a:xfrm>
            <a:off x="395535" y="3937616"/>
            <a:ext cx="23835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/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如能量方程：</a:t>
            </a:r>
            <a:endParaRPr lang="zh-CN" altLang="en-US" sz="28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434871"/>
              </p:ext>
            </p:extLst>
          </p:nvPr>
        </p:nvGraphicFramePr>
        <p:xfrm>
          <a:off x="3059832" y="4578325"/>
          <a:ext cx="169703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93" name="公式" r:id="rId4" imgW="622080" imgH="266400" progId="Equation.3">
                  <p:embed/>
                </p:oleObj>
              </mc:Choice>
              <mc:Fallback>
                <p:oleObj name="公式" r:id="rId4" imgW="62208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4578325"/>
                        <a:ext cx="1697038" cy="650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563523"/>
              </p:ext>
            </p:extLst>
          </p:nvPr>
        </p:nvGraphicFramePr>
        <p:xfrm>
          <a:off x="5247729" y="4530233"/>
          <a:ext cx="2060575" cy="698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94" name="公式" r:id="rId6" imgW="863280" imgH="330120" progId="Equation.3">
                  <p:embed/>
                </p:oleObj>
              </mc:Choice>
              <mc:Fallback>
                <p:oleObj name="公式" r:id="rId6" imgW="86328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7729" y="4530233"/>
                        <a:ext cx="2060575" cy="6989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71727"/>
              </p:ext>
            </p:extLst>
          </p:nvPr>
        </p:nvGraphicFramePr>
        <p:xfrm>
          <a:off x="3063565" y="5301208"/>
          <a:ext cx="1580443" cy="683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95" name="公式" r:id="rId8" imgW="545760" imgH="266400" progId="Equation.3">
                  <p:embed/>
                </p:oleObj>
              </mc:Choice>
              <mc:Fallback>
                <p:oleObj name="公式" r:id="rId8" imgW="5457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565" y="5301208"/>
                        <a:ext cx="1580443" cy="6836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67544" y="4655195"/>
            <a:ext cx="2214578" cy="504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对可逆过程：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705409"/>
              </p:ext>
            </p:extLst>
          </p:nvPr>
        </p:nvGraphicFramePr>
        <p:xfrm>
          <a:off x="3059832" y="3906820"/>
          <a:ext cx="17256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96" name="公式" r:id="rId10" imgW="596880" imgH="177480" progId="Equation.3">
                  <p:embed/>
                </p:oleObj>
              </mc:Choice>
              <mc:Fallback>
                <p:oleObj name="公式" r:id="rId10" imgW="59688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3906820"/>
                        <a:ext cx="17256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236592"/>
              </p:ext>
            </p:extLst>
          </p:nvPr>
        </p:nvGraphicFramePr>
        <p:xfrm>
          <a:off x="5292055" y="3876154"/>
          <a:ext cx="18002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97" name="公式" r:id="rId12" imgW="622080" imgH="190440" progId="Equation.3">
                  <p:embed/>
                </p:oleObj>
              </mc:Choice>
              <mc:Fallback>
                <p:oleObj name="公式" r:id="rId12" imgW="622080" imgH="1904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55" y="3876154"/>
                        <a:ext cx="18002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29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539552" y="1233609"/>
            <a:ext cx="8215370" cy="12592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熵流、熵产、孤立系统熵增、做功能力与做功能力损失等概念及计算均与理想气体相同。 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546847" y="2636341"/>
            <a:ext cx="8201617" cy="3528963"/>
            <a:chOff x="440069" y="3067819"/>
            <a:chExt cx="8201617" cy="3528963"/>
          </a:xfrm>
        </p:grpSpPr>
        <p:sp>
          <p:nvSpPr>
            <p:cNvPr id="14" name="圆角矩形 13"/>
            <p:cNvSpPr/>
            <p:nvPr/>
          </p:nvSpPr>
          <p:spPr>
            <a:xfrm>
              <a:off x="440069" y="3125836"/>
              <a:ext cx="8201617" cy="3326930"/>
            </a:xfrm>
            <a:prstGeom prst="roundRect">
              <a:avLst/>
            </a:prstGeom>
            <a:solidFill>
              <a:schemeClr val="bg2">
                <a:alpha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642910" y="3067819"/>
              <a:ext cx="7964006" cy="3528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区别：</a:t>
              </a:r>
              <a:endParaRPr lang="zh-CN" altLang="en-US" sz="2800" b="1" dirty="0">
                <a:latin typeface="微软雅黑" pitchFamily="34" charset="-122"/>
                <a:ea typeface="微软雅黑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800" dirty="0">
                  <a:latin typeface="微软雅黑" pitchFamily="34" charset="-122"/>
                  <a:ea typeface="微软雅黑" pitchFamily="34" charset="-122"/>
                </a:rPr>
                <a:t>水蒸气的热力学能、焓、熵必须根据水蒸气图表确定，或借助计算机由较为精确的公式计算。</a:t>
              </a:r>
              <a:r>
                <a:rPr lang="zh-CN" altLang="en-US" sz="28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不能用理想气体计算公式。</a:t>
              </a:r>
              <a:endPara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800" dirty="0">
                  <a:solidFill>
                    <a:srgbClr val="5A47E3"/>
                  </a:solidFill>
                  <a:latin typeface="微软雅黑" pitchFamily="34" charset="-122"/>
                  <a:ea typeface="微软雅黑" pitchFamily="34" charset="-122"/>
                </a:rPr>
                <a:t>不能用理想气体状态方程。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30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2708920"/>
            <a:ext cx="82868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如：锅炉中水蒸气的产生过程、水蒸气在换热设备中的热交换过程，若忽略不可逆因素，均可视为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可逆定压过程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536" y="4640396"/>
            <a:ext cx="8215370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 蒸气在汽轮机中的膨胀过程可视为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定熵过程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混合过程可看作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绝热过程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536" y="1348074"/>
            <a:ext cx="8286808" cy="138499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水蒸气的基本热力过程同理想气体，工程上常见的过程是定压过程和绝热（可逆或不可逆）过程。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31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551273"/>
            <a:ext cx="79296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      理想气体定熵过程的过程方程：</a:t>
            </a:r>
            <a:r>
              <a:rPr lang="en-US" altLang="zh-CN" sz="2800" b="1" i="1" dirty="0" err="1">
                <a:solidFill>
                  <a:srgbClr val="7030A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pv</a:t>
            </a:r>
            <a:r>
              <a:rPr lang="en-US" altLang="zh-CN" sz="2800" b="1" i="1" baseline="30000" dirty="0" err="1">
                <a:solidFill>
                  <a:srgbClr val="7030A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κ</a:t>
            </a:r>
            <a:r>
              <a:rPr lang="en-US" altLang="zh-CN" sz="28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8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常数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也可近似用于蒸气，但 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κ </a:t>
            </a:r>
            <a:r>
              <a:rPr lang="zh-CN" altLang="en-US" sz="28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不是比热容比，而是经验数据：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过热蒸气：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κ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=1.3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  <a:endParaRPr lang="en-US" altLang="zh-CN" sz="2800" b="1" dirty="0">
              <a:solidFill>
                <a:srgbClr val="0070C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干饱和蒸气：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κ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=1.135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湿蒸气：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κ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=1.035 + 0.1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8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32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5536" y="1196752"/>
            <a:ext cx="7240318" cy="65248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蒸气热力过程实用工程计算方法的一般步骤：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528" y="1916832"/>
            <a:ext cx="8280920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首先在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h-s</a:t>
            </a:r>
            <a:r>
              <a:rPr lang="en-US" altLang="zh-CN" sz="2800" b="1" i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图上由已知参数确定初状态点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，并利用热力性质图表求出相应的其他状态参数；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3528" y="3297641"/>
            <a:ext cx="8139154" cy="1954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(2) 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h-s</a:t>
            </a: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图上根据过程特点（如定压、定容、定温或定熵，）从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8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点开始沿定参数线移动，直到与状态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8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的已知参数线相交，该交点即为状态点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</p:txBody>
      </p:sp>
      <p:sp>
        <p:nvSpPr>
          <p:cNvPr id="4" name="矩形 3"/>
          <p:cNvSpPr/>
          <p:nvPr/>
        </p:nvSpPr>
        <p:spPr>
          <a:xfrm>
            <a:off x="323528" y="5368802"/>
            <a:ext cx="8139154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(3) 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从图或表中查出状态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相应的其余状态参 数；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8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33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1472" y="1857364"/>
            <a:ext cx="8143932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(4) 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计算过程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1-2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各状态参数的变化量；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(5)  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计算过程中系统与外界交换的功量和热量。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34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5786" y="2638653"/>
            <a:ext cx="7858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/>
            <a:r>
              <a:rPr lang="zh-CN" altLang="en-US" sz="36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作业：</a:t>
            </a:r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5.1</a:t>
            </a:r>
            <a:r>
              <a:rPr lang="zh-CN" altLang="en-US" sz="36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5.9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3067</TotalTime>
  <Words>2081</Words>
  <Application>Microsoft Office PowerPoint</Application>
  <PresentationFormat>全屏显示(4:3)</PresentationFormat>
  <Paragraphs>219</Paragraphs>
  <Slides>35</Slides>
  <Notes>34</Notes>
  <HiddenSlides>0</HiddenSlides>
  <MMClips>0</MMClips>
  <ScaleCrop>false</ScaleCrop>
  <HeadingPairs>
    <vt:vector size="10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  <vt:variant>
        <vt:lpstr>自定义放映</vt:lpstr>
      </vt:variant>
      <vt:variant>
        <vt:i4>1</vt:i4>
      </vt:variant>
    </vt:vector>
  </HeadingPairs>
  <TitlesOfParts>
    <vt:vector size="45" baseType="lpstr">
      <vt:lpstr>黑体</vt:lpstr>
      <vt:lpstr>微软雅黑</vt:lpstr>
      <vt:lpstr>Arial</vt:lpstr>
      <vt:lpstr>Bernard MT Condensed</vt:lpstr>
      <vt:lpstr>Calibri</vt:lpstr>
      <vt:lpstr>Times New Roman</vt:lpstr>
      <vt:lpstr>Wingdings</vt:lpstr>
      <vt:lpstr>Office 主题</vt:lpstr>
      <vt:lpstr>公式</vt:lpstr>
      <vt:lpstr>第五章  水蒸气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水蒸气 </dc:title>
  <dc:creator>Administrator</dc:creator>
  <cp:lastModifiedBy>summ</cp:lastModifiedBy>
  <cp:revision>181</cp:revision>
  <dcterms:created xsi:type="dcterms:W3CDTF">2013-09-13T11:52:51Z</dcterms:created>
  <dcterms:modified xsi:type="dcterms:W3CDTF">2019-11-25T16:09:55Z</dcterms:modified>
</cp:coreProperties>
</file>