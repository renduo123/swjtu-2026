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51"/>
  </p:notesMasterIdLst>
  <p:handoutMasterIdLst>
    <p:handoutMasterId r:id="rId52"/>
  </p:handoutMasterIdLst>
  <p:sldIdLst>
    <p:sldId id="256" r:id="rId3"/>
    <p:sldId id="281" r:id="rId4"/>
    <p:sldId id="257" r:id="rId5"/>
    <p:sldId id="282" r:id="rId6"/>
    <p:sldId id="283" r:id="rId7"/>
    <p:sldId id="258" r:id="rId8"/>
    <p:sldId id="279" r:id="rId9"/>
    <p:sldId id="284" r:id="rId10"/>
    <p:sldId id="260" r:id="rId11"/>
    <p:sldId id="261" r:id="rId12"/>
    <p:sldId id="262" r:id="rId13"/>
    <p:sldId id="285" r:id="rId14"/>
    <p:sldId id="263" r:id="rId15"/>
    <p:sldId id="264" r:id="rId16"/>
    <p:sldId id="265" r:id="rId17"/>
    <p:sldId id="266" r:id="rId18"/>
    <p:sldId id="267" r:id="rId19"/>
    <p:sldId id="286" r:id="rId20"/>
    <p:sldId id="268" r:id="rId21"/>
    <p:sldId id="269" r:id="rId22"/>
    <p:sldId id="287" r:id="rId23"/>
    <p:sldId id="270" r:id="rId24"/>
    <p:sldId id="301" r:id="rId25"/>
    <p:sldId id="300" r:id="rId26"/>
    <p:sldId id="271" r:id="rId27"/>
    <p:sldId id="272" r:id="rId28"/>
    <p:sldId id="273" r:id="rId29"/>
    <p:sldId id="274" r:id="rId30"/>
    <p:sldId id="275" r:id="rId31"/>
    <p:sldId id="276" r:id="rId32"/>
    <p:sldId id="288" r:id="rId33"/>
    <p:sldId id="290" r:id="rId34"/>
    <p:sldId id="291" r:id="rId35"/>
    <p:sldId id="293" r:id="rId36"/>
    <p:sldId id="294" r:id="rId37"/>
    <p:sldId id="292" r:id="rId38"/>
    <p:sldId id="295" r:id="rId39"/>
    <p:sldId id="297" r:id="rId40"/>
    <p:sldId id="296" r:id="rId41"/>
    <p:sldId id="298" r:id="rId42"/>
    <p:sldId id="289" r:id="rId43"/>
    <p:sldId id="299" r:id="rId44"/>
    <p:sldId id="305" r:id="rId45"/>
    <p:sldId id="308" r:id="rId46"/>
    <p:sldId id="304" r:id="rId47"/>
    <p:sldId id="303" r:id="rId48"/>
    <p:sldId id="306" r:id="rId49"/>
    <p:sldId id="302" r:id="rId50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9933FF"/>
    <a:srgbClr val="471AEE"/>
    <a:srgbClr val="006600"/>
    <a:srgbClr val="FFCC99"/>
    <a:srgbClr val="D21C3A"/>
    <a:srgbClr val="000099"/>
    <a:srgbClr val="179BA9"/>
    <a:srgbClr val="A9172F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34555" autoAdjust="0"/>
    <p:restoredTop sz="94712" autoAdjust="0"/>
  </p:normalViewPr>
  <p:slideViewPr>
    <p:cSldViewPr>
      <p:cViewPr varScale="1">
        <p:scale>
          <a:sx n="81" d="100"/>
          <a:sy n="81" d="100"/>
        </p:scale>
        <p:origin x="912" y="5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5" d="100"/>
          <a:sy n="65" d="100"/>
        </p:scale>
        <p:origin x="-2928" y="-12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.wmf"/><Relationship Id="rId1" Type="http://schemas.openxmlformats.org/officeDocument/2006/relationships/image" Target="../media/image17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image" Target="../media/image24.wmf"/><Relationship Id="rId1" Type="http://schemas.openxmlformats.org/officeDocument/2006/relationships/image" Target="../media/image23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image" Target="../media/image33.wmf"/><Relationship Id="rId1" Type="http://schemas.openxmlformats.org/officeDocument/2006/relationships/image" Target="../media/image32.wmf"/><Relationship Id="rId4" Type="http://schemas.openxmlformats.org/officeDocument/2006/relationships/image" Target="../media/image35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9F2F74-C90E-4218-8D02-82000E74D2FA}" type="datetimeFigureOut">
              <a:rPr lang="zh-CN" altLang="en-US" smtClean="0"/>
              <a:pPr/>
              <a:t>2019/12/9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FAE3F4-DC60-4445-BA34-DE163A89939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8563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2BE123-A9AE-448F-8D78-F735838CEC6B}" type="datetimeFigureOut">
              <a:rPr lang="zh-CN" altLang="en-US" smtClean="0"/>
              <a:pPr/>
              <a:t>2019/12/9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F5C11B-8088-48D6-99F1-F40A5041271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18267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F5C11B-8088-48D6-99F1-F40A5041271C}" type="slidenum">
              <a:rPr lang="zh-CN" altLang="en-US" smtClean="0">
                <a:solidFill>
                  <a:prstClr val="black"/>
                </a:solidFill>
              </a:rPr>
              <a:pPr/>
              <a:t>2</a:t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F5C11B-8088-48D6-99F1-F40A5041271C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F5C11B-8088-48D6-99F1-F40A5041271C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F5C11B-8088-48D6-99F1-F40A5041271C}" type="slidenum">
              <a:rPr lang="zh-CN" altLang="en-US" smtClean="0"/>
              <a:pPr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F5C11B-8088-48D6-99F1-F40A5041271C}" type="slidenum">
              <a:rPr lang="zh-CN" altLang="en-US" smtClean="0"/>
              <a:pPr/>
              <a:t>26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e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3F60BEFF-3D59-4B64-A1A5-6E3D1AE4E261}" type="datetimeFigureOut">
              <a:rPr lang="zh-CN" altLang="en-US" smtClean="0"/>
              <a:pPr/>
              <a:t>2019/12/9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0D8DD09-8CD5-4E92-B2D6-6AE9673121A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wjtu 建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Picture 2" descr="C:\Users\nathan\Desktop\20130513校长报告0511\幻灯片4.PNG"/>
          <p:cNvPicPr>
            <a:picLocks noChangeAspect="1" noChangeArrowheads="1"/>
          </p:cNvPicPr>
          <p:nvPr userDrawn="1"/>
        </p:nvPicPr>
        <p:blipFill>
          <a:blip r:embed="rId2" cstate="print"/>
          <a:srcRect t="6952" b="82546"/>
          <a:stretch>
            <a:fillRect/>
          </a:stretch>
        </p:blipFill>
        <p:spPr bwMode="auto">
          <a:xfrm>
            <a:off x="1587" y="0"/>
            <a:ext cx="9142413" cy="72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等腰三角形 9"/>
          <p:cNvSpPr/>
          <p:nvPr userDrawn="1"/>
        </p:nvSpPr>
        <p:spPr>
          <a:xfrm>
            <a:off x="8460432" y="6237312"/>
            <a:ext cx="1368152" cy="620688"/>
          </a:xfrm>
          <a:prstGeom prst="triangl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TextBox 11"/>
          <p:cNvSpPr txBox="1">
            <a:spLocks noChangeArrowheads="1"/>
          </p:cNvSpPr>
          <p:nvPr userDrawn="1"/>
        </p:nvSpPr>
        <p:spPr bwMode="auto">
          <a:xfrm>
            <a:off x="4786338" y="714356"/>
            <a:ext cx="335756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7F7F7F"/>
                </a:solidFill>
                <a:latin typeface="微软雅黑" pitchFamily="34" charset="-122"/>
                <a:ea typeface="微软雅黑" pitchFamily="34" charset="-122"/>
              </a:rPr>
              <a:t>第六章   湿空气</a:t>
            </a:r>
          </a:p>
        </p:txBody>
      </p:sp>
      <p:cxnSp>
        <p:nvCxnSpPr>
          <p:cNvPr id="6" name="直接连接符 5"/>
          <p:cNvCxnSpPr/>
          <p:nvPr userDrawn="1"/>
        </p:nvCxnSpPr>
        <p:spPr>
          <a:xfrm>
            <a:off x="8154988" y="907009"/>
            <a:ext cx="989012" cy="1587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 userDrawn="1"/>
        </p:nvCxnSpPr>
        <p:spPr>
          <a:xfrm rot="5400000">
            <a:off x="4517232" y="887165"/>
            <a:ext cx="323850" cy="1587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 userDrawn="1"/>
        </p:nvCxnSpPr>
        <p:spPr>
          <a:xfrm rot="5400000">
            <a:off x="7992269" y="887165"/>
            <a:ext cx="323850" cy="1588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 userDrawn="1"/>
        </p:nvCxnSpPr>
        <p:spPr>
          <a:xfrm rot="5400000">
            <a:off x="4571207" y="887165"/>
            <a:ext cx="323850" cy="1587"/>
          </a:xfrm>
          <a:prstGeom prst="line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 userDrawn="1"/>
        </p:nvCxnSpPr>
        <p:spPr>
          <a:xfrm rot="5400000">
            <a:off x="7936707" y="887165"/>
            <a:ext cx="323850" cy="1587"/>
          </a:xfrm>
          <a:prstGeom prst="line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0" y="909142"/>
            <a:ext cx="4696916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 userDrawn="1"/>
        </p:nvSpPr>
        <p:spPr>
          <a:xfrm>
            <a:off x="571472" y="142852"/>
            <a:ext cx="2000264" cy="584775"/>
          </a:xfrm>
          <a:prstGeom prst="rect">
            <a:avLst/>
          </a:prstGeom>
          <a:noFill/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热工基础</a:t>
            </a:r>
          </a:p>
        </p:txBody>
      </p:sp>
      <p:grpSp>
        <p:nvGrpSpPr>
          <p:cNvPr id="15" name="组合 14"/>
          <p:cNvGrpSpPr>
            <a:grpSpLocks noChangeAspect="1"/>
          </p:cNvGrpSpPr>
          <p:nvPr userDrawn="1"/>
        </p:nvGrpSpPr>
        <p:grpSpPr>
          <a:xfrm>
            <a:off x="5572132" y="6072206"/>
            <a:ext cx="2947038" cy="720000"/>
            <a:chOff x="4857752" y="6000768"/>
            <a:chExt cx="2504982" cy="612000"/>
          </a:xfrm>
        </p:grpSpPr>
        <p:pic>
          <p:nvPicPr>
            <p:cNvPr id="16" name="Picture 2" descr="C:\Documents and Settings\Administrator\桌面\校徽-图.jp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4857752" y="6000768"/>
              <a:ext cx="552084" cy="612000"/>
            </a:xfrm>
            <a:prstGeom prst="rect">
              <a:avLst/>
            </a:prstGeom>
            <a:noFill/>
          </p:spPr>
        </p:pic>
        <p:pic>
          <p:nvPicPr>
            <p:cNvPr id="17" name="Picture 3" descr="C:\Documents and Settings\Administrator\桌面\校徽-黑字.jpg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5500694" y="6122213"/>
              <a:ext cx="1862040" cy="396000"/>
            </a:xfrm>
            <a:prstGeom prst="rect">
              <a:avLst/>
            </a:prstGeom>
            <a:noFill/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5B263-390E-4D37-9C4B-8E731B3FCA4B}" type="datetimeFigureOut">
              <a:rPr lang="zh-CN" altLang="en-US" smtClean="0"/>
              <a:pPr/>
              <a:t>2019/12/9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8E377-D3F3-4823-9A32-2F7E94507DE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5B263-390E-4D37-9C4B-8E731B3FCA4B}" type="datetimeFigureOut">
              <a:rPr lang="zh-CN" altLang="en-US" smtClean="0"/>
              <a:pPr/>
              <a:t>2019/12/9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8E377-D3F3-4823-9A32-2F7E94507DE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5B263-390E-4D37-9C4B-8E731B3FCA4B}" type="datetimeFigureOut">
              <a:rPr lang="zh-CN" altLang="en-US" smtClean="0"/>
              <a:pPr/>
              <a:t>2019/12/9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8E377-D3F3-4823-9A32-2F7E94507DE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5B263-390E-4D37-9C4B-8E731B3FCA4B}" type="datetimeFigureOut">
              <a:rPr lang="zh-CN" altLang="en-US" smtClean="0"/>
              <a:pPr/>
              <a:t>2019/12/9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8E377-D3F3-4823-9A32-2F7E94507DE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5B263-390E-4D37-9C4B-8E731B3FCA4B}" type="datetimeFigureOut">
              <a:rPr lang="zh-CN" altLang="en-US" smtClean="0"/>
              <a:pPr/>
              <a:t>2019/12/9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8E377-D3F3-4823-9A32-2F7E94507DE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5B263-390E-4D37-9C4B-8E731B3FCA4B}" type="datetimeFigureOut">
              <a:rPr lang="zh-CN" altLang="en-US" smtClean="0"/>
              <a:pPr/>
              <a:t>2019/12/9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8E377-D3F3-4823-9A32-2F7E94507DE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5B263-390E-4D37-9C4B-8E731B3FCA4B}" type="datetimeFigureOut">
              <a:rPr lang="zh-CN" altLang="en-US" smtClean="0"/>
              <a:pPr/>
              <a:t>2019/12/9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8E377-D3F3-4823-9A32-2F7E94507DE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5B263-390E-4D37-9C4B-8E731B3FCA4B}" type="datetimeFigureOut">
              <a:rPr lang="zh-CN" altLang="en-US" smtClean="0"/>
              <a:pPr/>
              <a:t>2019/12/9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8E377-D3F3-4823-9A32-2F7E94507DE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5B263-390E-4D37-9C4B-8E731B3FCA4B}" type="datetimeFigureOut">
              <a:rPr lang="zh-CN" altLang="en-US" smtClean="0"/>
              <a:pPr/>
              <a:t>2019/12/9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8E377-D3F3-4823-9A32-2F7E94507DE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5B263-390E-4D37-9C4B-8E731B3FCA4B}" type="datetimeFigureOut">
              <a:rPr lang="zh-CN" altLang="en-US" smtClean="0"/>
              <a:pPr/>
              <a:t>2019/12/9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8E377-D3F3-4823-9A32-2F7E94507DE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5B263-390E-4D37-9C4B-8E731B3FCA4B}" type="datetimeFigureOut">
              <a:rPr lang="zh-CN" altLang="en-US" smtClean="0"/>
              <a:pPr/>
              <a:t>2019/12/9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8E377-D3F3-4823-9A32-2F7E94507DE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image" Target="../media/image4.jpeg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image" Target="../media/image3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540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8286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endParaRPr lang="zh-CN" altLang="en-US" dirty="0"/>
          </a:p>
        </p:txBody>
      </p:sp>
      <p:pic>
        <p:nvPicPr>
          <p:cNvPr id="7" name="Picture 41" descr="C:\Users\nathan\Desktop\20130513校长报告0511\幻灯片1.PNG"/>
          <p:cNvPicPr>
            <a:picLocks noChangeAspect="1" noChangeArrowheads="1"/>
          </p:cNvPicPr>
          <p:nvPr userDrawn="1"/>
        </p:nvPicPr>
        <p:blipFill>
          <a:blip r:embed="rId4" cstate="print"/>
          <a:srcRect r="-17" b="86746"/>
          <a:stretch>
            <a:fillRect/>
          </a:stretch>
        </p:blipFill>
        <p:spPr bwMode="auto">
          <a:xfrm>
            <a:off x="0" y="0"/>
            <a:ext cx="9144000" cy="908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95B263-390E-4D37-9C4B-8E731B3FCA4B}" type="datetimeFigureOut">
              <a:rPr lang="zh-CN" altLang="en-US" smtClean="0"/>
              <a:pPr/>
              <a:t>2019/12/9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F8E377-D3F3-4823-9A32-2F7E94507DED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7" name="Picture 2" descr="C:\Users\nathan\Desktop\20130513校长报告0511\幻灯片4.PNG"/>
          <p:cNvPicPr>
            <a:picLocks noChangeAspect="1" noChangeArrowheads="1"/>
          </p:cNvPicPr>
          <p:nvPr userDrawn="1"/>
        </p:nvPicPr>
        <p:blipFill>
          <a:blip r:embed="rId13" cstate="print"/>
          <a:srcRect t="6952" b="82546"/>
          <a:stretch>
            <a:fillRect/>
          </a:stretch>
        </p:blipFill>
        <p:spPr bwMode="auto">
          <a:xfrm>
            <a:off x="1587" y="0"/>
            <a:ext cx="9142413" cy="72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等腰三角形 7"/>
          <p:cNvSpPr/>
          <p:nvPr userDrawn="1"/>
        </p:nvSpPr>
        <p:spPr>
          <a:xfrm>
            <a:off x="8460432" y="6237312"/>
            <a:ext cx="1368152" cy="620688"/>
          </a:xfrm>
          <a:prstGeom prst="triangl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TextBox 11"/>
          <p:cNvSpPr txBox="1">
            <a:spLocks noChangeArrowheads="1"/>
          </p:cNvSpPr>
          <p:nvPr userDrawn="1"/>
        </p:nvSpPr>
        <p:spPr bwMode="auto">
          <a:xfrm>
            <a:off x="4786338" y="642918"/>
            <a:ext cx="335756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7F7F7F"/>
                </a:solidFill>
                <a:latin typeface="微软雅黑" pitchFamily="34" charset="-122"/>
                <a:ea typeface="微软雅黑" pitchFamily="34" charset="-122"/>
              </a:rPr>
              <a:t>第六章   湿空气</a:t>
            </a:r>
          </a:p>
        </p:txBody>
      </p:sp>
      <p:cxnSp>
        <p:nvCxnSpPr>
          <p:cNvPr id="10" name="直接连接符 9"/>
          <p:cNvCxnSpPr/>
          <p:nvPr userDrawn="1"/>
        </p:nvCxnSpPr>
        <p:spPr>
          <a:xfrm>
            <a:off x="8154988" y="907009"/>
            <a:ext cx="989012" cy="1587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 userDrawn="1"/>
        </p:nvCxnSpPr>
        <p:spPr>
          <a:xfrm rot="5400000">
            <a:off x="4517232" y="887165"/>
            <a:ext cx="323850" cy="1587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 userDrawn="1"/>
        </p:nvCxnSpPr>
        <p:spPr>
          <a:xfrm rot="5400000">
            <a:off x="7992269" y="887165"/>
            <a:ext cx="323850" cy="1588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 rot="5400000">
            <a:off x="4571207" y="887165"/>
            <a:ext cx="323850" cy="1587"/>
          </a:xfrm>
          <a:prstGeom prst="line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 rot="5400000">
            <a:off x="7936707" y="887165"/>
            <a:ext cx="323850" cy="1587"/>
          </a:xfrm>
          <a:prstGeom prst="line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 userDrawn="1"/>
        </p:nvCxnSpPr>
        <p:spPr>
          <a:xfrm>
            <a:off x="0" y="909142"/>
            <a:ext cx="4696916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 userDrawn="1"/>
        </p:nvSpPr>
        <p:spPr>
          <a:xfrm>
            <a:off x="571472" y="142852"/>
            <a:ext cx="2560368" cy="584775"/>
          </a:xfrm>
          <a:prstGeom prst="rect">
            <a:avLst/>
          </a:prstGeom>
          <a:noFill/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工程热力学</a:t>
            </a:r>
          </a:p>
        </p:txBody>
      </p:sp>
      <p:grpSp>
        <p:nvGrpSpPr>
          <p:cNvPr id="17" name="组合 16"/>
          <p:cNvGrpSpPr>
            <a:grpSpLocks noChangeAspect="1"/>
          </p:cNvGrpSpPr>
          <p:nvPr userDrawn="1"/>
        </p:nvGrpSpPr>
        <p:grpSpPr>
          <a:xfrm>
            <a:off x="5572132" y="6072206"/>
            <a:ext cx="2947038" cy="720000"/>
            <a:chOff x="4857752" y="6000768"/>
            <a:chExt cx="2504982" cy="612000"/>
          </a:xfrm>
        </p:grpSpPr>
        <p:pic>
          <p:nvPicPr>
            <p:cNvPr id="18" name="Picture 2" descr="C:\Documents and Settings\Administrator\桌面\校徽-图.jpg"/>
            <p:cNvPicPr>
              <a:picLocks noChangeAspect="1" noChangeArrowheads="1"/>
            </p:cNvPicPr>
            <p:nvPr/>
          </p:nvPicPr>
          <p:blipFill>
            <a:blip r:embed="rId14" cstate="print"/>
            <a:srcRect/>
            <a:stretch>
              <a:fillRect/>
            </a:stretch>
          </p:blipFill>
          <p:spPr bwMode="auto">
            <a:xfrm>
              <a:off x="4857752" y="6000768"/>
              <a:ext cx="552084" cy="612000"/>
            </a:xfrm>
            <a:prstGeom prst="rect">
              <a:avLst/>
            </a:prstGeom>
            <a:noFill/>
          </p:spPr>
        </p:pic>
        <p:pic>
          <p:nvPicPr>
            <p:cNvPr id="19" name="Picture 3" descr="C:\Documents and Settings\Administrator\桌面\校徽-黑字.jpg"/>
            <p:cNvPicPr>
              <a:picLocks noChangeAspect="1" noChangeArrowheads="1"/>
            </p:cNvPicPr>
            <p:nvPr/>
          </p:nvPicPr>
          <p:blipFill>
            <a:blip r:embed="rId15" cstate="print"/>
            <a:srcRect/>
            <a:stretch>
              <a:fillRect/>
            </a:stretch>
          </p:blipFill>
          <p:spPr bwMode="auto">
            <a:xfrm>
              <a:off x="5500694" y="6122213"/>
              <a:ext cx="1862040" cy="396000"/>
            </a:xfrm>
            <a:prstGeom prst="rect">
              <a:avLst/>
            </a:prstGeom>
            <a:noFill/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9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6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9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8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9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10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9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12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9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14.wmf"/><Relationship Id="rId4" Type="http://schemas.openxmlformats.org/officeDocument/2006/relationships/oleObject" Target="../embeddings/oleObject9.bin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9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8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17.wm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9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22.wmf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3" Type="http://schemas.openxmlformats.org/officeDocument/2006/relationships/oleObject" Target="../embeddings/oleObject13.bin"/><Relationship Id="rId7" Type="http://schemas.openxmlformats.org/officeDocument/2006/relationships/oleObject" Target="../embeddings/oleObject15.bin"/><Relationship Id="rId2" Type="http://schemas.openxmlformats.org/officeDocument/2006/relationships/slideLayout" Target="../slideLayouts/slideLayout9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24.w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23.w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9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26.wmf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9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9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9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9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9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30.w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9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31.wmf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wmf"/><Relationship Id="rId3" Type="http://schemas.openxmlformats.org/officeDocument/2006/relationships/oleObject" Target="../embeddings/oleObject19.bin"/><Relationship Id="rId7" Type="http://schemas.openxmlformats.org/officeDocument/2006/relationships/oleObject" Target="../embeddings/oleObject21.bin"/><Relationship Id="rId2" Type="http://schemas.openxmlformats.org/officeDocument/2006/relationships/slideLayout" Target="../slideLayouts/slideLayout9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33.wmf"/><Relationship Id="rId5" Type="http://schemas.openxmlformats.org/officeDocument/2006/relationships/oleObject" Target="../embeddings/oleObject20.bin"/><Relationship Id="rId10" Type="http://schemas.openxmlformats.org/officeDocument/2006/relationships/image" Target="../media/image35.wmf"/><Relationship Id="rId4" Type="http://schemas.openxmlformats.org/officeDocument/2006/relationships/image" Target="../media/image32.wmf"/><Relationship Id="rId9" Type="http://schemas.openxmlformats.org/officeDocument/2006/relationships/oleObject" Target="../embeddings/oleObject22.bin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395536" y="1556792"/>
            <a:ext cx="7772400" cy="1470025"/>
          </a:xfrm>
        </p:spPr>
        <p:txBody>
          <a:bodyPr>
            <a:normAutofit/>
          </a:bodyPr>
          <a:lstStyle/>
          <a:p>
            <a:r>
              <a:rPr lang="zh-CN" altLang="en-US" spc="400" dirty="0">
                <a:latin typeface="黑体" pitchFamily="49" charset="-122"/>
                <a:ea typeface="黑体" pitchFamily="49" charset="-122"/>
              </a:rPr>
              <a:t>第六章  湿空气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6" name="Picture 41" descr="C:\Users\nathan\Desktop\20130513校长报告0511\幻灯片1.PNG"/>
          <p:cNvPicPr>
            <a:picLocks noChangeAspect="1" noChangeArrowheads="1"/>
          </p:cNvPicPr>
          <p:nvPr/>
        </p:nvPicPr>
        <p:blipFill>
          <a:blip r:embed="rId2" cstate="print"/>
          <a:srcRect r="-17" b="86746"/>
          <a:stretch>
            <a:fillRect/>
          </a:stretch>
        </p:blipFill>
        <p:spPr bwMode="auto">
          <a:xfrm>
            <a:off x="0" y="0"/>
            <a:ext cx="9144000" cy="9087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41" descr="C:\Users\nathan\Desktop\20130513校长报告0511\幻灯片1.PNG"/>
          <p:cNvPicPr>
            <a:picLocks noChangeAspect="1" noChangeArrowheads="1"/>
          </p:cNvPicPr>
          <p:nvPr/>
        </p:nvPicPr>
        <p:blipFill>
          <a:blip r:embed="rId2" cstate="print"/>
          <a:srcRect t="46861"/>
          <a:stretch>
            <a:fillRect/>
          </a:stretch>
        </p:blipFill>
        <p:spPr bwMode="auto">
          <a:xfrm>
            <a:off x="0" y="3212976"/>
            <a:ext cx="9145888" cy="36450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/>
          <p:cNvSpPr txBox="1"/>
          <p:nvPr/>
        </p:nvSpPr>
        <p:spPr>
          <a:xfrm>
            <a:off x="34547" y="1052736"/>
            <a:ext cx="32169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800" b="1" dirty="0">
                <a:solidFill>
                  <a:srgbClr val="4F81BD">
                    <a:lumMod val="75000"/>
                  </a:srgb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6-1   </a:t>
            </a:r>
            <a:r>
              <a:rPr lang="zh-CN" altLang="en-US" sz="2800" b="1" dirty="0">
                <a:solidFill>
                  <a:srgbClr val="4F81BD">
                    <a:lumMod val="75000"/>
                  </a:srgb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湿空气概述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86842" y="6488668"/>
            <a:ext cx="5000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prstClr val="black"/>
                </a:solidFill>
                <a:latin typeface="黑体" pitchFamily="49" charset="-122"/>
                <a:ea typeface="黑体" pitchFamily="49" charset="-122"/>
              </a:rPr>
              <a:t>1</a:t>
            </a:r>
            <a:endParaRPr lang="zh-CN" altLang="en-US" sz="2000" dirty="0">
              <a:solidFill>
                <a:prstClr val="black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2051720" y="1628800"/>
            <a:ext cx="4113213" cy="519113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i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湿空气＝干空气＋水蒸气</a:t>
            </a:r>
          </a:p>
        </p:txBody>
      </p:sp>
      <p:sp>
        <p:nvSpPr>
          <p:cNvPr id="2" name="矩形 1"/>
          <p:cNvSpPr/>
          <p:nvPr/>
        </p:nvSpPr>
        <p:spPr>
          <a:xfrm>
            <a:off x="539552" y="2348880"/>
            <a:ext cx="8136904" cy="175432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工程上常将大气中的湿空气作为工质。对空压机、风冷器等设备。由于空气中水蒸气的含量和集态在过程中不发生变化（无相变），因此不单独考虑其影响。</a:t>
            </a:r>
          </a:p>
        </p:txBody>
      </p:sp>
      <p:sp>
        <p:nvSpPr>
          <p:cNvPr id="3" name="矩形 2"/>
          <p:cNvSpPr/>
          <p:nvPr/>
        </p:nvSpPr>
        <p:spPr>
          <a:xfrm>
            <a:off x="553244" y="4272691"/>
            <a:ext cx="8136904" cy="175432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但对于空气调节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物料烘干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采暖通风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冷却塔等工程而言，空气中所含水蒸气常发生相变，其状态和数量起着重要的作用，因此水蒸气的影响不能被忽略。</a:t>
            </a:r>
            <a:endParaRPr lang="en-US" altLang="zh-CN" sz="2400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23298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" grpId="0" animBg="1"/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4"/>
          <p:cNvSpPr>
            <a:spLocks noChangeArrowheads="1"/>
          </p:cNvSpPr>
          <p:nvPr/>
        </p:nvSpPr>
        <p:spPr bwMode="auto">
          <a:xfrm>
            <a:off x="252556" y="1340768"/>
            <a:ext cx="8501122" cy="1440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常压下湿空气中水蒸气的分压力很低，处于过热状态，因此，</a:t>
            </a:r>
            <a:r>
              <a:rPr lang="zh-CN" altLang="en-US" sz="2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工程上将湿空气作为理想气体混合物。</a:t>
            </a:r>
            <a:endParaRPr lang="zh-CN" altLang="en-US" sz="28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786842" y="6488668"/>
            <a:ext cx="5000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黑体" pitchFamily="49" charset="-122"/>
                <a:ea typeface="黑体" pitchFamily="49" charset="-122"/>
              </a:rPr>
              <a:t>2</a:t>
            </a:r>
            <a:endParaRPr lang="zh-CN" altLang="en-US" sz="2000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366383" y="4324708"/>
            <a:ext cx="8247606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i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水蒸气分压力 </a:t>
            </a:r>
            <a:r>
              <a:rPr lang="en-US" altLang="zh-CN" sz="2800" b="1" dirty="0" err="1">
                <a:solidFill>
                  <a:srgbClr val="000000"/>
                </a:solidFill>
                <a:latin typeface="Times New Roman" pitchFamily="18" charset="0"/>
                <a:ea typeface="方正书宋简体" charset="-122"/>
                <a:cs typeface="Times New Roman" pitchFamily="18" charset="0"/>
              </a:rPr>
              <a:t>p</a:t>
            </a:r>
            <a:r>
              <a:rPr lang="en-US" altLang="zh-CN" sz="2800" b="1" i="0" baseline="-25000" dirty="0" err="1">
                <a:solidFill>
                  <a:srgbClr val="000000"/>
                </a:solidFill>
                <a:latin typeface="Times New Roman" pitchFamily="18" charset="0"/>
                <a:ea typeface="方正书宋简体" charset="-122"/>
                <a:cs typeface="Times New Roman" pitchFamily="18" charset="0"/>
              </a:rPr>
              <a:t>V</a:t>
            </a:r>
            <a:r>
              <a:rPr lang="en-US" altLang="zh-CN" sz="2800" b="1" i="0" baseline="-25000" dirty="0">
                <a:solidFill>
                  <a:srgbClr val="000000"/>
                </a:solidFill>
                <a:latin typeface="Times New Roman" pitchFamily="18" charset="0"/>
                <a:ea typeface="方正书宋简体" charset="-122"/>
                <a:cs typeface="Times New Roman" pitchFamily="18" charset="0"/>
              </a:rPr>
              <a:t> </a:t>
            </a:r>
            <a:r>
              <a:rPr lang="zh-CN" altLang="en-US" sz="2800" i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低于湿空气温度</a:t>
            </a:r>
            <a:r>
              <a:rPr lang="zh-CN" altLang="en-US" sz="1100" i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 </a:t>
            </a:r>
            <a:r>
              <a:rPr lang="en-US" altLang="zh-CN" sz="2800" b="1" dirty="0">
                <a:latin typeface="Times New Roman" pitchFamily="18" charset="0"/>
                <a:ea typeface="方正书宋简体" charset="-122"/>
                <a:cs typeface="Times New Roman" pitchFamily="18" charset="0"/>
              </a:rPr>
              <a:t>t</a:t>
            </a:r>
            <a:r>
              <a:rPr lang="en-US" altLang="zh-CN" sz="1600" b="1" dirty="0">
                <a:latin typeface="Times New Roman" pitchFamily="18" charset="0"/>
                <a:ea typeface="方正书宋简体" charset="-122"/>
                <a:cs typeface="Times New Roman" pitchFamily="18" charset="0"/>
              </a:rPr>
              <a:t> </a:t>
            </a:r>
            <a:r>
              <a:rPr lang="zh-CN" altLang="en-US" sz="2800" i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所对应的饱和压力</a:t>
            </a:r>
            <a:r>
              <a:rPr lang="en-US" altLang="zh-CN" sz="2800" b="1" dirty="0" err="1">
                <a:latin typeface="Times New Roman" pitchFamily="18" charset="0"/>
                <a:ea typeface="方正书宋简体" charset="-122"/>
                <a:cs typeface="Times New Roman" pitchFamily="18" charset="0"/>
              </a:rPr>
              <a:t>p</a:t>
            </a:r>
            <a:r>
              <a:rPr lang="en-US" altLang="zh-CN" sz="2800" b="1" i="0" baseline="-30000" dirty="0" err="1">
                <a:latin typeface="Times New Roman" pitchFamily="18" charset="0"/>
                <a:ea typeface="方正书宋简体" charset="-122"/>
                <a:cs typeface="Times New Roman" pitchFamily="18" charset="0"/>
                <a:sym typeface="Symbol" pitchFamily="18" charset="2"/>
              </a:rPr>
              <a:t>s</a:t>
            </a:r>
            <a:r>
              <a:rPr lang="zh-CN" altLang="en-US" sz="2800" i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，仍具有吸湿能力。</a:t>
            </a:r>
            <a:endParaRPr lang="zh-CN" altLang="en-US" sz="2800" b="1" i="0" dirty="0">
              <a:solidFill>
                <a:srgbClr val="000000"/>
              </a:solidFill>
              <a:ea typeface="方正书宋简体" charset="-122"/>
              <a:cs typeface="Times New Roman" pitchFamily="18" charset="0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835695" y="3623965"/>
            <a:ext cx="5791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800" i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干空气＋过热水蒸气</a:t>
            </a:r>
            <a:r>
              <a:rPr lang="zh-CN" altLang="en-US" sz="2800" i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  </a:t>
            </a:r>
            <a:r>
              <a:rPr lang="zh-CN" altLang="en-US" sz="2800" b="1" i="0" dirty="0">
                <a:solidFill>
                  <a:srgbClr val="000000"/>
                </a:solidFill>
                <a:latin typeface="Times New Roman" pitchFamily="18" charset="0"/>
                <a:ea typeface="方正书宋简体" charset="-122"/>
                <a:cs typeface="Times New Roman" pitchFamily="18" charset="0"/>
              </a:rPr>
              <a:t>（</a:t>
            </a:r>
            <a:r>
              <a:rPr lang="en-US" altLang="zh-CN" sz="2800" b="1" dirty="0" err="1">
                <a:solidFill>
                  <a:srgbClr val="000000"/>
                </a:solidFill>
                <a:latin typeface="Times New Roman" pitchFamily="18" charset="0"/>
                <a:ea typeface="方正书宋简体" charset="-122"/>
                <a:cs typeface="Times New Roman" pitchFamily="18" charset="0"/>
              </a:rPr>
              <a:t>p</a:t>
            </a:r>
            <a:r>
              <a:rPr lang="en-US" altLang="zh-CN" sz="2800" b="1" i="0" baseline="-25000" dirty="0" err="1">
                <a:solidFill>
                  <a:srgbClr val="000000"/>
                </a:solidFill>
                <a:latin typeface="Times New Roman" pitchFamily="18" charset="0"/>
                <a:ea typeface="方正书宋简体" charset="-122"/>
                <a:cs typeface="Times New Roman" pitchFamily="18" charset="0"/>
              </a:rPr>
              <a:t>V</a:t>
            </a:r>
            <a:r>
              <a:rPr lang="zh-CN" altLang="en-US" sz="2800" i="0" dirty="0">
                <a:solidFill>
                  <a:srgbClr val="000000"/>
                </a:solidFill>
                <a:ea typeface="方正书宋简体" charset="-122"/>
                <a:cs typeface="Times New Roman" pitchFamily="18" charset="0"/>
              </a:rPr>
              <a:t>＜ </a:t>
            </a:r>
            <a:r>
              <a:rPr lang="en-US" altLang="zh-CN" sz="2800" b="1" dirty="0" err="1">
                <a:solidFill>
                  <a:srgbClr val="000000"/>
                </a:solidFill>
                <a:latin typeface="Times New Roman" pitchFamily="18" charset="0"/>
                <a:ea typeface="方正书宋简体" charset="-122"/>
                <a:cs typeface="Times New Roman" pitchFamily="18" charset="0"/>
              </a:rPr>
              <a:t>p</a:t>
            </a:r>
            <a:r>
              <a:rPr lang="en-US" altLang="zh-CN" sz="2800" b="1" i="0" baseline="-25000" dirty="0" err="1">
                <a:solidFill>
                  <a:srgbClr val="000000"/>
                </a:solidFill>
                <a:latin typeface="Times New Roman" pitchFamily="18" charset="0"/>
                <a:ea typeface="方正书宋简体" charset="-122"/>
                <a:cs typeface="Times New Roman" pitchFamily="18" charset="0"/>
              </a:rPr>
              <a:t>s</a:t>
            </a:r>
            <a:r>
              <a:rPr lang="zh-CN" altLang="en-US" sz="2800" i="0" dirty="0">
                <a:solidFill>
                  <a:srgbClr val="000000"/>
                </a:solidFill>
                <a:ea typeface="方正书宋简体" charset="-122"/>
                <a:cs typeface="Times New Roman" pitchFamily="18" charset="0"/>
              </a:rPr>
              <a:t>）</a:t>
            </a:r>
          </a:p>
        </p:txBody>
      </p:sp>
      <p:sp>
        <p:nvSpPr>
          <p:cNvPr id="2" name="矩形 1"/>
          <p:cNvSpPr/>
          <p:nvPr/>
        </p:nvSpPr>
        <p:spPr>
          <a:xfrm>
            <a:off x="366383" y="2920395"/>
            <a:ext cx="293862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未饱和</a:t>
            </a:r>
            <a:r>
              <a:rPr lang="en-US" altLang="zh-CN" sz="28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(</a:t>
            </a:r>
            <a:r>
              <a:rPr lang="zh-CN" altLang="en-US" sz="28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湿</a:t>
            </a:r>
            <a:r>
              <a:rPr lang="en-US" altLang="zh-CN" sz="28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)</a:t>
            </a:r>
            <a:r>
              <a:rPr lang="zh-CN" altLang="en-US" sz="28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空气：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5" dur="80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6" dur="80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" dur="80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23528" y="1196752"/>
            <a:ext cx="8424936" cy="597921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未饱和空气中的水蒸气处于过热蒸气区，如下图</a:t>
            </a:r>
            <a:r>
              <a:rPr lang="en-US" altLang="zh-CN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A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点 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432122" y="4648547"/>
            <a:ext cx="272542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800" i="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饱和</a:t>
            </a:r>
            <a:r>
              <a:rPr lang="en-US" altLang="zh-CN" sz="2800" i="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(</a:t>
            </a:r>
            <a:r>
              <a:rPr lang="zh-CN" altLang="en-US" sz="2800" i="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湿</a:t>
            </a:r>
            <a:r>
              <a:rPr lang="en-US" altLang="zh-CN" sz="2800" i="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)</a:t>
            </a:r>
            <a:r>
              <a:rPr lang="zh-CN" altLang="en-US" sz="2800" i="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空气： </a:t>
            </a: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1577687" y="5287466"/>
            <a:ext cx="59166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800" i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干空气＋饱和水蒸气</a:t>
            </a:r>
            <a:r>
              <a:rPr lang="zh-CN" altLang="en-US" sz="2800" i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 </a:t>
            </a:r>
            <a:r>
              <a:rPr lang="zh-CN" altLang="en-US" sz="2800" b="1" i="0" dirty="0">
                <a:solidFill>
                  <a:srgbClr val="000000"/>
                </a:solidFill>
                <a:ea typeface="方正书宋简体" charset="-122"/>
                <a:cs typeface="Times New Roman" pitchFamily="18" charset="0"/>
              </a:rPr>
              <a:t>（</a:t>
            </a:r>
            <a:r>
              <a:rPr lang="en-US" altLang="zh-CN" sz="2800" b="1" dirty="0" err="1">
                <a:solidFill>
                  <a:srgbClr val="000000"/>
                </a:solidFill>
                <a:latin typeface="Times New Roman" pitchFamily="18" charset="0"/>
                <a:ea typeface="方正书宋简体" charset="-122"/>
                <a:cs typeface="Times New Roman" pitchFamily="18" charset="0"/>
              </a:rPr>
              <a:t>p</a:t>
            </a:r>
            <a:r>
              <a:rPr lang="en-US" altLang="zh-CN" sz="2800" b="1" i="0" baseline="-25000" dirty="0" err="1">
                <a:solidFill>
                  <a:srgbClr val="000000"/>
                </a:solidFill>
                <a:latin typeface="Times New Roman" pitchFamily="18" charset="0"/>
                <a:ea typeface="方正书宋简体" charset="-122"/>
                <a:cs typeface="Times New Roman" pitchFamily="18" charset="0"/>
              </a:rPr>
              <a:t>V</a:t>
            </a:r>
            <a:r>
              <a:rPr lang="en-US" altLang="zh-CN" sz="2800" b="1" i="0" dirty="0">
                <a:solidFill>
                  <a:srgbClr val="000000"/>
                </a:solidFill>
                <a:latin typeface="Times New Roman" pitchFamily="18" charset="0"/>
                <a:ea typeface="方正书宋简体" charset="-122"/>
                <a:cs typeface="Times New Roman" pitchFamily="18" charset="0"/>
              </a:rPr>
              <a:t>=</a:t>
            </a:r>
            <a:r>
              <a:rPr lang="en-US" altLang="zh-CN" sz="2800" i="0" dirty="0">
                <a:solidFill>
                  <a:srgbClr val="000000"/>
                </a:solidFill>
                <a:latin typeface="Times New Roman" pitchFamily="18" charset="0"/>
                <a:ea typeface="方正书宋简体" charset="-122"/>
                <a:cs typeface="Times New Roman" pitchFamily="18" charset="0"/>
              </a:rPr>
              <a:t> </a:t>
            </a:r>
            <a:r>
              <a:rPr lang="en-US" altLang="zh-CN" sz="2800" b="1" dirty="0" err="1">
                <a:solidFill>
                  <a:srgbClr val="000000"/>
                </a:solidFill>
                <a:latin typeface="Times New Roman" pitchFamily="18" charset="0"/>
                <a:ea typeface="方正书宋简体" charset="-122"/>
                <a:cs typeface="Times New Roman" pitchFamily="18" charset="0"/>
              </a:rPr>
              <a:t>p</a:t>
            </a:r>
            <a:r>
              <a:rPr lang="en-US" altLang="zh-CN" sz="2800" b="1" i="0" baseline="-25000" dirty="0" err="1">
                <a:solidFill>
                  <a:srgbClr val="000000"/>
                </a:solidFill>
                <a:latin typeface="Times New Roman" pitchFamily="18" charset="0"/>
                <a:ea typeface="方正书宋简体" charset="-122"/>
                <a:cs typeface="Times New Roman" pitchFamily="18" charset="0"/>
              </a:rPr>
              <a:t>s</a:t>
            </a:r>
            <a:r>
              <a:rPr lang="zh-CN" altLang="en-US" sz="2800" i="0" dirty="0">
                <a:solidFill>
                  <a:srgbClr val="000000"/>
                </a:solidFill>
                <a:ea typeface="方正书宋简体" charset="-122"/>
                <a:cs typeface="Times New Roman" pitchFamily="18" charset="0"/>
              </a:rPr>
              <a:t>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86842" y="6488668"/>
            <a:ext cx="5000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prstClr val="black"/>
                </a:solidFill>
                <a:latin typeface="黑体" pitchFamily="49" charset="-122"/>
                <a:ea typeface="黑体" pitchFamily="49" charset="-122"/>
              </a:rPr>
              <a:t>3</a:t>
            </a:r>
            <a:endParaRPr lang="zh-CN" altLang="en-US" sz="2000" dirty="0">
              <a:solidFill>
                <a:prstClr val="black"/>
              </a:solidFill>
              <a:latin typeface="黑体" pitchFamily="49" charset="-122"/>
              <a:ea typeface="黑体" pitchFamily="49" charset="-122"/>
            </a:endParaRPr>
          </a:p>
        </p:txBody>
      </p:sp>
      <p:pic>
        <p:nvPicPr>
          <p:cNvPr id="3993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2060848"/>
            <a:ext cx="5428700" cy="23762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68595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539551" y="1190806"/>
            <a:ext cx="8166595" cy="11580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  <a:spcAft>
                <a:spcPts val="0"/>
              </a:spcAft>
            </a:pPr>
            <a:r>
              <a:rPr lang="zh-CN" altLang="en-US" sz="2800" kern="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饱和空气中</a:t>
            </a:r>
            <a:r>
              <a:rPr lang="zh-CN" altLang="zh-CN" sz="2800" kern="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水蒸气含量达到了其所处</a:t>
            </a:r>
            <a:r>
              <a:rPr lang="zh-CN" altLang="en-US" sz="2800" kern="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状态</a:t>
            </a:r>
            <a:r>
              <a:rPr lang="zh-CN" altLang="zh-CN" sz="2800" kern="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的最大值</a:t>
            </a:r>
            <a:r>
              <a:rPr lang="zh-CN" altLang="en-US" sz="2800" kern="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，不再具有吸湿能力</a:t>
            </a:r>
            <a:r>
              <a:rPr lang="zh-CN" altLang="zh-CN" sz="2800" kern="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800" kern="5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39552" y="2420888"/>
            <a:ext cx="8166595" cy="1158074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饱和空气中的水蒸气状态位于干饱和蒸气线上，如下图</a:t>
            </a:r>
            <a:r>
              <a:rPr lang="en-US" altLang="zh-CN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B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、</a:t>
            </a:r>
            <a:r>
              <a:rPr lang="en-US" altLang="zh-CN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D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点 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786842" y="6488668"/>
            <a:ext cx="5000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prstClr val="black"/>
                </a:solidFill>
                <a:latin typeface="黑体" pitchFamily="49" charset="-122"/>
                <a:ea typeface="黑体" pitchFamily="49" charset="-122"/>
              </a:rPr>
              <a:t>4</a:t>
            </a:r>
            <a:endParaRPr lang="zh-CN" altLang="en-US" sz="2000" dirty="0">
              <a:solidFill>
                <a:prstClr val="black"/>
              </a:solidFill>
              <a:latin typeface="黑体" pitchFamily="49" charset="-122"/>
              <a:ea typeface="黑体" pitchFamily="49" charset="-122"/>
            </a:endParaRPr>
          </a:p>
        </p:txBody>
      </p:sp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3645024"/>
            <a:ext cx="5428700" cy="23762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85435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/>
          <p:cNvSpPr txBox="1"/>
          <p:nvPr/>
        </p:nvSpPr>
        <p:spPr>
          <a:xfrm>
            <a:off x="123367" y="1142968"/>
            <a:ext cx="408450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800" b="1" dirty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6-2  </a:t>
            </a: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湿空气的状态参数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86842" y="6488668"/>
            <a:ext cx="5000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黑体" pitchFamily="49" charset="-122"/>
                <a:ea typeface="黑体" pitchFamily="49" charset="-122"/>
              </a:rPr>
              <a:t>5</a:t>
            </a:r>
            <a:endParaRPr lang="zh-CN" altLang="en-US" sz="2000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500034" y="5143512"/>
            <a:ext cx="6288901" cy="7386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湿空气的压力和温度可直接测量得到。</a:t>
            </a:r>
          </a:p>
        </p:txBody>
      </p:sp>
      <p:sp>
        <p:nvSpPr>
          <p:cNvPr id="19" name="Rectangle 7"/>
          <p:cNvSpPr>
            <a:spLocks noChangeArrowheads="1"/>
          </p:cNvSpPr>
          <p:nvPr/>
        </p:nvSpPr>
        <p:spPr bwMode="auto">
          <a:xfrm>
            <a:off x="609600" y="2420888"/>
            <a:ext cx="34655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>
                <a:solidFill>
                  <a:srgbClr val="000000"/>
                </a:solidFill>
                <a:latin typeface="Times New Roman" pitchFamily="18" charset="0"/>
                <a:ea typeface="方正书宋简体" charset="-122"/>
                <a:cs typeface="Times New Roman" pitchFamily="18" charset="0"/>
              </a:rPr>
              <a:t>p</a:t>
            </a:r>
            <a:r>
              <a:rPr lang="en-US" altLang="zh-CN" sz="2800" b="1" i="0" baseline="-30000" dirty="0">
                <a:solidFill>
                  <a:srgbClr val="000000"/>
                </a:solidFill>
                <a:latin typeface="Times New Roman" pitchFamily="18" charset="0"/>
                <a:ea typeface="方正书宋简体" charset="-122"/>
                <a:cs typeface="Times New Roman" pitchFamily="18" charset="0"/>
              </a:rPr>
              <a:t>a</a:t>
            </a:r>
            <a:r>
              <a:rPr lang="en-US" altLang="zh-CN" sz="2000" b="1" i="0" dirty="0">
                <a:solidFill>
                  <a:srgbClr val="000000"/>
                </a:solidFill>
                <a:latin typeface="Times New Roman" pitchFamily="18" charset="0"/>
                <a:ea typeface="方正书宋简体" charset="-122"/>
                <a:cs typeface="Times New Roman" pitchFamily="18" charset="0"/>
              </a:rPr>
              <a:t>——</a:t>
            </a:r>
            <a:r>
              <a:rPr lang="zh-CN" altLang="en-US" sz="2800" i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干空气分压力 </a:t>
            </a:r>
          </a:p>
        </p:txBody>
      </p:sp>
      <p:grpSp>
        <p:nvGrpSpPr>
          <p:cNvPr id="20" name="Group 8"/>
          <p:cNvGrpSpPr>
            <a:grpSpLocks/>
          </p:cNvGrpSpPr>
          <p:nvPr/>
        </p:nvGrpSpPr>
        <p:grpSpPr bwMode="auto">
          <a:xfrm>
            <a:off x="609600" y="3055938"/>
            <a:ext cx="5608638" cy="523875"/>
            <a:chOff x="1247" y="2340"/>
            <a:chExt cx="3533" cy="330"/>
          </a:xfrm>
        </p:grpSpPr>
        <p:sp>
          <p:nvSpPr>
            <p:cNvPr id="21" name="Rectangle 9"/>
            <p:cNvSpPr>
              <a:spLocks noChangeArrowheads="1"/>
            </p:cNvSpPr>
            <p:nvPr/>
          </p:nvSpPr>
          <p:spPr bwMode="auto">
            <a:xfrm>
              <a:off x="1247" y="2340"/>
              <a:ext cx="401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800" b="1" dirty="0" err="1">
                  <a:solidFill>
                    <a:srgbClr val="000000"/>
                  </a:solidFill>
                  <a:latin typeface="Times New Roman" pitchFamily="18" charset="0"/>
                  <a:ea typeface="方正书宋简体" charset="-122"/>
                  <a:cs typeface="Times New Roman" pitchFamily="18" charset="0"/>
                </a:rPr>
                <a:t>p</a:t>
              </a:r>
              <a:r>
                <a:rPr lang="en-US" altLang="zh-CN" sz="2800" b="1" i="0" baseline="-30000" dirty="0" err="1">
                  <a:solidFill>
                    <a:srgbClr val="000000"/>
                  </a:solidFill>
                  <a:latin typeface="Times New Roman" pitchFamily="18" charset="0"/>
                  <a:ea typeface="方正书宋简体" charset="-122"/>
                  <a:cs typeface="Times New Roman" pitchFamily="18" charset="0"/>
                  <a:sym typeface="Symbol" pitchFamily="18" charset="2"/>
                </a:rPr>
                <a:t>V</a:t>
              </a:r>
              <a:r>
                <a:rPr lang="en-US" altLang="zh-CN" sz="2800" b="1" i="0" dirty="0">
                  <a:solidFill>
                    <a:srgbClr val="000000"/>
                  </a:solidFill>
                  <a:ea typeface="方正书宋简体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22" name="Rectangle 10"/>
            <p:cNvSpPr>
              <a:spLocks noChangeArrowheads="1"/>
            </p:cNvSpPr>
            <p:nvPr/>
          </p:nvSpPr>
          <p:spPr bwMode="auto">
            <a:xfrm>
              <a:off x="1454" y="2341"/>
              <a:ext cx="332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b="1" i="0" dirty="0">
                  <a:solidFill>
                    <a:srgbClr val="000000"/>
                  </a:solidFill>
                  <a:latin typeface="Times New Roman" pitchFamily="18" charset="0"/>
                  <a:ea typeface="方正书宋简体" charset="-122"/>
                  <a:cs typeface="Times New Roman" pitchFamily="18" charset="0"/>
                </a:rPr>
                <a:t> ——</a:t>
              </a:r>
              <a:r>
                <a:rPr lang="zh-CN" altLang="en-US" sz="2800" i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水蒸气分压力（通常很低） </a:t>
              </a:r>
            </a:p>
          </p:txBody>
        </p:sp>
      </p:grpSp>
      <p:sp>
        <p:nvSpPr>
          <p:cNvPr id="23" name="Rectangle 11"/>
          <p:cNvSpPr>
            <a:spLocks noChangeArrowheads="1"/>
          </p:cNvSpPr>
          <p:nvPr/>
        </p:nvSpPr>
        <p:spPr bwMode="auto">
          <a:xfrm>
            <a:off x="533400" y="3789040"/>
            <a:ext cx="648687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800" i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大气中的湿空气</a:t>
            </a:r>
            <a:r>
              <a:rPr lang="zh-CN" altLang="en-US" sz="2800" b="1" i="0" dirty="0">
                <a:solidFill>
                  <a:srgbClr val="000000"/>
                </a:solidFill>
                <a:latin typeface="Times New Roman" pitchFamily="18" charset="0"/>
                <a:ea typeface="方正书宋简体" charset="-122"/>
                <a:cs typeface="Times New Roman" pitchFamily="18" charset="0"/>
              </a:rPr>
              <a:t>，</a:t>
            </a:r>
            <a:r>
              <a:rPr lang="en-US" altLang="zh-CN" sz="2800" b="1" dirty="0">
                <a:solidFill>
                  <a:srgbClr val="000000"/>
                </a:solidFill>
                <a:latin typeface="Times New Roman" pitchFamily="18" charset="0"/>
                <a:ea typeface="方正书宋简体" charset="-122"/>
                <a:cs typeface="Times New Roman" pitchFamily="18" charset="0"/>
              </a:rPr>
              <a:t>p</a:t>
            </a:r>
            <a:r>
              <a:rPr lang="zh-CN" altLang="en-US" sz="2800" b="1" i="0" dirty="0">
                <a:solidFill>
                  <a:srgbClr val="000000"/>
                </a:solidFill>
                <a:latin typeface="Times New Roman" pitchFamily="18" charset="0"/>
                <a:ea typeface="方正书宋简体" charset="-122"/>
                <a:cs typeface="Times New Roman" pitchFamily="18" charset="0"/>
              </a:rPr>
              <a:t>＝</a:t>
            </a:r>
            <a:r>
              <a:rPr lang="en-US" altLang="zh-CN" sz="2800" b="1" dirty="0" err="1">
                <a:solidFill>
                  <a:srgbClr val="000000"/>
                </a:solidFill>
                <a:latin typeface="Times New Roman" pitchFamily="18" charset="0"/>
                <a:ea typeface="方正书宋简体" charset="-122"/>
                <a:cs typeface="Times New Roman" pitchFamily="18" charset="0"/>
              </a:rPr>
              <a:t>p</a:t>
            </a:r>
            <a:r>
              <a:rPr lang="en-US" altLang="zh-CN" sz="2800" b="1" i="0" baseline="-30000" dirty="0" err="1">
                <a:solidFill>
                  <a:srgbClr val="000000"/>
                </a:solidFill>
                <a:latin typeface="Times New Roman" pitchFamily="18" charset="0"/>
                <a:ea typeface="方正书宋简体" charset="-122"/>
                <a:cs typeface="Times New Roman" pitchFamily="18" charset="0"/>
              </a:rPr>
              <a:t>b</a:t>
            </a:r>
            <a:r>
              <a:rPr lang="en-US" altLang="zh-CN" sz="2800" b="1" baseline="-30000" dirty="0">
                <a:solidFill>
                  <a:srgbClr val="000000"/>
                </a:solidFill>
                <a:latin typeface="Times New Roman" pitchFamily="18" charset="0"/>
                <a:ea typeface="方正书宋简体" charset="-122"/>
                <a:cs typeface="Times New Roman" pitchFamily="18" charset="0"/>
              </a:rPr>
              <a:t>        </a:t>
            </a:r>
            <a:r>
              <a:rPr lang="en-US" altLang="zh-CN" sz="2800" b="1" dirty="0" err="1">
                <a:solidFill>
                  <a:srgbClr val="000000"/>
                </a:solidFill>
                <a:latin typeface="Times New Roman" pitchFamily="18" charset="0"/>
                <a:ea typeface="方正书宋简体" charset="-122"/>
                <a:cs typeface="Times New Roman" pitchFamily="18" charset="0"/>
              </a:rPr>
              <a:t>p</a:t>
            </a:r>
            <a:r>
              <a:rPr lang="en-US" altLang="zh-CN" sz="2800" b="1" i="0" baseline="-30000" dirty="0" err="1">
                <a:solidFill>
                  <a:srgbClr val="000000"/>
                </a:solidFill>
                <a:latin typeface="Times New Roman" pitchFamily="18" charset="0"/>
                <a:ea typeface="方正书宋简体" charset="-122"/>
                <a:cs typeface="Times New Roman" pitchFamily="18" charset="0"/>
              </a:rPr>
              <a:t>V</a:t>
            </a:r>
            <a:r>
              <a:rPr lang="zh-CN" altLang="en-US" sz="2800" b="1" i="0" dirty="0">
                <a:solidFill>
                  <a:srgbClr val="000000"/>
                </a:solidFill>
                <a:latin typeface="Times New Roman" pitchFamily="18" charset="0"/>
                <a:ea typeface="方正书宋简体" charset="-122"/>
                <a:cs typeface="Times New Roman" pitchFamily="18" charset="0"/>
              </a:rPr>
              <a:t>＜</a:t>
            </a:r>
            <a:r>
              <a:rPr lang="zh-CN" altLang="en-US" sz="2800" i="0" dirty="0">
                <a:solidFill>
                  <a:srgbClr val="000000"/>
                </a:solidFill>
                <a:ea typeface="方正书宋简体" charset="-122"/>
                <a:cs typeface="Times New Roman" pitchFamily="18" charset="0"/>
              </a:rPr>
              <a:t> </a:t>
            </a:r>
            <a:r>
              <a:rPr lang="en-US" altLang="zh-CN" sz="2800" b="1" dirty="0" err="1">
                <a:solidFill>
                  <a:srgbClr val="000000"/>
                </a:solidFill>
                <a:latin typeface="Times New Roman" pitchFamily="18" charset="0"/>
                <a:ea typeface="方正书宋简体" charset="-122"/>
                <a:cs typeface="Times New Roman" pitchFamily="18" charset="0"/>
              </a:rPr>
              <a:t>p</a:t>
            </a:r>
            <a:r>
              <a:rPr lang="en-US" altLang="zh-CN" sz="2800" b="1" i="0" baseline="-25000" dirty="0" err="1">
                <a:solidFill>
                  <a:srgbClr val="000000"/>
                </a:solidFill>
                <a:latin typeface="Times New Roman" pitchFamily="18" charset="0"/>
                <a:ea typeface="方正书宋简体" charset="-122"/>
                <a:cs typeface="Times New Roman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ea typeface="方正书宋简体" charset="-122"/>
                <a:cs typeface="Times New Roman" pitchFamily="18" charset="0"/>
              </a:rPr>
              <a:t> </a:t>
            </a:r>
            <a:endParaRPr lang="en-US" altLang="zh-CN" sz="2800" b="1" dirty="0">
              <a:solidFill>
                <a:srgbClr val="000000"/>
              </a:solidFill>
              <a:latin typeface="Times New Roman" pitchFamily="18" charset="0"/>
              <a:ea typeface="方正书宋简体" charset="-122"/>
              <a:cs typeface="Times New Roman" pitchFamily="18" charset="0"/>
            </a:endParaRPr>
          </a:p>
        </p:txBody>
      </p:sp>
      <p:sp>
        <p:nvSpPr>
          <p:cNvPr id="24" name="Rectangle 12"/>
          <p:cNvSpPr>
            <a:spLocks noChangeArrowheads="1"/>
          </p:cNvSpPr>
          <p:nvPr/>
        </p:nvSpPr>
        <p:spPr bwMode="auto">
          <a:xfrm>
            <a:off x="654496" y="4460195"/>
            <a:ext cx="7589912" cy="6524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湿空气温度：   </a:t>
            </a:r>
            <a:r>
              <a:rPr kumimoji="0" lang="en-US" altLang="zh-CN" sz="28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t</a:t>
            </a:r>
            <a:r>
              <a:rPr kumimoji="0" lang="en-US" altLang="zh-CN" sz="2800" b="1" i="0" u="none" strike="noStrike" kern="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b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= </a:t>
            </a:r>
            <a:r>
              <a:rPr kumimoji="0" lang="en-US" altLang="zh-CN" sz="28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t</a:t>
            </a:r>
            <a:r>
              <a:rPr kumimoji="0" lang="en-US" altLang="zh-CN" sz="2800" b="1" i="0" u="none" strike="noStrike" kern="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V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= t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</a:rPr>
              <a:t>       </a:t>
            </a:r>
            <a:r>
              <a:rPr lang="zh-CN" altLang="en-US" sz="2800" b="1" i="0" dirty="0">
                <a:solidFill>
                  <a:srgbClr val="006600"/>
                </a:solidFill>
                <a:latin typeface="Times New Roman" pitchFamily="18" charset="0"/>
                <a:ea typeface="方正书宋简体" charset="-122"/>
                <a:cs typeface="Times New Roman" pitchFamily="18" charset="0"/>
              </a:rPr>
              <a:t>（理想气体混合物）</a:t>
            </a:r>
          </a:p>
        </p:txBody>
      </p:sp>
      <p:sp>
        <p:nvSpPr>
          <p:cNvPr id="25" name="Rectangle 13"/>
          <p:cNvSpPr>
            <a:spLocks noChangeArrowheads="1"/>
          </p:cNvSpPr>
          <p:nvPr/>
        </p:nvSpPr>
        <p:spPr bwMode="auto">
          <a:xfrm>
            <a:off x="609600" y="1772816"/>
            <a:ext cx="7924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800" i="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湿空气压力：</a:t>
            </a:r>
            <a:r>
              <a:rPr lang="zh-CN" altLang="en-US" sz="2800" i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   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itchFamily="18" charset="0"/>
                <a:ea typeface="方正书宋简体" charset="-122"/>
                <a:cs typeface="Times New Roman" pitchFamily="18" charset="0"/>
              </a:rPr>
              <a:t>p = p</a:t>
            </a:r>
            <a:r>
              <a:rPr lang="en-US" altLang="zh-CN" sz="2800" b="1" i="0" baseline="-25000" dirty="0">
                <a:solidFill>
                  <a:srgbClr val="000000"/>
                </a:solidFill>
                <a:latin typeface="Times New Roman" pitchFamily="18" charset="0"/>
                <a:ea typeface="方正书宋简体" charset="-122"/>
                <a:cs typeface="Times New Roman" pitchFamily="18" charset="0"/>
              </a:rPr>
              <a:t>a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itchFamily="18" charset="0"/>
                <a:ea typeface="方正书宋简体" charset="-122"/>
                <a:cs typeface="Times New Roman" pitchFamily="18" charset="0"/>
              </a:rPr>
              <a:t>+ </a:t>
            </a:r>
            <a:r>
              <a:rPr lang="en-US" altLang="zh-CN" sz="2800" b="1" dirty="0" err="1">
                <a:solidFill>
                  <a:srgbClr val="000000"/>
                </a:solidFill>
                <a:latin typeface="Times New Roman" pitchFamily="18" charset="0"/>
                <a:ea typeface="方正书宋简体" charset="-122"/>
                <a:cs typeface="Times New Roman" pitchFamily="18" charset="0"/>
              </a:rPr>
              <a:t>p</a:t>
            </a:r>
            <a:r>
              <a:rPr lang="en-US" altLang="zh-CN" sz="2800" b="1" i="0" baseline="-25000" dirty="0" err="1">
                <a:solidFill>
                  <a:srgbClr val="000000"/>
                </a:solidFill>
                <a:latin typeface="Times New Roman" pitchFamily="18" charset="0"/>
                <a:ea typeface="方正书宋简体" charset="-122"/>
                <a:cs typeface="Times New Roman" pitchFamily="18" charset="0"/>
              </a:rPr>
              <a:t>V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itchFamily="18" charset="0"/>
                <a:ea typeface="方正书宋简体" charset="-122"/>
                <a:cs typeface="Times New Roman" pitchFamily="18" charset="0"/>
              </a:rPr>
              <a:t>        </a:t>
            </a:r>
            <a:r>
              <a:rPr lang="zh-CN" altLang="en-US" sz="2800" b="1" i="0" dirty="0">
                <a:solidFill>
                  <a:srgbClr val="008000"/>
                </a:solidFill>
                <a:latin typeface="Times New Roman" pitchFamily="18" charset="0"/>
                <a:ea typeface="方正书宋简体" charset="-122"/>
                <a:cs typeface="Times New Roman" pitchFamily="18" charset="0"/>
              </a:rPr>
              <a:t>（道尔顿定律）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2" dur="80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3" dur="80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80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3" grpId="0"/>
      <p:bldP spid="24" grpId="0"/>
      <p:bldP spid="2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786842" y="6488668"/>
            <a:ext cx="5000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黑体" pitchFamily="49" charset="-122"/>
                <a:ea typeface="黑体" pitchFamily="49" charset="-122"/>
              </a:rPr>
              <a:t>6</a:t>
            </a:r>
            <a:endParaRPr lang="zh-CN" altLang="en-US" sz="2000" dirty="0">
              <a:latin typeface="黑体" pitchFamily="49" charset="-122"/>
              <a:ea typeface="黑体" pitchFamily="49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563828" y="1885315"/>
            <a:ext cx="2568012" cy="739406"/>
            <a:chOff x="251805" y="1095273"/>
            <a:chExt cx="2312520" cy="739406"/>
          </a:xfrm>
        </p:grpSpPr>
        <p:sp>
          <p:nvSpPr>
            <p:cNvPr id="6" name="圆角矩形 5"/>
            <p:cNvSpPr/>
            <p:nvPr/>
          </p:nvSpPr>
          <p:spPr>
            <a:xfrm>
              <a:off x="251805" y="1095273"/>
              <a:ext cx="2312520" cy="739406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" name="圆角矩形 4"/>
            <p:cNvSpPr/>
            <p:nvPr/>
          </p:nvSpPr>
          <p:spPr>
            <a:xfrm>
              <a:off x="273461" y="1116929"/>
              <a:ext cx="2269208" cy="69609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3340" tIns="35560" rIns="53340" bIns="35560" numCol="1" spcCol="1270" anchor="ctr" anchorCtr="0">
              <a:noAutofit/>
            </a:bodyPr>
            <a:lstStyle/>
            <a:p>
              <a:pPr lvl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2800" kern="12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饱和</a:t>
              </a:r>
              <a:r>
                <a:rPr lang="en-US" altLang="zh-CN" sz="2800" kern="12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(</a:t>
              </a:r>
              <a:r>
                <a:rPr lang="zh-CN" altLang="en-US" sz="2800" kern="12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湿</a:t>
              </a:r>
              <a:r>
                <a:rPr lang="en-US" altLang="zh-CN" sz="2800" kern="12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)</a:t>
              </a:r>
              <a:r>
                <a:rPr lang="zh-CN" altLang="en-US" sz="2800" kern="12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空气</a:t>
              </a:r>
              <a:endParaRPr lang="zh-CN" altLang="en-US" sz="2800" kern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4067944" y="1400585"/>
            <a:ext cx="3888432" cy="1524359"/>
            <a:chOff x="4453555" y="516502"/>
            <a:chExt cx="3690376" cy="1524359"/>
          </a:xfrm>
        </p:grpSpPr>
        <p:sp>
          <p:nvSpPr>
            <p:cNvPr id="9" name="圆角矩形 8"/>
            <p:cNvSpPr/>
            <p:nvPr/>
          </p:nvSpPr>
          <p:spPr>
            <a:xfrm>
              <a:off x="4453555" y="516502"/>
              <a:ext cx="3690376" cy="1524359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sp>
        <p:sp>
          <p:nvSpPr>
            <p:cNvPr id="10" name="圆角矩形 4"/>
            <p:cNvSpPr/>
            <p:nvPr/>
          </p:nvSpPr>
          <p:spPr>
            <a:xfrm>
              <a:off x="4498202" y="561149"/>
              <a:ext cx="3601082" cy="143506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spcFirstLastPara="0" vert="horz" wrap="square" lIns="53340" tIns="35560" rIns="53340" bIns="35560" numCol="1" spcCol="1270" anchor="ctr" anchorCtr="0">
              <a:noAutofit/>
            </a:bodyPr>
            <a:lstStyle/>
            <a:p>
              <a:pPr lvl="0" algn="ctr" defTabSz="1244600">
                <a:lnSpc>
                  <a:spcPct val="13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2800" kern="1200" dirty="0"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   水蒸气含量为最大量，</a:t>
              </a:r>
              <a:endParaRPr lang="en-US" altLang="zh-CN" sz="2800" kern="1200" dirty="0">
                <a:latin typeface="Times New Roman" pitchFamily="18" charset="0"/>
                <a:ea typeface="微软雅黑" pitchFamily="34" charset="-122"/>
                <a:cs typeface="Times New Roman" pitchFamily="18" charset="0"/>
              </a:endParaRPr>
            </a:p>
            <a:p>
              <a:pPr lvl="0" algn="ctr" defTabSz="1244600">
                <a:lnSpc>
                  <a:spcPct val="13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2800" kern="1200" dirty="0"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  由 </a:t>
              </a:r>
              <a:r>
                <a:rPr lang="en-US" altLang="zh-CN" sz="2800" i="1" kern="1200" dirty="0"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p</a:t>
              </a:r>
              <a:r>
                <a:rPr lang="en-US" altLang="zh-CN" sz="2800" kern="1200" dirty="0"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zh-CN" altLang="en-US" sz="2800" kern="1200" dirty="0"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和 </a:t>
              </a:r>
              <a:r>
                <a:rPr lang="en-US" altLang="zh-CN" sz="2800" i="1" kern="1200" dirty="0"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t</a:t>
              </a:r>
              <a:r>
                <a:rPr lang="en-US" altLang="zh-CN" sz="2800" kern="1200" dirty="0"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zh-CN" altLang="en-US" sz="2800" kern="1200" dirty="0"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可确定其状态</a:t>
              </a:r>
              <a:r>
                <a:rPr lang="zh-CN" altLang="en-US" sz="2800" dirty="0"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。</a:t>
              </a:r>
              <a:endParaRPr lang="zh-CN" altLang="en-US" sz="2800" kern="1200" dirty="0"/>
            </a:p>
          </p:txBody>
        </p:sp>
      </p:grpSp>
      <p:cxnSp>
        <p:nvCxnSpPr>
          <p:cNvPr id="12" name="直接箭头连接符 11"/>
          <p:cNvCxnSpPr/>
          <p:nvPr/>
        </p:nvCxnSpPr>
        <p:spPr>
          <a:xfrm>
            <a:off x="3112790" y="2255018"/>
            <a:ext cx="965940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6" name="组合 15"/>
          <p:cNvGrpSpPr/>
          <p:nvPr/>
        </p:nvGrpSpPr>
        <p:grpSpPr>
          <a:xfrm>
            <a:off x="630610" y="4057746"/>
            <a:ext cx="2592288" cy="739406"/>
            <a:chOff x="251805" y="1095273"/>
            <a:chExt cx="2312520" cy="739406"/>
          </a:xfrm>
        </p:grpSpPr>
        <p:sp>
          <p:nvSpPr>
            <p:cNvPr id="17" name="圆角矩形 16"/>
            <p:cNvSpPr/>
            <p:nvPr/>
          </p:nvSpPr>
          <p:spPr>
            <a:xfrm>
              <a:off x="251805" y="1095273"/>
              <a:ext cx="2312520" cy="739406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8" name="圆角矩形 4"/>
            <p:cNvSpPr/>
            <p:nvPr/>
          </p:nvSpPr>
          <p:spPr>
            <a:xfrm>
              <a:off x="273461" y="1116929"/>
              <a:ext cx="2269208" cy="69609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3340" tIns="35560" rIns="53340" bIns="35560" numCol="1" spcCol="1270" anchor="ctr" anchorCtr="0">
              <a:noAutofit/>
            </a:bodyPr>
            <a:lstStyle/>
            <a:p>
              <a:pPr lvl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28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未</a:t>
              </a:r>
              <a:r>
                <a:rPr lang="zh-CN" altLang="en-US" sz="2800" kern="12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饱和</a:t>
              </a:r>
              <a:r>
                <a:rPr lang="en-US" altLang="zh-CN" sz="2800" kern="12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(</a:t>
              </a:r>
              <a:r>
                <a:rPr lang="zh-CN" altLang="en-US" sz="2800" kern="12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湿</a:t>
              </a:r>
              <a:r>
                <a:rPr lang="en-US" altLang="zh-CN" sz="2800" kern="12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)</a:t>
              </a:r>
              <a:r>
                <a:rPr lang="zh-CN" altLang="en-US" sz="2800" kern="12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空气</a:t>
              </a:r>
              <a:endParaRPr lang="zh-CN" altLang="en-US" sz="2800" kern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4139952" y="3140969"/>
            <a:ext cx="3888432" cy="2736304"/>
            <a:chOff x="4453555" y="246389"/>
            <a:chExt cx="3690376" cy="2050826"/>
          </a:xfrm>
        </p:grpSpPr>
        <p:sp>
          <p:nvSpPr>
            <p:cNvPr id="20" name="圆角矩形 19"/>
            <p:cNvSpPr/>
            <p:nvPr/>
          </p:nvSpPr>
          <p:spPr>
            <a:xfrm>
              <a:off x="4453555" y="400199"/>
              <a:ext cx="3690376" cy="1743203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sp>
        <p:sp>
          <p:nvSpPr>
            <p:cNvPr id="21" name="圆角矩形 4"/>
            <p:cNvSpPr/>
            <p:nvPr/>
          </p:nvSpPr>
          <p:spPr>
            <a:xfrm>
              <a:off x="4498202" y="246389"/>
              <a:ext cx="3601082" cy="205082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spcFirstLastPara="0" vert="horz" wrap="square" lIns="53340" tIns="35560" rIns="53340" bIns="35560" numCol="1" spcCol="1270" anchor="ctr" anchorCtr="0">
              <a:noAutofit/>
            </a:bodyPr>
            <a:lstStyle/>
            <a:p>
              <a:pPr lvl="0" algn="ctr" defTabSz="1244600">
                <a:lnSpc>
                  <a:spcPct val="13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2800" kern="1200" dirty="0"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水蒸气含量不确定，除 </a:t>
              </a:r>
              <a:r>
                <a:rPr lang="en-US" altLang="zh-CN" sz="2800" i="1" kern="1200" dirty="0"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p</a:t>
              </a:r>
              <a:r>
                <a:rPr lang="zh-CN" altLang="en-US" sz="2800" kern="1200" dirty="0"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、</a:t>
              </a:r>
              <a:r>
                <a:rPr lang="en-US" altLang="zh-CN" sz="2800" i="1" kern="1200" dirty="0"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t</a:t>
              </a:r>
              <a:r>
                <a:rPr lang="en-US" altLang="zh-CN" sz="2800" kern="1200" dirty="0"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zh-CN" altLang="en-US" sz="2800" dirty="0"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外，还需湿空气中水蒸气含量的参数，如 </a:t>
              </a:r>
              <a:r>
                <a:rPr lang="en-US" altLang="zh-CN" sz="2800" i="1" dirty="0" err="1"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p</a:t>
              </a:r>
              <a:r>
                <a:rPr lang="en-US" altLang="zh-CN" sz="2800" baseline="-25000" dirty="0" err="1"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V</a:t>
              </a:r>
              <a:r>
                <a:rPr lang="en-US" altLang="zh-CN" sz="2800" dirty="0"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zh-CN" altLang="en-US" sz="2800" dirty="0"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等</a:t>
              </a:r>
              <a:r>
                <a:rPr lang="zh-CN" altLang="en-US" sz="2800" kern="1200" dirty="0"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来确定其状态。</a:t>
              </a:r>
              <a:endParaRPr lang="zh-CN" altLang="en-US" sz="2800" kern="1200" dirty="0"/>
            </a:p>
          </p:txBody>
        </p:sp>
      </p:grpSp>
      <p:cxnSp>
        <p:nvCxnSpPr>
          <p:cNvPr id="22" name="直接箭头连接符 21"/>
          <p:cNvCxnSpPr/>
          <p:nvPr/>
        </p:nvCxnSpPr>
        <p:spPr>
          <a:xfrm>
            <a:off x="3203848" y="4427449"/>
            <a:ext cx="965940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786842" y="6488668"/>
            <a:ext cx="5000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prstClr val="black"/>
                </a:solidFill>
                <a:latin typeface="黑体" pitchFamily="49" charset="-122"/>
                <a:ea typeface="黑体" pitchFamily="49" charset="-122"/>
              </a:rPr>
              <a:t>7</a:t>
            </a:r>
            <a:endParaRPr lang="zh-CN" altLang="en-US" sz="2000" dirty="0">
              <a:solidFill>
                <a:prstClr val="black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74626" y="2635071"/>
            <a:ext cx="781379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kern="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露点温度 </a:t>
            </a:r>
            <a:r>
              <a:rPr lang="en-US" altLang="zh-CN" sz="2800" i="1" kern="0" dirty="0" err="1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  <a:r>
              <a:rPr lang="en-US" altLang="zh-CN" sz="2800" kern="0" baseline="-25000" dirty="0" err="1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r>
              <a:rPr lang="zh-CN" altLang="en-US" sz="2800" kern="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8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对应水蒸气分压力 </a:t>
            </a:r>
            <a:r>
              <a:rPr lang="en-US" altLang="zh-CN" sz="28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p</a:t>
            </a:r>
            <a:r>
              <a:rPr lang="en-US" altLang="zh-CN" sz="2800" b="1" baseline="-25000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v</a:t>
            </a:r>
            <a:r>
              <a:rPr lang="zh-CN" altLang="en-US" sz="28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下的饱和温度。</a:t>
            </a:r>
            <a:endParaRPr lang="zh-CN" altLang="en-US" sz="2800" dirty="0"/>
          </a:p>
        </p:txBody>
      </p:sp>
      <p:sp>
        <p:nvSpPr>
          <p:cNvPr id="5" name="矩形 4"/>
          <p:cNvSpPr/>
          <p:nvPr/>
        </p:nvSpPr>
        <p:spPr>
          <a:xfrm>
            <a:off x="539553" y="1268760"/>
            <a:ext cx="7776863" cy="121264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dirty="0">
                <a:solidFill>
                  <a:prstClr val="black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反映湿空气中水蒸气含量的参数除水蒸气分压力</a:t>
            </a:r>
            <a:r>
              <a:rPr lang="en-US" altLang="zh-CN" sz="28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p</a:t>
            </a:r>
            <a:r>
              <a:rPr lang="en-US" altLang="zh-CN" sz="2800" b="1" baseline="-25000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v</a:t>
            </a:r>
            <a:r>
              <a:rPr lang="zh-CN" altLang="en-US" sz="2800" dirty="0">
                <a:solidFill>
                  <a:prstClr val="black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外，还有以下各参数：</a:t>
            </a:r>
            <a:endParaRPr lang="zh-CN" altLang="en-US" sz="2800" dirty="0"/>
          </a:p>
        </p:txBody>
      </p:sp>
      <p:sp>
        <p:nvSpPr>
          <p:cNvPr id="6" name="矩形 5"/>
          <p:cNvSpPr/>
          <p:nvPr/>
        </p:nvSpPr>
        <p:spPr>
          <a:xfrm>
            <a:off x="539553" y="3429000"/>
            <a:ext cx="7776863" cy="241912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 fontAlgn="base">
              <a:lnSpc>
                <a:spcPct val="13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srgbClr val="000000"/>
                </a:solidFill>
                <a:latin typeface="Arial" pitchFamily="34" charset="0"/>
                <a:ea typeface="宋体" pitchFamily="2" charset="-122"/>
              </a:rPr>
              <a:t>即</a:t>
            </a:r>
            <a:r>
              <a:rPr lang="en-US" altLang="zh-CN" sz="2800" b="1" dirty="0">
                <a:solidFill>
                  <a:srgbClr val="000000"/>
                </a:solidFill>
                <a:latin typeface="Arial" pitchFamily="34" charset="0"/>
                <a:ea typeface="宋体" pitchFamily="2" charset="-122"/>
              </a:rPr>
              <a:t>: </a:t>
            </a:r>
            <a:r>
              <a:rPr lang="en-US" altLang="zh-CN" sz="28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p</a:t>
            </a:r>
            <a:r>
              <a:rPr lang="en-US" altLang="zh-CN" sz="2800" b="1" baseline="-25000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V</a:t>
            </a:r>
            <a:r>
              <a:rPr lang="en-US" altLang="zh-CN" sz="2800" b="1" i="1" baseline="-25000" dirty="0">
                <a:solidFill>
                  <a:srgbClr val="000000"/>
                </a:solidFill>
                <a:latin typeface="Arial" pitchFamily="34" charset="0"/>
                <a:ea typeface="宋体" pitchFamily="2" charset="-122"/>
              </a:rPr>
              <a:t> </a:t>
            </a:r>
            <a:r>
              <a:rPr lang="zh-CN" altLang="en-US" sz="2800" b="1" dirty="0">
                <a:solidFill>
                  <a:srgbClr val="000000"/>
                </a:solidFill>
                <a:latin typeface="Arial" pitchFamily="34" charset="0"/>
                <a:ea typeface="宋体" pitchFamily="2" charset="-122"/>
              </a:rPr>
              <a:t>不变，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t </a:t>
            </a:r>
            <a:r>
              <a:rPr lang="zh-CN" altLang="en-US" sz="2800" b="1" dirty="0">
                <a:solidFill>
                  <a:srgbClr val="000000"/>
                </a:solidFill>
                <a:latin typeface="Arial" pitchFamily="34" charset="0"/>
                <a:ea typeface="宋体" pitchFamily="2" charset="-122"/>
              </a:rPr>
              <a:t>降低至 </a:t>
            </a:r>
            <a:r>
              <a:rPr lang="en-US" altLang="zh-CN" sz="28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p</a:t>
            </a:r>
            <a:r>
              <a:rPr lang="en-US" altLang="zh-CN" sz="2800" b="1" baseline="-25000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V</a:t>
            </a:r>
            <a:r>
              <a:rPr lang="zh-CN" altLang="en-US" sz="2800" b="1" dirty="0">
                <a:solidFill>
                  <a:srgbClr val="000000"/>
                </a:solidFill>
                <a:latin typeface="Arial" pitchFamily="34" charset="0"/>
                <a:ea typeface="宋体" pitchFamily="2" charset="-122"/>
              </a:rPr>
              <a:t>对应的 </a:t>
            </a:r>
            <a:r>
              <a:rPr lang="en-US" altLang="zh-CN" sz="28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t</a:t>
            </a:r>
            <a:r>
              <a:rPr lang="en-US" altLang="zh-CN" sz="2800" b="1" baseline="-25000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s</a:t>
            </a:r>
            <a:r>
              <a:rPr lang="en-US" altLang="zh-CN" sz="2800" b="1" i="1" baseline="-25000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时</a:t>
            </a:r>
            <a:r>
              <a:rPr lang="zh-CN" altLang="en-US" sz="2800" b="1" dirty="0">
                <a:latin typeface="Times New Roman" pitchFamily="18" charset="0"/>
                <a:ea typeface="宋体" pitchFamily="2" charset="-122"/>
              </a:rPr>
              <a:t>，未饱和空气变为饱和空气，继续降低温度将会有水蒸气凝结析出（结露）。</a:t>
            </a:r>
            <a:endParaRPr lang="en-US" altLang="zh-CN" sz="2800" b="1" dirty="0">
              <a:latin typeface="Times New Roman" pitchFamily="18" charset="0"/>
              <a:ea typeface="宋体" pitchFamily="2" charset="-122"/>
            </a:endParaRPr>
          </a:p>
          <a:p>
            <a:pPr lvl="0" fontAlgn="base">
              <a:lnSpc>
                <a:spcPct val="13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                      </a:t>
            </a:r>
            <a:r>
              <a:rPr lang="en-US" altLang="zh-CN" sz="28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p</a:t>
            </a:r>
            <a:r>
              <a:rPr lang="en-US" altLang="zh-CN" sz="2800" b="1" baseline="-25000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V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↑→ </a:t>
            </a:r>
            <a:r>
              <a:rPr lang="en-US" altLang="zh-CN" sz="28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t</a:t>
            </a:r>
            <a:r>
              <a:rPr lang="en-US" altLang="zh-CN" sz="2800" b="1" baseline="-25000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D</a:t>
            </a:r>
            <a:r>
              <a:rPr lang="en-US" altLang="zh-CN" sz="2800" b="1" i="1" dirty="0">
                <a:solidFill>
                  <a:srgbClr val="000000"/>
                </a:solidFill>
                <a:latin typeface="Arial" pitchFamily="34" charset="0"/>
                <a:ea typeface="宋体" pitchFamily="2" charset="-122"/>
              </a:rPr>
              <a:t>↑</a:t>
            </a:r>
            <a:r>
              <a:rPr lang="en-US" altLang="zh-CN" sz="2800" b="1" dirty="0">
                <a:solidFill>
                  <a:srgbClr val="000000"/>
                </a:solidFill>
                <a:latin typeface="Arial" pitchFamily="34" charset="0"/>
                <a:ea typeface="宋体" pitchFamily="2" charset="-122"/>
              </a:rPr>
              <a:t>            </a:t>
            </a:r>
            <a:r>
              <a:rPr lang="en-US" altLang="zh-CN" sz="28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t</a:t>
            </a:r>
            <a:r>
              <a:rPr lang="en-US" altLang="zh-CN" sz="2800" b="1" baseline="-25000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D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=f</a:t>
            </a:r>
            <a:r>
              <a:rPr lang="zh-CN" altLang="en-US" sz="28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（</a:t>
            </a:r>
            <a:r>
              <a:rPr lang="en-US" altLang="zh-CN" sz="28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p</a:t>
            </a:r>
            <a:r>
              <a:rPr lang="en-US" altLang="zh-CN" sz="2800" b="1" baseline="-25000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V</a:t>
            </a:r>
            <a:r>
              <a:rPr lang="zh-CN" altLang="en-US" sz="28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988355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786842" y="6488668"/>
            <a:ext cx="5000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黑体" pitchFamily="49" charset="-122"/>
                <a:ea typeface="黑体" pitchFamily="49" charset="-122"/>
              </a:rPr>
              <a:t>8</a:t>
            </a:r>
            <a:endParaRPr lang="zh-CN" altLang="en-US" sz="2000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755576" y="1196752"/>
            <a:ext cx="7215238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hangingPunct="0">
              <a:lnSpc>
                <a:spcPct val="150000"/>
              </a:lnSpc>
            </a:pPr>
            <a:r>
              <a:rPr lang="zh-CN" altLang="en-US" sz="28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从未饱和空气变为饱和空气有</a:t>
            </a:r>
            <a:r>
              <a:rPr lang="zh-CN" altLang="en-US" sz="14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2</a:t>
            </a:r>
            <a:r>
              <a:rPr lang="en-US" altLang="zh-CN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zh-CN" altLang="en-US" sz="28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个途径：</a:t>
            </a:r>
            <a:endParaRPr lang="en-US" altLang="zh-CN" sz="2800" dirty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  <a:p>
            <a:pPr marL="457200" indent="-457200" eaLnBrk="0" hangingPunct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>
                <a:solidFill>
                  <a:srgbClr val="7030A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等压降温，</a:t>
            </a:r>
            <a:r>
              <a:rPr lang="en-US" altLang="zh-CN" sz="2800" b="1" dirty="0">
                <a:solidFill>
                  <a:srgbClr val="7030A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A→D</a:t>
            </a:r>
          </a:p>
          <a:p>
            <a:pPr marL="457200" indent="-457200" eaLnBrk="0" hangingPunct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>
                <a:solidFill>
                  <a:srgbClr val="7030A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等温升压，</a:t>
            </a:r>
            <a:r>
              <a:rPr lang="en-US" altLang="zh-CN" sz="2800" b="1" dirty="0">
                <a:solidFill>
                  <a:srgbClr val="7030A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A→B</a:t>
            </a:r>
            <a:r>
              <a:rPr lang="zh-CN" altLang="en-US" sz="2800" dirty="0">
                <a:solidFill>
                  <a:srgbClr val="7030A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 </a:t>
            </a:r>
            <a:endParaRPr lang="en-US" altLang="zh-CN" sz="2800" dirty="0">
              <a:solidFill>
                <a:srgbClr val="7030A0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3501008"/>
            <a:ext cx="5428700" cy="23762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7"/>
          <p:cNvSpPr>
            <a:spLocks noChangeArrowheads="1"/>
          </p:cNvSpPr>
          <p:nvPr/>
        </p:nvSpPr>
        <p:spPr bwMode="auto">
          <a:xfrm>
            <a:off x="214282" y="1359008"/>
            <a:ext cx="255751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r>
              <a:rPr lang="zh-CN" altLang="en-US" sz="2800" kern="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湿空气的湿度</a:t>
            </a:r>
          </a:p>
        </p:txBody>
      </p:sp>
      <p:sp>
        <p:nvSpPr>
          <p:cNvPr id="4" name="Rectangle 8"/>
          <p:cNvSpPr>
            <a:spLocks noChangeArrowheads="1"/>
          </p:cNvSpPr>
          <p:nvPr/>
        </p:nvSpPr>
        <p:spPr bwMode="auto">
          <a:xfrm>
            <a:off x="252364" y="2072474"/>
            <a:ext cx="774608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r>
              <a:rPr lang="zh-CN" altLang="en-US" sz="2800" i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（</a:t>
            </a:r>
            <a:r>
              <a:rPr lang="en-US" altLang="zh-CN" sz="2800" i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1</a:t>
            </a:r>
            <a:r>
              <a:rPr lang="zh-CN" altLang="en-US" sz="2800" i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）绝对湿度</a:t>
            </a:r>
            <a:r>
              <a:rPr lang="zh-CN" altLang="en-US" sz="2800" b="1" i="1" dirty="0">
                <a:latin typeface="Times New Roman" pitchFamily="18" charset="0"/>
                <a:ea typeface="方正书宋简体" charset="-122"/>
                <a:cs typeface="Times New Roman" pitchFamily="18" charset="0"/>
                <a:sym typeface="Symbol" pitchFamily="18" charset="2"/>
              </a:rPr>
              <a:t></a:t>
            </a:r>
            <a:r>
              <a:rPr lang="en-US" altLang="zh-CN" sz="2800" b="1" i="0" baseline="-30000" dirty="0">
                <a:latin typeface="Times New Roman" pitchFamily="18" charset="0"/>
                <a:ea typeface="方正书宋简体" charset="-122"/>
                <a:cs typeface="Times New Roman" pitchFamily="18" charset="0"/>
                <a:sym typeface="Symbol" pitchFamily="18" charset="2"/>
              </a:rPr>
              <a:t>V</a:t>
            </a:r>
            <a:r>
              <a:rPr lang="en-US" altLang="zh-CN" sz="2800" b="1" baseline="-30000" dirty="0">
                <a:solidFill>
                  <a:srgbClr val="0070C0"/>
                </a:solidFill>
                <a:latin typeface="Times New Roman" pitchFamily="18" charset="0"/>
                <a:ea typeface="方正书宋简体" charset="-122"/>
                <a:cs typeface="Times New Roman" pitchFamily="18" charset="0"/>
                <a:sym typeface="Symbol" pitchFamily="18" charset="2"/>
              </a:rPr>
              <a:t> </a:t>
            </a:r>
            <a:r>
              <a:rPr lang="en-US" altLang="zh-CN" sz="2800" b="1" dirty="0">
                <a:latin typeface="Times New Roman" pitchFamily="18" charset="0"/>
                <a:ea typeface="方正书宋简体" charset="-122"/>
                <a:cs typeface="Times New Roman" pitchFamily="18" charset="0"/>
                <a:sym typeface="Symbol" pitchFamily="18" charset="2"/>
              </a:rPr>
              <a:t> </a:t>
            </a:r>
            <a:r>
              <a:rPr lang="en-US" altLang="zh-CN" sz="2800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  <a:sym typeface="Symbol" pitchFamily="18" charset="2"/>
              </a:rPr>
              <a:t>(</a:t>
            </a:r>
            <a:r>
              <a:rPr lang="zh-CN" altLang="en-US" sz="2800" i="0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  <a:sym typeface="Symbol" pitchFamily="18" charset="2"/>
              </a:rPr>
              <a:t>湿空气中水蒸气的密度</a:t>
            </a:r>
            <a:r>
              <a:rPr lang="en-US" altLang="zh-CN" sz="2800" i="0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  <a:sym typeface="Symbol" pitchFamily="18" charset="2"/>
              </a:rPr>
              <a:t>)</a:t>
            </a:r>
            <a:endParaRPr lang="zh-CN" altLang="en-US" sz="2800" i="0" dirty="0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  <a:sym typeface="Symbol" pitchFamily="18" charset="2"/>
            </a:endParaRPr>
          </a:p>
        </p:txBody>
      </p:sp>
      <p:graphicFrame>
        <p:nvGraphicFramePr>
          <p:cNvPr id="18446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9080082"/>
              </p:ext>
            </p:extLst>
          </p:nvPr>
        </p:nvGraphicFramePr>
        <p:xfrm>
          <a:off x="3635375" y="2833688"/>
          <a:ext cx="2736850" cy="1071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6" name="公式" r:id="rId3" imgW="1104840" imgH="355320" progId="Equation.3">
                  <p:embed/>
                </p:oleObj>
              </mc:Choice>
              <mc:Fallback>
                <p:oleObj name="公式" r:id="rId3" imgW="1104840" imgH="35532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375" y="2833688"/>
                        <a:ext cx="2736850" cy="1071562"/>
                      </a:xfrm>
                      <a:prstGeom prst="rect">
                        <a:avLst/>
                      </a:prstGeom>
                      <a:solidFill>
                        <a:srgbClr val="FFCC99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10"/>
          <p:cNvSpPr>
            <a:spLocks noChangeArrowheads="1"/>
          </p:cNvSpPr>
          <p:nvPr/>
        </p:nvSpPr>
        <p:spPr bwMode="auto">
          <a:xfrm>
            <a:off x="1071538" y="4261040"/>
            <a:ext cx="595471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r>
              <a:rPr lang="zh-CN" altLang="en-US" sz="2800" i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式中</a:t>
            </a:r>
            <a:r>
              <a:rPr lang="zh-CN" altLang="en-US" sz="2800" i="0" dirty="0">
                <a:latin typeface="Times New Roman" pitchFamily="18" charset="0"/>
                <a:ea typeface="方正书宋简体" charset="-122"/>
                <a:cs typeface="Times New Roman" pitchFamily="18" charset="0"/>
              </a:rPr>
              <a:t>       </a:t>
            </a:r>
            <a:r>
              <a:rPr lang="en-US" altLang="zh-CN" sz="2800" i="1" dirty="0" err="1">
                <a:latin typeface="Times New Roman" pitchFamily="18" charset="0"/>
                <a:ea typeface="方正书宋简体" charset="-122"/>
                <a:cs typeface="Times New Roman" pitchFamily="18" charset="0"/>
              </a:rPr>
              <a:t>R</a:t>
            </a:r>
            <a:r>
              <a:rPr lang="en-US" altLang="zh-CN" sz="2800" i="0" baseline="-25000" dirty="0" err="1">
                <a:latin typeface="Times New Roman" pitchFamily="18" charset="0"/>
                <a:ea typeface="方正书宋简体" charset="-122"/>
                <a:cs typeface="Times New Roman" pitchFamily="18" charset="0"/>
              </a:rPr>
              <a:t>g</a:t>
            </a:r>
            <a:r>
              <a:rPr lang="en-US" altLang="zh-CN" sz="2800" i="0" baseline="-25000" dirty="0">
                <a:latin typeface="Times New Roman" pitchFamily="18" charset="0"/>
                <a:ea typeface="方正书宋简体" charset="-122"/>
                <a:cs typeface="Times New Roman" pitchFamily="18" charset="0"/>
              </a:rPr>
              <a:t> </a:t>
            </a:r>
            <a:r>
              <a:rPr lang="en-US" altLang="zh-CN" sz="2800" baseline="-25000" dirty="0">
                <a:latin typeface="Times New Roman" pitchFamily="18" charset="0"/>
                <a:ea typeface="方正书宋简体" charset="-122"/>
                <a:cs typeface="Times New Roman" pitchFamily="18" charset="0"/>
              </a:rPr>
              <a:t>,</a:t>
            </a:r>
            <a:r>
              <a:rPr lang="en-US" altLang="zh-CN" sz="2800" i="0" baseline="-30000" dirty="0">
                <a:latin typeface="Times New Roman" pitchFamily="18" charset="0"/>
                <a:ea typeface="方正书宋简体" charset="-122"/>
                <a:cs typeface="Times New Roman" pitchFamily="18" charset="0"/>
                <a:sym typeface="Symbol" pitchFamily="18" charset="2"/>
              </a:rPr>
              <a:t>V</a:t>
            </a:r>
            <a:r>
              <a:rPr lang="zh-CN" altLang="en-US" sz="2800" i="0" dirty="0">
                <a:latin typeface="Times New Roman" pitchFamily="18" charset="0"/>
                <a:ea typeface="方正书宋简体" charset="-122"/>
                <a:cs typeface="Times New Roman" pitchFamily="18" charset="0"/>
              </a:rPr>
              <a:t>＝</a:t>
            </a:r>
            <a:r>
              <a:rPr lang="en-US" altLang="zh-CN" sz="2800" i="0" dirty="0">
                <a:solidFill>
                  <a:srgbClr val="000000"/>
                </a:solidFill>
                <a:latin typeface="Times New Roman" pitchFamily="18" charset="0"/>
                <a:ea typeface="方正书宋简体" charset="-122"/>
                <a:cs typeface="Times New Roman" pitchFamily="18" charset="0"/>
              </a:rPr>
              <a:t>461.5</a:t>
            </a:r>
            <a:r>
              <a:rPr lang="en-US" altLang="zh-CN" sz="2800" i="0" dirty="0">
                <a:solidFill>
                  <a:srgbClr val="000000"/>
                </a:solidFill>
                <a:latin typeface="Times New Roman" pitchFamily="18" charset="0"/>
                <a:ea typeface="方正书宋简体" charset="-122"/>
                <a:cs typeface="Times New Roman" pitchFamily="18" charset="0"/>
                <a:sym typeface="Symbol" pitchFamily="18" charset="2"/>
              </a:rPr>
              <a:t>[</a:t>
            </a:r>
            <a:r>
              <a:rPr lang="en-US" altLang="zh-CN" sz="2800" i="0" dirty="0">
                <a:solidFill>
                  <a:srgbClr val="000000"/>
                </a:solidFill>
                <a:latin typeface="Times New Roman" pitchFamily="18" charset="0"/>
                <a:ea typeface="方正书宋简体" charset="-122"/>
                <a:cs typeface="Times New Roman" pitchFamily="18" charset="0"/>
              </a:rPr>
              <a:t>J/</a:t>
            </a:r>
            <a:r>
              <a:rPr lang="zh-CN" altLang="en-US" sz="2800" i="0" dirty="0">
                <a:solidFill>
                  <a:srgbClr val="000000"/>
                </a:solidFill>
                <a:latin typeface="Times New Roman" pitchFamily="18" charset="0"/>
                <a:ea typeface="方正书宋简体" charset="-122"/>
                <a:cs typeface="Times New Roman" pitchFamily="18" charset="0"/>
              </a:rPr>
              <a:t>（</a:t>
            </a:r>
            <a:r>
              <a:rPr lang="en-US" altLang="zh-CN" sz="2800" i="0" dirty="0">
                <a:solidFill>
                  <a:srgbClr val="000000"/>
                </a:solidFill>
                <a:latin typeface="Times New Roman" pitchFamily="18" charset="0"/>
                <a:ea typeface="方正书宋简体" charset="-122"/>
                <a:cs typeface="Times New Roman" pitchFamily="18" charset="0"/>
              </a:rPr>
              <a:t>kg · K</a:t>
            </a:r>
            <a:r>
              <a:rPr lang="zh-CN" altLang="en-US" sz="2800" i="0" dirty="0">
                <a:solidFill>
                  <a:srgbClr val="000000"/>
                </a:solidFill>
                <a:latin typeface="Times New Roman" pitchFamily="18" charset="0"/>
                <a:ea typeface="方正书宋简体" charset="-122"/>
                <a:cs typeface="Times New Roman" pitchFamily="18" charset="0"/>
              </a:rPr>
              <a:t>）</a:t>
            </a:r>
            <a:r>
              <a:rPr lang="en-US" altLang="zh-CN" sz="2800" i="0" dirty="0">
                <a:solidFill>
                  <a:srgbClr val="000000"/>
                </a:solidFill>
                <a:latin typeface="Times New Roman" pitchFamily="18" charset="0"/>
                <a:ea typeface="方正书宋简体" charset="-122"/>
                <a:cs typeface="Times New Roman" pitchFamily="18" charset="0"/>
              </a:rPr>
              <a:t>]</a:t>
            </a:r>
            <a:r>
              <a:rPr lang="en-US" altLang="zh-CN" sz="2800" baseline="-30000" dirty="0">
                <a:latin typeface="Times New Roman" pitchFamily="18" charset="0"/>
                <a:ea typeface="方正书宋简体" charset="-122"/>
                <a:cs typeface="Times New Roman" pitchFamily="18" charset="0"/>
              </a:rPr>
              <a:t> </a:t>
            </a:r>
          </a:p>
        </p:txBody>
      </p:sp>
      <p:sp>
        <p:nvSpPr>
          <p:cNvPr id="7" name="Rectangle 18"/>
          <p:cNvSpPr>
            <a:spLocks noChangeArrowheads="1"/>
          </p:cNvSpPr>
          <p:nvPr/>
        </p:nvSpPr>
        <p:spPr bwMode="auto">
          <a:xfrm>
            <a:off x="642910" y="5118296"/>
            <a:ext cx="2714644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80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对饱和湿空气：</a:t>
            </a:r>
          </a:p>
        </p:txBody>
      </p:sp>
      <p:graphicFrame>
        <p:nvGraphicFramePr>
          <p:cNvPr id="18447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1332257"/>
              </p:ext>
            </p:extLst>
          </p:nvPr>
        </p:nvGraphicFramePr>
        <p:xfrm>
          <a:off x="3995936" y="5072251"/>
          <a:ext cx="1490671" cy="5889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7" name="公式" r:id="rId5" imgW="609480" imgH="241200" progId="Equation.3">
                  <p:embed/>
                </p:oleObj>
              </mc:Choice>
              <mc:Fallback>
                <p:oleObj name="公式" r:id="rId5" imgW="609480" imgH="2412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5936" y="5072251"/>
                        <a:ext cx="1490671" cy="588997"/>
                      </a:xfrm>
                      <a:prstGeom prst="rect">
                        <a:avLst/>
                      </a:prstGeom>
                      <a:solidFill>
                        <a:srgbClr val="FFCC99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786842" y="6488668"/>
            <a:ext cx="5000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黑体" pitchFamily="49" charset="-122"/>
                <a:ea typeface="黑体" pitchFamily="49" charset="-122"/>
              </a:rPr>
              <a:t>9</a:t>
            </a:r>
            <a:endParaRPr lang="zh-CN" altLang="en-US" sz="2000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63314" y="3167390"/>
            <a:ext cx="134844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  <a:sym typeface="Symbol" pitchFamily="18" charset="2"/>
              </a:rPr>
              <a:t>定义式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  <a:sym typeface="Symbol" pitchFamily="18" charset="2"/>
              </a:rPr>
              <a:t>: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6"/>
          <p:cNvSpPr>
            <a:spLocks noChangeArrowheads="1"/>
          </p:cNvSpPr>
          <p:nvPr/>
        </p:nvSpPr>
        <p:spPr bwMode="auto">
          <a:xfrm>
            <a:off x="323528" y="1142984"/>
            <a:ext cx="5256584" cy="18374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>
              <a:lnSpc>
                <a:spcPct val="135000"/>
              </a:lnSpc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 (2) </a:t>
            </a:r>
            <a:r>
              <a:rPr lang="zh-CN" altLang="en-US" sz="2800" i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相对湿度 </a:t>
            </a:r>
            <a:r>
              <a:rPr lang="zh-CN" altLang="en-US" sz="2800" b="1" i="1" dirty="0">
                <a:latin typeface="Times New Roman" pitchFamily="18" charset="0"/>
                <a:ea typeface="方正书宋简体" charset="-122"/>
                <a:cs typeface="Times New Roman" pitchFamily="18" charset="0"/>
                <a:sym typeface="Symbol" pitchFamily="18" charset="2"/>
              </a:rPr>
              <a:t></a:t>
            </a:r>
            <a:r>
              <a:rPr lang="zh-CN" altLang="en-US" sz="2800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  <a:sym typeface="Symbol" pitchFamily="18" charset="2"/>
              </a:rPr>
              <a:t>（饱和度）</a:t>
            </a:r>
          </a:p>
          <a:p>
            <a:pPr>
              <a:lnSpc>
                <a:spcPct val="135000"/>
              </a:lnSpc>
            </a:pPr>
            <a:r>
              <a:rPr lang="zh-CN" altLang="en-US" sz="2800" b="1" dirty="0">
                <a:solidFill>
                  <a:srgbClr val="0070C0"/>
                </a:solidFill>
                <a:latin typeface="Times New Roman" pitchFamily="18" charset="0"/>
                <a:ea typeface="方正书宋简体" charset="-122"/>
                <a:cs typeface="Times New Roman" pitchFamily="18" charset="0"/>
                <a:sym typeface="Symbol" pitchFamily="18" charset="2"/>
              </a:rPr>
              <a:t>         </a:t>
            </a:r>
            <a:endParaRPr lang="en-US" altLang="zh-CN" sz="2800" b="1" dirty="0">
              <a:solidFill>
                <a:srgbClr val="0070C0"/>
              </a:solidFill>
              <a:latin typeface="Times New Roman" pitchFamily="18" charset="0"/>
              <a:ea typeface="方正书宋简体" charset="-122"/>
              <a:cs typeface="Times New Roman" pitchFamily="18" charset="0"/>
              <a:sym typeface="Symbol" pitchFamily="18" charset="2"/>
            </a:endParaRPr>
          </a:p>
          <a:p>
            <a:pPr>
              <a:lnSpc>
                <a:spcPct val="135000"/>
              </a:lnSpc>
            </a:pPr>
            <a:r>
              <a:rPr lang="zh-CN" altLang="en-US" sz="2800" i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  <a:sym typeface="Symbol" pitchFamily="18" charset="2"/>
              </a:rPr>
              <a:t>    </a:t>
            </a:r>
            <a:r>
              <a:rPr lang="zh-CN" altLang="en-US" sz="2800" i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  <a:sym typeface="Symbol" pitchFamily="18" charset="2"/>
              </a:rPr>
              <a:t>定义式：</a:t>
            </a:r>
            <a:endParaRPr lang="en-US" altLang="zh-CN" sz="2800" i="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  <a:sym typeface="Symbol" pitchFamily="18" charset="2"/>
            </a:endParaRPr>
          </a:p>
        </p:txBody>
      </p:sp>
      <p:graphicFrame>
        <p:nvGraphicFramePr>
          <p:cNvPr id="18451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7532117"/>
              </p:ext>
            </p:extLst>
          </p:nvPr>
        </p:nvGraphicFramePr>
        <p:xfrm>
          <a:off x="3428992" y="2061698"/>
          <a:ext cx="2590176" cy="11005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8" name="公式" r:id="rId3" imgW="1002960" imgH="393480" progId="Equation.3">
                  <p:embed/>
                </p:oleObj>
              </mc:Choice>
              <mc:Fallback>
                <p:oleObj name="公式" r:id="rId3" imgW="1002960" imgH="39348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8992" y="2061698"/>
                        <a:ext cx="2590176" cy="1100594"/>
                      </a:xfrm>
                      <a:prstGeom prst="rect">
                        <a:avLst/>
                      </a:prstGeom>
                      <a:solidFill>
                        <a:srgbClr val="FFCC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1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7105016"/>
              </p:ext>
            </p:extLst>
          </p:nvPr>
        </p:nvGraphicFramePr>
        <p:xfrm>
          <a:off x="3428992" y="3500438"/>
          <a:ext cx="2007104" cy="6272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9" name="公式" r:id="rId5" imgW="838200" imgH="228600" progId="Equation.3">
                  <p:embed/>
                </p:oleObj>
              </mc:Choice>
              <mc:Fallback>
                <p:oleObj name="公式" r:id="rId5" imgW="838200" imgH="228600" progId="Equation.3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8992" y="3500438"/>
                        <a:ext cx="2007104" cy="627220"/>
                      </a:xfrm>
                      <a:prstGeom prst="rect">
                        <a:avLst/>
                      </a:prstGeom>
                      <a:solidFill>
                        <a:srgbClr val="FFCC99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428596" y="4393978"/>
            <a:ext cx="8286808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>
                <a:latin typeface="微软雅黑" pitchFamily="34" charset="-122"/>
                <a:ea typeface="微软雅黑" pitchFamily="34" charset="-122"/>
                <a:cs typeface="Times New Roman" pitchFamily="18" charset="0"/>
                <a:sym typeface="Symbol" pitchFamily="18" charset="2"/>
              </a:rPr>
              <a:t>     </a:t>
            </a:r>
            <a:r>
              <a:rPr lang="en-US" altLang="zh-CN" sz="2800" b="1" i="1" dirty="0">
                <a:latin typeface="微软雅黑" pitchFamily="34" charset="-122"/>
                <a:ea typeface="微软雅黑" pitchFamily="34" charset="-122"/>
                <a:cs typeface="Times New Roman" pitchFamily="18" charset="0"/>
                <a:sym typeface="Symbol" pitchFamily="18" charset="2"/>
              </a:rPr>
              <a:t>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  <a:cs typeface="Times New Roman" pitchFamily="18" charset="0"/>
                <a:sym typeface="Symbol" pitchFamily="18" charset="2"/>
              </a:rPr>
              <a:t> </a:t>
            </a:r>
            <a:r>
              <a:rPr lang="zh-CN" altLang="en-US" sz="2800" i="0" dirty="0">
                <a:latin typeface="微软雅黑" pitchFamily="34" charset="-122"/>
                <a:ea typeface="微软雅黑" pitchFamily="34" charset="-122"/>
                <a:cs typeface="Times New Roman" pitchFamily="18" charset="0"/>
                <a:sym typeface="Symbol" pitchFamily="18" charset="2"/>
              </a:rPr>
              <a:t>越</a:t>
            </a:r>
            <a:r>
              <a:rPr lang="zh-CN" altLang="en-US" sz="2800" i="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小，吸湿能力越强。</a:t>
            </a:r>
            <a:r>
              <a:rPr lang="zh-CN" altLang="en-US" sz="2800" i="0" dirty="0">
                <a:latin typeface="微软雅黑" pitchFamily="34" charset="-122"/>
                <a:ea typeface="微软雅黑" pitchFamily="34" charset="-122"/>
                <a:cs typeface="Times New Roman" pitchFamily="18" charset="0"/>
                <a:sym typeface="Symbol" pitchFamily="18" charset="2"/>
              </a:rPr>
              <a:t>干空气</a:t>
            </a:r>
            <a:r>
              <a:rPr lang="zh-CN" altLang="en-US" sz="2800" b="1" i="1" dirty="0">
                <a:latin typeface="微软雅黑" pitchFamily="34" charset="-122"/>
                <a:ea typeface="微软雅黑" pitchFamily="34" charset="-122"/>
                <a:cs typeface="Times New Roman" pitchFamily="18" charset="0"/>
                <a:sym typeface="Symbol" pitchFamily="18" charset="2"/>
              </a:rPr>
              <a:t>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  <a:cs typeface="Times New Roman" pitchFamily="18" charset="0"/>
                <a:sym typeface="Symbol" pitchFamily="18" charset="2"/>
              </a:rPr>
              <a:t> </a:t>
            </a:r>
            <a:r>
              <a:rPr lang="en-US" altLang="zh-CN" sz="2800" i="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= 0</a:t>
            </a:r>
            <a:r>
              <a:rPr lang="zh-CN" altLang="en-US" sz="2800" i="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，吸湿能力最强；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  <a:cs typeface="Times New Roman" pitchFamily="18" charset="0"/>
                <a:sym typeface="Symbol" pitchFamily="18" charset="2"/>
              </a:rPr>
              <a:t>饱和空气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，</a:t>
            </a:r>
            <a:r>
              <a:rPr lang="zh-CN" altLang="en-US" sz="2800" b="1" i="1" dirty="0">
                <a:latin typeface="微软雅黑" pitchFamily="34" charset="-122"/>
                <a:ea typeface="微软雅黑" pitchFamily="34" charset="-122"/>
                <a:cs typeface="Times New Roman" pitchFamily="18" charset="0"/>
                <a:sym typeface="Symbol" pitchFamily="18" charset="2"/>
              </a:rPr>
              <a:t>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＝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  <a:cs typeface="Times New Roman" pitchFamily="18" charset="0"/>
                <a:sym typeface="Symbol" pitchFamily="18" charset="2"/>
              </a:rPr>
              <a:t>100%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，吸湿能力为零。</a:t>
            </a:r>
            <a:endParaRPr lang="zh-CN" altLang="en-US" sz="2800" i="0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86842" y="6488668"/>
            <a:ext cx="5000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黑体" pitchFamily="49" charset="-122"/>
                <a:ea typeface="黑体" pitchFamily="49" charset="-122"/>
              </a:rPr>
              <a:t>10</a:t>
            </a:r>
            <a:endParaRPr lang="zh-CN" altLang="en-US" sz="2000" dirty="0">
              <a:latin typeface="黑体" pitchFamily="49" charset="-122"/>
              <a:ea typeface="黑体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6"/>
          <p:cNvSpPr>
            <a:spLocks noChangeArrowheads="1"/>
          </p:cNvSpPr>
          <p:nvPr/>
        </p:nvSpPr>
        <p:spPr bwMode="auto">
          <a:xfrm>
            <a:off x="296411" y="1268760"/>
            <a:ext cx="45720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r>
              <a:rPr lang="en-US" altLang="zh-CN" sz="28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(3) </a:t>
            </a:r>
            <a:r>
              <a:rPr lang="zh-CN" altLang="en-US" sz="28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比湿度 </a:t>
            </a:r>
            <a:r>
              <a:rPr lang="el-GR" altLang="zh-CN" sz="2800" b="1" i="1" dirty="0">
                <a:solidFill>
                  <a:prstClr val="black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ω</a:t>
            </a:r>
            <a:r>
              <a:rPr lang="en-US" altLang="zh-CN" sz="28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</a:t>
            </a:r>
            <a:r>
              <a:rPr lang="zh-CN" altLang="en-US" sz="2800" dirty="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（含湿量）</a:t>
            </a:r>
          </a:p>
        </p:txBody>
      </p:sp>
      <p:sp>
        <p:nvSpPr>
          <p:cNvPr id="6" name="Rectangle 27"/>
          <p:cNvSpPr>
            <a:spLocks noChangeArrowheads="1"/>
          </p:cNvSpPr>
          <p:nvPr/>
        </p:nvSpPr>
        <p:spPr bwMode="auto">
          <a:xfrm>
            <a:off x="528711" y="1960741"/>
            <a:ext cx="785971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r>
              <a:rPr lang="zh-CN" altLang="en-US" sz="28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相对于</a:t>
            </a:r>
            <a:r>
              <a:rPr lang="en-US" altLang="zh-CN" sz="28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1</a:t>
            </a:r>
            <a:r>
              <a:rPr lang="en-US" altLang="zh-CN" sz="2800" dirty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Symbol" pitchFamily="18" charset="2"/>
              </a:rPr>
              <a:t></a:t>
            </a:r>
            <a:r>
              <a:rPr lang="en-US" altLang="zh-CN" sz="28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kg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  <a:cs typeface="Times New Roman" pitchFamily="18" charset="0"/>
                <a:sym typeface="Symbol" pitchFamily="18" charset="2"/>
              </a:rPr>
              <a:t>干空气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  <a:cs typeface="Times New Roman" pitchFamily="18" charset="0"/>
                <a:sym typeface="Symbol" pitchFamily="18" charset="2"/>
              </a:rPr>
              <a:t>(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  <a:cs typeface="Times New Roman" pitchFamily="18" charset="0"/>
                <a:sym typeface="Symbol" pitchFamily="18" charset="2"/>
              </a:rPr>
              <a:t>不变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  <a:cs typeface="Times New Roman" pitchFamily="18" charset="0"/>
                <a:sym typeface="Symbol" pitchFamily="18" charset="2"/>
              </a:rPr>
              <a:t>)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  <a:cs typeface="Times New Roman" pitchFamily="18" charset="0"/>
                <a:sym typeface="Symbol" pitchFamily="18" charset="2"/>
              </a:rPr>
              <a:t>所含有的水蒸气的质量。   </a:t>
            </a:r>
          </a:p>
        </p:txBody>
      </p:sp>
      <p:graphicFrame>
        <p:nvGraphicFramePr>
          <p:cNvPr id="19486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0931539"/>
              </p:ext>
            </p:extLst>
          </p:nvPr>
        </p:nvGraphicFramePr>
        <p:xfrm>
          <a:off x="2771800" y="2671886"/>
          <a:ext cx="1971675" cy="973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94" name="公式" r:id="rId3" imgW="876300" imgH="431800" progId="Equation.3">
                  <p:embed/>
                </p:oleObj>
              </mc:Choice>
              <mc:Fallback>
                <p:oleObj name="公式" r:id="rId3" imgW="8763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800" y="2671886"/>
                        <a:ext cx="1971675" cy="973138"/>
                      </a:xfrm>
                      <a:prstGeom prst="rect">
                        <a:avLst/>
                      </a:prstGeom>
                      <a:solidFill>
                        <a:srgbClr val="FFCC99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33"/>
          <p:cNvSpPr txBox="1">
            <a:spLocks noChangeArrowheads="1"/>
          </p:cNvSpPr>
          <p:nvPr/>
        </p:nvSpPr>
        <p:spPr bwMode="auto">
          <a:xfrm>
            <a:off x="611559" y="3933056"/>
            <a:ext cx="7331075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lvl="0"/>
            <a:r>
              <a:rPr lang="zh-CN" altLang="en-US" sz="28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由理想气体状态方程可得：</a:t>
            </a:r>
            <a:r>
              <a:rPr lang="el-GR" altLang="zh-CN" sz="2800" b="1" i="1" dirty="0">
                <a:solidFill>
                  <a:prstClr val="black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ω</a:t>
            </a:r>
            <a:r>
              <a:rPr lang="en-US" altLang="zh-CN" sz="3600" b="1" dirty="0">
                <a:solidFill>
                  <a:prstClr val="black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en-US" altLang="zh-CN" sz="2800" b="1" dirty="0">
                <a:solidFill>
                  <a:prstClr val="black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= </a:t>
            </a:r>
            <a:r>
              <a:rPr lang="en-US" altLang="zh-CN" sz="2800" b="1" i="1" dirty="0">
                <a:solidFill>
                  <a:prstClr val="black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f</a:t>
            </a:r>
            <a:r>
              <a:rPr lang="zh-CN" altLang="en-US" sz="2800" b="1" dirty="0">
                <a:solidFill>
                  <a:prstClr val="black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zh-CN" sz="2800" b="1" i="1" dirty="0" err="1">
                <a:solidFill>
                  <a:prstClr val="black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p</a:t>
            </a:r>
            <a:r>
              <a:rPr lang="en-US" altLang="zh-CN" sz="2800" b="1" baseline="-25000" dirty="0" err="1">
                <a:solidFill>
                  <a:prstClr val="black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v</a:t>
            </a:r>
            <a:r>
              <a:rPr lang="zh-CN" altLang="en-US" sz="2800" b="1" dirty="0">
                <a:solidFill>
                  <a:prstClr val="black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）</a:t>
            </a:r>
          </a:p>
        </p:txBody>
      </p:sp>
      <p:graphicFrame>
        <p:nvGraphicFramePr>
          <p:cNvPr id="19490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6934832"/>
              </p:ext>
            </p:extLst>
          </p:nvPr>
        </p:nvGraphicFramePr>
        <p:xfrm>
          <a:off x="970557" y="4815617"/>
          <a:ext cx="6754565" cy="9896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95" name="公式" r:id="rId5" imgW="2793960" imgH="469800" progId="Equation.3">
                  <p:embed/>
                </p:oleObj>
              </mc:Choice>
              <mc:Fallback>
                <p:oleObj name="公式" r:id="rId5" imgW="279396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0557" y="4815617"/>
                        <a:ext cx="6754565" cy="989647"/>
                      </a:xfrm>
                      <a:prstGeom prst="rect">
                        <a:avLst/>
                      </a:prstGeom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8786842" y="6457890"/>
            <a:ext cx="5000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prstClr val="black"/>
                </a:solidFill>
                <a:latin typeface="黑体" pitchFamily="49" charset="-122"/>
                <a:ea typeface="黑体" pitchFamily="49" charset="-122"/>
              </a:rPr>
              <a:t>11</a:t>
            </a:r>
            <a:endParaRPr lang="zh-CN" altLang="en-US" sz="2000" dirty="0">
              <a:solidFill>
                <a:prstClr val="black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2" name="Rectangle 32"/>
          <p:cNvSpPr>
            <a:spLocks noChangeArrowheads="1"/>
          </p:cNvSpPr>
          <p:nvPr/>
        </p:nvSpPr>
        <p:spPr bwMode="auto">
          <a:xfrm>
            <a:off x="5225379" y="2871664"/>
            <a:ext cx="316304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i="0" kern="0" dirty="0">
                <a:solidFill>
                  <a:srgbClr val="000000"/>
                </a:solidFill>
              </a:rPr>
              <a:t>（由</a:t>
            </a:r>
            <a:r>
              <a:rPr lang="en-US" altLang="zh-CN" sz="2800" b="1" kern="0" dirty="0">
                <a:solidFill>
                  <a:srgbClr val="000000"/>
                </a:solidFill>
                <a:latin typeface="Times New Roman" pitchFamily="18" charset="0"/>
              </a:rPr>
              <a:t>m</a:t>
            </a:r>
            <a:r>
              <a:rPr lang="zh-CN" altLang="en-US" sz="2800" b="1" i="0" kern="0" dirty="0">
                <a:solidFill>
                  <a:srgbClr val="000000"/>
                </a:solidFill>
                <a:latin typeface="Times New Roman" pitchFamily="18" charset="0"/>
              </a:rPr>
              <a:t>＝</a:t>
            </a:r>
            <a:r>
              <a:rPr lang="zh-CN" altLang="en-US" sz="2800" b="1" kern="0" dirty="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</a:t>
            </a:r>
            <a:r>
              <a:rPr lang="en-US" altLang="zh-CN" sz="2800" b="1" kern="0" dirty="0">
                <a:solidFill>
                  <a:srgbClr val="000000"/>
                </a:solidFill>
                <a:latin typeface="Times New Roman" pitchFamily="18" charset="0"/>
              </a:rPr>
              <a:t>V</a:t>
            </a:r>
            <a:r>
              <a:rPr lang="en-US" altLang="zh-CN" sz="2800" b="1" kern="0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zh-CN" altLang="en-US" sz="2800" b="1" i="0" kern="0" dirty="0">
                <a:solidFill>
                  <a:srgbClr val="000000"/>
                </a:solidFill>
                <a:sym typeface="Symbol" pitchFamily="18" charset="2"/>
              </a:rPr>
              <a:t>推得）</a:t>
            </a:r>
          </a:p>
        </p:txBody>
      </p:sp>
      <p:sp>
        <p:nvSpPr>
          <p:cNvPr id="2" name="矩形 1"/>
          <p:cNvSpPr/>
          <p:nvPr/>
        </p:nvSpPr>
        <p:spPr>
          <a:xfrm>
            <a:off x="957609" y="2896845"/>
            <a:ext cx="134844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  <a:sym typeface="Symbol" pitchFamily="18" charset="2"/>
              </a:rPr>
              <a:t>定义式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  <a:sym typeface="Symbol" pitchFamily="18" charset="2"/>
              </a:rPr>
              <a:t>: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1525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9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94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94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  <p:bldP spid="9" grpId="0"/>
      <p:bldP spid="12" grpId="0"/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6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7834055"/>
              </p:ext>
            </p:extLst>
          </p:nvPr>
        </p:nvGraphicFramePr>
        <p:xfrm>
          <a:off x="1475655" y="1268760"/>
          <a:ext cx="5736127" cy="9361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3" name="公式" r:id="rId3" imgW="2743200" imgH="444240" progId="Equation.3">
                  <p:embed/>
                </p:oleObj>
              </mc:Choice>
              <mc:Fallback>
                <p:oleObj name="公式" r:id="rId3" imgW="2743200" imgH="44424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5655" y="1268760"/>
                        <a:ext cx="5736127" cy="936104"/>
                      </a:xfrm>
                      <a:prstGeom prst="rect">
                        <a:avLst/>
                      </a:prstGeom>
                      <a:solidFill>
                        <a:srgbClr val="FFCC99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8786842" y="6457890"/>
            <a:ext cx="5000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黑体" pitchFamily="49" charset="-122"/>
                <a:ea typeface="黑体" pitchFamily="49" charset="-122"/>
              </a:rPr>
              <a:t>12</a:t>
            </a:r>
            <a:endParaRPr lang="zh-CN" altLang="en-US" sz="2000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3" name="Rectangle 16"/>
          <p:cNvSpPr>
            <a:spLocks noChangeArrowheads="1"/>
          </p:cNvSpPr>
          <p:nvPr/>
        </p:nvSpPr>
        <p:spPr bwMode="auto">
          <a:xfrm>
            <a:off x="550218" y="2477839"/>
            <a:ext cx="52832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zh-CN" altLang="en-US" sz="2800" i="0" dirty="0">
                <a:latin typeface="微软雅黑" pitchFamily="34" charset="-122"/>
                <a:ea typeface="微软雅黑" pitchFamily="34" charset="-122"/>
              </a:rPr>
              <a:t>当湿空气压力为大气压力时，有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 </a:t>
            </a:r>
          </a:p>
        </p:txBody>
      </p:sp>
      <p:graphicFrame>
        <p:nvGraphicFramePr>
          <p:cNvPr id="14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3726530"/>
              </p:ext>
            </p:extLst>
          </p:nvPr>
        </p:nvGraphicFramePr>
        <p:xfrm>
          <a:off x="1644268" y="3212976"/>
          <a:ext cx="5157824" cy="1008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4" name="公式" r:id="rId5" imgW="1930320" imgH="380880" progId="Equation.3">
                  <p:embed/>
                </p:oleObj>
              </mc:Choice>
              <mc:Fallback>
                <p:oleObj name="公式" r:id="rId5" imgW="1930320" imgH="3808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4268" y="3212976"/>
                        <a:ext cx="5157824" cy="1008112"/>
                      </a:xfrm>
                      <a:prstGeom prst="rect">
                        <a:avLst/>
                      </a:prstGeom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3"/>
          <p:cNvSpPr>
            <a:spLocks noChangeArrowheads="1"/>
          </p:cNvSpPr>
          <p:nvPr/>
        </p:nvSpPr>
        <p:spPr bwMode="auto">
          <a:xfrm>
            <a:off x="467544" y="4470937"/>
            <a:ext cx="7998048" cy="138499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绝对湿度</a:t>
            </a:r>
            <a:r>
              <a:rPr lang="zh-CN" altLang="en-US" sz="2800" b="1" i="1" dirty="0">
                <a:solidFill>
                  <a:prstClr val="black"/>
                </a:solidFill>
                <a:latin typeface="Times New Roman" pitchFamily="18" charset="0"/>
                <a:ea typeface="方正书宋简体" charset="-122"/>
                <a:cs typeface="Times New Roman" pitchFamily="18" charset="0"/>
                <a:sym typeface="Symbol" pitchFamily="18" charset="2"/>
              </a:rPr>
              <a:t></a:t>
            </a:r>
            <a:r>
              <a:rPr lang="en-US" altLang="zh-CN" sz="2800" b="1" baseline="-30000" dirty="0">
                <a:solidFill>
                  <a:prstClr val="black"/>
                </a:solidFill>
                <a:latin typeface="Times New Roman" pitchFamily="18" charset="0"/>
                <a:ea typeface="方正书宋简体" charset="-122"/>
                <a:cs typeface="Times New Roman" pitchFamily="18" charset="0"/>
                <a:sym typeface="Symbol" pitchFamily="18" charset="2"/>
              </a:rPr>
              <a:t>V</a:t>
            </a:r>
            <a:r>
              <a:rPr lang="zh-CN" altLang="en-US" sz="2800" i="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、相</a:t>
            </a:r>
            <a:r>
              <a:rPr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对湿度</a:t>
            </a:r>
            <a:r>
              <a:rPr lang="zh-CN" altLang="en-US" sz="2800" b="1" i="1" dirty="0">
                <a:solidFill>
                  <a:prstClr val="black"/>
                </a:solidFill>
                <a:latin typeface="Times New Roman" pitchFamily="18" charset="0"/>
                <a:ea typeface="方正书宋简体" charset="-122"/>
                <a:cs typeface="Times New Roman" pitchFamily="18" charset="0"/>
                <a:sym typeface="Symbol" pitchFamily="18" charset="2"/>
              </a:rPr>
              <a:t></a:t>
            </a:r>
            <a:r>
              <a:rPr lang="zh-CN" altLang="en-US" b="1" i="1" dirty="0">
                <a:solidFill>
                  <a:prstClr val="black"/>
                </a:solidFill>
                <a:latin typeface="Times New Roman" pitchFamily="18" charset="0"/>
                <a:ea typeface="方正书宋简体" charset="-122"/>
                <a:cs typeface="Times New Roman" pitchFamily="18" charset="0"/>
                <a:sym typeface="Symbol" pitchFamily="18" charset="2"/>
              </a:rPr>
              <a:t> </a:t>
            </a:r>
            <a:r>
              <a:rPr lang="zh-CN" altLang="en-US" sz="2800" b="1" dirty="0">
                <a:solidFill>
                  <a:prstClr val="black"/>
                </a:solidFill>
                <a:latin typeface="Times New Roman" pitchFamily="18" charset="0"/>
                <a:ea typeface="方正书宋简体" charset="-122"/>
                <a:cs typeface="Times New Roman" pitchFamily="18" charset="0"/>
                <a:sym typeface="Symbol" pitchFamily="18" charset="2"/>
              </a:rPr>
              <a:t>及</a:t>
            </a:r>
            <a:r>
              <a:rPr lang="zh-CN" altLang="en-US" sz="2800" i="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含湿量</a:t>
            </a:r>
            <a:r>
              <a:rPr lang="zh-CN" altLang="en-US" sz="1600" i="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</a:t>
            </a:r>
            <a:r>
              <a:rPr lang="el-GR" altLang="zh-CN" sz="2800" b="1" i="1" dirty="0">
                <a:solidFill>
                  <a:prstClr val="black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ω</a:t>
            </a:r>
            <a:r>
              <a:rPr lang="en-US" altLang="zh-CN" b="1" i="1" dirty="0">
                <a:solidFill>
                  <a:prstClr val="black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zh-CN" altLang="en-US" sz="2800" dirty="0">
                <a:solidFill>
                  <a:prstClr val="black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都是水蒸气分压力</a:t>
            </a:r>
            <a:r>
              <a:rPr lang="zh-CN" altLang="en-US" sz="1600" dirty="0">
                <a:solidFill>
                  <a:prstClr val="black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en-US" altLang="zh-CN" sz="2800" b="1" i="1" dirty="0" err="1">
                <a:solidFill>
                  <a:prstClr val="black"/>
                </a:solidFill>
                <a:latin typeface="Times New Roman" pitchFamily="18" charset="0"/>
                <a:ea typeface="方正书宋简体" charset="-122"/>
                <a:cs typeface="Times New Roman" pitchFamily="18" charset="0"/>
                <a:sym typeface="Symbol" pitchFamily="18" charset="2"/>
              </a:rPr>
              <a:t>p</a:t>
            </a:r>
            <a:r>
              <a:rPr lang="en-US" altLang="zh-CN" sz="2800" b="1" baseline="-30000" dirty="0" err="1">
                <a:solidFill>
                  <a:prstClr val="black"/>
                </a:solidFill>
                <a:latin typeface="Times New Roman" pitchFamily="18" charset="0"/>
                <a:ea typeface="方正书宋简体" charset="-122"/>
                <a:cs typeface="Times New Roman" pitchFamily="18" charset="0"/>
                <a:sym typeface="Symbol" pitchFamily="18" charset="2"/>
              </a:rPr>
              <a:t>V</a:t>
            </a:r>
            <a:r>
              <a:rPr lang="en-US" altLang="zh-CN" sz="2800" b="1" baseline="-30000" dirty="0">
                <a:solidFill>
                  <a:prstClr val="black"/>
                </a:solidFill>
                <a:latin typeface="Times New Roman" pitchFamily="18" charset="0"/>
                <a:ea typeface="方正书宋简体" charset="-122"/>
                <a:cs typeface="Times New Roman" pitchFamily="18" charset="0"/>
                <a:sym typeface="Symbol" pitchFamily="18" charset="2"/>
              </a:rPr>
              <a:t> </a:t>
            </a:r>
            <a:r>
              <a:rPr lang="zh-CN" altLang="en-US" sz="2800" i="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的函数，都可以间接反映</a:t>
            </a:r>
            <a:r>
              <a:rPr lang="zh-CN" altLang="en-US" sz="1400" i="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</a:t>
            </a:r>
            <a:r>
              <a:rPr lang="en-US" altLang="zh-CN" sz="2800" b="1" i="1" dirty="0" err="1">
                <a:solidFill>
                  <a:prstClr val="black"/>
                </a:solidFill>
                <a:latin typeface="Times New Roman" pitchFamily="18" charset="0"/>
                <a:ea typeface="方正书宋简体" charset="-122"/>
                <a:cs typeface="Times New Roman" pitchFamily="18" charset="0"/>
                <a:sym typeface="Symbol" pitchFamily="18" charset="2"/>
              </a:rPr>
              <a:t>p</a:t>
            </a:r>
            <a:r>
              <a:rPr lang="en-US" altLang="zh-CN" sz="2800" b="1" baseline="-30000" dirty="0" err="1">
                <a:solidFill>
                  <a:prstClr val="black"/>
                </a:solidFill>
                <a:latin typeface="Times New Roman" pitchFamily="18" charset="0"/>
                <a:ea typeface="方正书宋简体" charset="-122"/>
                <a:cs typeface="Times New Roman" pitchFamily="18" charset="0"/>
                <a:sym typeface="Symbol" pitchFamily="18" charset="2"/>
              </a:rPr>
              <a:t>V</a:t>
            </a:r>
            <a:r>
              <a:rPr lang="en-US" altLang="zh-CN" sz="2800" b="1" baseline="-30000" dirty="0">
                <a:solidFill>
                  <a:prstClr val="black"/>
                </a:solidFill>
                <a:latin typeface="Times New Roman" pitchFamily="18" charset="0"/>
                <a:ea typeface="方正书宋简体" charset="-122"/>
                <a:cs typeface="Times New Roman" pitchFamily="18" charset="0"/>
                <a:sym typeface="Symbol" pitchFamily="18" charset="2"/>
              </a:rPr>
              <a:t> </a:t>
            </a:r>
            <a:r>
              <a:rPr lang="zh-CN" altLang="en-US" sz="28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的大小。</a:t>
            </a:r>
            <a:endParaRPr lang="en-US" altLang="zh-CN" sz="2800" i="0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611560" y="3068960"/>
            <a:ext cx="7848600" cy="1308884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   </a:t>
            </a:r>
            <a:r>
              <a:rPr lang="en-US" altLang="zh-CN" sz="2800" b="1" i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T</a:t>
            </a:r>
            <a:r>
              <a:rPr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↑</a:t>
            </a:r>
            <a:r>
              <a:rPr lang="en-US" altLang="zh-CN" sz="2800" b="1" i="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→</a:t>
            </a:r>
            <a:r>
              <a:rPr lang="en-US" altLang="zh-CN" sz="2800" b="1" i="1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p</a:t>
            </a:r>
            <a:r>
              <a:rPr lang="en-US" altLang="zh-CN" sz="2800" b="1" i="0" baseline="-30000" dirty="0" err="1">
                <a:latin typeface="Times New Roman" pitchFamily="18" charset="0"/>
                <a:ea typeface="微软雅黑" pitchFamily="34" charset="-122"/>
                <a:cs typeface="Times New Roman" pitchFamily="18" charset="0"/>
                <a:sym typeface="Symbol" pitchFamily="18" charset="2"/>
              </a:rPr>
              <a:t>s</a:t>
            </a:r>
            <a:r>
              <a:rPr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Symbol" pitchFamily="18" charset="2"/>
              </a:rPr>
              <a:t>↑</a:t>
            </a:r>
            <a:r>
              <a:rPr lang="en-US" altLang="zh-CN" sz="2800" b="1" i="0" dirty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Symbol" pitchFamily="18" charset="2"/>
              </a:rPr>
              <a:t>→</a:t>
            </a:r>
            <a:r>
              <a:rPr lang="en-US" altLang="zh-CN" sz="2800" b="1" i="1" dirty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Symbol" pitchFamily="18" charset="2"/>
              </a:rPr>
              <a:t> </a:t>
            </a:r>
            <a:r>
              <a:rPr lang="el-GR" altLang="zh-CN" sz="2800" b="1" i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ω</a:t>
            </a:r>
            <a:r>
              <a:rPr lang="en-US" altLang="zh-CN" sz="2800" b="1" i="1" dirty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Symbol" pitchFamily="18" charset="2"/>
              </a:rPr>
              <a:t> </a:t>
            </a:r>
            <a:r>
              <a:rPr lang="en-US" altLang="zh-CN" sz="2800" b="1" i="0" baseline="-25000" dirty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Symbol" pitchFamily="18" charset="2"/>
              </a:rPr>
              <a:t>max</a:t>
            </a:r>
            <a:r>
              <a:rPr lang="zh-CN" altLang="en-US" sz="2800" i="0" dirty="0">
                <a:latin typeface="微软雅黑" pitchFamily="34" charset="-122"/>
                <a:ea typeface="微软雅黑" pitchFamily="34" charset="-122"/>
                <a:cs typeface="Times New Roman" pitchFamily="18" charset="0"/>
                <a:sym typeface="Symbol" pitchFamily="18" charset="2"/>
              </a:rPr>
              <a:t>，湿空气中所能容纳水蒸气的极限值越大。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  <a:cs typeface="Times New Roman" pitchFamily="18" charset="0"/>
                <a:sym typeface="Symbol" pitchFamily="18" charset="2"/>
              </a:rPr>
              <a:t> 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620341" y="4581128"/>
            <a:ext cx="7839819" cy="1307281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i="0" dirty="0">
                <a:solidFill>
                  <a:schemeClr val="tx1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注意：</a:t>
            </a:r>
            <a:endParaRPr lang="en-US" altLang="zh-CN" sz="2800" i="0" dirty="0">
              <a:solidFill>
                <a:schemeClr val="tx1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800" i="0" dirty="0">
                <a:solidFill>
                  <a:schemeClr val="tx1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对</a:t>
            </a:r>
            <a:r>
              <a:rPr lang="en-US" altLang="zh-CN" sz="2800" i="0" dirty="0">
                <a:solidFill>
                  <a:schemeClr val="tx1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1</a:t>
            </a:r>
            <a:r>
              <a:rPr lang="en-US" altLang="zh-CN" sz="2800" i="0" dirty="0">
                <a:solidFill>
                  <a:schemeClr val="tx1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  <a:sym typeface="Symbol" pitchFamily="18" charset="2"/>
              </a:rPr>
              <a:t></a:t>
            </a:r>
            <a:r>
              <a:rPr lang="en-US" altLang="zh-CN" sz="2800" i="0" dirty="0">
                <a:solidFill>
                  <a:schemeClr val="tx1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kg</a:t>
            </a:r>
            <a:r>
              <a:rPr lang="zh-CN" altLang="en-US" sz="2800" i="0" dirty="0">
                <a:solidFill>
                  <a:schemeClr val="tx1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  <a:sym typeface="Symbol" pitchFamily="18" charset="2"/>
              </a:rPr>
              <a:t>干空气，湿空气的总量为（</a:t>
            </a:r>
            <a:r>
              <a:rPr lang="en-US" altLang="zh-CN" sz="2800" i="0" dirty="0">
                <a:solidFill>
                  <a:schemeClr val="tx1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  <a:sym typeface="Symbol" pitchFamily="18" charset="2"/>
              </a:rPr>
              <a:t>1</a:t>
            </a:r>
            <a:r>
              <a:rPr lang="zh-CN" altLang="en-US" sz="2800" i="0" dirty="0">
                <a:solidFill>
                  <a:schemeClr val="tx1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  <a:sym typeface="Symbol" pitchFamily="18" charset="2"/>
              </a:rPr>
              <a:t>＋</a:t>
            </a:r>
            <a:r>
              <a:rPr lang="el-GR" altLang="zh-CN" sz="2800" i="1" dirty="0">
                <a:solidFill>
                  <a:schemeClr val="tx1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ω</a:t>
            </a:r>
            <a:r>
              <a:rPr lang="zh-CN" altLang="en-US" sz="2800" i="0" dirty="0">
                <a:solidFill>
                  <a:schemeClr val="tx1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  <a:sym typeface="Symbol" pitchFamily="18" charset="2"/>
              </a:rPr>
              <a:t>）</a:t>
            </a:r>
            <a:r>
              <a:rPr lang="en-US" altLang="zh-CN" sz="2800" i="0" dirty="0">
                <a:solidFill>
                  <a:schemeClr val="tx1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  <a:sym typeface="Symbol" pitchFamily="18" charset="2"/>
              </a:rPr>
              <a:t>kg</a:t>
            </a:r>
            <a:r>
              <a:rPr lang="zh-CN" altLang="en-US" sz="2800" i="0" dirty="0">
                <a:solidFill>
                  <a:schemeClr val="tx1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  <a:sym typeface="Symbol" pitchFamily="18" charset="2"/>
              </a:rPr>
              <a:t>。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86842" y="6488668"/>
            <a:ext cx="5000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黑体" pitchFamily="49" charset="-122"/>
                <a:ea typeface="黑体" pitchFamily="49" charset="-122"/>
              </a:rPr>
              <a:t>13</a:t>
            </a:r>
            <a:endParaRPr lang="zh-CN" altLang="en-US" sz="2000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555699" y="1196752"/>
            <a:ext cx="57658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r>
              <a:rPr lang="zh-CN" altLang="en-US" sz="2800" i="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最大含湿量</a:t>
            </a:r>
            <a:r>
              <a:rPr lang="en-US" altLang="zh-CN" sz="2800" i="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(</a:t>
            </a:r>
            <a:r>
              <a:rPr lang="en-US" altLang="zh-CN" sz="2800" b="1" i="1" dirty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Symbol" pitchFamily="18" charset="2"/>
              </a:rPr>
              <a:t></a:t>
            </a:r>
            <a:r>
              <a:rPr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Symbol" pitchFamily="18" charset="2"/>
              </a:rPr>
              <a:t> </a:t>
            </a:r>
            <a:r>
              <a:rPr lang="en-US" altLang="zh-CN" sz="2800" b="1" i="0" dirty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Symbol" pitchFamily="18" charset="2"/>
              </a:rPr>
              <a:t>=</a:t>
            </a:r>
            <a:r>
              <a:rPr lang="en-US" altLang="zh-CN" sz="2800" i="0" dirty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Symbol" pitchFamily="18" charset="2"/>
              </a:rPr>
              <a:t>1</a:t>
            </a:r>
            <a:r>
              <a:rPr lang="zh-CN" altLang="en-US" sz="2800" i="0" dirty="0">
                <a:latin typeface="微软雅黑" pitchFamily="34" charset="-122"/>
                <a:ea typeface="微软雅黑" pitchFamily="34" charset="-122"/>
                <a:cs typeface="Times New Roman" pitchFamily="18" charset="0"/>
                <a:sym typeface="Symbol" pitchFamily="18" charset="2"/>
              </a:rPr>
              <a:t>，饱和状态</a:t>
            </a:r>
            <a:r>
              <a:rPr lang="en-US" altLang="zh-CN" sz="2800" i="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)</a:t>
            </a:r>
          </a:p>
        </p:txBody>
      </p:sp>
      <p:graphicFrame>
        <p:nvGraphicFramePr>
          <p:cNvPr id="9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3646753"/>
              </p:ext>
            </p:extLst>
          </p:nvPr>
        </p:nvGraphicFramePr>
        <p:xfrm>
          <a:off x="2896704" y="1916832"/>
          <a:ext cx="2985766" cy="1008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27" name="公式" r:id="rId4" imgW="1117440" imgH="380880" progId="Equation.3">
                  <p:embed/>
                </p:oleObj>
              </mc:Choice>
              <mc:Fallback>
                <p:oleObj name="公式" r:id="rId4" imgW="1117440" imgH="3808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6704" y="1916832"/>
                        <a:ext cx="2985766" cy="1008112"/>
                      </a:xfrm>
                      <a:prstGeom prst="rect">
                        <a:avLst/>
                      </a:prstGeom>
                      <a:solidFill>
                        <a:srgbClr val="FFCC99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 autoUpdateAnimBg="0"/>
      <p:bldP spid="7" grpId="0" animBg="1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591182" y="1196752"/>
            <a:ext cx="257955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800" i="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干湿球温度</a:t>
            </a:r>
            <a:r>
              <a:rPr lang="en-US" altLang="zh-CN" sz="2800" i="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en-US" sz="2800" i="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计</a:t>
            </a:r>
            <a:r>
              <a:rPr lang="en-US" altLang="zh-CN" sz="2800" i="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)</a:t>
            </a:r>
            <a:endParaRPr lang="zh-CN" altLang="en-US" sz="2800" i="0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Rectangle 5"/>
          <p:cNvSpPr>
            <a:spLocks noChangeArrowheads="1"/>
          </p:cNvSpPr>
          <p:nvPr/>
        </p:nvSpPr>
        <p:spPr bwMode="auto">
          <a:xfrm>
            <a:off x="642045" y="1799327"/>
            <a:ext cx="7848872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i="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干湿球温度计由两支相同的普通温度计构成，</a:t>
            </a:r>
            <a:r>
              <a:rPr lang="zh-CN" altLang="en-US" sz="28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其组成结构如图所示。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86842" y="6488668"/>
            <a:ext cx="5000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>
                <a:latin typeface="黑体" pitchFamily="49" charset="-122"/>
                <a:ea typeface="黑体" pitchFamily="49" charset="-122"/>
              </a:rPr>
              <a:t>14</a:t>
            </a:r>
            <a:endParaRPr lang="zh-CN" altLang="en-US" sz="2000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56903" y="3284984"/>
            <a:ext cx="504056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zh-CN" altLang="en-US" sz="2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干球温度 </a:t>
            </a:r>
            <a:r>
              <a:rPr lang="en-US" altLang="zh-CN" sz="2800" b="1" i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t</a:t>
            </a:r>
            <a:r>
              <a:rPr lang="en-US" altLang="zh-CN" sz="2800" i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en-US" altLang="zh-CN" sz="2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: </a:t>
            </a:r>
            <a:r>
              <a:rPr lang="zh-CN" altLang="en-US" sz="28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暴露在空气中的温度计测得的湿空气的温度。</a:t>
            </a:r>
            <a:endParaRPr lang="en-US" altLang="zh-CN" sz="2800" dirty="0">
              <a:solidFill>
                <a:prstClr val="black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  <a:p>
            <a:pPr lvl="0">
              <a:lnSpc>
                <a:spcPct val="150000"/>
              </a:lnSpc>
            </a:pPr>
            <a:r>
              <a:rPr lang="zh-CN" altLang="en-US" sz="2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湿球温度 </a:t>
            </a:r>
            <a:r>
              <a:rPr lang="en-US" altLang="zh-CN" sz="2800" b="1" i="1" dirty="0" err="1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t</a:t>
            </a:r>
            <a:r>
              <a:rPr lang="en-US" altLang="zh-CN" sz="2800" b="1" baseline="-25000" dirty="0" err="1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w</a:t>
            </a:r>
            <a:r>
              <a:rPr lang="en-US" altLang="zh-CN" sz="2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: </a:t>
            </a:r>
            <a:r>
              <a:rPr lang="zh-CN" altLang="en-US" sz="28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用湿纱布包裹的湿球温度计测得的湿纱布的温度。</a:t>
            </a:r>
            <a:endParaRPr lang="zh-CN" altLang="en-US" dirty="0"/>
          </a:p>
        </p:txBody>
      </p:sp>
      <p:pic>
        <p:nvPicPr>
          <p:cNvPr id="40962" name="Picture 2" descr="060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169" y="3148190"/>
            <a:ext cx="2406748" cy="23690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8786842" y="6488668"/>
            <a:ext cx="5000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黑体" pitchFamily="49" charset="-122"/>
                <a:ea typeface="黑体" pitchFamily="49" charset="-122"/>
              </a:rPr>
              <a:t>15</a:t>
            </a:r>
            <a:endParaRPr lang="zh-CN" altLang="en-US" sz="2000" dirty="0">
              <a:latin typeface="黑体" pitchFamily="49" charset="-122"/>
              <a:ea typeface="黑体" pitchFamily="49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539553" y="1174813"/>
            <a:ext cx="2448272" cy="525995"/>
            <a:chOff x="108671" y="53770"/>
            <a:chExt cx="3121362" cy="1366513"/>
          </a:xfrm>
        </p:grpSpPr>
        <p:sp>
          <p:nvSpPr>
            <p:cNvPr id="5" name="圆角矩形 4"/>
            <p:cNvSpPr/>
            <p:nvPr/>
          </p:nvSpPr>
          <p:spPr>
            <a:xfrm>
              <a:off x="108671" y="53770"/>
              <a:ext cx="3121362" cy="1366513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" name="圆角矩形 4"/>
            <p:cNvSpPr/>
            <p:nvPr/>
          </p:nvSpPr>
          <p:spPr>
            <a:xfrm>
              <a:off x="148695" y="93794"/>
              <a:ext cx="3041314" cy="128646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3340" tIns="35560" rIns="53340" bIns="35560" numCol="1" spcCol="1270" anchor="ctr" anchorCtr="0">
              <a:noAutofit/>
            </a:bodyPr>
            <a:lstStyle/>
            <a:p>
              <a:pPr lvl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2800" kern="12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未饱和空气</a:t>
              </a:r>
              <a:endParaRPr lang="zh-CN" altLang="en-US" sz="2800" kern="1200" dirty="0">
                <a:solidFill>
                  <a:schemeClr val="bg1"/>
                </a:solidFill>
              </a:endParaRPr>
            </a:p>
          </p:txBody>
        </p:sp>
      </p:grpSp>
      <p:sp>
        <p:nvSpPr>
          <p:cNvPr id="11" name="圆角矩形 4"/>
          <p:cNvSpPr/>
          <p:nvPr/>
        </p:nvSpPr>
        <p:spPr>
          <a:xfrm>
            <a:off x="593513" y="1844824"/>
            <a:ext cx="7848872" cy="1224136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8100" tIns="25400" rIns="38100" bIns="25400" numCol="1" spcCol="1270" anchor="ctr" anchorCtr="0">
            <a:noAutofit/>
          </a:bodyPr>
          <a:lstStyle/>
          <a:p>
            <a:pPr marL="457200" lvl="0" indent="-457200" defTabSz="889000">
              <a:lnSpc>
                <a:spcPct val="150000"/>
              </a:lnSpc>
              <a:spcBef>
                <a:spcPct val="0"/>
              </a:spcBef>
              <a:spcAft>
                <a:spcPct val="35000"/>
              </a:spcAft>
              <a:buFont typeface="Wingdings" panose="05000000000000000000" pitchFamily="2" charset="2"/>
              <a:buChar char="Ø"/>
            </a:pPr>
            <a:r>
              <a:rPr lang="zh-CN" altLang="en-US" sz="2800" kern="12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湿球温度计周围水蒸气的分压力增大，其对应的饱和温度 </a:t>
            </a:r>
            <a:r>
              <a:rPr lang="en-US" altLang="zh-CN" sz="2800" b="1" i="1" kern="1200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t</a:t>
            </a:r>
            <a:r>
              <a:rPr lang="en-US" altLang="zh-CN" sz="2800" b="1" kern="1200" baseline="-25000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w</a:t>
            </a:r>
            <a:r>
              <a:rPr lang="zh-CN" altLang="en-US" sz="2800" b="1" kern="12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＞</a:t>
            </a:r>
            <a:r>
              <a:rPr lang="en-US" altLang="zh-CN" sz="2800" b="1" i="1" kern="1200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t</a:t>
            </a:r>
            <a:r>
              <a:rPr lang="en-US" altLang="zh-CN" sz="2800" b="1" kern="1200" baseline="-25000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D</a:t>
            </a:r>
            <a:r>
              <a:rPr lang="en-US" altLang="zh-CN" sz="2800" b="1" kern="1200" baseline="-250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zh-CN" altLang="en-US" sz="2800" kern="1200" baseline="-250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；</a:t>
            </a:r>
            <a:endParaRPr lang="zh-CN" altLang="en-US" sz="2800" kern="1200" dirty="0"/>
          </a:p>
        </p:txBody>
      </p:sp>
      <p:sp>
        <p:nvSpPr>
          <p:cNvPr id="2" name="矩形 1"/>
          <p:cNvSpPr/>
          <p:nvPr/>
        </p:nvSpPr>
        <p:spPr>
          <a:xfrm>
            <a:off x="539552" y="3193812"/>
            <a:ext cx="658706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水分蒸发带走热量</a:t>
            </a:r>
            <a:r>
              <a:rPr lang="en-US" altLang="zh-CN" sz="28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,  </a:t>
            </a:r>
            <a:r>
              <a:rPr lang="zh-CN" altLang="en-US" sz="28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所以，</a:t>
            </a:r>
            <a:r>
              <a:rPr lang="en-US" altLang="zh-CN" sz="2800" b="1" i="1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t</a:t>
            </a:r>
            <a:r>
              <a:rPr lang="en-US" altLang="zh-CN" sz="2800" b="1" baseline="-25000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D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＜</a:t>
            </a:r>
            <a:r>
              <a:rPr lang="en-US" altLang="zh-CN" sz="2800" b="1" i="1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t</a:t>
            </a:r>
            <a:r>
              <a:rPr lang="en-US" altLang="zh-CN" sz="2800" b="1" baseline="-25000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w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＜</a:t>
            </a:r>
            <a:r>
              <a:rPr lang="en-US" altLang="zh-CN" sz="2800" b="1" i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t</a:t>
            </a:r>
            <a:r>
              <a:rPr lang="zh-CN" altLang="en-US" sz="28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。</a:t>
            </a:r>
            <a:endParaRPr lang="zh-CN" altLang="en-US" sz="2800" dirty="0"/>
          </a:p>
        </p:txBody>
      </p:sp>
      <p:grpSp>
        <p:nvGrpSpPr>
          <p:cNvPr id="12" name="组合 11"/>
          <p:cNvGrpSpPr/>
          <p:nvPr/>
        </p:nvGrpSpPr>
        <p:grpSpPr>
          <a:xfrm>
            <a:off x="560305" y="3946251"/>
            <a:ext cx="2353187" cy="562869"/>
            <a:chOff x="108671" y="53770"/>
            <a:chExt cx="3121362" cy="1366513"/>
          </a:xfrm>
        </p:grpSpPr>
        <p:sp>
          <p:nvSpPr>
            <p:cNvPr id="13" name="圆角矩形 12"/>
            <p:cNvSpPr/>
            <p:nvPr/>
          </p:nvSpPr>
          <p:spPr>
            <a:xfrm>
              <a:off x="108671" y="53770"/>
              <a:ext cx="3121362" cy="1366513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4" name="圆角矩形 4"/>
            <p:cNvSpPr/>
            <p:nvPr/>
          </p:nvSpPr>
          <p:spPr>
            <a:xfrm>
              <a:off x="148695" y="93794"/>
              <a:ext cx="3041314" cy="128646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3340" tIns="35560" rIns="53340" bIns="35560" numCol="1" spcCol="1270" anchor="ctr" anchorCtr="0">
              <a:noAutofit/>
            </a:bodyPr>
            <a:lstStyle/>
            <a:p>
              <a:pPr lvl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2800" kern="12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饱和空气</a:t>
              </a:r>
              <a:endParaRPr lang="zh-CN" altLang="en-US" sz="2800" kern="1200" dirty="0">
                <a:solidFill>
                  <a:schemeClr val="bg1"/>
                </a:solidFill>
              </a:endParaRPr>
            </a:p>
          </p:txBody>
        </p:sp>
      </p:grpSp>
      <p:sp>
        <p:nvSpPr>
          <p:cNvPr id="15" name="矩形 14"/>
          <p:cNvSpPr/>
          <p:nvPr/>
        </p:nvSpPr>
        <p:spPr>
          <a:xfrm>
            <a:off x="506439" y="4509120"/>
            <a:ext cx="7935946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>
                <a:solidFill>
                  <a:prstClr val="black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蒸发与</a:t>
            </a:r>
            <a:r>
              <a:rPr lang="zh-CN" altLang="en-US" sz="2800" dirty="0">
                <a:solidFill>
                  <a:prstClr val="black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  <a:sym typeface="Symbol" pitchFamily="18" charset="2"/>
              </a:rPr>
              <a:t>凝结达到动态平衡，</a:t>
            </a:r>
            <a:r>
              <a:rPr lang="zh-CN" altLang="en-US" sz="28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水蒸气的分压力不变，</a:t>
            </a:r>
            <a:r>
              <a:rPr lang="zh-CN" altLang="en-US" sz="2800" dirty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Symbol" pitchFamily="18" charset="2"/>
              </a:rPr>
              <a:t>不再带走热量，故，</a:t>
            </a:r>
            <a:r>
              <a:rPr lang="en-US" altLang="zh-CN" sz="2800" b="1" i="1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t</a:t>
            </a:r>
            <a:r>
              <a:rPr lang="en-US" altLang="zh-CN" sz="2800" b="1" baseline="-25000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D</a:t>
            </a:r>
            <a:r>
              <a:rPr lang="en-US" altLang="zh-CN" sz="2800" b="1" baseline="-250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= </a:t>
            </a:r>
            <a:r>
              <a:rPr lang="en-US" altLang="zh-CN" sz="2800" b="1" i="1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t</a:t>
            </a:r>
            <a:r>
              <a:rPr lang="en-US" altLang="zh-CN" sz="2800" b="1" baseline="-25000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w</a:t>
            </a:r>
            <a:r>
              <a:rPr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=</a:t>
            </a:r>
            <a:r>
              <a:rPr lang="en-US" altLang="zh-CN" sz="2800" b="1" i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t</a:t>
            </a:r>
            <a:r>
              <a:rPr lang="zh-CN" altLang="en-US" sz="28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。</a:t>
            </a:r>
            <a:endParaRPr lang="zh-CN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" grpId="0"/>
      <p:bldP spid="1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457334" y="1084616"/>
            <a:ext cx="5338802" cy="760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>
              <a:lnSpc>
                <a:spcPct val="155000"/>
              </a:lnSpc>
            </a:pPr>
            <a:r>
              <a:rPr lang="zh-CN" altLang="en-US" sz="2800" i="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湿空气相对湿度  </a:t>
            </a:r>
            <a:r>
              <a:rPr lang="zh-CN" altLang="en-US" sz="2800" b="1" i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  <a:sym typeface="Symbol" pitchFamily="18" charset="2"/>
              </a:rPr>
              <a:t></a:t>
            </a:r>
            <a:r>
              <a:rPr lang="zh-CN" altLang="en-US" sz="2800" i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  <a:sym typeface="Symbol" pitchFamily="18" charset="2"/>
              </a:rPr>
              <a:t> </a:t>
            </a:r>
            <a:r>
              <a:rPr lang="zh-CN" altLang="en-US" sz="28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sym typeface="Symbol" pitchFamily="18" charset="2"/>
              </a:rPr>
              <a:t>↓→</a:t>
            </a:r>
            <a:r>
              <a:rPr lang="zh-CN" altLang="en-US" sz="2800" b="1" i="0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  <a:sym typeface="Symbol" pitchFamily="18" charset="2"/>
              </a:rPr>
              <a:t>（</a:t>
            </a:r>
            <a:r>
              <a:rPr lang="en-US" altLang="zh-CN" sz="2800" b="1" i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  <a:sym typeface="Symbol" pitchFamily="18" charset="2"/>
              </a:rPr>
              <a:t>t</a:t>
            </a:r>
            <a:r>
              <a:rPr lang="zh-CN" altLang="en-US" sz="28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  <a:sym typeface="Symbol" pitchFamily="18" charset="2"/>
              </a:rPr>
              <a:t>－</a:t>
            </a:r>
            <a:r>
              <a:rPr lang="en-US" altLang="zh-CN" sz="2800" b="1" i="1" dirty="0" err="1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  <a:sym typeface="Symbol" pitchFamily="18" charset="2"/>
              </a:rPr>
              <a:t>t</a:t>
            </a:r>
            <a:r>
              <a:rPr lang="en-US" altLang="zh-CN" sz="2800" b="1" i="0" baseline="-25000" dirty="0" err="1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  <a:sym typeface="Symbol" pitchFamily="18" charset="2"/>
              </a:rPr>
              <a:t>w</a:t>
            </a:r>
            <a:r>
              <a:rPr lang="zh-CN" altLang="en-US" sz="2800" b="1" i="0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  <a:sym typeface="Symbol" pitchFamily="18" charset="2"/>
              </a:rPr>
              <a:t>）</a:t>
            </a:r>
            <a:r>
              <a:rPr lang="zh-CN" altLang="en-US" sz="28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sym typeface="Symbol" pitchFamily="18" charset="2"/>
              </a:rPr>
              <a:t>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86842" y="6488668"/>
            <a:ext cx="5000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黑体" pitchFamily="49" charset="-122"/>
                <a:ea typeface="黑体" pitchFamily="49" charset="-122"/>
              </a:rPr>
              <a:t>16</a:t>
            </a:r>
            <a:endParaRPr lang="zh-CN" altLang="en-US" sz="2000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487460" y="1988840"/>
            <a:ext cx="6676828" cy="52322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zh-CN" altLang="en-US" sz="2800" dirty="0">
                <a:latin typeface="微软雅黑" pitchFamily="34" charset="-122"/>
                <a:ea typeface="微软雅黑" pitchFamily="34" charset="-122"/>
                <a:sym typeface="Symbol" pitchFamily="18" charset="2"/>
              </a:rPr>
              <a:t>由干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  <a:sym typeface="Symbol" pitchFamily="18" charset="2"/>
              </a:rPr>
              <a:t>—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  <a:sym typeface="Symbol" pitchFamily="18" charset="2"/>
              </a:rPr>
              <a:t>湿球温度求水蒸气分压力的途径：</a:t>
            </a:r>
            <a:endParaRPr lang="zh-CN" altLang="en-US" sz="2800" dirty="0"/>
          </a:p>
        </p:txBody>
      </p:sp>
      <p:sp>
        <p:nvSpPr>
          <p:cNvPr id="19" name="矩形 18"/>
          <p:cNvSpPr/>
          <p:nvPr/>
        </p:nvSpPr>
        <p:spPr>
          <a:xfrm>
            <a:off x="683568" y="2689756"/>
            <a:ext cx="581508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 algn="ctr"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微软雅黑" pitchFamily="34" charset="-122"/>
                <a:ea typeface="微软雅黑" pitchFamily="34" charset="-122"/>
                <a:sym typeface="Symbol" pitchFamily="18" charset="2"/>
              </a:rPr>
              <a:t>在干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  <a:sym typeface="Symbol" pitchFamily="18" charset="2"/>
              </a:rPr>
              <a:t>—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  <a:sym typeface="Symbol" pitchFamily="18" charset="2"/>
              </a:rPr>
              <a:t>湿球温度计上读得 </a:t>
            </a:r>
            <a:r>
              <a:rPr lang="en-US" altLang="zh-CN" sz="2800" i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t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  <a:sym typeface="Symbol" pitchFamily="18" charset="2"/>
              </a:rPr>
              <a:t> 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  <a:sym typeface="Symbol" pitchFamily="18" charset="2"/>
              </a:rPr>
              <a:t>和 </a:t>
            </a:r>
            <a:r>
              <a:rPr lang="en-US" altLang="zh-CN" sz="2800" i="1" dirty="0" err="1">
                <a:latin typeface="Times New Roman" pitchFamily="18" charset="0"/>
                <a:ea typeface="微软雅黑" pitchFamily="34" charset="-122"/>
                <a:cs typeface="Times New Roman" pitchFamily="18" charset="0"/>
                <a:sym typeface="Symbol" pitchFamily="18" charset="2"/>
              </a:rPr>
              <a:t>t</a:t>
            </a:r>
            <a:r>
              <a:rPr lang="en-US" altLang="zh-CN" sz="2800" baseline="-25000" dirty="0" err="1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  <a:sym typeface="Symbol" pitchFamily="18" charset="2"/>
              </a:rPr>
              <a:t>w</a:t>
            </a:r>
            <a:r>
              <a:rPr lang="zh-CN" altLang="en-US" sz="2800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  <a:sym typeface="Symbol" pitchFamily="18" charset="2"/>
              </a:rPr>
              <a:t>；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624710" y="3212976"/>
            <a:ext cx="7907729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Symbol" pitchFamily="18" charset="2"/>
              </a:rPr>
              <a:t>从图表中查得相对湿度</a:t>
            </a:r>
            <a:r>
              <a:rPr lang="zh-CN" altLang="en-US" sz="2800" b="1" i="1" dirty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Symbol" pitchFamily="18" charset="2"/>
              </a:rPr>
              <a:t>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Symbol" pitchFamily="18" charset="2"/>
              </a:rPr>
              <a:t> </a:t>
            </a:r>
            <a:r>
              <a:rPr lang="zh-CN" altLang="en-US" sz="2800" dirty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Symbol" pitchFamily="18" charset="2"/>
              </a:rPr>
              <a:t>的值（利用干湿球温度和相对湿度的关系图，有时该图表</a:t>
            </a:r>
            <a:r>
              <a:rPr lang="en-US" altLang="zh-CN" sz="2800" dirty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Symbol" pitchFamily="18" charset="2"/>
              </a:rPr>
              <a:t>(</a:t>
            </a:r>
            <a:r>
              <a:rPr lang="zh-CN" altLang="en-US" sz="2800" dirty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Symbol" pitchFamily="18" charset="2"/>
              </a:rPr>
              <a:t>刻度</a:t>
            </a:r>
            <a:r>
              <a:rPr lang="en-US" altLang="zh-CN" sz="2800" dirty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Symbol" pitchFamily="18" charset="2"/>
              </a:rPr>
              <a:t>)</a:t>
            </a:r>
            <a:r>
              <a:rPr lang="zh-CN" altLang="en-US" sz="2800" dirty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Symbol" pitchFamily="18" charset="2"/>
              </a:rPr>
              <a:t>直接附在干湿球温度计上，可在温度计标尺上读出相对湿度</a:t>
            </a:r>
            <a:r>
              <a:rPr lang="zh-CN" altLang="en-US" sz="2800" b="1" i="1" dirty="0">
                <a:latin typeface="Times New Roman" panose="02020603050405020304" pitchFamily="18" charset="0"/>
                <a:ea typeface="微软雅黑" pitchFamily="34" charset="-122"/>
                <a:cs typeface="Times New Roman" pitchFamily="18" charset="0"/>
                <a:sym typeface="Symbol" pitchFamily="18" charset="2"/>
              </a:rPr>
              <a:t></a:t>
            </a:r>
            <a:r>
              <a:rPr lang="zh-CN" altLang="en-US" sz="2800" dirty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Symbol" pitchFamily="18" charset="2"/>
              </a:rPr>
              <a:t> ）；</a:t>
            </a:r>
            <a:endParaRPr lang="zh-CN" alt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/>
      <p:bldP spid="2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10" descr="0605"/>
          <p:cNvPicPr>
            <a:picLocks noChangeAspect="1" noChangeArrowheads="1"/>
          </p:cNvPicPr>
          <p:nvPr/>
        </p:nvPicPr>
        <p:blipFill>
          <a:blip r:embed="rId2" cstate="print"/>
          <a:srcRect t="6065"/>
          <a:stretch>
            <a:fillRect/>
          </a:stretch>
        </p:blipFill>
        <p:spPr bwMode="auto">
          <a:xfrm>
            <a:off x="5004048" y="1362921"/>
            <a:ext cx="3367335" cy="4079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矩形 9"/>
          <p:cNvSpPr/>
          <p:nvPr/>
        </p:nvSpPr>
        <p:spPr>
          <a:xfrm>
            <a:off x="599996" y="1700808"/>
            <a:ext cx="3744416" cy="203132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2800" kern="5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P.101</a:t>
            </a:r>
            <a:r>
              <a:rPr lang="zh-CN" altLang="zh-CN" sz="2800" kern="5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图</a:t>
            </a:r>
            <a:r>
              <a:rPr lang="en-US" altLang="zh-CN" sz="2800" kern="5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6.5(</a:t>
            </a:r>
            <a:r>
              <a:rPr lang="zh-CN" altLang="en-US" sz="2800" kern="5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右图</a:t>
            </a:r>
            <a:r>
              <a:rPr lang="en-US" altLang="zh-CN" sz="2800" kern="5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) </a:t>
            </a:r>
            <a:r>
              <a:rPr lang="zh-CN" altLang="en-US" sz="2800" kern="5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即为</a:t>
            </a:r>
            <a:r>
              <a:rPr lang="en-US" altLang="zh-CN" sz="2800" kern="5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zh-CN" sz="2800" kern="5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干湿球温度和相对湿度的关系曲线</a:t>
            </a:r>
            <a:r>
              <a:rPr lang="zh-CN" altLang="en-US" sz="2800" kern="5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。</a:t>
            </a:r>
            <a:endParaRPr lang="zh-CN" altLang="en-US" sz="2800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786842" y="6488668"/>
            <a:ext cx="5000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prstClr val="black"/>
                </a:solidFill>
                <a:latin typeface="黑体" pitchFamily="49" charset="-122"/>
                <a:ea typeface="黑体" pitchFamily="49" charset="-122"/>
              </a:rPr>
              <a:t>17</a:t>
            </a:r>
            <a:endParaRPr lang="zh-CN" altLang="en-US" sz="2000" dirty="0">
              <a:solidFill>
                <a:prstClr val="black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37947" y="5180722"/>
            <a:ext cx="411042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lvl="0" indent="-457200" algn="ctr"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由</a:t>
            </a:r>
            <a:r>
              <a:rPr lang="zh-CN" altLang="en-US" sz="2800" dirty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Symbol" pitchFamily="18" charset="2"/>
              </a:rPr>
              <a:t> </a:t>
            </a:r>
            <a:r>
              <a:rPr lang="en-US" altLang="zh-CN" sz="2800" b="1" i="1" dirty="0" err="1">
                <a:latin typeface="Times New Roman" pitchFamily="18" charset="0"/>
                <a:ea typeface="微软雅黑" pitchFamily="34" charset="-122"/>
                <a:cs typeface="Times New Roman" pitchFamily="18" charset="0"/>
                <a:sym typeface="Symbol" pitchFamily="18" charset="2"/>
              </a:rPr>
              <a:t>p</a:t>
            </a:r>
            <a:r>
              <a:rPr lang="en-US" altLang="zh-CN" sz="2800" b="1" baseline="-25000" dirty="0" err="1">
                <a:latin typeface="Times New Roman" pitchFamily="18" charset="0"/>
                <a:ea typeface="微软雅黑" pitchFamily="34" charset="-122"/>
                <a:cs typeface="Times New Roman" pitchFamily="18" charset="0"/>
                <a:sym typeface="Symbol" pitchFamily="18" charset="2"/>
              </a:rPr>
              <a:t>v</a:t>
            </a:r>
            <a:r>
              <a:rPr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=</a:t>
            </a:r>
            <a:r>
              <a:rPr lang="zh-CN" altLang="en-US" sz="2800" b="1" i="1" dirty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Symbol" pitchFamily="18" charset="2"/>
              </a:rPr>
              <a:t></a:t>
            </a:r>
            <a:r>
              <a:rPr lang="en-US" altLang="zh-CN" sz="2800" b="1" i="1" dirty="0">
                <a:solidFill>
                  <a:prstClr val="black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  <a:sym typeface="Symbol" pitchFamily="18" charset="2"/>
              </a:rPr>
              <a:t> </a:t>
            </a:r>
            <a:r>
              <a:rPr lang="en-US" altLang="zh-CN" sz="2800" b="1" i="1" dirty="0" err="1">
                <a:solidFill>
                  <a:prstClr val="black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  <a:sym typeface="Symbol" pitchFamily="18" charset="2"/>
              </a:rPr>
              <a:t>p</a:t>
            </a:r>
            <a:r>
              <a:rPr lang="en-US" altLang="zh-CN" sz="2800" b="1" baseline="-25000" dirty="0" err="1">
                <a:solidFill>
                  <a:prstClr val="black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  <a:sym typeface="Symbol" pitchFamily="18" charset="2"/>
              </a:rPr>
              <a:t>s</a:t>
            </a:r>
            <a:r>
              <a:rPr lang="zh-CN" altLang="en-US" sz="2800" dirty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Symbol" pitchFamily="18" charset="2"/>
              </a:rPr>
              <a:t>可求得 </a:t>
            </a:r>
            <a:r>
              <a:rPr lang="en-US" altLang="zh-CN" sz="2800" b="1" i="1" dirty="0" err="1">
                <a:solidFill>
                  <a:prstClr val="black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  <a:sym typeface="Symbol" pitchFamily="18" charset="2"/>
              </a:rPr>
              <a:t>p</a:t>
            </a:r>
            <a:r>
              <a:rPr lang="en-US" altLang="zh-CN" sz="2800" b="1" baseline="-25000" dirty="0" err="1">
                <a:solidFill>
                  <a:prstClr val="black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  <a:sym typeface="Symbol" pitchFamily="18" charset="2"/>
              </a:rPr>
              <a:t>v</a:t>
            </a:r>
            <a:r>
              <a:rPr lang="zh-CN" altLang="en-US" sz="2800" kern="5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 。</a:t>
            </a:r>
            <a:endParaRPr lang="zh-CN" alt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2953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642910" y="1071546"/>
            <a:ext cx="206979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zh-CN" altLang="en-US" sz="2800" i="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湿空气的焓 </a:t>
            </a:r>
            <a:endParaRPr lang="en-US" altLang="zh-CN" sz="28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sp>
        <p:nvSpPr>
          <p:cNvPr id="3" name="Rectangle 11"/>
          <p:cNvSpPr>
            <a:spLocks noChangeArrowheads="1"/>
          </p:cNvSpPr>
          <p:nvPr/>
        </p:nvSpPr>
        <p:spPr bwMode="auto">
          <a:xfrm>
            <a:off x="714348" y="1714488"/>
            <a:ext cx="600079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  <a:sym typeface="Symbol" pitchFamily="18" charset="2"/>
              </a:rPr>
              <a:t>定义：</a:t>
            </a:r>
            <a:r>
              <a:rPr lang="zh-CN" altLang="en-US" sz="2800" i="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含有</a:t>
            </a:r>
            <a:r>
              <a:rPr lang="en-US" altLang="zh-CN" sz="2800" b="1" i="0" dirty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Symbol" pitchFamily="18" charset="2"/>
              </a:rPr>
              <a:t>1</a:t>
            </a:r>
            <a:r>
              <a:rPr lang="en-US" altLang="zh-CN" sz="2800" b="1" i="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kg </a:t>
            </a:r>
            <a:r>
              <a:rPr lang="zh-CN" altLang="en-US" sz="2800" i="0" dirty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Symbol" pitchFamily="18" charset="2"/>
              </a:rPr>
              <a:t>干空气的湿空气的焓</a:t>
            </a:r>
          </a:p>
        </p:txBody>
      </p:sp>
      <p:graphicFrame>
        <p:nvGraphicFramePr>
          <p:cNvPr id="21518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0127830"/>
              </p:ext>
            </p:extLst>
          </p:nvPr>
        </p:nvGraphicFramePr>
        <p:xfrm>
          <a:off x="2357422" y="2400540"/>
          <a:ext cx="2643206" cy="59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91" name="公式" r:id="rId3" imgW="863280" imgH="228600" progId="Equation.3">
                  <p:embed/>
                </p:oleObj>
              </mc:Choice>
              <mc:Fallback>
                <p:oleObj name="公式" r:id="rId3" imgW="863280" imgH="2286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7422" y="2400540"/>
                        <a:ext cx="2643206" cy="596412"/>
                      </a:xfrm>
                      <a:prstGeom prst="rect">
                        <a:avLst/>
                      </a:prstGeom>
                      <a:solidFill>
                        <a:srgbClr val="FFCC99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16"/>
          <p:cNvSpPr>
            <a:spLocks noChangeArrowheads="1"/>
          </p:cNvSpPr>
          <p:nvPr/>
        </p:nvSpPr>
        <p:spPr bwMode="auto">
          <a:xfrm>
            <a:off x="5286380" y="2398487"/>
            <a:ext cx="202651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altLang="zh-CN" sz="2800" b="1" i="0" dirty="0">
                <a:latin typeface="Times New Roman" pitchFamily="18" charset="0"/>
              </a:rPr>
              <a:t>kJ/kg</a:t>
            </a:r>
            <a:r>
              <a:rPr lang="zh-CN" altLang="en-US" sz="2800" b="1" i="0" dirty="0">
                <a:latin typeface="Times New Roman" pitchFamily="18" charset="0"/>
              </a:rPr>
              <a:t>（</a:t>
            </a:r>
            <a:r>
              <a:rPr lang="en-US" altLang="zh-CN" sz="2800" b="1" i="0" dirty="0">
                <a:latin typeface="Times New Roman" pitchFamily="18" charset="0"/>
              </a:rPr>
              <a:t>a</a:t>
            </a:r>
            <a:r>
              <a:rPr lang="zh-CN" altLang="en-US" sz="2800" b="1" i="0" dirty="0">
                <a:latin typeface="Times New Roman" pitchFamily="18" charset="0"/>
              </a:rPr>
              <a:t>）</a:t>
            </a:r>
            <a:r>
              <a:rPr lang="zh-CN" altLang="en-US" sz="2800" b="1" dirty="0"/>
              <a:t> 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785786" y="3125911"/>
            <a:ext cx="72453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r>
              <a:rPr lang="zh-CN" altLang="en-US" sz="2800" i="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假定，</a:t>
            </a:r>
            <a:r>
              <a:rPr lang="en-US" altLang="zh-CN" sz="2800" b="1" i="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0</a:t>
            </a:r>
            <a:r>
              <a:rPr lang="en-US" altLang="zh-CN" sz="2800" b="1" i="0" dirty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Symbol" pitchFamily="18" charset="2"/>
              </a:rPr>
              <a:t></a:t>
            </a:r>
            <a:r>
              <a:rPr lang="en-US" altLang="zh-CN" sz="2800" b="1" i="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C</a:t>
            </a:r>
            <a:r>
              <a:rPr lang="en-US" altLang="zh-CN" sz="2800" i="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zh-CN" altLang="en-US" sz="2800" i="0" dirty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Symbol" pitchFamily="18" charset="2"/>
              </a:rPr>
              <a:t>时干空气的焓值为</a:t>
            </a:r>
            <a:r>
              <a:rPr lang="en-US" altLang="zh-CN" sz="2800" b="1" i="0" dirty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Symbol" pitchFamily="18" charset="2"/>
              </a:rPr>
              <a:t>0</a:t>
            </a:r>
            <a:r>
              <a:rPr lang="zh-CN" altLang="en-US" sz="2800" i="0" dirty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Symbol" pitchFamily="18" charset="2"/>
              </a:rPr>
              <a:t>，则 </a:t>
            </a: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2712707" y="3769876"/>
            <a:ext cx="1863011" cy="52322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>
            <a:spAutoFit/>
          </a:bodyPr>
          <a:lstStyle/>
          <a:p>
            <a:r>
              <a:rPr lang="en-US" altLang="zh-CN" sz="2800" b="1" i="1" dirty="0">
                <a:latin typeface="Times New Roman" pitchFamily="18" charset="0"/>
                <a:ea typeface="方正书宋简体" charset="-122"/>
                <a:cs typeface="Times New Roman" pitchFamily="18" charset="0"/>
              </a:rPr>
              <a:t>h</a:t>
            </a:r>
            <a:r>
              <a:rPr lang="en-US" altLang="zh-CN" sz="2800" b="1" i="0" baseline="-30000" dirty="0">
                <a:latin typeface="Times New Roman" pitchFamily="18" charset="0"/>
                <a:ea typeface="方正书宋简体" charset="-122"/>
                <a:cs typeface="Times New Roman" pitchFamily="18" charset="0"/>
              </a:rPr>
              <a:t>a</a:t>
            </a:r>
            <a:r>
              <a:rPr lang="zh-CN" altLang="en-US" sz="2800" b="1" i="0" dirty="0">
                <a:latin typeface="Times New Roman" pitchFamily="18" charset="0"/>
                <a:ea typeface="方正书宋简体" charset="-122"/>
                <a:cs typeface="Times New Roman" pitchFamily="18" charset="0"/>
              </a:rPr>
              <a:t>＝</a:t>
            </a:r>
            <a:r>
              <a:rPr lang="en-US" altLang="zh-CN" sz="2800" b="1" i="0" dirty="0">
                <a:latin typeface="Times New Roman" pitchFamily="18" charset="0"/>
                <a:ea typeface="方正书宋简体" charset="-122"/>
                <a:cs typeface="Times New Roman" pitchFamily="18" charset="0"/>
              </a:rPr>
              <a:t>1.005 </a:t>
            </a:r>
            <a:r>
              <a:rPr lang="en-US" altLang="zh-CN" sz="2800" b="1" i="1" dirty="0">
                <a:latin typeface="Times New Roman" pitchFamily="18" charset="0"/>
                <a:ea typeface="方正书宋简体" charset="-122"/>
                <a:cs typeface="Times New Roman" pitchFamily="18" charset="0"/>
              </a:rPr>
              <a:t>t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827088" y="4584843"/>
            <a:ext cx="6413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zh-CN" altLang="en-US" sz="2800" i="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又</a:t>
            </a:r>
            <a:r>
              <a:rPr lang="zh-CN" altLang="en-US" sz="2800" b="1" i="0" dirty="0">
                <a:ea typeface="方正书宋简体" charset="-122"/>
                <a:cs typeface="Times New Roman" pitchFamily="18" charset="0"/>
              </a:rPr>
              <a:t> </a:t>
            </a:r>
          </a:p>
        </p:txBody>
      </p:sp>
      <p:graphicFrame>
        <p:nvGraphicFramePr>
          <p:cNvPr id="21521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142635"/>
              </p:ext>
            </p:extLst>
          </p:nvPr>
        </p:nvGraphicFramePr>
        <p:xfrm>
          <a:off x="2248896" y="4551507"/>
          <a:ext cx="2857503" cy="6056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92" name="公式" r:id="rId5" imgW="1079280" imgH="228600" progId="Equation.3">
                  <p:embed/>
                </p:oleObj>
              </mc:Choice>
              <mc:Fallback>
                <p:oleObj name="公式" r:id="rId5" imgW="1079280" imgH="22860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8896" y="4551507"/>
                        <a:ext cx="2857503" cy="605685"/>
                      </a:xfrm>
                      <a:prstGeom prst="rect">
                        <a:avLst/>
                      </a:prstGeom>
                      <a:solidFill>
                        <a:srgbClr val="FFCC99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5177854" y="4551507"/>
            <a:ext cx="24257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zh-CN" altLang="en-US" sz="2800" i="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（经验公式） </a:t>
            </a:r>
          </a:p>
        </p:txBody>
      </p:sp>
      <p:sp>
        <p:nvSpPr>
          <p:cNvPr id="11" name="Rectangle 9"/>
          <p:cNvSpPr>
            <a:spLocks noChangeArrowheads="1"/>
          </p:cNvSpPr>
          <p:nvPr/>
        </p:nvSpPr>
        <p:spPr bwMode="auto">
          <a:xfrm>
            <a:off x="827088" y="5301208"/>
            <a:ext cx="6413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zh-CN" altLang="en-US" sz="2800" i="0" dirty="0">
                <a:latin typeface="微软雅黑" pitchFamily="34" charset="-122"/>
                <a:ea typeface="微软雅黑" pitchFamily="34" charset="-122"/>
              </a:rPr>
              <a:t>则</a:t>
            </a:r>
            <a:r>
              <a:rPr lang="zh-CN" altLang="en-US" sz="2800" b="1" i="0" dirty="0"/>
              <a:t> </a:t>
            </a:r>
          </a:p>
        </p:txBody>
      </p:sp>
      <p:sp>
        <p:nvSpPr>
          <p:cNvPr id="12" name="Rectangle 19"/>
          <p:cNvSpPr>
            <a:spLocks noChangeArrowheads="1"/>
          </p:cNvSpPr>
          <p:nvPr/>
        </p:nvSpPr>
        <p:spPr bwMode="auto">
          <a:xfrm>
            <a:off x="1468438" y="5301208"/>
            <a:ext cx="709200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altLang="zh-CN" sz="2800" b="1" dirty="0"/>
              <a:t> </a:t>
            </a:r>
            <a:r>
              <a:rPr lang="en-US" altLang="zh-CN" sz="2800" b="1" i="1" dirty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zh-CN" altLang="en-US" sz="2800" b="1" dirty="0">
                <a:latin typeface="Times New Roman" pitchFamily="18" charset="0"/>
                <a:cs typeface="Times New Roman" pitchFamily="18" charset="0"/>
              </a:rPr>
              <a:t>＝</a:t>
            </a:r>
            <a:r>
              <a:rPr lang="en-US" altLang="zh-CN" sz="2800" b="1" i="0" dirty="0">
                <a:latin typeface="Times New Roman" pitchFamily="18" charset="0"/>
                <a:cs typeface="Times New Roman" pitchFamily="18" charset="0"/>
              </a:rPr>
              <a:t>1.005 </a:t>
            </a:r>
            <a:r>
              <a:rPr lang="en-US" altLang="zh-CN" sz="2800" b="1" i="1" dirty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zh-CN" altLang="en-US" sz="2800" b="1" i="0" dirty="0">
                <a:latin typeface="Times New Roman" pitchFamily="18" charset="0"/>
                <a:cs typeface="Times New Roman" pitchFamily="18" charset="0"/>
              </a:rPr>
              <a:t>＋</a:t>
            </a:r>
            <a:r>
              <a:rPr lang="en-US" altLang="zh-CN" sz="2800" b="1" i="1" dirty="0">
                <a:latin typeface="Times New Roman" pitchFamily="18" charset="0"/>
                <a:cs typeface="Times New Roman" pitchFamily="18" charset="0"/>
              </a:rPr>
              <a:t>ω</a:t>
            </a:r>
            <a:r>
              <a:rPr lang="zh-CN" altLang="en-US" sz="2800" b="1" i="0" dirty="0">
                <a:latin typeface="Times New Roman" pitchFamily="18" charset="0"/>
                <a:cs typeface="Times New Roman" pitchFamily="18" charset="0"/>
              </a:rPr>
              <a:t>（</a:t>
            </a:r>
            <a:r>
              <a:rPr lang="en-US" altLang="zh-CN" sz="2800" b="1" i="0" dirty="0">
                <a:latin typeface="Times New Roman" pitchFamily="18" charset="0"/>
                <a:cs typeface="Times New Roman" pitchFamily="18" charset="0"/>
              </a:rPr>
              <a:t>2501</a:t>
            </a:r>
            <a:r>
              <a:rPr lang="zh-CN" altLang="en-US" sz="2800" b="1" i="0" dirty="0">
                <a:latin typeface="Times New Roman" pitchFamily="18" charset="0"/>
                <a:cs typeface="Times New Roman" pitchFamily="18" charset="0"/>
              </a:rPr>
              <a:t>＋</a:t>
            </a:r>
            <a:r>
              <a:rPr lang="en-US" altLang="zh-CN" sz="2800" b="1" i="0" dirty="0">
                <a:latin typeface="Times New Roman" pitchFamily="18" charset="0"/>
                <a:cs typeface="Times New Roman" pitchFamily="18" charset="0"/>
              </a:rPr>
              <a:t>1.86 </a:t>
            </a:r>
            <a:r>
              <a:rPr lang="en-US" altLang="zh-CN" sz="2800" b="1" i="1" dirty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zh-CN" altLang="en-US" sz="2800" b="1" i="0" dirty="0">
                <a:latin typeface="Times New Roman" pitchFamily="18" charset="0"/>
                <a:cs typeface="Times New Roman" pitchFamily="18" charset="0"/>
              </a:rPr>
              <a:t>）  </a:t>
            </a:r>
            <a:r>
              <a:rPr lang="en-US" altLang="zh-CN" sz="2800" b="1" dirty="0">
                <a:latin typeface="Times New Roman" pitchFamily="18" charset="0"/>
                <a:cs typeface="Times New Roman" pitchFamily="18" charset="0"/>
              </a:rPr>
              <a:t>kJ/kg</a:t>
            </a:r>
            <a:r>
              <a:rPr lang="zh-CN" altLang="en-US" sz="2800" b="1" dirty="0">
                <a:latin typeface="Times New Roman" pitchFamily="18" charset="0"/>
                <a:cs typeface="Times New Roman" pitchFamily="18" charset="0"/>
              </a:rPr>
              <a:t>（</a:t>
            </a:r>
            <a:r>
              <a:rPr lang="en-US" altLang="zh-CN" sz="2800" b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zh-CN" altLang="en-US" sz="2800" b="1" dirty="0">
                <a:latin typeface="Times New Roman" pitchFamily="18" charset="0"/>
                <a:cs typeface="Times New Roman" pitchFamily="18" charset="0"/>
              </a:rPr>
              <a:t>）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86842" y="6488668"/>
            <a:ext cx="5000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黑体" pitchFamily="49" charset="-122"/>
                <a:ea typeface="黑体" pitchFamily="49" charset="-122"/>
              </a:rPr>
              <a:t>18</a:t>
            </a:r>
            <a:endParaRPr lang="zh-CN" altLang="en-US" sz="2000" dirty="0">
              <a:latin typeface="黑体" pitchFamily="49" charset="-122"/>
              <a:ea typeface="黑体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2" dur="80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3" dur="80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80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1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7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8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9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4" dur="80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5" dur="80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" dur="80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4" dur="500"/>
                                        <p:tgtEl>
                                          <p:spTgt spid="21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6" grpId="0"/>
      <p:bldP spid="7" grpId="0" animBg="1"/>
      <p:bldP spid="8" grpId="0"/>
      <p:bldP spid="10" grpId="0"/>
      <p:bldP spid="11" grpId="0"/>
      <p:bldP spid="1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683568" y="2803395"/>
            <a:ext cx="7704856" cy="199375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/>
          <a:lstStyle/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由于工程上所用湿空气一般为未饱和湿空气。所以水蒸气可看做理想气体。湿空气的其他参数，可利用理想气体混合物的有关公式计算。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        </a:t>
            </a:r>
            <a:endParaRPr kumimoji="0" lang="zh-CN" altLang="en-US" sz="280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itchFamily="18" charset="0"/>
              <a:ea typeface="微软雅黑" pitchFamily="34" charset="-122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786842" y="6488668"/>
            <a:ext cx="5000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黑体" pitchFamily="49" charset="-122"/>
                <a:ea typeface="黑体" pitchFamily="49" charset="-122"/>
              </a:rPr>
              <a:t>19</a:t>
            </a:r>
            <a:endParaRPr lang="zh-CN" altLang="en-US" sz="2000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5" name="Rectangle 13"/>
          <p:cNvSpPr>
            <a:spLocks noChangeArrowheads="1"/>
          </p:cNvSpPr>
          <p:nvPr/>
        </p:nvSpPr>
        <p:spPr bwMode="auto">
          <a:xfrm>
            <a:off x="683569" y="1753652"/>
            <a:ext cx="7704856" cy="52322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sz="28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这时已知</a:t>
            </a:r>
            <a:r>
              <a:rPr lang="zh-CN" altLang="en-US" sz="2800" i="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en-US" altLang="zh-CN" sz="2800" b="1" i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t</a:t>
            </a:r>
            <a:r>
              <a:rPr lang="en-US" altLang="zh-CN" sz="28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zh-CN" altLang="en-US" sz="2800" i="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和 </a:t>
            </a:r>
            <a:r>
              <a:rPr lang="en-US" altLang="zh-CN" sz="2800" b="1" i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h</a:t>
            </a:r>
            <a:r>
              <a:rPr lang="zh-CN" altLang="en-US" sz="2800" i="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，可求得 </a:t>
            </a:r>
            <a:r>
              <a:rPr lang="en-US" altLang="zh-CN" sz="2800" i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ω</a:t>
            </a:r>
            <a:r>
              <a:rPr lang="zh-CN" altLang="en-US" sz="2800" i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，</a:t>
            </a:r>
            <a:r>
              <a:rPr lang="zh-CN" altLang="en-US" sz="2800" i="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从而求得 </a:t>
            </a:r>
            <a:r>
              <a:rPr lang="en-US" altLang="zh-CN" sz="2800" b="1" i="1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p</a:t>
            </a:r>
            <a:r>
              <a:rPr lang="en-US" altLang="zh-CN" sz="2800" b="1" i="0" baseline="-25000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v</a:t>
            </a:r>
            <a:r>
              <a:rPr lang="en-US" altLang="zh-CN" sz="2800" i="0" baseline="-250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zh-CN" altLang="en-US" sz="28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。</a:t>
            </a:r>
            <a:endParaRPr lang="zh-CN" altLang="en-US" sz="2800" i="0" dirty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786842" y="6488668"/>
            <a:ext cx="5000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prstClr val="black"/>
                </a:solidFill>
                <a:latin typeface="黑体" pitchFamily="49" charset="-122"/>
                <a:ea typeface="黑体" pitchFamily="49" charset="-122"/>
              </a:rPr>
              <a:t>20</a:t>
            </a:r>
            <a:endParaRPr lang="zh-CN" altLang="en-US" sz="2000" dirty="0">
              <a:solidFill>
                <a:prstClr val="black"/>
              </a:solidFill>
              <a:latin typeface="黑体" pitchFamily="49" charset="-122"/>
              <a:ea typeface="黑体" pitchFamily="49" charset="-122"/>
            </a:endParaRPr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8541645"/>
              </p:ext>
            </p:extLst>
          </p:nvPr>
        </p:nvGraphicFramePr>
        <p:xfrm>
          <a:off x="683567" y="1916832"/>
          <a:ext cx="7603209" cy="40350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42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04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385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8072">
                <a:tc>
                  <a:txBody>
                    <a:bodyPr/>
                    <a:lstStyle/>
                    <a:p>
                      <a:pPr algn="ctr"/>
                      <a:endParaRPr lang="zh-CN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solidFill>
                            <a:schemeClr val="bg1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饱和湿空气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latin typeface="微软雅黑" pitchFamily="34" charset="-122"/>
                          <a:ea typeface="微软雅黑" pitchFamily="34" charset="-122"/>
                        </a:rPr>
                        <a:t>未饱和湿空气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4870">
                <a:tc>
                  <a:txBody>
                    <a:bodyPr/>
                    <a:lstStyle/>
                    <a:p>
                      <a:pPr algn="ctr"/>
                      <a:r>
                        <a:rPr kumimoji="0" lang="zh-CN" altLang="en-US" sz="240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微软雅黑" pitchFamily="34" charset="-122"/>
                          <a:cs typeface="Times New Roman" pitchFamily="18" charset="0"/>
                        </a:rPr>
                        <a:t>独立状态</a:t>
                      </a:r>
                      <a:endParaRPr kumimoji="0" lang="en-US" altLang="zh-CN" sz="240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 New Roman" pitchFamily="18" charset="0"/>
                        <a:ea typeface="微软雅黑" pitchFamily="34" charset="-122"/>
                        <a:cs typeface="Times New Roman" pitchFamily="18" charset="0"/>
                      </a:endParaRPr>
                    </a:p>
                    <a:p>
                      <a:pPr algn="ctr"/>
                      <a:r>
                        <a:rPr kumimoji="0" lang="zh-CN" altLang="en-US" sz="240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微软雅黑" pitchFamily="34" charset="-122"/>
                          <a:cs typeface="Times New Roman" pitchFamily="18" charset="0"/>
                        </a:rPr>
                        <a:t>参数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i="1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微软雅黑" pitchFamily="34" charset="-122"/>
                          <a:cs typeface="Times New Roman" pitchFamily="18" charset="0"/>
                        </a:rPr>
                        <a:t>p</a:t>
                      </a:r>
                      <a:r>
                        <a:rPr kumimoji="0" lang="zh-CN" altLang="en-U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微软雅黑" pitchFamily="34" charset="-122"/>
                          <a:cs typeface="Times New Roman" pitchFamily="18" charset="0"/>
                        </a:rPr>
                        <a:t>、</a:t>
                      </a:r>
                      <a:r>
                        <a:rPr kumimoji="0" lang="en-US" altLang="zh-CN" sz="24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微软雅黑" pitchFamily="34" charset="-122"/>
                          <a:cs typeface="Times New Roman" pitchFamily="18" charset="0"/>
                          <a:sym typeface="Symbol" pitchFamily="18" charset="2"/>
                        </a:rPr>
                        <a:t>t </a:t>
                      </a:r>
                      <a:endParaRPr lang="zh-CN" alt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0" lang="en-US" altLang="zh-CN" sz="24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微软雅黑" pitchFamily="34" charset="-122"/>
                          <a:cs typeface="Times New Roman" pitchFamily="18" charset="0"/>
                        </a:rPr>
                        <a:t> p</a:t>
                      </a:r>
                      <a:r>
                        <a:rPr kumimoji="0" lang="zh-CN" altLang="en-US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微软雅黑" pitchFamily="34" charset="-122"/>
                          <a:cs typeface="Times New Roman" pitchFamily="18" charset="0"/>
                        </a:rPr>
                        <a:t>、</a:t>
                      </a:r>
                      <a:r>
                        <a:rPr kumimoji="0" lang="en-US" altLang="zh-CN" sz="24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微软雅黑" pitchFamily="34" charset="-122"/>
                          <a:cs typeface="Times New Roman" pitchFamily="18" charset="0"/>
                          <a:sym typeface="Symbol" pitchFamily="18" charset="2"/>
                        </a:rPr>
                        <a:t>t</a:t>
                      </a:r>
                      <a:r>
                        <a:rPr kumimoji="0" lang="en-US" altLang="zh-CN" sz="240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微软雅黑" pitchFamily="34" charset="-122"/>
                          <a:cs typeface="Times New Roman" pitchFamily="18" charset="0"/>
                          <a:sym typeface="Symbol" pitchFamily="18" charset="2"/>
                        </a:rPr>
                        <a:t> </a:t>
                      </a:r>
                      <a:r>
                        <a:rPr kumimoji="0" lang="zh-CN" altLang="en-US" sz="240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微软雅黑" pitchFamily="34" charset="-122"/>
                          <a:cs typeface="Times New Roman" pitchFamily="18" charset="0"/>
                          <a:sym typeface="Symbol" pitchFamily="18" charset="2"/>
                        </a:rPr>
                        <a:t>和 </a:t>
                      </a:r>
                      <a:r>
                        <a:rPr kumimoji="0" lang="en-US" altLang="zh-CN" sz="2400" b="1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微软雅黑" pitchFamily="34" charset="-122"/>
                          <a:cs typeface="Times New Roman" pitchFamily="18" charset="0"/>
                          <a:sym typeface="Symbol" pitchFamily="18" charset="2"/>
                        </a:rPr>
                        <a:t>p</a:t>
                      </a:r>
                      <a:r>
                        <a:rPr kumimoji="0" lang="en-US" altLang="zh-CN" sz="2400" b="1" i="0" u="none" strike="noStrike" kern="1200" cap="none" spc="0" normalizeH="0" baseline="-2500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微软雅黑" pitchFamily="34" charset="-122"/>
                          <a:cs typeface="Times New Roman" pitchFamily="18" charset="0"/>
                          <a:sym typeface="Symbol" pitchFamily="18" charset="2"/>
                        </a:rPr>
                        <a:t>v</a:t>
                      </a:r>
                      <a:r>
                        <a:rPr kumimoji="0" lang="en-US" altLang="zh-CN" sz="240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微软雅黑" pitchFamily="34" charset="-122"/>
                          <a:cs typeface="Times New Roman" pitchFamily="18" charset="0"/>
                          <a:sym typeface="Symbol" pitchFamily="18" charset="2"/>
                        </a:rPr>
                        <a:t> </a:t>
                      </a:r>
                      <a:r>
                        <a:rPr kumimoji="0" lang="zh-CN" altLang="en-US" sz="240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微软雅黑" pitchFamily="34" charset="-122"/>
                          <a:cs typeface="Times New Roman" pitchFamily="18" charset="0"/>
                          <a:sym typeface="Symbol" pitchFamily="18" charset="2"/>
                        </a:rPr>
                        <a:t>或露点温度 </a:t>
                      </a:r>
                      <a:r>
                        <a:rPr kumimoji="0" lang="en-US" altLang="zh-CN" sz="2400" b="1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微软雅黑" pitchFamily="34" charset="-122"/>
                          <a:cs typeface="Times New Roman" pitchFamily="18" charset="0"/>
                          <a:sym typeface="Symbol" pitchFamily="18" charset="2"/>
                        </a:rPr>
                        <a:t>t</a:t>
                      </a:r>
                      <a:r>
                        <a:rPr kumimoji="0" lang="en-US" altLang="zh-CN" sz="2400" b="1" i="0" u="none" strike="noStrike" kern="1200" cap="none" spc="0" normalizeH="0" baseline="-2500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微软雅黑" pitchFamily="34" charset="-122"/>
                          <a:cs typeface="Times New Roman" pitchFamily="18" charset="0"/>
                          <a:sym typeface="Symbol" pitchFamily="18" charset="2"/>
                        </a:rPr>
                        <a:t>D</a:t>
                      </a:r>
                      <a:r>
                        <a:rPr kumimoji="0" lang="zh-CN" altLang="en-US" sz="240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微软雅黑" pitchFamily="34" charset="-122"/>
                          <a:cs typeface="Times New Roman" pitchFamily="18" charset="0"/>
                          <a:sym typeface="Symbol" pitchFamily="18" charset="2"/>
                        </a:rPr>
                        <a:t>、绝对湿度</a:t>
                      </a:r>
                      <a:r>
                        <a:rPr kumimoji="0" lang="zh-CN" altLang="en-US" sz="24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微软雅黑" pitchFamily="34" charset="-122"/>
                          <a:cs typeface="Times New Roman" pitchFamily="18" charset="0"/>
                          <a:sym typeface="Symbol" pitchFamily="18" charset="2"/>
                        </a:rPr>
                        <a:t> </a:t>
                      </a:r>
                      <a:r>
                        <a:rPr kumimoji="0" lang="en-US" altLang="zh-CN" sz="24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微软雅黑" pitchFamily="34" charset="-122"/>
                          <a:cs typeface="Times New Roman" pitchFamily="18" charset="0"/>
                          <a:sym typeface="Symbol" pitchFamily="18" charset="2"/>
                        </a:rPr>
                        <a:t>V</a:t>
                      </a:r>
                      <a:r>
                        <a:rPr kumimoji="0" lang="zh-CN" altLang="en-US" sz="240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微软雅黑" pitchFamily="34" charset="-122"/>
                          <a:cs typeface="Times New Roman" pitchFamily="18" charset="0"/>
                          <a:sym typeface="Symbol" pitchFamily="18" charset="2"/>
                        </a:rPr>
                        <a:t>、相对湿度</a:t>
                      </a:r>
                      <a:r>
                        <a:rPr kumimoji="0" lang="zh-CN" altLang="en-US" sz="24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微软雅黑" pitchFamily="34" charset="-122"/>
                          <a:cs typeface="Times New Roman" pitchFamily="18" charset="0"/>
                          <a:sym typeface="Symbol" pitchFamily="18" charset="2"/>
                        </a:rPr>
                        <a:t></a:t>
                      </a:r>
                      <a:r>
                        <a:rPr kumimoji="0" lang="zh-CN" altLang="en-US" sz="240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微软雅黑" pitchFamily="34" charset="-122"/>
                          <a:cs typeface="Times New Roman" pitchFamily="18" charset="0"/>
                          <a:sym typeface="Symbol" pitchFamily="18" charset="2"/>
                        </a:rPr>
                        <a:t>、比湿度 </a:t>
                      </a:r>
                      <a:r>
                        <a:rPr kumimoji="0" lang="el-GR" altLang="zh-CN" sz="24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微软雅黑" pitchFamily="34" charset="-122"/>
                          <a:cs typeface="Times New Roman" pitchFamily="18" charset="0"/>
                        </a:rPr>
                        <a:t>ω</a:t>
                      </a:r>
                      <a:r>
                        <a:rPr kumimoji="0" lang="zh-CN" altLang="en-US" sz="240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微软雅黑" pitchFamily="34" charset="-122"/>
                          <a:cs typeface="Times New Roman" pitchFamily="18" charset="0"/>
                          <a:sym typeface="Symbol" pitchFamily="18" charset="2"/>
                        </a:rPr>
                        <a:t>、</a:t>
                      </a:r>
                      <a:r>
                        <a:rPr kumimoji="0" lang="zh-CN" altLang="en-US" sz="240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微软雅黑" pitchFamily="34" charset="-122"/>
                          <a:cs typeface="Times New Roman" pitchFamily="18" charset="0"/>
                        </a:rPr>
                        <a:t>湿球温度 </a:t>
                      </a:r>
                      <a:r>
                        <a:rPr kumimoji="0" lang="en-US" altLang="zh-CN" sz="2400" b="1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微软雅黑" pitchFamily="34" charset="-122"/>
                          <a:cs typeface="Times New Roman" pitchFamily="18" charset="0"/>
                          <a:sym typeface="Symbol" pitchFamily="18" charset="2"/>
                        </a:rPr>
                        <a:t>t</a:t>
                      </a:r>
                      <a:r>
                        <a:rPr kumimoji="0" lang="en-US" altLang="zh-CN" sz="2400" b="1" i="0" u="none" strike="noStrike" kern="1200" cap="none" spc="0" normalizeH="0" baseline="-2500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微软雅黑" pitchFamily="34" charset="-122"/>
                          <a:cs typeface="Times New Roman" pitchFamily="18" charset="0"/>
                          <a:sym typeface="Symbol" pitchFamily="18" charset="2"/>
                        </a:rPr>
                        <a:t>w</a:t>
                      </a:r>
                      <a:r>
                        <a:rPr kumimoji="0" lang="en-US" altLang="zh-CN" sz="240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微软雅黑" pitchFamily="34" charset="-122"/>
                          <a:cs typeface="Times New Roman" pitchFamily="18" charset="0"/>
                          <a:sym typeface="Symbol" pitchFamily="18" charset="2"/>
                        </a:rPr>
                        <a:t> </a:t>
                      </a:r>
                      <a:r>
                        <a:rPr kumimoji="0" lang="zh-CN" altLang="en-US" sz="240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微软雅黑" pitchFamily="34" charset="-122"/>
                          <a:cs typeface="Times New Roman" pitchFamily="18" charset="0"/>
                          <a:sym typeface="Symbol" pitchFamily="18" charset="2"/>
                        </a:rPr>
                        <a:t>或焓 </a:t>
                      </a:r>
                      <a:r>
                        <a:rPr kumimoji="0" lang="en-US" altLang="zh-CN" sz="24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微软雅黑" pitchFamily="34" charset="-122"/>
                          <a:cs typeface="Times New Roman" pitchFamily="18" charset="0"/>
                          <a:sym typeface="Symbol" pitchFamily="18" charset="2"/>
                        </a:rPr>
                        <a:t>h</a:t>
                      </a:r>
                      <a:r>
                        <a:rPr kumimoji="0" lang="en-US" altLang="zh-CN" sz="240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微软雅黑" pitchFamily="34" charset="-122"/>
                          <a:cs typeface="Times New Roman" pitchFamily="18" charset="0"/>
                          <a:sym typeface="Symbol" pitchFamily="18" charset="2"/>
                        </a:rPr>
                        <a:t> </a:t>
                      </a:r>
                      <a:r>
                        <a:rPr kumimoji="0" lang="zh-CN" altLang="en-US" sz="240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微软雅黑" pitchFamily="34" charset="-122"/>
                          <a:cs typeface="Times New Roman" pitchFamily="18" charset="0"/>
                          <a:sym typeface="Symbol" pitchFamily="18" charset="2"/>
                        </a:rPr>
                        <a:t>中的任意一个参数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027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0" lang="zh-CN" altLang="en-US" sz="240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微软雅黑" pitchFamily="34" charset="-122"/>
                          <a:cs typeface="Times New Roman" pitchFamily="18" charset="0"/>
                        </a:rPr>
                        <a:t>可测状态</a:t>
                      </a:r>
                      <a:endParaRPr kumimoji="0" lang="en-US" altLang="zh-CN" sz="240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 New Roman" pitchFamily="18" charset="0"/>
                        <a:ea typeface="微软雅黑" pitchFamily="34" charset="-122"/>
                        <a:cs typeface="Times New Roman" pitchFamily="18" charset="0"/>
                      </a:endParaRPr>
                    </a:p>
                    <a:p>
                      <a:pPr marL="0" algn="ctr" defTabSz="914400" rtl="0" eaLnBrk="1" latinLnBrk="0" hangingPunct="1"/>
                      <a:r>
                        <a:rPr kumimoji="0" lang="zh-CN" altLang="en-US" sz="240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微软雅黑" pitchFamily="34" charset="-122"/>
                          <a:cs typeface="Times New Roman" pitchFamily="18" charset="0"/>
                        </a:rPr>
                        <a:t>参数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—</a:t>
                      </a:r>
                      <a:endParaRPr lang="zh-CN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CN" sz="2400" b="1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微软雅黑" pitchFamily="34" charset="-122"/>
                          <a:cs typeface="Times New Roman" pitchFamily="18" charset="0"/>
                          <a:sym typeface="Symbol" pitchFamily="18" charset="2"/>
                        </a:rPr>
                        <a:t>t</a:t>
                      </a:r>
                      <a:r>
                        <a:rPr kumimoji="0" lang="en-US" altLang="zh-CN" sz="2400" b="1" i="0" u="none" strike="noStrike" kern="1200" cap="none" spc="0" normalizeH="0" baseline="-2500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微软雅黑" pitchFamily="34" charset="-122"/>
                          <a:cs typeface="Times New Roman" pitchFamily="18" charset="0"/>
                          <a:sym typeface="Symbol" pitchFamily="18" charset="2"/>
                        </a:rPr>
                        <a:t>D</a:t>
                      </a:r>
                      <a:r>
                        <a:rPr kumimoji="0" lang="en-US" altLang="zh-CN" sz="24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微软雅黑" pitchFamily="34" charset="-122"/>
                          <a:cs typeface="Times New Roman" pitchFamily="18" charset="0"/>
                          <a:sym typeface="Symbol" pitchFamily="18" charset="2"/>
                        </a:rPr>
                        <a:t> </a:t>
                      </a:r>
                      <a:r>
                        <a:rPr kumimoji="0" lang="zh-CN" altLang="en-U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微软雅黑" pitchFamily="34" charset="-122"/>
                          <a:cs typeface="Times New Roman" pitchFamily="18" charset="0"/>
                          <a:sym typeface="Symbol" pitchFamily="18" charset="2"/>
                        </a:rPr>
                        <a:t>、</a:t>
                      </a:r>
                      <a:r>
                        <a:rPr kumimoji="0" lang="en-US" altLang="zh-CN" sz="2400" b="1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微软雅黑" pitchFamily="34" charset="-122"/>
                          <a:cs typeface="Times New Roman" pitchFamily="18" charset="0"/>
                          <a:sym typeface="Symbol" pitchFamily="18" charset="2"/>
                        </a:rPr>
                        <a:t>t</a:t>
                      </a:r>
                      <a:r>
                        <a:rPr kumimoji="0" lang="en-US" altLang="zh-CN" sz="2400" b="1" i="0" u="none" strike="noStrike" kern="1200" cap="none" spc="0" normalizeH="0" baseline="-2500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微软雅黑" pitchFamily="34" charset="-122"/>
                          <a:cs typeface="Times New Roman" pitchFamily="18" charset="0"/>
                          <a:sym typeface="Symbol" pitchFamily="18" charset="2"/>
                        </a:rPr>
                        <a:t>w</a:t>
                      </a:r>
                      <a:r>
                        <a:rPr kumimoji="0" lang="en-US" altLang="zh-CN" sz="24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微软雅黑" pitchFamily="34" charset="-122"/>
                          <a:cs typeface="Times New Roman" pitchFamily="18" charset="0"/>
                          <a:sym typeface="Symbol" pitchFamily="18" charset="2"/>
                        </a:rPr>
                        <a:t> </a:t>
                      </a:r>
                      <a:endParaRPr lang="zh-CN" alt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916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0" lang="zh-CN" altLang="en-US" sz="240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微软雅黑" pitchFamily="34" charset="-122"/>
                          <a:cs typeface="Times New Roman" pitchFamily="18" charset="0"/>
                        </a:rPr>
                        <a:t>不可测状态参数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—</a:t>
                      </a:r>
                      <a:endParaRPr lang="zh-CN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CN" altLang="en-US" sz="24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微软雅黑" pitchFamily="34" charset="-122"/>
                          <a:cs typeface="Times New Roman" pitchFamily="18" charset="0"/>
                          <a:sym typeface="Symbol" pitchFamily="18" charset="2"/>
                        </a:rPr>
                        <a:t></a:t>
                      </a:r>
                      <a:r>
                        <a:rPr kumimoji="0" lang="en-US" altLang="zh-CN" sz="24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微软雅黑" pitchFamily="34" charset="-122"/>
                          <a:cs typeface="Times New Roman" pitchFamily="18" charset="0"/>
                          <a:sym typeface="Symbol" pitchFamily="18" charset="2"/>
                        </a:rPr>
                        <a:t>v</a:t>
                      </a:r>
                      <a:r>
                        <a:rPr kumimoji="0" lang="zh-CN" altLang="en-U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微软雅黑" pitchFamily="34" charset="-122"/>
                          <a:cs typeface="Times New Roman" pitchFamily="18" charset="0"/>
                          <a:sym typeface="Symbol" pitchFamily="18" charset="2"/>
                        </a:rPr>
                        <a:t>、</a:t>
                      </a:r>
                      <a:r>
                        <a:rPr kumimoji="0" lang="zh-CN" altLang="en-US" sz="24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微软雅黑" pitchFamily="34" charset="-122"/>
                          <a:cs typeface="Times New Roman" pitchFamily="18" charset="0"/>
                          <a:sym typeface="Symbol" pitchFamily="18" charset="2"/>
                        </a:rPr>
                        <a:t></a:t>
                      </a:r>
                      <a:r>
                        <a:rPr kumimoji="0" lang="zh-CN" altLang="en-U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微软雅黑" pitchFamily="34" charset="-122"/>
                          <a:cs typeface="Times New Roman" pitchFamily="18" charset="0"/>
                          <a:sym typeface="Symbol" pitchFamily="18" charset="2"/>
                        </a:rPr>
                        <a:t>、</a:t>
                      </a:r>
                      <a:r>
                        <a:rPr kumimoji="0" lang="en-US" altLang="zh-CN" sz="24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微软雅黑" pitchFamily="34" charset="-122"/>
                          <a:cs typeface="Times New Roman" pitchFamily="18" charset="0"/>
                          <a:sym typeface="Symbol" pitchFamily="18" charset="2"/>
                        </a:rPr>
                        <a:t>ω </a:t>
                      </a:r>
                      <a:r>
                        <a:rPr kumimoji="0" lang="zh-CN" altLang="en-U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微软雅黑" pitchFamily="34" charset="-122"/>
                          <a:cs typeface="Times New Roman" pitchFamily="18" charset="0"/>
                          <a:sym typeface="Symbol" pitchFamily="18" charset="2"/>
                        </a:rPr>
                        <a:t>、</a:t>
                      </a:r>
                      <a:r>
                        <a:rPr kumimoji="0" lang="en-US" altLang="zh-CN" sz="24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微软雅黑" pitchFamily="34" charset="-122"/>
                          <a:cs typeface="Times New Roman" pitchFamily="18" charset="0"/>
                          <a:sym typeface="Symbol" pitchFamily="18" charset="2"/>
                        </a:rPr>
                        <a:t>h </a:t>
                      </a:r>
                      <a:endParaRPr lang="zh-CN" alt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矩形 1"/>
          <p:cNvSpPr/>
          <p:nvPr/>
        </p:nvSpPr>
        <p:spPr>
          <a:xfrm>
            <a:off x="683568" y="1196752"/>
            <a:ext cx="3775393" cy="5232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湿空气状态参数总结：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5973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285721" y="1268760"/>
            <a:ext cx="3566199" cy="533400"/>
          </a:xfrm>
          <a:prstGeom prst="rect">
            <a:avLst/>
          </a:prstGeom>
        </p:spPr>
        <p:txBody>
          <a:bodyPr/>
          <a:lstStyle/>
          <a:p>
            <a:pPr marR="0" lvl="0" indent="-342900" algn="ctr" fontAlgn="auto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800" b="1" dirty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6-3  </a:t>
            </a: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湿空气的湿度图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16016" y="1340768"/>
            <a:ext cx="4227734" cy="4594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259091" y="2420888"/>
            <a:ext cx="4357718" cy="3970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i="0" dirty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Symbol" pitchFamily="18" charset="2"/>
              </a:rPr>
              <a:t>横坐标</a:t>
            </a:r>
            <a:r>
              <a:rPr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Symbol" pitchFamily="18" charset="2"/>
              </a:rPr>
              <a:t>—</a:t>
            </a:r>
            <a:r>
              <a:rPr lang="zh-CN" altLang="en-US" sz="2800" dirty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Symbol" pitchFamily="18" charset="2"/>
              </a:rPr>
              <a:t>温度 </a:t>
            </a:r>
            <a:r>
              <a:rPr lang="en-US" altLang="zh-CN" sz="2800" b="1" i="1" dirty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Symbol" pitchFamily="18" charset="2"/>
              </a:rPr>
              <a:t>t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i="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纵坐标</a:t>
            </a:r>
            <a:r>
              <a:rPr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Symbol" pitchFamily="18" charset="2"/>
              </a:rPr>
              <a:t>—</a:t>
            </a:r>
            <a:r>
              <a:rPr lang="zh-CN" altLang="en-US" sz="2800" dirty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Symbol" pitchFamily="18" charset="2"/>
              </a:rPr>
              <a:t>比</a:t>
            </a:r>
            <a:r>
              <a:rPr lang="zh-CN" altLang="en-US" sz="2800" i="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湿度 </a:t>
            </a:r>
            <a:r>
              <a:rPr lang="en-US" altLang="zh-CN" sz="2800" b="1" i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ω</a:t>
            </a:r>
            <a:endParaRPr lang="en-US" altLang="zh-CN" sz="2800" b="1" i="1" dirty="0">
              <a:latin typeface="Times New Roman" pitchFamily="18" charset="0"/>
              <a:ea typeface="微软雅黑" pitchFamily="34" charset="-122"/>
              <a:cs typeface="Times New Roman" pitchFamily="18" charset="0"/>
              <a:sym typeface="Symbol" pitchFamily="18" charset="2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i="0" dirty="0">
                <a:solidFill>
                  <a:srgbClr val="008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  <a:sym typeface="Symbol" pitchFamily="18" charset="2"/>
              </a:rPr>
              <a:t>绿线</a:t>
            </a:r>
            <a:r>
              <a:rPr lang="en-US" altLang="zh-CN" sz="2800" b="1" i="0" dirty="0">
                <a:solidFill>
                  <a:srgbClr val="008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  <a:sym typeface="Symbol" pitchFamily="18" charset="2"/>
              </a:rPr>
              <a:t>—</a:t>
            </a:r>
            <a:r>
              <a:rPr lang="zh-CN" altLang="en-US" sz="2800" i="0" dirty="0">
                <a:solidFill>
                  <a:srgbClr val="008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  <a:sym typeface="Symbol" pitchFamily="18" charset="2"/>
              </a:rPr>
              <a:t>等相对湿度线 </a:t>
            </a:r>
            <a:r>
              <a:rPr lang="zh-CN" altLang="en-US" sz="2800" b="1" i="1" dirty="0">
                <a:solidFill>
                  <a:srgbClr val="008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  <a:sym typeface="Symbol" pitchFamily="18" charset="2"/>
              </a:rPr>
              <a:t>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红线</a:t>
            </a:r>
            <a:r>
              <a:rPr lang="en-US" altLang="zh-CN" sz="28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—</a:t>
            </a:r>
            <a:r>
              <a:rPr lang="zh-CN" altLang="en-US" sz="2800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等焓线 </a:t>
            </a:r>
            <a:r>
              <a:rPr lang="en-US" altLang="zh-CN" sz="2800" b="1" i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h</a:t>
            </a:r>
            <a:endParaRPr lang="zh-CN" altLang="en-US" sz="2800" b="1" i="1" dirty="0">
              <a:solidFill>
                <a:srgbClr val="FF0000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i="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蓝线</a:t>
            </a:r>
            <a:r>
              <a:rPr lang="en-US" altLang="zh-CN" sz="2800" b="1" i="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—</a:t>
            </a:r>
            <a:r>
              <a:rPr lang="zh-CN" altLang="en-US" sz="2800" i="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等湿球温度线 </a:t>
            </a:r>
            <a:r>
              <a:rPr lang="en-US" altLang="zh-CN" sz="2800" b="1" i="1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t</a:t>
            </a:r>
            <a:r>
              <a:rPr lang="en-US" altLang="zh-CN" sz="2800" b="1" baseline="-250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w</a:t>
            </a:r>
            <a:r>
              <a:rPr lang="zh-CN" altLang="en-US" sz="2800" i="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（与等 </a:t>
            </a:r>
            <a:r>
              <a:rPr lang="en-US" altLang="zh-CN" sz="2800" b="1" i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h </a:t>
            </a:r>
            <a:r>
              <a:rPr lang="zh-CN" altLang="en-US" sz="28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线近似平行）</a:t>
            </a:r>
            <a:endParaRPr lang="zh-CN" altLang="en-US" sz="2800" i="0" dirty="0">
              <a:solidFill>
                <a:schemeClr val="accent1">
                  <a:lumMod val="75000"/>
                </a:schemeClr>
              </a:solidFill>
              <a:latin typeface="微软雅黑" pitchFamily="34" charset="-122"/>
              <a:ea typeface="微软雅黑" pitchFamily="34" charset="-122"/>
              <a:sym typeface="Symbol" pitchFamily="18" charset="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786842" y="6488668"/>
            <a:ext cx="5000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黑体" pitchFamily="49" charset="-122"/>
                <a:ea typeface="黑体" pitchFamily="49" charset="-122"/>
              </a:rPr>
              <a:t>21</a:t>
            </a:r>
            <a:endParaRPr lang="zh-CN" altLang="en-US" sz="2000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25393" y="1868749"/>
            <a:ext cx="3486853" cy="4801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indent="-342900" algn="ctr">
              <a:lnSpc>
                <a:spcPct val="90000"/>
              </a:lnSpc>
              <a:spcBef>
                <a:spcPct val="20000"/>
              </a:spcBef>
              <a:defRPr/>
            </a:pPr>
            <a:r>
              <a:rPr lang="zh-CN" altLang="en-US" sz="28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1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）湿温（</a:t>
            </a:r>
            <a:r>
              <a:rPr lang="en-US" altLang="zh-CN" sz="2800" b="1" i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ω</a:t>
            </a:r>
            <a:r>
              <a:rPr lang="en-US" altLang="zh-CN" sz="2800" b="1" i="1" dirty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Symbol" pitchFamily="18" charset="2"/>
              </a:rPr>
              <a:t>-t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）图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7158" y="1142984"/>
            <a:ext cx="4071966" cy="4286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4283968" y="1484784"/>
            <a:ext cx="4357718" cy="19549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定 </a:t>
            </a:r>
            <a:r>
              <a:rPr lang="en-US" altLang="zh-CN" sz="2800" b="1" i="1" dirty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ω</a:t>
            </a:r>
            <a:r>
              <a:rPr lang="en-US" altLang="zh-CN" sz="2800" i="1" dirty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zh-CN" altLang="en-US" sz="2800" dirty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线与 </a:t>
            </a:r>
            <a:r>
              <a:rPr lang="zh-CN" altLang="en-US" sz="2800" b="1" i="1" dirty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  <a:sym typeface="Symbol" pitchFamily="18" charset="2"/>
              </a:rPr>
              <a:t></a:t>
            </a:r>
            <a:r>
              <a:rPr lang="zh-CN" altLang="en-US" sz="2800" b="1" dirty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＝</a:t>
            </a:r>
            <a:r>
              <a:rPr lang="en-US" altLang="zh-CN" sz="2800" b="1" dirty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  <a:sym typeface="Symbol" pitchFamily="18" charset="2"/>
              </a:rPr>
              <a:t>100%</a:t>
            </a:r>
            <a:r>
              <a:rPr lang="en-US" altLang="zh-CN" sz="2800" dirty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  <a:sym typeface="Symbol" pitchFamily="18" charset="2"/>
              </a:rPr>
              <a:t></a:t>
            </a:r>
            <a:r>
              <a:rPr lang="zh-CN" altLang="en-US" sz="2800" dirty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  <a:sym typeface="Symbol" pitchFamily="18" charset="2"/>
              </a:rPr>
              <a:t>线交点的横坐标为露点温度。饱和空气：</a:t>
            </a:r>
            <a:r>
              <a:rPr lang="en-US" altLang="zh-CN" sz="2800" b="1" i="1" dirty="0" err="1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t</a:t>
            </a:r>
            <a:r>
              <a:rPr lang="en-US" altLang="zh-CN" sz="2800" b="1" baseline="-25000" dirty="0" err="1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D</a:t>
            </a:r>
            <a:r>
              <a:rPr lang="en-US" altLang="zh-CN" sz="2800" b="1" dirty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=</a:t>
            </a:r>
            <a:r>
              <a:rPr lang="en-US" altLang="zh-CN" sz="2800" b="1" i="1" dirty="0" err="1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t</a:t>
            </a:r>
            <a:r>
              <a:rPr lang="en-US" altLang="zh-CN" sz="2800" b="1" baseline="-25000" dirty="0" err="1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w</a:t>
            </a:r>
            <a:r>
              <a:rPr lang="en-US" altLang="zh-CN" sz="2800" b="1" dirty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=</a:t>
            </a:r>
            <a:r>
              <a:rPr lang="en-US" altLang="zh-CN" sz="2800" b="1" i="1" dirty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t</a:t>
            </a:r>
            <a:endParaRPr lang="zh-CN" altLang="en-US" sz="2800" dirty="0">
              <a:solidFill>
                <a:srgbClr val="0000FF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480048" y="4068359"/>
            <a:ext cx="4231536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注意：湿度图的使用条件：</a:t>
            </a:r>
            <a:endParaRPr lang="en-US" altLang="zh-CN" sz="28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         </a:t>
            </a:r>
            <a:r>
              <a:rPr lang="en-US" altLang="zh-CN" sz="2800" b="1" i="1" dirty="0" err="1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p</a:t>
            </a:r>
            <a:r>
              <a:rPr lang="en-US" altLang="zh-CN" sz="2800" b="1" baseline="-25000" dirty="0" err="1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b</a:t>
            </a:r>
            <a:r>
              <a:rPr lang="zh-CN" altLang="en-US" sz="28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＝</a:t>
            </a:r>
            <a:r>
              <a:rPr lang="en-US" altLang="zh-CN" sz="28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0.1</a:t>
            </a:r>
            <a:r>
              <a:rPr lang="en-US" altLang="zh-CN" sz="28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  <a:sym typeface="Symbol" pitchFamily="18" charset="2"/>
              </a:rPr>
              <a:t></a:t>
            </a:r>
            <a:r>
              <a:rPr lang="en-US" altLang="zh-CN" sz="28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MPa</a:t>
            </a:r>
            <a:endParaRPr lang="zh-CN" altLang="en-US" sz="2800" dirty="0">
              <a:solidFill>
                <a:srgbClr val="FF0000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786842" y="6488668"/>
            <a:ext cx="5000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prstClr val="black"/>
                </a:solidFill>
                <a:latin typeface="黑体" pitchFamily="49" charset="-122"/>
                <a:ea typeface="黑体" pitchFamily="49" charset="-122"/>
              </a:rPr>
              <a:t>225</a:t>
            </a:r>
            <a:endParaRPr lang="zh-CN" altLang="en-US" sz="2000" dirty="0">
              <a:solidFill>
                <a:prstClr val="black"/>
              </a:solidFill>
              <a:latin typeface="黑体" pitchFamily="49" charset="-122"/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30502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611560" y="1192675"/>
            <a:ext cx="7776864" cy="6622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>
                <a:solidFill>
                  <a:srgbClr val="9933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定比容线比等焓线陡，见教材图 </a:t>
            </a:r>
            <a:r>
              <a:rPr lang="en-US" altLang="zh-CN" sz="2800" dirty="0">
                <a:solidFill>
                  <a:srgbClr val="9933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6.7 </a:t>
            </a:r>
            <a:r>
              <a:rPr lang="zh-CN" altLang="en-US" sz="2800" dirty="0">
                <a:solidFill>
                  <a:srgbClr val="9933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中粗实线。</a:t>
            </a:r>
            <a:endParaRPr lang="en-US" altLang="zh-CN" sz="2800" dirty="0">
              <a:solidFill>
                <a:srgbClr val="9933FF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786842" y="6488668"/>
            <a:ext cx="5000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prstClr val="black"/>
                </a:solidFill>
                <a:latin typeface="黑体" pitchFamily="49" charset="-122"/>
                <a:ea typeface="黑体" pitchFamily="49" charset="-122"/>
              </a:rPr>
              <a:t>235</a:t>
            </a:r>
            <a:endParaRPr lang="zh-CN" altLang="en-US" sz="2000" dirty="0">
              <a:solidFill>
                <a:prstClr val="black"/>
              </a:solidFill>
              <a:latin typeface="黑体" pitchFamily="49" charset="-122"/>
              <a:ea typeface="黑体" pitchFamily="49" charset="-122"/>
            </a:endParaRPr>
          </a:p>
        </p:txBody>
      </p:sp>
      <p:pic>
        <p:nvPicPr>
          <p:cNvPr id="40962" name="Picture 2" descr="0607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1854972"/>
            <a:ext cx="6632030" cy="4666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30502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2"/>
          <p:cNvSpPr txBox="1">
            <a:spLocks/>
          </p:cNvSpPr>
          <p:nvPr/>
        </p:nvSpPr>
        <p:spPr>
          <a:xfrm>
            <a:off x="467544" y="1340768"/>
            <a:ext cx="8064896" cy="4752528"/>
          </a:xfrm>
          <a:prstGeom prst="rect">
            <a:avLst/>
          </a:prstGeom>
        </p:spPr>
        <p:txBody>
          <a:bodyPr/>
          <a:lstStyle/>
          <a:p>
            <a:pPr marL="342900" marR="0" lvl="0" indent="0" algn="just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500" cap="none" spc="0" normalizeH="0" baseline="0" noProof="0" dirty="0">
                <a:ln>
                  <a:noFill/>
                </a:ln>
                <a:solidFill>
                  <a:srgbClr val="9933FF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提示</a:t>
            </a:r>
            <a:r>
              <a:rPr lang="zh-CN" altLang="en-US" sz="2800" b="1" kern="500" dirty="0">
                <a:solidFill>
                  <a:srgbClr val="9933FF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endParaRPr lang="en-US" altLang="zh-CN" sz="2800" b="1" kern="500" dirty="0">
              <a:solidFill>
                <a:srgbClr val="9933FF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marR="0" lvl="0" indent="0" algn="just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i="0" u="none" strike="noStrike" kern="5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       </a:t>
            </a:r>
            <a:r>
              <a:rPr kumimoji="0" lang="zh-CN" altLang="zh-CN" sz="2800" i="0" u="none" strike="noStrike" kern="5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在有些湿度图上没有定</a:t>
            </a:r>
            <a:r>
              <a:rPr kumimoji="0" lang="en-US" altLang="zh-CN" sz="1400" i="0" u="none" strike="noStrike" kern="5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kumimoji="0" lang="en-US" altLang="zh-CN" sz="2800" b="1" i="1" u="none" strike="noStrike" kern="5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t</a:t>
            </a:r>
            <a:r>
              <a:rPr kumimoji="0" lang="en-US" altLang="zh-CN" sz="2800" b="1" i="0" u="none" strike="noStrike" kern="500" cap="none" spc="0" normalizeH="0" baseline="-25000" noProof="0" dirty="0" err="1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w</a:t>
            </a:r>
            <a:r>
              <a:rPr kumimoji="0" lang="en-US" altLang="zh-CN" sz="1400" i="0" u="none" strike="noStrike" kern="500" cap="none" spc="0" normalizeH="0" baseline="-2500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kumimoji="0" lang="zh-CN" altLang="zh-CN" sz="2800" i="0" u="none" strike="noStrike" kern="5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线，可利用定</a:t>
            </a:r>
            <a:r>
              <a:rPr kumimoji="0" lang="en-US" altLang="zh-CN" sz="1400" i="0" u="none" strike="noStrike" kern="5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kumimoji="0" lang="en-US" altLang="zh-CN" sz="2800" b="1" i="1" u="none" strike="noStrike" kern="5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t</a:t>
            </a:r>
            <a:r>
              <a:rPr kumimoji="0" lang="en-US" altLang="zh-CN" sz="2800" b="1" i="0" u="none" strike="noStrike" kern="500" cap="none" spc="0" normalizeH="0" baseline="-25000" noProof="0" dirty="0" err="1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w</a:t>
            </a:r>
            <a:r>
              <a:rPr kumimoji="0" lang="en-US" altLang="zh-CN" sz="1400" b="1" i="0" u="none" strike="noStrike" kern="500" cap="none" spc="0" normalizeH="0" baseline="-2500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kumimoji="0" lang="zh-CN" altLang="zh-CN" sz="2800" i="0" u="none" strike="noStrike" kern="5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线与等</a:t>
            </a:r>
            <a:r>
              <a:rPr kumimoji="0" lang="en-US" altLang="zh-CN" sz="1400" i="0" u="none" strike="noStrike" kern="5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kumimoji="0" lang="en-US" altLang="zh-CN" sz="2800" b="1" i="1" u="none" strike="noStrike" kern="5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h</a:t>
            </a:r>
            <a:r>
              <a:rPr kumimoji="0" lang="en-US" altLang="zh-CN" sz="1400" b="1" i="1" u="none" strike="noStrike" kern="5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kumimoji="0" lang="zh-CN" altLang="zh-CN" sz="2800" i="0" u="none" strike="noStrike" kern="5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线近似平行的特点，从湿空气状态点作等</a:t>
            </a:r>
            <a:r>
              <a:rPr kumimoji="0" lang="en-US" altLang="zh-CN" sz="2800" b="1" i="1" u="none" strike="noStrike" kern="5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h</a:t>
            </a:r>
            <a:r>
              <a:rPr kumimoji="0" lang="en-US" altLang="zh-CN" sz="1100" i="1" u="none" strike="noStrike" kern="500" cap="none" spc="0" normalizeH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kumimoji="0" lang="zh-CN" altLang="zh-CN" sz="2800" i="0" u="none" strike="noStrike" kern="5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线与</a:t>
            </a:r>
            <a:r>
              <a:rPr kumimoji="0" lang="en-US" altLang="zh-CN" sz="2800" b="1" i="1" u="none" strike="noStrike" kern="5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微软雅黑" pitchFamily="34" charset="-122"/>
                <a:cs typeface="Times New Roman" pitchFamily="18" charset="0"/>
                <a:sym typeface="Symbol"/>
              </a:rPr>
              <a:t></a:t>
            </a:r>
            <a:r>
              <a:rPr kumimoji="0" lang="zh-CN" altLang="zh-CN" sz="2800" b="1" i="0" u="none" strike="noStrike" kern="5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＝</a:t>
            </a:r>
            <a:r>
              <a:rPr kumimoji="0" lang="en-US" altLang="zh-CN" sz="2800" b="1" i="0" u="none" strike="noStrike" kern="5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100%</a:t>
            </a:r>
            <a:r>
              <a:rPr kumimoji="0" lang="en-US" altLang="zh-CN" sz="2800" i="0" u="none" strike="noStrike" kern="5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微软雅黑" pitchFamily="34" charset="-122"/>
                <a:cs typeface="Times New Roman" pitchFamily="18" charset="0"/>
                <a:sym typeface="Symbol"/>
              </a:rPr>
              <a:t></a:t>
            </a:r>
            <a:r>
              <a:rPr kumimoji="0" lang="zh-CN" altLang="zh-CN" sz="2800" i="0" u="none" strike="noStrike" kern="5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的饱和空气线相交，其交点的干球温度</a:t>
            </a:r>
            <a:r>
              <a:rPr kumimoji="0" lang="en-US" altLang="zh-CN" i="0" u="none" strike="noStrike" kern="5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kumimoji="0" lang="en-US" altLang="zh-CN" sz="2800" b="1" i="1" u="none" strike="noStrike" kern="5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t</a:t>
            </a:r>
            <a:r>
              <a:rPr kumimoji="0" lang="en-US" altLang="zh-CN" sz="1600" i="1" u="none" strike="noStrike" kern="5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kumimoji="0" lang="zh-CN" altLang="zh-CN" sz="2800" i="0" u="none" strike="noStrike" kern="5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即近似为湿空气的</a:t>
            </a:r>
            <a:r>
              <a:rPr kumimoji="0" lang="en-US" altLang="zh-CN" i="0" u="none" strike="noStrike" kern="5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kumimoji="0" lang="en-US" altLang="zh-CN" sz="2800" b="1" i="1" u="none" strike="noStrike" kern="5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t</a:t>
            </a:r>
            <a:r>
              <a:rPr kumimoji="0" lang="en-US" altLang="zh-CN" sz="2800" b="1" i="0" u="none" strike="noStrike" kern="500" cap="none" spc="0" normalizeH="0" baseline="-25000" noProof="0" dirty="0" err="1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w</a:t>
            </a:r>
            <a:r>
              <a:rPr kumimoji="0" lang="zh-CN" altLang="zh-CN" sz="2800" i="0" u="none" strike="noStrike" kern="5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，因为饱和空气线上的</a:t>
            </a:r>
            <a:r>
              <a:rPr kumimoji="0" lang="en-US" altLang="zh-CN" sz="2800" i="0" u="none" strike="noStrike" kern="5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kumimoji="0" lang="en-US" altLang="zh-CN" sz="2800" b="1" i="1" u="none" strike="noStrike" kern="5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t</a:t>
            </a:r>
            <a:r>
              <a:rPr kumimoji="0" lang="zh-CN" altLang="zh-CN" sz="2800" b="1" i="0" u="none" strike="noStrike" kern="5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＝</a:t>
            </a:r>
            <a:r>
              <a:rPr kumimoji="0" lang="en-US" altLang="zh-CN" sz="2800" b="1" i="1" u="none" strike="noStrike" kern="5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t</a:t>
            </a:r>
            <a:r>
              <a:rPr kumimoji="0" lang="en-US" altLang="zh-CN" sz="2800" b="1" i="0" u="none" strike="noStrike" kern="500" cap="none" spc="0" normalizeH="0" baseline="-25000" noProof="0" dirty="0" err="1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D</a:t>
            </a:r>
            <a:r>
              <a:rPr kumimoji="0" lang="zh-CN" altLang="zh-CN" sz="2800" b="1" i="0" u="none" strike="noStrike" kern="5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＝</a:t>
            </a:r>
            <a:r>
              <a:rPr kumimoji="0" lang="en-US" altLang="zh-CN" sz="2800" b="1" i="1" u="none" strike="noStrike" kern="5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t</a:t>
            </a:r>
            <a:r>
              <a:rPr kumimoji="0" lang="en-US" altLang="zh-CN" sz="2800" b="1" i="0" u="none" strike="noStrike" kern="500" cap="none" spc="0" normalizeH="0" baseline="-25000" noProof="0" dirty="0" err="1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w</a:t>
            </a:r>
            <a:r>
              <a:rPr kumimoji="0" lang="zh-CN" altLang="zh-CN" sz="2800" b="1" i="0" u="none" strike="noStrike" kern="5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华文宋体"/>
                <a:cs typeface="Times New Roman" pitchFamily="18" charset="0"/>
              </a:rPr>
              <a:t>。</a:t>
            </a:r>
            <a:endParaRPr kumimoji="0" lang="en-US" altLang="zh-CN" sz="2800" b="1" i="0" u="none" strike="noStrike" kern="5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ea typeface="华文宋体"/>
              <a:cs typeface="Times New Roman" pitchFamily="18" charset="0"/>
            </a:endParaRPr>
          </a:p>
          <a:p>
            <a:pPr marL="342900" lvl="0" algn="just">
              <a:lnSpc>
                <a:spcPct val="150000"/>
              </a:lnSpc>
              <a:spcBef>
                <a:spcPct val="20000"/>
              </a:spcBef>
              <a:defRPr/>
            </a:pPr>
            <a:r>
              <a:rPr lang="zh-CN" altLang="en-US" sz="2800" kern="500" noProof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注意：未</a:t>
            </a:r>
            <a:r>
              <a:rPr lang="zh-CN" altLang="zh-CN" sz="2800" kern="500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饱和空气</a:t>
            </a:r>
            <a:r>
              <a:rPr lang="en-US" altLang="zh-CN" sz="2800" kern="500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en-US" altLang="zh-CN" sz="2800" b="1" i="1" kern="500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t</a:t>
            </a:r>
            <a:r>
              <a:rPr lang="zh-CN" altLang="en-US" sz="2800" b="1" kern="500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＞</a:t>
            </a:r>
            <a:r>
              <a:rPr lang="en-US" altLang="zh-CN" sz="2800" b="1" i="1" kern="500" dirty="0" err="1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t</a:t>
            </a:r>
            <a:r>
              <a:rPr lang="en-US" altLang="zh-CN" sz="2800" b="1" kern="500" baseline="-25000" dirty="0" err="1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w</a:t>
            </a:r>
            <a:r>
              <a:rPr lang="zh-CN" altLang="en-US" sz="2800" b="1" kern="500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＞</a:t>
            </a:r>
            <a:r>
              <a:rPr lang="en-US" altLang="zh-CN" sz="2800" b="1" i="1" kern="500" dirty="0" err="1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t</a:t>
            </a:r>
            <a:r>
              <a:rPr lang="en-US" altLang="zh-CN" sz="2800" b="1" kern="500" baseline="-25000" dirty="0" err="1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D</a:t>
            </a:r>
            <a:r>
              <a:rPr lang="zh-CN" altLang="en-US" sz="2800" b="1" kern="500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。</a:t>
            </a:r>
            <a:endParaRPr kumimoji="0" lang="zh-CN" altLang="zh-CN" sz="2800" i="0" u="none" strike="noStrike" kern="500" cap="none" spc="0" normalizeH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786842" y="6488668"/>
            <a:ext cx="5000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黑体" pitchFamily="49" charset="-122"/>
                <a:ea typeface="黑体" pitchFamily="49" charset="-122"/>
              </a:rPr>
              <a:t>23</a:t>
            </a:r>
            <a:endParaRPr lang="zh-CN" altLang="en-US" sz="2000" dirty="0">
              <a:latin typeface="黑体" pitchFamily="49" charset="-122"/>
              <a:ea typeface="黑体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9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78772" y="1988840"/>
            <a:ext cx="3441700" cy="38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467544" y="1916832"/>
            <a:ext cx="4536504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D21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等温线向右稍发散（不平行）；</a:t>
            </a:r>
            <a:endParaRPr lang="en-US" altLang="zh-CN" sz="2400" dirty="0">
              <a:solidFill>
                <a:srgbClr val="D21C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b="1" i="1" dirty="0"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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＝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100%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的线为饱和空气线，也是露点线；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Symbol" pitchFamily="18" charset="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179BA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等</a:t>
            </a:r>
            <a:r>
              <a:rPr lang="zh-CN" altLang="en-US" sz="1400" dirty="0">
                <a:solidFill>
                  <a:srgbClr val="179BA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 </a:t>
            </a:r>
            <a:r>
              <a:rPr lang="en-US" altLang="zh-CN" sz="2400" b="1" i="1" dirty="0">
                <a:solidFill>
                  <a:srgbClr val="179BA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itchFamily="18" charset="2"/>
              </a:rPr>
              <a:t>h</a:t>
            </a:r>
            <a:r>
              <a:rPr lang="en-US" altLang="zh-CN" sz="1600" b="1" i="1" dirty="0">
                <a:solidFill>
                  <a:srgbClr val="179BA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lang="zh-CN" altLang="en-US" sz="2400" dirty="0">
                <a:solidFill>
                  <a:srgbClr val="179BA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</a:t>
            </a:r>
            <a:r>
              <a:rPr lang="zh-CN" altLang="en-US" sz="2400" dirty="0">
                <a:solidFill>
                  <a:srgbClr val="179BA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与纵轴夹角为</a:t>
            </a:r>
            <a:r>
              <a:rPr lang="en-US" altLang="zh-CN" sz="2400" dirty="0">
                <a:solidFill>
                  <a:srgbClr val="179BA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135</a:t>
            </a:r>
            <a:r>
              <a:rPr lang="zh-CN" altLang="en-US" sz="2400" baseline="52000" dirty="0">
                <a:solidFill>
                  <a:srgbClr val="179BA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。</a:t>
            </a:r>
            <a:r>
              <a:rPr lang="zh-CN" altLang="en-US" sz="2400" dirty="0">
                <a:solidFill>
                  <a:srgbClr val="179BA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角；</a:t>
            </a:r>
            <a:endParaRPr lang="en-US" altLang="zh-CN" sz="2400" dirty="0">
              <a:solidFill>
                <a:srgbClr val="179BA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Symbol" pitchFamily="18" charset="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b="1" i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itchFamily="18" charset="2"/>
              </a:rPr>
              <a:t>p</a:t>
            </a:r>
            <a:r>
              <a:rPr lang="en-US" altLang="zh-CN" sz="2400" b="1" baseline="-25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itchFamily="18" charset="2"/>
              </a:rPr>
              <a:t>V</a:t>
            </a:r>
            <a:r>
              <a:rPr lang="en-US" altLang="zh-CN" sz="2400" b="1" i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随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ω</a:t>
            </a:r>
            <a:r>
              <a:rPr lang="en-US" altLang="zh-CN" sz="1400" b="1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线性变化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,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读数在右边。</a:t>
            </a:r>
            <a:endParaRPr lang="zh-CN" altLang="en-US" sz="2400" i="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786842" y="6488668"/>
            <a:ext cx="5000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黑体" pitchFamily="49" charset="-122"/>
                <a:ea typeface="黑体" pitchFamily="49" charset="-122"/>
              </a:rPr>
              <a:t>24</a:t>
            </a:r>
            <a:endParaRPr lang="zh-CN" altLang="en-US" sz="2000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51520" y="1364693"/>
            <a:ext cx="3488454" cy="4801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indent="-342900" algn="ctr">
              <a:lnSpc>
                <a:spcPct val="90000"/>
              </a:lnSpc>
              <a:spcBef>
                <a:spcPct val="20000"/>
              </a:spcBef>
              <a:defRPr/>
            </a:pPr>
            <a:r>
              <a:rPr lang="zh-CN" altLang="en-US" sz="2800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2800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2800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）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焓湿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800" b="1" i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h-ω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）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图</a:t>
            </a:r>
          </a:p>
        </p:txBody>
      </p:sp>
      <p:sp>
        <p:nvSpPr>
          <p:cNvPr id="9" name="矩形 8"/>
          <p:cNvSpPr/>
          <p:nvPr/>
        </p:nvSpPr>
        <p:spPr>
          <a:xfrm>
            <a:off x="719572" y="5167898"/>
            <a:ext cx="4032448" cy="6309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使用条件：</a:t>
            </a:r>
            <a:r>
              <a:rPr lang="en-US" altLang="zh-CN" sz="2800" b="1" i="1" dirty="0" err="1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p</a:t>
            </a:r>
            <a:r>
              <a:rPr lang="en-US" altLang="zh-CN" sz="2800" b="1" baseline="-25000" dirty="0" err="1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b</a:t>
            </a:r>
            <a:r>
              <a:rPr lang="zh-CN" altLang="en-US" sz="28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＝</a:t>
            </a:r>
            <a:r>
              <a:rPr lang="en-US" altLang="zh-CN" sz="28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0.1MPa</a:t>
            </a:r>
            <a:endParaRPr lang="zh-CN" altLang="en-US" sz="2800" dirty="0">
              <a:solidFill>
                <a:srgbClr val="FF0000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71472" y="928670"/>
            <a:ext cx="7848600" cy="5416868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  <a:defRPr/>
            </a:pPr>
            <a:r>
              <a:rPr lang="zh-CN" altLang="en-US" sz="2800" i="0" kern="5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例</a:t>
            </a:r>
            <a:r>
              <a:rPr lang="en-US" altLang="zh-CN" sz="2800" i="0" kern="5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1</a:t>
            </a:r>
            <a:r>
              <a:rPr lang="zh-CN" altLang="en-US" sz="2800" i="0" kern="5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：</a:t>
            </a:r>
            <a:r>
              <a:rPr lang="zh-CN" altLang="zh-CN" sz="2800" i="0" kern="5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设大</a:t>
            </a:r>
            <a:r>
              <a:rPr lang="zh-CN" altLang="zh-CN" sz="2800" i="0" kern="500" spc="-2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气压力为</a:t>
            </a:r>
            <a:r>
              <a:rPr lang="en-US" altLang="zh-CN" sz="2800" b="1" i="0" kern="500" spc="-2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0.1</a:t>
            </a:r>
            <a:r>
              <a:rPr lang="en-US" altLang="zh-CN" sz="2800" b="1" i="0" kern="500" spc="-20" dirty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Symbol"/>
              </a:rPr>
              <a:t></a:t>
            </a:r>
            <a:r>
              <a:rPr lang="en-US" altLang="zh-CN" sz="2800" b="1" i="0" kern="500" spc="-2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MPa</a:t>
            </a:r>
            <a:r>
              <a:rPr lang="zh-CN" altLang="zh-CN" sz="2800" i="0" kern="500" spc="-2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，温度为</a:t>
            </a:r>
            <a:r>
              <a:rPr lang="en-US" altLang="zh-CN" sz="2800" b="1" i="0" kern="500" spc="-2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30</a:t>
            </a:r>
            <a:r>
              <a:rPr lang="en-US" altLang="zh-CN" sz="2800" b="1" i="0" kern="500" spc="-20" dirty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Symbol"/>
              </a:rPr>
              <a:t></a:t>
            </a:r>
            <a:r>
              <a:rPr lang="en-US" altLang="zh-CN" sz="2800" b="1" i="0" kern="500" spc="-2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C</a:t>
            </a:r>
            <a:r>
              <a:rPr lang="zh-CN" altLang="zh-CN" sz="2800" i="0" kern="500" spc="-2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，相对湿度</a:t>
            </a:r>
            <a:r>
              <a:rPr lang="en-US" altLang="zh-CN" sz="2800" b="1" i="1" kern="500" spc="-20" dirty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Symbol"/>
              </a:rPr>
              <a:t></a:t>
            </a:r>
            <a:r>
              <a:rPr lang="en-US" altLang="zh-CN" sz="2800" b="1" i="0" kern="500" spc="-20" dirty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Symbol"/>
              </a:rPr>
              <a:t></a:t>
            </a:r>
            <a:r>
              <a:rPr lang="zh-CN" altLang="zh-CN" sz="2800" b="1" i="0" kern="500" spc="-2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＝</a:t>
            </a:r>
            <a:r>
              <a:rPr lang="en-US" altLang="zh-CN" sz="2800" b="1" i="0" kern="500" spc="-2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0.4</a:t>
            </a:r>
            <a:r>
              <a:rPr lang="zh-CN" altLang="zh-CN" sz="2800" i="0" kern="500" spc="-2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，试求湿空气的</a:t>
            </a:r>
            <a:r>
              <a:rPr lang="en-US" altLang="zh-CN" sz="2800" i="0" kern="500" spc="-2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en-US" altLang="zh-CN" sz="2800" b="1" i="1" kern="500" spc="-20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t</a:t>
            </a:r>
            <a:r>
              <a:rPr lang="en-US" altLang="zh-CN" sz="2800" b="1" i="0" kern="500" spc="-20" baseline="-25000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D</a:t>
            </a:r>
            <a:r>
              <a:rPr lang="zh-CN" altLang="zh-CN" sz="2800" i="0" kern="500" spc="-2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、</a:t>
            </a:r>
            <a:r>
              <a:rPr lang="en-US" altLang="zh-CN" sz="2800" b="1" i="1" kern="500" spc="-2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ω </a:t>
            </a:r>
            <a:r>
              <a:rPr lang="zh-CN" altLang="zh-CN" sz="2800" i="0" kern="500" spc="-2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及</a:t>
            </a:r>
            <a:r>
              <a:rPr lang="en-US" altLang="zh-CN" sz="2800" i="0" kern="500" spc="-2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en-US" altLang="zh-CN" sz="2800" b="1" i="1" kern="500" spc="-2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h</a:t>
            </a:r>
            <a:r>
              <a:rPr lang="zh-CN" altLang="zh-CN" sz="2800" i="0" kern="500" spc="-2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。</a:t>
            </a:r>
            <a:endParaRPr lang="zh-CN" altLang="zh-CN" sz="2800" i="0" kern="500" dirty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  <a:p>
            <a:pPr indent="269875" algn="just">
              <a:lnSpc>
                <a:spcPct val="150000"/>
              </a:lnSpc>
              <a:spcAft>
                <a:spcPts val="0"/>
              </a:spcAft>
              <a:defRPr/>
            </a:pPr>
            <a:r>
              <a:rPr lang="zh-CN" altLang="zh-CN" sz="2800" b="1" i="0" kern="5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解</a:t>
            </a:r>
            <a:r>
              <a:rPr lang="zh-CN" altLang="en-US" sz="2800" i="0" kern="5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：</a:t>
            </a:r>
            <a:r>
              <a:rPr lang="zh-CN" altLang="zh-CN" sz="2800" i="0" kern="500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zh-CN" sz="2800" i="0" kern="500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1</a:t>
            </a:r>
            <a:r>
              <a:rPr lang="zh-CN" altLang="zh-CN" sz="2800" i="0" kern="500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）计算法</a:t>
            </a:r>
          </a:p>
          <a:p>
            <a:pPr indent="269875" algn="just">
              <a:lnSpc>
                <a:spcPct val="150000"/>
              </a:lnSpc>
              <a:spcAft>
                <a:spcPts val="0"/>
              </a:spcAft>
              <a:defRPr/>
            </a:pPr>
            <a:r>
              <a:rPr lang="zh-CN" altLang="zh-CN" sz="2800" i="0" kern="5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① 由水蒸气表（附表</a:t>
            </a:r>
            <a:r>
              <a:rPr lang="en-US" altLang="zh-CN" sz="2800" i="0" kern="5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4</a:t>
            </a:r>
            <a:r>
              <a:rPr lang="zh-CN" altLang="zh-CN" sz="2800" i="0" kern="5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）查得</a:t>
            </a:r>
            <a:r>
              <a:rPr lang="en-US" altLang="zh-CN" sz="2800" i="0" kern="5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en-US" altLang="zh-CN" sz="2800" b="1" i="1" kern="5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t</a:t>
            </a:r>
            <a:r>
              <a:rPr lang="zh-CN" altLang="zh-CN" sz="2800" b="1" i="0" kern="5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＝</a:t>
            </a:r>
            <a:r>
              <a:rPr lang="en-US" altLang="zh-CN" sz="2800" b="1" i="0" kern="5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30</a:t>
            </a:r>
            <a:r>
              <a:rPr lang="en-US" altLang="zh-CN" sz="2800" b="1" i="0" kern="500" dirty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Symbol"/>
              </a:rPr>
              <a:t></a:t>
            </a:r>
            <a:r>
              <a:rPr lang="en-US" altLang="zh-CN" sz="2800" b="1" i="0" kern="5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C</a:t>
            </a:r>
            <a:r>
              <a:rPr lang="zh-CN" altLang="zh-CN" sz="2800" i="0" kern="5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时对应的</a:t>
            </a:r>
            <a:r>
              <a:rPr lang="en-US" altLang="zh-CN" sz="2800" b="1" i="1" kern="500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p</a:t>
            </a:r>
            <a:r>
              <a:rPr lang="en-US" altLang="zh-CN" sz="2800" b="1" i="0" kern="500" baseline="-25000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s</a:t>
            </a:r>
            <a:r>
              <a:rPr lang="zh-CN" altLang="zh-CN" sz="2800" b="1" i="0" kern="5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＝</a:t>
            </a:r>
            <a:r>
              <a:rPr lang="en-US" altLang="zh-CN" sz="2800" b="1" i="0" kern="5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4.2451</a:t>
            </a:r>
            <a:r>
              <a:rPr lang="en-US" altLang="zh-CN" sz="2800" b="1" i="0" kern="500" dirty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Symbol"/>
              </a:rPr>
              <a:t></a:t>
            </a:r>
            <a:r>
              <a:rPr lang="en-US" altLang="zh-CN" sz="2800" b="1" i="0" kern="5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kPa</a:t>
            </a:r>
            <a:r>
              <a:rPr lang="zh-CN" altLang="zh-CN" sz="2800" i="0" kern="5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，则水蒸气的分压力</a:t>
            </a:r>
          </a:p>
          <a:p>
            <a:pPr marL="10160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zh-CN" sz="2800" b="1" i="1" kern="500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p</a:t>
            </a:r>
            <a:r>
              <a:rPr lang="en-US" altLang="zh-CN" sz="2800" b="1" i="0" kern="500" baseline="-25000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v</a:t>
            </a:r>
            <a:r>
              <a:rPr lang="zh-CN" altLang="zh-CN" sz="2800" b="1" i="0" kern="5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＝</a:t>
            </a:r>
            <a:r>
              <a:rPr lang="en-US" altLang="zh-CN" sz="2800" b="1" i="1" kern="500" dirty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Symbol"/>
              </a:rPr>
              <a:t></a:t>
            </a:r>
            <a:r>
              <a:rPr lang="en-US" altLang="zh-CN" sz="2800" b="1" i="1" kern="500" baseline="-250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en-US" altLang="zh-CN" sz="2800" b="1" i="1" kern="500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p</a:t>
            </a:r>
            <a:r>
              <a:rPr lang="en-US" altLang="zh-CN" sz="2800" b="1" i="0" kern="500" baseline="-25000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s</a:t>
            </a:r>
            <a:r>
              <a:rPr lang="zh-CN" altLang="zh-CN" sz="2800" b="1" i="0" kern="5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＝</a:t>
            </a:r>
            <a:r>
              <a:rPr lang="en-US" altLang="zh-CN" sz="2800" b="1" i="0" kern="5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0.4</a:t>
            </a:r>
            <a:r>
              <a:rPr lang="zh-CN" altLang="zh-CN" sz="2800" b="1" i="0" kern="5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×</a:t>
            </a:r>
            <a:r>
              <a:rPr lang="en-US" altLang="zh-CN" sz="2800" b="1" i="0" kern="5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4.2451</a:t>
            </a:r>
            <a:r>
              <a:rPr lang="zh-CN" altLang="zh-CN" sz="2800" b="1" i="0" kern="5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＝</a:t>
            </a:r>
            <a:r>
              <a:rPr lang="en-US" altLang="zh-CN" sz="2800" b="1" i="0" kern="5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1.698</a:t>
            </a:r>
            <a:r>
              <a:rPr lang="en-US" altLang="zh-CN" sz="2800" b="1" i="0" kern="500" dirty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Symbol"/>
              </a:rPr>
              <a:t></a:t>
            </a:r>
            <a:r>
              <a:rPr lang="en-US" altLang="zh-CN" sz="2800" b="1" kern="500" dirty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Symbol"/>
              </a:rPr>
              <a:t> </a:t>
            </a:r>
            <a:r>
              <a:rPr lang="en-US" altLang="zh-CN" sz="2800" b="1" i="0" kern="500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kPa</a:t>
            </a:r>
            <a:endParaRPr lang="en-US" altLang="zh-CN" sz="2800" b="1" i="0" kern="500" dirty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  <a:p>
            <a:pPr indent="271780" algn="just">
              <a:lnSpc>
                <a:spcPct val="150000"/>
              </a:lnSpc>
              <a:spcAft>
                <a:spcPts val="0"/>
              </a:spcAft>
              <a:defRPr/>
            </a:pPr>
            <a:r>
              <a:rPr lang="en-US" altLang="zh-CN" sz="2800" i="0" kern="5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zh-CN" altLang="zh-CN" sz="2800" i="0" kern="5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由</a:t>
            </a:r>
            <a:r>
              <a:rPr lang="en-US" altLang="zh-CN" sz="1400" i="0" kern="5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en-US" altLang="zh-CN" sz="2800" b="1" i="1" kern="500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p</a:t>
            </a:r>
            <a:r>
              <a:rPr lang="en-US" altLang="zh-CN" sz="2800" b="1" i="0" kern="500" baseline="-25000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v</a:t>
            </a:r>
            <a:r>
              <a:rPr lang="en-US" altLang="zh-CN" sz="2000" b="1" i="0" kern="500" baseline="-250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zh-CN" altLang="zh-CN" sz="2800" i="0" kern="5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查水蒸气表</a:t>
            </a:r>
            <a:r>
              <a:rPr lang="zh-CN" altLang="zh-CN" sz="2800" i="0" kern="500" dirty="0">
                <a:solidFill>
                  <a:srgbClr val="00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（附表</a:t>
            </a:r>
            <a:r>
              <a:rPr lang="en-US" altLang="zh-CN" sz="2800" i="0" kern="500" dirty="0">
                <a:solidFill>
                  <a:srgbClr val="00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5</a:t>
            </a:r>
            <a:r>
              <a:rPr lang="zh-CN" altLang="zh-CN" sz="2800" i="0" kern="500" dirty="0">
                <a:solidFill>
                  <a:srgbClr val="00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）</a:t>
            </a:r>
            <a:r>
              <a:rPr lang="zh-CN" altLang="zh-CN" sz="2800" i="0" kern="5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，相对应的</a:t>
            </a:r>
            <a:r>
              <a:rPr lang="en-US" altLang="zh-CN" sz="1200" i="0" kern="5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en-US" altLang="zh-CN" sz="2800" b="1" i="1" kern="500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t</a:t>
            </a:r>
            <a:r>
              <a:rPr lang="en-US" altLang="zh-CN" sz="2800" b="1" i="0" kern="500" baseline="-25000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s</a:t>
            </a:r>
            <a:r>
              <a:rPr lang="zh-CN" altLang="zh-CN" sz="2800" b="1" i="0" kern="5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≈</a:t>
            </a:r>
            <a:r>
              <a:rPr lang="en-US" altLang="zh-CN" sz="2800" b="1" i="0" kern="5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15</a:t>
            </a:r>
            <a:r>
              <a:rPr lang="en-US" altLang="zh-CN" sz="2800" b="1" i="0" kern="500" dirty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Symbol"/>
              </a:rPr>
              <a:t></a:t>
            </a:r>
            <a:r>
              <a:rPr lang="en-US" altLang="zh-CN" sz="2800" b="1" i="0" kern="5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C</a:t>
            </a:r>
            <a:r>
              <a:rPr lang="zh-CN" altLang="zh-CN" sz="2800" i="0" kern="5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，即</a:t>
            </a:r>
            <a:r>
              <a:rPr lang="en-US" altLang="zh-CN" sz="2800" i="0" kern="5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: </a:t>
            </a:r>
            <a:r>
              <a:rPr lang="en-US" altLang="zh-CN" sz="2800" b="1" i="1" kern="500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t</a:t>
            </a:r>
            <a:r>
              <a:rPr lang="en-US" altLang="zh-CN" sz="2800" b="1" i="0" kern="500" baseline="-25000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D</a:t>
            </a:r>
            <a:r>
              <a:rPr lang="zh-CN" altLang="zh-CN" sz="2800" b="1" i="0" kern="5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≈</a:t>
            </a:r>
            <a:r>
              <a:rPr lang="en-US" altLang="zh-CN" sz="2800" b="1" i="0" kern="5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15</a:t>
            </a:r>
            <a:r>
              <a:rPr lang="en-US" altLang="zh-CN" sz="2800" b="1" i="0" kern="500" dirty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Symbol"/>
              </a:rPr>
              <a:t></a:t>
            </a:r>
            <a:r>
              <a:rPr lang="en-US" altLang="zh-CN" sz="2800" b="1" i="0" kern="5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C</a:t>
            </a:r>
            <a:r>
              <a:rPr lang="zh-CN" altLang="zh-CN" sz="2800" i="0" kern="5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86842" y="6488668"/>
            <a:ext cx="5000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黑体" pitchFamily="49" charset="-122"/>
                <a:ea typeface="黑体" pitchFamily="49" charset="-122"/>
              </a:rPr>
              <a:t>25</a:t>
            </a:r>
            <a:endParaRPr lang="zh-CN" altLang="en-US" sz="2000" dirty="0">
              <a:latin typeface="黑体" pitchFamily="49" charset="-122"/>
              <a:ea typeface="黑体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90497" y="1412776"/>
            <a:ext cx="533400" cy="673100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  <a:defRPr/>
            </a:pPr>
            <a:r>
              <a:rPr lang="zh-CN" altLang="en-US" sz="2800" b="1" i="0" kern="500" dirty="0">
                <a:solidFill>
                  <a:srgbClr val="000000"/>
                </a:solidFill>
                <a:latin typeface="Times New Roman"/>
                <a:ea typeface="华文宋体"/>
              </a:rPr>
              <a:t>②</a:t>
            </a:r>
            <a:endParaRPr lang="en-US" altLang="zh-CN" sz="2800" b="1" i="0" kern="500" dirty="0">
              <a:solidFill>
                <a:srgbClr val="000000"/>
              </a:solidFill>
              <a:latin typeface="Times New Roman"/>
              <a:ea typeface="方正黑体简体"/>
            </a:endParaRPr>
          </a:p>
        </p:txBody>
      </p:sp>
      <p:graphicFrame>
        <p:nvGraphicFramePr>
          <p:cNvPr id="3379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819216"/>
              </p:ext>
            </p:extLst>
          </p:nvPr>
        </p:nvGraphicFramePr>
        <p:xfrm>
          <a:off x="1908175" y="1212850"/>
          <a:ext cx="5759450" cy="1973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83" name="公式" r:id="rId3" imgW="1765080" imgH="583920" progId="Equation.3">
                  <p:embed/>
                </p:oleObj>
              </mc:Choice>
              <mc:Fallback>
                <p:oleObj name="公式" r:id="rId3" imgW="1765080" imgH="583920" progId="Equation.3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1212850"/>
                        <a:ext cx="5759450" cy="19732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/>
          <p:nvPr/>
        </p:nvSpPr>
        <p:spPr>
          <a:xfrm>
            <a:off x="654224" y="3500438"/>
            <a:ext cx="533400" cy="7445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  <a:defRPr/>
            </a:pPr>
            <a:r>
              <a:rPr lang="zh-CN" altLang="en-US" sz="2800" b="1" i="0" kern="500" dirty="0">
                <a:solidFill>
                  <a:srgbClr val="000000"/>
                </a:solidFill>
                <a:latin typeface="Times New Roman"/>
                <a:ea typeface="华文宋体"/>
              </a:rPr>
              <a:t>③</a:t>
            </a:r>
            <a:endParaRPr lang="en-US" altLang="zh-CN" sz="2800" b="1" i="0" kern="500" dirty="0">
              <a:solidFill>
                <a:srgbClr val="000000"/>
              </a:solidFill>
              <a:latin typeface="Times New Roman"/>
              <a:ea typeface="方正黑体简体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000100" y="3509964"/>
            <a:ext cx="7316316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69875" algn="just">
              <a:lnSpc>
                <a:spcPct val="150000"/>
              </a:lnSpc>
              <a:spcAft>
                <a:spcPts val="0"/>
              </a:spcAft>
              <a:defRPr/>
            </a:pPr>
            <a:r>
              <a:rPr lang="en-US" altLang="zh-CN" sz="2800" kern="500" dirty="0">
                <a:latin typeface="Times New Roman"/>
                <a:ea typeface="华文宋体"/>
              </a:rPr>
              <a:t>    </a:t>
            </a:r>
            <a:r>
              <a:rPr lang="en-US" altLang="zh-CN" sz="2800" i="1" kern="500" dirty="0">
                <a:latin typeface="Times New Roman"/>
                <a:ea typeface="华文宋体"/>
              </a:rPr>
              <a:t>h</a:t>
            </a:r>
            <a:r>
              <a:rPr lang="zh-CN" altLang="zh-CN" sz="2800" i="0" kern="500" dirty="0">
                <a:latin typeface="Times New Roman"/>
                <a:ea typeface="华文宋体"/>
              </a:rPr>
              <a:t>＝</a:t>
            </a:r>
            <a:r>
              <a:rPr lang="en-US" altLang="zh-CN" sz="2800" i="0" kern="500" dirty="0">
                <a:latin typeface="Times New Roman"/>
                <a:ea typeface="华文宋体"/>
              </a:rPr>
              <a:t>1.005</a:t>
            </a:r>
            <a:r>
              <a:rPr lang="en-US" altLang="zh-CN" sz="2800" b="1" i="1" kern="500" dirty="0">
                <a:latin typeface="Times New Roman"/>
                <a:ea typeface="华文宋体"/>
              </a:rPr>
              <a:t>t</a:t>
            </a:r>
            <a:r>
              <a:rPr lang="zh-CN" altLang="zh-CN" sz="2800" i="0" kern="500" dirty="0">
                <a:latin typeface="Times New Roman"/>
                <a:ea typeface="华文宋体"/>
              </a:rPr>
              <a:t>＋</a:t>
            </a:r>
            <a:r>
              <a:rPr lang="en-US" altLang="zh-CN" sz="2800" i="1" kern="500" dirty="0">
                <a:latin typeface="Times New Roman"/>
                <a:ea typeface="华文宋体"/>
              </a:rPr>
              <a:t>ω</a:t>
            </a:r>
            <a:r>
              <a:rPr lang="en-US" altLang="zh-CN" sz="2800" i="0" kern="500" dirty="0">
                <a:latin typeface="Times New Roman"/>
                <a:ea typeface="华文宋体"/>
              </a:rPr>
              <a:t>(2501</a:t>
            </a:r>
            <a:r>
              <a:rPr lang="zh-CN" altLang="zh-CN" sz="2800" i="0" kern="500" dirty="0">
                <a:latin typeface="Times New Roman"/>
                <a:ea typeface="华文宋体"/>
              </a:rPr>
              <a:t>＋</a:t>
            </a:r>
            <a:r>
              <a:rPr lang="en-US" altLang="zh-CN" sz="2800" i="0" kern="500" dirty="0">
                <a:latin typeface="Times New Roman"/>
                <a:ea typeface="华文宋体"/>
              </a:rPr>
              <a:t>1.86</a:t>
            </a:r>
            <a:r>
              <a:rPr lang="en-US" altLang="zh-CN" sz="2800" b="1" i="1" kern="500" dirty="0">
                <a:latin typeface="Times New Roman"/>
                <a:ea typeface="华文宋体"/>
              </a:rPr>
              <a:t>t</a:t>
            </a:r>
            <a:r>
              <a:rPr lang="en-US" altLang="zh-CN" sz="2800" i="0" kern="500" dirty="0">
                <a:latin typeface="Times New Roman"/>
                <a:ea typeface="华文宋体"/>
              </a:rPr>
              <a:t>)</a:t>
            </a:r>
          </a:p>
          <a:p>
            <a:pPr indent="269875" algn="just">
              <a:lnSpc>
                <a:spcPct val="150000"/>
              </a:lnSpc>
              <a:spcAft>
                <a:spcPts val="0"/>
              </a:spcAft>
              <a:defRPr/>
            </a:pPr>
            <a:r>
              <a:rPr lang="en-US" altLang="zh-CN" sz="2800" i="0" kern="500" dirty="0">
                <a:latin typeface="Times New Roman"/>
                <a:ea typeface="华文宋体"/>
              </a:rPr>
              <a:t>      </a:t>
            </a:r>
            <a:r>
              <a:rPr lang="zh-CN" altLang="zh-CN" sz="2800" i="0" kern="500" dirty="0">
                <a:latin typeface="Times New Roman"/>
                <a:ea typeface="华文宋体"/>
              </a:rPr>
              <a:t>＝</a:t>
            </a:r>
            <a:r>
              <a:rPr lang="en-US" altLang="zh-CN" sz="2800" i="0" kern="500" dirty="0">
                <a:latin typeface="Times New Roman"/>
                <a:ea typeface="华文宋体"/>
              </a:rPr>
              <a:t>1.005×30</a:t>
            </a:r>
            <a:r>
              <a:rPr lang="zh-CN" altLang="zh-CN" sz="2800" i="0" kern="500" dirty="0">
                <a:latin typeface="Times New Roman"/>
                <a:ea typeface="华文宋体"/>
              </a:rPr>
              <a:t>＋</a:t>
            </a:r>
            <a:r>
              <a:rPr lang="en-US" altLang="zh-CN" sz="2800" i="0" kern="500" dirty="0">
                <a:latin typeface="Times New Roman"/>
                <a:ea typeface="华文宋体"/>
              </a:rPr>
              <a:t>0.01074(2501</a:t>
            </a:r>
            <a:r>
              <a:rPr lang="zh-CN" altLang="zh-CN" sz="2800" i="0" kern="500" dirty="0">
                <a:latin typeface="Times New Roman"/>
                <a:ea typeface="华文宋体"/>
              </a:rPr>
              <a:t>＋</a:t>
            </a:r>
            <a:r>
              <a:rPr lang="en-US" altLang="zh-CN" sz="2800" i="0" kern="500" dirty="0">
                <a:latin typeface="Times New Roman"/>
                <a:ea typeface="华文宋体"/>
              </a:rPr>
              <a:t>1.86</a:t>
            </a:r>
            <a:r>
              <a:rPr lang="zh-CN" altLang="zh-CN" sz="2800" i="0" kern="500" dirty="0">
                <a:latin typeface="Times New Roman"/>
                <a:ea typeface="华文宋体"/>
              </a:rPr>
              <a:t>×</a:t>
            </a:r>
            <a:r>
              <a:rPr lang="en-US" altLang="zh-CN" sz="2800" i="0" kern="500" dirty="0">
                <a:latin typeface="Times New Roman"/>
                <a:ea typeface="华文宋体"/>
              </a:rPr>
              <a:t>30)</a:t>
            </a:r>
          </a:p>
          <a:p>
            <a:pPr indent="269875" algn="just">
              <a:lnSpc>
                <a:spcPct val="150000"/>
              </a:lnSpc>
              <a:spcAft>
                <a:spcPts val="0"/>
              </a:spcAft>
              <a:defRPr/>
            </a:pPr>
            <a:r>
              <a:rPr lang="en-US" altLang="zh-CN" sz="2800" i="0" kern="500" dirty="0">
                <a:latin typeface="Times New Roman"/>
                <a:ea typeface="华文宋体"/>
              </a:rPr>
              <a:t>      </a:t>
            </a:r>
            <a:r>
              <a:rPr lang="zh-CN" altLang="zh-CN" sz="2800" i="0" kern="500" dirty="0">
                <a:latin typeface="Times New Roman"/>
                <a:ea typeface="华文宋体"/>
              </a:rPr>
              <a:t>＝</a:t>
            </a:r>
            <a:r>
              <a:rPr lang="en-US" altLang="zh-CN" sz="2800" i="0" kern="500" dirty="0">
                <a:latin typeface="Times New Roman"/>
                <a:ea typeface="华文宋体"/>
              </a:rPr>
              <a:t>57.61</a:t>
            </a:r>
            <a:r>
              <a:rPr lang="en-US" altLang="zh-CN" sz="2800" i="0" kern="500" dirty="0">
                <a:latin typeface="Times New Roman"/>
                <a:ea typeface="华文宋体"/>
                <a:sym typeface="Symbol"/>
              </a:rPr>
              <a:t></a:t>
            </a:r>
            <a:r>
              <a:rPr lang="en-US" altLang="zh-CN" sz="2800" i="0" kern="500" dirty="0">
                <a:latin typeface="Times New Roman"/>
                <a:ea typeface="华文宋体"/>
              </a:rPr>
              <a:t>[kJ/kg(a)]</a:t>
            </a:r>
            <a:endParaRPr lang="zh-CN" altLang="zh-CN" sz="2800" i="0" kern="500" dirty="0">
              <a:latin typeface="Times New Roman"/>
              <a:ea typeface="华文宋体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786842" y="6488668"/>
            <a:ext cx="5000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黑体" pitchFamily="49" charset="-122"/>
                <a:ea typeface="黑体" pitchFamily="49" charset="-122"/>
              </a:rPr>
              <a:t>26</a:t>
            </a:r>
            <a:endParaRPr lang="zh-CN" altLang="en-US" sz="2000" dirty="0">
              <a:latin typeface="黑体" pitchFamily="49" charset="-122"/>
              <a:ea typeface="黑体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3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00034" y="1348800"/>
            <a:ext cx="8001000" cy="3970318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  <a:defRPr/>
            </a:pPr>
            <a:r>
              <a:rPr lang="zh-CN" altLang="zh-CN" sz="2800" i="0" kern="500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zh-CN" sz="2800" i="0" kern="500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2</a:t>
            </a:r>
            <a:r>
              <a:rPr lang="zh-CN" altLang="zh-CN" sz="2800" i="0" kern="500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）</a:t>
            </a:r>
            <a:r>
              <a:rPr lang="zh-CN" altLang="en-US" sz="2800" i="0" kern="500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图解</a:t>
            </a:r>
            <a:r>
              <a:rPr lang="zh-CN" altLang="zh-CN" sz="2800" i="0" kern="500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法</a:t>
            </a:r>
            <a:endParaRPr lang="en-US" altLang="zh-CN" sz="2800" i="0" kern="500" dirty="0">
              <a:solidFill>
                <a:srgbClr val="FF0000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  <a:defRPr/>
            </a:pPr>
            <a:r>
              <a:rPr lang="en-US" altLang="zh-CN" sz="2800" i="0" kern="5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zh-CN" altLang="zh-CN" sz="2800" i="0" kern="5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① </a:t>
            </a:r>
            <a:r>
              <a:rPr lang="en-US" altLang="zh-CN" sz="2800" i="0" kern="5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zh-CN" altLang="zh-CN" sz="2800" i="0" kern="5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由</a:t>
            </a:r>
            <a:r>
              <a:rPr lang="en-US" altLang="zh-CN" sz="2800" b="1" i="1" kern="5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t</a:t>
            </a:r>
            <a:r>
              <a:rPr lang="zh-CN" altLang="zh-CN" sz="2800" b="1" i="0" kern="5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＝</a:t>
            </a:r>
            <a:r>
              <a:rPr lang="en-US" altLang="zh-CN" sz="2800" b="1" i="0" kern="5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30</a:t>
            </a:r>
            <a:r>
              <a:rPr lang="en-US" altLang="zh-CN" sz="2800" b="1" i="0" kern="500" dirty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Symbol"/>
              </a:rPr>
              <a:t></a:t>
            </a:r>
            <a:r>
              <a:rPr lang="en-US" altLang="zh-CN" sz="2800" b="1" i="0" kern="5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C</a:t>
            </a:r>
            <a:r>
              <a:rPr lang="zh-CN" altLang="zh-CN" sz="2800" i="0" kern="5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和</a:t>
            </a:r>
            <a:r>
              <a:rPr lang="en-US" altLang="zh-CN" sz="2800" b="1" i="1" kern="500" dirty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Symbol"/>
              </a:rPr>
              <a:t></a:t>
            </a:r>
            <a:r>
              <a:rPr lang="zh-CN" altLang="zh-CN" sz="2800" b="1" i="0" kern="5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＝</a:t>
            </a:r>
            <a:r>
              <a:rPr lang="en-US" altLang="zh-CN" sz="2800" b="1" i="0" kern="5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0.4</a:t>
            </a:r>
            <a:r>
              <a:rPr lang="zh-CN" altLang="zh-CN" sz="2800" i="0" kern="5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在</a:t>
            </a:r>
            <a:r>
              <a:rPr lang="en-US" altLang="zh-CN" sz="1400" i="0" kern="5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en-US" altLang="zh-CN" sz="2800" b="1" i="1" kern="5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ω-t</a:t>
            </a:r>
            <a:r>
              <a:rPr lang="en-US" altLang="zh-CN" sz="1400" b="1" i="1" kern="5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zh-CN" altLang="zh-CN" sz="2800" i="0" kern="5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图上找到该状态点（未饱和空气），然后沿定</a:t>
            </a:r>
            <a:r>
              <a:rPr lang="en-US" altLang="zh-CN" sz="1600" i="0" kern="5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en-US" altLang="zh-CN" sz="2800" b="1" i="1" kern="5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ω</a:t>
            </a:r>
            <a:r>
              <a:rPr lang="en-US" altLang="zh-CN" sz="1400" b="1" i="1" kern="5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zh-CN" altLang="zh-CN" sz="2800" i="0" kern="5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线（即定</a:t>
            </a:r>
            <a:r>
              <a:rPr lang="en-US" altLang="zh-CN" sz="2800" b="1" i="1" kern="500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p</a:t>
            </a:r>
            <a:r>
              <a:rPr lang="en-US" altLang="zh-CN" sz="2800" b="1" i="0" kern="500" baseline="-25000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v</a:t>
            </a:r>
            <a:r>
              <a:rPr lang="zh-CN" altLang="zh-CN" sz="2800" i="0" kern="5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线）向左</a:t>
            </a:r>
            <a:r>
              <a:rPr lang="zh-CN" altLang="en-US" sz="2800" kern="5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移动</a:t>
            </a:r>
            <a:r>
              <a:rPr lang="zh-CN" altLang="zh-CN" sz="2800" i="0" kern="5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，直到与露点线（</a:t>
            </a:r>
            <a:r>
              <a:rPr lang="en-US" altLang="zh-CN" sz="2800" b="1" i="1" kern="500" dirty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Symbol"/>
              </a:rPr>
              <a:t></a:t>
            </a:r>
            <a:r>
              <a:rPr lang="en-US" altLang="zh-CN" sz="2800" b="1" i="0" kern="500" dirty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Symbol"/>
              </a:rPr>
              <a:t></a:t>
            </a:r>
            <a:r>
              <a:rPr lang="zh-CN" altLang="zh-CN" sz="2800" b="1" i="0" kern="5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＝</a:t>
            </a:r>
            <a:r>
              <a:rPr lang="en-US" altLang="zh-CN" sz="2800" b="1" i="0" kern="5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100%</a:t>
            </a:r>
            <a:r>
              <a:rPr lang="zh-CN" altLang="zh-CN" sz="2800" i="0" kern="5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）相交，该交点</a:t>
            </a:r>
            <a:r>
              <a:rPr lang="zh-CN" altLang="en-US" sz="2800" i="0" kern="5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对应的横坐标即为</a:t>
            </a:r>
            <a:r>
              <a:rPr lang="zh-CN" altLang="zh-CN" sz="2800" i="0" kern="5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露点温度、由图可查得：</a:t>
            </a:r>
            <a:endParaRPr lang="en-US" altLang="zh-CN" sz="2800" i="0" kern="500" dirty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  <a:defRPr/>
            </a:pPr>
            <a:r>
              <a:rPr lang="en-US" altLang="zh-CN" sz="2800" kern="5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                        </a:t>
            </a:r>
            <a:r>
              <a:rPr lang="en-US" altLang="zh-CN" sz="2800" b="1" i="1" kern="500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t</a:t>
            </a:r>
            <a:r>
              <a:rPr lang="en-US" altLang="zh-CN" sz="2800" b="1" i="0" kern="500" baseline="-25000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D</a:t>
            </a:r>
            <a:r>
              <a:rPr lang="zh-CN" altLang="zh-CN" sz="2800" b="1" i="0" kern="5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≈</a:t>
            </a:r>
            <a:r>
              <a:rPr lang="en-US" altLang="zh-CN" sz="2800" b="1" i="0" kern="5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15</a:t>
            </a:r>
            <a:r>
              <a:rPr lang="en-US" altLang="zh-CN" sz="2800" b="1" i="0" kern="500" dirty="0">
                <a:latin typeface="Times New Roman" pitchFamily="18" charset="0"/>
                <a:ea typeface="微软雅黑" pitchFamily="34" charset="-122"/>
                <a:cs typeface="Times New Roman" pitchFamily="18" charset="0"/>
                <a:sym typeface="Symbol"/>
              </a:rPr>
              <a:t></a:t>
            </a:r>
            <a:r>
              <a:rPr lang="en-US" altLang="zh-CN" sz="2800" b="1" i="0" kern="5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C</a:t>
            </a:r>
            <a:endParaRPr lang="zh-CN" altLang="en-US" sz="2800" b="1" i="0" kern="500" dirty="0">
              <a:solidFill>
                <a:srgbClr val="000000"/>
              </a:solidFill>
              <a:latin typeface="Times New Roman"/>
              <a:ea typeface="华文宋体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786842" y="6488668"/>
            <a:ext cx="5000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黑体" pitchFamily="49" charset="-122"/>
                <a:ea typeface="黑体" pitchFamily="49" charset="-122"/>
              </a:rPr>
              <a:t>27</a:t>
            </a:r>
            <a:endParaRPr lang="zh-CN" altLang="en-US" sz="2000" dirty="0">
              <a:latin typeface="黑体" pitchFamily="49" charset="-122"/>
              <a:ea typeface="黑体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85720" y="1500174"/>
            <a:ext cx="8143932" cy="3400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AutoNum type="circleNumDbPlain" startAt="2"/>
              <a:defRPr/>
            </a:pPr>
            <a:r>
              <a:rPr lang="zh-CN" altLang="en-US" sz="2800" kern="5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原始状态点所对应的纵坐标即为</a:t>
            </a:r>
            <a:r>
              <a:rPr lang="zh-CN" altLang="en-US" sz="1100" kern="5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800" b="1" i="1" kern="5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ω</a:t>
            </a:r>
            <a:r>
              <a:rPr lang="en-US" altLang="zh-CN" sz="1600" b="1" i="1" kern="5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800" kern="5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值，由图可</a:t>
            </a:r>
            <a:endParaRPr lang="en-US" altLang="zh-CN" sz="2800" kern="500" dirty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2800" kern="5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   </a:t>
            </a:r>
            <a:r>
              <a:rPr lang="zh-CN" altLang="en-US" sz="2800" kern="5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  查得：</a:t>
            </a:r>
            <a:endParaRPr lang="en-US" altLang="zh-CN" sz="2800" kern="500" dirty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2800" kern="5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       </a:t>
            </a:r>
            <a:r>
              <a:rPr lang="zh-CN" altLang="en-US" sz="2800" kern="5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          </a:t>
            </a:r>
            <a:r>
              <a:rPr lang="zh-CN" altLang="en-US" sz="2800" i="1" kern="5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800" b="1" i="1" kern="500" dirty="0">
                <a:solidFill>
                  <a:srgbClr val="00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ω </a:t>
            </a:r>
            <a:r>
              <a:rPr lang="en-US" altLang="zh-CN" sz="2800" b="1" kern="500" dirty="0">
                <a:solidFill>
                  <a:srgbClr val="00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≈ 0.</a:t>
            </a:r>
            <a:r>
              <a:rPr lang="zh-CN" altLang="en-US" sz="2800" b="1" kern="500" dirty="0">
                <a:solidFill>
                  <a:srgbClr val="000000"/>
                </a:solidFill>
                <a:latin typeface="Times New Roman" pitchFamily="18" charset="0"/>
                <a:ea typeface="华文宋体"/>
                <a:cs typeface="Times New Roman" pitchFamily="18" charset="0"/>
              </a:rPr>
              <a:t> </a:t>
            </a:r>
            <a:r>
              <a:rPr lang="en-US" altLang="zh-CN" sz="2800" b="1" kern="500" dirty="0">
                <a:solidFill>
                  <a:srgbClr val="00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0105  kJ/kg(a</a:t>
            </a:r>
            <a:r>
              <a:rPr lang="en-US" altLang="zh-CN" sz="2800" b="1" kern="5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)</a:t>
            </a:r>
            <a:endParaRPr lang="zh-CN" altLang="en-US" sz="2800" b="1" dirty="0"/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AutoNum type="circleNumDbPlain" startAt="3"/>
              <a:defRPr/>
            </a:pPr>
            <a:r>
              <a:rPr lang="zh-CN" altLang="en-US" sz="2800" kern="5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从原始状态点沿定 </a:t>
            </a:r>
            <a:r>
              <a:rPr lang="en-US" altLang="zh-CN" sz="2800" b="1" i="1" kern="5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h</a:t>
            </a:r>
            <a:r>
              <a:rPr lang="en-US" altLang="zh-CN" sz="2800" kern="5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800" kern="5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线向左上方，可查得：</a:t>
            </a:r>
            <a:endParaRPr lang="en-US" altLang="zh-CN" sz="2800" kern="500" dirty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2800" kern="5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                </a:t>
            </a:r>
            <a:r>
              <a:rPr lang="zh-CN" altLang="en-US" sz="2800" kern="5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   </a:t>
            </a:r>
            <a:r>
              <a:rPr lang="zh-CN" altLang="en-US" sz="2800" i="1" kern="500" dirty="0">
                <a:solidFill>
                  <a:srgbClr val="00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en-US" altLang="zh-CN" sz="2800" b="1" i="1" kern="500" dirty="0">
                <a:solidFill>
                  <a:srgbClr val="00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h </a:t>
            </a:r>
            <a:r>
              <a:rPr lang="en-US" altLang="zh-CN" sz="2800" b="1" kern="500" dirty="0">
                <a:solidFill>
                  <a:srgbClr val="00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≈ 57.5  kJ/kg(a)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86842" y="6488668"/>
            <a:ext cx="5000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黑体" pitchFamily="49" charset="-122"/>
                <a:ea typeface="黑体" pitchFamily="49" charset="-122"/>
              </a:rPr>
              <a:t>28</a:t>
            </a:r>
            <a:endParaRPr lang="zh-CN" altLang="en-US" sz="2000" dirty="0">
              <a:latin typeface="黑体" pitchFamily="49" charset="-122"/>
              <a:ea typeface="黑体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786842" y="6488668"/>
            <a:ext cx="5000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prstClr val="black"/>
                </a:solidFill>
                <a:latin typeface="黑体" pitchFamily="49" charset="-122"/>
                <a:ea typeface="黑体" pitchFamily="49" charset="-122"/>
              </a:rPr>
              <a:t>29</a:t>
            </a:r>
            <a:endParaRPr lang="zh-CN" altLang="en-US" sz="2000" dirty="0">
              <a:solidFill>
                <a:prstClr val="black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285720" y="1628800"/>
            <a:ext cx="5366399" cy="533400"/>
          </a:xfrm>
          <a:prstGeom prst="rect">
            <a:avLst/>
          </a:prstGeom>
        </p:spPr>
        <p:txBody>
          <a:bodyPr/>
          <a:lstStyle/>
          <a:p>
            <a:pPr marR="0" lvl="0" indent="-342900" fontAlgn="auto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800" b="1" dirty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6-4  </a:t>
            </a: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湿空气的热力过程实例分析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83568" y="2407528"/>
            <a:ext cx="7560840" cy="2677656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800" kern="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zh-CN" sz="2800" kern="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湿空气</a:t>
            </a:r>
            <a:r>
              <a:rPr lang="zh-CN" altLang="en-US" sz="2800" kern="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zh-CN" sz="2800" kern="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基本热力过程有加热、冷却、加湿、去湿以及混合等。这些过程在工程上可看</a:t>
            </a:r>
            <a:r>
              <a:rPr lang="zh-CN" altLang="en-US" sz="2800" kern="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</a:t>
            </a:r>
            <a:r>
              <a:rPr lang="zh-CN" altLang="zh-CN" sz="2800" kern="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稳定流动。实际工程应用中是几种基本热力过程的组合。</a:t>
            </a:r>
            <a:endParaRPr lang="zh-CN" altLang="zh-CN" sz="2800" kern="5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03418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786842" y="6488668"/>
            <a:ext cx="5000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prstClr val="black"/>
                </a:solidFill>
                <a:latin typeface="黑体" pitchFamily="49" charset="-122"/>
                <a:ea typeface="黑体" pitchFamily="49" charset="-122"/>
              </a:rPr>
              <a:t>30</a:t>
            </a:r>
            <a:endParaRPr lang="zh-CN" altLang="en-US" sz="2000" dirty="0">
              <a:solidFill>
                <a:prstClr val="black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785317" y="1219304"/>
            <a:ext cx="23391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800" kern="5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物料烘干过程</a:t>
            </a:r>
            <a:endParaRPr lang="zh-CN" altLang="en-US" sz="28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06996" y="1772816"/>
            <a:ext cx="7992888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 sz="2400" kern="5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未饱和空气在加热器中定压加热</a:t>
            </a:r>
            <a:r>
              <a:rPr lang="zh-CN" altLang="zh-CN" sz="2400" kern="500" dirty="0">
                <a:solidFill>
                  <a:srgbClr val="0000FF"/>
                </a:solidFill>
                <a:latin typeface="Times New Roman"/>
                <a:ea typeface="华文宋体"/>
                <a:cs typeface="Times New Roman"/>
              </a:rPr>
              <a:t>，</a:t>
            </a:r>
            <a:r>
              <a:rPr lang="en-US" altLang="zh-CN" sz="2400" b="1" i="1" kern="500" dirty="0">
                <a:solidFill>
                  <a:srgbClr val="0000FF"/>
                </a:solidFill>
                <a:latin typeface="Times New Roman"/>
                <a:ea typeface="华文宋体"/>
              </a:rPr>
              <a:t>t</a:t>
            </a:r>
            <a:r>
              <a:rPr lang="en-US" altLang="zh-CN" sz="2400" i="1" kern="500" dirty="0">
                <a:solidFill>
                  <a:srgbClr val="0000FF"/>
                </a:solidFill>
                <a:latin typeface="Times New Roman"/>
                <a:ea typeface="华文宋体"/>
              </a:rPr>
              <a:t> </a:t>
            </a:r>
            <a:r>
              <a:rPr lang="zh-CN" altLang="zh-CN" sz="2400" kern="5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升高</a:t>
            </a:r>
            <a:r>
              <a:rPr lang="zh-CN" altLang="en-US" sz="2400" kern="5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、</a:t>
            </a:r>
            <a:r>
              <a:rPr lang="en-US" altLang="zh-CN" sz="2400" b="1" i="1" kern="500" dirty="0">
                <a:solidFill>
                  <a:srgbClr val="0000FF"/>
                </a:solidFill>
                <a:latin typeface="Times New Roman"/>
                <a:ea typeface="华文宋体"/>
              </a:rPr>
              <a:t>h</a:t>
            </a:r>
            <a:r>
              <a:rPr lang="zh-CN" altLang="zh-CN" sz="2400" kern="5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增加</a:t>
            </a:r>
            <a:r>
              <a:rPr lang="zh-CN" altLang="en-US" sz="2400" kern="5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、</a:t>
            </a:r>
            <a:r>
              <a:rPr lang="en-US" altLang="zh-CN" sz="2400" b="1" i="1" kern="500" dirty="0">
                <a:solidFill>
                  <a:srgbClr val="0000FF"/>
                </a:solidFill>
                <a:latin typeface="Times New Roman"/>
                <a:ea typeface="华文宋体"/>
                <a:cs typeface="Times New Roman"/>
                <a:sym typeface="Symbol"/>
              </a:rPr>
              <a:t> </a:t>
            </a:r>
            <a:r>
              <a:rPr lang="zh-CN" altLang="zh-CN" sz="2400" kern="5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下降</a:t>
            </a:r>
            <a:r>
              <a:rPr lang="zh-CN" altLang="en-US" sz="2400" kern="5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、</a:t>
            </a:r>
            <a:r>
              <a:rPr lang="zh-CN" altLang="zh-CN" sz="2400" kern="5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吸湿能力提高</a:t>
            </a:r>
            <a:r>
              <a:rPr lang="zh-CN" altLang="zh-CN" sz="2400" kern="500" dirty="0">
                <a:solidFill>
                  <a:srgbClr val="0000FF"/>
                </a:solidFill>
                <a:latin typeface="Times New Roman"/>
                <a:ea typeface="华文宋体"/>
                <a:cs typeface="Times New Roman"/>
              </a:rPr>
              <a:t>，</a:t>
            </a:r>
            <a:r>
              <a:rPr lang="zh-CN" altLang="zh-CN" sz="2400" kern="5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但</a:t>
            </a:r>
            <a:r>
              <a:rPr lang="en-US" altLang="zh-CN" sz="2400" kern="5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 </a:t>
            </a:r>
            <a:r>
              <a:rPr lang="en-US" altLang="zh-CN" sz="2400" b="1" i="1" kern="500" dirty="0">
                <a:solidFill>
                  <a:srgbClr val="0000FF"/>
                </a:solidFill>
                <a:latin typeface="Times New Roman"/>
                <a:ea typeface="华文宋体"/>
              </a:rPr>
              <a:t>ω </a:t>
            </a:r>
            <a:r>
              <a:rPr lang="zh-CN" altLang="zh-CN" sz="2400" kern="5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保持不变。</a:t>
            </a:r>
            <a:r>
              <a:rPr lang="zh-CN" altLang="en-US" sz="2400" kern="5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过程加热量为</a:t>
            </a:r>
            <a:endParaRPr lang="en-US" altLang="zh-CN" sz="2400" kern="5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/>
            </a:endParaRPr>
          </a:p>
          <a:p>
            <a:pPr algn="ctr">
              <a:lnSpc>
                <a:spcPct val="150000"/>
              </a:lnSpc>
            </a:pPr>
            <a:r>
              <a:rPr lang="en-US" altLang="zh-CN" sz="2400" b="1" i="1" kern="50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 = h</a:t>
            </a:r>
            <a:r>
              <a:rPr lang="en-US" altLang="zh-CN" sz="2400" b="1" kern="500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400" b="1" i="1" kern="50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 h</a:t>
            </a:r>
            <a:r>
              <a:rPr lang="en-US" altLang="zh-CN" sz="2400" b="1" kern="500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</a:p>
          <a:p>
            <a:pPr marL="514350" indent="-5143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 sz="2400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加热</a:t>
            </a:r>
            <a:r>
              <a:rPr lang="zh-CN" altLang="en-US" sz="2400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后的</a:t>
            </a:r>
            <a:r>
              <a:rPr lang="zh-CN" altLang="zh-CN" sz="2400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空气在</a:t>
            </a:r>
            <a:r>
              <a:rPr lang="zh-CN" altLang="en-US" sz="2400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干燥</a:t>
            </a:r>
            <a:r>
              <a:rPr lang="zh-CN" altLang="zh-CN" sz="2400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器中</a:t>
            </a:r>
            <a:r>
              <a:rPr lang="zh-CN" altLang="en-US" sz="2400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放热，空气的 </a:t>
            </a:r>
            <a:r>
              <a:rPr lang="en-US" altLang="zh-CN" sz="2400" b="1" i="1" kern="500" dirty="0">
                <a:latin typeface="Times New Roman"/>
                <a:ea typeface="华文宋体"/>
              </a:rPr>
              <a:t>h </a:t>
            </a:r>
            <a:r>
              <a:rPr lang="zh-CN" altLang="en-US" sz="2400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减少；被烘干物体吸收热量使水分蒸发，又将减少的 </a:t>
            </a:r>
            <a:r>
              <a:rPr lang="en-US" altLang="zh-CN" sz="2400" b="1" i="1" kern="500" dirty="0">
                <a:latin typeface="Times New Roman"/>
                <a:ea typeface="华文宋体"/>
              </a:rPr>
              <a:t>h</a:t>
            </a:r>
            <a:r>
              <a:rPr lang="zh-CN" altLang="en-US" sz="2400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带入</a:t>
            </a:r>
            <a:r>
              <a:rPr lang="zh-CN" altLang="zh-CN" sz="2400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空气</a:t>
            </a:r>
            <a:r>
              <a:rPr lang="zh-CN" altLang="en-US" sz="2400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。该过程 </a:t>
            </a:r>
            <a:r>
              <a:rPr lang="en-US" altLang="zh-CN" sz="2400" b="1" i="1" kern="500" dirty="0">
                <a:latin typeface="Times New Roman"/>
                <a:ea typeface="华文宋体"/>
              </a:rPr>
              <a:t>h </a:t>
            </a:r>
            <a:r>
              <a:rPr lang="zh-CN" altLang="en-US" sz="2400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不变、</a:t>
            </a:r>
            <a:r>
              <a:rPr lang="en-US" altLang="zh-CN" sz="2400" b="1" i="1" kern="500" dirty="0">
                <a:latin typeface="Times New Roman"/>
                <a:ea typeface="华文宋体"/>
              </a:rPr>
              <a:t>t </a:t>
            </a:r>
            <a:r>
              <a:rPr lang="zh-CN" altLang="zh-CN" sz="2400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降</a:t>
            </a:r>
            <a:r>
              <a:rPr lang="zh-CN" altLang="en-US" sz="2400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低、</a:t>
            </a:r>
            <a:r>
              <a:rPr lang="en-US" altLang="zh-CN" sz="2400" b="1" i="1" kern="500" dirty="0">
                <a:latin typeface="Times New Roman"/>
                <a:ea typeface="华文宋体"/>
              </a:rPr>
              <a:t>ω</a:t>
            </a:r>
            <a:r>
              <a:rPr lang="zh-CN" altLang="zh-CN" sz="2400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增加</a:t>
            </a:r>
            <a:r>
              <a:rPr lang="zh-CN" altLang="en-US" sz="2400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。</a:t>
            </a:r>
          </a:p>
        </p:txBody>
      </p:sp>
      <p:sp>
        <p:nvSpPr>
          <p:cNvPr id="2" name="矩形 1"/>
          <p:cNvSpPr/>
          <p:nvPr/>
        </p:nvSpPr>
        <p:spPr>
          <a:xfrm>
            <a:off x="785317" y="5343599"/>
            <a:ext cx="7603107" cy="461665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sz="2400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因此，</a:t>
            </a:r>
            <a:r>
              <a:rPr lang="zh-CN" altLang="zh-CN" sz="2400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物料烘干是</a:t>
            </a:r>
            <a:r>
              <a:rPr lang="zh-CN" altLang="zh-CN" sz="2400" kern="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定压加热</a:t>
            </a:r>
            <a:r>
              <a:rPr lang="en-US" altLang="zh-CN" sz="2400" kern="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+</a:t>
            </a:r>
            <a:r>
              <a:rPr lang="zh-CN" altLang="zh-CN" sz="2400" kern="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绝热加湿</a:t>
            </a:r>
            <a:r>
              <a:rPr lang="zh-CN" altLang="zh-CN" sz="2400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过程的组合过程。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07504" y="1247552"/>
            <a:ext cx="571500" cy="4667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zh-CN" sz="2800" i="1" dirty="0">
                <a:solidFill>
                  <a:schemeClr val="accent1"/>
                </a:solidFill>
                <a:latin typeface="Bernard MT Condensed"/>
              </a:rPr>
              <a:t> </a:t>
            </a:r>
            <a:r>
              <a:rPr lang="en-US" altLang="zh-CN" sz="2800" i="1" dirty="0">
                <a:solidFill>
                  <a:srgbClr val="C00000"/>
                </a:solidFill>
                <a:latin typeface="Bernard MT Condensed"/>
              </a:rPr>
              <a:t>1.</a:t>
            </a:r>
            <a:endParaRPr lang="zh-CN" altLang="en-US" sz="2800" i="1" dirty="0">
              <a:solidFill>
                <a:srgbClr val="C00000"/>
              </a:solidFill>
              <a:latin typeface="Bernard MT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1448279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786842" y="6488668"/>
            <a:ext cx="5000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prstClr val="black"/>
                </a:solidFill>
                <a:latin typeface="黑体" pitchFamily="49" charset="-122"/>
                <a:ea typeface="黑体" pitchFamily="49" charset="-122"/>
              </a:rPr>
              <a:t>31</a:t>
            </a:r>
            <a:endParaRPr lang="zh-CN" altLang="en-US" sz="2000" dirty="0">
              <a:solidFill>
                <a:prstClr val="black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755576" y="1186044"/>
            <a:ext cx="23391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kern="5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空气调节</a:t>
            </a:r>
            <a:r>
              <a:rPr lang="zh-CN" altLang="zh-CN" sz="2800" kern="5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过程</a:t>
            </a:r>
            <a:endParaRPr lang="zh-CN" altLang="en-US" sz="28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90426" y="1709264"/>
            <a:ext cx="7992888" cy="37117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lnSpc>
                <a:spcPct val="140000"/>
              </a:lnSpc>
              <a:buFont typeface="Wingdings" panose="05000000000000000000" pitchFamily="2" charset="2"/>
              <a:buChar char="Ø"/>
            </a:pPr>
            <a:r>
              <a:rPr lang="zh-CN" altLang="zh-CN" sz="2400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环境空气在冷却器中</a:t>
            </a:r>
            <a:r>
              <a:rPr lang="zh-CN" altLang="en-US" sz="2400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先</a:t>
            </a:r>
            <a:r>
              <a:rPr lang="zh-CN" altLang="zh-CN" sz="2400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定压冷却到露点温度</a:t>
            </a:r>
            <a:r>
              <a:rPr lang="zh-CN" altLang="en-US" sz="2400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，</a:t>
            </a:r>
            <a:r>
              <a:rPr lang="en-US" altLang="zh-CN" sz="2400" b="1" i="1" kern="500" dirty="0">
                <a:latin typeface="Times New Roman"/>
                <a:ea typeface="华文宋体"/>
              </a:rPr>
              <a:t>t</a:t>
            </a:r>
            <a:r>
              <a:rPr lang="en-US" altLang="zh-CN" sz="2400" i="1" kern="500" dirty="0">
                <a:latin typeface="Times New Roman"/>
                <a:ea typeface="华文宋体"/>
              </a:rPr>
              <a:t> </a:t>
            </a:r>
            <a:r>
              <a:rPr lang="zh-CN" altLang="en-US" sz="2400" kern="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降低</a:t>
            </a:r>
            <a:r>
              <a:rPr lang="zh-CN" altLang="en-US" sz="2400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、</a:t>
            </a:r>
            <a:r>
              <a:rPr lang="en-US" altLang="zh-CN" sz="2400" b="1" i="1" kern="500" dirty="0">
                <a:latin typeface="Times New Roman"/>
                <a:ea typeface="华文宋体"/>
              </a:rPr>
              <a:t>h</a:t>
            </a:r>
            <a:r>
              <a:rPr lang="zh-CN" altLang="en-US" sz="2400" kern="5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降低</a:t>
            </a:r>
            <a:r>
              <a:rPr lang="zh-CN" altLang="en-US" sz="2400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、</a:t>
            </a:r>
            <a:r>
              <a:rPr lang="en-US" altLang="zh-CN" sz="2400" b="1" i="1" kern="500" dirty="0">
                <a:latin typeface="Times New Roman"/>
                <a:ea typeface="华文宋体"/>
                <a:cs typeface="Times New Roman"/>
                <a:sym typeface="Symbol"/>
              </a:rPr>
              <a:t> </a:t>
            </a:r>
            <a:r>
              <a:rPr lang="zh-CN" altLang="zh-CN" sz="2400" kern="5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增加</a:t>
            </a:r>
            <a:r>
              <a:rPr lang="zh-CN" altLang="en-US" sz="2400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、</a:t>
            </a:r>
            <a:r>
              <a:rPr lang="zh-CN" altLang="zh-CN" sz="2400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吸湿能力</a:t>
            </a:r>
            <a:r>
              <a:rPr lang="zh-CN" altLang="en-US" sz="2400" kern="5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降低</a:t>
            </a:r>
            <a:r>
              <a:rPr lang="zh-CN" altLang="zh-CN" sz="2400" kern="500" dirty="0">
                <a:latin typeface="Times New Roman"/>
                <a:ea typeface="华文宋体"/>
                <a:cs typeface="Times New Roman"/>
              </a:rPr>
              <a:t>，</a:t>
            </a:r>
            <a:r>
              <a:rPr lang="en-US" altLang="zh-CN" sz="2400" b="1" i="1" kern="500" dirty="0">
                <a:latin typeface="Times New Roman"/>
                <a:ea typeface="华文宋体"/>
              </a:rPr>
              <a:t>ω </a:t>
            </a:r>
            <a:r>
              <a:rPr lang="zh-CN" altLang="zh-CN" sz="2400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不变</a:t>
            </a:r>
            <a:r>
              <a:rPr lang="zh-CN" altLang="en-US" sz="2400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；然</a:t>
            </a:r>
            <a:r>
              <a:rPr lang="zh-CN" altLang="zh-CN" sz="2400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后继续降温，湿空气状态沿露点线（</a:t>
            </a:r>
            <a:r>
              <a:rPr lang="en-US" altLang="zh-CN" sz="2400" b="1" i="1" kern="500" dirty="0">
                <a:latin typeface="Times New Roman"/>
                <a:ea typeface="华文宋体"/>
                <a:cs typeface="Times New Roman"/>
                <a:sym typeface="Symbol"/>
              </a:rPr>
              <a:t></a:t>
            </a:r>
            <a:r>
              <a:rPr lang="zh-CN" altLang="zh-CN" sz="2400" b="1" kern="500" dirty="0">
                <a:latin typeface="Times New Roman"/>
                <a:ea typeface="华文宋体"/>
                <a:cs typeface="Times New Roman"/>
              </a:rPr>
              <a:t>＝</a:t>
            </a:r>
            <a:r>
              <a:rPr lang="en-US" altLang="zh-CN" sz="2400" b="1" kern="500" dirty="0">
                <a:latin typeface="Times New Roman"/>
                <a:ea typeface="华文宋体"/>
              </a:rPr>
              <a:t>100</a:t>
            </a:r>
            <a:r>
              <a:rPr lang="en-US" altLang="zh-CN" sz="2400" b="1" kern="500" dirty="0">
                <a:latin typeface="方正楷体简体"/>
                <a:cs typeface="Times New Roman"/>
              </a:rPr>
              <a:t>%</a:t>
            </a:r>
            <a:r>
              <a:rPr lang="zh-CN" altLang="zh-CN" sz="2400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）下移，水蒸气凝结析</a:t>
            </a:r>
            <a:r>
              <a:rPr lang="zh-CN" altLang="zh-CN" sz="2400" kern="500" spc="-2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出，</a:t>
            </a:r>
            <a:r>
              <a:rPr lang="en-US" altLang="zh-CN" sz="2400" b="1" i="1" kern="500" spc="-20" dirty="0">
                <a:latin typeface="Times New Roman"/>
                <a:ea typeface="华文宋体"/>
              </a:rPr>
              <a:t>ω </a:t>
            </a:r>
            <a:r>
              <a:rPr lang="zh-CN" altLang="zh-CN" sz="2400" kern="500" spc="-2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降低</a:t>
            </a:r>
            <a:r>
              <a:rPr lang="zh-CN" altLang="zh-CN" sz="2400" kern="500" spc="-20" dirty="0">
                <a:latin typeface="Times New Roman"/>
                <a:ea typeface="华文宋体"/>
                <a:cs typeface="Times New Roman"/>
              </a:rPr>
              <a:t>。</a:t>
            </a:r>
            <a:endParaRPr lang="en-US" altLang="zh-CN" sz="2400" kern="500" spc="-20" dirty="0">
              <a:latin typeface="Times New Roman"/>
              <a:ea typeface="华文宋体"/>
              <a:cs typeface="Times New Roman"/>
            </a:endParaRPr>
          </a:p>
          <a:p>
            <a:pPr marL="514350" indent="-514350">
              <a:lnSpc>
                <a:spcPct val="140000"/>
              </a:lnSpc>
              <a:buFont typeface="Wingdings" panose="05000000000000000000" pitchFamily="2" charset="2"/>
              <a:buChar char="Ø"/>
            </a:pPr>
            <a:r>
              <a:rPr lang="zh-CN" altLang="en-US" sz="2400" kern="500" dirty="0">
                <a:solidFill>
                  <a:srgbClr val="9933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冷却去湿后的</a:t>
            </a:r>
            <a:r>
              <a:rPr lang="zh-CN" altLang="zh-CN" sz="2400" kern="500" dirty="0">
                <a:solidFill>
                  <a:srgbClr val="9933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空气</a:t>
            </a:r>
            <a:r>
              <a:rPr lang="zh-CN" altLang="zh-CN" sz="2400" kern="500" spc="-20" dirty="0">
                <a:solidFill>
                  <a:srgbClr val="9933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进入加热器中定压加热，在</a:t>
            </a:r>
            <a:r>
              <a:rPr lang="en-US" altLang="zh-CN" sz="2400" kern="500" spc="-20" dirty="0">
                <a:solidFill>
                  <a:srgbClr val="9933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 </a:t>
            </a:r>
            <a:r>
              <a:rPr lang="en-US" altLang="zh-CN" sz="2400" b="1" i="1" kern="500" spc="-20" dirty="0">
                <a:solidFill>
                  <a:srgbClr val="9933FF"/>
                </a:solidFill>
                <a:latin typeface="Times New Roman"/>
                <a:ea typeface="华文宋体"/>
              </a:rPr>
              <a:t>ω </a:t>
            </a:r>
            <a:r>
              <a:rPr lang="zh-CN" altLang="zh-CN" sz="2400" kern="500" spc="-20" dirty="0">
                <a:solidFill>
                  <a:srgbClr val="9933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不变的条件下，加热到要求的温度和相对湿度</a:t>
            </a:r>
            <a:r>
              <a:rPr lang="zh-CN" altLang="en-US" sz="2400" kern="500" dirty="0">
                <a:solidFill>
                  <a:srgbClr val="9933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。该过程 </a:t>
            </a:r>
            <a:r>
              <a:rPr lang="en-US" altLang="zh-CN" sz="2400" b="1" i="1" kern="500" dirty="0">
                <a:solidFill>
                  <a:srgbClr val="9933FF"/>
                </a:solidFill>
                <a:latin typeface="Times New Roman"/>
                <a:ea typeface="华文宋体"/>
              </a:rPr>
              <a:t>t</a:t>
            </a:r>
            <a:r>
              <a:rPr lang="en-US" altLang="zh-CN" sz="2400" i="1" kern="500" dirty="0">
                <a:solidFill>
                  <a:srgbClr val="9933FF"/>
                </a:solidFill>
                <a:latin typeface="Times New Roman"/>
                <a:ea typeface="华文宋体"/>
              </a:rPr>
              <a:t> </a:t>
            </a:r>
            <a:r>
              <a:rPr lang="zh-CN" altLang="zh-CN" sz="2400" kern="500" dirty="0">
                <a:solidFill>
                  <a:srgbClr val="9933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升高</a:t>
            </a:r>
            <a:r>
              <a:rPr lang="zh-CN" altLang="en-US" sz="2400" kern="500" dirty="0">
                <a:solidFill>
                  <a:srgbClr val="9933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、</a:t>
            </a:r>
            <a:r>
              <a:rPr lang="en-US" altLang="zh-CN" sz="2400" b="1" i="1" kern="500" dirty="0">
                <a:solidFill>
                  <a:srgbClr val="9933FF"/>
                </a:solidFill>
                <a:latin typeface="Times New Roman"/>
                <a:ea typeface="华文宋体"/>
              </a:rPr>
              <a:t>h</a:t>
            </a:r>
            <a:r>
              <a:rPr lang="zh-CN" altLang="zh-CN" sz="2400" kern="500" dirty="0">
                <a:solidFill>
                  <a:srgbClr val="9933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增加</a:t>
            </a:r>
            <a:r>
              <a:rPr lang="zh-CN" altLang="en-US" sz="2400" kern="500" dirty="0">
                <a:solidFill>
                  <a:srgbClr val="9933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、</a:t>
            </a:r>
            <a:r>
              <a:rPr lang="en-US" altLang="zh-CN" sz="2400" b="1" i="1" kern="500" dirty="0">
                <a:solidFill>
                  <a:srgbClr val="9933FF"/>
                </a:solidFill>
                <a:latin typeface="Times New Roman"/>
                <a:ea typeface="华文宋体"/>
                <a:cs typeface="Times New Roman"/>
                <a:sym typeface="Symbol"/>
              </a:rPr>
              <a:t> </a:t>
            </a:r>
            <a:r>
              <a:rPr lang="zh-CN" altLang="zh-CN" sz="2400" kern="500" dirty="0">
                <a:solidFill>
                  <a:srgbClr val="9933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下降</a:t>
            </a:r>
            <a:r>
              <a:rPr lang="zh-CN" altLang="en-US" sz="2400" kern="500" dirty="0">
                <a:solidFill>
                  <a:srgbClr val="9933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、</a:t>
            </a:r>
            <a:r>
              <a:rPr lang="zh-CN" altLang="zh-CN" sz="2400" kern="500" dirty="0">
                <a:solidFill>
                  <a:srgbClr val="9933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吸湿能力提高</a:t>
            </a:r>
            <a:r>
              <a:rPr lang="zh-CN" altLang="zh-CN" sz="2400" kern="500" dirty="0">
                <a:solidFill>
                  <a:srgbClr val="9933FF"/>
                </a:solidFill>
                <a:latin typeface="Times New Roman"/>
                <a:ea typeface="华文宋体"/>
                <a:cs typeface="Times New Roman"/>
              </a:rPr>
              <a:t>，</a:t>
            </a:r>
            <a:r>
              <a:rPr lang="en-US" altLang="zh-CN" sz="2400" b="1" i="1" kern="500" dirty="0">
                <a:solidFill>
                  <a:srgbClr val="9933FF"/>
                </a:solidFill>
                <a:latin typeface="Times New Roman"/>
                <a:ea typeface="华文宋体"/>
              </a:rPr>
              <a:t>ω </a:t>
            </a:r>
            <a:r>
              <a:rPr lang="zh-CN" altLang="zh-CN" sz="2400" kern="500" dirty="0">
                <a:solidFill>
                  <a:srgbClr val="9933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不变。 </a:t>
            </a:r>
            <a:endParaRPr lang="zh-CN" altLang="en-US" sz="2400" kern="500" dirty="0">
              <a:solidFill>
                <a:srgbClr val="9933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899592" y="5517231"/>
            <a:ext cx="7603107" cy="46166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sz="2400" kern="5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因此，空气调节</a:t>
            </a:r>
            <a:r>
              <a:rPr lang="zh-CN" altLang="zh-CN" sz="2400" kern="5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是</a:t>
            </a:r>
            <a:r>
              <a:rPr lang="zh-CN" altLang="en-US" sz="2400" kern="5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冷却去</a:t>
            </a:r>
            <a:r>
              <a:rPr lang="zh-CN" altLang="zh-CN" sz="2400" kern="5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湿</a:t>
            </a:r>
            <a:r>
              <a:rPr lang="en-US" altLang="zh-CN" sz="2400" kern="5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+</a:t>
            </a:r>
            <a:r>
              <a:rPr lang="zh-CN" altLang="zh-CN" sz="2400" kern="5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定压加热的组合过程。</a:t>
            </a:r>
            <a:endParaRPr lang="zh-CN" altLang="en-US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3937" y="1196752"/>
            <a:ext cx="571500" cy="4667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zh-CN" sz="2800" i="1" dirty="0">
                <a:solidFill>
                  <a:schemeClr val="accent1"/>
                </a:solidFill>
                <a:latin typeface="Bernard MT Condensed"/>
              </a:rPr>
              <a:t> </a:t>
            </a:r>
            <a:r>
              <a:rPr lang="en-US" altLang="zh-CN" sz="2800" i="1" dirty="0">
                <a:solidFill>
                  <a:srgbClr val="C00000"/>
                </a:solidFill>
                <a:latin typeface="Bernard MT Condensed"/>
              </a:rPr>
              <a:t>2.</a:t>
            </a:r>
            <a:endParaRPr lang="zh-CN" altLang="en-US" sz="2800" i="1" dirty="0">
              <a:solidFill>
                <a:srgbClr val="C00000"/>
              </a:solidFill>
              <a:latin typeface="Bernard MT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100587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786842" y="6488668"/>
            <a:ext cx="5000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prstClr val="black"/>
                </a:solidFill>
                <a:latin typeface="黑体" pitchFamily="49" charset="-122"/>
                <a:ea typeface="黑体" pitchFamily="49" charset="-122"/>
              </a:rPr>
              <a:t>32</a:t>
            </a:r>
            <a:endParaRPr lang="zh-CN" altLang="en-US" sz="2000" dirty="0">
              <a:solidFill>
                <a:prstClr val="black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09066" y="1196752"/>
            <a:ext cx="8167389" cy="47459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40000"/>
              </a:lnSpc>
              <a:spcAft>
                <a:spcPts val="0"/>
              </a:spcAft>
            </a:pPr>
            <a:r>
              <a:rPr lang="zh-CN" altLang="en-US" sz="2400" b="1" kern="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注意：</a:t>
            </a:r>
            <a:r>
              <a:rPr lang="zh-CN" altLang="zh-CN" sz="2400" kern="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冷却去湿与单纯的定压冷却过程不同</a:t>
            </a:r>
            <a:r>
              <a:rPr lang="zh-CN" altLang="en-US" sz="2400" kern="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zh-CN" sz="2400" kern="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单纯的冷却过程</a:t>
            </a:r>
            <a:r>
              <a:rPr lang="zh-CN" altLang="en-US" sz="2400" kern="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r>
              <a:rPr lang="zh-CN" altLang="zh-CN" sz="2400" kern="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，湿空气最多被冷却到露点温度，但没有析湿过程。</a:t>
            </a:r>
            <a:endParaRPr lang="en-US" altLang="zh-CN" sz="2400" kern="5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14350" lvl="0" indent="-514350">
              <a:lnSpc>
                <a:spcPct val="140000"/>
              </a:lnSpc>
              <a:buFont typeface="Wingdings" panose="05000000000000000000" pitchFamily="2" charset="2"/>
              <a:buChar char="Ø"/>
            </a:pPr>
            <a:r>
              <a:rPr lang="zh-CN" altLang="zh-CN" sz="2400" kern="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定压冷却是定压加热的逆过程。在定压冷却过程中，湿空气</a:t>
            </a:r>
            <a:r>
              <a:rPr lang="en-US" altLang="zh-CN" sz="1600" kern="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b="1" i="1" kern="500" dirty="0">
                <a:solidFill>
                  <a:prstClr val="black"/>
                </a:solidFill>
                <a:latin typeface="Times New Roman"/>
                <a:ea typeface="华文宋体"/>
              </a:rPr>
              <a:t>t</a:t>
            </a:r>
            <a:r>
              <a:rPr lang="en-US" altLang="zh-CN" sz="1200" i="1" kern="500" dirty="0">
                <a:solidFill>
                  <a:prstClr val="black"/>
                </a:solidFill>
                <a:latin typeface="Times New Roman"/>
                <a:ea typeface="华文宋体"/>
              </a:rPr>
              <a:t> </a:t>
            </a:r>
            <a:r>
              <a:rPr lang="zh-CN" altLang="en-US" sz="2400" kern="5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降低</a:t>
            </a:r>
            <a:r>
              <a:rPr lang="zh-CN" altLang="en-US" sz="2400" kern="5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、</a:t>
            </a:r>
            <a:r>
              <a:rPr lang="en-US" altLang="zh-CN" sz="2400" b="1" i="1" kern="500" dirty="0">
                <a:solidFill>
                  <a:prstClr val="black"/>
                </a:solidFill>
                <a:latin typeface="Times New Roman"/>
                <a:ea typeface="华文宋体"/>
              </a:rPr>
              <a:t>h</a:t>
            </a:r>
            <a:r>
              <a:rPr lang="en-US" altLang="zh-CN" sz="1200" b="1" i="1" kern="500" dirty="0">
                <a:solidFill>
                  <a:prstClr val="black"/>
                </a:solidFill>
                <a:latin typeface="Times New Roman"/>
                <a:ea typeface="华文宋体"/>
              </a:rPr>
              <a:t> </a:t>
            </a:r>
            <a:r>
              <a:rPr lang="zh-CN" altLang="en-US" sz="2400" kern="5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降低</a:t>
            </a:r>
            <a:r>
              <a:rPr lang="zh-CN" altLang="en-US" sz="2400" kern="5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、</a:t>
            </a:r>
            <a:r>
              <a:rPr lang="en-US" altLang="zh-CN" sz="2400" b="1" i="1" kern="500" dirty="0">
                <a:solidFill>
                  <a:prstClr val="black"/>
                </a:solidFill>
                <a:latin typeface="Times New Roman"/>
                <a:ea typeface="华文宋体"/>
                <a:cs typeface="Times New Roman"/>
                <a:sym typeface="Symbol"/>
              </a:rPr>
              <a:t></a:t>
            </a:r>
            <a:r>
              <a:rPr lang="en-US" altLang="zh-CN" sz="1400" b="1" i="1" kern="500" dirty="0">
                <a:solidFill>
                  <a:prstClr val="black"/>
                </a:solidFill>
                <a:latin typeface="Times New Roman"/>
                <a:ea typeface="华文宋体"/>
                <a:cs typeface="Times New Roman"/>
                <a:sym typeface="Symbol"/>
              </a:rPr>
              <a:t> </a:t>
            </a:r>
            <a:r>
              <a:rPr lang="zh-CN" altLang="zh-CN" sz="2400" kern="5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增加</a:t>
            </a:r>
            <a:r>
              <a:rPr lang="zh-CN" altLang="en-US" sz="2400" kern="5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、</a:t>
            </a:r>
            <a:r>
              <a:rPr lang="zh-CN" altLang="zh-CN" sz="2400" kern="5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吸湿能力</a:t>
            </a:r>
            <a:r>
              <a:rPr lang="zh-CN" altLang="en-US" sz="2400" kern="5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降低</a:t>
            </a:r>
            <a:r>
              <a:rPr lang="zh-CN" altLang="zh-CN" sz="2400" kern="500" dirty="0">
                <a:solidFill>
                  <a:prstClr val="black"/>
                </a:solidFill>
                <a:latin typeface="Times New Roman"/>
                <a:ea typeface="华文宋体"/>
                <a:cs typeface="Times New Roman"/>
              </a:rPr>
              <a:t>，</a:t>
            </a:r>
            <a:r>
              <a:rPr lang="zh-CN" altLang="zh-CN" sz="2400" kern="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但</a:t>
            </a:r>
            <a:r>
              <a:rPr lang="en-US" altLang="zh-CN" sz="1600" kern="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b="1" i="1" kern="500" dirty="0">
                <a:solidFill>
                  <a:prstClr val="black"/>
                </a:solidFill>
                <a:latin typeface="Times New Roman"/>
                <a:ea typeface="华文宋体"/>
              </a:rPr>
              <a:t>ω</a:t>
            </a:r>
            <a:r>
              <a:rPr lang="en-US" altLang="zh-CN" sz="1600" b="1" i="1" kern="500" dirty="0">
                <a:solidFill>
                  <a:prstClr val="black"/>
                </a:solidFill>
                <a:latin typeface="Times New Roman"/>
                <a:ea typeface="华文宋体"/>
              </a:rPr>
              <a:t> </a:t>
            </a:r>
            <a:r>
              <a:rPr lang="zh-CN" altLang="zh-CN" sz="2400" kern="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保持不变。</a:t>
            </a:r>
            <a:r>
              <a:rPr lang="zh-CN" altLang="en-US" sz="2400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过程</a:t>
            </a:r>
            <a:r>
              <a:rPr lang="zh-CN" altLang="zh-CN" sz="2400" kern="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的放热量为</a:t>
            </a:r>
          </a:p>
          <a:p>
            <a:pPr algn="ctr">
              <a:lnSpc>
                <a:spcPct val="140000"/>
              </a:lnSpc>
            </a:pPr>
            <a:r>
              <a:rPr lang="en-US" altLang="zh-CN" sz="2400" b="1" i="1" kern="500" dirty="0">
                <a:latin typeface="Times New Roman"/>
                <a:ea typeface="华文宋体"/>
              </a:rPr>
              <a:t>q</a:t>
            </a:r>
            <a:r>
              <a:rPr lang="zh-CN" altLang="zh-CN" sz="2400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＝</a:t>
            </a:r>
            <a:r>
              <a:rPr lang="en-US" altLang="zh-CN" sz="2400" b="1" i="1" kern="500" dirty="0">
                <a:latin typeface="Times New Roman"/>
                <a:ea typeface="华文宋体"/>
              </a:rPr>
              <a:t>h</a:t>
            </a:r>
            <a:r>
              <a:rPr lang="en-US" altLang="zh-CN" sz="2400" b="1" kern="500" baseline="-25000" dirty="0">
                <a:latin typeface="Times New Roman"/>
                <a:ea typeface="华文宋体"/>
              </a:rPr>
              <a:t>1</a:t>
            </a:r>
            <a:r>
              <a:rPr lang="en-US" altLang="zh-CN" sz="1200" b="1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— </a:t>
            </a:r>
            <a:r>
              <a:rPr lang="en-US" altLang="zh-CN" sz="2400" b="1" i="1" kern="500" dirty="0">
                <a:latin typeface="Times New Roman"/>
                <a:ea typeface="华文宋体"/>
              </a:rPr>
              <a:t>h</a:t>
            </a:r>
            <a:r>
              <a:rPr lang="en-US" altLang="zh-CN" sz="2400" b="1" kern="500" baseline="-25000" dirty="0">
                <a:latin typeface="Times New Roman"/>
                <a:ea typeface="华文宋体"/>
              </a:rPr>
              <a:t>2</a:t>
            </a:r>
            <a:r>
              <a:rPr lang="en-US" altLang="zh-CN" sz="2400" b="1" kern="500" dirty="0">
                <a:latin typeface="Times New Roman"/>
                <a:ea typeface="华文宋体"/>
              </a:rPr>
              <a:t> </a:t>
            </a:r>
            <a:endParaRPr lang="en-US" altLang="zh-CN" sz="2400" b="1" kern="5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/>
            </a:endParaRPr>
          </a:p>
          <a:p>
            <a:pPr marL="514350" indent="-514350">
              <a:lnSpc>
                <a:spcPct val="140000"/>
              </a:lnSpc>
              <a:buFont typeface="Wingdings" panose="05000000000000000000" pitchFamily="2" charset="2"/>
              <a:buChar char="Ø"/>
            </a:pPr>
            <a:r>
              <a:rPr lang="zh-CN" altLang="zh-CN" sz="2400" kern="5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析湿过程</a:t>
            </a:r>
            <a:r>
              <a:rPr lang="zh-CN" altLang="en-US" sz="2400" kern="5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r>
              <a:rPr lang="zh-CN" altLang="zh-CN" sz="2400" kern="5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湿空气状态沿露点线（</a:t>
            </a:r>
            <a:r>
              <a:rPr lang="en-US" altLang="zh-CN" sz="2400" b="1" i="1" kern="5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/>
              </a:rPr>
              <a:t></a:t>
            </a:r>
            <a:r>
              <a:rPr lang="zh-CN" altLang="zh-CN" sz="2400" kern="5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＝</a:t>
            </a:r>
            <a:r>
              <a:rPr lang="en-US" altLang="zh-CN" sz="2400" b="1" kern="50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100%</a:t>
            </a:r>
            <a:r>
              <a:rPr lang="zh-CN" altLang="zh-CN" sz="2400" kern="5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）下移，水蒸气凝结析出，湿空气</a:t>
            </a:r>
            <a:r>
              <a:rPr lang="en-US" altLang="zh-CN" sz="2400" kern="5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b="1" i="1" kern="500" dirty="0">
                <a:solidFill>
                  <a:srgbClr val="0000FF"/>
                </a:solidFill>
                <a:latin typeface="Times New Roman"/>
                <a:ea typeface="华文宋体"/>
              </a:rPr>
              <a:t>t</a:t>
            </a:r>
            <a:r>
              <a:rPr lang="en-US" altLang="zh-CN" sz="1200" i="1" kern="500" dirty="0">
                <a:solidFill>
                  <a:srgbClr val="0000FF"/>
                </a:solidFill>
                <a:latin typeface="Times New Roman"/>
                <a:ea typeface="华文宋体"/>
              </a:rPr>
              <a:t> </a:t>
            </a:r>
            <a:r>
              <a:rPr lang="zh-CN" altLang="en-US" sz="2400" kern="5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降低</a:t>
            </a:r>
            <a:r>
              <a:rPr lang="zh-CN" altLang="en-US" sz="2400" kern="5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、</a:t>
            </a:r>
            <a:r>
              <a:rPr lang="en-US" altLang="zh-CN" sz="2400" b="1" i="1" kern="500" dirty="0">
                <a:solidFill>
                  <a:srgbClr val="0000FF"/>
                </a:solidFill>
                <a:latin typeface="Times New Roman"/>
                <a:ea typeface="华文宋体"/>
              </a:rPr>
              <a:t>h</a:t>
            </a:r>
            <a:r>
              <a:rPr lang="en-US" altLang="zh-CN" sz="1200" b="1" i="1" kern="500" dirty="0">
                <a:solidFill>
                  <a:srgbClr val="0000FF"/>
                </a:solidFill>
                <a:latin typeface="Times New Roman"/>
                <a:ea typeface="华文宋体"/>
              </a:rPr>
              <a:t> </a:t>
            </a:r>
            <a:r>
              <a:rPr lang="zh-CN" altLang="en-US" sz="2400" kern="5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降低</a:t>
            </a:r>
            <a:r>
              <a:rPr lang="zh-CN" altLang="en-US" sz="2400" kern="5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、</a:t>
            </a:r>
            <a:r>
              <a:rPr lang="en-US" altLang="zh-CN" sz="2400" b="1" i="1" kern="500" dirty="0">
                <a:solidFill>
                  <a:srgbClr val="0000FF"/>
                </a:solidFill>
                <a:latin typeface="Times New Roman"/>
                <a:ea typeface="华文宋体"/>
              </a:rPr>
              <a:t>ω</a:t>
            </a:r>
            <a:r>
              <a:rPr lang="en-US" altLang="zh-CN" sz="1600" kern="5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zh-CN" sz="2400" kern="5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降低</a:t>
            </a:r>
            <a:r>
              <a:rPr lang="zh-CN" altLang="en-US" sz="2400" kern="5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、但</a:t>
            </a:r>
            <a:r>
              <a:rPr lang="en-US" altLang="zh-CN" sz="2400" b="1" i="1" kern="500" dirty="0">
                <a:solidFill>
                  <a:srgbClr val="0000FF"/>
                </a:solidFill>
                <a:latin typeface="Times New Roman"/>
                <a:ea typeface="华文宋体"/>
                <a:cs typeface="Times New Roman"/>
                <a:sym typeface="Symbol"/>
              </a:rPr>
              <a:t></a:t>
            </a:r>
            <a:r>
              <a:rPr lang="en-US" altLang="zh-CN" sz="1400" b="1" i="1" kern="500" dirty="0">
                <a:solidFill>
                  <a:srgbClr val="0000FF"/>
                </a:solidFill>
                <a:latin typeface="Times New Roman"/>
                <a:ea typeface="华文宋体"/>
                <a:cs typeface="Times New Roman"/>
                <a:sym typeface="Symbol"/>
              </a:rPr>
              <a:t> </a:t>
            </a:r>
            <a:r>
              <a:rPr lang="zh-CN" altLang="zh-CN" sz="2400" kern="5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＝</a:t>
            </a:r>
            <a:r>
              <a:rPr lang="en-US" altLang="zh-CN" sz="2400" b="1" kern="50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100%</a:t>
            </a:r>
            <a:r>
              <a:rPr lang="zh-CN" altLang="en-US" sz="2400" kern="5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不变</a:t>
            </a:r>
            <a:r>
              <a:rPr lang="zh-CN" altLang="zh-CN" sz="2400" kern="5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kern="5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97524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786842" y="6488668"/>
            <a:ext cx="5000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prstClr val="black"/>
                </a:solidFill>
                <a:latin typeface="黑体" pitchFamily="49" charset="-122"/>
                <a:ea typeface="黑体" pitchFamily="49" charset="-122"/>
              </a:rPr>
              <a:t>33</a:t>
            </a:r>
            <a:endParaRPr lang="zh-CN" altLang="en-US" sz="2000" dirty="0">
              <a:solidFill>
                <a:prstClr val="black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55576" y="1689189"/>
            <a:ext cx="7735341" cy="332398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2800" kern="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析湿过程</a:t>
            </a:r>
            <a:r>
              <a:rPr lang="zh-CN" altLang="en-US" sz="2800" kern="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冷凝水</a:t>
            </a:r>
            <a:r>
              <a:rPr lang="zh-CN" altLang="zh-CN" sz="2800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带走的热量与总的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冷却传热量相比很小，在计算中可以忽略</a:t>
            </a:r>
            <a:r>
              <a:rPr lang="zh-CN" altLang="zh-CN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冷凝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水的焓值。因此，冷却去湿过程的传热量仍可近似</a:t>
            </a:r>
            <a:r>
              <a:rPr lang="zh-CN" altLang="zh-CN" sz="2800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用过程</a:t>
            </a:r>
            <a:r>
              <a:rPr lang="zh-CN" altLang="en-US" sz="2800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初终态</a:t>
            </a:r>
            <a:r>
              <a:rPr lang="zh-CN" altLang="zh-CN" sz="2800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的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焓差计算，即</a:t>
            </a:r>
            <a:endParaRPr lang="zh-CN" altLang="zh-CN" sz="2800" kern="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en-US" altLang="zh-CN" sz="2800" b="1" i="1" kern="500" dirty="0">
                <a:latin typeface="Times New Roman"/>
                <a:ea typeface="华文宋体"/>
              </a:rPr>
              <a:t>q</a:t>
            </a:r>
            <a:r>
              <a:rPr lang="zh-CN" altLang="zh-CN" sz="2800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＝</a:t>
            </a:r>
            <a:r>
              <a:rPr lang="en-US" altLang="zh-CN" sz="2800" b="1" i="1" kern="500" dirty="0">
                <a:latin typeface="Times New Roman"/>
                <a:ea typeface="华文宋体"/>
              </a:rPr>
              <a:t>h</a:t>
            </a:r>
            <a:r>
              <a:rPr lang="en-US" altLang="zh-CN" sz="2800" b="1" kern="500" baseline="-25000" dirty="0">
                <a:latin typeface="Times New Roman"/>
                <a:ea typeface="华文宋体"/>
              </a:rPr>
              <a:t>1</a:t>
            </a:r>
            <a:r>
              <a:rPr lang="en-US" altLang="zh-CN" b="1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—</a:t>
            </a:r>
            <a:r>
              <a:rPr lang="en-US" altLang="zh-CN" sz="2800" b="1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 </a:t>
            </a:r>
            <a:r>
              <a:rPr lang="en-US" altLang="zh-CN" sz="2800" b="1" i="1" kern="500" dirty="0">
                <a:latin typeface="Times New Roman"/>
                <a:ea typeface="华文宋体"/>
              </a:rPr>
              <a:t>h</a:t>
            </a:r>
            <a:r>
              <a:rPr lang="en-US" altLang="zh-CN" sz="2800" b="1" kern="500" baseline="-25000" dirty="0">
                <a:latin typeface="Times New Roman"/>
                <a:ea typeface="华文宋体"/>
              </a:rPr>
              <a:t>3</a:t>
            </a:r>
            <a:r>
              <a:rPr lang="en-US" altLang="zh-CN" sz="2800" b="1" kern="500" dirty="0">
                <a:latin typeface="Times New Roman"/>
                <a:ea typeface="华文宋体"/>
              </a:rPr>
              <a:t> </a:t>
            </a:r>
            <a:endParaRPr lang="en-US" altLang="zh-CN" sz="2800" b="1" kern="5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34115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786842" y="6488668"/>
            <a:ext cx="5000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>
                <a:solidFill>
                  <a:prstClr val="black"/>
                </a:solidFill>
                <a:latin typeface="黑体" pitchFamily="49" charset="-122"/>
                <a:ea typeface="黑体" pitchFamily="49" charset="-122"/>
              </a:rPr>
              <a:t>34</a:t>
            </a:r>
            <a:endParaRPr lang="zh-CN" altLang="en-US" sz="2000" dirty="0">
              <a:solidFill>
                <a:prstClr val="black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744314" y="1256990"/>
            <a:ext cx="341632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kern="5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冷却塔蒸发冷却</a:t>
            </a:r>
            <a:r>
              <a:rPr lang="zh-CN" altLang="zh-CN" sz="2800" kern="5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过程</a:t>
            </a:r>
            <a:endParaRPr lang="zh-CN" altLang="en-US" sz="28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90426" y="1789890"/>
            <a:ext cx="7992888" cy="1135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kern="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大型蒸汽动力装置和大型空调设备冷凝器中的冷却水都</a:t>
            </a:r>
            <a:r>
              <a:rPr lang="zh-CN" altLang="en-US" sz="2400" kern="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需循环</a:t>
            </a:r>
            <a:r>
              <a:rPr lang="zh-CN" altLang="zh-CN" sz="2400" kern="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zh-CN" altLang="en-US" sz="2400" kern="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zh-CN" sz="2400" kern="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一般采用在冷却塔中对冷却水进行蒸发冷却。</a:t>
            </a:r>
          </a:p>
        </p:txBody>
      </p:sp>
      <p:sp>
        <p:nvSpPr>
          <p:cNvPr id="5" name="矩形 4"/>
          <p:cNvSpPr/>
          <p:nvPr/>
        </p:nvSpPr>
        <p:spPr>
          <a:xfrm>
            <a:off x="590426" y="3097506"/>
            <a:ext cx="3570208" cy="4616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zh-CN" altLang="zh-CN" sz="2400" kern="5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冷却塔</a:t>
            </a:r>
            <a:r>
              <a:rPr lang="zh-CN" altLang="en-US" sz="2400" kern="5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的基本工作原理：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612363" y="3573016"/>
            <a:ext cx="806409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来自冷凝器的</a:t>
            </a:r>
            <a:r>
              <a:rPr lang="zh-CN" altLang="zh-CN" sz="2400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热水从冷却塔顶部向下喷淋，以形成细滴利于蒸发，未饱和空气在通风机的作用下自塔底部逆流而上。塔的中部装有填料</a:t>
            </a:r>
            <a:r>
              <a:rPr lang="zh-CN" altLang="en-US" sz="2400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，以增大</a:t>
            </a:r>
            <a:r>
              <a:rPr lang="zh-CN" altLang="zh-CN" sz="2400" kern="5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水与空气的接触面积和接触时间。</a:t>
            </a:r>
            <a:r>
              <a:rPr lang="zh-CN" altLang="zh-CN" sz="2400" kern="5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当水和空气接触时，发生</a:t>
            </a:r>
            <a:r>
              <a:rPr lang="zh-CN" altLang="en-US" sz="2400" kern="5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热</a:t>
            </a:r>
            <a:r>
              <a:rPr lang="zh-CN" altLang="zh-CN" sz="2400" kern="5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质</a:t>
            </a:r>
            <a:r>
              <a:rPr lang="zh-CN" altLang="en-US" sz="2400" kern="5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交换</a:t>
            </a:r>
            <a:r>
              <a:rPr lang="zh-CN" altLang="zh-CN" sz="2400" kern="5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。</a:t>
            </a:r>
            <a:endParaRPr lang="en-US" altLang="zh-CN" sz="2400" kern="5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0863" y="1303737"/>
            <a:ext cx="571500" cy="4667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zh-CN" sz="2800" i="1" dirty="0">
                <a:solidFill>
                  <a:schemeClr val="accent1"/>
                </a:solidFill>
                <a:latin typeface="Bernard MT Condensed"/>
              </a:rPr>
              <a:t> </a:t>
            </a:r>
            <a:r>
              <a:rPr lang="en-US" altLang="zh-CN" sz="2800" i="1" dirty="0">
                <a:solidFill>
                  <a:srgbClr val="C00000"/>
                </a:solidFill>
                <a:latin typeface="Bernard MT Condensed"/>
              </a:rPr>
              <a:t>3.</a:t>
            </a:r>
            <a:endParaRPr lang="zh-CN" altLang="en-US" sz="2800" i="1" dirty="0">
              <a:solidFill>
                <a:srgbClr val="C00000"/>
              </a:solidFill>
              <a:latin typeface="Bernard MT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1897524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5" grpId="0" animBg="1"/>
      <p:bldP spid="6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786842" y="6488668"/>
            <a:ext cx="5000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prstClr val="black"/>
                </a:solidFill>
                <a:latin typeface="黑体" pitchFamily="49" charset="-122"/>
                <a:ea typeface="黑体" pitchFamily="49" charset="-122"/>
              </a:rPr>
              <a:t>35</a:t>
            </a:r>
            <a:endParaRPr lang="zh-CN" altLang="en-US" sz="2000" dirty="0">
              <a:solidFill>
                <a:prstClr val="black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37667" y="4221088"/>
            <a:ext cx="7922765" cy="17543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kern="5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       </a:t>
            </a:r>
            <a:r>
              <a:rPr lang="zh-CN" altLang="en-US" sz="2400" kern="5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当</a:t>
            </a:r>
            <a:r>
              <a:rPr lang="zh-CN" altLang="zh-CN" sz="2400" kern="5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水和空气接触时，一方面水和空气之间</a:t>
            </a:r>
            <a:r>
              <a:rPr lang="zh-CN" altLang="en-US" sz="2400" kern="5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有</a:t>
            </a:r>
            <a:r>
              <a:rPr lang="zh-CN" altLang="zh-CN" sz="2400" kern="5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温差传热</a:t>
            </a:r>
            <a:r>
              <a:rPr lang="zh-CN" altLang="en-US" sz="2400" kern="5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（显热）</a:t>
            </a:r>
            <a:r>
              <a:rPr lang="zh-CN" altLang="zh-CN" sz="2400" kern="5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，另一方面水蒸发</a:t>
            </a:r>
            <a:r>
              <a:rPr lang="zh-CN" altLang="en-US" sz="2400" kern="5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气化</a:t>
            </a:r>
            <a:r>
              <a:rPr lang="zh-CN" altLang="zh-CN" sz="2400" kern="5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时又从水和空气中吸收热量</a:t>
            </a:r>
            <a:r>
              <a:rPr lang="zh-CN" altLang="en-US" sz="2400" kern="5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（潜热）</a:t>
            </a:r>
            <a:r>
              <a:rPr lang="zh-CN" altLang="zh-CN" sz="2400" kern="5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，蒸发后的水蒸气又被空气所吸收</a:t>
            </a:r>
            <a:r>
              <a:rPr lang="zh-CN" altLang="en-US" sz="2400" kern="5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（传质）</a:t>
            </a:r>
            <a:r>
              <a:rPr lang="zh-CN" altLang="zh-CN" sz="2400" kern="5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。</a:t>
            </a:r>
            <a:endParaRPr lang="zh-CN" altLang="en-US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62844" y="3565973"/>
            <a:ext cx="2339102" cy="46166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zh-CN" altLang="en-US" sz="2400" kern="5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热</a:t>
            </a:r>
            <a:r>
              <a:rPr lang="zh-CN" altLang="zh-CN" sz="2400" kern="5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质</a:t>
            </a:r>
            <a:r>
              <a:rPr lang="zh-CN" altLang="en-US" sz="2400" kern="5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交换机理：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537667" y="1257649"/>
            <a:ext cx="8064896" cy="2308324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zh-CN" altLang="en-US" sz="2400" kern="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zh-CN" altLang="zh-CN" sz="2400" kern="5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冷却塔</a:t>
            </a:r>
            <a:r>
              <a:rPr lang="zh-CN" altLang="zh-CN" sz="2400" kern="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顶部，接近饱和状态</a:t>
            </a:r>
            <a:r>
              <a:rPr lang="zh-CN" altLang="en-US" sz="2400" kern="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zh-CN" sz="2400" kern="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空气带着一定的水分及汽化潜热从塔顶排出，而冷却后的水则从塔底部流出，并与补充水一起被水泵再次输送到冷凝器中去。湿空气在冷却塔中经历的过程是</a:t>
            </a:r>
            <a:r>
              <a:rPr lang="zh-CN" altLang="zh-CN" sz="2400" kern="5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升温、增焓、增湿过程</a:t>
            </a:r>
            <a:r>
              <a:rPr lang="zh-CN" altLang="zh-CN" sz="2400" kern="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400" kern="5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0510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786842" y="6488668"/>
            <a:ext cx="5000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prstClr val="black"/>
                </a:solidFill>
                <a:latin typeface="黑体" pitchFamily="49" charset="-122"/>
                <a:ea typeface="黑体" pitchFamily="49" charset="-122"/>
              </a:rPr>
              <a:t>36</a:t>
            </a:r>
            <a:endParaRPr lang="zh-CN" altLang="en-US" sz="2000" dirty="0">
              <a:solidFill>
                <a:prstClr val="black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74415" y="1812880"/>
            <a:ext cx="8064896" cy="341632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kern="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冷却塔的冷却效果优于间壁式换热器</a:t>
            </a:r>
            <a:r>
              <a:rPr lang="zh-CN" altLang="zh-CN" sz="2800" kern="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。</a:t>
            </a:r>
            <a:endParaRPr lang="en-US" altLang="zh-CN" sz="2800" kern="5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/>
            </a:endParaRPr>
          </a:p>
          <a:p>
            <a:pPr>
              <a:lnSpc>
                <a:spcPct val="150000"/>
              </a:lnSpc>
            </a:pPr>
            <a:r>
              <a:rPr lang="zh-CN" altLang="en-US" sz="2800" kern="5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原因：冷却塔蒸发冷却理论上可以使</a:t>
            </a:r>
            <a:r>
              <a:rPr lang="zh-CN" altLang="en-US" sz="2800" kern="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热水冷却到接近空气的温度 </a:t>
            </a:r>
            <a:r>
              <a:rPr lang="en-US" altLang="zh-CN" sz="3200" b="1" i="1" kern="5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  <a:r>
              <a:rPr lang="zh-CN" altLang="en-US" sz="2800" kern="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，但水蒸发吸收水中的热量，所以</a:t>
            </a:r>
            <a:r>
              <a:rPr lang="zh-CN" altLang="en-US" sz="2800" kern="5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热水理论上可冷却到空气的湿球温度</a:t>
            </a:r>
            <a:r>
              <a:rPr lang="en-US" altLang="zh-CN" sz="2800" b="1" i="1" kern="500" dirty="0" err="1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  <a:r>
              <a:rPr lang="en-US" altLang="zh-CN" sz="2800" b="1" kern="500" baseline="-25000" dirty="0" err="1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w</a:t>
            </a:r>
            <a:r>
              <a:rPr lang="zh-CN" altLang="en-US" sz="2800" kern="5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，而间壁式换热器最低只能将热水冷却到接近空气的温度 </a:t>
            </a:r>
            <a:r>
              <a:rPr lang="en-US" altLang="zh-CN" sz="2800" b="1" i="1" kern="5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  <a:r>
              <a:rPr lang="zh-CN" altLang="en-US" sz="2800" b="1" kern="5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74415" y="1124744"/>
            <a:ext cx="4493538" cy="52322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zh-CN" altLang="en-US" sz="2800" kern="5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冷却塔蒸发冷却的优缺点：</a:t>
            </a:r>
            <a:endParaRPr lang="zh-CN" altLang="en-US" sz="2800" dirty="0">
              <a:solidFill>
                <a:prstClr val="black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474415" y="5157192"/>
            <a:ext cx="8064896" cy="662554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kern="5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缺点是水有蒸发损失，需要补充水。</a:t>
            </a:r>
            <a:endParaRPr lang="zh-CN" altLang="zh-CN" sz="2800" kern="5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01293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786842" y="6488668"/>
            <a:ext cx="5000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prstClr val="black"/>
                </a:solidFill>
                <a:latin typeface="黑体" pitchFamily="49" charset="-122"/>
                <a:ea typeface="黑体" pitchFamily="49" charset="-122"/>
              </a:rPr>
              <a:t>37</a:t>
            </a:r>
            <a:endParaRPr lang="zh-CN" altLang="en-US" sz="2000" dirty="0">
              <a:solidFill>
                <a:prstClr val="black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11635" y="1052736"/>
            <a:ext cx="23391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kern="5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绝热混合过程</a:t>
            </a:r>
            <a:endParaRPr lang="zh-CN" altLang="en-US" sz="28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90426" y="1700808"/>
            <a:ext cx="7992888" cy="168905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400" kern="5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为了提高空调的经济性，常采用室内回风和室外新风混合的方法，获得温度、湿度符合要求的空气。在混合过程中，气流与外界的热交换很少，故可看作绝热混合过程。</a:t>
            </a:r>
            <a:endParaRPr lang="zh-CN" altLang="zh-CN" sz="2400" kern="5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5964844"/>
              </p:ext>
            </p:extLst>
          </p:nvPr>
        </p:nvGraphicFramePr>
        <p:xfrm>
          <a:off x="4572000" y="3605670"/>
          <a:ext cx="2140585" cy="4920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34" r:id="rId3" imgW="825500" imgH="190500" progId="Equation.3">
                  <p:embed/>
                </p:oleObj>
              </mc:Choice>
              <mc:Fallback>
                <p:oleObj r:id="rId3" imgW="825500" imgH="1905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3605670"/>
                        <a:ext cx="2140585" cy="49208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6808848"/>
              </p:ext>
            </p:extLst>
          </p:nvPr>
        </p:nvGraphicFramePr>
        <p:xfrm>
          <a:off x="3979006" y="4365104"/>
          <a:ext cx="3113274" cy="5021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35" r:id="rId5" imgW="1180588" imgH="190417" progId="Equation.3">
                  <p:embed/>
                </p:oleObj>
              </mc:Choice>
              <mc:Fallback>
                <p:oleObj r:id="rId5" imgW="1180588" imgH="190417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9006" y="4365104"/>
                        <a:ext cx="3113274" cy="50214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611610" y="3615407"/>
            <a:ext cx="367240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根据干空气的质量守恒：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宋体" pitchFamily="2" charset="-122"/>
            </a:endParaRPr>
          </a:p>
        </p:txBody>
      </p:sp>
      <p:sp>
        <p:nvSpPr>
          <p:cNvPr id="12" name="Rectangle 6"/>
          <p:cNvSpPr>
            <a:spLocks noChangeArrowheads="1"/>
          </p:cNvSpPr>
          <p:nvPr/>
        </p:nvSpPr>
        <p:spPr bwMode="auto">
          <a:xfrm>
            <a:off x="611635" y="4407495"/>
            <a:ext cx="316835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水蒸气的质量守恒：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宋体" pitchFamily="2" charset="-122"/>
            </a:endParaRPr>
          </a:p>
        </p:txBody>
      </p:sp>
      <p:sp>
        <p:nvSpPr>
          <p:cNvPr id="13" name="Rectangle 7"/>
          <p:cNvSpPr>
            <a:spLocks noChangeArrowheads="1"/>
          </p:cNvSpPr>
          <p:nvPr/>
        </p:nvSpPr>
        <p:spPr bwMode="auto">
          <a:xfrm>
            <a:off x="611610" y="5271591"/>
            <a:ext cx="295465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湿空气的能量守恒：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宋体" pitchFamily="2" charset="-122"/>
            </a:endParaRPr>
          </a:p>
        </p:txBody>
      </p:sp>
      <p:sp>
        <p:nvSpPr>
          <p:cNvPr id="15" name="Rectangle 9"/>
          <p:cNvSpPr>
            <a:spLocks noChangeArrowheads="1"/>
          </p:cNvSpPr>
          <p:nvPr/>
        </p:nvSpPr>
        <p:spPr bwMode="auto">
          <a:xfrm>
            <a:off x="0" y="27813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华文宋体" pitchFamily="2" charset="-122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华文宋体" pitchFamily="2" charset="-122"/>
                <a:cs typeface="Times New Roman" pitchFamily="18" charset="0"/>
              </a:rPr>
              <a:t>     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6966635"/>
              </p:ext>
            </p:extLst>
          </p:nvPr>
        </p:nvGraphicFramePr>
        <p:xfrm>
          <a:off x="4007213" y="5229200"/>
          <a:ext cx="2941051" cy="5040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36" r:id="rId7" imgW="1117600" imgH="190500" progId="Equation.3">
                  <p:embed/>
                </p:oleObj>
              </mc:Choice>
              <mc:Fallback>
                <p:oleObj r:id="rId7" imgW="1117600" imgH="190500" progId="Equation.3">
                  <p:embed/>
                  <p:pic>
                    <p:nvPicPr>
                      <p:cNvPr id="0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7213" y="5229200"/>
                        <a:ext cx="2941051" cy="5040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矩形 13"/>
          <p:cNvSpPr/>
          <p:nvPr/>
        </p:nvSpPr>
        <p:spPr>
          <a:xfrm>
            <a:off x="40135" y="1105064"/>
            <a:ext cx="571500" cy="4667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zh-CN" sz="2800" i="1" dirty="0">
                <a:solidFill>
                  <a:schemeClr val="accent1"/>
                </a:solidFill>
                <a:latin typeface="Bernard MT Condensed"/>
              </a:rPr>
              <a:t> </a:t>
            </a:r>
            <a:r>
              <a:rPr lang="en-US" altLang="zh-CN" sz="2800" i="1" dirty="0">
                <a:solidFill>
                  <a:srgbClr val="C00000"/>
                </a:solidFill>
                <a:latin typeface="Bernard MT Condensed"/>
              </a:rPr>
              <a:t>4.</a:t>
            </a:r>
            <a:endParaRPr lang="zh-CN" altLang="en-US" sz="2800" i="1" dirty="0">
              <a:solidFill>
                <a:srgbClr val="C00000"/>
              </a:solidFill>
              <a:latin typeface="Bernard MT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977442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/>
      <p:bldP spid="12" grpId="0"/>
      <p:bldP spid="13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786842" y="6488668"/>
            <a:ext cx="5000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prstClr val="black"/>
                </a:solidFill>
                <a:latin typeface="黑体" pitchFamily="49" charset="-122"/>
                <a:ea typeface="黑体" pitchFamily="49" charset="-122"/>
              </a:rPr>
              <a:t>38</a:t>
            </a:r>
            <a:endParaRPr lang="zh-CN" altLang="en-US" sz="2000" dirty="0">
              <a:solidFill>
                <a:prstClr val="black"/>
              </a:solidFill>
              <a:latin typeface="黑体" pitchFamily="49" charset="-122"/>
              <a:ea typeface="黑体" pitchFamily="49" charset="-122"/>
            </a:endParaRP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9773110"/>
              </p:ext>
            </p:extLst>
          </p:nvPr>
        </p:nvGraphicFramePr>
        <p:xfrm>
          <a:off x="2896013" y="2132856"/>
          <a:ext cx="3351973" cy="1008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59" r:id="rId3" imgW="1269449" imgH="380835" progId="Equation.3">
                  <p:embed/>
                </p:oleObj>
              </mc:Choice>
              <mc:Fallback>
                <p:oleObj r:id="rId3" imgW="1269449" imgH="38083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6013" y="2132856"/>
                        <a:ext cx="3351973" cy="1008112"/>
                      </a:xfrm>
                      <a:prstGeom prst="rect">
                        <a:avLst/>
                      </a:prstGeom>
                      <a:solidFill>
                        <a:srgbClr val="FFCC99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269875" fontAlgn="base">
              <a:spcBef>
                <a:spcPct val="0"/>
              </a:spcBef>
              <a:spcAft>
                <a:spcPct val="0"/>
              </a:spcAft>
            </a:pPr>
            <a:r>
              <a:rPr lang="zh-CN" altLang="zh-CN" sz="1000">
                <a:solidFill>
                  <a:prstClr val="black"/>
                </a:solidFill>
                <a:latin typeface="Times New Roman" pitchFamily="18" charset="0"/>
                <a:ea typeface="华文宋体" pitchFamily="2" charset="-122"/>
                <a:cs typeface="Times New Roman" pitchFamily="18" charset="0"/>
              </a:rPr>
              <a:t>根据干空气的质量守恒：</a:t>
            </a:r>
            <a:endParaRPr lang="zh-CN" altLang="zh-CN">
              <a:solidFill>
                <a:prstClr val="black"/>
              </a:solidFill>
              <a:latin typeface="Arial" pitchFamily="34" charset="0"/>
              <a:cs typeface="宋体" pitchFamily="2" charset="-122"/>
            </a:endParaRPr>
          </a:p>
        </p:txBody>
      </p:sp>
      <p:sp>
        <p:nvSpPr>
          <p:cNvPr id="14" name="Rectangle 8"/>
          <p:cNvSpPr>
            <a:spLocks noChangeArrowheads="1"/>
          </p:cNvSpPr>
          <p:nvPr/>
        </p:nvSpPr>
        <p:spPr bwMode="auto">
          <a:xfrm>
            <a:off x="888950" y="1482550"/>
            <a:ext cx="4475138" cy="461665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由上述关系</a:t>
            </a:r>
            <a:r>
              <a:rPr lang="zh-CN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可得到如下关系式</a:t>
            </a:r>
            <a:endParaRPr lang="zh-CN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宋体" pitchFamily="2" charset="-122"/>
            </a:endParaRPr>
          </a:p>
        </p:txBody>
      </p:sp>
      <p:sp>
        <p:nvSpPr>
          <p:cNvPr id="15" name="Rectangle 9"/>
          <p:cNvSpPr>
            <a:spLocks noChangeArrowheads="1"/>
          </p:cNvSpPr>
          <p:nvPr/>
        </p:nvSpPr>
        <p:spPr bwMode="auto">
          <a:xfrm>
            <a:off x="0" y="27813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000">
              <a:solidFill>
                <a:prstClr val="black"/>
              </a:solidFill>
              <a:latin typeface="Times New Roman" pitchFamily="18" charset="0"/>
              <a:ea typeface="华文宋体" pitchFamily="2" charset="-122"/>
              <a:cs typeface="Times New Roman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000">
                <a:solidFill>
                  <a:prstClr val="black"/>
                </a:solidFill>
                <a:latin typeface="Times New Roman" pitchFamily="18" charset="0"/>
                <a:ea typeface="华文宋体" pitchFamily="2" charset="-122"/>
                <a:cs typeface="Times New Roman" pitchFamily="18" charset="0"/>
              </a:rPr>
              <a:t>     </a:t>
            </a:r>
            <a:endParaRPr lang="en-US" altLang="zh-CN">
              <a:solidFill>
                <a:prstClr val="black"/>
              </a:solidFill>
              <a:latin typeface="Arial" pitchFamily="34" charset="0"/>
              <a:cs typeface="宋体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899592" y="3429000"/>
            <a:ext cx="7560840" cy="230832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sz="2400" kern="500" spc="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</a:t>
            </a:r>
            <a:r>
              <a:rPr lang="zh-CN" altLang="zh-CN" sz="2400" kern="500" spc="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式表明，在</a:t>
            </a:r>
            <a:r>
              <a:rPr lang="en-US" altLang="zh-CN" sz="1600" kern="500" spc="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b="1" i="1" kern="500" spc="2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ω</a:t>
            </a:r>
            <a:r>
              <a:rPr lang="en-US" altLang="zh-CN" sz="2400" b="1" kern="500" spc="2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en-US" altLang="zh-CN" sz="2400" b="1" i="1" kern="500" spc="2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  <a:r>
              <a:rPr lang="en-US" altLang="zh-CN" sz="1400" b="1" i="1" kern="500" spc="2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zh-CN" sz="2400" kern="500" spc="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图上，如果把参与混合的两股湿空气的状态点</a:t>
            </a:r>
            <a:r>
              <a:rPr lang="en-US" altLang="zh-CN" sz="2400" b="1" kern="500" spc="2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zh-CN" sz="2400" b="1" kern="500" spc="2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400" b="1" kern="500" spc="2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zh-CN" sz="2400" kern="500" spc="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用直线相连，那么，混合后湿空气的状态点</a:t>
            </a:r>
            <a:r>
              <a:rPr lang="en-US" altLang="zh-CN" sz="2400" b="1" kern="500" spc="2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zh-CN" sz="2400" kern="500" spc="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也位于该直线上，而且</a:t>
            </a:r>
            <a:r>
              <a:rPr lang="en-US" altLang="zh-CN" sz="2400" b="1" kern="500" spc="2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zh-CN" b="1" kern="500" spc="2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—</a:t>
            </a:r>
            <a:r>
              <a:rPr lang="en-US" altLang="zh-CN" sz="2400" b="1" kern="500" spc="2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zh-CN" sz="2400" kern="500" spc="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线段与</a:t>
            </a:r>
            <a:r>
              <a:rPr lang="en-US" altLang="zh-CN" sz="2400" b="1" kern="500" spc="2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zh-CN" b="1" kern="500" spc="2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—</a:t>
            </a:r>
            <a:r>
              <a:rPr lang="en-US" altLang="zh-CN" sz="2400" b="1" kern="500" spc="2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zh-CN" sz="2400" kern="500" spc="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线段的长度比等于</a:t>
            </a:r>
            <a:r>
              <a:rPr lang="en-US" altLang="zh-CN" sz="2400" b="1" i="1" kern="500" spc="2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</a:t>
            </a:r>
            <a:r>
              <a:rPr lang="en-US" altLang="zh-CN" sz="2400" b="1" kern="500" spc="20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a2</a:t>
            </a:r>
            <a:r>
              <a:rPr lang="zh-CN" altLang="zh-CN" sz="2400" kern="500" spc="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sz="2400" b="1" i="1" kern="500" spc="2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</a:t>
            </a:r>
            <a:r>
              <a:rPr lang="en-US" altLang="zh-CN" sz="2400" b="1" kern="500" spc="20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a1</a:t>
            </a:r>
            <a:r>
              <a:rPr lang="zh-CN" altLang="zh-CN" sz="2400" kern="500" spc="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的比</a:t>
            </a:r>
            <a:r>
              <a:rPr lang="zh-CN" altLang="en-US" sz="2400" kern="500" spc="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400" kern="5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7008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11560" y="1562467"/>
            <a:ext cx="347528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800" kern="5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湿空气绝热混合过程</a:t>
            </a:r>
            <a:endParaRPr lang="en-US" altLang="zh-CN" sz="2800" kern="500" dirty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2800" kern="5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如图所示。</a:t>
            </a:r>
            <a:endParaRPr lang="en-US" altLang="zh-CN" sz="2800" b="1" kern="500" dirty="0">
              <a:solidFill>
                <a:srgbClr val="000000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786842" y="6488668"/>
            <a:ext cx="5000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prstClr val="black"/>
                </a:solidFill>
                <a:latin typeface="黑体" pitchFamily="49" charset="-122"/>
                <a:ea typeface="黑体" pitchFamily="49" charset="-122"/>
              </a:rPr>
              <a:t>39</a:t>
            </a:r>
            <a:endParaRPr lang="zh-CN" altLang="en-US" sz="2000" dirty="0">
              <a:solidFill>
                <a:prstClr val="black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11560" y="4509120"/>
            <a:ext cx="7920880" cy="138499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zh-CN" altLang="en-US" sz="2800" kern="5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因此，用图解法确定两股湿空气混合后的状态点非常方便。</a:t>
            </a:r>
          </a:p>
        </p:txBody>
      </p:sp>
      <p:pic>
        <p:nvPicPr>
          <p:cNvPr id="39938" name="Picture 2" descr="0608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0" y="1529820"/>
            <a:ext cx="3024336" cy="26336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03418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786842" y="6488668"/>
            <a:ext cx="5000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prstClr val="black"/>
                </a:solidFill>
                <a:latin typeface="黑体" pitchFamily="49" charset="-122"/>
                <a:ea typeface="黑体" pitchFamily="49" charset="-122"/>
              </a:rPr>
              <a:t>40</a:t>
            </a:r>
            <a:endParaRPr lang="zh-CN" altLang="en-US" sz="2000" dirty="0">
              <a:solidFill>
                <a:prstClr val="black"/>
              </a:solidFill>
              <a:latin typeface="黑体" pitchFamily="49" charset="-122"/>
              <a:ea typeface="黑体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2"/>
              <p:cNvSpPr>
                <a:spLocks noChangeArrowheads="1"/>
              </p:cNvSpPr>
              <p:nvPr/>
            </p:nvSpPr>
            <p:spPr bwMode="auto">
              <a:xfrm>
                <a:off x="609650" y="1183392"/>
                <a:ext cx="8175282" cy="267765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lvl="0" fontAlgn="base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zh-CN" altLang="zh-CN" sz="2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itchFamily="18" charset="0"/>
                  </a:rPr>
                  <a:t>例</a:t>
                </a:r>
                <a:r>
                  <a:rPr kumimoji="0" lang="en-US" altLang="zh-CN" sz="2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itchFamily="18" charset="0"/>
                  </a:rPr>
                  <a:t>2  </a:t>
                </a:r>
                <a:r>
                  <a:rPr kumimoji="0" lang="zh-CN" altLang="en-US" sz="2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itchFamily="18" charset="0"/>
                  </a:rPr>
                  <a:t>大气压力</a:t>
                </a:r>
                <a:r>
                  <a:rPr kumimoji="0" lang="en-US" altLang="zh-CN" sz="2800" i="1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p</a:t>
                </a:r>
                <a:r>
                  <a:rPr kumimoji="0" lang="zh-CN" altLang="en-US" sz="280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＝</a:t>
                </a:r>
                <a:r>
                  <a:rPr kumimoji="0" lang="en-US" altLang="zh-CN" sz="280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0.1</a:t>
                </a:r>
                <a:r>
                  <a:rPr kumimoji="0" lang="en-US" altLang="zh-CN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itchFamily="18" charset="2"/>
                  </a:rPr>
                  <a:t></a:t>
                </a:r>
                <a:r>
                  <a:rPr kumimoji="0" lang="en-US" altLang="zh-CN" sz="280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MPa</a:t>
                </a:r>
                <a:r>
                  <a:rPr kumimoji="0" lang="zh-CN" altLang="en-US" sz="2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itchFamily="18" charset="0"/>
                    <a:sym typeface="Symbol" pitchFamily="18" charset="2"/>
                  </a:rPr>
                  <a:t>，室外空气温度</a:t>
                </a:r>
                <a:r>
                  <a:rPr kumimoji="0" lang="en-US" altLang="zh-CN" sz="2800" i="1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itchFamily="18" charset="2"/>
                  </a:rPr>
                  <a:t>t</a:t>
                </a:r>
                <a:r>
                  <a:rPr kumimoji="0" lang="en-US" altLang="zh-CN" sz="2800" i="0" u="none" strike="noStrike" cap="none" normalizeH="0" baseline="-30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itchFamily="18" charset="2"/>
                  </a:rPr>
                  <a:t>1</a:t>
                </a:r>
                <a:r>
                  <a:rPr kumimoji="0" lang="zh-CN" altLang="en-US" sz="280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itchFamily="18" charset="2"/>
                  </a:rPr>
                  <a:t>＝</a:t>
                </a:r>
                <a:r>
                  <a:rPr kumimoji="0" lang="en-US" altLang="zh-CN" sz="280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itchFamily="18" charset="2"/>
                  </a:rPr>
                  <a:t>34</a:t>
                </a:r>
                <a:r>
                  <a:rPr kumimoji="0" lang="en-US" altLang="zh-CN" sz="280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C</a:t>
                </a:r>
                <a:r>
                  <a:rPr kumimoji="0" lang="zh-CN" altLang="en-US" sz="2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itchFamily="18" charset="2"/>
                  </a:rPr>
                  <a:t>，相对湿度 </a:t>
                </a:r>
                <a:r>
                  <a:rPr kumimoji="0" lang="zh-CN" altLang="en-US" sz="2800" i="1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itchFamily="18" charset="2"/>
                  </a:rPr>
                  <a:t></a:t>
                </a:r>
                <a:r>
                  <a:rPr kumimoji="0" lang="en-US" altLang="zh-CN" sz="2800" i="0" u="none" strike="noStrike" cap="none" normalizeH="0" baseline="-30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1</a:t>
                </a:r>
                <a:r>
                  <a:rPr kumimoji="0" lang="zh-CN" altLang="en-US" sz="280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itchFamily="18" charset="2"/>
                  </a:rPr>
                  <a:t>＝</a:t>
                </a:r>
                <a:r>
                  <a:rPr kumimoji="0" lang="en-US" altLang="zh-CN" sz="280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itchFamily="18" charset="2"/>
                  </a:rPr>
                  <a:t>70</a:t>
                </a:r>
                <a:r>
                  <a:rPr kumimoji="0" lang="en-US" altLang="zh-CN" sz="280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itchFamily="18" charset="2"/>
                  </a:rPr>
                  <a:t>%</a:t>
                </a:r>
                <a:r>
                  <a:rPr kumimoji="0" lang="zh-CN" altLang="en-US" sz="2800" b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itchFamily="18" charset="2"/>
                  </a:rPr>
                  <a:t>，</a:t>
                </a:r>
                <a:r>
                  <a:rPr lang="zh-CN" altLang="en-US" sz="28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itchFamily="18" charset="2"/>
                  </a:rPr>
                  <a:t>要求</a:t>
                </a:r>
                <a:r>
                  <a:rPr kumimoji="0" lang="zh-CN" altLang="en-US" sz="2800" b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itchFamily="18" charset="2"/>
                  </a:rPr>
                  <a:t>室内空气温度 </a:t>
                </a:r>
                <a:r>
                  <a:rPr kumimoji="0" lang="en-US" altLang="zh-CN" sz="2800" i="1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itchFamily="18" charset="2"/>
                  </a:rPr>
                  <a:t>t</a:t>
                </a:r>
                <a:r>
                  <a:rPr kumimoji="0" lang="en-US" altLang="zh-CN" sz="2800" i="0" u="none" strike="noStrike" cap="none" normalizeH="0" baseline="-30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itchFamily="18" charset="2"/>
                  </a:rPr>
                  <a:t>3</a:t>
                </a:r>
                <a:r>
                  <a:rPr kumimoji="0" lang="zh-CN" altLang="en-US" sz="280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itchFamily="18" charset="2"/>
                  </a:rPr>
                  <a:t>＝</a:t>
                </a:r>
                <a:r>
                  <a:rPr kumimoji="0" lang="en-US" altLang="zh-CN" sz="280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itchFamily="18" charset="2"/>
                  </a:rPr>
                  <a:t>25</a:t>
                </a:r>
                <a:r>
                  <a:rPr kumimoji="0" lang="en-US" altLang="zh-CN" sz="280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C</a:t>
                </a:r>
                <a:r>
                  <a:rPr kumimoji="0" lang="zh-CN" altLang="en-US" sz="2800" b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itchFamily="18" charset="2"/>
                  </a:rPr>
                  <a:t>，相对湿度</a:t>
                </a:r>
                <a:r>
                  <a:rPr kumimoji="0" lang="zh-CN" altLang="en-US" sz="2800" i="1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itchFamily="18" charset="2"/>
                  </a:rPr>
                  <a:t></a:t>
                </a:r>
                <a:r>
                  <a:rPr kumimoji="0" lang="en-US" altLang="zh-CN" sz="2800" i="0" u="none" strike="noStrike" cap="none" normalizeH="0" baseline="-30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3</a:t>
                </a:r>
                <a:r>
                  <a:rPr kumimoji="0" lang="zh-CN" altLang="en-US" sz="280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itchFamily="18" charset="2"/>
                  </a:rPr>
                  <a:t>＝</a:t>
                </a:r>
                <a:r>
                  <a:rPr kumimoji="0" lang="en-US" altLang="zh-CN" sz="280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itchFamily="18" charset="2"/>
                  </a:rPr>
                  <a:t>60</a:t>
                </a:r>
                <a:r>
                  <a:rPr kumimoji="0" lang="en-US" altLang="zh-CN" sz="280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itchFamily="18" charset="2"/>
                  </a:rPr>
                  <a:t>%</a:t>
                </a:r>
                <a:r>
                  <a:rPr kumimoji="0" lang="zh-CN" altLang="en-US" sz="2800" b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itchFamily="18" charset="2"/>
                  </a:rPr>
                  <a:t>，</a:t>
                </a:r>
                <a:r>
                  <a:rPr kumimoji="0" lang="zh-CN" altLang="en-US" sz="2800" b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itchFamily="18" charset="0"/>
                    <a:sym typeface="Symbol" pitchFamily="18" charset="2"/>
                  </a:rPr>
                  <a:t>空气供应量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kumimoji="0" lang="en-US" altLang="zh-CN" sz="28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itchFamily="18" charset="0"/>
                            <a:sym typeface="Symbol" pitchFamily="18" charset="2"/>
                          </a:rPr>
                        </m:ctrlPr>
                      </m:accPr>
                      <m:e>
                        <m:r>
                          <a:rPr kumimoji="0" lang="en-US" altLang="zh-CN" sz="28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/>
                            <a:ea typeface="微软雅黑" panose="020B0503020204020204" pitchFamily="34" charset="-122"/>
                            <a:cs typeface="Times New Roman" pitchFamily="18" charset="0"/>
                            <a:sym typeface="Symbol" pitchFamily="18" charset="2"/>
                          </a:rPr>
                          <m:t>𝑚</m:t>
                        </m:r>
                      </m:e>
                    </m:acc>
                  </m:oMath>
                </a14:m>
                <a:r>
                  <a:rPr kumimoji="0" lang="en-US" altLang="zh-CN" sz="2800" b="0" u="none" strike="noStrik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itchFamily="18" charset="2"/>
                  </a:rPr>
                  <a:t>a</a:t>
                </a:r>
                <a:r>
                  <a:rPr kumimoji="0" lang="en-US" altLang="zh-CN" sz="2800" b="0" u="none" strike="noStrike" normalizeH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itchFamily="18" charset="0"/>
                    <a:sym typeface="Symbol" pitchFamily="18" charset="2"/>
                  </a:rPr>
                  <a:t>=</a:t>
                </a:r>
                <a:r>
                  <a:rPr kumimoji="0" lang="en-US" altLang="zh-CN" sz="2800" b="0" u="none" strike="noStrike" normalizeH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itchFamily="18" charset="2"/>
                  </a:rPr>
                  <a:t>50kg/min</a:t>
                </a:r>
                <a:r>
                  <a:rPr kumimoji="0" lang="zh-CN" altLang="en-US" sz="2800" b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  <a:sym typeface="Symbol" pitchFamily="18" charset="2"/>
                  </a:rPr>
                  <a:t>，</a:t>
                </a:r>
                <a:r>
                  <a:rPr lang="zh-CN" altLang="zh-CN" sz="28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itchFamily="18" charset="0"/>
                  </a:rPr>
                  <a:t>试计算：</a:t>
                </a:r>
                <a:endParaRPr kumimoji="0" lang="zh-CN" altLang="en-US" sz="2800" b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  <a:sym typeface="Symbol" pitchFamily="18" charset="2"/>
                </a:endParaRPr>
              </a:p>
            </p:txBody>
          </p:sp>
        </mc:Choice>
        <mc:Fallback xmlns="">
          <p:sp>
            <p:nvSpPr>
              <p:cNvPr id="2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9650" y="1183392"/>
                <a:ext cx="8175282" cy="2677656"/>
              </a:xfrm>
              <a:prstGeom prst="rect">
                <a:avLst/>
              </a:prstGeom>
              <a:blipFill rotWithShape="1">
                <a:blip r:embed="rId2"/>
                <a:stretch>
                  <a:fillRect l="-1491" r="-3430" b="-3189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467544" y="3861048"/>
            <a:ext cx="7848872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（</a:t>
            </a:r>
            <a:r>
              <a:rPr kumimoji="0" lang="en-US" altLang="zh-CN" sz="28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1</a:t>
            </a:r>
            <a:r>
              <a:rPr kumimoji="0" lang="zh-CN" altLang="en-US" sz="28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）每分钟需要除去的水分；</a:t>
            </a:r>
            <a:endParaRPr kumimoji="0" lang="en-US" altLang="zh-CN" sz="2800" b="0" i="0" u="none" strike="noStrike" cap="none" normalizeH="0" baseline="0" dirty="0">
              <a:ln>
                <a:noFill/>
              </a:ln>
              <a:solidFill>
                <a:srgbClr val="0000FF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  <a:p>
            <a:pPr marL="0" marR="0" lvl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800" b="0" i="0" u="none" strike="noStrike" cap="none" normalizeH="0" baseline="0" dirty="0">
                <a:ln>
                  <a:noFill/>
                </a:ln>
                <a:solidFill>
                  <a:srgbClr val="9933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（</a:t>
            </a:r>
            <a:r>
              <a:rPr kumimoji="0" lang="en-US" altLang="zh-CN" sz="2800" b="0" i="0" u="none" strike="noStrike" cap="none" normalizeH="0" baseline="0" dirty="0">
                <a:ln>
                  <a:noFill/>
                </a:ln>
                <a:solidFill>
                  <a:srgbClr val="9933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2</a:t>
            </a:r>
            <a:r>
              <a:rPr kumimoji="0" lang="zh-CN" altLang="en-US" sz="2800" b="0" i="0" u="none" strike="noStrike" cap="none" normalizeH="0" baseline="0" dirty="0">
                <a:ln>
                  <a:noFill/>
                </a:ln>
                <a:solidFill>
                  <a:srgbClr val="9933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）每分钟冷却介质应带走的热量；</a:t>
            </a:r>
            <a:endParaRPr kumimoji="0" lang="en-US" altLang="zh-CN" sz="2800" b="0" i="0" u="none" strike="noStrike" cap="none" normalizeH="0" baseline="0" dirty="0">
              <a:ln>
                <a:noFill/>
              </a:ln>
              <a:solidFill>
                <a:srgbClr val="9933FF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  <a:p>
            <a:pPr marL="0" marR="0" lvl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8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（</a:t>
            </a:r>
            <a:r>
              <a:rPr kumimoji="0" lang="en-US" altLang="zh-CN" sz="28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3</a:t>
            </a:r>
            <a:r>
              <a:rPr kumimoji="0" lang="zh-CN" altLang="en-US" sz="28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）每分钟加热器加入的热量。</a:t>
            </a:r>
            <a:endParaRPr kumimoji="0" lang="zh-CN" altLang="en-US" sz="2800" b="0" i="0" u="none" strike="noStrike" cap="none" normalizeH="0" baseline="0" dirty="0">
              <a:ln>
                <a:noFill/>
              </a:ln>
              <a:solidFill>
                <a:srgbClr val="0000FF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34396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786842" y="6488668"/>
            <a:ext cx="5000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prstClr val="black"/>
                </a:solidFill>
                <a:latin typeface="黑体" pitchFamily="49" charset="-122"/>
                <a:ea typeface="黑体" pitchFamily="49" charset="-122"/>
              </a:rPr>
              <a:t>40</a:t>
            </a:r>
            <a:endParaRPr lang="zh-CN" altLang="en-US" sz="2000" dirty="0">
              <a:solidFill>
                <a:prstClr val="black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22622" y="1270567"/>
            <a:ext cx="7981825" cy="13161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800" b="1" kern="500" dirty="0">
                <a:solidFill>
                  <a:prstClr val="black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解</a:t>
            </a:r>
            <a:r>
              <a:rPr lang="zh-CN" altLang="en-US" sz="2800" kern="500" dirty="0">
                <a:solidFill>
                  <a:prstClr val="black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：</a:t>
            </a:r>
            <a:r>
              <a:rPr lang="zh-CN" altLang="zh-CN" sz="28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空调过程如</a:t>
            </a:r>
            <a:r>
              <a:rPr lang="en-US" altLang="zh-CN" sz="28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6-4</a:t>
            </a:r>
            <a:r>
              <a:rPr lang="zh-CN" altLang="zh-CN" sz="28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所述，即先冷却去湿，然后再定压加热。</a:t>
            </a:r>
            <a:endParaRPr lang="zh-CN" altLang="en-US" dirty="0">
              <a:solidFill>
                <a:srgbClr val="0000FF"/>
              </a:solidFill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755576" y="2636912"/>
            <a:ext cx="4554505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由</a:t>
            </a:r>
            <a:r>
              <a:rPr kumimoji="0" lang="en-US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 </a:t>
            </a:r>
            <a:r>
              <a:rPr kumimoji="0" lang="en-US" altLang="zh-CN" sz="2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华文宋体" pitchFamily="2" charset="-122"/>
                <a:cs typeface="Times New Roman" pitchFamily="18" charset="0"/>
              </a:rPr>
              <a:t>t</a:t>
            </a:r>
            <a:r>
              <a:rPr kumimoji="0" lang="en-US" altLang="zh-CN" sz="28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华文宋体" pitchFamily="2" charset="-122"/>
                <a:cs typeface="Times New Roman" pitchFamily="18" charset="0"/>
              </a:rPr>
              <a:t>1</a:t>
            </a:r>
            <a:r>
              <a:rPr kumimoji="0" lang="zh-CN" altLang="en-US" sz="2800" b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华文宋体" pitchFamily="2" charset="-122"/>
                <a:cs typeface="Times New Roman" pitchFamily="18" charset="0"/>
              </a:rPr>
              <a:t>＝</a:t>
            </a:r>
            <a:r>
              <a:rPr kumimoji="0" lang="en-US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华文宋体" pitchFamily="2" charset="-122"/>
                <a:cs typeface="Times New Roman" pitchFamily="18" charset="0"/>
              </a:rPr>
              <a:t>34</a:t>
            </a:r>
            <a:r>
              <a:rPr kumimoji="0" lang="en-US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华文宋体" pitchFamily="2" charset="-122"/>
                <a:cs typeface="Times New Roman" pitchFamily="18" charset="0"/>
                <a:sym typeface="Symbol" pitchFamily="18" charset="2"/>
              </a:rPr>
              <a:t></a:t>
            </a:r>
            <a:r>
              <a:rPr kumimoji="0" lang="en-US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华文宋体" pitchFamily="2" charset="-122"/>
                <a:cs typeface="Times New Roman" pitchFamily="18" charset="0"/>
              </a:rPr>
              <a:t>C</a:t>
            </a:r>
            <a:r>
              <a:rPr kumimoji="0" lang="zh-CN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华文宋体" pitchFamily="2" charset="-122"/>
                <a:cs typeface="Times New Roman" pitchFamily="18" charset="0"/>
                <a:sym typeface="Symbol" pitchFamily="18" charset="2"/>
              </a:rPr>
              <a:t>，</a:t>
            </a:r>
            <a:r>
              <a:rPr kumimoji="0" lang="zh-CN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  <a:sym typeface="Symbol" pitchFamily="18" charset="2"/>
              </a:rPr>
              <a:t>相对湿度</a:t>
            </a:r>
            <a:r>
              <a:rPr kumimoji="0" lang="zh-CN" altLang="en-US" sz="2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华文宋体" pitchFamily="2" charset="-122"/>
                <a:cs typeface="Times New Roman" pitchFamily="18" charset="0"/>
                <a:sym typeface="Symbol" pitchFamily="18" charset="2"/>
              </a:rPr>
              <a:t></a:t>
            </a:r>
            <a:r>
              <a:rPr kumimoji="0" lang="zh-CN" altLang="en-US" sz="2800" b="0" i="1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华文宋体" pitchFamily="2" charset="-122"/>
                <a:cs typeface="Times New Roman" pitchFamily="18" charset="0"/>
              </a:rPr>
              <a:t> </a:t>
            </a:r>
            <a:r>
              <a:rPr kumimoji="0" lang="en-US" altLang="zh-CN" sz="28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华文宋体" pitchFamily="2" charset="-122"/>
                <a:cs typeface="Times New Roman" pitchFamily="18" charset="0"/>
                <a:sym typeface="Symbol" pitchFamily="18" charset="2"/>
              </a:rPr>
              <a:t>1</a:t>
            </a:r>
            <a:r>
              <a:rPr kumimoji="0" lang="zh-CN" altLang="en-US" sz="2800" b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华文宋体" pitchFamily="2" charset="-122"/>
                <a:cs typeface="Times New Roman" pitchFamily="18" charset="0"/>
                <a:sym typeface="Symbol" pitchFamily="18" charset="2"/>
              </a:rPr>
              <a:t>＝</a:t>
            </a:r>
            <a:r>
              <a:rPr kumimoji="0" lang="en-US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华文宋体" pitchFamily="2" charset="-122"/>
                <a:cs typeface="Times New Roman" pitchFamily="18" charset="0"/>
                <a:sym typeface="Symbol" pitchFamily="18" charset="2"/>
              </a:rPr>
              <a:t>70</a:t>
            </a:r>
            <a:r>
              <a:rPr kumimoji="0" lang="en-US" altLang="zh-CN" sz="2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方正楷体简体" charset="-122"/>
                <a:cs typeface="Times New Roman" pitchFamily="18" charset="0"/>
                <a:sym typeface="Symbol" pitchFamily="18" charset="2"/>
              </a:rPr>
              <a:t>%</a:t>
            </a:r>
            <a:r>
              <a:rPr kumimoji="0" lang="zh-CN" altLang="en-US" sz="2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华文宋体" pitchFamily="2" charset="-122"/>
                <a:cs typeface="Times New Roman" pitchFamily="18" charset="0"/>
                <a:sym typeface="Symbol" pitchFamily="18" charset="2"/>
              </a:rPr>
              <a:t>，</a:t>
            </a:r>
            <a:r>
              <a:rPr kumimoji="0" lang="zh-CN" altLang="en-US" sz="2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  <a:sym typeface="Symbol" pitchFamily="18" charset="2"/>
              </a:rPr>
              <a:t>在 </a:t>
            </a:r>
            <a:r>
              <a:rPr kumimoji="0" lang="en-US" altLang="zh-CN" sz="2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华文宋体" pitchFamily="2" charset="-122"/>
                <a:cs typeface="Times New Roman" pitchFamily="18" charset="0"/>
                <a:sym typeface="Symbol" pitchFamily="18" charset="2"/>
              </a:rPr>
              <a:t>ω</a:t>
            </a:r>
            <a:r>
              <a:rPr kumimoji="0" lang="en-US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华文宋体" pitchFamily="2" charset="-122"/>
                <a:cs typeface="Times New Roman" pitchFamily="18" charset="0"/>
                <a:sym typeface="Symbol" pitchFamily="18" charset="2"/>
              </a:rPr>
              <a:t>-</a:t>
            </a:r>
            <a:r>
              <a:rPr kumimoji="0" lang="en-US" altLang="zh-CN" sz="2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华文宋体" pitchFamily="2" charset="-122"/>
                <a:cs typeface="Times New Roman" pitchFamily="18" charset="0"/>
                <a:sym typeface="Symbol" pitchFamily="18" charset="2"/>
              </a:rPr>
              <a:t>t </a:t>
            </a:r>
            <a:r>
              <a:rPr kumimoji="0" lang="zh-CN" altLang="en-US" sz="2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  <a:sym typeface="Symbol" pitchFamily="18" charset="2"/>
              </a:rPr>
              <a:t>图上确定状态点</a:t>
            </a:r>
            <a:r>
              <a:rPr kumimoji="0" lang="en-US" altLang="zh-CN" sz="2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  <a:sym typeface="Symbol" pitchFamily="18" charset="2"/>
              </a:rPr>
              <a:t>1</a:t>
            </a:r>
            <a:r>
              <a:rPr kumimoji="0" lang="zh-CN" altLang="en-US" sz="2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  <a:sym typeface="Symbol" pitchFamily="18" charset="2"/>
              </a:rPr>
              <a:t>，并查得</a:t>
            </a:r>
            <a:endParaRPr kumimoji="0" lang="zh-CN" altLang="en-US" sz="2800" b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宋体" pitchFamily="2" charset="-122"/>
              <a:sym typeface="Symbol" pitchFamily="18" charset="2"/>
            </a:endParaRPr>
          </a:p>
          <a:p>
            <a:pPr marL="0" marR="0" lvl="0" indent="26987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华文宋体" pitchFamily="2" charset="-122"/>
                <a:cs typeface="Times New Roman" pitchFamily="18" charset="0"/>
                <a:sym typeface="Symbol" pitchFamily="18" charset="2"/>
              </a:rPr>
              <a:t>ω</a:t>
            </a:r>
            <a:r>
              <a:rPr kumimoji="0" lang="en-US" altLang="zh-CN" sz="28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华文宋体" pitchFamily="2" charset="-122"/>
                <a:cs typeface="Times New Roman" pitchFamily="18" charset="0"/>
                <a:sym typeface="Symbol" pitchFamily="18" charset="2"/>
              </a:rPr>
              <a:t>1</a:t>
            </a:r>
            <a:r>
              <a:rPr kumimoji="0" lang="zh-CN" altLang="en-US" sz="2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华文宋体" pitchFamily="2" charset="-122"/>
                <a:cs typeface="Times New Roman" pitchFamily="18" charset="0"/>
                <a:sym typeface="Symbol" pitchFamily="18" charset="2"/>
              </a:rPr>
              <a:t>＝</a:t>
            </a:r>
            <a:r>
              <a:rPr kumimoji="0" lang="en-US" altLang="zh-CN" sz="2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华文宋体" pitchFamily="2" charset="-122"/>
                <a:cs typeface="Times New Roman" pitchFamily="18" charset="0"/>
                <a:sym typeface="Symbol" pitchFamily="18" charset="2"/>
              </a:rPr>
              <a:t>0.023</a:t>
            </a:r>
            <a:r>
              <a:rPr kumimoji="0" lang="en-US" altLang="zh-CN" sz="2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华文宋体" pitchFamily="2" charset="-122"/>
                <a:cs typeface="Times New Roman" pitchFamily="18" charset="0"/>
              </a:rPr>
              <a:t>5</a:t>
            </a:r>
            <a:r>
              <a:rPr kumimoji="0" lang="en-US" altLang="zh-CN" sz="2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华文宋体" pitchFamily="2" charset="-122"/>
                <a:cs typeface="Times New Roman" pitchFamily="18" charset="0"/>
                <a:sym typeface="Symbol" pitchFamily="18" charset="2"/>
              </a:rPr>
              <a:t></a:t>
            </a:r>
            <a:r>
              <a:rPr kumimoji="0" lang="en-US" altLang="zh-CN" sz="2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华文宋体" pitchFamily="2" charset="-122"/>
                <a:cs typeface="Times New Roman" pitchFamily="18" charset="0"/>
              </a:rPr>
              <a:t>k</a:t>
            </a:r>
            <a:r>
              <a:rPr kumimoji="0" lang="en-US" altLang="zh-CN" sz="2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华文宋体" pitchFamily="2" charset="-122"/>
                <a:cs typeface="Times New Roman" pitchFamily="18" charset="0"/>
                <a:sym typeface="Symbol" pitchFamily="18" charset="2"/>
              </a:rPr>
              <a:t>g/kg(a)</a:t>
            </a:r>
            <a:r>
              <a:rPr kumimoji="0" lang="zh-CN" altLang="en-US" sz="2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华文宋体" pitchFamily="2" charset="-122"/>
                <a:cs typeface="Times New Roman" pitchFamily="18" charset="0"/>
                <a:sym typeface="Symbol" pitchFamily="18" charset="2"/>
              </a:rPr>
              <a:t>，</a:t>
            </a:r>
            <a:endParaRPr kumimoji="0" lang="en-US" altLang="zh-CN" sz="28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华文宋体" pitchFamily="2" charset="-122"/>
              <a:cs typeface="Times New Roman" pitchFamily="18" charset="0"/>
              <a:sym typeface="Symbol" pitchFamily="18" charset="2"/>
            </a:endParaRPr>
          </a:p>
          <a:p>
            <a:pPr marL="0" marR="0" lvl="0" indent="26987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华文宋体" pitchFamily="2" charset="-122"/>
                <a:cs typeface="Times New Roman" pitchFamily="18" charset="0"/>
                <a:sym typeface="Symbol" pitchFamily="18" charset="2"/>
              </a:rPr>
              <a:t>h</a:t>
            </a:r>
            <a:r>
              <a:rPr kumimoji="0" lang="en-US" altLang="zh-CN" sz="28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华文宋体" pitchFamily="2" charset="-122"/>
                <a:cs typeface="Times New Roman" pitchFamily="18" charset="0"/>
                <a:sym typeface="Symbol" pitchFamily="18" charset="2"/>
              </a:rPr>
              <a:t>1</a:t>
            </a:r>
            <a:r>
              <a:rPr kumimoji="0" lang="zh-CN" altLang="en-US" sz="2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华文宋体" pitchFamily="2" charset="-122"/>
                <a:cs typeface="Times New Roman" pitchFamily="18" charset="0"/>
                <a:sym typeface="Symbol" pitchFamily="18" charset="2"/>
              </a:rPr>
              <a:t>＝</a:t>
            </a:r>
            <a:r>
              <a:rPr kumimoji="0" lang="en-US" altLang="zh-CN" sz="2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华文宋体" pitchFamily="2" charset="-122"/>
                <a:cs typeface="Times New Roman" pitchFamily="18" charset="0"/>
                <a:sym typeface="Symbol" pitchFamily="18" charset="2"/>
              </a:rPr>
              <a:t>94.8</a:t>
            </a:r>
            <a:r>
              <a:rPr kumimoji="0" lang="en-US" altLang="zh-CN" sz="2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华文宋体" pitchFamily="2" charset="-122"/>
                <a:cs typeface="Times New Roman" pitchFamily="18" charset="0"/>
              </a:rPr>
              <a:t>kJ/kg(a)</a:t>
            </a:r>
            <a:endParaRPr kumimoji="0" lang="en-US" altLang="zh-CN" sz="2800" b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华文宋体" pitchFamily="2" charset="-122"/>
              <a:cs typeface="Times New Roman" pitchFamily="18" charset="0"/>
              <a:sym typeface="Symbol" pitchFamily="18" charset="2"/>
            </a:endParaRPr>
          </a:p>
        </p:txBody>
      </p:sp>
      <p:pic>
        <p:nvPicPr>
          <p:cNvPr id="5017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104" y="2780928"/>
            <a:ext cx="2905125" cy="240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07891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786842" y="6488668"/>
            <a:ext cx="5000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prstClr val="black"/>
                </a:solidFill>
                <a:latin typeface="黑体" pitchFamily="49" charset="-122"/>
                <a:ea typeface="黑体" pitchFamily="49" charset="-122"/>
              </a:rPr>
              <a:t>40</a:t>
            </a:r>
            <a:endParaRPr lang="zh-CN" altLang="en-US" sz="2000" dirty="0">
              <a:solidFill>
                <a:prstClr val="black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611561" y="1340767"/>
            <a:ext cx="4176464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由</a:t>
            </a:r>
            <a:r>
              <a:rPr lang="en-US" altLang="zh-CN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 </a:t>
            </a:r>
            <a:r>
              <a:rPr lang="en-US" altLang="zh-CN" sz="2800" i="1" dirty="0">
                <a:solidFill>
                  <a:prstClr val="black"/>
                </a:solidFill>
                <a:latin typeface="Times New Roman" pitchFamily="18" charset="0"/>
                <a:ea typeface="华文宋体" pitchFamily="2" charset="-122"/>
                <a:cs typeface="Times New Roman" pitchFamily="18" charset="0"/>
              </a:rPr>
              <a:t>t</a:t>
            </a:r>
            <a:r>
              <a:rPr lang="en-US" altLang="zh-CN" sz="2800" baseline="-30000" dirty="0">
                <a:solidFill>
                  <a:prstClr val="black"/>
                </a:solidFill>
                <a:latin typeface="Times New Roman" pitchFamily="18" charset="0"/>
                <a:ea typeface="华文宋体" pitchFamily="2" charset="-122"/>
                <a:cs typeface="Times New Roman" pitchFamily="18" charset="0"/>
              </a:rPr>
              <a:t>3</a:t>
            </a:r>
            <a:r>
              <a:rPr lang="zh-CN" altLang="en-US" sz="2800" dirty="0">
                <a:solidFill>
                  <a:prstClr val="black"/>
                </a:solidFill>
                <a:latin typeface="Times New Roman" pitchFamily="18" charset="0"/>
                <a:ea typeface="华文宋体" pitchFamily="2" charset="-122"/>
                <a:cs typeface="Times New Roman" pitchFamily="18" charset="0"/>
              </a:rPr>
              <a:t>＝</a:t>
            </a:r>
            <a:r>
              <a:rPr lang="en-US" altLang="zh-CN" sz="2800" dirty="0">
                <a:solidFill>
                  <a:prstClr val="black"/>
                </a:solidFill>
                <a:latin typeface="Times New Roman" pitchFamily="18" charset="0"/>
                <a:ea typeface="华文宋体" pitchFamily="2" charset="-122"/>
                <a:cs typeface="Times New Roman" pitchFamily="18" charset="0"/>
              </a:rPr>
              <a:t>25</a:t>
            </a:r>
            <a:r>
              <a:rPr lang="en-US" altLang="zh-CN" sz="2800" dirty="0">
                <a:solidFill>
                  <a:prstClr val="black"/>
                </a:solidFill>
                <a:latin typeface="Times New Roman" pitchFamily="18" charset="0"/>
                <a:ea typeface="华文宋体" pitchFamily="2" charset="-122"/>
                <a:cs typeface="Times New Roman" pitchFamily="18" charset="0"/>
                <a:sym typeface="Symbol" pitchFamily="18" charset="2"/>
              </a:rPr>
              <a:t></a:t>
            </a:r>
            <a:r>
              <a:rPr lang="en-US" altLang="zh-CN" sz="2800" dirty="0">
                <a:solidFill>
                  <a:prstClr val="black"/>
                </a:solidFill>
                <a:latin typeface="Times New Roman" pitchFamily="18" charset="0"/>
                <a:ea typeface="华文宋体" pitchFamily="2" charset="-122"/>
                <a:cs typeface="Times New Roman" pitchFamily="18" charset="0"/>
              </a:rPr>
              <a:t>C</a:t>
            </a:r>
            <a:r>
              <a:rPr lang="zh-CN" altLang="en-US" sz="2800" dirty="0">
                <a:solidFill>
                  <a:prstClr val="black"/>
                </a:solidFill>
                <a:latin typeface="Times New Roman" pitchFamily="18" charset="0"/>
                <a:ea typeface="华文宋体" pitchFamily="2" charset="-122"/>
                <a:cs typeface="Times New Roman" pitchFamily="18" charset="0"/>
                <a:sym typeface="Symbol" pitchFamily="18" charset="2"/>
              </a:rPr>
              <a:t>，</a:t>
            </a:r>
            <a:r>
              <a:rPr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  <a:sym typeface="Symbol" pitchFamily="18" charset="2"/>
              </a:rPr>
              <a:t>相对湿度</a:t>
            </a:r>
            <a:r>
              <a:rPr lang="zh-CN" altLang="en-US" sz="2800" i="1" dirty="0">
                <a:solidFill>
                  <a:prstClr val="black"/>
                </a:solidFill>
                <a:latin typeface="Times New Roman" pitchFamily="18" charset="0"/>
                <a:ea typeface="华文宋体" pitchFamily="2" charset="-122"/>
                <a:cs typeface="Times New Roman" pitchFamily="18" charset="0"/>
                <a:sym typeface="Symbol" pitchFamily="18" charset="2"/>
              </a:rPr>
              <a:t></a:t>
            </a:r>
            <a:r>
              <a:rPr lang="en-US" altLang="zh-CN" sz="2800" baseline="-30000" dirty="0">
                <a:solidFill>
                  <a:prstClr val="black"/>
                </a:solidFill>
                <a:latin typeface="Times New Roman" pitchFamily="18" charset="0"/>
                <a:ea typeface="华文宋体" pitchFamily="2" charset="-122"/>
                <a:cs typeface="Times New Roman" pitchFamily="18" charset="0"/>
              </a:rPr>
              <a:t>3</a:t>
            </a:r>
            <a:r>
              <a:rPr lang="zh-CN" altLang="en-US" sz="2800" dirty="0">
                <a:solidFill>
                  <a:prstClr val="black"/>
                </a:solidFill>
                <a:latin typeface="Times New Roman" pitchFamily="18" charset="0"/>
                <a:ea typeface="华文宋体" pitchFamily="2" charset="-122"/>
                <a:cs typeface="Times New Roman" pitchFamily="18" charset="0"/>
                <a:sym typeface="Symbol" pitchFamily="18" charset="2"/>
              </a:rPr>
              <a:t>＝</a:t>
            </a:r>
            <a:r>
              <a:rPr lang="en-US" altLang="zh-CN" sz="2800" dirty="0">
                <a:solidFill>
                  <a:prstClr val="black"/>
                </a:solidFill>
                <a:latin typeface="Times New Roman" pitchFamily="18" charset="0"/>
                <a:ea typeface="华文宋体" pitchFamily="2" charset="-122"/>
                <a:cs typeface="Times New Roman" pitchFamily="18" charset="0"/>
                <a:sym typeface="Symbol" pitchFamily="18" charset="2"/>
              </a:rPr>
              <a:t>60</a:t>
            </a:r>
            <a:r>
              <a:rPr lang="en-US" altLang="zh-CN" sz="2800" dirty="0">
                <a:solidFill>
                  <a:prstClr val="black"/>
                </a:solidFill>
                <a:latin typeface="Times New Roman" pitchFamily="18" charset="0"/>
                <a:ea typeface="方正楷体简体" charset="-122"/>
                <a:cs typeface="Times New Roman" pitchFamily="18" charset="0"/>
                <a:sym typeface="Symbol" pitchFamily="18" charset="2"/>
              </a:rPr>
              <a:t>%</a:t>
            </a:r>
            <a:r>
              <a:rPr lang="zh-CN" altLang="en-US" sz="2800" i="1" dirty="0">
                <a:solidFill>
                  <a:prstClr val="black"/>
                </a:solidFill>
                <a:latin typeface="Times New Roman" pitchFamily="18" charset="0"/>
                <a:ea typeface="华文宋体" pitchFamily="2" charset="-122"/>
                <a:cs typeface="Times New Roman" pitchFamily="18" charset="0"/>
                <a:sym typeface="Symbol" pitchFamily="18" charset="2"/>
              </a:rPr>
              <a:t>，</a:t>
            </a:r>
            <a:r>
              <a:rPr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  <a:sym typeface="Symbol" pitchFamily="18" charset="2"/>
              </a:rPr>
              <a:t>在</a:t>
            </a:r>
            <a:r>
              <a:rPr lang="en-US" altLang="zh-CN" sz="2800" i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itchFamily="18" charset="2"/>
              </a:rPr>
              <a:t>ω-t</a:t>
            </a:r>
            <a:r>
              <a:rPr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  <a:sym typeface="Symbol" pitchFamily="18" charset="2"/>
              </a:rPr>
              <a:t>图上确定状态点</a:t>
            </a:r>
            <a:r>
              <a:rPr lang="en-US" altLang="zh-CN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  <a:sym typeface="Symbol" pitchFamily="18" charset="2"/>
              </a:rPr>
              <a:t>3</a:t>
            </a:r>
            <a:r>
              <a:rPr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  <a:sym typeface="Symbol" pitchFamily="18" charset="2"/>
              </a:rPr>
              <a:t>，并查得</a:t>
            </a: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971600" y="3212976"/>
            <a:ext cx="3240360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华文宋体" pitchFamily="2" charset="-122"/>
                <a:cs typeface="Times New Roman" pitchFamily="18" charset="0"/>
              </a:rPr>
              <a:t>ω</a:t>
            </a:r>
            <a:r>
              <a:rPr kumimoji="0" lang="en-US" altLang="zh-CN" sz="28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华文宋体" pitchFamily="2" charset="-122"/>
                <a:cs typeface="Times New Roman" pitchFamily="18" charset="0"/>
              </a:rPr>
              <a:t>3</a:t>
            </a:r>
            <a:r>
              <a:rPr kumimoji="0" lang="zh-CN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华文宋体" pitchFamily="2" charset="-122"/>
                <a:cs typeface="Times New Roman" pitchFamily="18" charset="0"/>
              </a:rPr>
              <a:t>＝</a:t>
            </a:r>
            <a:r>
              <a:rPr kumimoji="0" lang="en-US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华文宋体" pitchFamily="2" charset="-122"/>
                <a:cs typeface="Times New Roman" pitchFamily="18" charset="0"/>
              </a:rPr>
              <a:t>0.012</a:t>
            </a:r>
            <a:r>
              <a:rPr kumimoji="0" lang="en-US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华文宋体" pitchFamily="2" charset="-122"/>
                <a:cs typeface="Times New Roman" pitchFamily="18" charset="0"/>
                <a:sym typeface="Symbol" pitchFamily="18" charset="2"/>
              </a:rPr>
              <a:t></a:t>
            </a:r>
            <a:r>
              <a:rPr kumimoji="0" lang="en-US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华文宋体" pitchFamily="2" charset="-122"/>
                <a:cs typeface="Times New Roman" pitchFamily="18" charset="0"/>
              </a:rPr>
              <a:t>k</a:t>
            </a:r>
            <a:r>
              <a:rPr kumimoji="0" lang="en-US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华文宋体" pitchFamily="2" charset="-122"/>
                <a:cs typeface="Times New Roman" pitchFamily="18" charset="0"/>
                <a:sym typeface="Symbol" pitchFamily="18" charset="2"/>
              </a:rPr>
              <a:t>g/kg(a)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华文宋体" pitchFamily="2" charset="-122"/>
                <a:cs typeface="Times New Roman" pitchFamily="18" charset="0"/>
                <a:sym typeface="Symbol" pitchFamily="18" charset="2"/>
              </a:rPr>
              <a:t>h</a:t>
            </a:r>
            <a:r>
              <a:rPr kumimoji="0" lang="en-US" altLang="zh-CN" sz="28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华文宋体" pitchFamily="2" charset="-122"/>
                <a:cs typeface="Times New Roman" pitchFamily="18" charset="0"/>
                <a:sym typeface="Symbol" pitchFamily="18" charset="2"/>
              </a:rPr>
              <a:t>3</a:t>
            </a:r>
            <a:r>
              <a:rPr kumimoji="0" lang="zh-CN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华文宋体" pitchFamily="2" charset="-122"/>
                <a:cs typeface="Times New Roman" pitchFamily="18" charset="0"/>
                <a:sym typeface="Symbol" pitchFamily="18" charset="2"/>
              </a:rPr>
              <a:t>＝</a:t>
            </a:r>
            <a:r>
              <a:rPr kumimoji="0" lang="en-US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华文宋体" pitchFamily="2" charset="-122"/>
                <a:cs typeface="Times New Roman" pitchFamily="18" charset="0"/>
                <a:sym typeface="Symbol" pitchFamily="18" charset="2"/>
              </a:rPr>
              <a:t>56</a:t>
            </a:r>
            <a:r>
              <a:rPr kumimoji="0" lang="en-US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华文宋体" pitchFamily="2" charset="-122"/>
                <a:cs typeface="Times New Roman" pitchFamily="18" charset="0"/>
              </a:rPr>
              <a:t>kJ/kg(a)</a:t>
            </a:r>
            <a:endParaRPr kumimoji="0" lang="en-US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华文宋体" pitchFamily="2" charset="-122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39553" y="4564285"/>
            <a:ext cx="6984775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冷却去湿后的状态点</a:t>
            </a:r>
            <a:r>
              <a:rPr lang="en-US" altLang="zh-CN" sz="2800" dirty="0">
                <a:solidFill>
                  <a:prstClr val="black"/>
                </a:solidFill>
                <a:latin typeface="Times New Roman" pitchFamily="18" charset="0"/>
                <a:ea typeface="华文宋体" pitchFamily="2" charset="-122"/>
                <a:cs typeface="Times New Roman" pitchFamily="18" charset="0"/>
              </a:rPr>
              <a:t>2</a:t>
            </a:r>
            <a:r>
              <a:rPr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位于露点线上，且有：</a:t>
            </a:r>
            <a:endParaRPr lang="en-US" altLang="zh-CN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 i="1" dirty="0">
                <a:solidFill>
                  <a:prstClr val="black"/>
                </a:solidFill>
                <a:latin typeface="Times New Roman" pitchFamily="18" charset="0"/>
                <a:ea typeface="华文宋体" pitchFamily="2" charset="-122"/>
                <a:cs typeface="Times New Roman" pitchFamily="18" charset="0"/>
              </a:rPr>
              <a:t>                 ω</a:t>
            </a:r>
            <a:r>
              <a:rPr lang="en-US" altLang="zh-CN" sz="2800" baseline="-30000" dirty="0">
                <a:solidFill>
                  <a:prstClr val="black"/>
                </a:solidFill>
                <a:latin typeface="Times New Roman" pitchFamily="18" charset="0"/>
                <a:ea typeface="华文宋体" pitchFamily="2" charset="-122"/>
                <a:cs typeface="Times New Roman" pitchFamily="18" charset="0"/>
              </a:rPr>
              <a:t>2</a:t>
            </a:r>
            <a:r>
              <a:rPr lang="zh-CN" altLang="en-US" sz="2800" dirty="0">
                <a:solidFill>
                  <a:prstClr val="black"/>
                </a:solidFill>
                <a:latin typeface="Times New Roman" pitchFamily="18" charset="0"/>
                <a:ea typeface="华文宋体" pitchFamily="2" charset="-122"/>
                <a:cs typeface="Times New Roman" pitchFamily="18" charset="0"/>
              </a:rPr>
              <a:t>＝</a:t>
            </a:r>
            <a:r>
              <a:rPr lang="en-US" altLang="zh-CN" sz="2800" i="1" dirty="0">
                <a:solidFill>
                  <a:prstClr val="black"/>
                </a:solidFill>
                <a:latin typeface="Times New Roman" pitchFamily="18" charset="0"/>
                <a:ea typeface="华文宋体" pitchFamily="2" charset="-122"/>
                <a:cs typeface="Times New Roman" pitchFamily="18" charset="0"/>
              </a:rPr>
              <a:t>ω</a:t>
            </a:r>
            <a:r>
              <a:rPr lang="en-US" altLang="zh-CN" sz="2800" baseline="-30000" dirty="0">
                <a:solidFill>
                  <a:prstClr val="black"/>
                </a:solidFill>
                <a:latin typeface="Times New Roman" pitchFamily="18" charset="0"/>
                <a:ea typeface="华文宋体" pitchFamily="2" charset="-122"/>
                <a:cs typeface="Times New Roman" pitchFamily="18" charset="0"/>
              </a:rPr>
              <a:t>3</a:t>
            </a:r>
            <a:r>
              <a:rPr lang="zh-CN" altLang="en-US" sz="2800" dirty="0">
                <a:solidFill>
                  <a:prstClr val="black"/>
                </a:solidFill>
                <a:latin typeface="Times New Roman" pitchFamily="18" charset="0"/>
                <a:ea typeface="华文宋体" pitchFamily="2" charset="-122"/>
                <a:cs typeface="Times New Roman" pitchFamily="18" charset="0"/>
              </a:rPr>
              <a:t>＝</a:t>
            </a:r>
            <a:r>
              <a:rPr lang="en-US" altLang="zh-CN" sz="2800" dirty="0">
                <a:solidFill>
                  <a:prstClr val="black"/>
                </a:solidFill>
                <a:latin typeface="Times New Roman" pitchFamily="18" charset="0"/>
                <a:ea typeface="华文宋体" pitchFamily="2" charset="-122"/>
                <a:cs typeface="Times New Roman" pitchFamily="18" charset="0"/>
              </a:rPr>
              <a:t>0.012</a:t>
            </a:r>
            <a:r>
              <a:rPr lang="en-US" altLang="zh-CN" sz="2800" dirty="0">
                <a:solidFill>
                  <a:prstClr val="black"/>
                </a:solidFill>
                <a:latin typeface="Times New Roman" pitchFamily="18" charset="0"/>
                <a:ea typeface="华文宋体" pitchFamily="2" charset="-122"/>
                <a:cs typeface="Times New Roman" pitchFamily="18" charset="0"/>
                <a:sym typeface="Symbol" pitchFamily="18" charset="2"/>
              </a:rPr>
              <a:t></a:t>
            </a:r>
            <a:r>
              <a:rPr lang="en-US" altLang="zh-CN" sz="2800" dirty="0">
                <a:solidFill>
                  <a:prstClr val="black"/>
                </a:solidFill>
                <a:latin typeface="Times New Roman" pitchFamily="18" charset="0"/>
                <a:ea typeface="华文宋体" pitchFamily="2" charset="-122"/>
                <a:cs typeface="Times New Roman" pitchFamily="18" charset="0"/>
              </a:rPr>
              <a:t>kg</a:t>
            </a:r>
            <a:r>
              <a:rPr lang="en-US" altLang="zh-CN" sz="2800" dirty="0">
                <a:solidFill>
                  <a:prstClr val="black"/>
                </a:solidFill>
                <a:latin typeface="Times New Roman" pitchFamily="18" charset="0"/>
                <a:ea typeface="华文宋体" pitchFamily="2" charset="-122"/>
                <a:cs typeface="Times New Roman" pitchFamily="18" charset="0"/>
                <a:sym typeface="Symbol" pitchFamily="18" charset="2"/>
              </a:rPr>
              <a:t>/kg(a)</a:t>
            </a:r>
          </a:p>
        </p:txBody>
      </p:sp>
      <p:pic>
        <p:nvPicPr>
          <p:cNvPr id="5120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072" y="1844824"/>
            <a:ext cx="2905125" cy="240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55681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786842" y="6488668"/>
            <a:ext cx="5000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prstClr val="black"/>
                </a:solidFill>
                <a:latin typeface="黑体" pitchFamily="49" charset="-122"/>
                <a:ea typeface="黑体" pitchFamily="49" charset="-122"/>
              </a:rPr>
              <a:t>40</a:t>
            </a:r>
            <a:endParaRPr lang="zh-CN" altLang="en-US" sz="2000" dirty="0">
              <a:solidFill>
                <a:prstClr val="black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611560" y="1268760"/>
            <a:ext cx="7704856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  <a:sym typeface="Symbol" pitchFamily="18" charset="2"/>
              </a:rPr>
              <a:t>所以</a:t>
            </a:r>
            <a:endParaRPr kumimoji="0" lang="zh-CN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宋体" pitchFamily="2" charset="-122"/>
              <a:sym typeface="Symbol" pitchFamily="18" charset="2"/>
            </a:endParaRPr>
          </a:p>
          <a:p>
            <a:pPr marL="0"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华文宋体" pitchFamily="2" charset="-122"/>
                <a:cs typeface="Times New Roman" pitchFamily="18" charset="0"/>
                <a:sym typeface="Symbol" pitchFamily="18" charset="2"/>
              </a:rPr>
              <a:t>            h</a:t>
            </a:r>
            <a:r>
              <a:rPr kumimoji="0" lang="en-US" altLang="zh-CN" sz="28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华文宋体" pitchFamily="2" charset="-122"/>
                <a:cs typeface="Times New Roman" pitchFamily="18" charset="0"/>
                <a:sym typeface="Symbol" pitchFamily="18" charset="2"/>
              </a:rPr>
              <a:t>2</a:t>
            </a:r>
            <a:r>
              <a:rPr kumimoji="0" lang="zh-CN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华文宋体" pitchFamily="2" charset="-122"/>
                <a:cs typeface="Times New Roman" pitchFamily="18" charset="0"/>
                <a:sym typeface="Symbol" pitchFamily="18" charset="2"/>
              </a:rPr>
              <a:t>＝</a:t>
            </a:r>
            <a:r>
              <a:rPr kumimoji="0" lang="en-US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华文宋体" pitchFamily="2" charset="-122"/>
                <a:cs typeface="Times New Roman" pitchFamily="18" charset="0"/>
                <a:sym typeface="Symbol" pitchFamily="18" charset="2"/>
              </a:rPr>
              <a:t>47.5</a:t>
            </a:r>
            <a:r>
              <a:rPr kumimoji="0" lang="en-US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华文宋体" pitchFamily="2" charset="-122"/>
                <a:cs typeface="Times New Roman" pitchFamily="18" charset="0"/>
              </a:rPr>
              <a:t>kJ/kg(a)</a:t>
            </a:r>
            <a:r>
              <a:rPr kumimoji="0" lang="zh-CN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华文宋体" pitchFamily="2" charset="-122"/>
                <a:cs typeface="Times New Roman" pitchFamily="18" charset="0"/>
                <a:sym typeface="Symbol" pitchFamily="18" charset="2"/>
              </a:rPr>
              <a:t>，     </a:t>
            </a:r>
            <a:r>
              <a:rPr kumimoji="0" lang="en-US" altLang="zh-CN" sz="2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华文宋体" pitchFamily="2" charset="-122"/>
                <a:cs typeface="Times New Roman" pitchFamily="18" charset="0"/>
                <a:sym typeface="Symbol" pitchFamily="18" charset="2"/>
              </a:rPr>
              <a:t>t</a:t>
            </a:r>
            <a:r>
              <a:rPr kumimoji="0" lang="en-US" altLang="zh-CN" sz="28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华文宋体" pitchFamily="2" charset="-122"/>
                <a:cs typeface="Times New Roman" pitchFamily="18" charset="0"/>
                <a:sym typeface="Symbol" pitchFamily="18" charset="2"/>
              </a:rPr>
              <a:t>2</a:t>
            </a:r>
            <a:r>
              <a:rPr kumimoji="0" lang="zh-CN" altLang="en-US" sz="2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华文宋体" pitchFamily="2" charset="-122"/>
                <a:cs typeface="Times New Roman" pitchFamily="18" charset="0"/>
                <a:sym typeface="Symbol" pitchFamily="18" charset="2"/>
              </a:rPr>
              <a:t>＝</a:t>
            </a:r>
            <a:r>
              <a:rPr kumimoji="0" lang="en-US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华文宋体" pitchFamily="2" charset="-122"/>
                <a:cs typeface="Times New Roman" pitchFamily="18" charset="0"/>
                <a:sym typeface="Symbol" pitchFamily="18" charset="2"/>
              </a:rPr>
              <a:t>16.7</a:t>
            </a:r>
            <a:r>
              <a:rPr kumimoji="0" lang="en-US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华文宋体" pitchFamily="2" charset="-122"/>
                <a:cs typeface="Times New Roman" pitchFamily="18" charset="0"/>
              </a:rPr>
              <a:t>C</a:t>
            </a:r>
            <a:endParaRPr kumimoji="0" lang="en-US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华文宋体" pitchFamily="2" charset="-122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611560" y="2780928"/>
            <a:ext cx="511256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（</a:t>
            </a:r>
            <a:r>
              <a:rPr kumimoji="0" lang="en-US" altLang="zh-CN" sz="28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1</a:t>
            </a:r>
            <a:r>
              <a:rPr kumimoji="0" lang="zh-CN" altLang="en-US" sz="28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）每分钟需要除去的水分为</a:t>
            </a:r>
            <a:endParaRPr kumimoji="0" lang="zh-CN" altLang="en-US" sz="2800" b="0" i="0" u="none" strike="noStrike" cap="none" normalizeH="0" baseline="0" dirty="0">
              <a:ln>
                <a:noFill/>
              </a:ln>
              <a:solidFill>
                <a:srgbClr val="0000FF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宋体" pitchFamily="2" charset="-122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8588323"/>
              </p:ext>
            </p:extLst>
          </p:nvPr>
        </p:nvGraphicFramePr>
        <p:xfrm>
          <a:off x="942653" y="3501008"/>
          <a:ext cx="7638485" cy="4560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10" r:id="rId3" imgW="3149600" imgH="190500" progId="Equation.3">
                  <p:embed/>
                </p:oleObj>
              </mc:Choice>
              <mc:Fallback>
                <p:oleObj r:id="rId3" imgW="3149600" imgH="1905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2653" y="3501008"/>
                        <a:ext cx="7638485" cy="45602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575556" y="4271367"/>
            <a:ext cx="7776864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rgbClr val="9933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（</a:t>
            </a:r>
            <a:r>
              <a:rPr kumimoji="0" lang="en-US" altLang="zh-CN" sz="2800" b="0" i="0" u="none" strike="noStrike" cap="none" normalizeH="0" baseline="0" dirty="0">
                <a:ln>
                  <a:noFill/>
                </a:ln>
                <a:solidFill>
                  <a:srgbClr val="9933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2</a:t>
            </a:r>
            <a:r>
              <a:rPr kumimoji="0" lang="zh-CN" altLang="en-US" sz="2800" b="0" i="0" u="none" strike="noStrike" cap="none" normalizeH="0" baseline="0" dirty="0">
                <a:ln>
                  <a:noFill/>
                </a:ln>
                <a:solidFill>
                  <a:srgbClr val="9933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）每分钟冷却介质应带走的热量为</a:t>
            </a:r>
            <a:r>
              <a:rPr kumimoji="0" lang="en-US" altLang="zh-CN" sz="2800" b="0" i="0" u="none" strike="noStrike" cap="none" normalizeH="0" baseline="0" dirty="0">
                <a:ln>
                  <a:noFill/>
                </a:ln>
                <a:solidFill>
                  <a:srgbClr val="9933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1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rgbClr val="9933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—</a:t>
            </a:r>
            <a:r>
              <a:rPr kumimoji="0" lang="en-US" altLang="zh-CN" sz="2800" b="0" i="0" u="none" strike="noStrike" cap="none" normalizeH="0" baseline="0" dirty="0">
                <a:ln>
                  <a:noFill/>
                </a:ln>
                <a:solidFill>
                  <a:srgbClr val="9933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2</a:t>
            </a:r>
            <a:r>
              <a:rPr kumimoji="0" lang="zh-CN" altLang="en-US" sz="2800" b="0" i="0" u="none" strike="noStrike" cap="none" normalizeH="0" baseline="0" dirty="0">
                <a:ln>
                  <a:noFill/>
                </a:ln>
                <a:solidFill>
                  <a:srgbClr val="9933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过程的焓降减去凝结水的焓</a:t>
            </a:r>
            <a:endParaRPr kumimoji="0" lang="zh-CN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07891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786842" y="6488668"/>
            <a:ext cx="5000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prstClr val="black"/>
                </a:solidFill>
                <a:latin typeface="黑体" pitchFamily="49" charset="-122"/>
                <a:ea typeface="黑体" pitchFamily="49" charset="-122"/>
              </a:rPr>
              <a:t>40</a:t>
            </a:r>
            <a:endParaRPr lang="zh-CN" altLang="en-US" sz="2000" dirty="0">
              <a:solidFill>
                <a:prstClr val="black"/>
              </a:solidFill>
              <a:latin typeface="黑体" pitchFamily="49" charset="-122"/>
              <a:ea typeface="黑体" pitchFamily="49" charset="-122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4132339"/>
              </p:ext>
            </p:extLst>
          </p:nvPr>
        </p:nvGraphicFramePr>
        <p:xfrm>
          <a:off x="913308" y="1340768"/>
          <a:ext cx="7173368" cy="9361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41" r:id="rId3" imgW="3289300" imgH="393700" progId="Equation.3">
                  <p:embed/>
                </p:oleObj>
              </mc:Choice>
              <mc:Fallback>
                <p:oleObj r:id="rId3" imgW="3289300" imgH="3937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3308" y="1340768"/>
                        <a:ext cx="7173368" cy="93610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779215" y="2420888"/>
            <a:ext cx="412965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式中</a:t>
            </a:r>
            <a:r>
              <a:rPr kumimoji="0" lang="zh-CN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  </a:t>
            </a:r>
            <a:r>
              <a:rPr kumimoji="0" lang="en-US" altLang="zh-CN" sz="2800" b="1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华文宋体" pitchFamily="2" charset="-122"/>
                <a:cs typeface="Times New Roman" pitchFamily="18" charset="0"/>
              </a:rPr>
              <a:t>c</a:t>
            </a:r>
            <a:r>
              <a:rPr kumimoji="0" lang="en-US" altLang="zh-CN" sz="2800" b="1" i="0" u="none" strike="noStrike" cap="none" normalizeH="0" baseline="-3000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华文宋体" pitchFamily="2" charset="-122"/>
                <a:cs typeface="Times New Roman" pitchFamily="18" charset="0"/>
              </a:rPr>
              <a:t>w</a:t>
            </a:r>
            <a:r>
              <a:rPr kumimoji="0" lang="en-US" altLang="zh-CN" sz="28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华文宋体" pitchFamily="2" charset="-122"/>
                <a:cs typeface="Times New Roman" pitchFamily="18" charset="0"/>
                <a:sym typeface="Symbol" pitchFamily="18" charset="2"/>
              </a:rPr>
              <a:t></a:t>
            </a:r>
            <a:r>
              <a:rPr kumimoji="0" lang="en-US" altLang="zh-CN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华文宋体" pitchFamily="2" charset="-122"/>
                <a:cs typeface="Times New Roman" pitchFamily="18" charset="0"/>
              </a:rPr>
              <a:t>—</a:t>
            </a:r>
            <a:r>
              <a:rPr kumimoji="0" lang="en-US" altLang="zh-CN" sz="28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华文宋体" pitchFamily="2" charset="-122"/>
                <a:cs typeface="Times New Roman" pitchFamily="18" charset="0"/>
                <a:sym typeface="Symbol" pitchFamily="18" charset="2"/>
              </a:rPr>
              <a:t> </a:t>
            </a:r>
            <a:r>
              <a:rPr kumimoji="0" lang="zh-CN" altLang="en-US" sz="2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  <a:sym typeface="Symbol" pitchFamily="18" charset="2"/>
              </a:rPr>
              <a:t>水的比热容。</a:t>
            </a:r>
          </a:p>
        </p:txBody>
      </p:sp>
      <p:sp>
        <p:nvSpPr>
          <p:cNvPr id="8" name="Rectangle 9"/>
          <p:cNvSpPr>
            <a:spLocks noChangeArrowheads="1"/>
          </p:cNvSpPr>
          <p:nvPr/>
        </p:nvSpPr>
        <p:spPr bwMode="auto">
          <a:xfrm>
            <a:off x="683568" y="3068960"/>
            <a:ext cx="7848872" cy="1384995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凝结水的焓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 </a:t>
            </a:r>
            <a:r>
              <a:rPr lang="en-US" altLang="zh-CN" sz="2800" b="1" i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</a:t>
            </a:r>
            <a:r>
              <a:rPr lang="en-US" altLang="zh-CN" sz="2800" b="1" baseline="-25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也可用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  <a:r>
              <a:rPr lang="en-US" altLang="zh-CN" sz="2800" b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所对应的饱和水的焓值，均为近似值。</a:t>
            </a:r>
            <a:endParaRPr kumimoji="0" lang="zh-CN" altLang="en-US" sz="2800" b="0" i="0" u="none" strike="noStrike" cap="none" normalizeH="0" baseline="0" dirty="0">
              <a:ln>
                <a:noFill/>
              </a:ln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宋体" pitchFamily="2" charset="-122"/>
            </a:endParaRPr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683568" y="4653136"/>
            <a:ext cx="7848872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dirty="0">
                <a:solidFill>
                  <a:srgbClr val="9933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若用</a:t>
            </a:r>
            <a:r>
              <a:rPr lang="zh-CN" altLang="en-US" sz="1600" dirty="0">
                <a:solidFill>
                  <a:srgbClr val="9933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 </a:t>
            </a:r>
            <a:r>
              <a:rPr lang="en-US" altLang="zh-CN" sz="2800" b="1" i="1" dirty="0">
                <a:solidFill>
                  <a:srgbClr val="9933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  <a:r>
              <a:rPr lang="en-US" altLang="zh-CN" sz="2800" b="1" baseline="-25000" dirty="0">
                <a:solidFill>
                  <a:srgbClr val="9933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 </a:t>
            </a:r>
            <a:r>
              <a:rPr lang="zh-CN" altLang="en-US" sz="2800" dirty="0">
                <a:solidFill>
                  <a:srgbClr val="9933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所对应的饱和水的焓值，每分钟冷却介质应带走的热量为</a:t>
            </a:r>
            <a:endParaRPr lang="zh-CN" altLang="en-US" sz="2800" dirty="0">
              <a:solidFill>
                <a:prstClr val="black"/>
              </a:solidFill>
              <a:latin typeface="Arial" pitchFamily="34" charset="0"/>
              <a:cs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07891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 animBg="1"/>
      <p:bldP spid="10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786842" y="6488668"/>
            <a:ext cx="5000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prstClr val="black"/>
                </a:solidFill>
                <a:latin typeface="黑体" pitchFamily="49" charset="-122"/>
                <a:ea typeface="黑体" pitchFamily="49" charset="-122"/>
              </a:rPr>
              <a:t>40</a:t>
            </a:r>
            <a:endParaRPr lang="zh-CN" altLang="en-US" sz="2000" dirty="0">
              <a:solidFill>
                <a:prstClr val="black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683568" y="2411833"/>
            <a:ext cx="413446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也可忽略冷凝水的焓，即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  <a:sym typeface="Symbol" pitchFamily="18" charset="2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1457289"/>
              </p:ext>
            </p:extLst>
          </p:nvPr>
        </p:nvGraphicFramePr>
        <p:xfrm>
          <a:off x="1259632" y="1268760"/>
          <a:ext cx="6552729" cy="10910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12" name="公式" r:id="rId3" imgW="2527200" imgH="406080" progId="Equation.3">
                  <p:embed/>
                </p:oleObj>
              </mc:Choice>
              <mc:Fallback>
                <p:oleObj name="公式" r:id="rId3" imgW="2527200" imgH="406080" progId="Equation.3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9632" y="1268760"/>
                        <a:ext cx="6552729" cy="10910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8915480"/>
              </p:ext>
            </p:extLst>
          </p:nvPr>
        </p:nvGraphicFramePr>
        <p:xfrm>
          <a:off x="1398960" y="3064261"/>
          <a:ext cx="3821112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13" name="公式" r:id="rId5" imgW="1473120" imgH="190440" progId="Equation.3">
                  <p:embed/>
                </p:oleObj>
              </mc:Choice>
              <mc:Fallback>
                <p:oleObj name="公式" r:id="rId5" imgW="1473120" imgH="190440" progId="Equation.3">
                  <p:embed/>
                  <p:pic>
                    <p:nvPicPr>
                      <p:cNvPr id="0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8960" y="3064261"/>
                        <a:ext cx="3821112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714078" y="3784341"/>
            <a:ext cx="233910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相对误差为：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  <a:sym typeface="Symbol" pitchFamily="18" charset="2"/>
            </a:endParaRPr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2399035"/>
              </p:ext>
            </p:extLst>
          </p:nvPr>
        </p:nvGraphicFramePr>
        <p:xfrm>
          <a:off x="3131840" y="3654632"/>
          <a:ext cx="1878012" cy="782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14" name="公式" r:id="rId7" imgW="723600" imgH="291960" progId="Equation.3">
                  <p:embed/>
                </p:oleObj>
              </mc:Choice>
              <mc:Fallback>
                <p:oleObj name="公式" r:id="rId7" imgW="723600" imgH="291960" progId="Equation.3">
                  <p:embed/>
                  <p:pic>
                    <p:nvPicPr>
                      <p:cNvPr id="0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1840" y="3654632"/>
                        <a:ext cx="1878012" cy="782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9"/>
          <p:cNvSpPr>
            <a:spLocks noChangeArrowheads="1"/>
          </p:cNvSpPr>
          <p:nvPr/>
        </p:nvSpPr>
        <p:spPr bwMode="auto">
          <a:xfrm>
            <a:off x="454199" y="4670418"/>
            <a:ext cx="590465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zh-CN" sz="28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（</a:t>
            </a:r>
            <a:r>
              <a:rPr lang="en-US" altLang="zh-CN" sz="28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3</a:t>
            </a:r>
            <a:r>
              <a:rPr lang="zh-CN" altLang="en-US" sz="28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）每分钟加热器加入的热量为</a:t>
            </a:r>
            <a:endParaRPr lang="zh-CN" altLang="en-US" sz="28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宋体" pitchFamily="2" charset="-122"/>
            </a:endParaRPr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5010166"/>
              </p:ext>
            </p:extLst>
          </p:nvPr>
        </p:nvGraphicFramePr>
        <p:xfrm>
          <a:off x="1462311" y="5318490"/>
          <a:ext cx="6084676" cy="4867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15" r:id="rId9" imgW="2628900" imgH="215900" progId="Equation.3">
                  <p:embed/>
                </p:oleObj>
              </mc:Choice>
              <mc:Fallback>
                <p:oleObj r:id="rId9" imgW="2628900" imgH="215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2311" y="5318490"/>
                        <a:ext cx="6084676" cy="48677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95337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/>
      <p:bldP spid="12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539962" y="1916832"/>
            <a:ext cx="506845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3600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作业：</a:t>
            </a:r>
            <a:r>
              <a:rPr lang="en-US" altLang="zh-CN" sz="3600" b="1" dirty="0">
                <a:solidFill>
                  <a:prstClr val="black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6.3</a:t>
            </a:r>
            <a:r>
              <a:rPr lang="zh-CN" altLang="en-US" sz="3600" b="1" dirty="0">
                <a:solidFill>
                  <a:prstClr val="black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，</a:t>
            </a:r>
            <a:r>
              <a:rPr lang="en-US" altLang="zh-CN" sz="3600" b="1" dirty="0">
                <a:solidFill>
                  <a:prstClr val="black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6.4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86842" y="6488668"/>
            <a:ext cx="5000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prstClr val="black"/>
                </a:solidFill>
                <a:latin typeface="黑体" pitchFamily="49" charset="-122"/>
                <a:ea typeface="黑体" pitchFamily="49" charset="-122"/>
              </a:rPr>
              <a:t>40</a:t>
            </a:r>
            <a:endParaRPr lang="zh-CN" altLang="en-US" sz="2000" dirty="0">
              <a:solidFill>
                <a:prstClr val="black"/>
              </a:solidFill>
              <a:latin typeface="黑体" pitchFamily="49" charset="-122"/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449879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wjtu 建环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4414</TotalTime>
  <Words>2858</Words>
  <Application>Microsoft Office PowerPoint</Application>
  <PresentationFormat>全屏显示(4:3)</PresentationFormat>
  <Paragraphs>255</Paragraphs>
  <Slides>48</Slides>
  <Notes>5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48</vt:i4>
      </vt:variant>
    </vt:vector>
  </HeadingPairs>
  <TitlesOfParts>
    <vt:vector size="61" baseType="lpstr">
      <vt:lpstr>方正楷体简体</vt:lpstr>
      <vt:lpstr>黑体</vt:lpstr>
      <vt:lpstr>微软雅黑</vt:lpstr>
      <vt:lpstr>Arial</vt:lpstr>
      <vt:lpstr>Bernard MT Condensed</vt:lpstr>
      <vt:lpstr>Calibri</vt:lpstr>
      <vt:lpstr>Cambria Math</vt:lpstr>
      <vt:lpstr>Times New Roman</vt:lpstr>
      <vt:lpstr>Wingdings</vt:lpstr>
      <vt:lpstr>Office 主题</vt:lpstr>
      <vt:lpstr>swjtu 建环</vt:lpstr>
      <vt:lpstr>公式</vt:lpstr>
      <vt:lpstr>Equation.3</vt:lpstr>
      <vt:lpstr>第六章  湿空气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ThinkPad</dc:creator>
  <cp:lastModifiedBy>summ</cp:lastModifiedBy>
  <cp:revision>484</cp:revision>
  <dcterms:created xsi:type="dcterms:W3CDTF">2013-08-29T08:41:10Z</dcterms:created>
  <dcterms:modified xsi:type="dcterms:W3CDTF">2019-12-09T14:14:19Z</dcterms:modified>
</cp:coreProperties>
</file>