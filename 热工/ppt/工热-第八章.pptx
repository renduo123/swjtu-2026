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handoutMasterIdLst>
    <p:handoutMasterId r:id="rId56"/>
  </p:handoutMasterIdLst>
  <p:sldIdLst>
    <p:sldId id="256" r:id="rId2"/>
    <p:sldId id="258" r:id="rId3"/>
    <p:sldId id="264" r:id="rId4"/>
    <p:sldId id="265" r:id="rId5"/>
    <p:sldId id="266" r:id="rId6"/>
    <p:sldId id="267" r:id="rId7"/>
    <p:sldId id="268" r:id="rId8"/>
    <p:sldId id="269" r:id="rId9"/>
    <p:sldId id="270" r:id="rId10"/>
    <p:sldId id="271" r:id="rId11"/>
    <p:sldId id="272" r:id="rId12"/>
    <p:sldId id="273"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8" r:id="rId26"/>
    <p:sldId id="290" r:id="rId27"/>
    <p:sldId id="291" r:id="rId28"/>
    <p:sldId id="292" r:id="rId29"/>
    <p:sldId id="293" r:id="rId30"/>
    <p:sldId id="294" r:id="rId31"/>
    <p:sldId id="295" r:id="rId32"/>
    <p:sldId id="296" r:id="rId33"/>
    <p:sldId id="320" r:id="rId34"/>
    <p:sldId id="322" r:id="rId35"/>
    <p:sldId id="323" r:id="rId36"/>
    <p:sldId id="319" r:id="rId37"/>
    <p:sldId id="297" r:id="rId38"/>
    <p:sldId id="298" r:id="rId39"/>
    <p:sldId id="299" r:id="rId40"/>
    <p:sldId id="300" r:id="rId41"/>
    <p:sldId id="301" r:id="rId42"/>
    <p:sldId id="302" r:id="rId43"/>
    <p:sldId id="324" r:id="rId44"/>
    <p:sldId id="303" r:id="rId45"/>
    <p:sldId id="304" r:id="rId46"/>
    <p:sldId id="305" r:id="rId47"/>
    <p:sldId id="306" r:id="rId48"/>
    <p:sldId id="307" r:id="rId49"/>
    <p:sldId id="308" r:id="rId50"/>
    <p:sldId id="311" r:id="rId51"/>
    <p:sldId id="312" r:id="rId52"/>
    <p:sldId id="313" r:id="rId53"/>
    <p:sldId id="314" r:id="rId5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99CCFF"/>
    <a:srgbClr val="0066FF"/>
    <a:srgbClr val="FF6600"/>
    <a:srgbClr val="F77947"/>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6824" autoAdjust="0"/>
    <p:restoredTop sz="94685" autoAdjust="0"/>
  </p:normalViewPr>
  <p:slideViewPr>
    <p:cSldViewPr>
      <p:cViewPr varScale="1">
        <p:scale>
          <a:sx n="81" d="100"/>
          <a:sy n="81" d="100"/>
        </p:scale>
        <p:origin x="91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8" d="100"/>
          <a:sy n="68" d="100"/>
        </p:scale>
        <p:origin x="-2856"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BD5013-E936-4FD3-AAD2-D4774B5209F6}" type="doc">
      <dgm:prSet loTypeId="urn:microsoft.com/office/officeart/2005/8/layout/process2" loCatId="process" qsTypeId="urn:microsoft.com/office/officeart/2005/8/quickstyle/simple1" qsCatId="simple" csTypeId="urn:microsoft.com/office/officeart/2005/8/colors/accent1_2" csCatId="accent1" phldr="1"/>
      <dgm:spPr/>
    </dgm:pt>
    <dgm:pt modelId="{C05EBC2F-0A37-4C62-8EDD-A2956ECD5A98}">
      <dgm:prSet phldrT="[文本]" custT="1"/>
      <dgm:spPr/>
      <dgm:t>
        <a:bodyPr/>
        <a:lstStyle/>
        <a:p>
          <a:r>
            <a:rPr lang="zh-CN" altLang="en-US" sz="2400" b="0" dirty="0">
              <a:latin typeface="微软雅黑" pitchFamily="34" charset="-122"/>
              <a:ea typeface="微软雅黑" pitchFamily="34" charset="-122"/>
            </a:rPr>
            <a:t>吸气过程：</a:t>
          </a:r>
          <a:r>
            <a:rPr lang="en-US" altLang="zh-CN" sz="2400" b="0" dirty="0">
              <a:latin typeface="微软雅黑" pitchFamily="34" charset="-122"/>
              <a:ea typeface="微软雅黑" pitchFamily="34" charset="-122"/>
            </a:rPr>
            <a:t>4—1</a:t>
          </a:r>
          <a:endParaRPr lang="zh-CN" altLang="en-US" sz="2400" b="0" dirty="0">
            <a:latin typeface="微软雅黑" pitchFamily="34" charset="-122"/>
            <a:ea typeface="微软雅黑" pitchFamily="34" charset="-122"/>
          </a:endParaRPr>
        </a:p>
      </dgm:t>
    </dgm:pt>
    <dgm:pt modelId="{F6BF5880-0752-4861-9BCE-B04648AE227B}" type="parTrans" cxnId="{6E8E0375-D7F5-420F-A813-3E02FBE08BD3}">
      <dgm:prSet/>
      <dgm:spPr/>
      <dgm:t>
        <a:bodyPr/>
        <a:lstStyle/>
        <a:p>
          <a:endParaRPr lang="zh-CN" altLang="en-US"/>
        </a:p>
      </dgm:t>
    </dgm:pt>
    <dgm:pt modelId="{8DFDE4C6-659C-4C4B-91E0-08CEF985D1E1}" type="sibTrans" cxnId="{6E8E0375-D7F5-420F-A813-3E02FBE08BD3}">
      <dgm:prSet/>
      <dgm:spPr/>
      <dgm:t>
        <a:bodyPr/>
        <a:lstStyle/>
        <a:p>
          <a:endParaRPr lang="zh-CN" altLang="en-US"/>
        </a:p>
      </dgm:t>
    </dgm:pt>
    <dgm:pt modelId="{5958378D-D32E-4E11-AD74-F439BB124C70}">
      <dgm:prSet phldrT="[文本]" custT="1"/>
      <dgm:spPr/>
      <dgm:t>
        <a:bodyPr/>
        <a:lstStyle/>
        <a:p>
          <a:r>
            <a:rPr lang="zh-CN" altLang="en-US" sz="2400" b="0" dirty="0">
              <a:latin typeface="微软雅黑" pitchFamily="34" charset="-122"/>
              <a:ea typeface="微软雅黑" pitchFamily="34" charset="-122"/>
            </a:rPr>
            <a:t>压缩过程：</a:t>
          </a:r>
          <a:r>
            <a:rPr lang="en-US" altLang="zh-CN" sz="2400" b="0" dirty="0">
              <a:latin typeface="微软雅黑" pitchFamily="34" charset="-122"/>
              <a:ea typeface="微软雅黑" pitchFamily="34" charset="-122"/>
            </a:rPr>
            <a:t>1—2</a:t>
          </a:r>
          <a:endParaRPr lang="zh-CN" altLang="en-US" sz="2400" b="0" dirty="0">
            <a:latin typeface="微软雅黑" pitchFamily="34" charset="-122"/>
            <a:ea typeface="微软雅黑" pitchFamily="34" charset="-122"/>
          </a:endParaRPr>
        </a:p>
      </dgm:t>
    </dgm:pt>
    <dgm:pt modelId="{A8326A9D-9651-4353-9BE4-143977C8C5FD}" type="parTrans" cxnId="{08A34141-F876-438E-BDD8-B8273A54356C}">
      <dgm:prSet/>
      <dgm:spPr/>
      <dgm:t>
        <a:bodyPr/>
        <a:lstStyle/>
        <a:p>
          <a:endParaRPr lang="zh-CN" altLang="en-US"/>
        </a:p>
      </dgm:t>
    </dgm:pt>
    <dgm:pt modelId="{E98C6EA7-0727-45B4-812C-86FAE5A68064}" type="sibTrans" cxnId="{08A34141-F876-438E-BDD8-B8273A54356C}">
      <dgm:prSet/>
      <dgm:spPr/>
      <dgm:t>
        <a:bodyPr/>
        <a:lstStyle/>
        <a:p>
          <a:endParaRPr lang="zh-CN" altLang="en-US"/>
        </a:p>
      </dgm:t>
    </dgm:pt>
    <dgm:pt modelId="{88EE5E3B-6080-42AE-A193-5055512C9DE3}">
      <dgm:prSet phldrT="[文本]" custT="1"/>
      <dgm:spPr/>
      <dgm:t>
        <a:bodyPr/>
        <a:lstStyle/>
        <a:p>
          <a:r>
            <a:rPr lang="zh-CN" altLang="en-US" sz="2400" b="0" dirty="0">
              <a:latin typeface="微软雅黑" pitchFamily="34" charset="-122"/>
              <a:ea typeface="微软雅黑" pitchFamily="34" charset="-122"/>
            </a:rPr>
            <a:t>排气过程：</a:t>
          </a:r>
          <a:r>
            <a:rPr lang="en-US" altLang="zh-CN" sz="2400" b="0" dirty="0">
              <a:latin typeface="微软雅黑" pitchFamily="34" charset="-122"/>
              <a:ea typeface="微软雅黑" pitchFamily="34" charset="-122"/>
            </a:rPr>
            <a:t>2—3 </a:t>
          </a:r>
          <a:endParaRPr lang="zh-CN" altLang="en-US" sz="2400" b="0" dirty="0">
            <a:latin typeface="微软雅黑" pitchFamily="34" charset="-122"/>
            <a:ea typeface="微软雅黑" pitchFamily="34" charset="-122"/>
          </a:endParaRPr>
        </a:p>
      </dgm:t>
    </dgm:pt>
    <dgm:pt modelId="{4331FDC2-3E04-4976-A9E7-68064C7BAB16}" type="parTrans" cxnId="{5D47BEAF-59DA-4607-882E-783330CDD4E9}">
      <dgm:prSet/>
      <dgm:spPr/>
      <dgm:t>
        <a:bodyPr/>
        <a:lstStyle/>
        <a:p>
          <a:endParaRPr lang="zh-CN" altLang="en-US"/>
        </a:p>
      </dgm:t>
    </dgm:pt>
    <dgm:pt modelId="{4AB325B1-8E64-4C42-B436-3F1F7CA5C902}" type="sibTrans" cxnId="{5D47BEAF-59DA-4607-882E-783330CDD4E9}">
      <dgm:prSet/>
      <dgm:spPr/>
      <dgm:t>
        <a:bodyPr/>
        <a:lstStyle/>
        <a:p>
          <a:endParaRPr lang="zh-CN" altLang="en-US"/>
        </a:p>
      </dgm:t>
    </dgm:pt>
    <dgm:pt modelId="{A460E676-B031-4FB1-BBE8-4D83F3F7939B}" type="pres">
      <dgm:prSet presAssocID="{C0BD5013-E936-4FD3-AAD2-D4774B5209F6}" presName="linearFlow" presStyleCnt="0">
        <dgm:presLayoutVars>
          <dgm:resizeHandles val="exact"/>
        </dgm:presLayoutVars>
      </dgm:prSet>
      <dgm:spPr/>
    </dgm:pt>
    <dgm:pt modelId="{0573FDA2-E34E-4BE5-83A5-94C021765E9D}" type="pres">
      <dgm:prSet presAssocID="{C05EBC2F-0A37-4C62-8EDD-A2956ECD5A98}" presName="node" presStyleLbl="node1" presStyleIdx="0" presStyleCnt="3" custScaleX="160871">
        <dgm:presLayoutVars>
          <dgm:bulletEnabled val="1"/>
        </dgm:presLayoutVars>
      </dgm:prSet>
      <dgm:spPr/>
    </dgm:pt>
    <dgm:pt modelId="{E359A46A-0ED1-4DBD-BD4F-E3CCE0373F82}" type="pres">
      <dgm:prSet presAssocID="{8DFDE4C6-659C-4C4B-91E0-08CEF985D1E1}" presName="sibTrans" presStyleLbl="sibTrans2D1" presStyleIdx="0" presStyleCnt="2"/>
      <dgm:spPr/>
    </dgm:pt>
    <dgm:pt modelId="{45CAEE90-5958-41B5-809E-20AA96AA8C97}" type="pres">
      <dgm:prSet presAssocID="{8DFDE4C6-659C-4C4B-91E0-08CEF985D1E1}" presName="connectorText" presStyleLbl="sibTrans2D1" presStyleIdx="0" presStyleCnt="2"/>
      <dgm:spPr/>
    </dgm:pt>
    <dgm:pt modelId="{93AF4F33-450C-4B2A-B1DD-6D22DF4A8416}" type="pres">
      <dgm:prSet presAssocID="{5958378D-D32E-4E11-AD74-F439BB124C70}" presName="node" presStyleLbl="node1" presStyleIdx="1" presStyleCnt="3" custScaleX="160871">
        <dgm:presLayoutVars>
          <dgm:bulletEnabled val="1"/>
        </dgm:presLayoutVars>
      </dgm:prSet>
      <dgm:spPr/>
    </dgm:pt>
    <dgm:pt modelId="{BBE194A1-45D5-4C45-95AC-9AE490C83150}" type="pres">
      <dgm:prSet presAssocID="{E98C6EA7-0727-45B4-812C-86FAE5A68064}" presName="sibTrans" presStyleLbl="sibTrans2D1" presStyleIdx="1" presStyleCnt="2"/>
      <dgm:spPr/>
    </dgm:pt>
    <dgm:pt modelId="{3228EF46-3BA3-4FD2-A011-488E68CB447E}" type="pres">
      <dgm:prSet presAssocID="{E98C6EA7-0727-45B4-812C-86FAE5A68064}" presName="connectorText" presStyleLbl="sibTrans2D1" presStyleIdx="1" presStyleCnt="2"/>
      <dgm:spPr/>
    </dgm:pt>
    <dgm:pt modelId="{BD68B125-D01F-429A-9E80-9127F4D9D8F8}" type="pres">
      <dgm:prSet presAssocID="{88EE5E3B-6080-42AE-A193-5055512C9DE3}" presName="node" presStyleLbl="node1" presStyleIdx="2" presStyleCnt="3" custScaleX="160871">
        <dgm:presLayoutVars>
          <dgm:bulletEnabled val="1"/>
        </dgm:presLayoutVars>
      </dgm:prSet>
      <dgm:spPr/>
    </dgm:pt>
  </dgm:ptLst>
  <dgm:cxnLst>
    <dgm:cxn modelId="{7615400D-77E3-45EF-94BB-6BBF29D6CD74}" type="presOf" srcId="{8DFDE4C6-659C-4C4B-91E0-08CEF985D1E1}" destId="{E359A46A-0ED1-4DBD-BD4F-E3CCE0373F82}" srcOrd="0" destOrd="0" presId="urn:microsoft.com/office/officeart/2005/8/layout/process2"/>
    <dgm:cxn modelId="{2F538231-4376-4B54-A3D8-485EC3D4CB9F}" type="presOf" srcId="{8DFDE4C6-659C-4C4B-91E0-08CEF985D1E1}" destId="{45CAEE90-5958-41B5-809E-20AA96AA8C97}" srcOrd="1" destOrd="0" presId="urn:microsoft.com/office/officeart/2005/8/layout/process2"/>
    <dgm:cxn modelId="{D20F6D33-7400-457C-B6EE-BFF518BBA221}" type="presOf" srcId="{5958378D-D32E-4E11-AD74-F439BB124C70}" destId="{93AF4F33-450C-4B2A-B1DD-6D22DF4A8416}" srcOrd="0" destOrd="0" presId="urn:microsoft.com/office/officeart/2005/8/layout/process2"/>
    <dgm:cxn modelId="{99445C38-0452-4873-85F6-FEE1AAA82C02}" type="presOf" srcId="{E98C6EA7-0727-45B4-812C-86FAE5A68064}" destId="{3228EF46-3BA3-4FD2-A011-488E68CB447E}" srcOrd="1" destOrd="0" presId="urn:microsoft.com/office/officeart/2005/8/layout/process2"/>
    <dgm:cxn modelId="{08A34141-F876-438E-BDD8-B8273A54356C}" srcId="{C0BD5013-E936-4FD3-AAD2-D4774B5209F6}" destId="{5958378D-D32E-4E11-AD74-F439BB124C70}" srcOrd="1" destOrd="0" parTransId="{A8326A9D-9651-4353-9BE4-143977C8C5FD}" sibTransId="{E98C6EA7-0727-45B4-812C-86FAE5A68064}"/>
    <dgm:cxn modelId="{BFB23550-5535-4CE1-A459-8DB74395DD00}" type="presOf" srcId="{C0BD5013-E936-4FD3-AAD2-D4774B5209F6}" destId="{A460E676-B031-4FB1-BBE8-4D83F3F7939B}" srcOrd="0" destOrd="0" presId="urn:microsoft.com/office/officeart/2005/8/layout/process2"/>
    <dgm:cxn modelId="{6E8E0375-D7F5-420F-A813-3E02FBE08BD3}" srcId="{C0BD5013-E936-4FD3-AAD2-D4774B5209F6}" destId="{C05EBC2F-0A37-4C62-8EDD-A2956ECD5A98}" srcOrd="0" destOrd="0" parTransId="{F6BF5880-0752-4861-9BCE-B04648AE227B}" sibTransId="{8DFDE4C6-659C-4C4B-91E0-08CEF985D1E1}"/>
    <dgm:cxn modelId="{391D299B-FF54-4A39-82F4-3729DE4215EA}" type="presOf" srcId="{E98C6EA7-0727-45B4-812C-86FAE5A68064}" destId="{BBE194A1-45D5-4C45-95AC-9AE490C83150}" srcOrd="0" destOrd="0" presId="urn:microsoft.com/office/officeart/2005/8/layout/process2"/>
    <dgm:cxn modelId="{C58D36A0-4FFD-43C2-98FC-6F7BA483CA67}" type="presOf" srcId="{88EE5E3B-6080-42AE-A193-5055512C9DE3}" destId="{BD68B125-D01F-429A-9E80-9127F4D9D8F8}" srcOrd="0" destOrd="0" presId="urn:microsoft.com/office/officeart/2005/8/layout/process2"/>
    <dgm:cxn modelId="{5D47BEAF-59DA-4607-882E-783330CDD4E9}" srcId="{C0BD5013-E936-4FD3-AAD2-D4774B5209F6}" destId="{88EE5E3B-6080-42AE-A193-5055512C9DE3}" srcOrd="2" destOrd="0" parTransId="{4331FDC2-3E04-4976-A9E7-68064C7BAB16}" sibTransId="{4AB325B1-8E64-4C42-B436-3F1F7CA5C902}"/>
    <dgm:cxn modelId="{82EA5FD6-7D8A-4A13-8ADE-9B221C1F61D8}" type="presOf" srcId="{C05EBC2F-0A37-4C62-8EDD-A2956ECD5A98}" destId="{0573FDA2-E34E-4BE5-83A5-94C021765E9D}" srcOrd="0" destOrd="0" presId="urn:microsoft.com/office/officeart/2005/8/layout/process2"/>
    <dgm:cxn modelId="{B3A937E9-BAE5-436A-8960-E65F2A538F10}" type="presParOf" srcId="{A460E676-B031-4FB1-BBE8-4D83F3F7939B}" destId="{0573FDA2-E34E-4BE5-83A5-94C021765E9D}" srcOrd="0" destOrd="0" presId="urn:microsoft.com/office/officeart/2005/8/layout/process2"/>
    <dgm:cxn modelId="{56ED801A-4F20-42B1-A51B-A8A97CA07165}" type="presParOf" srcId="{A460E676-B031-4FB1-BBE8-4D83F3F7939B}" destId="{E359A46A-0ED1-4DBD-BD4F-E3CCE0373F82}" srcOrd="1" destOrd="0" presId="urn:microsoft.com/office/officeart/2005/8/layout/process2"/>
    <dgm:cxn modelId="{761DA42F-8792-452A-904E-B70E7D51C0F5}" type="presParOf" srcId="{E359A46A-0ED1-4DBD-BD4F-E3CCE0373F82}" destId="{45CAEE90-5958-41B5-809E-20AA96AA8C97}" srcOrd="0" destOrd="0" presId="urn:microsoft.com/office/officeart/2005/8/layout/process2"/>
    <dgm:cxn modelId="{3E8869CF-B253-42DC-8DCE-5E4A3DE6EAC8}" type="presParOf" srcId="{A460E676-B031-4FB1-BBE8-4D83F3F7939B}" destId="{93AF4F33-450C-4B2A-B1DD-6D22DF4A8416}" srcOrd="2" destOrd="0" presId="urn:microsoft.com/office/officeart/2005/8/layout/process2"/>
    <dgm:cxn modelId="{4E68B3D6-454E-431F-80B0-CC8EBE5E4724}" type="presParOf" srcId="{A460E676-B031-4FB1-BBE8-4D83F3F7939B}" destId="{BBE194A1-45D5-4C45-95AC-9AE490C83150}" srcOrd="3" destOrd="0" presId="urn:microsoft.com/office/officeart/2005/8/layout/process2"/>
    <dgm:cxn modelId="{5E81F143-501D-4390-925B-4B9769982E04}" type="presParOf" srcId="{BBE194A1-45D5-4C45-95AC-9AE490C83150}" destId="{3228EF46-3BA3-4FD2-A011-488E68CB447E}" srcOrd="0" destOrd="0" presId="urn:microsoft.com/office/officeart/2005/8/layout/process2"/>
    <dgm:cxn modelId="{A69F6CDF-B120-4BE8-9BC9-0554C07A16A5}" type="presParOf" srcId="{A460E676-B031-4FB1-BBE8-4D83F3F7939B}" destId="{BD68B125-D01F-429A-9E80-9127F4D9D8F8}" srcOrd="4"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73FDA2-E34E-4BE5-83A5-94C021765E9D}">
      <dsp:nvSpPr>
        <dsp:cNvPr id="0" name=""/>
        <dsp:cNvSpPr/>
      </dsp:nvSpPr>
      <dsp:spPr>
        <a:xfrm>
          <a:off x="0" y="984"/>
          <a:ext cx="3096344" cy="50356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b="0" kern="1200" dirty="0">
              <a:latin typeface="微软雅黑" pitchFamily="34" charset="-122"/>
              <a:ea typeface="微软雅黑" pitchFamily="34" charset="-122"/>
            </a:rPr>
            <a:t>吸气过程：</a:t>
          </a:r>
          <a:r>
            <a:rPr lang="en-US" altLang="zh-CN" sz="2400" b="0" kern="1200" dirty="0">
              <a:latin typeface="微软雅黑" pitchFamily="34" charset="-122"/>
              <a:ea typeface="微软雅黑" pitchFamily="34" charset="-122"/>
            </a:rPr>
            <a:t>4—1</a:t>
          </a:r>
          <a:endParaRPr lang="zh-CN" altLang="en-US" sz="2400" b="0" kern="1200" dirty="0">
            <a:latin typeface="微软雅黑" pitchFamily="34" charset="-122"/>
            <a:ea typeface="微软雅黑" pitchFamily="34" charset="-122"/>
          </a:endParaRPr>
        </a:p>
      </dsp:txBody>
      <dsp:txXfrm>
        <a:off x="14749" y="15733"/>
        <a:ext cx="3066846" cy="474065"/>
      </dsp:txXfrm>
    </dsp:sp>
    <dsp:sp modelId="{E359A46A-0ED1-4DBD-BD4F-E3CCE0373F82}">
      <dsp:nvSpPr>
        <dsp:cNvPr id="0" name=""/>
        <dsp:cNvSpPr/>
      </dsp:nvSpPr>
      <dsp:spPr>
        <a:xfrm rot="5400000">
          <a:off x="1453753" y="517137"/>
          <a:ext cx="188836" cy="22660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p>
      </dsp:txBody>
      <dsp:txXfrm rot="-5400000">
        <a:off x="1480191" y="536021"/>
        <a:ext cx="135961" cy="132185"/>
      </dsp:txXfrm>
    </dsp:sp>
    <dsp:sp modelId="{93AF4F33-450C-4B2A-B1DD-6D22DF4A8416}">
      <dsp:nvSpPr>
        <dsp:cNvPr id="0" name=""/>
        <dsp:cNvSpPr/>
      </dsp:nvSpPr>
      <dsp:spPr>
        <a:xfrm>
          <a:off x="0" y="756330"/>
          <a:ext cx="3096344" cy="50356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b="0" kern="1200" dirty="0">
              <a:latin typeface="微软雅黑" pitchFamily="34" charset="-122"/>
              <a:ea typeface="微软雅黑" pitchFamily="34" charset="-122"/>
            </a:rPr>
            <a:t>压缩过程：</a:t>
          </a:r>
          <a:r>
            <a:rPr lang="en-US" altLang="zh-CN" sz="2400" b="0" kern="1200" dirty="0">
              <a:latin typeface="微软雅黑" pitchFamily="34" charset="-122"/>
              <a:ea typeface="微软雅黑" pitchFamily="34" charset="-122"/>
            </a:rPr>
            <a:t>1—2</a:t>
          </a:r>
          <a:endParaRPr lang="zh-CN" altLang="en-US" sz="2400" b="0" kern="1200" dirty="0">
            <a:latin typeface="微软雅黑" pitchFamily="34" charset="-122"/>
            <a:ea typeface="微软雅黑" pitchFamily="34" charset="-122"/>
          </a:endParaRPr>
        </a:p>
      </dsp:txBody>
      <dsp:txXfrm>
        <a:off x="14749" y="771079"/>
        <a:ext cx="3066846" cy="474065"/>
      </dsp:txXfrm>
    </dsp:sp>
    <dsp:sp modelId="{BBE194A1-45D5-4C45-95AC-9AE490C83150}">
      <dsp:nvSpPr>
        <dsp:cNvPr id="0" name=""/>
        <dsp:cNvSpPr/>
      </dsp:nvSpPr>
      <dsp:spPr>
        <a:xfrm rot="5400000">
          <a:off x="1453753" y="1272482"/>
          <a:ext cx="188836" cy="22660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zh-CN" altLang="en-US" sz="900" kern="1200"/>
        </a:p>
      </dsp:txBody>
      <dsp:txXfrm rot="-5400000">
        <a:off x="1480191" y="1291366"/>
        <a:ext cx="135961" cy="132185"/>
      </dsp:txXfrm>
    </dsp:sp>
    <dsp:sp modelId="{BD68B125-D01F-429A-9E80-9127F4D9D8F8}">
      <dsp:nvSpPr>
        <dsp:cNvPr id="0" name=""/>
        <dsp:cNvSpPr/>
      </dsp:nvSpPr>
      <dsp:spPr>
        <a:xfrm>
          <a:off x="0" y="1511675"/>
          <a:ext cx="3096344" cy="50356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b="0" kern="1200" dirty="0">
              <a:latin typeface="微软雅黑" pitchFamily="34" charset="-122"/>
              <a:ea typeface="微软雅黑" pitchFamily="34" charset="-122"/>
            </a:rPr>
            <a:t>排气过程：</a:t>
          </a:r>
          <a:r>
            <a:rPr lang="en-US" altLang="zh-CN" sz="2400" b="0" kern="1200" dirty="0">
              <a:latin typeface="微软雅黑" pitchFamily="34" charset="-122"/>
              <a:ea typeface="微软雅黑" pitchFamily="34" charset="-122"/>
            </a:rPr>
            <a:t>2—3 </a:t>
          </a:r>
          <a:endParaRPr lang="zh-CN" altLang="en-US" sz="2400" b="0" kern="1200" dirty="0">
            <a:latin typeface="微软雅黑" pitchFamily="34" charset="-122"/>
            <a:ea typeface="微软雅黑" pitchFamily="34" charset="-122"/>
          </a:endParaRPr>
        </a:p>
      </dsp:txBody>
      <dsp:txXfrm>
        <a:off x="14749" y="1526424"/>
        <a:ext cx="3066846" cy="474065"/>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jpe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 Id="rId4"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4" Type="http://schemas.openxmlformats.org/officeDocument/2006/relationships/image" Target="../media/image45.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4" Type="http://schemas.openxmlformats.org/officeDocument/2006/relationships/image" Target="../media/image49.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56.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89F2F74-C90E-4218-8D02-82000E74D2FA}" type="datetimeFigureOut">
              <a:rPr lang="zh-CN" altLang="en-US" smtClean="0"/>
              <a:pPr/>
              <a:t>2019/12/9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9FAE3F4-DC60-4445-BA34-DE163A899399}" type="slidenum">
              <a:rPr lang="zh-CN" altLang="en-US" smtClean="0"/>
              <a:pPr/>
              <a:t>‹#›</a:t>
            </a:fld>
            <a:endParaRPr lang="zh-CN" altLang="en-US"/>
          </a:p>
        </p:txBody>
      </p:sp>
    </p:spTree>
    <p:extLst>
      <p:ext uri="{BB962C8B-B14F-4D97-AF65-F5344CB8AC3E}">
        <p14:creationId xmlns:p14="http://schemas.microsoft.com/office/powerpoint/2010/main" val="34239219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2BE123-A9AE-448F-8D78-F735838CEC6B}" type="datetimeFigureOut">
              <a:rPr lang="zh-CN" altLang="en-US" smtClean="0"/>
              <a:pPr/>
              <a:t>2019/12/9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F5C11B-8088-48D6-99F1-F40A5041271C}" type="slidenum">
              <a:rPr lang="zh-CN" altLang="en-US" smtClean="0"/>
              <a:pPr/>
              <a:t>‹#›</a:t>
            </a:fld>
            <a:endParaRPr lang="zh-CN" altLang="en-US"/>
          </a:p>
        </p:txBody>
      </p:sp>
    </p:spTree>
    <p:extLst>
      <p:ext uri="{BB962C8B-B14F-4D97-AF65-F5344CB8AC3E}">
        <p14:creationId xmlns:p14="http://schemas.microsoft.com/office/powerpoint/2010/main" val="348169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20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22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23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25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26</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27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28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29</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30</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31</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32</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solidFill>
                  <a:prstClr val="black"/>
                </a:solidFill>
              </a:rPr>
              <a:pPr/>
              <a:t>33</a:t>
            </a:fld>
            <a:endParaRPr lang="zh-CN" altLang="en-US">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solidFill>
                  <a:prstClr val="black"/>
                </a:solidFill>
              </a:rPr>
              <a:pPr/>
              <a:t>34</a:t>
            </a:fld>
            <a:endParaRPr lang="zh-CN" altLang="en-US">
              <a:solidFill>
                <a:prstClr val="blac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solidFill>
                  <a:prstClr val="black"/>
                </a:solidFill>
              </a:rPr>
              <a:pPr/>
              <a:t>35</a:t>
            </a:fld>
            <a:endParaRPr lang="zh-CN" altLang="en-US">
              <a:solidFill>
                <a:prstClr val="black"/>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solidFill>
                  <a:prstClr val="black"/>
                </a:solidFill>
              </a:rPr>
              <a:pPr/>
              <a:t>36</a:t>
            </a:fld>
            <a:endParaRPr lang="zh-CN" altLang="en-US">
              <a:solidFill>
                <a:prstClr val="black"/>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37</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38</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39</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40</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41</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42</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solidFill>
                  <a:prstClr val="black"/>
                </a:solidFill>
              </a:rPr>
              <a:pPr/>
              <a:t>43</a:t>
            </a:fld>
            <a:endParaRPr lang="zh-CN" altLang="en-US">
              <a:solidFill>
                <a:prstClr val="black"/>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44</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45</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46</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47</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48</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49</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50</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51</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52</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53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F60BEFF-3D59-4B64-A1A5-6E3D1AE4E261}" type="datetimeFigureOut">
              <a:rPr lang="zh-CN" altLang="en-US" smtClean="0"/>
              <a:pPr/>
              <a:t>2019/12/9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0D8DD09-8CD5-4E92-B2D6-6AE9673121AE}"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7" name="Picture 2" descr="C:\Users\nathan\Desktop\20130513校长报告0511\幻灯片4.PNG"/>
          <p:cNvPicPr>
            <a:picLocks noChangeAspect="1" noChangeArrowheads="1"/>
          </p:cNvPicPr>
          <p:nvPr userDrawn="1"/>
        </p:nvPicPr>
        <p:blipFill>
          <a:blip r:embed="rId2" cstate="print"/>
          <a:srcRect t="6952" b="82546"/>
          <a:stretch>
            <a:fillRect/>
          </a:stretch>
        </p:blipFill>
        <p:spPr bwMode="auto">
          <a:xfrm>
            <a:off x="1587" y="0"/>
            <a:ext cx="9142413" cy="720080"/>
          </a:xfrm>
          <a:prstGeom prst="rect">
            <a:avLst/>
          </a:prstGeom>
          <a:noFill/>
          <a:ln w="9525">
            <a:noFill/>
            <a:miter lim="800000"/>
            <a:headEnd/>
            <a:tailEnd/>
          </a:ln>
        </p:spPr>
      </p:pic>
      <p:sp>
        <p:nvSpPr>
          <p:cNvPr id="10" name="等腰三角形 9"/>
          <p:cNvSpPr/>
          <p:nvPr userDrawn="1"/>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F60BEFF-3D59-4B64-A1A5-6E3D1AE4E261}" type="datetimeFigureOut">
              <a:rPr lang="zh-CN" altLang="en-US" smtClean="0"/>
              <a:pPr/>
              <a:t>2019/12/9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0D8DD09-8CD5-4E92-B2D6-6AE9673121AE}"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3F60BEFF-3D59-4B64-A1A5-6E3D1AE4E261}" type="datetimeFigureOut">
              <a:rPr lang="zh-CN" altLang="en-US" smtClean="0"/>
              <a:pPr/>
              <a:t>2019/12/9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0D8DD09-8CD5-4E92-B2D6-6AE9673121AE}"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F60BEFF-3D59-4B64-A1A5-6E3D1AE4E261}" type="datetimeFigureOut">
              <a:rPr lang="zh-CN" altLang="en-US" smtClean="0"/>
              <a:pPr/>
              <a:t>2019/12/9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0D8DD09-8CD5-4E92-B2D6-6AE9673121AE}"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F60BEFF-3D59-4B64-A1A5-6E3D1AE4E261}" type="datetimeFigureOut">
              <a:rPr lang="zh-CN" altLang="en-US" smtClean="0"/>
              <a:pPr/>
              <a:t>2019/12/9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0D8DD09-8CD5-4E92-B2D6-6AE9673121AE}"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F60BEFF-3D59-4B64-A1A5-6E3D1AE4E261}" type="datetimeFigureOut">
              <a:rPr lang="zh-CN" altLang="en-US" smtClean="0"/>
              <a:pPr/>
              <a:t>2019/12/9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0D8DD09-8CD5-4E92-B2D6-6AE9673121AE}"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F60BEFF-3D59-4B64-A1A5-6E3D1AE4E261}" type="datetimeFigureOut">
              <a:rPr lang="zh-CN" altLang="en-US" smtClean="0"/>
              <a:pPr/>
              <a:t>2019/12/9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0D8DD09-8CD5-4E92-B2D6-6AE9673121AE}"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F60BEFF-3D59-4B64-A1A5-6E3D1AE4E261}" type="datetimeFigureOut">
              <a:rPr lang="zh-CN" altLang="en-US" smtClean="0"/>
              <a:pPr/>
              <a:t>2019/12/9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0D8DD09-8CD5-4E92-B2D6-6AE9673121AE}"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F60BEFF-3D59-4B64-A1A5-6E3D1AE4E261}" type="datetimeFigureOut">
              <a:rPr lang="zh-CN" altLang="en-US" smtClean="0"/>
              <a:pPr/>
              <a:t>2019/12/9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0D8DD09-8CD5-4E92-B2D6-6AE9673121AE}"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F60BEFF-3D59-4B64-A1A5-6E3D1AE4E261}" type="datetimeFigureOut">
              <a:rPr lang="zh-CN" altLang="en-US" smtClean="0"/>
              <a:pPr/>
              <a:t>2019/12/9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0D8DD09-8CD5-4E92-B2D6-6AE9673121AE}"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F60BEFF-3D59-4B64-A1A5-6E3D1AE4E261}" type="datetimeFigureOut">
              <a:rPr lang="zh-CN" altLang="en-US" smtClean="0"/>
              <a:pPr/>
              <a:t>2019/12/9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0D8DD09-8CD5-4E92-B2D6-6AE9673121AE}"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60BEFF-3D59-4B64-A1A5-6E3D1AE4E261}" type="datetimeFigureOut">
              <a:rPr lang="zh-CN" altLang="en-US" smtClean="0"/>
              <a:pPr/>
              <a:t>2019/12/9</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D8DD09-8CD5-4E92-B2D6-6AE9673121AE}"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image" Target="../media/image1.png"/><Relationship Id="rId7" Type="http://schemas.openxmlformats.org/officeDocument/2006/relationships/diagramData" Target="../diagrams/data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11" Type="http://schemas.microsoft.com/office/2007/relationships/diagramDrawing" Target="../diagrams/drawing1.xml"/><Relationship Id="rId5" Type="http://schemas.openxmlformats.org/officeDocument/2006/relationships/image" Target="../media/image4.jpeg"/><Relationship Id="rId10" Type="http://schemas.openxmlformats.org/officeDocument/2006/relationships/diagramColors" Target="../diagrams/colors1.xml"/><Relationship Id="rId4" Type="http://schemas.openxmlformats.org/officeDocument/2006/relationships/image" Target="../media/image3.jpeg"/><Relationship Id="rId9"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notesSlide" Target="../notesSlides/notesSlide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notesSlide" Target="../notesSlides/notesSlide4.xml"/><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5.xml"/><Relationship Id="rId7"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4.jpeg"/><Relationship Id="rId11" Type="http://schemas.openxmlformats.org/officeDocument/2006/relationships/image" Target="../media/image9.wmf"/><Relationship Id="rId5" Type="http://schemas.openxmlformats.org/officeDocument/2006/relationships/image" Target="../media/image3.jpeg"/><Relationship Id="rId10" Type="http://schemas.openxmlformats.org/officeDocument/2006/relationships/oleObject" Target="../embeddings/oleObject4.bin"/><Relationship Id="rId4" Type="http://schemas.openxmlformats.org/officeDocument/2006/relationships/image" Target="../media/image1.png"/><Relationship Id="rId9" Type="http://schemas.openxmlformats.org/officeDocument/2006/relationships/image" Target="../media/image8.wmf"/></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4.jpe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10.xml"/><Relationship Id="rId7"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13.jpeg"/><Relationship Id="rId4" Type="http://schemas.openxmlformats.org/officeDocument/2006/relationships/image" Target="../media/image1.png"/><Relationship Id="rId9" Type="http://schemas.openxmlformats.org/officeDocument/2006/relationships/image" Target="../media/image14.wmf"/></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17.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notesSlide" Target="../notesSlides/notesSlide16.xml"/><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18.wmf"/><Relationship Id="rId4" Type="http://schemas.openxmlformats.org/officeDocument/2006/relationships/image" Target="../media/image1.png"/><Relationship Id="rId9" Type="http://schemas.openxmlformats.org/officeDocument/2006/relationships/oleObject" Target="../embeddings/oleObject7.bin"/></Relationships>
</file>

<file path=ppt/slides/_rels/slide18.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notesSlide" Target="../notesSlides/notesSlide17.xml"/><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4.jpeg"/><Relationship Id="rId4"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4.jpeg"/><Relationship Id="rId4" Type="http://schemas.openxmlformats.org/officeDocument/2006/relationships/image" Target="../media/image3.jpe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30.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12.bin"/><Relationship Id="rId3" Type="http://schemas.openxmlformats.org/officeDocument/2006/relationships/notesSlide" Target="../notesSlides/notesSlide29.xml"/><Relationship Id="rId7" Type="http://schemas.openxmlformats.org/officeDocument/2006/relationships/oleObject" Target="../embeddings/oleObject9.bin"/><Relationship Id="rId12" Type="http://schemas.openxmlformats.org/officeDocument/2006/relationships/image" Target="../media/image25.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4.jpeg"/><Relationship Id="rId11" Type="http://schemas.openxmlformats.org/officeDocument/2006/relationships/oleObject" Target="../embeddings/oleObject11.bin"/><Relationship Id="rId5" Type="http://schemas.openxmlformats.org/officeDocument/2006/relationships/image" Target="../media/image3.jpeg"/><Relationship Id="rId10" Type="http://schemas.openxmlformats.org/officeDocument/2006/relationships/image" Target="../media/image24.wmf"/><Relationship Id="rId4" Type="http://schemas.openxmlformats.org/officeDocument/2006/relationships/image" Target="../media/image1.png"/><Relationship Id="rId9" Type="http://schemas.openxmlformats.org/officeDocument/2006/relationships/oleObject" Target="../embeddings/oleObject10.bin"/><Relationship Id="rId14" Type="http://schemas.openxmlformats.org/officeDocument/2006/relationships/image" Target="../media/image26.wmf"/></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32.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notesSlide" Target="../notesSlides/notesSlide31.xml"/><Relationship Id="rId7"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28.wmf"/><Relationship Id="rId4" Type="http://schemas.openxmlformats.org/officeDocument/2006/relationships/image" Target="../media/image1.png"/><Relationship Id="rId9" Type="http://schemas.openxmlformats.org/officeDocument/2006/relationships/oleObject" Target="../embeddings/oleObject14.bin"/></Relationships>
</file>

<file path=ppt/slides/_rels/slide33.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notesSlide" Target="../notesSlides/notesSlide32.xml"/><Relationship Id="rId7" Type="http://schemas.openxmlformats.org/officeDocument/2006/relationships/oleObject" Target="../embeddings/oleObject15.bin"/><Relationship Id="rId12" Type="http://schemas.openxmlformats.org/officeDocument/2006/relationships/image" Target="../media/image31.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4.jpeg"/><Relationship Id="rId11" Type="http://schemas.openxmlformats.org/officeDocument/2006/relationships/oleObject" Target="../embeddings/oleObject17.bin"/><Relationship Id="rId5" Type="http://schemas.openxmlformats.org/officeDocument/2006/relationships/image" Target="../media/image3.jpeg"/><Relationship Id="rId10" Type="http://schemas.openxmlformats.org/officeDocument/2006/relationships/image" Target="../media/image30.wmf"/><Relationship Id="rId4" Type="http://schemas.openxmlformats.org/officeDocument/2006/relationships/image" Target="../media/image1.png"/><Relationship Id="rId9" Type="http://schemas.openxmlformats.org/officeDocument/2006/relationships/oleObject" Target="../embeddings/oleObject16.bin"/></Relationships>
</file>

<file path=ppt/slides/_rels/slide34.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notesSlide" Target="../notesSlides/notesSlide33.xml"/><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33.wmf"/><Relationship Id="rId4" Type="http://schemas.openxmlformats.org/officeDocument/2006/relationships/image" Target="../media/image1.png"/><Relationship Id="rId9" Type="http://schemas.openxmlformats.org/officeDocument/2006/relationships/oleObject" Target="../embeddings/oleObject19.bin"/></Relationships>
</file>

<file path=ppt/slides/_rels/slide35.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notesSlide" Target="../notesSlides/notesSlide34.xml"/><Relationship Id="rId7" Type="http://schemas.openxmlformats.org/officeDocument/2006/relationships/oleObject" Target="../embeddings/oleObject20.bin"/><Relationship Id="rId12" Type="http://schemas.openxmlformats.org/officeDocument/2006/relationships/image" Target="../media/image36.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4.jpeg"/><Relationship Id="rId11" Type="http://schemas.openxmlformats.org/officeDocument/2006/relationships/oleObject" Target="../embeddings/oleObject22.bin"/><Relationship Id="rId5" Type="http://schemas.openxmlformats.org/officeDocument/2006/relationships/image" Target="../media/image3.jpeg"/><Relationship Id="rId10" Type="http://schemas.openxmlformats.org/officeDocument/2006/relationships/image" Target="../media/image35.wmf"/><Relationship Id="rId4" Type="http://schemas.openxmlformats.org/officeDocument/2006/relationships/image" Target="../media/image1.png"/><Relationship Id="rId9" Type="http://schemas.openxmlformats.org/officeDocument/2006/relationships/oleObject" Target="../embeddings/oleObject21.bin"/></Relationships>
</file>

<file path=ppt/slides/_rels/slide36.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notesSlide" Target="../notesSlides/notesSlide35.xml"/><Relationship Id="rId7"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4.jpeg"/><Relationship Id="rId4" Type="http://schemas.openxmlformats.org/officeDocument/2006/relationships/image" Target="../media/image3.jpe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4.jpeg"/><Relationship Id="rId4" Type="http://schemas.openxmlformats.org/officeDocument/2006/relationships/image" Target="../media/image3.jpeg"/></Relationships>
</file>

<file path=ppt/slides/_rels/slide40.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notesSlide" Target="../notesSlides/notesSlide39.xml"/><Relationship Id="rId7"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41.wmf"/><Relationship Id="rId4" Type="http://schemas.openxmlformats.org/officeDocument/2006/relationships/image" Target="../media/image1.png"/><Relationship Id="rId9" Type="http://schemas.openxmlformats.org/officeDocument/2006/relationships/oleObject" Target="../embeddings/oleObject25.bin"/></Relationships>
</file>

<file path=ppt/slides/_rels/slide41.xml.rels><?xml version="1.0" encoding="UTF-8" standalone="yes"?>
<Relationships xmlns="http://schemas.openxmlformats.org/package/2006/relationships"><Relationship Id="rId8" Type="http://schemas.openxmlformats.org/officeDocument/2006/relationships/image" Target="../media/image42.wmf"/><Relationship Id="rId13" Type="http://schemas.openxmlformats.org/officeDocument/2006/relationships/oleObject" Target="../embeddings/oleObject29.bin"/><Relationship Id="rId3" Type="http://schemas.openxmlformats.org/officeDocument/2006/relationships/notesSlide" Target="../notesSlides/notesSlide40.xml"/><Relationship Id="rId7" Type="http://schemas.openxmlformats.org/officeDocument/2006/relationships/oleObject" Target="../embeddings/oleObject26.bin"/><Relationship Id="rId12" Type="http://schemas.openxmlformats.org/officeDocument/2006/relationships/image" Target="../media/image44.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4.jpeg"/><Relationship Id="rId11" Type="http://schemas.openxmlformats.org/officeDocument/2006/relationships/oleObject" Target="../embeddings/oleObject28.bin"/><Relationship Id="rId5" Type="http://schemas.openxmlformats.org/officeDocument/2006/relationships/image" Target="../media/image3.jpeg"/><Relationship Id="rId10" Type="http://schemas.openxmlformats.org/officeDocument/2006/relationships/image" Target="../media/image43.wmf"/><Relationship Id="rId4" Type="http://schemas.openxmlformats.org/officeDocument/2006/relationships/image" Target="../media/image1.png"/><Relationship Id="rId9" Type="http://schemas.openxmlformats.org/officeDocument/2006/relationships/oleObject" Target="../embeddings/oleObject27.bin"/><Relationship Id="rId14" Type="http://schemas.openxmlformats.org/officeDocument/2006/relationships/image" Target="../media/image45.wmf"/></Relationships>
</file>

<file path=ppt/slides/_rels/slide42.xml.rels><?xml version="1.0" encoding="UTF-8" standalone="yes"?>
<Relationships xmlns="http://schemas.openxmlformats.org/package/2006/relationships"><Relationship Id="rId8" Type="http://schemas.openxmlformats.org/officeDocument/2006/relationships/image" Target="../media/image46.wmf"/><Relationship Id="rId13" Type="http://schemas.openxmlformats.org/officeDocument/2006/relationships/oleObject" Target="../embeddings/oleObject33.bin"/><Relationship Id="rId3" Type="http://schemas.openxmlformats.org/officeDocument/2006/relationships/notesSlide" Target="../notesSlides/notesSlide41.xml"/><Relationship Id="rId7" Type="http://schemas.openxmlformats.org/officeDocument/2006/relationships/oleObject" Target="../embeddings/oleObject30.bin"/><Relationship Id="rId12" Type="http://schemas.openxmlformats.org/officeDocument/2006/relationships/image" Target="../media/image48.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4.jpeg"/><Relationship Id="rId11" Type="http://schemas.openxmlformats.org/officeDocument/2006/relationships/oleObject" Target="../embeddings/oleObject32.bin"/><Relationship Id="rId5" Type="http://schemas.openxmlformats.org/officeDocument/2006/relationships/image" Target="../media/image3.jpeg"/><Relationship Id="rId10" Type="http://schemas.openxmlformats.org/officeDocument/2006/relationships/image" Target="../media/image47.wmf"/><Relationship Id="rId4" Type="http://schemas.openxmlformats.org/officeDocument/2006/relationships/image" Target="../media/image1.png"/><Relationship Id="rId9" Type="http://schemas.openxmlformats.org/officeDocument/2006/relationships/oleObject" Target="../embeddings/oleObject31.bin"/><Relationship Id="rId14" Type="http://schemas.openxmlformats.org/officeDocument/2006/relationships/image" Target="../media/image49.wmf"/></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44.xml.rels><?xml version="1.0" encoding="UTF-8" standalone="yes"?>
<Relationships xmlns="http://schemas.openxmlformats.org/package/2006/relationships"><Relationship Id="rId8" Type="http://schemas.openxmlformats.org/officeDocument/2006/relationships/image" Target="../media/image50.wmf"/><Relationship Id="rId3" Type="http://schemas.openxmlformats.org/officeDocument/2006/relationships/notesSlide" Target="../notesSlides/notesSlide43.xml"/><Relationship Id="rId7"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51.wmf"/><Relationship Id="rId4" Type="http://schemas.openxmlformats.org/officeDocument/2006/relationships/image" Target="../media/image1.png"/><Relationship Id="rId9" Type="http://schemas.openxmlformats.org/officeDocument/2006/relationships/oleObject" Target="../embeddings/oleObject35.bin"/></Relationships>
</file>

<file path=ppt/slides/_rels/slide4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4.jpeg"/><Relationship Id="rId4" Type="http://schemas.openxmlformats.org/officeDocument/2006/relationships/image" Target="../media/image3.jpe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4.jpe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1.png"/><Relationship Id="rId4" Type="http://schemas.openxmlformats.org/officeDocument/2006/relationships/image" Target="../media/image55.png"/></Relationships>
</file>

<file path=ppt/slides/_rels/slide50.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notesSlide" Target="../notesSlides/notesSlide49.xml"/><Relationship Id="rId7" Type="http://schemas.openxmlformats.org/officeDocument/2006/relationships/image" Target="../media/image54.png"/><Relationship Id="rId12" Type="http://schemas.openxmlformats.org/officeDocument/2006/relationships/image" Target="../media/image45.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4.jpeg"/><Relationship Id="rId11" Type="http://schemas.openxmlformats.org/officeDocument/2006/relationships/oleObject" Target="../embeddings/oleObject37.bin"/><Relationship Id="rId5" Type="http://schemas.openxmlformats.org/officeDocument/2006/relationships/image" Target="../media/image3.jpeg"/><Relationship Id="rId10" Type="http://schemas.openxmlformats.org/officeDocument/2006/relationships/image" Target="../media/image56.wmf"/><Relationship Id="rId4" Type="http://schemas.openxmlformats.org/officeDocument/2006/relationships/image" Target="../media/image1.png"/><Relationship Id="rId9" Type="http://schemas.openxmlformats.org/officeDocument/2006/relationships/oleObject" Target="../embeddings/oleObject36.bin"/></Relationships>
</file>

<file path=ppt/slides/_rels/slide51.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notesSlide" Target="../notesSlides/notesSlide50.xml"/><Relationship Id="rId7"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4.jpeg"/><Relationship Id="rId5" Type="http://schemas.openxmlformats.org/officeDocument/2006/relationships/image" Target="../media/image3.jpeg"/><Relationship Id="rId10" Type="http://schemas.openxmlformats.org/officeDocument/2006/relationships/image" Target="../media/image55.png"/><Relationship Id="rId4" Type="http://schemas.openxmlformats.org/officeDocument/2006/relationships/image" Target="../media/image1.png"/><Relationship Id="rId9" Type="http://schemas.openxmlformats.org/officeDocument/2006/relationships/image" Target="../media/image54.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4.jpeg"/><Relationship Id="rId4" Type="http://schemas.openxmlformats.org/officeDocument/2006/relationships/image" Target="../media/image3.jpe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95536" y="1556792"/>
            <a:ext cx="7772400" cy="1470025"/>
          </a:xfrm>
        </p:spPr>
        <p:txBody>
          <a:bodyPr>
            <a:normAutofit/>
          </a:bodyPr>
          <a:lstStyle/>
          <a:p>
            <a:r>
              <a:rPr lang="zh-CN" altLang="en-US" spc="400" dirty="0">
                <a:latin typeface="黑体" pitchFamily="49" charset="-122"/>
                <a:ea typeface="黑体" pitchFamily="49" charset="-122"/>
              </a:rPr>
              <a:t>第八章 热力循环</a:t>
            </a:r>
          </a:p>
        </p:txBody>
      </p:sp>
      <p:sp>
        <p:nvSpPr>
          <p:cNvPr id="3" name="副标题 2"/>
          <p:cNvSpPr>
            <a:spLocks noGrp="1"/>
          </p:cNvSpPr>
          <p:nvPr>
            <p:ph type="subTitle" idx="1"/>
          </p:nvPr>
        </p:nvSpPr>
        <p:spPr/>
        <p:txBody>
          <a:bodyPr/>
          <a:lstStyle/>
          <a:p>
            <a:endParaRPr lang="zh-CN" altLang="en-US" dirty="0"/>
          </a:p>
        </p:txBody>
      </p:sp>
      <p:pic>
        <p:nvPicPr>
          <p:cNvPr id="6" name="Picture 41" descr="C:\Users\nathan\Desktop\20130513校长报告0511\幻灯片1.PNG"/>
          <p:cNvPicPr>
            <a:picLocks noChangeAspect="1" noChangeArrowheads="1"/>
          </p:cNvPicPr>
          <p:nvPr/>
        </p:nvPicPr>
        <p:blipFill>
          <a:blip r:embed="rId2" cstate="print"/>
          <a:srcRect r="-17" b="86746"/>
          <a:stretch>
            <a:fillRect/>
          </a:stretch>
        </p:blipFill>
        <p:spPr bwMode="auto">
          <a:xfrm>
            <a:off x="0" y="0"/>
            <a:ext cx="9144000" cy="908720"/>
          </a:xfrm>
          <a:prstGeom prst="rect">
            <a:avLst/>
          </a:prstGeom>
          <a:noFill/>
          <a:ln w="9525">
            <a:noFill/>
            <a:miter lim="800000"/>
            <a:headEnd/>
            <a:tailEnd/>
          </a:ln>
        </p:spPr>
      </p:pic>
      <p:pic>
        <p:nvPicPr>
          <p:cNvPr id="7" name="Picture 41" descr="C:\Users\nathan\Desktop\20130513校长报告0511\幻灯片1.PNG"/>
          <p:cNvPicPr>
            <a:picLocks noChangeAspect="1" noChangeArrowheads="1"/>
          </p:cNvPicPr>
          <p:nvPr/>
        </p:nvPicPr>
        <p:blipFill>
          <a:blip r:embed="rId2" cstate="print"/>
          <a:srcRect t="46861"/>
          <a:stretch>
            <a:fillRect/>
          </a:stretch>
        </p:blipFill>
        <p:spPr bwMode="auto">
          <a:xfrm>
            <a:off x="0" y="3213000"/>
            <a:ext cx="9145888" cy="3645024"/>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a:t>
            </a:r>
            <a:endParaRPr lang="zh-CN" altLang="en-US" sz="2000" b="1" dirty="0">
              <a:solidFill>
                <a:schemeClr val="tx1"/>
              </a:solidFill>
              <a:latin typeface="黑体" pitchFamily="49" charset="-122"/>
              <a:ea typeface="黑体" pitchFamily="49" charset="-122"/>
            </a:endParaRPr>
          </a:p>
        </p:txBody>
      </p:sp>
      <p:sp>
        <p:nvSpPr>
          <p:cNvPr id="22" name="Rectangle 4"/>
          <p:cNvSpPr>
            <a:spLocks noChangeArrowheads="1"/>
          </p:cNvSpPr>
          <p:nvPr/>
        </p:nvSpPr>
        <p:spPr bwMode="auto">
          <a:xfrm>
            <a:off x="715516" y="2348880"/>
            <a:ext cx="5008612" cy="1080120"/>
          </a:xfrm>
          <a:prstGeom prst="rect">
            <a:avLst/>
          </a:prstGeom>
          <a:noFill/>
          <a:ln w="9525">
            <a:noFill/>
            <a:miter lim="800000"/>
            <a:headEnd/>
            <a:tailEnd/>
          </a:ln>
          <a:effectLst/>
        </p:spPr>
        <p:txBody>
          <a:bodyPr/>
          <a:lstStyle/>
          <a:p>
            <a:pPr>
              <a:lnSpc>
                <a:spcPct val="120000"/>
              </a:lnSpc>
              <a:spcBef>
                <a:spcPts val="1200"/>
              </a:spcBef>
            </a:pPr>
            <a:r>
              <a:rPr lang="zh-CN" altLang="en-US" sz="2400" dirty="0">
                <a:latin typeface="微软雅黑" pitchFamily="34" charset="-122"/>
                <a:ea typeface="微软雅黑" pitchFamily="34" charset="-122"/>
              </a:rPr>
              <a:t>忽略活塞与气缸盖之间的间隙，并假定压气机工作过程为可逆过程：</a:t>
            </a:r>
          </a:p>
        </p:txBody>
      </p:sp>
      <p:sp>
        <p:nvSpPr>
          <p:cNvPr id="33" name="TextBox 32"/>
          <p:cNvSpPr txBox="1"/>
          <p:nvPr/>
        </p:nvSpPr>
        <p:spPr>
          <a:xfrm>
            <a:off x="108012" y="1143000"/>
            <a:ext cx="3023828" cy="523220"/>
          </a:xfrm>
          <a:prstGeom prst="rect">
            <a:avLst/>
          </a:prstGeom>
          <a:noFill/>
        </p:spPr>
        <p:txBody>
          <a:bodyPr wrap="square">
            <a:spAutoFit/>
          </a:bodyPr>
          <a:lstStyle/>
          <a:p>
            <a:pPr>
              <a:defRPr/>
            </a:pPr>
            <a:r>
              <a:rPr lang="en-US" altLang="zh-CN" sz="2800" b="1" dirty="0">
                <a:solidFill>
                  <a:schemeClr val="accent1">
                    <a:lumMod val="75000"/>
                  </a:schemeClr>
                </a:solidFill>
                <a:latin typeface="微软雅黑" pitchFamily="34" charset="-122"/>
                <a:ea typeface="微软雅黑" pitchFamily="34" charset="-122"/>
                <a:cs typeface="Times New Roman" pitchFamily="18" charset="0"/>
              </a:rPr>
              <a:t>8-2 </a:t>
            </a:r>
            <a:r>
              <a:rPr lang="zh-CN" altLang="en-US" sz="2800" b="1" dirty="0">
                <a:solidFill>
                  <a:schemeClr val="accent1">
                    <a:lumMod val="75000"/>
                  </a:schemeClr>
                </a:solidFill>
                <a:latin typeface="微软雅黑" pitchFamily="34" charset="-122"/>
                <a:ea typeface="微软雅黑" pitchFamily="34" charset="-122"/>
                <a:cs typeface="Times New Roman" pitchFamily="18" charset="0"/>
              </a:rPr>
              <a:t>压气机循环</a:t>
            </a:r>
          </a:p>
        </p:txBody>
      </p:sp>
      <p:sp>
        <p:nvSpPr>
          <p:cNvPr id="34" name="TextBox 37"/>
          <p:cNvSpPr txBox="1">
            <a:spLocks noChangeArrowheads="1"/>
          </p:cNvSpPr>
          <p:nvPr/>
        </p:nvSpPr>
        <p:spPr bwMode="auto">
          <a:xfrm>
            <a:off x="805780" y="1785926"/>
            <a:ext cx="4918348" cy="523220"/>
          </a:xfrm>
          <a:prstGeom prst="rect">
            <a:avLst/>
          </a:prstGeom>
          <a:noFill/>
          <a:ln w="9525">
            <a:noFill/>
            <a:miter lim="800000"/>
            <a:headEnd/>
            <a:tailEnd/>
          </a:ln>
        </p:spPr>
        <p:txBody>
          <a:bodyPr wrap="square">
            <a:spAutoFit/>
          </a:bodyPr>
          <a:lstStyle/>
          <a:p>
            <a:r>
              <a:rPr lang="zh-CN" altLang="en-US" sz="2800" dirty="0">
                <a:solidFill>
                  <a:srgbClr val="C00000"/>
                </a:solidFill>
                <a:latin typeface="微软雅黑" pitchFamily="34" charset="-122"/>
                <a:ea typeface="微软雅黑" pitchFamily="34" charset="-122"/>
              </a:rPr>
              <a:t>单级活塞式压气机的工作原理</a:t>
            </a:r>
            <a:endParaRPr lang="zh-CN" altLang="en-US" sz="2800" dirty="0">
              <a:latin typeface="微软雅黑" pitchFamily="34" charset="-122"/>
              <a:ea typeface="微软雅黑" pitchFamily="34" charset="-122"/>
            </a:endParaRPr>
          </a:p>
        </p:txBody>
      </p:sp>
      <p:sp>
        <p:nvSpPr>
          <p:cNvPr id="35" name="矩形 34"/>
          <p:cNvSpPr/>
          <p:nvPr/>
        </p:nvSpPr>
        <p:spPr>
          <a:xfrm>
            <a:off x="144016" y="1799395"/>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1.</a:t>
            </a:r>
            <a:endParaRPr lang="zh-CN" altLang="en-US" sz="2800" i="1" dirty="0">
              <a:solidFill>
                <a:srgbClr val="C00000"/>
              </a:solidFill>
              <a:latin typeface="Bernard MT Condensed"/>
            </a:endParaRPr>
          </a:p>
        </p:txBody>
      </p:sp>
      <p:grpSp>
        <p:nvGrpSpPr>
          <p:cNvPr id="20"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pic>
        <p:nvPicPr>
          <p:cNvPr id="24" name="Picture 4"/>
          <p:cNvPicPr>
            <a:picLocks noChangeAspect="1" noChangeArrowheads="1"/>
          </p:cNvPicPr>
          <p:nvPr/>
        </p:nvPicPr>
        <p:blipFill>
          <a:blip r:embed="rId6" cstate="print"/>
          <a:srcRect/>
          <a:stretch>
            <a:fillRect/>
          </a:stretch>
        </p:blipFill>
        <p:spPr bwMode="auto">
          <a:xfrm>
            <a:off x="5896887" y="2266120"/>
            <a:ext cx="2520280" cy="3645775"/>
          </a:xfrm>
          <a:prstGeom prst="rect">
            <a:avLst/>
          </a:prstGeom>
          <a:noFill/>
          <a:ln w="9525">
            <a:noFill/>
            <a:miter lim="800000"/>
            <a:headEnd/>
            <a:tailEnd/>
          </a:ln>
        </p:spPr>
      </p:pic>
      <p:grpSp>
        <p:nvGrpSpPr>
          <p:cNvPr id="26" name="组合 25"/>
          <p:cNvGrpSpPr/>
          <p:nvPr/>
        </p:nvGrpSpPr>
        <p:grpSpPr>
          <a:xfrm>
            <a:off x="539552" y="3429000"/>
            <a:ext cx="4608512" cy="2016224"/>
            <a:chOff x="539552" y="3429000"/>
            <a:chExt cx="4608512" cy="2016224"/>
          </a:xfrm>
        </p:grpSpPr>
        <p:grpSp>
          <p:nvGrpSpPr>
            <p:cNvPr id="37" name="组合 36"/>
            <p:cNvGrpSpPr/>
            <p:nvPr/>
          </p:nvGrpSpPr>
          <p:grpSpPr>
            <a:xfrm>
              <a:off x="1547664" y="3429000"/>
              <a:ext cx="3600400" cy="2016224"/>
              <a:chOff x="1979712" y="3645024"/>
              <a:chExt cx="3600400" cy="2016224"/>
            </a:xfrm>
          </p:grpSpPr>
          <p:sp>
            <p:nvSpPr>
              <p:cNvPr id="30" name="左大括号 29"/>
              <p:cNvSpPr/>
              <p:nvPr/>
            </p:nvSpPr>
            <p:spPr>
              <a:xfrm>
                <a:off x="1979712" y="3861048"/>
                <a:ext cx="360040" cy="1584176"/>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31" name="图示 30"/>
              <p:cNvGraphicFramePr/>
              <p:nvPr>
                <p:extLst>
                  <p:ext uri="{D42A27DB-BD31-4B8C-83A1-F6EECF244321}">
                    <p14:modId xmlns:p14="http://schemas.microsoft.com/office/powerpoint/2010/main" val="1319733071"/>
                  </p:ext>
                </p:extLst>
              </p:nvPr>
            </p:nvGraphicFramePr>
            <p:xfrm>
              <a:off x="2483768" y="3645024"/>
              <a:ext cx="3096344" cy="201622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sp>
          <p:nvSpPr>
            <p:cNvPr id="32" name="矩形 31"/>
            <p:cNvSpPr/>
            <p:nvPr/>
          </p:nvSpPr>
          <p:spPr>
            <a:xfrm>
              <a:off x="539552" y="3717032"/>
              <a:ext cx="936104" cy="1200329"/>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2400" dirty="0">
                  <a:solidFill>
                    <a:schemeClr val="accent1">
                      <a:lumMod val="75000"/>
                    </a:schemeClr>
                  </a:solidFill>
                  <a:latin typeface="微软雅黑" pitchFamily="34" charset="-122"/>
                  <a:ea typeface="微软雅黑" pitchFamily="34" charset="-122"/>
                </a:rPr>
                <a:t>理想工作过程</a:t>
              </a:r>
            </a:p>
          </p:txBody>
        </p:sp>
      </p:grpSp>
      <p:sp>
        <p:nvSpPr>
          <p:cNvPr id="36" name="矩形 35"/>
          <p:cNvSpPr/>
          <p:nvPr/>
        </p:nvSpPr>
        <p:spPr>
          <a:xfrm>
            <a:off x="571472" y="5554266"/>
            <a:ext cx="4482406" cy="683264"/>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60000"/>
              </a:lnSpc>
            </a:pPr>
            <a:r>
              <a:rPr lang="zh-CN" altLang="en-US" sz="2400" dirty="0">
                <a:latin typeface="Times New Roman" pitchFamily="18" charset="0"/>
                <a:ea typeface="微软雅黑" pitchFamily="34" charset="-122"/>
                <a:cs typeface="Times New Roman" pitchFamily="18" charset="0"/>
              </a:rPr>
              <a:t>压气机循环图用 </a:t>
            </a:r>
            <a:r>
              <a:rPr lang="en-US" altLang="zh-CN" sz="2400" b="1" i="1" dirty="0">
                <a:latin typeface="Times New Roman" pitchFamily="18" charset="0"/>
                <a:ea typeface="微软雅黑" pitchFamily="34" charset="-122"/>
                <a:cs typeface="Times New Roman" pitchFamily="18" charset="0"/>
              </a:rPr>
              <a:t>p-V</a:t>
            </a:r>
            <a:r>
              <a:rPr lang="en-US" altLang="zh-CN" sz="2400" i="1" dirty="0">
                <a:latin typeface="Times New Roman" pitchFamily="18" charset="0"/>
                <a:ea typeface="微软雅黑" pitchFamily="34" charset="-122"/>
                <a:cs typeface="Times New Roman" pitchFamily="18" charset="0"/>
              </a:rPr>
              <a:t> </a:t>
            </a:r>
            <a:r>
              <a:rPr lang="zh-CN" altLang="en-US" sz="2400" dirty="0">
                <a:latin typeface="Times New Roman" pitchFamily="18" charset="0"/>
                <a:ea typeface="微软雅黑" pitchFamily="34" charset="-122"/>
                <a:cs typeface="Times New Roman" pitchFamily="18" charset="0"/>
              </a:rPr>
              <a:t>图较方便。</a:t>
            </a:r>
          </a:p>
        </p:txBody>
      </p:sp>
      <p:sp>
        <p:nvSpPr>
          <p:cNvPr id="38" name="TextBox 37"/>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4" grpId="0"/>
      <p:bldP spid="35" grpId="0" animBg="1"/>
      <p:bldP spid="3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a:t>
            </a:r>
            <a:endParaRPr lang="zh-CN" altLang="en-US" sz="2000" b="1" dirty="0">
              <a:solidFill>
                <a:schemeClr val="tx1"/>
              </a:solidFill>
              <a:latin typeface="黑体" pitchFamily="49" charset="-122"/>
              <a:ea typeface="黑体" pitchFamily="49" charset="-122"/>
            </a:endParaRPr>
          </a:p>
        </p:txBody>
      </p:sp>
      <p:sp>
        <p:nvSpPr>
          <p:cNvPr id="22" name="Rectangle 4"/>
          <p:cNvSpPr>
            <a:spLocks noChangeArrowheads="1"/>
          </p:cNvSpPr>
          <p:nvPr/>
        </p:nvSpPr>
        <p:spPr bwMode="auto">
          <a:xfrm>
            <a:off x="314772" y="1702110"/>
            <a:ext cx="8309098" cy="1366849"/>
          </a:xfrm>
          <a:prstGeom prst="rect">
            <a:avLst/>
          </a:prstGeom>
          <a:noFill/>
          <a:ln w="9525">
            <a:noFill/>
            <a:miter lim="800000"/>
            <a:headEnd/>
            <a:tailEnd/>
          </a:ln>
          <a:effectLst/>
        </p:spPr>
        <p:txBody>
          <a:bodyPr/>
          <a:lstStyle/>
          <a:p>
            <a:pPr>
              <a:lnSpc>
                <a:spcPct val="150000"/>
              </a:lnSpc>
              <a:spcBef>
                <a:spcPts val="1200"/>
              </a:spcBef>
            </a:pPr>
            <a:r>
              <a:rPr lang="zh-CN" altLang="en-US" sz="2800" dirty="0">
                <a:latin typeface="微软雅黑" pitchFamily="34" charset="-122"/>
                <a:ea typeface="微软雅黑" pitchFamily="34" charset="-122"/>
              </a:rPr>
              <a:t>单级活塞式压气机一个循环的工作过程可分为吸气、压缩、排气三个阶段。</a:t>
            </a:r>
          </a:p>
        </p:txBody>
      </p:sp>
      <p:sp>
        <p:nvSpPr>
          <p:cNvPr id="34" name="TextBox 37"/>
          <p:cNvSpPr txBox="1">
            <a:spLocks noChangeArrowheads="1"/>
          </p:cNvSpPr>
          <p:nvPr/>
        </p:nvSpPr>
        <p:spPr bwMode="auto">
          <a:xfrm>
            <a:off x="827584" y="1196752"/>
            <a:ext cx="2470076"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压气机的耗功</a:t>
            </a:r>
          </a:p>
        </p:txBody>
      </p:sp>
      <p:sp>
        <p:nvSpPr>
          <p:cNvPr id="35" name="矩形 34"/>
          <p:cNvSpPr/>
          <p:nvPr/>
        </p:nvSpPr>
        <p:spPr>
          <a:xfrm>
            <a:off x="165820" y="1210221"/>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2.</a:t>
            </a:r>
            <a:endParaRPr lang="zh-CN" altLang="en-US" sz="2800" i="1" dirty="0">
              <a:solidFill>
                <a:srgbClr val="C00000"/>
              </a:solidFill>
              <a:latin typeface="Bernard MT Condensed"/>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grpSp>
        <p:nvGrpSpPr>
          <p:cNvPr id="43" name="组合 42"/>
          <p:cNvGrpSpPr/>
          <p:nvPr/>
        </p:nvGrpSpPr>
        <p:grpSpPr>
          <a:xfrm>
            <a:off x="467544" y="3212976"/>
            <a:ext cx="7992888" cy="2736304"/>
            <a:chOff x="467544" y="3212976"/>
            <a:chExt cx="7992888" cy="2736304"/>
          </a:xfrm>
        </p:grpSpPr>
        <p:sp>
          <p:nvSpPr>
            <p:cNvPr id="38" name="圆角矩形 37"/>
            <p:cNvSpPr/>
            <p:nvPr/>
          </p:nvSpPr>
          <p:spPr>
            <a:xfrm>
              <a:off x="3007246" y="3212976"/>
              <a:ext cx="5453186" cy="273630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a:lnSpc>
                  <a:spcPct val="150000"/>
                </a:lnSpc>
                <a:spcBef>
                  <a:spcPts val="600"/>
                </a:spcBef>
                <a:buAutoNum type="arabicParenBoth"/>
              </a:pPr>
              <a:r>
                <a:rPr lang="zh-CN" altLang="en-US" sz="2400" dirty="0">
                  <a:solidFill>
                    <a:schemeClr val="tx1"/>
                  </a:solidFill>
                  <a:latin typeface="Times New Roman" pitchFamily="18" charset="0"/>
                  <a:ea typeface="微软雅黑" pitchFamily="34" charset="-122"/>
                  <a:cs typeface="Times New Roman" pitchFamily="18" charset="0"/>
                </a:rPr>
                <a:t> 吸气压力为 </a:t>
              </a:r>
              <a:r>
                <a:rPr lang="en-US" altLang="zh-CN" sz="2400" b="1" i="1" dirty="0">
                  <a:solidFill>
                    <a:schemeClr val="tx1"/>
                  </a:solidFill>
                  <a:latin typeface="Times New Roman" pitchFamily="18" charset="0"/>
                  <a:ea typeface="微软雅黑" pitchFamily="34" charset="-122"/>
                  <a:cs typeface="Times New Roman" pitchFamily="18" charset="0"/>
                </a:rPr>
                <a:t>p</a:t>
              </a:r>
              <a:r>
                <a:rPr lang="en-US" altLang="zh-CN" sz="2400" b="1" baseline="-25000" dirty="0">
                  <a:solidFill>
                    <a:schemeClr val="tx1"/>
                  </a:solidFill>
                  <a:latin typeface="Times New Roman" pitchFamily="18" charset="0"/>
                  <a:ea typeface="微软雅黑" pitchFamily="34" charset="-122"/>
                  <a:cs typeface="Times New Roman" pitchFamily="18" charset="0"/>
                </a:rPr>
                <a:t>1</a:t>
              </a:r>
              <a:r>
                <a:rPr lang="en-US" altLang="zh-CN" sz="2400" baseline="-25000" dirty="0">
                  <a:solidFill>
                    <a:schemeClr val="tx1"/>
                  </a:solidFill>
                  <a:latin typeface="Times New Roman" pitchFamily="18" charset="0"/>
                  <a:ea typeface="微软雅黑" pitchFamily="34" charset="-122"/>
                  <a:cs typeface="Times New Roman" pitchFamily="18" charset="0"/>
                </a:rPr>
                <a:t> </a:t>
              </a:r>
              <a:r>
                <a:rPr lang="zh-CN" altLang="en-US" sz="2400" dirty="0">
                  <a:solidFill>
                    <a:schemeClr val="tx1"/>
                  </a:solidFill>
                  <a:latin typeface="Times New Roman" pitchFamily="18" charset="0"/>
                  <a:ea typeface="微软雅黑" pitchFamily="34" charset="-122"/>
                  <a:cs typeface="Times New Roman" pitchFamily="18" charset="0"/>
                </a:rPr>
                <a:t>；</a:t>
              </a:r>
              <a:endParaRPr lang="en-US" altLang="zh-CN" sz="2400" dirty="0">
                <a:solidFill>
                  <a:schemeClr val="tx1"/>
                </a:solidFill>
                <a:latin typeface="Times New Roman" pitchFamily="18" charset="0"/>
                <a:ea typeface="微软雅黑" pitchFamily="34" charset="-122"/>
                <a:cs typeface="Times New Roman" pitchFamily="18" charset="0"/>
              </a:endParaRPr>
            </a:p>
            <a:p>
              <a:pPr marL="342900">
                <a:lnSpc>
                  <a:spcPct val="150000"/>
                </a:lnSpc>
                <a:buAutoNum type="arabicParenBoth"/>
              </a:pPr>
              <a:r>
                <a:rPr lang="zh-CN" altLang="en-US" sz="2400" dirty="0">
                  <a:solidFill>
                    <a:schemeClr val="tx1"/>
                  </a:solidFill>
                  <a:latin typeface="Times New Roman" pitchFamily="18" charset="0"/>
                  <a:ea typeface="微软雅黑" pitchFamily="34" charset="-122"/>
                  <a:cs typeface="Times New Roman" pitchFamily="18" charset="0"/>
                </a:rPr>
                <a:t> 质量</a:t>
              </a:r>
              <a:r>
                <a:rPr lang="en-US" altLang="zh-CN" sz="2400" b="1" i="1" dirty="0" err="1">
                  <a:solidFill>
                    <a:schemeClr val="tx1"/>
                  </a:solidFill>
                  <a:latin typeface="Times New Roman" pitchFamily="18" charset="0"/>
                  <a:ea typeface="微软雅黑" pitchFamily="34" charset="-122"/>
                  <a:cs typeface="Times New Roman" pitchFamily="18" charset="0"/>
                </a:rPr>
                <a:t>q</a:t>
              </a:r>
              <a:r>
                <a:rPr lang="en-US" altLang="zh-CN" sz="2400" b="1" i="1" baseline="-25000" dirty="0" err="1">
                  <a:solidFill>
                    <a:schemeClr val="tx1"/>
                  </a:solidFill>
                  <a:latin typeface="Times New Roman" pitchFamily="18" charset="0"/>
                  <a:ea typeface="微软雅黑" pitchFamily="34" charset="-122"/>
                  <a:cs typeface="Times New Roman" pitchFamily="18" charset="0"/>
                </a:rPr>
                <a:t>m</a:t>
              </a:r>
              <a:r>
                <a:rPr lang="en-US" altLang="zh-CN" sz="2400" i="1" dirty="0">
                  <a:solidFill>
                    <a:schemeClr val="tx1"/>
                  </a:solidFill>
                  <a:latin typeface="Times New Roman" pitchFamily="18" charset="0"/>
                  <a:ea typeface="微软雅黑" pitchFamily="34" charset="-122"/>
                  <a:cs typeface="Times New Roman" pitchFamily="18" charset="0"/>
                </a:rPr>
                <a:t> </a:t>
              </a:r>
              <a:r>
                <a:rPr lang="zh-CN" altLang="en-US" sz="2400" dirty="0">
                  <a:solidFill>
                    <a:schemeClr val="tx1"/>
                  </a:solidFill>
                  <a:latin typeface="Times New Roman" pitchFamily="18" charset="0"/>
                  <a:ea typeface="微软雅黑" pitchFamily="34" charset="-122"/>
                  <a:cs typeface="Times New Roman" pitchFamily="18" charset="0"/>
                </a:rPr>
                <a:t>和容积</a:t>
              </a:r>
              <a:r>
                <a:rPr lang="en-US" altLang="zh-CN" sz="2400" b="1" i="1" dirty="0">
                  <a:solidFill>
                    <a:schemeClr val="tx1"/>
                  </a:solidFill>
                  <a:latin typeface="Times New Roman" pitchFamily="18" charset="0"/>
                  <a:ea typeface="微软雅黑" pitchFamily="34" charset="-122"/>
                  <a:cs typeface="Times New Roman" pitchFamily="18" charset="0"/>
                </a:rPr>
                <a:t>V</a:t>
              </a:r>
              <a:r>
                <a:rPr lang="en-US" altLang="zh-CN" sz="2400" i="1" dirty="0">
                  <a:solidFill>
                    <a:schemeClr val="tx1"/>
                  </a:solidFill>
                  <a:latin typeface="Times New Roman" pitchFamily="18" charset="0"/>
                  <a:ea typeface="微软雅黑" pitchFamily="34" charset="-122"/>
                  <a:cs typeface="Times New Roman" pitchFamily="18" charset="0"/>
                </a:rPr>
                <a:t> </a:t>
              </a:r>
              <a:r>
                <a:rPr lang="zh-CN" altLang="en-US" sz="2400" dirty="0">
                  <a:solidFill>
                    <a:schemeClr val="tx1"/>
                  </a:solidFill>
                  <a:latin typeface="Times New Roman" pitchFamily="18" charset="0"/>
                  <a:ea typeface="微软雅黑" pitchFamily="34" charset="-122"/>
                  <a:cs typeface="Times New Roman" pitchFamily="18" charset="0"/>
                </a:rPr>
                <a:t>不断增加；</a:t>
              </a:r>
              <a:endParaRPr lang="en-US" altLang="zh-CN" sz="2400" dirty="0">
                <a:solidFill>
                  <a:schemeClr val="tx1"/>
                </a:solidFill>
                <a:latin typeface="Times New Roman" pitchFamily="18" charset="0"/>
                <a:ea typeface="微软雅黑" pitchFamily="34" charset="-122"/>
                <a:cs typeface="Times New Roman" pitchFamily="18" charset="0"/>
              </a:endParaRPr>
            </a:p>
            <a:p>
              <a:pPr marL="342900">
                <a:lnSpc>
                  <a:spcPct val="150000"/>
                </a:lnSpc>
                <a:buAutoNum type="arabicParenBoth"/>
              </a:pPr>
              <a:r>
                <a:rPr lang="zh-CN" altLang="en-US" sz="2400" dirty="0">
                  <a:solidFill>
                    <a:schemeClr val="tx1"/>
                  </a:solidFill>
                  <a:latin typeface="Times New Roman" pitchFamily="18" charset="0"/>
                  <a:ea typeface="微软雅黑" pitchFamily="34" charset="-122"/>
                  <a:cs typeface="Times New Roman" pitchFamily="18" charset="0"/>
                </a:rPr>
                <a:t> 气体状态</a:t>
              </a:r>
              <a:r>
                <a:rPr lang="en-US" altLang="zh-CN" sz="2400" dirty="0">
                  <a:solidFill>
                    <a:schemeClr val="tx1"/>
                  </a:solidFill>
                  <a:latin typeface="Times New Roman" pitchFamily="18" charset="0"/>
                  <a:ea typeface="微软雅黑" pitchFamily="34" charset="-122"/>
                  <a:cs typeface="Times New Roman" pitchFamily="18" charset="0"/>
                </a:rPr>
                <a:t>( </a:t>
              </a:r>
              <a:r>
                <a:rPr lang="en-US" altLang="zh-CN" sz="2400" b="1" i="1" dirty="0">
                  <a:solidFill>
                    <a:schemeClr val="tx1"/>
                  </a:solidFill>
                  <a:latin typeface="Times New Roman" pitchFamily="18" charset="0"/>
                  <a:ea typeface="微软雅黑" pitchFamily="34" charset="-122"/>
                  <a:cs typeface="Times New Roman" pitchFamily="18" charset="0"/>
                </a:rPr>
                <a:t>p</a:t>
              </a:r>
              <a:r>
                <a:rPr lang="en-US" altLang="zh-CN" sz="2400" b="1" baseline="-25000" dirty="0">
                  <a:solidFill>
                    <a:schemeClr val="tx1"/>
                  </a:solidFill>
                  <a:latin typeface="Times New Roman" pitchFamily="18" charset="0"/>
                  <a:ea typeface="微软雅黑" pitchFamily="34" charset="-122"/>
                  <a:cs typeface="Times New Roman" pitchFamily="18" charset="0"/>
                </a:rPr>
                <a:t>1 </a:t>
              </a:r>
              <a:r>
                <a:rPr lang="en-US" altLang="zh-CN" sz="2400" b="1" dirty="0">
                  <a:solidFill>
                    <a:schemeClr val="tx1"/>
                  </a:solidFill>
                  <a:latin typeface="Times New Roman" pitchFamily="18" charset="0"/>
                  <a:ea typeface="微软雅黑" pitchFamily="34" charset="-122"/>
                  <a:cs typeface="Times New Roman" pitchFamily="18" charset="0"/>
                </a:rPr>
                <a:t>, </a:t>
              </a:r>
              <a:r>
                <a:rPr lang="en-US" altLang="zh-CN" sz="2400" b="1" i="1" dirty="0">
                  <a:solidFill>
                    <a:schemeClr val="tx1"/>
                  </a:solidFill>
                  <a:latin typeface="Times New Roman" pitchFamily="18" charset="0"/>
                  <a:ea typeface="微软雅黑" pitchFamily="34" charset="-122"/>
                  <a:cs typeface="Times New Roman" pitchFamily="18" charset="0"/>
                </a:rPr>
                <a:t>v</a:t>
              </a:r>
              <a:r>
                <a:rPr lang="en-US" altLang="zh-CN" sz="2400" b="1" baseline="-25000" dirty="0">
                  <a:solidFill>
                    <a:schemeClr val="tx1"/>
                  </a:solidFill>
                  <a:latin typeface="Times New Roman" pitchFamily="18" charset="0"/>
                  <a:ea typeface="微软雅黑" pitchFamily="34" charset="-122"/>
                  <a:cs typeface="Times New Roman" pitchFamily="18" charset="0"/>
                </a:rPr>
                <a:t>1</a:t>
              </a:r>
              <a:r>
                <a:rPr lang="en-US" altLang="zh-CN" sz="2400" b="1" dirty="0">
                  <a:solidFill>
                    <a:schemeClr val="tx1"/>
                  </a:solidFill>
                  <a:latin typeface="Times New Roman" pitchFamily="18" charset="0"/>
                  <a:ea typeface="微软雅黑" pitchFamily="34" charset="-122"/>
                  <a:cs typeface="Times New Roman" pitchFamily="18" charset="0"/>
                </a:rPr>
                <a:t> </a:t>
              </a:r>
              <a:r>
                <a:rPr lang="en-US" altLang="zh-CN" sz="2400" dirty="0">
                  <a:solidFill>
                    <a:schemeClr val="tx1"/>
                  </a:solidFill>
                  <a:latin typeface="Times New Roman" pitchFamily="18" charset="0"/>
                  <a:ea typeface="微软雅黑" pitchFamily="34" charset="-122"/>
                  <a:cs typeface="Times New Roman" pitchFamily="18" charset="0"/>
                </a:rPr>
                <a:t>)</a:t>
              </a:r>
              <a:r>
                <a:rPr lang="zh-CN" altLang="en-US" sz="2400" dirty="0">
                  <a:solidFill>
                    <a:schemeClr val="tx1"/>
                  </a:solidFill>
                  <a:latin typeface="Times New Roman" pitchFamily="18" charset="0"/>
                  <a:ea typeface="微软雅黑" pitchFamily="34" charset="-122"/>
                  <a:cs typeface="Times New Roman" pitchFamily="18" charset="0"/>
                </a:rPr>
                <a:t>不变；</a:t>
              </a:r>
              <a:endParaRPr lang="en-US" altLang="zh-CN" sz="2400" dirty="0">
                <a:solidFill>
                  <a:schemeClr val="tx1"/>
                </a:solidFill>
                <a:latin typeface="Times New Roman" pitchFamily="18" charset="0"/>
                <a:ea typeface="微软雅黑" pitchFamily="34" charset="-122"/>
                <a:cs typeface="Times New Roman" pitchFamily="18" charset="0"/>
              </a:endParaRPr>
            </a:p>
            <a:p>
              <a:pPr marL="342900">
                <a:lnSpc>
                  <a:spcPct val="150000"/>
                </a:lnSpc>
                <a:buAutoNum type="arabicParenBoth"/>
              </a:pPr>
              <a:r>
                <a:rPr lang="en-US" altLang="zh-CN" sz="2400" dirty="0">
                  <a:solidFill>
                    <a:schemeClr val="tx1"/>
                  </a:solidFill>
                  <a:latin typeface="Times New Roman" pitchFamily="18" charset="0"/>
                  <a:ea typeface="微软雅黑" pitchFamily="34" charset="-122"/>
                  <a:cs typeface="Times New Roman" pitchFamily="18" charset="0"/>
                </a:rPr>
                <a:t> </a:t>
              </a:r>
              <a:r>
                <a:rPr lang="zh-CN" altLang="en-US" sz="2400" dirty="0">
                  <a:solidFill>
                    <a:schemeClr val="tx1"/>
                  </a:solidFill>
                  <a:latin typeface="Times New Roman" pitchFamily="18" charset="0"/>
                  <a:ea typeface="微软雅黑" pitchFamily="34" charset="-122"/>
                  <a:cs typeface="Times New Roman" pitchFamily="18" charset="0"/>
                </a:rPr>
                <a:t>系统作正功 </a:t>
              </a:r>
              <a:r>
                <a:rPr lang="en-US" altLang="zh-CN" sz="2400" b="1" i="1" dirty="0">
                  <a:solidFill>
                    <a:schemeClr val="tx1"/>
                  </a:solidFill>
                  <a:latin typeface="Times New Roman" pitchFamily="18" charset="0"/>
                  <a:ea typeface="微软雅黑" pitchFamily="34" charset="-122"/>
                  <a:cs typeface="Times New Roman" pitchFamily="18" charset="0"/>
                </a:rPr>
                <a:t>p</a:t>
              </a:r>
              <a:r>
                <a:rPr lang="en-US" altLang="zh-CN" sz="2400" b="1" baseline="-25000" dirty="0">
                  <a:solidFill>
                    <a:schemeClr val="tx1"/>
                  </a:solidFill>
                  <a:latin typeface="Times New Roman" pitchFamily="18" charset="0"/>
                  <a:ea typeface="微软雅黑" pitchFamily="34" charset="-122"/>
                  <a:cs typeface="Times New Roman" pitchFamily="18" charset="0"/>
                </a:rPr>
                <a:t>1</a:t>
              </a:r>
              <a:r>
                <a:rPr lang="en-US" altLang="zh-CN" sz="2400" b="1" i="1" dirty="0">
                  <a:solidFill>
                    <a:schemeClr val="tx1"/>
                  </a:solidFill>
                  <a:latin typeface="Times New Roman" pitchFamily="18" charset="0"/>
                  <a:ea typeface="微软雅黑" pitchFamily="34" charset="-122"/>
                  <a:cs typeface="Times New Roman" pitchFamily="18" charset="0"/>
                </a:rPr>
                <a:t>V</a:t>
              </a:r>
              <a:r>
                <a:rPr lang="en-US" altLang="zh-CN" sz="2400" b="1" baseline="-25000" dirty="0">
                  <a:solidFill>
                    <a:schemeClr val="tx1"/>
                  </a:solidFill>
                  <a:latin typeface="Times New Roman" pitchFamily="18" charset="0"/>
                  <a:ea typeface="微软雅黑" pitchFamily="34" charset="-122"/>
                  <a:cs typeface="Times New Roman" pitchFamily="18" charset="0"/>
                </a:rPr>
                <a:t>1  </a:t>
              </a:r>
              <a:r>
                <a:rPr lang="en-US" altLang="zh-CN" sz="2400" dirty="0">
                  <a:solidFill>
                    <a:srgbClr val="0066FF"/>
                  </a:solidFill>
                  <a:latin typeface="微软雅黑" pitchFamily="34" charset="-122"/>
                  <a:ea typeface="微软雅黑" pitchFamily="34" charset="-122"/>
                  <a:cs typeface="Times New Roman" pitchFamily="18" charset="0"/>
                </a:rPr>
                <a:t>, </a:t>
              </a:r>
              <a:r>
                <a:rPr lang="zh-CN" altLang="en-US" sz="2400" dirty="0">
                  <a:solidFill>
                    <a:srgbClr val="0066FF"/>
                  </a:solidFill>
                  <a:latin typeface="微软雅黑" pitchFamily="34" charset="-122"/>
                  <a:ea typeface="微软雅黑" pitchFamily="34" charset="-122"/>
                  <a:cs typeface="Times New Roman" pitchFamily="18" charset="0"/>
                </a:rPr>
                <a:t>相当于</a:t>
              </a:r>
              <a:r>
                <a:rPr lang="zh-CN" altLang="en-US" sz="2400" dirty="0">
                  <a:solidFill>
                    <a:srgbClr val="0066FF"/>
                  </a:solidFill>
                  <a:latin typeface="Times New Roman" pitchFamily="18" charset="0"/>
                  <a:ea typeface="微软雅黑" pitchFamily="34" charset="-122"/>
                  <a:cs typeface="Times New Roman" pitchFamily="18" charset="0"/>
                </a:rPr>
                <a:t>定压膨胀。</a:t>
              </a:r>
              <a:endParaRPr lang="zh-CN" altLang="en-US" sz="2400" dirty="0">
                <a:solidFill>
                  <a:srgbClr val="0066FF"/>
                </a:solidFill>
              </a:endParaRPr>
            </a:p>
          </p:txBody>
        </p:sp>
        <p:sp>
          <p:nvSpPr>
            <p:cNvPr id="41" name="圆角矩形 40"/>
            <p:cNvSpPr/>
            <p:nvPr/>
          </p:nvSpPr>
          <p:spPr>
            <a:xfrm>
              <a:off x="467544" y="3933056"/>
              <a:ext cx="1872208" cy="12241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微软雅黑" pitchFamily="34" charset="-122"/>
                  <a:ea typeface="微软雅黑" pitchFamily="34" charset="-122"/>
                </a:rPr>
                <a:t>吸气过程</a:t>
              </a:r>
            </a:p>
          </p:txBody>
        </p:sp>
        <p:sp>
          <p:nvSpPr>
            <p:cNvPr id="42" name="右箭头 41"/>
            <p:cNvSpPr/>
            <p:nvPr/>
          </p:nvSpPr>
          <p:spPr>
            <a:xfrm>
              <a:off x="2411760" y="4221088"/>
              <a:ext cx="576064"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TextBox 22"/>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4" grpId="0"/>
      <p:bldP spid="3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grpSp>
        <p:nvGrpSpPr>
          <p:cNvPr id="26" name="组合 25"/>
          <p:cNvGrpSpPr/>
          <p:nvPr/>
        </p:nvGrpSpPr>
        <p:grpSpPr>
          <a:xfrm>
            <a:off x="467544" y="1628800"/>
            <a:ext cx="8051626" cy="2808312"/>
            <a:chOff x="467544" y="1556792"/>
            <a:chExt cx="8208912" cy="2808312"/>
          </a:xfrm>
        </p:grpSpPr>
        <p:sp>
          <p:nvSpPr>
            <p:cNvPr id="21" name="圆角矩形 20"/>
            <p:cNvSpPr/>
            <p:nvPr/>
          </p:nvSpPr>
          <p:spPr>
            <a:xfrm>
              <a:off x="3059832" y="1556792"/>
              <a:ext cx="5616624" cy="280831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a:lnSpc>
                  <a:spcPct val="150000"/>
                </a:lnSpc>
                <a:spcBef>
                  <a:spcPts val="600"/>
                </a:spcBef>
                <a:buAutoNum type="arabicParenBoth"/>
              </a:pPr>
              <a:r>
                <a:rPr lang="zh-CN" altLang="en-US" sz="2800" dirty="0">
                  <a:solidFill>
                    <a:schemeClr val="tx1"/>
                  </a:solidFill>
                  <a:latin typeface="Times New Roman" pitchFamily="18" charset="0"/>
                  <a:ea typeface="微软雅黑" pitchFamily="34" charset="-122"/>
                  <a:cs typeface="Times New Roman" pitchFamily="18" charset="0"/>
                </a:rPr>
                <a:t> 气体的</a:t>
              </a:r>
              <a:r>
                <a:rPr lang="zh-CN" altLang="en-US" sz="2800" dirty="0">
                  <a:solidFill>
                    <a:prstClr val="black"/>
                  </a:solidFill>
                  <a:latin typeface="Times New Roman" pitchFamily="18" charset="0"/>
                  <a:ea typeface="微软雅黑" pitchFamily="34" charset="-122"/>
                  <a:cs typeface="Times New Roman" pitchFamily="18" charset="0"/>
                </a:rPr>
                <a:t>质</a:t>
              </a:r>
              <a:r>
                <a:rPr lang="zh-CN" altLang="en-US" sz="2800" dirty="0">
                  <a:solidFill>
                    <a:schemeClr val="tx1"/>
                  </a:solidFill>
                  <a:latin typeface="Times New Roman" pitchFamily="18" charset="0"/>
                  <a:ea typeface="微软雅黑" pitchFamily="34" charset="-122"/>
                  <a:cs typeface="Times New Roman" pitchFamily="18" charset="0"/>
                </a:rPr>
                <a:t>量 </a:t>
              </a:r>
              <a:r>
                <a:rPr lang="en-US" altLang="zh-CN" sz="2800" b="1" i="1" dirty="0" err="1">
                  <a:solidFill>
                    <a:schemeClr val="tx1"/>
                  </a:solidFill>
                  <a:latin typeface="Times New Roman" pitchFamily="18" charset="0"/>
                  <a:ea typeface="宋体" pitchFamily="2" charset="-122"/>
                </a:rPr>
                <a:t>q</a:t>
              </a:r>
              <a:r>
                <a:rPr lang="en-US" altLang="zh-CN" sz="2800" b="1" i="1" baseline="-25000" dirty="0" err="1">
                  <a:solidFill>
                    <a:schemeClr val="tx1"/>
                  </a:solidFill>
                  <a:latin typeface="Times New Roman" pitchFamily="18" charset="0"/>
                  <a:ea typeface="宋体" pitchFamily="2" charset="-122"/>
                </a:rPr>
                <a:t>m</a:t>
              </a:r>
              <a:r>
                <a:rPr lang="en-US" altLang="zh-CN" sz="2800" b="1" i="1" baseline="-25000" dirty="0">
                  <a:solidFill>
                    <a:schemeClr val="tx1"/>
                  </a:solidFill>
                  <a:latin typeface="Times New Roman" pitchFamily="18" charset="0"/>
                  <a:ea typeface="宋体" pitchFamily="2" charset="-122"/>
                </a:rPr>
                <a:t> </a:t>
              </a:r>
              <a:r>
                <a:rPr lang="zh-CN" altLang="en-US" sz="2800" dirty="0">
                  <a:solidFill>
                    <a:schemeClr val="tx1"/>
                  </a:solidFill>
                  <a:latin typeface="Times New Roman" pitchFamily="18" charset="0"/>
                  <a:ea typeface="微软雅黑" pitchFamily="34" charset="-122"/>
                  <a:cs typeface="Times New Roman" pitchFamily="18" charset="0"/>
                </a:rPr>
                <a:t>不变；</a:t>
              </a:r>
              <a:endParaRPr lang="en-US" altLang="zh-CN" sz="2800" dirty="0">
                <a:solidFill>
                  <a:schemeClr val="tx1"/>
                </a:solidFill>
                <a:latin typeface="Times New Roman" pitchFamily="18" charset="0"/>
                <a:ea typeface="微软雅黑" pitchFamily="34" charset="-122"/>
                <a:cs typeface="Times New Roman" pitchFamily="18" charset="0"/>
              </a:endParaRPr>
            </a:p>
            <a:p>
              <a:pPr marL="342900">
                <a:lnSpc>
                  <a:spcPct val="150000"/>
                </a:lnSpc>
                <a:buAutoNum type="arabicParenBoth"/>
              </a:pPr>
              <a:r>
                <a:rPr lang="zh-CN" altLang="en-US" sz="2800" dirty="0">
                  <a:solidFill>
                    <a:schemeClr val="tx1"/>
                  </a:solidFill>
                  <a:latin typeface="Times New Roman" pitchFamily="18" charset="0"/>
                  <a:ea typeface="微软雅黑" pitchFamily="34" charset="-122"/>
                  <a:cs typeface="Times New Roman" pitchFamily="18" charset="0"/>
                </a:rPr>
                <a:t> 气体压力 </a:t>
              </a:r>
              <a:r>
                <a:rPr lang="en-US" altLang="zh-CN" sz="2800" b="1" i="1" dirty="0">
                  <a:solidFill>
                    <a:prstClr val="black"/>
                  </a:solidFill>
                  <a:latin typeface="Times New Roman" pitchFamily="18" charset="0"/>
                  <a:ea typeface="微软雅黑" pitchFamily="34" charset="-122"/>
                  <a:cs typeface="Times New Roman" pitchFamily="18" charset="0"/>
                </a:rPr>
                <a:t>p </a:t>
              </a:r>
              <a:r>
                <a:rPr lang="zh-CN" altLang="en-US" sz="2800" dirty="0">
                  <a:solidFill>
                    <a:schemeClr val="tx1"/>
                  </a:solidFill>
                  <a:latin typeface="Times New Roman" pitchFamily="18" charset="0"/>
                  <a:ea typeface="微软雅黑" pitchFamily="34" charset="-122"/>
                  <a:cs typeface="Times New Roman" pitchFamily="18" charset="0"/>
                </a:rPr>
                <a:t>不断增加；</a:t>
              </a:r>
              <a:endParaRPr lang="en-US" altLang="zh-CN" sz="2800" dirty="0">
                <a:solidFill>
                  <a:schemeClr val="tx1"/>
                </a:solidFill>
                <a:latin typeface="Times New Roman" pitchFamily="18" charset="0"/>
                <a:ea typeface="微软雅黑" pitchFamily="34" charset="-122"/>
                <a:cs typeface="Times New Roman" pitchFamily="18" charset="0"/>
              </a:endParaRPr>
            </a:p>
            <a:p>
              <a:pPr marL="342900">
                <a:lnSpc>
                  <a:spcPct val="150000"/>
                </a:lnSpc>
                <a:buAutoNum type="arabicParenBoth"/>
              </a:pPr>
              <a:r>
                <a:rPr lang="zh-CN" altLang="en-US" sz="2800" dirty="0">
                  <a:solidFill>
                    <a:schemeClr val="tx1"/>
                  </a:solidFill>
                  <a:latin typeface="Times New Roman" pitchFamily="18" charset="0"/>
                  <a:ea typeface="微软雅黑" pitchFamily="34" charset="-122"/>
                  <a:cs typeface="Times New Roman" pitchFamily="18" charset="0"/>
                </a:rPr>
                <a:t> 外界对系统作压缩功</a:t>
              </a:r>
              <a:r>
                <a:rPr lang="zh-CN" altLang="en-US" sz="2800" dirty="0">
                  <a:solidFill>
                    <a:srgbClr val="FF0000"/>
                  </a:solidFill>
                  <a:latin typeface="Times New Roman" pitchFamily="18" charset="0"/>
                  <a:ea typeface="微软雅黑" pitchFamily="34" charset="-122"/>
                  <a:cs typeface="Times New Roman" pitchFamily="18" charset="0"/>
                </a:rPr>
                <a:t>（闭口系）</a:t>
              </a:r>
              <a:r>
                <a:rPr lang="en-US" altLang="zh-CN" sz="2800" baseline="-25000" dirty="0">
                  <a:solidFill>
                    <a:schemeClr val="tx1"/>
                  </a:solidFill>
                  <a:latin typeface="Times New Roman" pitchFamily="18" charset="0"/>
                  <a:ea typeface="微软雅黑" pitchFamily="34" charset="-122"/>
                  <a:cs typeface="Times New Roman" pitchFamily="18" charset="0"/>
                </a:rPr>
                <a:t>  </a:t>
              </a:r>
              <a:r>
                <a:rPr lang="zh-CN" altLang="en-US" sz="2800" dirty="0">
                  <a:solidFill>
                    <a:schemeClr val="tx1"/>
                  </a:solidFill>
                  <a:latin typeface="Times New Roman" pitchFamily="18" charset="0"/>
                  <a:ea typeface="微软雅黑" pitchFamily="34" charset="-122"/>
                  <a:cs typeface="Times New Roman" pitchFamily="18" charset="0"/>
                </a:rPr>
                <a:t>。</a:t>
              </a:r>
              <a:endParaRPr lang="zh-CN" altLang="en-US" dirty="0"/>
            </a:p>
          </p:txBody>
        </p:sp>
        <p:sp>
          <p:nvSpPr>
            <p:cNvPr id="23" name="圆角矩形 22"/>
            <p:cNvSpPr/>
            <p:nvPr/>
          </p:nvSpPr>
          <p:spPr>
            <a:xfrm>
              <a:off x="467544" y="2420888"/>
              <a:ext cx="1872208" cy="12241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微软雅黑" pitchFamily="34" charset="-122"/>
                  <a:ea typeface="微软雅黑" pitchFamily="34" charset="-122"/>
                </a:rPr>
                <a:t>压缩过程</a:t>
              </a:r>
            </a:p>
          </p:txBody>
        </p:sp>
        <p:sp>
          <p:nvSpPr>
            <p:cNvPr id="24" name="右箭头 23"/>
            <p:cNvSpPr/>
            <p:nvPr/>
          </p:nvSpPr>
          <p:spPr>
            <a:xfrm>
              <a:off x="2411760" y="2708920"/>
              <a:ext cx="576064"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矩形 24"/>
          <p:cNvSpPr/>
          <p:nvPr/>
        </p:nvSpPr>
        <p:spPr>
          <a:xfrm>
            <a:off x="633071" y="4961825"/>
            <a:ext cx="2808312" cy="523220"/>
          </a:xfrm>
          <a:prstGeom prst="rect">
            <a:avLst/>
          </a:prstGeom>
        </p:spPr>
        <p:txBody>
          <a:bodyPr wrap="square">
            <a:spAutoFit/>
          </a:bodyPr>
          <a:lstStyle/>
          <a:p>
            <a:r>
              <a:rPr lang="zh-CN" altLang="en-US" sz="2800" dirty="0">
                <a:latin typeface="Times New Roman" pitchFamily="18" charset="0"/>
                <a:ea typeface="微软雅黑" pitchFamily="34" charset="-122"/>
                <a:cs typeface="Times New Roman" pitchFamily="18" charset="0"/>
              </a:rPr>
              <a:t>压缩功为：</a:t>
            </a:r>
            <a:endParaRPr lang="zh-CN" altLang="en-US" sz="2800" dirty="0"/>
          </a:p>
        </p:txBody>
      </p:sp>
      <p:graphicFrame>
        <p:nvGraphicFramePr>
          <p:cNvPr id="60422" name="Object 6"/>
          <p:cNvGraphicFramePr>
            <a:graphicFrameLocks noChangeAspect="1"/>
          </p:cNvGraphicFramePr>
          <p:nvPr>
            <p:extLst>
              <p:ext uri="{D42A27DB-BD31-4B8C-83A1-F6EECF244321}">
                <p14:modId xmlns:p14="http://schemas.microsoft.com/office/powerpoint/2010/main" val="2343295850"/>
              </p:ext>
            </p:extLst>
          </p:nvPr>
        </p:nvGraphicFramePr>
        <p:xfrm>
          <a:off x="3489920" y="4857629"/>
          <a:ext cx="3170312" cy="731611"/>
        </p:xfrm>
        <a:graphic>
          <a:graphicData uri="http://schemas.openxmlformats.org/presentationml/2006/ole">
            <mc:AlternateContent xmlns:mc="http://schemas.openxmlformats.org/markup-compatibility/2006">
              <mc:Choice xmlns:v="urn:schemas-microsoft-com:vml" Requires="v">
                <p:oleObj spid="_x0000_s47167" name="公式" r:id="rId7" imgW="1459866" imgH="330057" progId="Equation.3">
                  <p:embed/>
                </p:oleObj>
              </mc:Choice>
              <mc:Fallback>
                <p:oleObj name="公式" r:id="rId7" imgW="1459866" imgH="330057"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89920" y="4857629"/>
                        <a:ext cx="3170312" cy="731611"/>
                      </a:xfrm>
                      <a:prstGeom prst="rect">
                        <a:avLst/>
                      </a:prstGeom>
                      <a:solidFill>
                        <a:schemeClr val="accent6">
                          <a:lumMod val="40000"/>
                          <a:lumOff val="60000"/>
                        </a:schemeClr>
                      </a:solidFill>
                    </p:spPr>
                  </p:pic>
                </p:oleObj>
              </mc:Fallback>
            </mc:AlternateContent>
          </a:graphicData>
        </a:graphic>
      </p:graphicFrame>
      <p:sp>
        <p:nvSpPr>
          <p:cNvPr id="22" name="TextBox 21"/>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grpSp>
        <p:nvGrpSpPr>
          <p:cNvPr id="30" name="组合 29"/>
          <p:cNvGrpSpPr/>
          <p:nvPr/>
        </p:nvGrpSpPr>
        <p:grpSpPr>
          <a:xfrm>
            <a:off x="467544" y="1412776"/>
            <a:ext cx="8208912" cy="2160240"/>
            <a:chOff x="467544" y="1628800"/>
            <a:chExt cx="8208912" cy="2160240"/>
          </a:xfrm>
        </p:grpSpPr>
        <p:sp>
          <p:nvSpPr>
            <p:cNvPr id="21" name="圆角矩形 20"/>
            <p:cNvSpPr/>
            <p:nvPr/>
          </p:nvSpPr>
          <p:spPr>
            <a:xfrm>
              <a:off x="3059832" y="1628800"/>
              <a:ext cx="5616624" cy="216024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a:lnSpc>
                  <a:spcPct val="120000"/>
                </a:lnSpc>
                <a:spcBef>
                  <a:spcPts val="600"/>
                </a:spcBef>
                <a:buAutoNum type="arabicParenBoth"/>
              </a:pPr>
              <a:r>
                <a:rPr lang="zh-CN" altLang="en-US" sz="2400" dirty="0">
                  <a:solidFill>
                    <a:schemeClr val="tx1"/>
                  </a:solidFill>
                  <a:latin typeface="Times New Roman" pitchFamily="18" charset="0"/>
                  <a:ea typeface="微软雅黑" pitchFamily="34" charset="-122"/>
                  <a:cs typeface="Times New Roman" pitchFamily="18" charset="0"/>
                </a:rPr>
                <a:t> 气体质量 </a:t>
              </a:r>
              <a:r>
                <a:rPr lang="en-US" altLang="zh-CN" sz="2400" b="1" i="1" dirty="0" err="1">
                  <a:solidFill>
                    <a:prstClr val="black"/>
                  </a:solidFill>
                  <a:latin typeface="Times New Roman" pitchFamily="18" charset="0"/>
                  <a:ea typeface="宋体" pitchFamily="2" charset="-122"/>
                </a:rPr>
                <a:t>q</a:t>
              </a:r>
              <a:r>
                <a:rPr lang="en-US" altLang="zh-CN" sz="2400" b="1" i="1" baseline="-25000" dirty="0" err="1">
                  <a:solidFill>
                    <a:prstClr val="black"/>
                  </a:solidFill>
                  <a:latin typeface="Times New Roman" pitchFamily="18" charset="0"/>
                  <a:ea typeface="宋体" pitchFamily="2" charset="-122"/>
                </a:rPr>
                <a:t>m</a:t>
              </a:r>
              <a:r>
                <a:rPr lang="en-US" altLang="zh-CN" sz="2400" b="1" i="1" baseline="-25000" dirty="0">
                  <a:solidFill>
                    <a:prstClr val="black"/>
                  </a:solidFill>
                  <a:latin typeface="Times New Roman" pitchFamily="18" charset="0"/>
                  <a:ea typeface="宋体" pitchFamily="2" charset="-122"/>
                </a:rPr>
                <a:t> </a:t>
              </a:r>
              <a:r>
                <a:rPr lang="zh-CN" altLang="en-US" sz="2400" dirty="0">
                  <a:solidFill>
                    <a:schemeClr val="tx1"/>
                  </a:solidFill>
                  <a:latin typeface="Times New Roman" pitchFamily="18" charset="0"/>
                  <a:ea typeface="微软雅黑" pitchFamily="34" charset="-122"/>
                  <a:cs typeface="Times New Roman" pitchFamily="18" charset="0"/>
                </a:rPr>
                <a:t>不断减少；</a:t>
              </a:r>
              <a:endParaRPr lang="en-US" altLang="zh-CN" sz="2400" dirty="0">
                <a:solidFill>
                  <a:schemeClr val="tx1"/>
                </a:solidFill>
                <a:latin typeface="Times New Roman" pitchFamily="18" charset="0"/>
                <a:ea typeface="微软雅黑" pitchFamily="34" charset="-122"/>
                <a:cs typeface="Times New Roman" pitchFamily="18" charset="0"/>
              </a:endParaRPr>
            </a:p>
            <a:p>
              <a:pPr marL="342900">
                <a:lnSpc>
                  <a:spcPct val="120000"/>
                </a:lnSpc>
                <a:buAutoNum type="arabicParenBoth"/>
              </a:pPr>
              <a:r>
                <a:rPr lang="zh-CN" altLang="en-US" sz="2400" dirty="0">
                  <a:solidFill>
                    <a:schemeClr val="tx1"/>
                  </a:solidFill>
                  <a:latin typeface="Times New Roman" pitchFamily="18" charset="0"/>
                  <a:ea typeface="微软雅黑" pitchFamily="34" charset="-122"/>
                  <a:cs typeface="Times New Roman" pitchFamily="18" charset="0"/>
                </a:rPr>
                <a:t> 气体状态不变；</a:t>
              </a:r>
              <a:endParaRPr lang="en-US" altLang="zh-CN" sz="2400" dirty="0">
                <a:solidFill>
                  <a:schemeClr val="tx1"/>
                </a:solidFill>
                <a:latin typeface="Times New Roman" pitchFamily="18" charset="0"/>
                <a:ea typeface="微软雅黑" pitchFamily="34" charset="-122"/>
                <a:cs typeface="Times New Roman" pitchFamily="18" charset="0"/>
              </a:endParaRPr>
            </a:p>
            <a:p>
              <a:pPr marL="342900">
                <a:lnSpc>
                  <a:spcPct val="120000"/>
                </a:lnSpc>
                <a:buAutoNum type="arabicParenBoth"/>
              </a:pPr>
              <a:r>
                <a:rPr lang="zh-CN" altLang="en-US" sz="2400" dirty="0">
                  <a:solidFill>
                    <a:schemeClr val="tx1"/>
                  </a:solidFill>
                  <a:latin typeface="Times New Roman" pitchFamily="18" charset="0"/>
                  <a:ea typeface="微软雅黑" pitchFamily="34" charset="-122"/>
                  <a:cs typeface="Times New Roman" pitchFamily="18" charset="0"/>
                </a:rPr>
                <a:t> 系统作负功</a:t>
              </a:r>
              <a:r>
                <a:rPr lang="en-US" altLang="zh-CN" sz="2400" b="1" i="1" dirty="0">
                  <a:solidFill>
                    <a:schemeClr val="tx1"/>
                  </a:solidFill>
                  <a:latin typeface="Times New Roman" pitchFamily="18" charset="0"/>
                </a:rPr>
                <a:t>p</a:t>
              </a:r>
              <a:r>
                <a:rPr lang="en-US" altLang="zh-CN" sz="2400" b="1" baseline="-25000" dirty="0">
                  <a:solidFill>
                    <a:schemeClr val="tx1"/>
                  </a:solidFill>
                  <a:latin typeface="Times New Roman" pitchFamily="18" charset="0"/>
                </a:rPr>
                <a:t>2</a:t>
              </a:r>
              <a:r>
                <a:rPr lang="en-US" altLang="zh-CN" sz="2400" b="1" i="1" dirty="0">
                  <a:solidFill>
                    <a:schemeClr val="tx1"/>
                  </a:solidFill>
                  <a:latin typeface="Times New Roman" pitchFamily="18" charset="0"/>
                </a:rPr>
                <a:t>V</a:t>
              </a:r>
              <a:r>
                <a:rPr lang="en-US" altLang="zh-CN" sz="2400" b="1" baseline="-25000" dirty="0">
                  <a:solidFill>
                    <a:schemeClr val="tx1"/>
                  </a:solidFill>
                  <a:latin typeface="Times New Roman" pitchFamily="18" charset="0"/>
                </a:rPr>
                <a:t>2</a:t>
              </a:r>
              <a:r>
                <a:rPr lang="en-US" altLang="zh-CN" sz="2400" baseline="-25000" dirty="0">
                  <a:solidFill>
                    <a:schemeClr val="tx1"/>
                  </a:solidFill>
                  <a:latin typeface="Times New Roman" pitchFamily="18" charset="0"/>
                  <a:ea typeface="微软雅黑" pitchFamily="34" charset="-122"/>
                  <a:cs typeface="Times New Roman" pitchFamily="18" charset="0"/>
                </a:rPr>
                <a:t> </a:t>
              </a:r>
              <a:r>
                <a:rPr lang="zh-CN" altLang="en-US" sz="2400" dirty="0">
                  <a:solidFill>
                    <a:schemeClr val="tx1"/>
                  </a:solidFill>
                  <a:latin typeface="Times New Roman" pitchFamily="18" charset="0"/>
                  <a:ea typeface="微软雅黑" pitchFamily="34" charset="-122"/>
                  <a:cs typeface="Times New Roman" pitchFamily="18" charset="0"/>
                </a:rPr>
                <a:t>，</a:t>
              </a:r>
              <a:r>
                <a:rPr lang="zh-CN" altLang="en-US" sz="2400" dirty="0">
                  <a:solidFill>
                    <a:srgbClr val="0066FF"/>
                  </a:solidFill>
                  <a:latin typeface="Times New Roman" pitchFamily="18" charset="0"/>
                  <a:ea typeface="微软雅黑" pitchFamily="34" charset="-122"/>
                  <a:cs typeface="Times New Roman" pitchFamily="18" charset="0"/>
                </a:rPr>
                <a:t>相当于气体被定压压缩。</a:t>
              </a:r>
              <a:endParaRPr lang="zh-CN" altLang="en-US" sz="2400" dirty="0">
                <a:solidFill>
                  <a:srgbClr val="0066FF"/>
                </a:solidFill>
              </a:endParaRPr>
            </a:p>
          </p:txBody>
        </p:sp>
        <p:sp>
          <p:nvSpPr>
            <p:cNvPr id="23" name="圆角矩形 22"/>
            <p:cNvSpPr/>
            <p:nvPr/>
          </p:nvSpPr>
          <p:spPr>
            <a:xfrm>
              <a:off x="467544" y="2060848"/>
              <a:ext cx="1872208" cy="12241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微软雅黑" pitchFamily="34" charset="-122"/>
                  <a:ea typeface="微软雅黑" pitchFamily="34" charset="-122"/>
                </a:rPr>
                <a:t>排气过程</a:t>
              </a:r>
            </a:p>
          </p:txBody>
        </p:sp>
        <p:sp>
          <p:nvSpPr>
            <p:cNvPr id="24" name="右箭头 23"/>
            <p:cNvSpPr/>
            <p:nvPr/>
          </p:nvSpPr>
          <p:spPr>
            <a:xfrm>
              <a:off x="2411760" y="2348880"/>
              <a:ext cx="576064" cy="6480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Rectangle 3"/>
          <p:cNvSpPr>
            <a:spLocks noChangeArrowheads="1"/>
          </p:cNvSpPr>
          <p:nvPr/>
        </p:nvSpPr>
        <p:spPr bwMode="auto">
          <a:xfrm>
            <a:off x="571472" y="3861048"/>
            <a:ext cx="6664824" cy="461665"/>
          </a:xfrm>
          <a:prstGeom prst="rect">
            <a:avLst/>
          </a:prstGeom>
          <a:ln>
            <a:no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sz="2400" dirty="0">
                <a:latin typeface="微软雅黑" pitchFamily="34" charset="-122"/>
                <a:ea typeface="微软雅黑" pitchFamily="34" charset="-122"/>
              </a:rPr>
              <a:t>压气机所消耗的功为上述三项功的代数和。即：</a:t>
            </a:r>
            <a:endParaRPr lang="zh-CN" altLang="en-US" sz="2400" baseline="-25000" dirty="0">
              <a:latin typeface="微软雅黑" pitchFamily="34" charset="-122"/>
              <a:ea typeface="微软雅黑" pitchFamily="34" charset="-122"/>
            </a:endParaRPr>
          </a:p>
        </p:txBody>
      </p:sp>
      <p:graphicFrame>
        <p:nvGraphicFramePr>
          <p:cNvPr id="26" name="Object 4"/>
          <p:cNvGraphicFramePr>
            <a:graphicFrameLocks noChangeAspect="1"/>
          </p:cNvGraphicFramePr>
          <p:nvPr>
            <p:extLst>
              <p:ext uri="{D42A27DB-BD31-4B8C-83A1-F6EECF244321}">
                <p14:modId xmlns:p14="http://schemas.microsoft.com/office/powerpoint/2010/main" val="2040472595"/>
              </p:ext>
            </p:extLst>
          </p:nvPr>
        </p:nvGraphicFramePr>
        <p:xfrm>
          <a:off x="2333625" y="4456113"/>
          <a:ext cx="4216400" cy="731837"/>
        </p:xfrm>
        <a:graphic>
          <a:graphicData uri="http://schemas.openxmlformats.org/presentationml/2006/ole">
            <mc:AlternateContent xmlns:mc="http://schemas.openxmlformats.org/markup-compatibility/2006">
              <mc:Choice xmlns:v="urn:schemas-microsoft-com:vml" Requires="v">
                <p:oleObj spid="_x0000_s48191" name="公式" r:id="rId7" imgW="1346040" imgH="241200" progId="Equation.3">
                  <p:embed/>
                </p:oleObj>
              </mc:Choice>
              <mc:Fallback>
                <p:oleObj name="公式" r:id="rId7" imgW="1346040" imgH="241200" progId="Equation.3">
                  <p:embed/>
                  <p:pic>
                    <p:nvPicPr>
                      <p:cNvPr id="0" name="Object 4"/>
                      <p:cNvPicPr>
                        <a:picLocks noChangeAspect="1" noChangeArrowheads="1"/>
                      </p:cNvPicPr>
                      <p:nvPr/>
                    </p:nvPicPr>
                    <p:blipFill>
                      <a:blip r:embed="rId8"/>
                      <a:srcRect/>
                      <a:stretch>
                        <a:fillRect/>
                      </a:stretch>
                    </p:blipFill>
                    <p:spPr bwMode="auto">
                      <a:xfrm>
                        <a:off x="2333625" y="4456113"/>
                        <a:ext cx="4216400" cy="731837"/>
                      </a:xfrm>
                      <a:prstGeom prst="rect">
                        <a:avLst/>
                      </a:prstGeom>
                      <a:noFill/>
                    </p:spPr>
                  </p:pic>
                </p:oleObj>
              </mc:Fallback>
            </mc:AlternateContent>
          </a:graphicData>
        </a:graphic>
      </p:graphicFrame>
      <p:sp>
        <p:nvSpPr>
          <p:cNvPr id="31" name="Rectangle 5"/>
          <p:cNvSpPr>
            <a:spLocks noChangeArrowheads="1"/>
          </p:cNvSpPr>
          <p:nvPr/>
        </p:nvSpPr>
        <p:spPr bwMode="auto">
          <a:xfrm>
            <a:off x="669504" y="5301208"/>
            <a:ext cx="5868044" cy="581057"/>
          </a:xfrm>
          <a:prstGeom prst="rect">
            <a:avLst/>
          </a:prstGeom>
          <a:noFill/>
          <a:ln w="9525">
            <a:noFill/>
            <a:miter lim="800000"/>
            <a:headEnd/>
            <a:tailEnd/>
          </a:ln>
        </p:spPr>
        <p:txBody>
          <a:bodyPr wrap="square">
            <a:spAutoFit/>
          </a:bodyPr>
          <a:lstStyle/>
          <a:p>
            <a:pPr>
              <a:lnSpc>
                <a:spcPct val="150000"/>
              </a:lnSpc>
            </a:pPr>
            <a:r>
              <a:rPr lang="zh-CN" altLang="en-US" sz="2400" b="1" dirty="0">
                <a:latin typeface="微软雅黑" pitchFamily="34" charset="-122"/>
                <a:ea typeface="微软雅黑" pitchFamily="34" charset="-122"/>
              </a:rPr>
              <a:t>压气机的简化物理模型为：</a:t>
            </a:r>
            <a:r>
              <a:rPr lang="zh-CN" altLang="en-US" sz="2400" b="1" dirty="0">
                <a:solidFill>
                  <a:srgbClr val="FF0000"/>
                </a:solidFill>
                <a:latin typeface="微软雅黑" pitchFamily="34" charset="-122"/>
                <a:ea typeface="微软雅黑" pitchFamily="34" charset="-122"/>
              </a:rPr>
              <a:t>稳流、可逆</a:t>
            </a:r>
          </a:p>
        </p:txBody>
      </p:sp>
      <p:sp>
        <p:nvSpPr>
          <p:cNvPr id="25" name="TextBox 24"/>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linds(horizont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3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5</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grpSp>
        <p:nvGrpSpPr>
          <p:cNvPr id="37" name="组合 36"/>
          <p:cNvGrpSpPr/>
          <p:nvPr/>
        </p:nvGrpSpPr>
        <p:grpSpPr>
          <a:xfrm>
            <a:off x="576715" y="1484784"/>
            <a:ext cx="4752528" cy="612825"/>
            <a:chOff x="251520" y="1700808"/>
            <a:chExt cx="4752528" cy="612825"/>
          </a:xfrm>
        </p:grpSpPr>
        <p:sp>
          <p:nvSpPr>
            <p:cNvPr id="45" name="圆角矩形 44"/>
            <p:cNvSpPr/>
            <p:nvPr/>
          </p:nvSpPr>
          <p:spPr>
            <a:xfrm>
              <a:off x="251520" y="1700808"/>
              <a:ext cx="4752528" cy="602704"/>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Rectangle 7"/>
            <p:cNvSpPr>
              <a:spLocks noChangeArrowheads="1"/>
            </p:cNvSpPr>
            <p:nvPr/>
          </p:nvSpPr>
          <p:spPr bwMode="auto">
            <a:xfrm>
              <a:off x="605656" y="1794520"/>
              <a:ext cx="4182368" cy="519113"/>
            </a:xfrm>
            <a:prstGeom prst="rect">
              <a:avLst/>
            </a:prstGeom>
            <a:noFill/>
            <a:ln w="9525">
              <a:noFill/>
              <a:miter lim="800000"/>
              <a:headEnd/>
              <a:tailEnd/>
            </a:ln>
          </p:spPr>
          <p:txBody>
            <a:bodyPr wrap="square">
              <a:spAutoFit/>
            </a:bodyPr>
            <a:lstStyle/>
            <a:p>
              <a:r>
                <a:rPr lang="zh-CN" altLang="en-US" sz="2800" dirty="0">
                  <a:solidFill>
                    <a:srgbClr val="FF0000"/>
                  </a:solidFill>
                  <a:latin typeface="微软雅黑" pitchFamily="34" charset="-122"/>
                  <a:ea typeface="微软雅黑" pitchFamily="34" charset="-122"/>
                </a:rPr>
                <a:t>压气机耗功为技术功。</a:t>
              </a:r>
            </a:p>
          </p:txBody>
        </p:sp>
      </p:grpSp>
      <p:pic>
        <p:nvPicPr>
          <p:cNvPr id="32" name="Picture 9"/>
          <p:cNvPicPr>
            <a:picLocks noChangeAspect="1" noChangeArrowheads="1"/>
          </p:cNvPicPr>
          <p:nvPr/>
        </p:nvPicPr>
        <p:blipFill>
          <a:blip r:embed="rId7" cstate="print"/>
          <a:srcRect/>
          <a:stretch>
            <a:fillRect/>
          </a:stretch>
        </p:blipFill>
        <p:spPr bwMode="auto">
          <a:xfrm>
            <a:off x="5868144" y="1267147"/>
            <a:ext cx="2819400" cy="2486025"/>
          </a:xfrm>
          <a:prstGeom prst="rect">
            <a:avLst/>
          </a:prstGeom>
          <a:solidFill>
            <a:schemeClr val="bg2"/>
          </a:solidFill>
          <a:ln w="9525">
            <a:noFill/>
            <a:miter lim="800000"/>
            <a:headEnd/>
            <a:tailEnd/>
          </a:ln>
        </p:spPr>
      </p:pic>
      <p:sp>
        <p:nvSpPr>
          <p:cNvPr id="42" name="TextBox 41"/>
          <p:cNvSpPr txBox="1"/>
          <p:nvPr/>
        </p:nvSpPr>
        <p:spPr>
          <a:xfrm>
            <a:off x="5236386" y="4131654"/>
            <a:ext cx="2817704" cy="1610945"/>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spAutoFit/>
          </a:bodyPr>
          <a:lstStyle/>
          <a:p>
            <a:pPr lvl="0" indent="457200">
              <a:lnSpc>
                <a:spcPct val="120000"/>
              </a:lnSpc>
              <a:spcBef>
                <a:spcPts val="600"/>
              </a:spcBef>
            </a:pPr>
            <a:r>
              <a:rPr lang="zh-CN" altLang="en-US" sz="2400" dirty="0">
                <a:solidFill>
                  <a:srgbClr val="FF0000"/>
                </a:solidFill>
                <a:latin typeface="微软雅黑" pitchFamily="34" charset="-122"/>
                <a:ea typeface="微软雅黑" pitchFamily="34" charset="-122"/>
              </a:rPr>
              <a:t>注意：压缩过程的耗功与压气机的耗功概念不同。</a:t>
            </a:r>
            <a:endParaRPr lang="en-US" altLang="zh-CN" sz="2400" dirty="0">
              <a:solidFill>
                <a:srgbClr val="FF0000"/>
              </a:solidFill>
              <a:latin typeface="微软雅黑" pitchFamily="34" charset="-122"/>
              <a:ea typeface="微软雅黑" pitchFamily="34" charset="-122"/>
            </a:endParaRPr>
          </a:p>
          <a:p>
            <a:endParaRPr lang="zh-CN" altLang="en-US" dirty="0"/>
          </a:p>
        </p:txBody>
      </p:sp>
      <p:graphicFrame>
        <p:nvGraphicFramePr>
          <p:cNvPr id="33" name="Object 5"/>
          <p:cNvGraphicFramePr>
            <a:graphicFrameLocks noChangeAspect="1"/>
          </p:cNvGraphicFramePr>
          <p:nvPr>
            <p:extLst>
              <p:ext uri="{D42A27DB-BD31-4B8C-83A1-F6EECF244321}">
                <p14:modId xmlns:p14="http://schemas.microsoft.com/office/powerpoint/2010/main" val="1516142804"/>
              </p:ext>
            </p:extLst>
          </p:nvPr>
        </p:nvGraphicFramePr>
        <p:xfrm>
          <a:off x="2121625" y="2924944"/>
          <a:ext cx="1662708" cy="747038"/>
        </p:xfrm>
        <a:graphic>
          <a:graphicData uri="http://schemas.openxmlformats.org/presentationml/2006/ole">
            <mc:AlternateContent xmlns:mc="http://schemas.openxmlformats.org/markup-compatibility/2006">
              <mc:Choice xmlns:v="urn:schemas-microsoft-com:vml" Requires="v">
                <p:oleObj spid="_x0000_s49271" name="公式" r:id="rId8" imgW="583920" imgH="253800" progId="Equation.3">
                  <p:embed/>
                </p:oleObj>
              </mc:Choice>
              <mc:Fallback>
                <p:oleObj name="公式" r:id="rId8" imgW="583920" imgH="253800" progId="Equation.3">
                  <p:embed/>
                  <p:pic>
                    <p:nvPicPr>
                      <p:cNvPr id="0" name=""/>
                      <p:cNvPicPr>
                        <a:picLocks noChangeAspect="1" noChangeArrowheads="1"/>
                      </p:cNvPicPr>
                      <p:nvPr/>
                    </p:nvPicPr>
                    <p:blipFill>
                      <a:blip r:embed="rId9"/>
                      <a:srcRect/>
                      <a:stretch>
                        <a:fillRect/>
                      </a:stretch>
                    </p:blipFill>
                    <p:spPr bwMode="auto">
                      <a:xfrm>
                        <a:off x="2121625" y="2924944"/>
                        <a:ext cx="1662708" cy="747038"/>
                      </a:xfrm>
                      <a:prstGeom prst="rect">
                        <a:avLst/>
                      </a:prstGeom>
                      <a:noFill/>
                    </p:spPr>
                  </p:pic>
                </p:oleObj>
              </mc:Fallback>
            </mc:AlternateContent>
          </a:graphicData>
        </a:graphic>
      </p:graphicFrame>
      <p:sp>
        <p:nvSpPr>
          <p:cNvPr id="35" name="Rectangle 6"/>
          <p:cNvSpPr>
            <a:spLocks noChangeArrowheads="1"/>
          </p:cNvSpPr>
          <p:nvPr/>
        </p:nvSpPr>
        <p:spPr bwMode="auto">
          <a:xfrm>
            <a:off x="521248" y="2348880"/>
            <a:ext cx="4914848" cy="523220"/>
          </a:xfrm>
          <a:prstGeom prst="rect">
            <a:avLst/>
          </a:prstGeom>
          <a:noFill/>
          <a:ln w="9525">
            <a:noFill/>
            <a:miter lim="800000"/>
            <a:headEnd/>
            <a:tailEnd/>
          </a:ln>
        </p:spPr>
        <p:txBody>
          <a:bodyPr wrap="square">
            <a:spAutoFit/>
          </a:bodyPr>
          <a:lstStyle/>
          <a:p>
            <a:r>
              <a:rPr lang="zh-CN" altLang="en-US" sz="2800" dirty="0">
                <a:latin typeface="Times New Roman" pitchFamily="18" charset="0"/>
                <a:ea typeface="微软雅黑" pitchFamily="34" charset="-122"/>
                <a:cs typeface="Times New Roman" pitchFamily="18" charset="0"/>
              </a:rPr>
              <a:t>压缩</a:t>
            </a:r>
            <a:r>
              <a:rPr lang="zh-CN" altLang="en-US" sz="2000" dirty="0">
                <a:latin typeface="Times New Roman" pitchFamily="18" charset="0"/>
                <a:ea typeface="微软雅黑" pitchFamily="34" charset="-122"/>
                <a:cs typeface="Times New Roman" pitchFamily="18" charset="0"/>
              </a:rPr>
              <a:t> </a:t>
            </a:r>
            <a:r>
              <a:rPr lang="en-US" altLang="zh-CN" sz="2800" dirty="0">
                <a:latin typeface="Times New Roman" pitchFamily="18" charset="0"/>
                <a:ea typeface="微软雅黑" pitchFamily="34" charset="-122"/>
                <a:cs typeface="Times New Roman" pitchFamily="18" charset="0"/>
              </a:rPr>
              <a:t>1kg</a:t>
            </a:r>
            <a:r>
              <a:rPr lang="en-US" altLang="zh-CN" sz="2000" dirty="0">
                <a:latin typeface="Times New Roman" pitchFamily="18" charset="0"/>
                <a:ea typeface="微软雅黑" pitchFamily="34" charset="-122"/>
                <a:cs typeface="Times New Roman" pitchFamily="18" charset="0"/>
              </a:rPr>
              <a:t> </a:t>
            </a:r>
            <a:r>
              <a:rPr lang="zh-CN" altLang="en-US" sz="2800" dirty="0">
                <a:latin typeface="微软雅黑" pitchFamily="34" charset="-122"/>
                <a:ea typeface="微软雅黑" pitchFamily="34" charset="-122"/>
              </a:rPr>
              <a:t>气体，压气机耗功为：</a:t>
            </a:r>
            <a:endParaRPr lang="zh-CN" altLang="en-US" sz="2800" baseline="-25000" dirty="0">
              <a:latin typeface="微软雅黑" pitchFamily="34" charset="-122"/>
              <a:ea typeface="微软雅黑" pitchFamily="34" charset="-122"/>
            </a:endParaRPr>
          </a:p>
        </p:txBody>
      </p:sp>
      <p:sp>
        <p:nvSpPr>
          <p:cNvPr id="38" name="Rectangle 8"/>
          <p:cNvSpPr>
            <a:spLocks noChangeArrowheads="1"/>
          </p:cNvSpPr>
          <p:nvPr/>
        </p:nvSpPr>
        <p:spPr bwMode="auto">
          <a:xfrm>
            <a:off x="609600" y="3786311"/>
            <a:ext cx="4320480" cy="1308628"/>
          </a:xfrm>
          <a:prstGeom prst="rect">
            <a:avLst/>
          </a:prstGeom>
          <a:noFill/>
          <a:ln w="9525">
            <a:noFill/>
            <a:miter lim="800000"/>
            <a:headEnd/>
            <a:tailEnd/>
          </a:ln>
        </p:spPr>
        <p:txBody>
          <a:bodyPr wrap="square">
            <a:spAutoFit/>
          </a:bodyPr>
          <a:lstStyle/>
          <a:p>
            <a:pPr>
              <a:lnSpc>
                <a:spcPct val="150000"/>
              </a:lnSpc>
              <a:spcBef>
                <a:spcPts val="600"/>
              </a:spcBef>
            </a:pPr>
            <a:r>
              <a:rPr lang="zh-CN" altLang="en-US" sz="2800" dirty="0">
                <a:latin typeface="Times New Roman" pitchFamily="18" charset="0"/>
                <a:ea typeface="微软雅黑" pitchFamily="34" charset="-122"/>
                <a:cs typeface="Times New Roman" pitchFamily="18" charset="0"/>
              </a:rPr>
              <a:t>设压气机的质量流量为</a:t>
            </a:r>
            <a:r>
              <a:rPr lang="en-US" altLang="zh-CN" sz="2800" i="1" dirty="0" err="1">
                <a:latin typeface="Times New Roman" pitchFamily="18" charset="0"/>
                <a:ea typeface="微软雅黑" pitchFamily="34" charset="-122"/>
                <a:cs typeface="Times New Roman" pitchFamily="18" charset="0"/>
              </a:rPr>
              <a:t>q</a:t>
            </a:r>
            <a:r>
              <a:rPr lang="en-US" altLang="zh-CN" sz="2800" i="1" baseline="-25000" dirty="0" err="1">
                <a:latin typeface="Times New Roman" pitchFamily="18" charset="0"/>
                <a:ea typeface="微软雅黑" pitchFamily="34" charset="-122"/>
                <a:cs typeface="Times New Roman" pitchFamily="18" charset="0"/>
              </a:rPr>
              <a:t>m</a:t>
            </a:r>
            <a:r>
              <a:rPr lang="en-US" altLang="zh-CN" sz="2800" dirty="0">
                <a:latin typeface="Times New Roman" pitchFamily="18" charset="0"/>
                <a:ea typeface="微软雅黑" pitchFamily="34" charset="-122"/>
                <a:cs typeface="Times New Roman" pitchFamily="18" charset="0"/>
              </a:rPr>
              <a:t> kg</a:t>
            </a:r>
            <a:r>
              <a:rPr lang="zh-CN" altLang="en-US" sz="2800" dirty="0">
                <a:latin typeface="Times New Roman" pitchFamily="18" charset="0"/>
                <a:ea typeface="微软雅黑" pitchFamily="34" charset="-122"/>
                <a:cs typeface="Times New Roman" pitchFamily="18" charset="0"/>
              </a:rPr>
              <a:t>／</a:t>
            </a:r>
            <a:r>
              <a:rPr lang="en-US" altLang="zh-CN" sz="2800" dirty="0">
                <a:latin typeface="Times New Roman" pitchFamily="18" charset="0"/>
                <a:ea typeface="微软雅黑" pitchFamily="34" charset="-122"/>
                <a:cs typeface="Times New Roman" pitchFamily="18" charset="0"/>
              </a:rPr>
              <a:t>min</a:t>
            </a:r>
            <a:r>
              <a:rPr lang="zh-CN" altLang="en-US" sz="2800" dirty="0">
                <a:latin typeface="Times New Roman" pitchFamily="18" charset="0"/>
                <a:ea typeface="微软雅黑" pitchFamily="34" charset="-122"/>
                <a:cs typeface="Times New Roman" pitchFamily="18" charset="0"/>
              </a:rPr>
              <a:t>，其耗功率为：</a:t>
            </a:r>
            <a:endParaRPr lang="zh-CN" altLang="en-US" sz="2800" dirty="0">
              <a:solidFill>
                <a:srgbClr val="FF0000"/>
              </a:solidFill>
              <a:latin typeface="Times New Roman" pitchFamily="18" charset="0"/>
              <a:ea typeface="微软雅黑" pitchFamily="34" charset="-122"/>
              <a:cs typeface="Times New Roman" pitchFamily="18" charset="0"/>
            </a:endParaRPr>
          </a:p>
        </p:txBody>
      </p:sp>
      <p:graphicFrame>
        <p:nvGraphicFramePr>
          <p:cNvPr id="40" name="对象 39"/>
          <p:cNvGraphicFramePr>
            <a:graphicFrameLocks noChangeAspect="1"/>
          </p:cNvGraphicFramePr>
          <p:nvPr>
            <p:extLst>
              <p:ext uri="{D42A27DB-BD31-4B8C-83A1-F6EECF244321}">
                <p14:modId xmlns:p14="http://schemas.microsoft.com/office/powerpoint/2010/main" val="3313135031"/>
              </p:ext>
            </p:extLst>
          </p:nvPr>
        </p:nvGraphicFramePr>
        <p:xfrm>
          <a:off x="1669603" y="5185403"/>
          <a:ext cx="2130425" cy="971550"/>
        </p:xfrm>
        <a:graphic>
          <a:graphicData uri="http://schemas.openxmlformats.org/presentationml/2006/ole">
            <mc:AlternateContent xmlns:mc="http://schemas.openxmlformats.org/markup-compatibility/2006">
              <mc:Choice xmlns:v="urn:schemas-microsoft-com:vml" Requires="v">
                <p:oleObj spid="_x0000_s49272" name="公式" r:id="rId10" imgW="863225" imgH="393529" progId="Equation.3">
                  <p:embed/>
                </p:oleObj>
              </mc:Choice>
              <mc:Fallback>
                <p:oleObj name="公式" r:id="rId10" imgW="863225" imgH="393529"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69603" y="5185403"/>
                        <a:ext cx="2130425" cy="97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TextBox 24"/>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horizontal)">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35" grpId="0"/>
      <p:bldP spid="3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6</a:t>
            </a:r>
            <a:endParaRPr lang="zh-CN" altLang="en-US" sz="2000" b="1" dirty="0">
              <a:solidFill>
                <a:schemeClr val="tx1"/>
              </a:solidFill>
              <a:latin typeface="黑体" pitchFamily="49" charset="-122"/>
              <a:ea typeface="黑体" pitchFamily="49" charset="-122"/>
            </a:endParaRPr>
          </a:p>
        </p:txBody>
      </p:sp>
      <p:sp>
        <p:nvSpPr>
          <p:cNvPr id="34" name="TextBox 37"/>
          <p:cNvSpPr txBox="1">
            <a:spLocks noChangeArrowheads="1"/>
          </p:cNvSpPr>
          <p:nvPr/>
        </p:nvSpPr>
        <p:spPr bwMode="auto">
          <a:xfrm>
            <a:off x="733772" y="1390933"/>
            <a:ext cx="5854452"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活塞式压气机三种压缩过程的比较</a:t>
            </a:r>
          </a:p>
        </p:txBody>
      </p:sp>
      <p:sp>
        <p:nvSpPr>
          <p:cNvPr id="35" name="矩形 34"/>
          <p:cNvSpPr/>
          <p:nvPr/>
        </p:nvSpPr>
        <p:spPr>
          <a:xfrm>
            <a:off x="162272" y="1450107"/>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3.</a:t>
            </a:r>
            <a:endParaRPr lang="zh-CN" altLang="en-US" sz="2800" i="1" dirty="0">
              <a:solidFill>
                <a:srgbClr val="C00000"/>
              </a:solidFill>
              <a:latin typeface="Bernard MT Condensed"/>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grpSp>
        <p:nvGrpSpPr>
          <p:cNvPr id="36" name="组合 35"/>
          <p:cNvGrpSpPr/>
          <p:nvPr/>
        </p:nvGrpSpPr>
        <p:grpSpPr>
          <a:xfrm>
            <a:off x="733772" y="2388607"/>
            <a:ext cx="6984776" cy="2912601"/>
            <a:chOff x="971600" y="3717032"/>
            <a:chExt cx="6984776" cy="2016224"/>
          </a:xfrm>
        </p:grpSpPr>
        <p:sp>
          <p:nvSpPr>
            <p:cNvPr id="48" name="圆角矩形 47"/>
            <p:cNvSpPr/>
            <p:nvPr/>
          </p:nvSpPr>
          <p:spPr>
            <a:xfrm>
              <a:off x="971600" y="3933056"/>
              <a:ext cx="3024336" cy="16561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30000"/>
                </a:lnSpc>
              </a:pPr>
              <a:r>
                <a:rPr lang="zh-CN" altLang="en-US" sz="2800" dirty="0">
                  <a:latin typeface="微软雅黑" pitchFamily="34" charset="-122"/>
                  <a:ea typeface="微软雅黑" pitchFamily="34" charset="-122"/>
                </a:rPr>
                <a:t>根据工作条件不同，可能存在 </a:t>
              </a:r>
              <a:r>
                <a:rPr lang="en-US" altLang="zh-CN" sz="2800" dirty="0">
                  <a:latin typeface="微软雅黑" pitchFamily="34" charset="-122"/>
                  <a:ea typeface="微软雅黑" pitchFamily="34" charset="-122"/>
                  <a:cs typeface="Times New Roman" pitchFamily="18" charset="0"/>
                </a:rPr>
                <a:t>3</a:t>
              </a:r>
              <a:r>
                <a:rPr lang="en-US" altLang="zh-CN" sz="28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种压缩过程。</a:t>
              </a:r>
              <a:endParaRPr lang="zh-CN" altLang="en-US" dirty="0"/>
            </a:p>
          </p:txBody>
        </p:sp>
        <p:sp>
          <p:nvSpPr>
            <p:cNvPr id="24" name="左大括号 23"/>
            <p:cNvSpPr/>
            <p:nvPr/>
          </p:nvSpPr>
          <p:spPr>
            <a:xfrm>
              <a:off x="4139952" y="4005064"/>
              <a:ext cx="576064" cy="1440160"/>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30" name="组合 29"/>
            <p:cNvGrpSpPr/>
            <p:nvPr/>
          </p:nvGrpSpPr>
          <p:grpSpPr>
            <a:xfrm>
              <a:off x="4788025" y="3717032"/>
              <a:ext cx="3168351" cy="576064"/>
              <a:chOff x="3957348" y="1812"/>
              <a:chExt cx="4138147" cy="561746"/>
            </a:xfrm>
          </p:grpSpPr>
          <p:sp>
            <p:nvSpPr>
              <p:cNvPr id="31" name="圆角矩形 30"/>
              <p:cNvSpPr/>
              <p:nvPr/>
            </p:nvSpPr>
            <p:spPr>
              <a:xfrm>
                <a:off x="3957348" y="1812"/>
                <a:ext cx="4138147" cy="561746"/>
              </a:xfrm>
              <a:prstGeom prst="roundRect">
                <a:avLst>
                  <a:gd name="adj" fmla="val 10000"/>
                </a:avLst>
              </a:prstGeom>
              <a:solidFill>
                <a:schemeClr val="bg1"/>
              </a:solidFill>
              <a:ln>
                <a:solidFill>
                  <a:schemeClr val="tx2"/>
                </a:solid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32" name="圆角矩形 4"/>
              <p:cNvSpPr/>
              <p:nvPr/>
            </p:nvSpPr>
            <p:spPr>
              <a:xfrm>
                <a:off x="3973801" y="18265"/>
                <a:ext cx="4105241" cy="52884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zh-CN" altLang="en-US" sz="2800" dirty="0">
                    <a:solidFill>
                      <a:schemeClr val="tx1"/>
                    </a:solidFill>
                    <a:latin typeface="微软雅黑" pitchFamily="34" charset="-122"/>
                    <a:ea typeface="微软雅黑" pitchFamily="34" charset="-122"/>
                  </a:rPr>
                  <a:t>等熵压缩</a:t>
                </a:r>
                <a:endParaRPr lang="zh-CN" altLang="en-US" sz="2800" kern="1200" dirty="0">
                  <a:solidFill>
                    <a:schemeClr val="tx1"/>
                  </a:solidFill>
                  <a:latin typeface="微软雅黑" pitchFamily="34" charset="-122"/>
                  <a:ea typeface="微软雅黑" pitchFamily="34" charset="-122"/>
                  <a:cs typeface="Times New Roman" pitchFamily="18" charset="0"/>
                </a:endParaRPr>
              </a:p>
            </p:txBody>
          </p:sp>
        </p:grpSp>
        <p:grpSp>
          <p:nvGrpSpPr>
            <p:cNvPr id="40" name="组合 39"/>
            <p:cNvGrpSpPr/>
            <p:nvPr/>
          </p:nvGrpSpPr>
          <p:grpSpPr>
            <a:xfrm>
              <a:off x="4788024" y="4437112"/>
              <a:ext cx="3168351" cy="576064"/>
              <a:chOff x="3957348" y="1812"/>
              <a:chExt cx="4138147" cy="561746"/>
            </a:xfrm>
          </p:grpSpPr>
          <p:sp>
            <p:nvSpPr>
              <p:cNvPr id="43" name="圆角矩形 42"/>
              <p:cNvSpPr/>
              <p:nvPr/>
            </p:nvSpPr>
            <p:spPr>
              <a:xfrm>
                <a:off x="3957348" y="1812"/>
                <a:ext cx="4138147" cy="561746"/>
              </a:xfrm>
              <a:prstGeom prst="roundRect">
                <a:avLst>
                  <a:gd name="adj" fmla="val 10000"/>
                </a:avLst>
              </a:prstGeom>
              <a:solidFill>
                <a:schemeClr val="bg1"/>
              </a:solidFill>
              <a:ln>
                <a:solidFill>
                  <a:schemeClr val="tx2"/>
                </a:solid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4" name="圆角矩形 4"/>
              <p:cNvSpPr/>
              <p:nvPr/>
            </p:nvSpPr>
            <p:spPr>
              <a:xfrm>
                <a:off x="3973801" y="18265"/>
                <a:ext cx="4105241" cy="52884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zh-CN" altLang="en-US" sz="2800" dirty="0">
                    <a:solidFill>
                      <a:schemeClr val="tx1"/>
                    </a:solidFill>
                    <a:latin typeface="微软雅黑" pitchFamily="34" charset="-122"/>
                    <a:ea typeface="微软雅黑" pitchFamily="34" charset="-122"/>
                  </a:rPr>
                  <a:t>多变压缩</a:t>
                </a:r>
                <a:endParaRPr lang="zh-CN" altLang="en-US" sz="2800" kern="1200" dirty="0">
                  <a:solidFill>
                    <a:schemeClr val="tx1"/>
                  </a:solidFill>
                  <a:latin typeface="微软雅黑" pitchFamily="34" charset="-122"/>
                  <a:ea typeface="微软雅黑" pitchFamily="34" charset="-122"/>
                  <a:cs typeface="Times New Roman" pitchFamily="18" charset="0"/>
                </a:endParaRPr>
              </a:p>
            </p:txBody>
          </p:sp>
        </p:grpSp>
        <p:grpSp>
          <p:nvGrpSpPr>
            <p:cNvPr id="45" name="组合 44"/>
            <p:cNvGrpSpPr/>
            <p:nvPr/>
          </p:nvGrpSpPr>
          <p:grpSpPr>
            <a:xfrm>
              <a:off x="4788024" y="5157192"/>
              <a:ext cx="3168351" cy="576064"/>
              <a:chOff x="3957348" y="1812"/>
              <a:chExt cx="4138147" cy="561746"/>
            </a:xfrm>
          </p:grpSpPr>
          <p:sp>
            <p:nvSpPr>
              <p:cNvPr id="46" name="圆角矩形 45"/>
              <p:cNvSpPr/>
              <p:nvPr/>
            </p:nvSpPr>
            <p:spPr>
              <a:xfrm>
                <a:off x="3957348" y="1812"/>
                <a:ext cx="4138147" cy="561746"/>
              </a:xfrm>
              <a:prstGeom prst="roundRect">
                <a:avLst>
                  <a:gd name="adj" fmla="val 10000"/>
                </a:avLst>
              </a:prstGeom>
              <a:solidFill>
                <a:schemeClr val="bg1"/>
              </a:solidFill>
              <a:ln>
                <a:solidFill>
                  <a:schemeClr val="tx2"/>
                </a:solid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47" name="圆角矩形 4"/>
              <p:cNvSpPr/>
              <p:nvPr/>
            </p:nvSpPr>
            <p:spPr>
              <a:xfrm>
                <a:off x="3973801" y="34718"/>
                <a:ext cx="4105241" cy="52884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zh-CN" altLang="en-US" sz="2800" dirty="0">
                    <a:solidFill>
                      <a:schemeClr val="tx1"/>
                    </a:solidFill>
                    <a:latin typeface="微软雅黑" pitchFamily="34" charset="-122"/>
                    <a:ea typeface="微软雅黑" pitchFamily="34" charset="-122"/>
                  </a:rPr>
                  <a:t>等温压缩</a:t>
                </a:r>
                <a:endParaRPr lang="zh-CN" altLang="en-US" sz="2800" kern="1200" dirty="0">
                  <a:solidFill>
                    <a:schemeClr val="tx1"/>
                  </a:solidFill>
                  <a:latin typeface="微软雅黑" pitchFamily="34" charset="-122"/>
                  <a:ea typeface="微软雅黑" pitchFamily="34" charset="-122"/>
                  <a:cs typeface="Times New Roman" pitchFamily="18" charset="0"/>
                </a:endParaRPr>
              </a:p>
            </p:txBody>
          </p:sp>
        </p:grpSp>
      </p:grpSp>
      <p:sp>
        <p:nvSpPr>
          <p:cNvPr id="33" name="TextBox 32"/>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7</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39" name="Rectangle 6"/>
          <p:cNvSpPr>
            <a:spLocks noChangeArrowheads="1"/>
          </p:cNvSpPr>
          <p:nvPr/>
        </p:nvSpPr>
        <p:spPr bwMode="auto">
          <a:xfrm>
            <a:off x="606918" y="1606775"/>
            <a:ext cx="6408712" cy="609398"/>
          </a:xfrm>
          <a:prstGeom prst="rect">
            <a:avLst/>
          </a:prstGeom>
          <a:noFill/>
          <a:ln w="9525">
            <a:noFill/>
            <a:miter lim="800000"/>
            <a:headEnd/>
            <a:tailEnd/>
          </a:ln>
        </p:spPr>
        <p:txBody>
          <a:bodyPr wrap="square" anchor="ctr">
            <a:spAutoFit/>
          </a:bodyPr>
          <a:lstStyle/>
          <a:p>
            <a:pPr>
              <a:lnSpc>
                <a:spcPct val="120000"/>
              </a:lnSpc>
            </a:pPr>
            <a:r>
              <a:rPr lang="zh-CN" altLang="en-US" sz="2800" dirty="0">
                <a:latin typeface="Times New Roman" pitchFamily="18" charset="0"/>
                <a:ea typeface="微软雅黑" pitchFamily="34" charset="-122"/>
                <a:cs typeface="Times New Roman" pitchFamily="18" charset="0"/>
              </a:rPr>
              <a:t>不同压缩过程的</a:t>
            </a:r>
            <a:r>
              <a:rPr lang="zh-CN" altLang="en-US" dirty="0">
                <a:latin typeface="Times New Roman" pitchFamily="18" charset="0"/>
                <a:ea typeface="微软雅黑" pitchFamily="34" charset="-122"/>
                <a:cs typeface="Times New Roman" pitchFamily="18" charset="0"/>
              </a:rPr>
              <a:t> </a:t>
            </a:r>
            <a:r>
              <a:rPr lang="en-US" altLang="zh-CN" sz="2800" b="1" i="1" dirty="0">
                <a:latin typeface="Times New Roman" pitchFamily="18" charset="0"/>
                <a:ea typeface="微软雅黑" pitchFamily="34" charset="-122"/>
                <a:cs typeface="Times New Roman" pitchFamily="18" charset="0"/>
              </a:rPr>
              <a:t>p-v</a:t>
            </a:r>
            <a:r>
              <a:rPr lang="en-US" altLang="zh-CN" b="1" i="1" dirty="0">
                <a:latin typeface="Times New Roman" pitchFamily="18" charset="0"/>
                <a:ea typeface="微软雅黑" pitchFamily="34" charset="-122"/>
                <a:cs typeface="Times New Roman" pitchFamily="18" charset="0"/>
              </a:rPr>
              <a:t> </a:t>
            </a:r>
            <a:r>
              <a:rPr lang="zh-CN" altLang="en-US" sz="2800" dirty="0">
                <a:solidFill>
                  <a:prstClr val="black"/>
                </a:solidFill>
                <a:latin typeface="Times New Roman" pitchFamily="18" charset="0"/>
                <a:ea typeface="微软雅黑" pitchFamily="34" charset="-122"/>
                <a:cs typeface="Times New Roman" pitchFamily="18" charset="0"/>
              </a:rPr>
              <a:t>图</a:t>
            </a:r>
            <a:r>
              <a:rPr lang="zh-CN" altLang="en-US" sz="2800" dirty="0">
                <a:latin typeface="Times New Roman" pitchFamily="18" charset="0"/>
                <a:ea typeface="微软雅黑" pitchFamily="34" charset="-122"/>
                <a:cs typeface="Times New Roman" pitchFamily="18" charset="0"/>
              </a:rPr>
              <a:t>和</a:t>
            </a:r>
            <a:r>
              <a:rPr lang="zh-CN" altLang="en-US" dirty="0">
                <a:latin typeface="Times New Roman" pitchFamily="18" charset="0"/>
                <a:ea typeface="微软雅黑" pitchFamily="34" charset="-122"/>
                <a:cs typeface="Times New Roman" pitchFamily="18" charset="0"/>
              </a:rPr>
              <a:t> </a:t>
            </a:r>
            <a:r>
              <a:rPr lang="en-US" altLang="zh-CN" sz="2800" b="1" i="1" dirty="0">
                <a:latin typeface="Times New Roman" pitchFamily="18" charset="0"/>
                <a:ea typeface="微软雅黑" pitchFamily="34" charset="-122"/>
                <a:cs typeface="Times New Roman" pitchFamily="18" charset="0"/>
              </a:rPr>
              <a:t>T-s</a:t>
            </a:r>
            <a:r>
              <a:rPr lang="en-US" altLang="zh-CN" b="1" i="1" dirty="0">
                <a:latin typeface="Times New Roman" pitchFamily="18" charset="0"/>
                <a:ea typeface="微软雅黑" pitchFamily="34" charset="-122"/>
                <a:cs typeface="Times New Roman" pitchFamily="18" charset="0"/>
              </a:rPr>
              <a:t> </a:t>
            </a:r>
            <a:r>
              <a:rPr lang="zh-CN" altLang="en-US" sz="2800" dirty="0">
                <a:latin typeface="Times New Roman" pitchFamily="18" charset="0"/>
                <a:ea typeface="微软雅黑" pitchFamily="34" charset="-122"/>
                <a:cs typeface="Times New Roman" pitchFamily="18" charset="0"/>
              </a:rPr>
              <a:t>图如下：</a:t>
            </a:r>
            <a:endParaRPr lang="zh-CN" altLang="en-US" sz="2800" dirty="0">
              <a:solidFill>
                <a:srgbClr val="FF0000"/>
              </a:solidFill>
              <a:latin typeface="微软雅黑" pitchFamily="34" charset="-122"/>
              <a:ea typeface="微软雅黑" pitchFamily="34" charset="-122"/>
            </a:endParaRPr>
          </a:p>
        </p:txBody>
      </p:sp>
      <p:pic>
        <p:nvPicPr>
          <p:cNvPr id="36" name="Picture 6"/>
          <p:cNvPicPr>
            <a:picLocks noChangeAspect="1" noChangeArrowheads="1"/>
          </p:cNvPicPr>
          <p:nvPr/>
        </p:nvPicPr>
        <p:blipFill>
          <a:blip r:embed="rId6" cstate="print"/>
          <a:srcRect/>
          <a:stretch>
            <a:fillRect/>
          </a:stretch>
        </p:blipFill>
        <p:spPr bwMode="auto">
          <a:xfrm>
            <a:off x="971600" y="2708920"/>
            <a:ext cx="3048000" cy="2701565"/>
          </a:xfrm>
          <a:prstGeom prst="rect">
            <a:avLst/>
          </a:prstGeom>
          <a:noFill/>
          <a:ln w="9525">
            <a:noFill/>
            <a:miter lim="800000"/>
            <a:headEnd/>
            <a:tailEnd/>
          </a:ln>
        </p:spPr>
      </p:pic>
      <p:pic>
        <p:nvPicPr>
          <p:cNvPr id="37" name="Picture 7"/>
          <p:cNvPicPr>
            <a:picLocks noChangeAspect="1" noChangeArrowheads="1"/>
          </p:cNvPicPr>
          <p:nvPr/>
        </p:nvPicPr>
        <p:blipFill>
          <a:blip r:embed="rId7" cstate="print"/>
          <a:srcRect/>
          <a:stretch>
            <a:fillRect/>
          </a:stretch>
        </p:blipFill>
        <p:spPr bwMode="auto">
          <a:xfrm>
            <a:off x="4932040" y="2708920"/>
            <a:ext cx="2920256" cy="2701566"/>
          </a:xfrm>
          <a:prstGeom prst="rect">
            <a:avLst/>
          </a:prstGeom>
          <a:noFill/>
          <a:ln w="9525">
            <a:noFill/>
            <a:miter lim="800000"/>
            <a:headEnd/>
            <a:tailEnd/>
          </a:ln>
        </p:spPr>
      </p:pic>
      <p:sp>
        <p:nvSpPr>
          <p:cNvPr id="19" name="TextBox 18"/>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8</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24" name="Rectangle 2"/>
          <p:cNvSpPr>
            <a:spLocks noChangeArrowheads="1"/>
          </p:cNvSpPr>
          <p:nvPr/>
        </p:nvSpPr>
        <p:spPr bwMode="auto">
          <a:xfrm>
            <a:off x="528638" y="4581128"/>
            <a:ext cx="7931794" cy="138499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pPr>
              <a:lnSpc>
                <a:spcPct val="150000"/>
              </a:lnSpc>
            </a:pPr>
            <a:r>
              <a:rPr lang="zh-CN" altLang="en-US" sz="2800" dirty="0">
                <a:latin typeface="Times New Roman" pitchFamily="18" charset="0"/>
                <a:ea typeface="微软雅黑" pitchFamily="34" charset="-122"/>
                <a:cs typeface="Times New Roman" pitchFamily="18" charset="0"/>
              </a:rPr>
              <a:t>不同压缩过程初、终状态参数及耗功量可利用表</a:t>
            </a:r>
            <a:r>
              <a:rPr lang="en-US" altLang="zh-CN" sz="2800" dirty="0">
                <a:latin typeface="Times New Roman" pitchFamily="18" charset="0"/>
                <a:ea typeface="微软雅黑" pitchFamily="34" charset="-122"/>
                <a:cs typeface="Times New Roman" pitchFamily="18" charset="0"/>
              </a:rPr>
              <a:t>3.2 </a:t>
            </a:r>
            <a:r>
              <a:rPr lang="zh-CN" altLang="en-US" sz="2800" dirty="0">
                <a:latin typeface="Times New Roman" pitchFamily="18" charset="0"/>
                <a:ea typeface="微软雅黑" pitchFamily="34" charset="-122"/>
                <a:cs typeface="Times New Roman" pitchFamily="18" charset="0"/>
              </a:rPr>
              <a:t>中相应的公式进行计算。</a:t>
            </a:r>
          </a:p>
        </p:txBody>
      </p:sp>
      <p:sp>
        <p:nvSpPr>
          <p:cNvPr id="25" name="Rectangle 7"/>
          <p:cNvSpPr>
            <a:spLocks noChangeArrowheads="1"/>
          </p:cNvSpPr>
          <p:nvPr/>
        </p:nvSpPr>
        <p:spPr bwMode="auto">
          <a:xfrm>
            <a:off x="528638" y="3140968"/>
            <a:ext cx="7931794" cy="1384995"/>
          </a:xfrm>
          <a:prstGeom prst="rect">
            <a:avLst/>
          </a:prstGeom>
          <a:noFill/>
          <a:ln w="9525">
            <a:noFill/>
            <a:miter lim="800000"/>
            <a:headEnd/>
            <a:tailEnd/>
          </a:ln>
        </p:spPr>
        <p:txBody>
          <a:bodyPr wrap="square">
            <a:spAutoFit/>
          </a:bodyPr>
          <a:lstStyle/>
          <a:p>
            <a:pPr>
              <a:lnSpc>
                <a:spcPct val="150000"/>
              </a:lnSpc>
            </a:pPr>
            <a:r>
              <a:rPr lang="zh-CN" altLang="en-US" sz="2800" dirty="0">
                <a:latin typeface="Times New Roman" pitchFamily="18" charset="0"/>
                <a:ea typeface="微软雅黑" pitchFamily="34" charset="-122"/>
                <a:cs typeface="Times New Roman" pitchFamily="18" charset="0"/>
              </a:rPr>
              <a:t>在</a:t>
            </a:r>
            <a:r>
              <a:rPr lang="en-US" altLang="zh-CN" sz="2800" b="1" i="1" dirty="0">
                <a:latin typeface="Times New Roman" pitchFamily="18" charset="0"/>
                <a:ea typeface="微软雅黑" pitchFamily="34" charset="-122"/>
                <a:cs typeface="Times New Roman" pitchFamily="18" charset="0"/>
              </a:rPr>
              <a:t>T-s</a:t>
            </a:r>
            <a:r>
              <a:rPr lang="zh-CN" altLang="en-US" sz="2800" dirty="0">
                <a:latin typeface="Times New Roman" pitchFamily="18" charset="0"/>
                <a:ea typeface="微软雅黑" pitchFamily="34" charset="-122"/>
                <a:cs typeface="Times New Roman" pitchFamily="18" charset="0"/>
              </a:rPr>
              <a:t>图上，不同过程线以下的面积代表压缩过程中单位质量工质的放热量。</a:t>
            </a:r>
          </a:p>
        </p:txBody>
      </p:sp>
      <p:sp>
        <p:nvSpPr>
          <p:cNvPr id="20" name="Rectangle 6"/>
          <p:cNvSpPr>
            <a:spLocks noChangeArrowheads="1"/>
          </p:cNvSpPr>
          <p:nvPr/>
        </p:nvSpPr>
        <p:spPr bwMode="auto">
          <a:xfrm>
            <a:off x="592340" y="1124972"/>
            <a:ext cx="7848872" cy="2031325"/>
          </a:xfrm>
          <a:prstGeom prst="rect">
            <a:avLst/>
          </a:prstGeom>
          <a:noFill/>
          <a:ln w="9525">
            <a:noFill/>
            <a:miter lim="800000"/>
            <a:headEnd/>
            <a:tailEnd/>
          </a:ln>
        </p:spPr>
        <p:txBody>
          <a:bodyPr wrap="square" anchor="ctr">
            <a:spAutoFit/>
          </a:bodyPr>
          <a:lstStyle/>
          <a:p>
            <a:pPr>
              <a:lnSpc>
                <a:spcPct val="150000"/>
              </a:lnSpc>
            </a:pPr>
            <a:r>
              <a:rPr lang="zh-CN" altLang="en-US" sz="2800" dirty="0">
                <a:latin typeface="Times New Roman" pitchFamily="18" charset="0"/>
                <a:ea typeface="微软雅黑" pitchFamily="34" charset="-122"/>
                <a:cs typeface="Times New Roman" pitchFamily="18" charset="0"/>
              </a:rPr>
              <a:t>由</a:t>
            </a:r>
            <a:r>
              <a:rPr lang="en-US" altLang="zh-CN" sz="2800" b="1" i="1" dirty="0">
                <a:latin typeface="Times New Roman" pitchFamily="18" charset="0"/>
                <a:ea typeface="微软雅黑" pitchFamily="34" charset="-122"/>
                <a:cs typeface="Times New Roman" pitchFamily="18" charset="0"/>
              </a:rPr>
              <a:t>p-v</a:t>
            </a:r>
            <a:r>
              <a:rPr lang="zh-CN" altLang="en-US" sz="2800" dirty="0">
                <a:solidFill>
                  <a:prstClr val="black"/>
                </a:solidFill>
                <a:latin typeface="Times New Roman" pitchFamily="18" charset="0"/>
                <a:ea typeface="微软雅黑" pitchFamily="34" charset="-122"/>
                <a:cs typeface="Times New Roman" pitchFamily="18" charset="0"/>
              </a:rPr>
              <a:t>图</a:t>
            </a:r>
            <a:r>
              <a:rPr lang="zh-CN" altLang="en-US" sz="2800" i="1" dirty="0">
                <a:latin typeface="Times New Roman" pitchFamily="18" charset="0"/>
                <a:ea typeface="微软雅黑" pitchFamily="34" charset="-122"/>
                <a:cs typeface="Times New Roman" pitchFamily="18" charset="0"/>
              </a:rPr>
              <a:t>、</a:t>
            </a:r>
            <a:r>
              <a:rPr lang="en-US" altLang="zh-CN" sz="2800" b="1" i="1" dirty="0">
                <a:latin typeface="Times New Roman" pitchFamily="18" charset="0"/>
                <a:ea typeface="微软雅黑" pitchFamily="34" charset="-122"/>
                <a:cs typeface="Times New Roman" pitchFamily="18" charset="0"/>
              </a:rPr>
              <a:t>T-s</a:t>
            </a:r>
            <a:r>
              <a:rPr lang="zh-CN" altLang="en-US" sz="2800" dirty="0">
                <a:latin typeface="Times New Roman" pitchFamily="18" charset="0"/>
                <a:ea typeface="微软雅黑" pitchFamily="34" charset="-122"/>
                <a:cs typeface="Times New Roman" pitchFamily="18" charset="0"/>
              </a:rPr>
              <a:t>图知：</a:t>
            </a:r>
            <a:r>
              <a:rPr lang="zh-CN" altLang="en-US" sz="2800" dirty="0">
                <a:solidFill>
                  <a:srgbClr val="FF0000"/>
                </a:solidFill>
                <a:latin typeface="微软雅黑" pitchFamily="34" charset="-122"/>
                <a:ea typeface="微软雅黑" pitchFamily="34" charset="-122"/>
              </a:rPr>
              <a:t>定温压缩过程最理想（省功、安全、体积小）。应采用良好的冷却措施，使过程尽量接近于定温过程。 </a:t>
            </a:r>
          </a:p>
        </p:txBody>
      </p:sp>
      <p:sp>
        <p:nvSpPr>
          <p:cNvPr id="19" name="TextBox 18"/>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9</a:t>
            </a:r>
            <a:endParaRPr lang="zh-CN" altLang="en-US" sz="2000" b="1" dirty="0">
              <a:solidFill>
                <a:schemeClr val="tx1"/>
              </a:solidFill>
              <a:latin typeface="黑体" pitchFamily="49" charset="-122"/>
              <a:ea typeface="黑体" pitchFamily="49" charset="-122"/>
            </a:endParaRPr>
          </a:p>
        </p:txBody>
      </p:sp>
      <p:sp>
        <p:nvSpPr>
          <p:cNvPr id="34" name="TextBox 37"/>
          <p:cNvSpPr txBox="1">
            <a:spLocks noChangeArrowheads="1"/>
          </p:cNvSpPr>
          <p:nvPr/>
        </p:nvSpPr>
        <p:spPr bwMode="auto">
          <a:xfrm>
            <a:off x="805780" y="1340768"/>
            <a:ext cx="4198268"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活塞式压气机的容积效率</a:t>
            </a:r>
          </a:p>
        </p:txBody>
      </p:sp>
      <p:sp>
        <p:nvSpPr>
          <p:cNvPr id="35" name="矩形 34"/>
          <p:cNvSpPr/>
          <p:nvPr/>
        </p:nvSpPr>
        <p:spPr>
          <a:xfrm>
            <a:off x="144016" y="1354237"/>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4.</a:t>
            </a:r>
            <a:endParaRPr lang="zh-CN" altLang="en-US" sz="2800" i="1" dirty="0">
              <a:solidFill>
                <a:srgbClr val="C00000"/>
              </a:solidFill>
              <a:latin typeface="Bernard MT Condensed"/>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36" name="Rectangle 3"/>
          <p:cNvSpPr>
            <a:spLocks noChangeArrowheads="1"/>
          </p:cNvSpPr>
          <p:nvPr/>
        </p:nvSpPr>
        <p:spPr bwMode="auto">
          <a:xfrm>
            <a:off x="695350" y="1844824"/>
            <a:ext cx="7857356" cy="3323987"/>
          </a:xfrm>
          <a:prstGeom prst="rect">
            <a:avLst/>
          </a:prstGeom>
          <a:noFill/>
          <a:ln w="9525">
            <a:noFill/>
            <a:miter lim="800000"/>
            <a:headEnd/>
            <a:tailEnd/>
          </a:ln>
        </p:spPr>
        <p:txBody>
          <a:bodyPr wrap="square">
            <a:spAutoFit/>
          </a:bodyPr>
          <a:lstStyle/>
          <a:p>
            <a:pPr>
              <a:lnSpc>
                <a:spcPct val="150000"/>
              </a:lnSpc>
            </a:pPr>
            <a:r>
              <a:rPr lang="zh-CN" altLang="en-US" sz="2800" dirty="0">
                <a:latin typeface="微软雅黑" pitchFamily="34" charset="-122"/>
                <a:ea typeface="微软雅黑" pitchFamily="34" charset="-122"/>
              </a:rPr>
              <a:t>实际</a:t>
            </a:r>
            <a:r>
              <a:rPr lang="zh-CN" altLang="en-US" sz="2800" dirty="0">
                <a:solidFill>
                  <a:srgbClr val="FF0000"/>
                </a:solidFill>
                <a:latin typeface="微软雅黑" pitchFamily="34" charset="-122"/>
                <a:ea typeface="微软雅黑" pitchFamily="34" charset="-122"/>
              </a:rPr>
              <a:t>活塞式压气机</a:t>
            </a:r>
            <a:r>
              <a:rPr lang="zh-CN" altLang="en-US" sz="2800" dirty="0">
                <a:latin typeface="微软雅黑" pitchFamily="34" charset="-122"/>
                <a:ea typeface="微软雅黑" pitchFamily="34" charset="-122"/>
              </a:rPr>
              <a:t>中，活塞顶面与气缸盖之间必须留有空隙</a:t>
            </a:r>
            <a:r>
              <a:rPr lang="en-US" altLang="zh-CN" sz="2400" dirty="0">
                <a:latin typeface="微软雅黑" pitchFamily="34" charset="-122"/>
                <a:ea typeface="微软雅黑" pitchFamily="34" charset="-122"/>
              </a:rPr>
              <a:t>——</a:t>
            </a:r>
            <a:r>
              <a:rPr lang="zh-CN" altLang="en-US" sz="2800" dirty="0">
                <a:solidFill>
                  <a:srgbClr val="FF0000"/>
                </a:solidFill>
                <a:latin typeface="Times New Roman" pitchFamily="18" charset="0"/>
                <a:ea typeface="微软雅黑" pitchFamily="34" charset="-122"/>
                <a:cs typeface="Times New Roman" pitchFamily="18" charset="0"/>
              </a:rPr>
              <a:t>余隙容积</a:t>
            </a:r>
            <a:r>
              <a:rPr lang="en-US" altLang="zh-CN" sz="2800" b="1" i="1" dirty="0" err="1">
                <a:solidFill>
                  <a:srgbClr val="FF0000"/>
                </a:solidFill>
                <a:latin typeface="Times New Roman" pitchFamily="18" charset="0"/>
                <a:ea typeface="微软雅黑" pitchFamily="34" charset="-122"/>
                <a:cs typeface="Times New Roman" pitchFamily="18" charset="0"/>
              </a:rPr>
              <a:t>V</a:t>
            </a:r>
            <a:r>
              <a:rPr lang="en-US" altLang="zh-CN" sz="2800" b="1" baseline="-25000" dirty="0" err="1">
                <a:solidFill>
                  <a:srgbClr val="FF0000"/>
                </a:solidFill>
                <a:latin typeface="Times New Roman" pitchFamily="18" charset="0"/>
                <a:ea typeface="微软雅黑" pitchFamily="34" charset="-122"/>
                <a:cs typeface="Times New Roman" pitchFamily="18" charset="0"/>
              </a:rPr>
              <a:t>c</a:t>
            </a:r>
            <a:r>
              <a:rPr lang="en-US" altLang="zh-CN" sz="2800" baseline="-25000" dirty="0">
                <a:solidFill>
                  <a:srgbClr val="FF0000"/>
                </a:solidFill>
                <a:latin typeface="Times New Roman" pitchFamily="18" charset="0"/>
                <a:ea typeface="微软雅黑" pitchFamily="34" charset="-122"/>
                <a:cs typeface="Times New Roman" pitchFamily="18" charset="0"/>
              </a:rPr>
              <a:t> </a:t>
            </a:r>
            <a:r>
              <a:rPr lang="zh-CN" altLang="en-US" sz="2800" dirty="0">
                <a:latin typeface="Times New Roman" pitchFamily="18" charset="0"/>
                <a:ea typeface="微软雅黑" pitchFamily="34" charset="-122"/>
                <a:cs typeface="Times New Roman" pitchFamily="18" charset="0"/>
              </a:rPr>
              <a:t>。</a:t>
            </a:r>
            <a:endParaRPr lang="en-US" altLang="zh-CN" sz="2800" dirty="0">
              <a:latin typeface="Times New Roman" pitchFamily="18" charset="0"/>
              <a:ea typeface="微软雅黑" pitchFamily="34" charset="-122"/>
              <a:cs typeface="Times New Roman" pitchFamily="18" charset="0"/>
            </a:endParaRPr>
          </a:p>
          <a:p>
            <a:pPr>
              <a:lnSpc>
                <a:spcPct val="150000"/>
              </a:lnSpc>
            </a:pPr>
            <a:r>
              <a:rPr lang="zh-CN" altLang="en-US" sz="2800" dirty="0">
                <a:latin typeface="Times New Roman" pitchFamily="18" charset="0"/>
                <a:ea typeface="微软雅黑" pitchFamily="34" charset="-122"/>
                <a:cs typeface="Times New Roman" pitchFamily="18" charset="0"/>
              </a:rPr>
              <a:t>在实际循环中，余隙容积使实际吸气量（产气量）减少，气缸的有效利用率降低，用</a:t>
            </a:r>
            <a:r>
              <a:rPr lang="zh-CN" altLang="en-US" sz="2800" dirty="0">
                <a:solidFill>
                  <a:srgbClr val="FF0000"/>
                </a:solidFill>
                <a:latin typeface="Times New Roman" pitchFamily="18" charset="0"/>
                <a:ea typeface="微软雅黑" pitchFamily="34" charset="-122"/>
                <a:cs typeface="Times New Roman" pitchFamily="18" charset="0"/>
              </a:rPr>
              <a:t>容积效率</a:t>
            </a:r>
            <a:r>
              <a:rPr lang="zh-CN" altLang="en-US" sz="2800" dirty="0">
                <a:latin typeface="Times New Roman" pitchFamily="18" charset="0"/>
                <a:ea typeface="微软雅黑" pitchFamily="34" charset="-122"/>
                <a:cs typeface="Times New Roman" pitchFamily="18" charset="0"/>
              </a:rPr>
              <a:t>表示气缸容积的利用程度。</a:t>
            </a:r>
            <a:endParaRPr lang="en-US" altLang="zh-CN" sz="2800" dirty="0">
              <a:latin typeface="Times New Roman" pitchFamily="18" charset="0"/>
              <a:ea typeface="微软雅黑" pitchFamily="34" charset="-122"/>
              <a:cs typeface="Times New Roman" pitchFamily="18" charset="0"/>
            </a:endParaRPr>
          </a:p>
        </p:txBody>
      </p:sp>
      <p:sp>
        <p:nvSpPr>
          <p:cNvPr id="20" name="Rectangle 4"/>
          <p:cNvSpPr>
            <a:spLocks noChangeArrowheads="1"/>
          </p:cNvSpPr>
          <p:nvPr/>
        </p:nvSpPr>
        <p:spPr bwMode="auto">
          <a:xfrm>
            <a:off x="1403648" y="5229200"/>
            <a:ext cx="5904656" cy="52322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a:spAutoFit/>
          </a:bodyPr>
          <a:lstStyle/>
          <a:p>
            <a:r>
              <a:rPr lang="zh-CN" altLang="en-US" sz="2800" dirty="0">
                <a:latin typeface="微软雅黑" pitchFamily="34" charset="-122"/>
                <a:ea typeface="微软雅黑" pitchFamily="34" charset="-122"/>
              </a:rPr>
              <a:t>  容积效率</a:t>
            </a:r>
            <a:r>
              <a:rPr lang="en-US" altLang="zh-CN" sz="2800" dirty="0">
                <a:latin typeface="微软雅黑" pitchFamily="34" charset="-122"/>
                <a:ea typeface="微软雅黑" pitchFamily="34" charset="-122"/>
              </a:rPr>
              <a:t>=</a:t>
            </a:r>
            <a:r>
              <a:rPr lang="zh-CN" altLang="en-US" sz="2800" dirty="0">
                <a:latin typeface="微软雅黑" pitchFamily="34" charset="-122"/>
                <a:ea typeface="微软雅黑" pitchFamily="34" charset="-122"/>
              </a:rPr>
              <a:t>实际吸气量</a:t>
            </a:r>
            <a:r>
              <a:rPr lang="en-US" altLang="zh-CN" sz="2800" dirty="0">
                <a:latin typeface="微软雅黑" pitchFamily="34" charset="-122"/>
                <a:ea typeface="微软雅黑" pitchFamily="34" charset="-122"/>
              </a:rPr>
              <a:t>/</a:t>
            </a:r>
            <a:r>
              <a:rPr lang="zh-CN" altLang="en-US" sz="2800" dirty="0">
                <a:latin typeface="微软雅黑" pitchFamily="34" charset="-122"/>
                <a:ea typeface="微软雅黑" pitchFamily="34" charset="-122"/>
              </a:rPr>
              <a:t>理论吸气量</a:t>
            </a:r>
            <a:endParaRPr lang="zh-CN" altLang="en-US" sz="2800" i="1" baseline="-25000" dirty="0">
              <a:latin typeface="微软雅黑" pitchFamily="34" charset="-122"/>
              <a:ea typeface="微软雅黑" pitchFamily="34" charset="-122"/>
            </a:endParaRPr>
          </a:p>
        </p:txBody>
      </p:sp>
      <p:sp>
        <p:nvSpPr>
          <p:cNvPr id="21" name="TextBox 20"/>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10</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pic>
        <p:nvPicPr>
          <p:cNvPr id="22" name="Picture 7" descr="0803"/>
          <p:cNvPicPr>
            <a:picLocks noChangeAspect="1" noChangeArrowheads="1"/>
          </p:cNvPicPr>
          <p:nvPr/>
        </p:nvPicPr>
        <p:blipFill>
          <a:blip r:embed="rId7" cstate="print"/>
          <a:srcRect/>
          <a:stretch>
            <a:fillRect/>
          </a:stretch>
        </p:blipFill>
        <p:spPr bwMode="auto">
          <a:xfrm>
            <a:off x="5721697" y="1412776"/>
            <a:ext cx="2738735" cy="2592288"/>
          </a:xfrm>
          <a:prstGeom prst="rect">
            <a:avLst/>
          </a:prstGeom>
          <a:noFill/>
          <a:ln w="9525">
            <a:noFill/>
            <a:miter lim="800000"/>
            <a:headEnd/>
            <a:tailEnd/>
          </a:ln>
        </p:spPr>
      </p:pic>
      <p:sp>
        <p:nvSpPr>
          <p:cNvPr id="3" name="矩形 2"/>
          <p:cNvSpPr/>
          <p:nvPr/>
        </p:nvSpPr>
        <p:spPr>
          <a:xfrm>
            <a:off x="727501" y="1268760"/>
            <a:ext cx="1620957" cy="523220"/>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lvl="0"/>
            <a:r>
              <a:rPr lang="zh-CN" altLang="en-US" sz="2800" dirty="0">
                <a:latin typeface="微软雅黑" pitchFamily="34" charset="-122"/>
                <a:ea typeface="微软雅黑" pitchFamily="34" charset="-122"/>
              </a:rPr>
              <a:t>容积效率</a:t>
            </a:r>
            <a:endParaRPr lang="zh-CN" altLang="en-US" sz="2800" i="1" baseline="-25000" dirty="0">
              <a:latin typeface="微软雅黑" pitchFamily="34" charset="-122"/>
              <a:ea typeface="微软雅黑" pitchFamily="34" charset="-122"/>
            </a:endParaRPr>
          </a:p>
        </p:txBody>
      </p:sp>
      <p:graphicFrame>
        <p:nvGraphicFramePr>
          <p:cNvPr id="26" name="Object 5"/>
          <p:cNvGraphicFramePr>
            <a:graphicFrameLocks noChangeAspect="1"/>
          </p:cNvGraphicFramePr>
          <p:nvPr>
            <p:extLst>
              <p:ext uri="{D42A27DB-BD31-4B8C-83A1-F6EECF244321}">
                <p14:modId xmlns:p14="http://schemas.microsoft.com/office/powerpoint/2010/main" val="3954315796"/>
              </p:ext>
            </p:extLst>
          </p:nvPr>
        </p:nvGraphicFramePr>
        <p:xfrm>
          <a:off x="716357" y="1970881"/>
          <a:ext cx="4575723" cy="1446957"/>
        </p:xfrm>
        <a:graphic>
          <a:graphicData uri="http://schemas.openxmlformats.org/presentationml/2006/ole">
            <mc:AlternateContent xmlns:mc="http://schemas.openxmlformats.org/markup-compatibility/2006">
              <mc:Choice xmlns:v="urn:schemas-microsoft-com:vml" Requires="v">
                <p:oleObj spid="_x0000_s78911" name="公式" r:id="rId8" imgW="1854000" imgH="545760" progId="Equation.3">
                  <p:embed/>
                </p:oleObj>
              </mc:Choice>
              <mc:Fallback>
                <p:oleObj name="公式" r:id="rId8" imgW="1854000" imgH="545760" progId="Equation.3">
                  <p:embed/>
                  <p:pic>
                    <p:nvPicPr>
                      <p:cNvPr id="0" name=""/>
                      <p:cNvPicPr>
                        <a:picLocks noChangeAspect="1" noChangeArrowheads="1"/>
                      </p:cNvPicPr>
                      <p:nvPr/>
                    </p:nvPicPr>
                    <p:blipFill>
                      <a:blip r:embed="rId9"/>
                      <a:srcRect/>
                      <a:stretch>
                        <a:fillRect/>
                      </a:stretch>
                    </p:blipFill>
                    <p:spPr bwMode="auto">
                      <a:xfrm>
                        <a:off x="716357" y="1970881"/>
                        <a:ext cx="4575723" cy="1446957"/>
                      </a:xfrm>
                      <a:prstGeom prst="rect">
                        <a:avLst/>
                      </a:prstGeom>
                      <a:blipFill>
                        <a:blip r:embed="rId10"/>
                        <a:tile tx="0" ty="0" sx="100000" sy="100000" flip="none" algn="tl"/>
                      </a:blipFill>
                    </p:spPr>
                  </p:pic>
                </p:oleObj>
              </mc:Fallback>
            </mc:AlternateContent>
          </a:graphicData>
        </a:graphic>
      </p:graphicFrame>
      <p:sp>
        <p:nvSpPr>
          <p:cNvPr id="30" name="Rectangle 2"/>
          <p:cNvSpPr txBox="1">
            <a:spLocks noChangeArrowheads="1"/>
          </p:cNvSpPr>
          <p:nvPr/>
        </p:nvSpPr>
        <p:spPr bwMode="auto">
          <a:xfrm>
            <a:off x="611560" y="3861048"/>
            <a:ext cx="2016224" cy="4572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lvl="0">
              <a:spcBef>
                <a:spcPct val="0"/>
              </a:spcBef>
            </a:pPr>
            <a:r>
              <a:rPr lang="zh-CN" altLang="en-US" sz="2800" dirty="0">
                <a:latin typeface="微软雅黑" pitchFamily="34" charset="-122"/>
                <a:ea typeface="微软雅黑" pitchFamily="34" charset="-122"/>
                <a:cs typeface="+mj-cs"/>
              </a:rPr>
              <a:t>由上式知：</a:t>
            </a:r>
            <a:endParaRPr kumimoji="0" lang="zh-CN" altLang="en-US" sz="2800" i="0" u="none" strike="noStrike" kern="1200" cap="none" spc="0" normalizeH="0" baseline="0" noProof="0" dirty="0">
              <a:ln>
                <a:noFill/>
              </a:ln>
              <a:effectLst/>
              <a:uLnTx/>
              <a:uFillTx/>
              <a:latin typeface="微软雅黑" pitchFamily="34" charset="-122"/>
              <a:ea typeface="微软雅黑" pitchFamily="34" charset="-122"/>
              <a:cs typeface="+mj-cs"/>
            </a:endParaRPr>
          </a:p>
        </p:txBody>
      </p:sp>
      <p:sp>
        <p:nvSpPr>
          <p:cNvPr id="5" name="矩形 4"/>
          <p:cNvSpPr/>
          <p:nvPr/>
        </p:nvSpPr>
        <p:spPr>
          <a:xfrm>
            <a:off x="611560" y="4437112"/>
            <a:ext cx="7848872" cy="1384995"/>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lvl="0">
              <a:lnSpc>
                <a:spcPct val="150000"/>
              </a:lnSpc>
            </a:pPr>
            <a:r>
              <a:rPr lang="en-US" altLang="zh-CN" sz="2800" dirty="0">
                <a:latin typeface="Times New Roman" pitchFamily="18" charset="0"/>
                <a:ea typeface="微软雅黑" pitchFamily="34" charset="-122"/>
                <a:cs typeface="Times New Roman" pitchFamily="18" charset="0"/>
              </a:rPr>
              <a:t>(1)  </a:t>
            </a:r>
            <a:r>
              <a:rPr lang="zh-CN" altLang="en-US" sz="2800" dirty="0">
                <a:latin typeface="Times New Roman" pitchFamily="18" charset="0"/>
                <a:ea typeface="微软雅黑" pitchFamily="34" charset="-122"/>
                <a:cs typeface="Times New Roman" pitchFamily="18" charset="0"/>
              </a:rPr>
              <a:t>压力比 </a:t>
            </a:r>
            <a:r>
              <a:rPr lang="en-US" altLang="zh-CN" sz="2800" b="1" i="1" dirty="0">
                <a:latin typeface="Times New Roman" pitchFamily="18" charset="0"/>
                <a:ea typeface="微软雅黑" pitchFamily="34" charset="-122"/>
                <a:cs typeface="Times New Roman" pitchFamily="18" charset="0"/>
              </a:rPr>
              <a:t>p</a:t>
            </a:r>
            <a:r>
              <a:rPr lang="en-US" altLang="zh-CN" sz="2800" b="1" baseline="-25000" dirty="0">
                <a:latin typeface="Times New Roman" pitchFamily="18" charset="0"/>
                <a:ea typeface="微软雅黑" pitchFamily="34" charset="-122"/>
                <a:cs typeface="Times New Roman" pitchFamily="18" charset="0"/>
              </a:rPr>
              <a:t>2</a:t>
            </a:r>
            <a:r>
              <a:rPr lang="en-US" altLang="zh-CN" sz="2800" b="1" i="1" baseline="-25000" dirty="0">
                <a:latin typeface="Times New Roman" pitchFamily="18" charset="0"/>
                <a:ea typeface="微软雅黑" pitchFamily="34" charset="-122"/>
                <a:cs typeface="Times New Roman" pitchFamily="18" charset="0"/>
              </a:rPr>
              <a:t> </a:t>
            </a:r>
            <a:r>
              <a:rPr lang="en-US" altLang="zh-CN" sz="2800" b="1" i="1" dirty="0">
                <a:latin typeface="Times New Roman" pitchFamily="18" charset="0"/>
                <a:ea typeface="微软雅黑" pitchFamily="34" charset="-122"/>
                <a:cs typeface="Times New Roman" pitchFamily="18" charset="0"/>
              </a:rPr>
              <a:t>/ p</a:t>
            </a:r>
            <a:r>
              <a:rPr lang="en-US" altLang="zh-CN" sz="2800" b="1" baseline="-25000" dirty="0">
                <a:latin typeface="Times New Roman" pitchFamily="18" charset="0"/>
                <a:ea typeface="微软雅黑" pitchFamily="34" charset="-122"/>
                <a:cs typeface="Times New Roman" pitchFamily="18" charset="0"/>
              </a:rPr>
              <a:t>1</a:t>
            </a:r>
            <a:r>
              <a:rPr lang="zh-CN" altLang="en-US" sz="2800" dirty="0">
                <a:latin typeface="Times New Roman" pitchFamily="18" charset="0"/>
                <a:ea typeface="微软雅黑" pitchFamily="34" charset="-122"/>
                <a:cs typeface="Times New Roman" pitchFamily="18" charset="0"/>
              </a:rPr>
              <a:t>和多变指数 </a:t>
            </a:r>
            <a:r>
              <a:rPr lang="en-US" altLang="zh-CN" sz="2800" b="1" i="1" dirty="0">
                <a:latin typeface="Times New Roman" pitchFamily="18" charset="0"/>
                <a:ea typeface="微软雅黑" pitchFamily="34" charset="-122"/>
                <a:cs typeface="Times New Roman" pitchFamily="18" charset="0"/>
              </a:rPr>
              <a:t>n</a:t>
            </a:r>
            <a:r>
              <a:rPr lang="en-US" altLang="zh-CN" sz="2800" i="1" dirty="0">
                <a:latin typeface="Times New Roman" pitchFamily="18" charset="0"/>
                <a:ea typeface="微软雅黑" pitchFamily="34" charset="-122"/>
                <a:cs typeface="Times New Roman" pitchFamily="18" charset="0"/>
              </a:rPr>
              <a:t> </a:t>
            </a:r>
            <a:r>
              <a:rPr lang="zh-CN" altLang="en-US" sz="2800" dirty="0">
                <a:latin typeface="Times New Roman" pitchFamily="18" charset="0"/>
                <a:ea typeface="微软雅黑" pitchFamily="34" charset="-122"/>
                <a:cs typeface="Times New Roman" pitchFamily="18" charset="0"/>
              </a:rPr>
              <a:t>一定时，余隙容积</a:t>
            </a:r>
            <a:r>
              <a:rPr lang="en-US" altLang="zh-CN" sz="2800" b="1" dirty="0">
                <a:latin typeface="Times New Roman" pitchFamily="18" charset="0"/>
                <a:ea typeface="微软雅黑" pitchFamily="34" charset="-122"/>
                <a:cs typeface="Times New Roman" pitchFamily="18" charset="0"/>
              </a:rPr>
              <a:t>(</a:t>
            </a:r>
            <a:r>
              <a:rPr lang="en-US" altLang="zh-CN" sz="2800" b="1" i="1" dirty="0" err="1">
                <a:latin typeface="Times New Roman" pitchFamily="18" charset="0"/>
                <a:ea typeface="微软雅黑" pitchFamily="34" charset="-122"/>
                <a:cs typeface="Times New Roman" pitchFamily="18" charset="0"/>
              </a:rPr>
              <a:t>V</a:t>
            </a:r>
            <a:r>
              <a:rPr lang="en-US" altLang="zh-CN" sz="2800" b="1" baseline="-25000" dirty="0" err="1">
                <a:latin typeface="Times New Roman" pitchFamily="18" charset="0"/>
                <a:ea typeface="微软雅黑" pitchFamily="34" charset="-122"/>
                <a:cs typeface="Times New Roman" pitchFamily="18" charset="0"/>
              </a:rPr>
              <a:t>c</a:t>
            </a:r>
            <a:r>
              <a:rPr lang="en-US" altLang="zh-CN" sz="2800" b="1" dirty="0">
                <a:latin typeface="Times New Roman" pitchFamily="18" charset="0"/>
                <a:ea typeface="微软雅黑" pitchFamily="34" charset="-122"/>
                <a:cs typeface="Times New Roman" pitchFamily="18" charset="0"/>
              </a:rPr>
              <a:t>=</a:t>
            </a:r>
            <a:r>
              <a:rPr lang="en-US" altLang="zh-CN" sz="2800" b="1" i="1" dirty="0">
                <a:latin typeface="Times New Roman" pitchFamily="18" charset="0"/>
                <a:ea typeface="微软雅黑" pitchFamily="34" charset="-122"/>
                <a:cs typeface="Times New Roman" pitchFamily="18" charset="0"/>
              </a:rPr>
              <a:t>V</a:t>
            </a:r>
            <a:r>
              <a:rPr lang="en-US" altLang="zh-CN" sz="2800" b="1" baseline="-25000" dirty="0">
                <a:latin typeface="Times New Roman" pitchFamily="18" charset="0"/>
                <a:ea typeface="微软雅黑" pitchFamily="34" charset="-122"/>
                <a:cs typeface="Times New Roman" pitchFamily="18" charset="0"/>
              </a:rPr>
              <a:t>3</a:t>
            </a:r>
            <a:r>
              <a:rPr lang="en-US" altLang="zh-CN" sz="2800" b="1" dirty="0">
                <a:latin typeface="Times New Roman" pitchFamily="18" charset="0"/>
                <a:ea typeface="微软雅黑" pitchFamily="34" charset="-122"/>
                <a:cs typeface="Times New Roman" pitchFamily="18" charset="0"/>
              </a:rPr>
              <a:t>) </a:t>
            </a:r>
            <a:r>
              <a:rPr lang="zh-CN" altLang="en-US" sz="2800" dirty="0">
                <a:latin typeface="Times New Roman" pitchFamily="18" charset="0"/>
                <a:ea typeface="微软雅黑" pitchFamily="34" charset="-122"/>
                <a:cs typeface="Times New Roman" pitchFamily="18" charset="0"/>
              </a:rPr>
              <a:t>越大，容积效率越低。</a:t>
            </a:r>
            <a:endParaRPr lang="en-US" altLang="zh-CN" sz="2800" dirty="0">
              <a:latin typeface="Times New Roman" pitchFamily="18" charset="0"/>
              <a:ea typeface="微软雅黑" pitchFamily="34" charset="-122"/>
              <a:cs typeface="Times New Roman" pitchFamily="18" charset="0"/>
            </a:endParaRPr>
          </a:p>
        </p:txBody>
      </p:sp>
      <p:sp>
        <p:nvSpPr>
          <p:cNvPr id="21" name="TextBox 20"/>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11</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25" name="矩形 24"/>
          <p:cNvSpPr/>
          <p:nvPr/>
        </p:nvSpPr>
        <p:spPr>
          <a:xfrm>
            <a:off x="584598" y="1224159"/>
            <a:ext cx="7817627" cy="1772793"/>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nSpc>
                <a:spcPct val="130000"/>
              </a:lnSpc>
            </a:pPr>
            <a:r>
              <a:rPr lang="en-US" altLang="zh-CN" sz="2800" dirty="0">
                <a:latin typeface="Times New Roman" pitchFamily="18" charset="0"/>
                <a:ea typeface="微软雅黑" pitchFamily="34" charset="-122"/>
                <a:cs typeface="Times New Roman" pitchFamily="18" charset="0"/>
              </a:rPr>
              <a:t>(2)  </a:t>
            </a:r>
            <a:r>
              <a:rPr lang="zh-CN" altLang="en-US" sz="2800" dirty="0">
                <a:latin typeface="Times New Roman" pitchFamily="18" charset="0"/>
                <a:ea typeface="微软雅黑" pitchFamily="34" charset="-122"/>
                <a:cs typeface="Times New Roman" pitchFamily="18" charset="0"/>
              </a:rPr>
              <a:t>余隙容积和多变指数 </a:t>
            </a:r>
            <a:r>
              <a:rPr lang="en-US" altLang="zh-CN" sz="2800" b="1" i="1" dirty="0">
                <a:latin typeface="Times New Roman" pitchFamily="18" charset="0"/>
                <a:ea typeface="微软雅黑" pitchFamily="34" charset="-122"/>
                <a:cs typeface="Times New Roman" pitchFamily="18" charset="0"/>
              </a:rPr>
              <a:t>n </a:t>
            </a:r>
            <a:r>
              <a:rPr lang="zh-CN" altLang="en-US" sz="2800" dirty="0">
                <a:latin typeface="Times New Roman" pitchFamily="18" charset="0"/>
                <a:ea typeface="微软雅黑" pitchFamily="34" charset="-122"/>
                <a:cs typeface="Times New Roman" pitchFamily="18" charset="0"/>
              </a:rPr>
              <a:t>一定时，压力比</a:t>
            </a:r>
            <a:r>
              <a:rPr lang="zh-CN" altLang="en-US" sz="2800" b="1" dirty="0">
                <a:latin typeface="Times New Roman" pitchFamily="18" charset="0"/>
                <a:ea typeface="微软雅黑" pitchFamily="34" charset="-122"/>
                <a:cs typeface="Times New Roman" pitchFamily="18" charset="0"/>
              </a:rPr>
              <a:t> </a:t>
            </a:r>
            <a:r>
              <a:rPr lang="en-US" altLang="zh-CN" sz="2800" b="1" i="1" dirty="0">
                <a:latin typeface="Times New Roman" pitchFamily="18" charset="0"/>
                <a:ea typeface="微软雅黑" pitchFamily="34" charset="-122"/>
                <a:cs typeface="Times New Roman" pitchFamily="18" charset="0"/>
              </a:rPr>
              <a:t>p</a:t>
            </a:r>
            <a:r>
              <a:rPr lang="en-US" altLang="zh-CN" sz="2800" b="1" baseline="-25000" dirty="0">
                <a:latin typeface="Times New Roman" pitchFamily="18" charset="0"/>
                <a:ea typeface="微软雅黑" pitchFamily="34" charset="-122"/>
                <a:cs typeface="Times New Roman" pitchFamily="18" charset="0"/>
              </a:rPr>
              <a:t>2</a:t>
            </a:r>
            <a:r>
              <a:rPr lang="en-US" altLang="zh-CN" sz="2800" b="1" i="1" baseline="-25000" dirty="0">
                <a:latin typeface="Times New Roman" pitchFamily="18" charset="0"/>
                <a:ea typeface="微软雅黑" pitchFamily="34" charset="-122"/>
                <a:cs typeface="Times New Roman" pitchFamily="18" charset="0"/>
              </a:rPr>
              <a:t> </a:t>
            </a:r>
            <a:r>
              <a:rPr lang="en-US" altLang="zh-CN" sz="2800" b="1" i="1" dirty="0">
                <a:latin typeface="Times New Roman" pitchFamily="18" charset="0"/>
                <a:ea typeface="微软雅黑" pitchFamily="34" charset="-122"/>
                <a:cs typeface="Times New Roman" pitchFamily="18" charset="0"/>
              </a:rPr>
              <a:t>/ p</a:t>
            </a:r>
            <a:r>
              <a:rPr lang="en-US" altLang="zh-CN" sz="2800" b="1" baseline="-25000" dirty="0">
                <a:latin typeface="Times New Roman" pitchFamily="18" charset="0"/>
                <a:ea typeface="微软雅黑" pitchFamily="34" charset="-122"/>
                <a:cs typeface="Times New Roman" pitchFamily="18" charset="0"/>
              </a:rPr>
              <a:t>1</a:t>
            </a:r>
            <a:r>
              <a:rPr lang="zh-CN" altLang="en-US" sz="2800" dirty="0">
                <a:latin typeface="Times New Roman" pitchFamily="18" charset="0"/>
                <a:ea typeface="微软雅黑" pitchFamily="34" charset="-122"/>
                <a:cs typeface="Times New Roman" pitchFamily="18" charset="0"/>
              </a:rPr>
              <a:t>越大，容积效率越低；压力比</a:t>
            </a:r>
            <a:r>
              <a:rPr lang="en-US" altLang="zh-CN" sz="2800" b="1" i="1" dirty="0">
                <a:latin typeface="Times New Roman" pitchFamily="18" charset="0"/>
                <a:ea typeface="微软雅黑" pitchFamily="34" charset="-122"/>
                <a:cs typeface="Times New Roman" pitchFamily="18" charset="0"/>
              </a:rPr>
              <a:t>p</a:t>
            </a:r>
            <a:r>
              <a:rPr lang="en-US" altLang="zh-CN" sz="2800" b="1" baseline="-25000" dirty="0">
                <a:latin typeface="Times New Roman" pitchFamily="18" charset="0"/>
                <a:ea typeface="微软雅黑" pitchFamily="34" charset="-122"/>
                <a:cs typeface="Times New Roman" pitchFamily="18" charset="0"/>
              </a:rPr>
              <a:t>2</a:t>
            </a:r>
            <a:r>
              <a:rPr lang="en-US" altLang="zh-CN" sz="2800" b="1" i="1" baseline="-25000" dirty="0">
                <a:latin typeface="Times New Roman" pitchFamily="18" charset="0"/>
                <a:ea typeface="微软雅黑" pitchFamily="34" charset="-122"/>
                <a:cs typeface="Times New Roman" pitchFamily="18" charset="0"/>
              </a:rPr>
              <a:t> </a:t>
            </a:r>
            <a:r>
              <a:rPr lang="en-US" altLang="zh-CN" sz="2800" b="1" i="1" dirty="0">
                <a:latin typeface="Times New Roman" pitchFamily="18" charset="0"/>
                <a:ea typeface="微软雅黑" pitchFamily="34" charset="-122"/>
                <a:cs typeface="Times New Roman" pitchFamily="18" charset="0"/>
              </a:rPr>
              <a:t>/ p</a:t>
            </a:r>
            <a:r>
              <a:rPr lang="en-US" altLang="zh-CN" sz="2800" b="1" baseline="-25000" dirty="0">
                <a:latin typeface="Times New Roman" pitchFamily="18" charset="0"/>
                <a:ea typeface="微软雅黑" pitchFamily="34" charset="-122"/>
                <a:cs typeface="Times New Roman" pitchFamily="18" charset="0"/>
              </a:rPr>
              <a:t>1</a:t>
            </a:r>
            <a:r>
              <a:rPr lang="zh-CN" altLang="en-US" sz="2800" dirty="0">
                <a:latin typeface="Times New Roman" pitchFamily="18" charset="0"/>
                <a:ea typeface="微软雅黑" pitchFamily="34" charset="-122"/>
                <a:cs typeface="Times New Roman" pitchFamily="18" charset="0"/>
              </a:rPr>
              <a:t>达到一定值时，容积效率为零，产气量为零。</a:t>
            </a:r>
          </a:p>
        </p:txBody>
      </p:sp>
      <p:sp>
        <p:nvSpPr>
          <p:cNvPr id="3" name="矩形 2"/>
          <p:cNvSpPr/>
          <p:nvPr/>
        </p:nvSpPr>
        <p:spPr>
          <a:xfrm>
            <a:off x="559843" y="3096367"/>
            <a:ext cx="7830753" cy="1772793"/>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lvl="0">
              <a:lnSpc>
                <a:spcPct val="130000"/>
              </a:lnSpc>
            </a:pPr>
            <a:r>
              <a:rPr lang="en-US" altLang="zh-CN" sz="2800" dirty="0">
                <a:latin typeface="Times New Roman" pitchFamily="18" charset="0"/>
                <a:ea typeface="微软雅黑" pitchFamily="34" charset="-122"/>
                <a:cs typeface="Times New Roman" pitchFamily="18" charset="0"/>
              </a:rPr>
              <a:t>(3)  </a:t>
            </a:r>
            <a:r>
              <a:rPr lang="zh-CN" altLang="en-US" sz="2800" dirty="0">
                <a:latin typeface="Times New Roman" pitchFamily="18" charset="0"/>
                <a:ea typeface="微软雅黑" pitchFamily="34" charset="-122"/>
                <a:cs typeface="Times New Roman" pitchFamily="18" charset="0"/>
              </a:rPr>
              <a:t>余隙容积对生产 </a:t>
            </a:r>
            <a:r>
              <a:rPr lang="en-US" altLang="zh-CN" sz="2800" dirty="0">
                <a:latin typeface="Times New Roman" pitchFamily="18" charset="0"/>
                <a:ea typeface="微软雅黑" pitchFamily="34" charset="-122"/>
                <a:cs typeface="Times New Roman" pitchFamily="18" charset="0"/>
              </a:rPr>
              <a:t>1 kg </a:t>
            </a:r>
            <a:r>
              <a:rPr lang="zh-CN" altLang="en-US" sz="2800" dirty="0">
                <a:latin typeface="Times New Roman" pitchFamily="18" charset="0"/>
                <a:ea typeface="微软雅黑" pitchFamily="34" charset="-122"/>
                <a:cs typeface="Times New Roman" pitchFamily="18" charset="0"/>
              </a:rPr>
              <a:t>压缩气体的理论耗功量没有影响，但实际耗功量增加；而且压气机的无用体积增加，设计时应尽量减小余隙容积。</a:t>
            </a:r>
          </a:p>
        </p:txBody>
      </p:sp>
      <p:sp>
        <p:nvSpPr>
          <p:cNvPr id="5" name="矩形 4"/>
          <p:cNvSpPr/>
          <p:nvPr/>
        </p:nvSpPr>
        <p:spPr>
          <a:xfrm>
            <a:off x="584598" y="5048008"/>
            <a:ext cx="7659810" cy="973280"/>
          </a:xfrm>
          <a:prstGeom prst="rect">
            <a:avLst/>
          </a:prstGeom>
        </p:spPr>
        <p:txBody>
          <a:bodyPr wrap="square">
            <a:spAutoFit/>
          </a:bodyPr>
          <a:lstStyle/>
          <a:p>
            <a:pPr lvl="0">
              <a:lnSpc>
                <a:spcPct val="125000"/>
              </a:lnSpc>
              <a:spcBef>
                <a:spcPts val="1200"/>
              </a:spcBef>
            </a:pPr>
            <a:r>
              <a:rPr lang="zh-CN" altLang="en-US" sz="2400" b="1" dirty="0">
                <a:solidFill>
                  <a:srgbClr val="FF0000"/>
                </a:solidFill>
                <a:latin typeface="Times New Roman" pitchFamily="18" charset="0"/>
                <a:ea typeface="微软雅黑" pitchFamily="34" charset="-122"/>
                <a:cs typeface="Times New Roman" pitchFamily="18" charset="0"/>
              </a:rPr>
              <a:t>余隙比 </a:t>
            </a:r>
            <a:r>
              <a:rPr lang="en-US" altLang="zh-CN" sz="2400" b="1" i="1" dirty="0">
                <a:solidFill>
                  <a:srgbClr val="FF0000"/>
                </a:solidFill>
                <a:latin typeface="Times New Roman" pitchFamily="18" charset="0"/>
                <a:ea typeface="微软雅黑" pitchFamily="34" charset="-122"/>
                <a:cs typeface="Times New Roman" pitchFamily="18" charset="0"/>
              </a:rPr>
              <a:t>C</a:t>
            </a:r>
            <a:r>
              <a:rPr lang="zh-CN" altLang="en-US" sz="2400" b="1" dirty="0">
                <a:solidFill>
                  <a:srgbClr val="FF0000"/>
                </a:solidFill>
                <a:latin typeface="Times New Roman" pitchFamily="18" charset="0"/>
                <a:ea typeface="微软雅黑" pitchFamily="34" charset="-122"/>
                <a:cs typeface="Times New Roman" pitchFamily="18" charset="0"/>
              </a:rPr>
              <a:t>＝</a:t>
            </a:r>
            <a:r>
              <a:rPr lang="en-US" altLang="zh-CN" sz="2400" b="1" i="1" dirty="0" err="1">
                <a:solidFill>
                  <a:srgbClr val="FF0000"/>
                </a:solidFill>
                <a:latin typeface="Times New Roman" pitchFamily="18" charset="0"/>
                <a:ea typeface="微软雅黑" pitchFamily="34" charset="-122"/>
                <a:cs typeface="Times New Roman" pitchFamily="18" charset="0"/>
              </a:rPr>
              <a:t>V</a:t>
            </a:r>
            <a:r>
              <a:rPr lang="en-US" altLang="zh-CN" sz="2400" b="1" baseline="-25000" dirty="0" err="1">
                <a:solidFill>
                  <a:srgbClr val="FF0000"/>
                </a:solidFill>
                <a:latin typeface="Times New Roman" pitchFamily="18" charset="0"/>
                <a:ea typeface="微软雅黑" pitchFamily="34" charset="-122"/>
                <a:cs typeface="Times New Roman" pitchFamily="18" charset="0"/>
              </a:rPr>
              <a:t>c</a:t>
            </a:r>
            <a:r>
              <a:rPr lang="en-US" altLang="zh-CN" sz="2400" b="1" dirty="0">
                <a:solidFill>
                  <a:srgbClr val="FF0000"/>
                </a:solidFill>
                <a:latin typeface="Times New Roman" pitchFamily="18" charset="0"/>
                <a:ea typeface="微软雅黑" pitchFamily="34" charset="-122"/>
                <a:cs typeface="Times New Roman" pitchFamily="18" charset="0"/>
              </a:rPr>
              <a:t>/</a:t>
            </a:r>
            <a:r>
              <a:rPr lang="en-US" altLang="zh-CN" sz="2400" b="1" i="1" dirty="0" err="1">
                <a:solidFill>
                  <a:srgbClr val="FF0000"/>
                </a:solidFill>
                <a:latin typeface="Times New Roman" pitchFamily="18" charset="0"/>
                <a:ea typeface="微软雅黑" pitchFamily="34" charset="-122"/>
                <a:cs typeface="Times New Roman" pitchFamily="18" charset="0"/>
              </a:rPr>
              <a:t>V</a:t>
            </a:r>
            <a:r>
              <a:rPr lang="en-US" altLang="zh-CN" sz="2400" b="1" baseline="-25000" dirty="0" err="1">
                <a:solidFill>
                  <a:srgbClr val="FF0000"/>
                </a:solidFill>
                <a:latin typeface="Times New Roman" pitchFamily="18" charset="0"/>
                <a:ea typeface="微软雅黑" pitchFamily="34" charset="-122"/>
                <a:cs typeface="Times New Roman" pitchFamily="18" charset="0"/>
              </a:rPr>
              <a:t>h</a:t>
            </a:r>
            <a:r>
              <a:rPr lang="zh-CN" altLang="en-US" sz="2400" b="1" dirty="0">
                <a:solidFill>
                  <a:srgbClr val="FF0000"/>
                </a:solidFill>
                <a:latin typeface="Times New Roman" pitchFamily="18" charset="0"/>
                <a:ea typeface="微软雅黑" pitchFamily="34" charset="-122"/>
                <a:cs typeface="Times New Roman" pitchFamily="18" charset="0"/>
              </a:rPr>
              <a:t>也表示气缸容积利用率，通常</a:t>
            </a:r>
            <a:r>
              <a:rPr lang="en-US" altLang="zh-CN" sz="2400" b="1" i="1" dirty="0">
                <a:solidFill>
                  <a:srgbClr val="FF0000"/>
                </a:solidFill>
                <a:latin typeface="Times New Roman" pitchFamily="18" charset="0"/>
                <a:ea typeface="微软雅黑" pitchFamily="34" charset="-122"/>
                <a:cs typeface="Times New Roman" pitchFamily="18" charset="0"/>
              </a:rPr>
              <a:t>C= </a:t>
            </a:r>
            <a:r>
              <a:rPr lang="en-US" altLang="zh-CN" sz="2400" b="1" dirty="0">
                <a:solidFill>
                  <a:srgbClr val="FF0000"/>
                </a:solidFill>
                <a:latin typeface="Times New Roman" pitchFamily="18" charset="0"/>
                <a:ea typeface="微软雅黑" pitchFamily="34" charset="-122"/>
                <a:cs typeface="Times New Roman" pitchFamily="18" charset="0"/>
              </a:rPr>
              <a:t>0.03</a:t>
            </a:r>
            <a:r>
              <a:rPr lang="zh-CN" altLang="en-US" sz="2400" b="1" dirty="0">
                <a:solidFill>
                  <a:srgbClr val="FF0000"/>
                </a:solidFill>
                <a:latin typeface="Times New Roman" pitchFamily="18" charset="0"/>
                <a:ea typeface="微软雅黑" pitchFamily="34" charset="-122"/>
                <a:cs typeface="Times New Roman" pitchFamily="18" charset="0"/>
              </a:rPr>
              <a:t>～</a:t>
            </a:r>
            <a:r>
              <a:rPr lang="en-US" altLang="zh-CN" sz="2400" b="1" dirty="0">
                <a:solidFill>
                  <a:srgbClr val="FF0000"/>
                </a:solidFill>
                <a:latin typeface="Times New Roman" pitchFamily="18" charset="0"/>
                <a:ea typeface="微软雅黑" pitchFamily="34" charset="-122"/>
                <a:cs typeface="Times New Roman" pitchFamily="18" charset="0"/>
              </a:rPr>
              <a:t>0.08</a:t>
            </a:r>
            <a:r>
              <a:rPr lang="zh-CN" altLang="en-US" sz="2400" b="1" dirty="0">
                <a:solidFill>
                  <a:srgbClr val="FF0000"/>
                </a:solidFill>
                <a:latin typeface="Times New Roman" pitchFamily="18" charset="0"/>
                <a:ea typeface="微软雅黑" pitchFamily="34" charset="-122"/>
                <a:cs typeface="Times New Roman" pitchFamily="18" charset="0"/>
              </a:rPr>
              <a:t>。</a:t>
            </a:r>
          </a:p>
        </p:txBody>
      </p:sp>
      <p:sp>
        <p:nvSpPr>
          <p:cNvPr id="19" name="TextBox 18"/>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12</a:t>
            </a:r>
            <a:endParaRPr lang="zh-CN" altLang="en-US" sz="2000" b="1" dirty="0">
              <a:solidFill>
                <a:schemeClr val="tx1"/>
              </a:solidFill>
              <a:latin typeface="黑体" pitchFamily="49" charset="-122"/>
              <a:ea typeface="黑体" pitchFamily="49" charset="-122"/>
            </a:endParaRPr>
          </a:p>
        </p:txBody>
      </p:sp>
      <p:sp>
        <p:nvSpPr>
          <p:cNvPr id="34" name="TextBox 37"/>
          <p:cNvSpPr txBox="1">
            <a:spLocks noChangeArrowheads="1"/>
          </p:cNvSpPr>
          <p:nvPr/>
        </p:nvSpPr>
        <p:spPr bwMode="auto">
          <a:xfrm>
            <a:off x="827584" y="1393612"/>
            <a:ext cx="3667311"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多级压缩及级间冷却</a:t>
            </a:r>
            <a:endParaRPr lang="zh-CN" altLang="en-US" sz="2800" dirty="0">
              <a:latin typeface="微软雅黑" pitchFamily="34" charset="-122"/>
              <a:ea typeface="微软雅黑" pitchFamily="34" charset="-122"/>
            </a:endParaRPr>
          </a:p>
        </p:txBody>
      </p:sp>
      <p:sp>
        <p:nvSpPr>
          <p:cNvPr id="35" name="矩形 34"/>
          <p:cNvSpPr/>
          <p:nvPr/>
        </p:nvSpPr>
        <p:spPr>
          <a:xfrm>
            <a:off x="165820" y="1407081"/>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5.</a:t>
            </a:r>
            <a:endParaRPr lang="zh-CN" altLang="en-US" sz="2800" i="1" dirty="0">
              <a:solidFill>
                <a:srgbClr val="C00000"/>
              </a:solidFill>
              <a:latin typeface="Bernard MT Condensed"/>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36" name="Rectangle 3"/>
          <p:cNvSpPr>
            <a:spLocks noChangeArrowheads="1"/>
          </p:cNvSpPr>
          <p:nvPr/>
        </p:nvSpPr>
        <p:spPr bwMode="auto">
          <a:xfrm>
            <a:off x="460648" y="3645024"/>
            <a:ext cx="8215808" cy="1954959"/>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50000"/>
              </a:lnSpc>
            </a:pPr>
            <a:r>
              <a:rPr lang="zh-CN" altLang="en-US" sz="2800" dirty="0">
                <a:latin typeface="微软雅黑" pitchFamily="34" charset="-122"/>
                <a:ea typeface="微软雅黑" pitchFamily="34" charset="-122"/>
              </a:rPr>
              <a:t>多级压缩是把气体的压缩过程分为多个阶段，分别在多个气缸中依次压缩，每两个气缸之间有级间冷却器对气体进行冷却（两级或两级以上称为多级）。</a:t>
            </a:r>
            <a:endParaRPr lang="en-US" altLang="zh-CN" sz="2800" dirty="0">
              <a:latin typeface="Times New Roman" pitchFamily="18" charset="0"/>
              <a:ea typeface="微软雅黑" pitchFamily="34" charset="-122"/>
              <a:cs typeface="Times New Roman" pitchFamily="18" charset="0"/>
            </a:endParaRPr>
          </a:p>
        </p:txBody>
      </p:sp>
      <p:sp>
        <p:nvSpPr>
          <p:cNvPr id="3" name="矩形 2"/>
          <p:cNvSpPr/>
          <p:nvPr/>
        </p:nvSpPr>
        <p:spPr>
          <a:xfrm>
            <a:off x="460648" y="2060848"/>
            <a:ext cx="8215808" cy="130888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lnSpc>
                <a:spcPct val="150000"/>
              </a:lnSpc>
            </a:pPr>
            <a:r>
              <a:rPr lang="zh-CN" altLang="en-US" sz="2800" dirty="0">
                <a:latin typeface="微软雅黑" pitchFamily="34" charset="-122"/>
                <a:ea typeface="微软雅黑" pitchFamily="34" charset="-122"/>
              </a:rPr>
              <a:t>当所需压力比较高时，容积效率太低，所以采用多级压缩。</a:t>
            </a:r>
          </a:p>
        </p:txBody>
      </p:sp>
      <p:sp>
        <p:nvSpPr>
          <p:cNvPr id="20" name="TextBox 19"/>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autoUpdateAnimBg="0"/>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4"/>
          <p:cNvPicPr>
            <a:picLocks noChangeAspect="1" noChangeArrowheads="1"/>
          </p:cNvPicPr>
          <p:nvPr/>
        </p:nvPicPr>
        <p:blipFill>
          <a:blip r:embed="rId3" cstate="print"/>
          <a:srcRect/>
          <a:stretch>
            <a:fillRect/>
          </a:stretch>
        </p:blipFill>
        <p:spPr bwMode="auto">
          <a:xfrm>
            <a:off x="695426" y="2636912"/>
            <a:ext cx="7360785" cy="3420000"/>
          </a:xfrm>
          <a:prstGeom prst="rect">
            <a:avLst/>
          </a:prstGeom>
          <a:noFill/>
          <a:ln w="9525">
            <a:noFill/>
            <a:miter lim="800000"/>
            <a:headEnd/>
            <a:tailEnd/>
          </a:ln>
        </p:spPr>
      </p:pic>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13</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sp>
        <p:nvSpPr>
          <p:cNvPr id="36" name="Rectangle 3"/>
          <p:cNvSpPr>
            <a:spLocks noChangeArrowheads="1"/>
          </p:cNvSpPr>
          <p:nvPr/>
        </p:nvSpPr>
        <p:spPr bwMode="auto">
          <a:xfrm>
            <a:off x="448891" y="1916832"/>
            <a:ext cx="7488832" cy="738664"/>
          </a:xfrm>
          <a:prstGeom prst="rect">
            <a:avLst/>
          </a:prstGeom>
          <a:noFill/>
          <a:ln w="9525">
            <a:noFill/>
            <a:miter lim="800000"/>
            <a:headEnd/>
            <a:tailEnd/>
          </a:ln>
        </p:spPr>
        <p:txBody>
          <a:bodyPr wrap="square">
            <a:spAutoFit/>
          </a:bodyPr>
          <a:lstStyle/>
          <a:p>
            <a:pPr>
              <a:lnSpc>
                <a:spcPct val="150000"/>
              </a:lnSpc>
            </a:pPr>
            <a:r>
              <a:rPr lang="zh-CN" altLang="en-US" sz="2800" dirty="0">
                <a:latin typeface="Times New Roman" pitchFamily="18" charset="0"/>
                <a:ea typeface="微软雅黑" pitchFamily="34" charset="-122"/>
                <a:cs typeface="Times New Roman" pitchFamily="18" charset="0"/>
              </a:rPr>
              <a:t>下面是 </a:t>
            </a:r>
            <a:r>
              <a:rPr lang="en-US" altLang="zh-CN" sz="2800" dirty="0">
                <a:latin typeface="Times New Roman" pitchFamily="18" charset="0"/>
                <a:ea typeface="微软雅黑" pitchFamily="34" charset="-122"/>
                <a:cs typeface="Times New Roman" pitchFamily="18" charset="0"/>
              </a:rPr>
              <a:t>2 </a:t>
            </a:r>
            <a:r>
              <a:rPr lang="zh-CN" altLang="en-US" sz="2800" dirty="0">
                <a:latin typeface="Times New Roman" pitchFamily="18" charset="0"/>
                <a:ea typeface="微软雅黑" pitchFamily="34" charset="-122"/>
                <a:cs typeface="Times New Roman" pitchFamily="18" charset="0"/>
              </a:rPr>
              <a:t>级压缩、级间冷却的 </a:t>
            </a:r>
            <a:r>
              <a:rPr lang="en-US" altLang="zh-CN" sz="2800" b="1" i="1" dirty="0">
                <a:latin typeface="Times New Roman" pitchFamily="18" charset="0"/>
                <a:ea typeface="微软雅黑" pitchFamily="34" charset="-122"/>
                <a:cs typeface="Times New Roman" pitchFamily="18" charset="0"/>
              </a:rPr>
              <a:t>p-v</a:t>
            </a:r>
            <a:r>
              <a:rPr lang="en-US" altLang="zh-CN" sz="2800" b="1" dirty="0">
                <a:latin typeface="Times New Roman" pitchFamily="18" charset="0"/>
                <a:ea typeface="微软雅黑" pitchFamily="34" charset="-122"/>
                <a:cs typeface="Times New Roman" pitchFamily="18" charset="0"/>
              </a:rPr>
              <a:t> </a:t>
            </a:r>
            <a:r>
              <a:rPr lang="zh-CN" altLang="en-US" sz="2800" dirty="0">
                <a:latin typeface="Times New Roman" pitchFamily="18" charset="0"/>
                <a:ea typeface="微软雅黑" pitchFamily="34" charset="-122"/>
                <a:cs typeface="Times New Roman" pitchFamily="18" charset="0"/>
              </a:rPr>
              <a:t>图和 </a:t>
            </a:r>
            <a:r>
              <a:rPr lang="en-US" altLang="zh-CN" sz="2800" b="1" i="1" dirty="0">
                <a:latin typeface="Times New Roman" pitchFamily="18" charset="0"/>
                <a:ea typeface="微软雅黑" pitchFamily="34" charset="-122"/>
                <a:cs typeface="Times New Roman" pitchFamily="18" charset="0"/>
              </a:rPr>
              <a:t>T-s </a:t>
            </a:r>
            <a:r>
              <a:rPr lang="zh-CN" altLang="en-US" sz="2800" dirty="0">
                <a:latin typeface="Times New Roman" pitchFamily="18" charset="0"/>
                <a:ea typeface="微软雅黑" pitchFamily="34" charset="-122"/>
                <a:cs typeface="Times New Roman" pitchFamily="18" charset="0"/>
              </a:rPr>
              <a:t>图。</a:t>
            </a:r>
            <a:endParaRPr lang="en-US" altLang="zh-CN" sz="2800" dirty="0">
              <a:latin typeface="Times New Roman" pitchFamily="18" charset="0"/>
              <a:ea typeface="微软雅黑" pitchFamily="34" charset="-122"/>
              <a:cs typeface="Times New Roman" pitchFamily="18" charset="0"/>
            </a:endParaRPr>
          </a:p>
        </p:txBody>
      </p:sp>
      <p:sp>
        <p:nvSpPr>
          <p:cNvPr id="21" name="Rectangle 7"/>
          <p:cNvSpPr>
            <a:spLocks noChangeArrowheads="1"/>
          </p:cNvSpPr>
          <p:nvPr/>
        </p:nvSpPr>
        <p:spPr bwMode="auto">
          <a:xfrm>
            <a:off x="107504" y="1393612"/>
            <a:ext cx="3626314" cy="523220"/>
          </a:xfrm>
          <a:prstGeom prst="rect">
            <a:avLst/>
          </a:prstGeom>
          <a:noFill/>
          <a:ln w="9525">
            <a:noFill/>
            <a:miter lim="800000"/>
            <a:headEnd/>
            <a:tailEnd/>
          </a:ln>
          <a:effectLst/>
        </p:spPr>
        <p:txBody>
          <a:bodyPr wrap="none" anchor="ctr">
            <a:spAutoFit/>
          </a:bodyPr>
          <a:lstStyle/>
          <a:p>
            <a:r>
              <a:rPr lang="zh-CN" altLang="en-US" sz="2800" dirty="0">
                <a:solidFill>
                  <a:srgbClr val="0000FF"/>
                </a:solidFill>
                <a:latin typeface="微软雅黑" pitchFamily="34" charset="-122"/>
                <a:ea typeface="微软雅黑" pitchFamily="34" charset="-122"/>
                <a:cs typeface="Times New Roman" pitchFamily="18" charset="0"/>
              </a:rPr>
              <a:t>（</a:t>
            </a:r>
            <a:r>
              <a:rPr lang="en-US" altLang="zh-CN" sz="2800" dirty="0">
                <a:solidFill>
                  <a:srgbClr val="0000FF"/>
                </a:solidFill>
                <a:latin typeface="微软雅黑" pitchFamily="34" charset="-122"/>
                <a:ea typeface="微软雅黑" pitchFamily="34" charset="-122"/>
                <a:cs typeface="Times New Roman" pitchFamily="18" charset="0"/>
              </a:rPr>
              <a:t>1</a:t>
            </a:r>
            <a:r>
              <a:rPr lang="zh-CN" altLang="en-US" sz="2800" dirty="0">
                <a:solidFill>
                  <a:srgbClr val="0000FF"/>
                </a:solidFill>
                <a:latin typeface="微软雅黑" pitchFamily="34" charset="-122"/>
                <a:ea typeface="微软雅黑" pitchFamily="34" charset="-122"/>
                <a:cs typeface="Times New Roman" pitchFamily="18" charset="0"/>
              </a:rPr>
              <a:t>）多级压缩的特点</a:t>
            </a:r>
            <a:endParaRPr lang="zh-CN" altLang="en-US" sz="2800" dirty="0">
              <a:solidFill>
                <a:srgbClr val="0000FF"/>
              </a:solidFill>
              <a:latin typeface="微软雅黑" pitchFamily="34" charset="-122"/>
              <a:ea typeface="微软雅黑" pitchFamily="34" charset="-122"/>
            </a:endParaRPr>
          </a:p>
        </p:txBody>
      </p:sp>
      <p:sp>
        <p:nvSpPr>
          <p:cNvPr id="19" name="TextBox 18"/>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14</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25" name="圆角矩形 24"/>
          <p:cNvSpPr/>
          <p:nvPr/>
        </p:nvSpPr>
        <p:spPr>
          <a:xfrm>
            <a:off x="571472" y="2708920"/>
            <a:ext cx="3024336" cy="280831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2800" dirty="0">
                <a:latin typeface="Times New Roman" pitchFamily="18" charset="0"/>
                <a:ea typeface="微软雅黑" pitchFamily="34" charset="-122"/>
                <a:cs typeface="Times New Roman" pitchFamily="18" charset="0"/>
              </a:rPr>
              <a:t>(1) </a:t>
            </a:r>
            <a:r>
              <a:rPr lang="zh-CN" altLang="en-US" sz="2800" dirty="0">
                <a:latin typeface="Times New Roman" pitchFamily="18" charset="0"/>
                <a:ea typeface="微软雅黑" pitchFamily="34" charset="-122"/>
                <a:cs typeface="Times New Roman" pitchFamily="18" charset="0"/>
              </a:rPr>
              <a:t>耗功少。总压比一定时，级数越多，冷却越充分，功耗越少；级数→∞，过程→等温过程</a:t>
            </a:r>
            <a:r>
              <a:rPr lang="en-US" altLang="zh-CN" sz="2800" dirty="0">
                <a:latin typeface="Times New Roman" pitchFamily="18" charset="0"/>
                <a:ea typeface="微软雅黑" pitchFamily="34" charset="-122"/>
                <a:cs typeface="Times New Roman" pitchFamily="18" charset="0"/>
              </a:rPr>
              <a:t> </a:t>
            </a:r>
            <a:endParaRPr lang="zh-CN" altLang="en-US" sz="2800" dirty="0">
              <a:latin typeface="Times New Roman" pitchFamily="18" charset="0"/>
              <a:ea typeface="微软雅黑" pitchFamily="34" charset="-122"/>
              <a:cs typeface="Times New Roman" pitchFamily="18" charset="0"/>
            </a:endParaRPr>
          </a:p>
        </p:txBody>
      </p:sp>
      <p:sp>
        <p:nvSpPr>
          <p:cNvPr id="30" name="圆角矩形 29"/>
          <p:cNvSpPr/>
          <p:nvPr/>
        </p:nvSpPr>
        <p:spPr>
          <a:xfrm>
            <a:off x="3917387" y="2708920"/>
            <a:ext cx="2304256" cy="280831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2800" dirty="0">
                <a:latin typeface="Times New Roman" pitchFamily="18" charset="0"/>
                <a:ea typeface="微软雅黑" pitchFamily="34" charset="-122"/>
                <a:cs typeface="Times New Roman" pitchFamily="18" charset="0"/>
              </a:rPr>
              <a:t>(2)  </a:t>
            </a:r>
            <a:r>
              <a:rPr lang="zh-CN" altLang="en-US" sz="2800" dirty="0">
                <a:latin typeface="微软雅黑" pitchFamily="34" charset="-122"/>
                <a:ea typeface="微软雅黑" pitchFamily="34" charset="-122"/>
              </a:rPr>
              <a:t>排气温度低（热负荷小，有利于润滑）</a:t>
            </a:r>
            <a:endParaRPr lang="zh-CN" altLang="en-US" sz="2800" dirty="0">
              <a:latin typeface="微软雅黑" pitchFamily="34" charset="-122"/>
              <a:ea typeface="微软雅黑" pitchFamily="34" charset="-122"/>
              <a:cs typeface="Times New Roman" pitchFamily="18" charset="0"/>
            </a:endParaRPr>
          </a:p>
        </p:txBody>
      </p:sp>
      <p:sp>
        <p:nvSpPr>
          <p:cNvPr id="31" name="圆角矩形 30"/>
          <p:cNvSpPr/>
          <p:nvPr/>
        </p:nvSpPr>
        <p:spPr>
          <a:xfrm>
            <a:off x="6516216" y="2708920"/>
            <a:ext cx="2088232" cy="280831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2800" dirty="0">
                <a:latin typeface="Times New Roman" pitchFamily="18" charset="0"/>
                <a:ea typeface="微软雅黑" pitchFamily="34" charset="-122"/>
                <a:cs typeface="Times New Roman" pitchFamily="18" charset="0"/>
              </a:rPr>
              <a:t>(3)  </a:t>
            </a:r>
            <a:r>
              <a:rPr lang="zh-CN" altLang="en-US" sz="2800" dirty="0">
                <a:latin typeface="微软雅黑" pitchFamily="34" charset="-122"/>
                <a:ea typeface="微软雅黑" pitchFamily="34" charset="-122"/>
              </a:rPr>
              <a:t>容积效率高（每级压比较小）</a:t>
            </a:r>
            <a:endParaRPr lang="zh-CN" altLang="en-US" sz="2800" dirty="0">
              <a:latin typeface="微软雅黑" pitchFamily="34" charset="-122"/>
              <a:ea typeface="微软雅黑" pitchFamily="34" charset="-122"/>
              <a:cs typeface="Times New Roman" pitchFamily="18" charset="0"/>
            </a:endParaRPr>
          </a:p>
        </p:txBody>
      </p:sp>
      <p:sp>
        <p:nvSpPr>
          <p:cNvPr id="34" name="圆角矩形 33"/>
          <p:cNvSpPr/>
          <p:nvPr/>
        </p:nvSpPr>
        <p:spPr>
          <a:xfrm>
            <a:off x="755575" y="1766739"/>
            <a:ext cx="7019987" cy="576064"/>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rgbClr val="FF0000"/>
                </a:solidFill>
                <a:latin typeface="微软雅黑" pitchFamily="34" charset="-122"/>
                <a:ea typeface="微软雅黑" pitchFamily="34" charset="-122"/>
              </a:rPr>
              <a:t>采用多级压缩、级间冷却的</a:t>
            </a:r>
            <a:r>
              <a:rPr lang="zh-CN" altLang="en-US" sz="3200" b="1" dirty="0">
                <a:solidFill>
                  <a:srgbClr val="FF0000"/>
                </a:solidFill>
                <a:latin typeface="微软雅黑" pitchFamily="34" charset="-122"/>
                <a:ea typeface="微软雅黑" pitchFamily="34" charset="-122"/>
              </a:rPr>
              <a:t>优点</a:t>
            </a:r>
          </a:p>
        </p:txBody>
      </p:sp>
      <p:sp>
        <p:nvSpPr>
          <p:cNvPr id="20" name="TextBox 19"/>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0" grpId="0" animBg="1"/>
      <p:bldP spid="3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15</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25" name="圆角矩形 24"/>
          <p:cNvSpPr/>
          <p:nvPr/>
        </p:nvSpPr>
        <p:spPr>
          <a:xfrm>
            <a:off x="656728" y="2348880"/>
            <a:ext cx="7633692" cy="144016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zh-CN" altLang="en-US" sz="2800" dirty="0">
                <a:latin typeface="Times New Roman" pitchFamily="18" charset="0"/>
                <a:ea typeface="微软雅黑" pitchFamily="34" charset="-122"/>
                <a:cs typeface="Times New Roman" pitchFamily="18" charset="0"/>
              </a:rPr>
              <a:t>结构复杂，造价高，运行可靠性降低，故分级不宜太多，工程上一般不超过 </a:t>
            </a:r>
            <a:r>
              <a:rPr lang="en-US" altLang="zh-CN" sz="2800" dirty="0">
                <a:latin typeface="Times New Roman" pitchFamily="18" charset="0"/>
                <a:ea typeface="微软雅黑" pitchFamily="34" charset="-122"/>
                <a:cs typeface="Times New Roman" pitchFamily="18" charset="0"/>
              </a:rPr>
              <a:t>4 </a:t>
            </a:r>
            <a:r>
              <a:rPr lang="zh-CN" altLang="en-US" sz="2800" dirty="0">
                <a:latin typeface="Times New Roman" pitchFamily="18" charset="0"/>
                <a:ea typeface="微软雅黑" pitchFamily="34" charset="-122"/>
                <a:cs typeface="Times New Roman" pitchFamily="18" charset="0"/>
              </a:rPr>
              <a:t>级。</a:t>
            </a:r>
          </a:p>
        </p:txBody>
      </p:sp>
      <p:sp>
        <p:nvSpPr>
          <p:cNvPr id="34" name="圆角矩形 33"/>
          <p:cNvSpPr/>
          <p:nvPr/>
        </p:nvSpPr>
        <p:spPr>
          <a:xfrm>
            <a:off x="719244" y="1484784"/>
            <a:ext cx="7344816" cy="576064"/>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solidFill>
                  <a:schemeClr val="tx1"/>
                </a:solidFill>
                <a:latin typeface="微软雅黑" pitchFamily="34" charset="-122"/>
                <a:ea typeface="微软雅黑" pitchFamily="34" charset="-122"/>
              </a:rPr>
              <a:t>采用多级压缩及级间冷却的</a:t>
            </a:r>
            <a:r>
              <a:rPr lang="zh-CN" altLang="en-US" sz="3200" b="1" dirty="0">
                <a:solidFill>
                  <a:schemeClr val="tx1"/>
                </a:solidFill>
                <a:latin typeface="微软雅黑" pitchFamily="34" charset="-122"/>
                <a:ea typeface="微软雅黑" pitchFamily="34" charset="-122"/>
              </a:rPr>
              <a:t>缺点</a:t>
            </a:r>
          </a:p>
        </p:txBody>
      </p:sp>
      <p:sp>
        <p:nvSpPr>
          <p:cNvPr id="21" name="Rectangle 7"/>
          <p:cNvSpPr>
            <a:spLocks noChangeArrowheads="1"/>
          </p:cNvSpPr>
          <p:nvPr/>
        </p:nvSpPr>
        <p:spPr bwMode="auto">
          <a:xfrm>
            <a:off x="211955" y="3985900"/>
            <a:ext cx="4719562" cy="523220"/>
          </a:xfrm>
          <a:prstGeom prst="rect">
            <a:avLst/>
          </a:prstGeom>
          <a:noFill/>
          <a:ln w="9525">
            <a:noFill/>
            <a:miter lim="800000"/>
            <a:headEnd/>
            <a:tailEnd/>
          </a:ln>
          <a:effectLst/>
        </p:spPr>
        <p:txBody>
          <a:bodyPr wrap="none" anchor="ctr">
            <a:spAutoFit/>
          </a:bodyPr>
          <a:lstStyle/>
          <a:p>
            <a:r>
              <a:rPr lang="zh-CN" altLang="en-US" sz="2800" dirty="0">
                <a:solidFill>
                  <a:srgbClr val="0000FF"/>
                </a:solidFill>
                <a:latin typeface="微软雅黑" pitchFamily="34" charset="-122"/>
                <a:ea typeface="微软雅黑" pitchFamily="34" charset="-122"/>
                <a:cs typeface="Times New Roman" pitchFamily="18" charset="0"/>
              </a:rPr>
              <a:t>（</a:t>
            </a:r>
            <a:r>
              <a:rPr lang="en-US" altLang="zh-CN" sz="2800" dirty="0">
                <a:solidFill>
                  <a:srgbClr val="0000FF"/>
                </a:solidFill>
                <a:latin typeface="微软雅黑" pitchFamily="34" charset="-122"/>
                <a:ea typeface="微软雅黑" pitchFamily="34" charset="-122"/>
                <a:cs typeface="Times New Roman" pitchFamily="18" charset="0"/>
              </a:rPr>
              <a:t>2</a:t>
            </a:r>
            <a:r>
              <a:rPr lang="zh-CN" altLang="en-US" sz="2800" dirty="0">
                <a:solidFill>
                  <a:srgbClr val="0000FF"/>
                </a:solidFill>
                <a:latin typeface="微软雅黑" pitchFamily="34" charset="-122"/>
                <a:ea typeface="微软雅黑" pitchFamily="34" charset="-122"/>
                <a:cs typeface="Times New Roman" pitchFamily="18" charset="0"/>
              </a:rPr>
              <a:t>）</a:t>
            </a:r>
            <a:r>
              <a:rPr lang="zh-CN" altLang="en-US" sz="2800" dirty="0">
                <a:solidFill>
                  <a:srgbClr val="0000FF"/>
                </a:solidFill>
                <a:latin typeface="微软雅黑" pitchFamily="34" charset="-122"/>
                <a:ea typeface="微软雅黑" pitchFamily="34" charset="-122"/>
              </a:rPr>
              <a:t>最佳级间压力和压力比</a:t>
            </a:r>
          </a:p>
        </p:txBody>
      </p:sp>
      <p:sp>
        <p:nvSpPr>
          <p:cNvPr id="22" name="矩形 21"/>
          <p:cNvSpPr/>
          <p:nvPr/>
        </p:nvSpPr>
        <p:spPr>
          <a:xfrm>
            <a:off x="363094" y="4581128"/>
            <a:ext cx="8156076" cy="1298817"/>
          </a:xfrm>
          <a:prstGeom prst="rect">
            <a:avLst/>
          </a:prstGeom>
        </p:spPr>
        <p:txBody>
          <a:bodyPr wrap="square">
            <a:spAutoFit/>
          </a:bodyPr>
          <a:lstStyle/>
          <a:p>
            <a:pPr>
              <a:lnSpc>
                <a:spcPct val="140000"/>
              </a:lnSpc>
            </a:pPr>
            <a:r>
              <a:rPr lang="zh-CN" altLang="en-US" sz="2800" dirty="0">
                <a:latin typeface="微软雅黑" pitchFamily="34" charset="-122"/>
                <a:ea typeface="微软雅黑" pitchFamily="34" charset="-122"/>
              </a:rPr>
              <a:t>多级压缩的耗功量为各级压缩耗功量的总和。总耗功量的大小与中间压力的选取有关。</a:t>
            </a:r>
          </a:p>
        </p:txBody>
      </p:sp>
      <p:sp>
        <p:nvSpPr>
          <p:cNvPr id="20" name="TextBox 19"/>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1"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16</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sp>
        <p:nvSpPr>
          <p:cNvPr id="22" name="矩形 21"/>
          <p:cNvSpPr/>
          <p:nvPr/>
        </p:nvSpPr>
        <p:spPr>
          <a:xfrm>
            <a:off x="441148" y="1268760"/>
            <a:ext cx="8078022" cy="1308884"/>
          </a:xfrm>
          <a:prstGeom prst="rect">
            <a:avLst/>
          </a:prstGeom>
        </p:spPr>
        <p:txBody>
          <a:bodyPr wrap="square">
            <a:spAutoFit/>
          </a:bodyPr>
          <a:lstStyle/>
          <a:p>
            <a:pPr>
              <a:lnSpc>
                <a:spcPct val="150000"/>
              </a:lnSpc>
            </a:pPr>
            <a:r>
              <a:rPr lang="zh-CN" altLang="en-US" sz="2800" dirty="0">
                <a:solidFill>
                  <a:srgbClr val="FF0000"/>
                </a:solidFill>
                <a:latin typeface="微软雅黑" pitchFamily="34" charset="-122"/>
                <a:ea typeface="微软雅黑" pitchFamily="34" charset="-122"/>
              </a:rPr>
              <a:t>最佳级间压力和压力比确定原则：总功耗最小原则。</a:t>
            </a:r>
            <a:endParaRPr lang="en-US" altLang="zh-CN" sz="2800" dirty="0">
              <a:solidFill>
                <a:srgbClr val="FF0000"/>
              </a:solidFill>
              <a:latin typeface="微软雅黑" pitchFamily="34" charset="-122"/>
              <a:ea typeface="微软雅黑" pitchFamily="34" charset="-122"/>
            </a:endParaRPr>
          </a:p>
          <a:p>
            <a:pPr>
              <a:lnSpc>
                <a:spcPct val="150000"/>
              </a:lnSpc>
            </a:pPr>
            <a:r>
              <a:rPr lang="zh-CN" altLang="en-US" sz="2800" dirty="0">
                <a:latin typeface="微软雅黑" pitchFamily="34" charset="-122"/>
                <a:ea typeface="微软雅黑" pitchFamily="34" charset="-122"/>
              </a:rPr>
              <a:t>以</a:t>
            </a:r>
            <a:r>
              <a:rPr lang="zh-CN" altLang="en-US" sz="2800" b="1" dirty="0">
                <a:solidFill>
                  <a:srgbClr val="0070C0"/>
                </a:solidFill>
                <a:latin typeface="微软雅黑" pitchFamily="34" charset="-122"/>
                <a:ea typeface="微软雅黑" pitchFamily="34" charset="-122"/>
              </a:rPr>
              <a:t>两级压缩</a:t>
            </a:r>
            <a:r>
              <a:rPr lang="zh-CN" altLang="en-US" sz="2800" dirty="0">
                <a:latin typeface="微软雅黑" pitchFamily="34" charset="-122"/>
                <a:ea typeface="微软雅黑" pitchFamily="34" charset="-122"/>
              </a:rPr>
              <a:t>为例，可推得</a:t>
            </a:r>
            <a:r>
              <a:rPr lang="zh-CN" altLang="en-US" sz="2800" b="1" dirty="0">
                <a:solidFill>
                  <a:srgbClr val="0070C0"/>
                </a:solidFill>
                <a:latin typeface="微软雅黑" pitchFamily="34" charset="-122"/>
                <a:ea typeface="微软雅黑" pitchFamily="34" charset="-122"/>
              </a:rPr>
              <a:t>最佳级间压力</a:t>
            </a:r>
            <a:r>
              <a:rPr lang="zh-CN" altLang="en-US" sz="2800" dirty="0">
                <a:latin typeface="微软雅黑" pitchFamily="34" charset="-122"/>
                <a:ea typeface="微软雅黑" pitchFamily="34" charset="-122"/>
              </a:rPr>
              <a:t>为：</a:t>
            </a:r>
          </a:p>
        </p:txBody>
      </p:sp>
      <p:graphicFrame>
        <p:nvGraphicFramePr>
          <p:cNvPr id="23" name="Object 3"/>
          <p:cNvGraphicFramePr>
            <a:graphicFrameLocks noGrp="1" noChangeAspect="1"/>
          </p:cNvGraphicFramePr>
          <p:nvPr>
            <p:ph sz="quarter" idx="4294967295"/>
            <p:extLst>
              <p:ext uri="{D42A27DB-BD31-4B8C-83A1-F6EECF244321}">
                <p14:modId xmlns:p14="http://schemas.microsoft.com/office/powerpoint/2010/main" val="1245852949"/>
              </p:ext>
            </p:extLst>
          </p:nvPr>
        </p:nvGraphicFramePr>
        <p:xfrm>
          <a:off x="3451459" y="2852936"/>
          <a:ext cx="2057400" cy="614363"/>
        </p:xfrm>
        <a:graphic>
          <a:graphicData uri="http://schemas.openxmlformats.org/presentationml/2006/ole">
            <mc:AlternateContent xmlns:mc="http://schemas.openxmlformats.org/markup-compatibility/2006">
              <mc:Choice xmlns:v="urn:schemas-microsoft-com:vml" Requires="v">
                <p:oleObj spid="_x0000_s81014" name="公式" r:id="rId7" imgW="850531" imgH="253890" progId="Equation.3">
                  <p:embed/>
                </p:oleObj>
              </mc:Choice>
              <mc:Fallback>
                <p:oleObj name="公式" r:id="rId7" imgW="850531" imgH="25389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51459" y="2852936"/>
                        <a:ext cx="2057400" cy="614363"/>
                      </a:xfrm>
                      <a:prstGeom prst="rect">
                        <a:avLst/>
                      </a:prstGeom>
                      <a:solidFill>
                        <a:schemeClr val="bg2"/>
                      </a:solidFill>
                    </p:spPr>
                  </p:pic>
                </p:oleObj>
              </mc:Fallback>
            </mc:AlternateContent>
          </a:graphicData>
        </a:graphic>
      </p:graphicFrame>
      <p:sp>
        <p:nvSpPr>
          <p:cNvPr id="24" name="Rectangle 4"/>
          <p:cNvSpPr>
            <a:spLocks noChangeArrowheads="1"/>
          </p:cNvSpPr>
          <p:nvPr/>
        </p:nvSpPr>
        <p:spPr bwMode="auto">
          <a:xfrm>
            <a:off x="663401" y="4906144"/>
            <a:ext cx="2684463" cy="519113"/>
          </a:xfrm>
          <a:prstGeom prst="rect">
            <a:avLst/>
          </a:prstGeom>
          <a:noFill/>
          <a:ln w="9525">
            <a:noFill/>
            <a:miter lim="800000"/>
            <a:headEnd/>
            <a:tailEnd/>
          </a:ln>
        </p:spPr>
        <p:txBody>
          <a:bodyPr wrap="none">
            <a:spAutoFit/>
          </a:bodyPr>
          <a:lstStyle/>
          <a:p>
            <a:r>
              <a:rPr lang="zh-CN" altLang="en-US" sz="2800" b="1" dirty="0">
                <a:solidFill>
                  <a:srgbClr val="0070C0"/>
                </a:solidFill>
                <a:latin typeface="微软雅黑" pitchFamily="34" charset="-122"/>
                <a:ea typeface="微软雅黑" pitchFamily="34" charset="-122"/>
              </a:rPr>
              <a:t>最佳压力比为：</a:t>
            </a:r>
          </a:p>
        </p:txBody>
      </p:sp>
      <p:graphicFrame>
        <p:nvGraphicFramePr>
          <p:cNvPr id="26" name="Object 5"/>
          <p:cNvGraphicFramePr>
            <a:graphicFrameLocks noChangeAspect="1"/>
          </p:cNvGraphicFramePr>
          <p:nvPr/>
        </p:nvGraphicFramePr>
        <p:xfrm>
          <a:off x="3689450" y="4653136"/>
          <a:ext cx="1873250" cy="1065212"/>
        </p:xfrm>
        <a:graphic>
          <a:graphicData uri="http://schemas.openxmlformats.org/presentationml/2006/ole">
            <mc:AlternateContent xmlns:mc="http://schemas.openxmlformats.org/markup-compatibility/2006">
              <mc:Choice xmlns:v="urn:schemas-microsoft-com:vml" Requires="v">
                <p:oleObj spid="_x0000_s81015" name="公式" r:id="rId9" imgW="736600" imgH="419100" progId="Equation.3">
                  <p:embed/>
                </p:oleObj>
              </mc:Choice>
              <mc:Fallback>
                <p:oleObj name="公式" r:id="rId9" imgW="736600" imgH="4191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89450" y="4653136"/>
                        <a:ext cx="1873250" cy="1065212"/>
                      </a:xfrm>
                      <a:prstGeom prst="rect">
                        <a:avLst/>
                      </a:prstGeom>
                      <a:solidFill>
                        <a:schemeClr val="bg2"/>
                      </a:solidFill>
                    </p:spPr>
                  </p:pic>
                </p:oleObj>
              </mc:Fallback>
            </mc:AlternateContent>
          </a:graphicData>
        </a:graphic>
      </p:graphicFrame>
      <p:sp>
        <p:nvSpPr>
          <p:cNvPr id="30" name="Rectangle 6"/>
          <p:cNvSpPr>
            <a:spLocks noChangeArrowheads="1"/>
          </p:cNvSpPr>
          <p:nvPr/>
        </p:nvSpPr>
        <p:spPr bwMode="auto">
          <a:xfrm>
            <a:off x="681042" y="3761091"/>
            <a:ext cx="6437981" cy="523220"/>
          </a:xfrm>
          <a:prstGeom prst="rect">
            <a:avLst/>
          </a:prstGeom>
          <a:noFill/>
          <a:ln w="9525">
            <a:noFill/>
            <a:miter lim="800000"/>
            <a:headEnd/>
            <a:tailEnd/>
          </a:ln>
        </p:spPr>
        <p:txBody>
          <a:bodyPr wrap="none" anchor="ctr">
            <a:spAutoFit/>
          </a:bodyPr>
          <a:lstStyle/>
          <a:p>
            <a:r>
              <a:rPr lang="zh-CN" altLang="en-US" sz="2800" dirty="0">
                <a:latin typeface="Times New Roman" pitchFamily="18" charset="0"/>
                <a:ea typeface="微软雅黑" pitchFamily="34" charset="-122"/>
                <a:cs typeface="Times New Roman" pitchFamily="18" charset="0"/>
              </a:rPr>
              <a:t>式中，</a:t>
            </a:r>
            <a:r>
              <a:rPr lang="en-US" altLang="zh-CN" sz="2800" b="1" i="1" dirty="0">
                <a:latin typeface="Times New Roman" pitchFamily="18" charset="0"/>
                <a:ea typeface="微软雅黑" pitchFamily="34" charset="-122"/>
                <a:cs typeface="Times New Roman" pitchFamily="18" charset="0"/>
              </a:rPr>
              <a:t>p</a:t>
            </a:r>
            <a:r>
              <a:rPr lang="en-US" altLang="zh-CN" sz="2800" b="1" baseline="-25000" dirty="0">
                <a:latin typeface="Times New Roman" pitchFamily="18" charset="0"/>
                <a:ea typeface="微软雅黑" pitchFamily="34" charset="-122"/>
                <a:cs typeface="Times New Roman" pitchFamily="18" charset="0"/>
              </a:rPr>
              <a:t>4 </a:t>
            </a:r>
            <a:r>
              <a:rPr lang="zh-CN" altLang="en-US" sz="2800" dirty="0">
                <a:latin typeface="Times New Roman" pitchFamily="18" charset="0"/>
                <a:ea typeface="微软雅黑" pitchFamily="34" charset="-122"/>
                <a:cs typeface="Times New Roman" pitchFamily="18" charset="0"/>
              </a:rPr>
              <a:t>为压缩终压；</a:t>
            </a:r>
            <a:r>
              <a:rPr lang="en-US" altLang="zh-CN" sz="2800" b="1" i="1" dirty="0">
                <a:latin typeface="Times New Roman" pitchFamily="18" charset="0"/>
                <a:ea typeface="微软雅黑" pitchFamily="34" charset="-122"/>
                <a:cs typeface="Times New Roman" pitchFamily="18" charset="0"/>
              </a:rPr>
              <a:t>p</a:t>
            </a:r>
            <a:r>
              <a:rPr lang="en-US" altLang="zh-CN" sz="2800" b="1" baseline="-25000" dirty="0">
                <a:latin typeface="Times New Roman" pitchFamily="18" charset="0"/>
                <a:ea typeface="微软雅黑" pitchFamily="34" charset="-122"/>
                <a:cs typeface="Times New Roman" pitchFamily="18" charset="0"/>
              </a:rPr>
              <a:t>1</a:t>
            </a:r>
            <a:r>
              <a:rPr lang="zh-CN" altLang="en-US" sz="2800" dirty="0">
                <a:latin typeface="Times New Roman" pitchFamily="18" charset="0"/>
                <a:ea typeface="微软雅黑" pitchFamily="34" charset="-122"/>
                <a:cs typeface="Times New Roman" pitchFamily="18" charset="0"/>
              </a:rPr>
              <a:t>为压缩初压 。</a:t>
            </a:r>
          </a:p>
        </p:txBody>
      </p:sp>
      <p:sp>
        <p:nvSpPr>
          <p:cNvPr id="21" name="TextBox 20"/>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ppt_x"/>
                                          </p:val>
                                        </p:tav>
                                        <p:tav tm="100000">
                                          <p:val>
                                            <p:strVal val="#ppt_x"/>
                                          </p:val>
                                        </p:tav>
                                      </p:tavLst>
                                    </p:anim>
                                    <p:anim calcmode="lin" valueType="num">
                                      <p:cBhvr additive="base">
                                        <p:cTn id="20" dur="500" fill="hold"/>
                                        <p:tgtEl>
                                          <p:spTgt spid="24"/>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500" fill="hold"/>
                                        <p:tgtEl>
                                          <p:spTgt spid="26"/>
                                        </p:tgtEl>
                                        <p:attrNameLst>
                                          <p:attrName>ppt_x</p:attrName>
                                        </p:attrNameLst>
                                      </p:cBhvr>
                                      <p:tavLst>
                                        <p:tav tm="0">
                                          <p:val>
                                            <p:strVal val="#ppt_x"/>
                                          </p:val>
                                        </p:tav>
                                        <p:tav tm="100000">
                                          <p:val>
                                            <p:strVal val="#ppt_x"/>
                                          </p:val>
                                        </p:tav>
                                      </p:tavLst>
                                    </p:anim>
                                    <p:anim calcmode="lin" valueType="num">
                                      <p:cBhvr additive="base">
                                        <p:cTn id="2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17</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sp>
        <p:nvSpPr>
          <p:cNvPr id="22" name="矩形 21"/>
          <p:cNvSpPr/>
          <p:nvPr/>
        </p:nvSpPr>
        <p:spPr>
          <a:xfrm>
            <a:off x="467544" y="1340768"/>
            <a:ext cx="8051626" cy="1384995"/>
          </a:xfrm>
          <a:prstGeom prst="rect">
            <a:avLst/>
          </a:prstGeom>
        </p:spPr>
        <p:txBody>
          <a:bodyPr wrap="square">
            <a:spAutoFit/>
          </a:bodyPr>
          <a:lstStyle/>
          <a:p>
            <a:pPr>
              <a:lnSpc>
                <a:spcPct val="150000"/>
              </a:lnSpc>
            </a:pPr>
            <a:r>
              <a:rPr lang="en-US" altLang="zh-CN" sz="2800" dirty="0">
                <a:latin typeface="Times New Roman" pitchFamily="18" charset="0"/>
                <a:ea typeface="微软雅黑" pitchFamily="34" charset="-122"/>
                <a:cs typeface="Times New Roman" pitchFamily="18" charset="0"/>
              </a:rPr>
              <a:t>z </a:t>
            </a:r>
            <a:r>
              <a:rPr lang="zh-CN" altLang="en-US" sz="2800" dirty="0">
                <a:latin typeface="Times New Roman" pitchFamily="18" charset="0"/>
                <a:ea typeface="微软雅黑" pitchFamily="34" charset="-122"/>
                <a:cs typeface="Times New Roman" pitchFamily="18" charset="0"/>
              </a:rPr>
              <a:t>级压缩、级间冷却相同时，每级压力比相同。即</a:t>
            </a:r>
            <a:r>
              <a:rPr lang="zh-CN" altLang="en-US" sz="2800" b="1" dirty="0">
                <a:solidFill>
                  <a:srgbClr val="0070C0"/>
                </a:solidFill>
                <a:latin typeface="Times New Roman" pitchFamily="18" charset="0"/>
                <a:ea typeface="微软雅黑" pitchFamily="34" charset="-122"/>
                <a:cs typeface="Times New Roman" pitchFamily="18" charset="0"/>
              </a:rPr>
              <a:t>最佳压力比</a:t>
            </a:r>
            <a:r>
              <a:rPr lang="zh-CN" altLang="en-US" sz="2800" dirty="0">
                <a:latin typeface="Times New Roman" pitchFamily="18" charset="0"/>
                <a:ea typeface="微软雅黑" pitchFamily="34" charset="-122"/>
                <a:cs typeface="Times New Roman" pitchFamily="18" charset="0"/>
              </a:rPr>
              <a:t>为：</a:t>
            </a:r>
          </a:p>
        </p:txBody>
      </p:sp>
      <p:graphicFrame>
        <p:nvGraphicFramePr>
          <p:cNvPr id="25" name="Object 4"/>
          <p:cNvGraphicFramePr>
            <a:graphicFrameLocks noChangeAspect="1"/>
          </p:cNvGraphicFramePr>
          <p:nvPr>
            <p:extLst>
              <p:ext uri="{D42A27DB-BD31-4B8C-83A1-F6EECF244321}">
                <p14:modId xmlns:p14="http://schemas.microsoft.com/office/powerpoint/2010/main" val="3307677826"/>
              </p:ext>
            </p:extLst>
          </p:nvPr>
        </p:nvGraphicFramePr>
        <p:xfrm>
          <a:off x="3089530" y="2852936"/>
          <a:ext cx="2514600" cy="1238250"/>
        </p:xfrm>
        <a:graphic>
          <a:graphicData uri="http://schemas.openxmlformats.org/presentationml/2006/ole">
            <mc:AlternateContent xmlns:mc="http://schemas.openxmlformats.org/markup-compatibility/2006">
              <mc:Choice xmlns:v="urn:schemas-microsoft-com:vml" Requires="v">
                <p:oleObj spid="_x0000_s81983" name="公式" r:id="rId7" imgW="850531" imgH="418918" progId="Equation.3">
                  <p:embed/>
                </p:oleObj>
              </mc:Choice>
              <mc:Fallback>
                <p:oleObj name="公式" r:id="rId7" imgW="850531" imgH="418918"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89530" y="2852936"/>
                        <a:ext cx="2514600" cy="1238250"/>
                      </a:xfrm>
                      <a:prstGeom prst="rect">
                        <a:avLst/>
                      </a:prstGeom>
                      <a:solidFill>
                        <a:schemeClr val="bg2"/>
                      </a:solidFill>
                    </p:spPr>
                  </p:pic>
                </p:oleObj>
              </mc:Fallback>
            </mc:AlternateContent>
          </a:graphicData>
        </a:graphic>
      </p:graphicFrame>
      <p:sp>
        <p:nvSpPr>
          <p:cNvPr id="31" name="Rectangle 6"/>
          <p:cNvSpPr>
            <a:spLocks noChangeArrowheads="1"/>
          </p:cNvSpPr>
          <p:nvPr/>
        </p:nvSpPr>
        <p:spPr bwMode="auto">
          <a:xfrm>
            <a:off x="611560" y="4633972"/>
            <a:ext cx="6699270" cy="523220"/>
          </a:xfrm>
          <a:prstGeom prst="rect">
            <a:avLst/>
          </a:prstGeom>
          <a:noFill/>
          <a:ln w="9525">
            <a:noFill/>
            <a:miter lim="800000"/>
            <a:headEnd/>
            <a:tailEnd/>
          </a:ln>
        </p:spPr>
        <p:txBody>
          <a:bodyPr wrap="none" anchor="ctr">
            <a:spAutoFit/>
          </a:bodyPr>
          <a:lstStyle/>
          <a:p>
            <a:r>
              <a:rPr lang="zh-CN" altLang="en-US" sz="2800" dirty="0">
                <a:latin typeface="Times New Roman" pitchFamily="18" charset="0"/>
                <a:ea typeface="微软雅黑" pitchFamily="34" charset="-122"/>
                <a:cs typeface="Times New Roman" pitchFamily="18" charset="0"/>
              </a:rPr>
              <a:t>式中，</a:t>
            </a:r>
            <a:r>
              <a:rPr lang="en-US" altLang="zh-CN" sz="2800" b="1" i="1" dirty="0">
                <a:solidFill>
                  <a:prstClr val="black"/>
                </a:solidFill>
                <a:latin typeface="Times New Roman" pitchFamily="18" charset="0"/>
                <a:ea typeface="微软雅黑" pitchFamily="34" charset="-122"/>
                <a:cs typeface="Times New Roman" pitchFamily="18" charset="0"/>
              </a:rPr>
              <a:t>p</a:t>
            </a:r>
            <a:r>
              <a:rPr lang="en-US" altLang="zh-CN" sz="2800" b="1" baseline="-25000" dirty="0">
                <a:latin typeface="Times New Roman" pitchFamily="18" charset="0"/>
                <a:ea typeface="微软雅黑" pitchFamily="34" charset="-122"/>
                <a:cs typeface="Times New Roman" pitchFamily="18" charset="0"/>
              </a:rPr>
              <a:t>z+1</a:t>
            </a:r>
            <a:r>
              <a:rPr lang="en-US" altLang="zh-CN" sz="2800" baseline="-25000" dirty="0">
                <a:latin typeface="Times New Roman" pitchFamily="18" charset="0"/>
                <a:ea typeface="微软雅黑" pitchFamily="34" charset="-122"/>
                <a:cs typeface="Times New Roman" pitchFamily="18" charset="0"/>
              </a:rPr>
              <a:t>  </a:t>
            </a:r>
            <a:r>
              <a:rPr lang="zh-CN" altLang="en-US" sz="2800" dirty="0">
                <a:latin typeface="Times New Roman" pitchFamily="18" charset="0"/>
                <a:ea typeface="微软雅黑" pitchFamily="34" charset="-122"/>
                <a:cs typeface="Times New Roman" pitchFamily="18" charset="0"/>
              </a:rPr>
              <a:t>为压缩终压；</a:t>
            </a:r>
            <a:r>
              <a:rPr lang="en-US" altLang="zh-CN" sz="2800" b="1" i="1" dirty="0">
                <a:latin typeface="Times New Roman" pitchFamily="18" charset="0"/>
                <a:ea typeface="微软雅黑" pitchFamily="34" charset="-122"/>
                <a:cs typeface="Times New Roman" pitchFamily="18" charset="0"/>
              </a:rPr>
              <a:t>p</a:t>
            </a:r>
            <a:r>
              <a:rPr lang="en-US" altLang="zh-CN" sz="2800" b="1" baseline="-25000" dirty="0">
                <a:latin typeface="Times New Roman" pitchFamily="18" charset="0"/>
                <a:ea typeface="微软雅黑" pitchFamily="34" charset="-122"/>
                <a:cs typeface="Times New Roman" pitchFamily="18" charset="0"/>
              </a:rPr>
              <a:t>1</a:t>
            </a:r>
            <a:r>
              <a:rPr lang="zh-CN" altLang="en-US" sz="2800" dirty="0">
                <a:latin typeface="Times New Roman" pitchFamily="18" charset="0"/>
                <a:ea typeface="微软雅黑" pitchFamily="34" charset="-122"/>
                <a:cs typeface="Times New Roman" pitchFamily="18" charset="0"/>
              </a:rPr>
              <a:t>为压缩初压 。</a:t>
            </a:r>
          </a:p>
        </p:txBody>
      </p:sp>
      <p:sp>
        <p:nvSpPr>
          <p:cNvPr id="19" name="TextBox 18"/>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18</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22" name="矩形 21"/>
          <p:cNvSpPr/>
          <p:nvPr/>
        </p:nvSpPr>
        <p:spPr>
          <a:xfrm>
            <a:off x="568295" y="1628800"/>
            <a:ext cx="5328592" cy="609398"/>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20000"/>
              </a:lnSpc>
            </a:pPr>
            <a:r>
              <a:rPr lang="zh-CN" altLang="en-US" sz="2800" dirty="0">
                <a:latin typeface="Times New Roman" pitchFamily="18" charset="0"/>
                <a:ea typeface="微软雅黑" pitchFamily="34" charset="-122"/>
                <a:cs typeface="Times New Roman" pitchFamily="18" charset="0"/>
              </a:rPr>
              <a:t>选择最佳压力比的其它好处：</a:t>
            </a:r>
          </a:p>
        </p:txBody>
      </p:sp>
      <p:sp>
        <p:nvSpPr>
          <p:cNvPr id="20" name="矩形 19"/>
          <p:cNvSpPr/>
          <p:nvPr/>
        </p:nvSpPr>
        <p:spPr>
          <a:xfrm>
            <a:off x="571472" y="2348880"/>
            <a:ext cx="7992888" cy="3323987"/>
          </a:xfrm>
          <a:prstGeom prst="rect">
            <a:avLst/>
          </a:prstGeom>
        </p:spPr>
        <p:txBody>
          <a:bodyPr wrap="square">
            <a:spAutoFit/>
          </a:bodyPr>
          <a:lstStyle/>
          <a:p>
            <a:pPr>
              <a:lnSpc>
                <a:spcPct val="150000"/>
              </a:lnSpc>
            </a:pPr>
            <a:r>
              <a:rPr lang="zh-CN" altLang="en-US" sz="2800" dirty="0">
                <a:solidFill>
                  <a:prstClr val="black"/>
                </a:solidFill>
                <a:latin typeface="Times New Roman" pitchFamily="18" charset="0"/>
                <a:ea typeface="微软雅黑" pitchFamily="34" charset="-122"/>
                <a:cs typeface="Times New Roman" pitchFamily="18" charset="0"/>
              </a:rPr>
              <a:t>各级压缩 </a:t>
            </a:r>
            <a:r>
              <a:rPr lang="en-US" altLang="zh-CN" sz="2800" b="1" i="1" dirty="0">
                <a:solidFill>
                  <a:prstClr val="black"/>
                </a:solidFill>
                <a:latin typeface="Times New Roman" pitchFamily="18" charset="0"/>
                <a:ea typeface="微软雅黑" pitchFamily="34" charset="-122"/>
                <a:cs typeface="Times New Roman" pitchFamily="18" charset="0"/>
              </a:rPr>
              <a:t>n </a:t>
            </a:r>
            <a:r>
              <a:rPr lang="zh-CN" altLang="en-US" sz="2800" dirty="0">
                <a:solidFill>
                  <a:prstClr val="black"/>
                </a:solidFill>
                <a:latin typeface="Times New Roman" pitchFamily="18" charset="0"/>
                <a:ea typeface="微软雅黑" pitchFamily="34" charset="-122"/>
                <a:cs typeface="Times New Roman" pitchFamily="18" charset="0"/>
              </a:rPr>
              <a:t>相同时：</a:t>
            </a:r>
            <a:endParaRPr lang="en-US" altLang="zh-CN" sz="2800" dirty="0">
              <a:latin typeface="Times New Roman" pitchFamily="18" charset="0"/>
              <a:ea typeface="微软雅黑" pitchFamily="34" charset="-122"/>
              <a:cs typeface="Times New Roman" pitchFamily="18" charset="0"/>
            </a:endParaRPr>
          </a:p>
          <a:p>
            <a:pPr marL="457200" indent="-457200">
              <a:lnSpc>
                <a:spcPct val="150000"/>
              </a:lnSpc>
              <a:buFont typeface="Wingdings" panose="05000000000000000000" pitchFamily="2" charset="2"/>
              <a:buChar char="Ø"/>
            </a:pPr>
            <a:r>
              <a:rPr lang="zh-CN" altLang="en-US" sz="2800" dirty="0">
                <a:solidFill>
                  <a:srgbClr val="7030A0"/>
                </a:solidFill>
                <a:latin typeface="Times New Roman" pitchFamily="18" charset="0"/>
                <a:ea typeface="微软雅黑" pitchFamily="34" charset="-122"/>
                <a:cs typeface="Times New Roman" pitchFamily="18" charset="0"/>
              </a:rPr>
              <a:t>各级压缩功耗相同 </a:t>
            </a:r>
            <a:r>
              <a:rPr lang="en-US" altLang="zh-CN" sz="2800" dirty="0">
                <a:solidFill>
                  <a:srgbClr val="7030A0"/>
                </a:solidFill>
                <a:latin typeface="Times New Roman" pitchFamily="18" charset="0"/>
                <a:ea typeface="微软雅黑" pitchFamily="34" charset="-122"/>
                <a:cs typeface="Times New Roman" pitchFamily="18" charset="0"/>
              </a:rPr>
              <a:t>(</a:t>
            </a:r>
            <a:r>
              <a:rPr lang="zh-CN" altLang="en-US" sz="2800" dirty="0">
                <a:solidFill>
                  <a:srgbClr val="7030A0"/>
                </a:solidFill>
                <a:latin typeface="Times New Roman" pitchFamily="18" charset="0"/>
                <a:ea typeface="微软雅黑" pitchFamily="34" charset="-122"/>
                <a:cs typeface="Times New Roman" pitchFamily="18" charset="0"/>
              </a:rPr>
              <a:t>动力具有通用性和互换性</a:t>
            </a:r>
            <a:r>
              <a:rPr lang="en-US" altLang="zh-CN" sz="2800" dirty="0">
                <a:solidFill>
                  <a:srgbClr val="7030A0"/>
                </a:solidFill>
                <a:latin typeface="Times New Roman" pitchFamily="18" charset="0"/>
                <a:ea typeface="微软雅黑" pitchFamily="34" charset="-122"/>
                <a:cs typeface="Times New Roman" pitchFamily="18" charset="0"/>
              </a:rPr>
              <a:t>)</a:t>
            </a:r>
            <a:r>
              <a:rPr lang="zh-CN" altLang="en-US" sz="2800" dirty="0">
                <a:solidFill>
                  <a:srgbClr val="7030A0"/>
                </a:solidFill>
                <a:latin typeface="Times New Roman" pitchFamily="18" charset="0"/>
                <a:ea typeface="微软雅黑" pitchFamily="34" charset="-122"/>
                <a:cs typeface="Times New Roman" pitchFamily="18" charset="0"/>
              </a:rPr>
              <a:t>；</a:t>
            </a:r>
            <a:endParaRPr lang="en-US" altLang="zh-CN" sz="2800" dirty="0">
              <a:solidFill>
                <a:srgbClr val="7030A0"/>
              </a:solidFill>
              <a:latin typeface="Times New Roman" pitchFamily="18" charset="0"/>
              <a:ea typeface="微软雅黑" pitchFamily="34" charset="-122"/>
              <a:cs typeface="Times New Roman" pitchFamily="18" charset="0"/>
            </a:endParaRPr>
          </a:p>
          <a:p>
            <a:pPr marL="457200" indent="-457200">
              <a:lnSpc>
                <a:spcPct val="150000"/>
              </a:lnSpc>
              <a:buFont typeface="Wingdings" panose="05000000000000000000" pitchFamily="2" charset="2"/>
              <a:buChar char="Ø"/>
            </a:pPr>
            <a:r>
              <a:rPr lang="zh-CN" altLang="en-US" sz="2800" dirty="0">
                <a:latin typeface="Times New Roman" pitchFamily="18" charset="0"/>
                <a:ea typeface="微软雅黑" pitchFamily="34" charset="-122"/>
                <a:cs typeface="Times New Roman" pitchFamily="18" charset="0"/>
              </a:rPr>
              <a:t>各级气缸排温相同；</a:t>
            </a:r>
          </a:p>
          <a:p>
            <a:pPr marL="457200" indent="-457200">
              <a:lnSpc>
                <a:spcPct val="150000"/>
              </a:lnSpc>
              <a:buFont typeface="Wingdings" panose="05000000000000000000" pitchFamily="2" charset="2"/>
              <a:buChar char="Ø"/>
            </a:pPr>
            <a:r>
              <a:rPr lang="zh-CN" altLang="en-US" sz="2800" dirty="0">
                <a:solidFill>
                  <a:srgbClr val="7030A0"/>
                </a:solidFill>
                <a:latin typeface="Times New Roman" pitchFamily="18" charset="0"/>
                <a:ea typeface="微软雅黑" pitchFamily="34" charset="-122"/>
                <a:cs typeface="Times New Roman" pitchFamily="18" charset="0"/>
              </a:rPr>
              <a:t>各级间冷却热负荷相同；</a:t>
            </a:r>
            <a:endParaRPr lang="en-US" altLang="zh-CN" sz="2800" dirty="0">
              <a:solidFill>
                <a:srgbClr val="7030A0"/>
              </a:solidFill>
              <a:latin typeface="Times New Roman" pitchFamily="18" charset="0"/>
              <a:ea typeface="微软雅黑" pitchFamily="34" charset="-122"/>
              <a:cs typeface="Times New Roman" pitchFamily="18" charset="0"/>
            </a:endParaRPr>
          </a:p>
          <a:p>
            <a:pPr marL="457200" indent="-457200">
              <a:lnSpc>
                <a:spcPct val="150000"/>
              </a:lnSpc>
              <a:buFont typeface="Wingdings" panose="05000000000000000000" pitchFamily="2" charset="2"/>
              <a:buChar char="Ø"/>
            </a:pPr>
            <a:r>
              <a:rPr lang="zh-CN" altLang="en-US" sz="2800" dirty="0">
                <a:solidFill>
                  <a:prstClr val="black"/>
                </a:solidFill>
                <a:latin typeface="Times New Roman" pitchFamily="18" charset="0"/>
                <a:ea typeface="微软雅黑" pitchFamily="34" charset="-122"/>
                <a:cs typeface="Times New Roman" pitchFamily="18" charset="0"/>
              </a:rPr>
              <a:t>计算方便。</a:t>
            </a:r>
            <a:endParaRPr lang="zh-CN" altLang="en-US" sz="2800" dirty="0">
              <a:solidFill>
                <a:srgbClr val="7030A0"/>
              </a:solidFill>
              <a:latin typeface="Times New Roman" pitchFamily="18" charset="0"/>
              <a:ea typeface="微软雅黑" pitchFamily="34" charset="-122"/>
              <a:cs typeface="Times New Roman" pitchFamily="18" charset="0"/>
            </a:endParaRPr>
          </a:p>
        </p:txBody>
      </p:sp>
      <p:sp>
        <p:nvSpPr>
          <p:cNvPr id="18" name="TextBox 17"/>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19</a:t>
            </a:r>
            <a:endParaRPr lang="zh-CN" altLang="en-US" sz="2000" b="1" dirty="0">
              <a:solidFill>
                <a:schemeClr val="tx1"/>
              </a:solidFill>
              <a:latin typeface="黑体" pitchFamily="49" charset="-122"/>
              <a:ea typeface="黑体" pitchFamily="49" charset="-122"/>
            </a:endParaRPr>
          </a:p>
        </p:txBody>
      </p:sp>
      <p:sp>
        <p:nvSpPr>
          <p:cNvPr id="33" name="TextBox 32"/>
          <p:cNvSpPr txBox="1"/>
          <p:nvPr/>
        </p:nvSpPr>
        <p:spPr>
          <a:xfrm>
            <a:off x="76568" y="1321604"/>
            <a:ext cx="5143504" cy="523220"/>
          </a:xfrm>
          <a:prstGeom prst="rect">
            <a:avLst/>
          </a:prstGeom>
          <a:noFill/>
        </p:spPr>
        <p:txBody>
          <a:bodyPr wrap="square">
            <a:spAutoFit/>
          </a:bodyPr>
          <a:lstStyle/>
          <a:p>
            <a:pPr>
              <a:defRPr/>
            </a:pPr>
            <a:r>
              <a:rPr lang="en-US" altLang="zh-CN" sz="2800" b="1" dirty="0">
                <a:solidFill>
                  <a:schemeClr val="accent1">
                    <a:lumMod val="75000"/>
                  </a:schemeClr>
                </a:solidFill>
                <a:latin typeface="微软雅黑" pitchFamily="34" charset="-122"/>
                <a:ea typeface="微软雅黑" pitchFamily="34" charset="-122"/>
                <a:cs typeface="Times New Roman" pitchFamily="18" charset="0"/>
              </a:rPr>
              <a:t>8-3 </a:t>
            </a:r>
            <a:r>
              <a:rPr lang="zh-CN" altLang="en-US" sz="2800" b="1" dirty="0">
                <a:solidFill>
                  <a:schemeClr val="accent1">
                    <a:lumMod val="75000"/>
                  </a:schemeClr>
                </a:solidFill>
                <a:latin typeface="微软雅黑" pitchFamily="34" charset="-122"/>
                <a:ea typeface="微软雅黑" pitchFamily="34" charset="-122"/>
                <a:cs typeface="Times New Roman" pitchFamily="18" charset="0"/>
              </a:rPr>
              <a:t>活塞式内燃机循环</a:t>
            </a: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22" name="矩形 21"/>
          <p:cNvSpPr/>
          <p:nvPr/>
        </p:nvSpPr>
        <p:spPr>
          <a:xfrm>
            <a:off x="523850" y="1916832"/>
            <a:ext cx="7995319" cy="1384995"/>
          </a:xfrm>
          <a:prstGeom prst="rect">
            <a:avLst/>
          </a:prstGeom>
        </p:spPr>
        <p:txBody>
          <a:bodyPr wrap="square">
            <a:spAutoFit/>
          </a:bodyPr>
          <a:lstStyle/>
          <a:p>
            <a:pPr>
              <a:lnSpc>
                <a:spcPct val="150000"/>
              </a:lnSpc>
            </a:pPr>
            <a:r>
              <a:rPr lang="zh-CN" altLang="en-US" sz="2800" dirty="0">
                <a:latin typeface="Times New Roman" pitchFamily="18" charset="0"/>
                <a:ea typeface="微软雅黑" pitchFamily="34" charset="-122"/>
                <a:cs typeface="Times New Roman" pitchFamily="18" charset="0"/>
              </a:rPr>
              <a:t>内燃机：燃料在产生动力的空间</a:t>
            </a:r>
            <a:r>
              <a:rPr lang="en-US" altLang="zh-CN" sz="2800" dirty="0">
                <a:latin typeface="Times New Roman" pitchFamily="18" charset="0"/>
                <a:ea typeface="微软雅黑" pitchFamily="34" charset="-122"/>
                <a:cs typeface="Times New Roman" pitchFamily="18" charset="0"/>
              </a:rPr>
              <a:t>(</a:t>
            </a:r>
            <a:r>
              <a:rPr lang="zh-CN" altLang="en-US" sz="2800" dirty="0">
                <a:latin typeface="Times New Roman" pitchFamily="18" charset="0"/>
                <a:ea typeface="微软雅黑" pitchFamily="34" charset="-122"/>
                <a:cs typeface="Times New Roman" pitchFamily="18" charset="0"/>
              </a:rPr>
              <a:t>气缸</a:t>
            </a:r>
            <a:r>
              <a:rPr lang="en-US" altLang="zh-CN" sz="2800" dirty="0">
                <a:latin typeface="Times New Roman" pitchFamily="18" charset="0"/>
                <a:ea typeface="微软雅黑" pitchFamily="34" charset="-122"/>
                <a:cs typeface="Times New Roman" pitchFamily="18" charset="0"/>
              </a:rPr>
              <a:t>)</a:t>
            </a:r>
            <a:r>
              <a:rPr lang="zh-CN" altLang="en-US" sz="2800" dirty="0">
                <a:latin typeface="Times New Roman" pitchFamily="18" charset="0"/>
                <a:ea typeface="微软雅黑" pitchFamily="34" charset="-122"/>
                <a:cs typeface="Times New Roman" pitchFamily="18" charset="0"/>
              </a:rPr>
              <a:t>中燃烧的动力机械。</a:t>
            </a:r>
          </a:p>
        </p:txBody>
      </p:sp>
      <p:sp>
        <p:nvSpPr>
          <p:cNvPr id="19" name="TextBox 37"/>
          <p:cNvSpPr txBox="1">
            <a:spLocks noChangeArrowheads="1"/>
          </p:cNvSpPr>
          <p:nvPr/>
        </p:nvSpPr>
        <p:spPr bwMode="auto">
          <a:xfrm>
            <a:off x="805780" y="3481844"/>
            <a:ext cx="2758108"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内燃机的分类</a:t>
            </a:r>
          </a:p>
        </p:txBody>
      </p:sp>
      <p:sp>
        <p:nvSpPr>
          <p:cNvPr id="21" name="矩形 20"/>
          <p:cNvSpPr/>
          <p:nvPr/>
        </p:nvSpPr>
        <p:spPr>
          <a:xfrm>
            <a:off x="144016" y="3495313"/>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1.</a:t>
            </a:r>
            <a:endParaRPr lang="zh-CN" altLang="en-US" sz="2800" i="1" dirty="0">
              <a:solidFill>
                <a:srgbClr val="C00000"/>
              </a:solidFill>
              <a:latin typeface="Bernard MT Condensed"/>
            </a:endParaRPr>
          </a:p>
        </p:txBody>
      </p:sp>
      <p:sp>
        <p:nvSpPr>
          <p:cNvPr id="30" name="五边形 29"/>
          <p:cNvSpPr/>
          <p:nvPr/>
        </p:nvSpPr>
        <p:spPr>
          <a:xfrm>
            <a:off x="787524" y="4437112"/>
            <a:ext cx="1984276" cy="1008112"/>
          </a:xfrm>
          <a:prstGeom prst="homePlate">
            <a:avLst/>
          </a:prstGeom>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微软雅黑" pitchFamily="34" charset="-122"/>
                <a:ea typeface="微软雅黑" pitchFamily="34" charset="-122"/>
              </a:rPr>
              <a:t>按活塞运动特征</a:t>
            </a:r>
          </a:p>
        </p:txBody>
      </p:sp>
      <p:sp>
        <p:nvSpPr>
          <p:cNvPr id="31" name="圆角矩形 30"/>
          <p:cNvSpPr/>
          <p:nvPr/>
        </p:nvSpPr>
        <p:spPr>
          <a:xfrm>
            <a:off x="2843287" y="4545124"/>
            <a:ext cx="5256584" cy="79208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微软雅黑" pitchFamily="34" charset="-122"/>
                <a:ea typeface="微软雅黑" pitchFamily="34" charset="-122"/>
              </a:rPr>
              <a:t>往复活塞式、旋转活塞式、摆盘式等</a:t>
            </a:r>
          </a:p>
        </p:txBody>
      </p:sp>
      <p:sp>
        <p:nvSpPr>
          <p:cNvPr id="23" name="TextBox 22"/>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blinds(horizontal)">
                                      <p:cBhvr>
                                        <p:cTn id="11" dur="500"/>
                                        <p:tgtEl>
                                          <p:spTgt spid="19"/>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blinds(horizontal)">
                                      <p:cBhvr>
                                        <p:cTn id="14" dur="500"/>
                                        <p:tgtEl>
                                          <p:spTgt spid="21"/>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19" grpId="0"/>
      <p:bldP spid="21" grpId="0" animBg="1"/>
      <p:bldP spid="30" grpId="0" animBg="1"/>
      <p:bldP spid="3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20</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25" name="五边形 24"/>
          <p:cNvSpPr/>
          <p:nvPr/>
        </p:nvSpPr>
        <p:spPr>
          <a:xfrm>
            <a:off x="699528" y="2492896"/>
            <a:ext cx="2000264" cy="1008112"/>
          </a:xfrm>
          <a:prstGeom prst="homePlate">
            <a:avLst/>
          </a:prstGeom>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zh-CN" altLang="en-US" sz="2800" dirty="0">
                <a:latin typeface="微软雅黑" pitchFamily="34" charset="-122"/>
                <a:ea typeface="微软雅黑" pitchFamily="34" charset="-122"/>
              </a:rPr>
              <a:t>按使用</a:t>
            </a:r>
            <a:endParaRPr lang="en-US" altLang="zh-CN" sz="2800" dirty="0">
              <a:latin typeface="微软雅黑" pitchFamily="34" charset="-122"/>
              <a:ea typeface="微软雅黑" pitchFamily="34" charset="-122"/>
            </a:endParaRPr>
          </a:p>
          <a:p>
            <a:pPr algn="ctr">
              <a:lnSpc>
                <a:spcPct val="140000"/>
              </a:lnSpc>
            </a:pPr>
            <a:r>
              <a:rPr lang="zh-CN" altLang="en-US" sz="2800" dirty="0">
                <a:latin typeface="微软雅黑" pitchFamily="34" charset="-122"/>
                <a:ea typeface="微软雅黑" pitchFamily="34" charset="-122"/>
              </a:rPr>
              <a:t>燃料</a:t>
            </a:r>
          </a:p>
        </p:txBody>
      </p:sp>
      <p:sp>
        <p:nvSpPr>
          <p:cNvPr id="30" name="圆角矩形 29"/>
          <p:cNvSpPr/>
          <p:nvPr/>
        </p:nvSpPr>
        <p:spPr>
          <a:xfrm>
            <a:off x="2843808" y="1484784"/>
            <a:ext cx="5589662" cy="302433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nSpc>
                <a:spcPct val="140000"/>
              </a:lnSpc>
              <a:buFont typeface="Wingdings" panose="05000000000000000000" pitchFamily="2" charset="2"/>
              <a:buChar char="Ø"/>
            </a:pPr>
            <a:r>
              <a:rPr lang="zh-CN" altLang="en-US" sz="2800" dirty="0">
                <a:solidFill>
                  <a:schemeClr val="tx1"/>
                </a:solidFill>
                <a:latin typeface="Times New Roman" pitchFamily="18" charset="0"/>
                <a:ea typeface="微软雅黑" pitchFamily="34" charset="-122"/>
                <a:cs typeface="Times New Roman" pitchFamily="18" charset="0"/>
              </a:rPr>
              <a:t>柴油机</a:t>
            </a:r>
            <a:r>
              <a:rPr lang="en-US" altLang="zh-CN" sz="2800" b="1" dirty="0">
                <a:solidFill>
                  <a:schemeClr val="tx1"/>
                </a:solidFill>
                <a:latin typeface="Times New Roman" pitchFamily="18" charset="0"/>
                <a:ea typeface="微软雅黑" pitchFamily="34" charset="-122"/>
                <a:cs typeface="Times New Roman" pitchFamily="18" charset="0"/>
              </a:rPr>
              <a:t>—</a:t>
            </a:r>
            <a:r>
              <a:rPr lang="zh-CN" altLang="en-US" sz="2800" dirty="0">
                <a:solidFill>
                  <a:schemeClr val="tx1"/>
                </a:solidFill>
                <a:latin typeface="Times New Roman" pitchFamily="18" charset="0"/>
                <a:ea typeface="微软雅黑" pitchFamily="34" charset="-122"/>
                <a:cs typeface="Times New Roman" pitchFamily="18" charset="0"/>
              </a:rPr>
              <a:t>压燃式（柴油自燃温度</a:t>
            </a:r>
            <a:r>
              <a:rPr lang="en-US" altLang="zh-CN" sz="2800" dirty="0">
                <a:solidFill>
                  <a:schemeClr val="tx1"/>
                </a:solidFill>
                <a:latin typeface="Times New Roman" pitchFamily="18" charset="0"/>
                <a:ea typeface="微软雅黑" pitchFamily="34" charset="-122"/>
                <a:cs typeface="Times New Roman" pitchFamily="18" charset="0"/>
              </a:rPr>
              <a:t>335℃</a:t>
            </a:r>
            <a:r>
              <a:rPr lang="zh-CN" altLang="en-US" sz="2800" dirty="0">
                <a:solidFill>
                  <a:schemeClr val="tx1"/>
                </a:solidFill>
                <a:latin typeface="Times New Roman" pitchFamily="18" charset="0"/>
                <a:ea typeface="微软雅黑" pitchFamily="34" charset="-122"/>
                <a:cs typeface="Times New Roman" pitchFamily="18" charset="0"/>
              </a:rPr>
              <a:t>附近）</a:t>
            </a:r>
            <a:endParaRPr lang="en-US" altLang="zh-CN" sz="2800" dirty="0">
              <a:solidFill>
                <a:schemeClr val="tx1"/>
              </a:solidFill>
              <a:latin typeface="微软雅黑" pitchFamily="34" charset="-122"/>
              <a:ea typeface="微软雅黑" pitchFamily="34" charset="-122"/>
              <a:cs typeface="Times New Roman" pitchFamily="18" charset="0"/>
            </a:endParaRPr>
          </a:p>
          <a:p>
            <a:pPr marL="457200" indent="-457200">
              <a:lnSpc>
                <a:spcPct val="140000"/>
              </a:lnSpc>
              <a:buFont typeface="Wingdings" panose="05000000000000000000" pitchFamily="2" charset="2"/>
              <a:buChar char="Ø"/>
            </a:pPr>
            <a:r>
              <a:rPr lang="zh-CN" altLang="en-US" sz="2800" dirty="0">
                <a:solidFill>
                  <a:schemeClr val="tx1"/>
                </a:solidFill>
                <a:latin typeface="Times New Roman" pitchFamily="18" charset="0"/>
                <a:ea typeface="微软雅黑" pitchFamily="34" charset="-122"/>
                <a:cs typeface="Times New Roman" pitchFamily="18" charset="0"/>
              </a:rPr>
              <a:t>汽油机</a:t>
            </a:r>
            <a:r>
              <a:rPr lang="en-US" altLang="zh-CN" sz="2800" b="1" dirty="0">
                <a:solidFill>
                  <a:schemeClr val="tx1"/>
                </a:solidFill>
                <a:latin typeface="Times New Roman" pitchFamily="18" charset="0"/>
                <a:ea typeface="微软雅黑" pitchFamily="34" charset="-122"/>
                <a:cs typeface="Times New Roman" pitchFamily="18" charset="0"/>
              </a:rPr>
              <a:t>—</a:t>
            </a:r>
            <a:r>
              <a:rPr lang="zh-CN" altLang="en-US" sz="2800" dirty="0">
                <a:solidFill>
                  <a:schemeClr val="tx1"/>
                </a:solidFill>
                <a:latin typeface="Times New Roman" pitchFamily="18" charset="0"/>
                <a:ea typeface="微软雅黑" pitchFamily="34" charset="-122"/>
                <a:cs typeface="Times New Roman" pitchFamily="18" charset="0"/>
              </a:rPr>
              <a:t>点燃式（汽油自燃温度</a:t>
            </a:r>
            <a:r>
              <a:rPr lang="en-US" altLang="zh-CN" sz="2800" dirty="0">
                <a:solidFill>
                  <a:schemeClr val="tx1"/>
                </a:solidFill>
                <a:latin typeface="Times New Roman" pitchFamily="18" charset="0"/>
                <a:ea typeface="微软雅黑" pitchFamily="34" charset="-122"/>
                <a:cs typeface="Times New Roman" pitchFamily="18" charset="0"/>
              </a:rPr>
              <a:t>415</a:t>
            </a:r>
            <a:r>
              <a:rPr lang="en-US" altLang="zh-CN" sz="2800" b="1" dirty="0">
                <a:solidFill>
                  <a:schemeClr val="tx1"/>
                </a:solidFill>
                <a:latin typeface="Times New Roman" pitchFamily="18" charset="0"/>
                <a:ea typeface="微软雅黑" pitchFamily="34" charset="-122"/>
                <a:cs typeface="Times New Roman" pitchFamily="18" charset="0"/>
              </a:rPr>
              <a:t>—</a:t>
            </a:r>
            <a:r>
              <a:rPr lang="en-US" altLang="zh-CN" sz="2800" dirty="0">
                <a:solidFill>
                  <a:schemeClr val="tx1"/>
                </a:solidFill>
                <a:latin typeface="Times New Roman" pitchFamily="18" charset="0"/>
                <a:ea typeface="微软雅黑" pitchFamily="34" charset="-122"/>
                <a:cs typeface="Times New Roman" pitchFamily="18" charset="0"/>
              </a:rPr>
              <a:t> 530℃</a:t>
            </a:r>
            <a:r>
              <a:rPr lang="zh-CN" altLang="en-US" sz="2800" dirty="0">
                <a:solidFill>
                  <a:schemeClr val="tx1"/>
                </a:solidFill>
                <a:latin typeface="Times New Roman" pitchFamily="18" charset="0"/>
                <a:ea typeface="微软雅黑" pitchFamily="34" charset="-122"/>
                <a:cs typeface="Times New Roman" pitchFamily="18" charset="0"/>
              </a:rPr>
              <a:t>）</a:t>
            </a:r>
            <a:endParaRPr lang="en-US" altLang="zh-CN" sz="2800" dirty="0">
              <a:solidFill>
                <a:schemeClr val="tx1"/>
              </a:solidFill>
              <a:latin typeface="Times New Roman" pitchFamily="18" charset="0"/>
              <a:ea typeface="微软雅黑" pitchFamily="34" charset="-122"/>
              <a:cs typeface="Times New Roman" pitchFamily="18" charset="0"/>
            </a:endParaRPr>
          </a:p>
          <a:p>
            <a:pPr marL="457200" indent="-457200">
              <a:lnSpc>
                <a:spcPct val="140000"/>
              </a:lnSpc>
              <a:buFont typeface="Wingdings" panose="05000000000000000000" pitchFamily="2" charset="2"/>
              <a:buChar char="Ø"/>
            </a:pPr>
            <a:r>
              <a:rPr lang="zh-CN" altLang="en-US" sz="2800" dirty="0">
                <a:solidFill>
                  <a:schemeClr val="tx1"/>
                </a:solidFill>
                <a:latin typeface="Times New Roman" pitchFamily="18" charset="0"/>
                <a:ea typeface="微软雅黑" pitchFamily="34" charset="-122"/>
                <a:cs typeface="Times New Roman" pitchFamily="18" charset="0"/>
              </a:rPr>
              <a:t>煤气机</a:t>
            </a:r>
            <a:r>
              <a:rPr lang="en-US" altLang="zh-CN" sz="2800" b="1" dirty="0">
                <a:solidFill>
                  <a:schemeClr val="tx1"/>
                </a:solidFill>
                <a:latin typeface="Times New Roman" pitchFamily="18" charset="0"/>
                <a:ea typeface="微软雅黑" pitchFamily="34" charset="-122"/>
                <a:cs typeface="Times New Roman" pitchFamily="18" charset="0"/>
              </a:rPr>
              <a:t>—</a:t>
            </a:r>
            <a:r>
              <a:rPr lang="zh-CN" altLang="en-US" sz="2800" dirty="0">
                <a:solidFill>
                  <a:schemeClr val="tx1"/>
                </a:solidFill>
                <a:latin typeface="Times New Roman" pitchFamily="18" charset="0"/>
                <a:ea typeface="微软雅黑" pitchFamily="34" charset="-122"/>
                <a:cs typeface="Times New Roman" pitchFamily="18" charset="0"/>
              </a:rPr>
              <a:t>点燃式（现很少用）</a:t>
            </a:r>
            <a:endParaRPr lang="zh-CN" altLang="en-US" sz="2800" dirty="0">
              <a:solidFill>
                <a:schemeClr val="tx1"/>
              </a:solidFill>
              <a:latin typeface="微软雅黑" pitchFamily="34" charset="-122"/>
              <a:ea typeface="微软雅黑" pitchFamily="34" charset="-122"/>
            </a:endParaRPr>
          </a:p>
        </p:txBody>
      </p:sp>
      <p:sp>
        <p:nvSpPr>
          <p:cNvPr id="31" name="五边形 30"/>
          <p:cNvSpPr/>
          <p:nvPr/>
        </p:nvSpPr>
        <p:spPr>
          <a:xfrm>
            <a:off x="643480" y="4869160"/>
            <a:ext cx="2056312" cy="1008112"/>
          </a:xfrm>
          <a:prstGeom prst="homePlate">
            <a:avLst/>
          </a:prstGeom>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微软雅黑" pitchFamily="34" charset="-122"/>
                <a:ea typeface="微软雅黑" pitchFamily="34" charset="-122"/>
              </a:rPr>
              <a:t>按单循环冲程数</a:t>
            </a:r>
          </a:p>
        </p:txBody>
      </p:sp>
      <p:sp>
        <p:nvSpPr>
          <p:cNvPr id="32" name="圆角矩形 31"/>
          <p:cNvSpPr/>
          <p:nvPr/>
        </p:nvSpPr>
        <p:spPr>
          <a:xfrm>
            <a:off x="2843808" y="4869160"/>
            <a:ext cx="5589662" cy="100811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微软雅黑" pitchFamily="34" charset="-122"/>
                <a:ea typeface="微软雅黑" pitchFamily="34" charset="-122"/>
              </a:rPr>
              <a:t>二冲程、四冲程</a:t>
            </a:r>
          </a:p>
        </p:txBody>
      </p:sp>
      <p:sp>
        <p:nvSpPr>
          <p:cNvPr id="20" name="TextBox 19"/>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slide(fromBottom)">
                                      <p:cBhvr>
                                        <p:cTn id="7" dur="500"/>
                                        <p:tgtEl>
                                          <p:spTgt spid="25"/>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slide(fromBottom)">
                                      <p:cBhvr>
                                        <p:cTn id="10" dur="500"/>
                                        <p:tgtEl>
                                          <p:spTgt spid="30"/>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0" grpId="0" animBg="1"/>
      <p:bldP spid="31" grpId="0" animBg="1"/>
      <p:bldP spid="3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21</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31" name="五边形 30"/>
          <p:cNvSpPr/>
          <p:nvPr/>
        </p:nvSpPr>
        <p:spPr>
          <a:xfrm>
            <a:off x="755576" y="1196752"/>
            <a:ext cx="2016224" cy="936104"/>
          </a:xfrm>
          <a:prstGeom prst="homePlate">
            <a:avLst/>
          </a:prstGeom>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微软雅黑" pitchFamily="34" charset="-122"/>
                <a:ea typeface="微软雅黑" pitchFamily="34" charset="-122"/>
              </a:rPr>
              <a:t>按进气</a:t>
            </a:r>
            <a:endParaRPr lang="en-US" altLang="zh-CN" sz="2800" dirty="0">
              <a:latin typeface="微软雅黑" pitchFamily="34" charset="-122"/>
              <a:ea typeface="微软雅黑" pitchFamily="34" charset="-122"/>
            </a:endParaRPr>
          </a:p>
          <a:p>
            <a:pPr algn="ctr"/>
            <a:r>
              <a:rPr lang="zh-CN" altLang="en-US" sz="2800" dirty="0">
                <a:latin typeface="微软雅黑" pitchFamily="34" charset="-122"/>
                <a:ea typeface="微软雅黑" pitchFamily="34" charset="-122"/>
              </a:rPr>
              <a:t>压力</a:t>
            </a:r>
          </a:p>
        </p:txBody>
      </p:sp>
      <p:sp>
        <p:nvSpPr>
          <p:cNvPr id="32" name="圆角矩形 31"/>
          <p:cNvSpPr/>
          <p:nvPr/>
        </p:nvSpPr>
        <p:spPr>
          <a:xfrm>
            <a:off x="2916542" y="1304804"/>
            <a:ext cx="5543890" cy="720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微软雅黑" pitchFamily="34" charset="-122"/>
                <a:ea typeface="微软雅黑" pitchFamily="34" charset="-122"/>
              </a:rPr>
              <a:t>增压、非增压</a:t>
            </a:r>
          </a:p>
        </p:txBody>
      </p:sp>
      <p:sp>
        <p:nvSpPr>
          <p:cNvPr id="21" name="五边形 20"/>
          <p:cNvSpPr/>
          <p:nvPr/>
        </p:nvSpPr>
        <p:spPr>
          <a:xfrm>
            <a:off x="755576" y="2420888"/>
            <a:ext cx="2016224" cy="936104"/>
          </a:xfrm>
          <a:prstGeom prst="homePlate">
            <a:avLst/>
          </a:prstGeom>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微软雅黑" pitchFamily="34" charset="-122"/>
                <a:ea typeface="微软雅黑" pitchFamily="34" charset="-122"/>
              </a:rPr>
              <a:t>按气缸</a:t>
            </a:r>
            <a:endParaRPr lang="en-US" altLang="zh-CN" sz="2800" dirty="0">
              <a:latin typeface="微软雅黑" pitchFamily="34" charset="-122"/>
              <a:ea typeface="微软雅黑" pitchFamily="34" charset="-122"/>
            </a:endParaRPr>
          </a:p>
          <a:p>
            <a:pPr algn="ctr"/>
            <a:r>
              <a:rPr lang="zh-CN" altLang="en-US" sz="2800" dirty="0">
                <a:latin typeface="微软雅黑" pitchFamily="34" charset="-122"/>
                <a:ea typeface="微软雅黑" pitchFamily="34" charset="-122"/>
              </a:rPr>
              <a:t>布置</a:t>
            </a:r>
          </a:p>
        </p:txBody>
      </p:sp>
      <p:sp>
        <p:nvSpPr>
          <p:cNvPr id="22" name="圆角矩形 21"/>
          <p:cNvSpPr/>
          <p:nvPr/>
        </p:nvSpPr>
        <p:spPr>
          <a:xfrm>
            <a:off x="2916542" y="2530996"/>
            <a:ext cx="5543890" cy="720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Times New Roman" pitchFamily="18" charset="0"/>
                <a:ea typeface="微软雅黑" pitchFamily="34" charset="-122"/>
                <a:cs typeface="Times New Roman" pitchFamily="18" charset="0"/>
              </a:rPr>
              <a:t>立式、卧</a:t>
            </a:r>
            <a:r>
              <a:rPr lang="zh-CN" altLang="en-US" sz="2800" dirty="0">
                <a:solidFill>
                  <a:prstClr val="black"/>
                </a:solidFill>
                <a:latin typeface="Times New Roman" pitchFamily="18" charset="0"/>
                <a:ea typeface="微软雅黑" pitchFamily="34" charset="-122"/>
                <a:cs typeface="Times New Roman" pitchFamily="18" charset="0"/>
              </a:rPr>
              <a:t>式</a:t>
            </a:r>
            <a:r>
              <a:rPr lang="zh-CN" altLang="en-US" sz="2800" dirty="0">
                <a:solidFill>
                  <a:schemeClr val="tx1"/>
                </a:solidFill>
                <a:latin typeface="Times New Roman" pitchFamily="18" charset="0"/>
                <a:ea typeface="微软雅黑" pitchFamily="34" charset="-122"/>
                <a:cs typeface="Times New Roman" pitchFamily="18" charset="0"/>
              </a:rPr>
              <a:t>、</a:t>
            </a:r>
            <a:r>
              <a:rPr lang="en-US" altLang="zh-CN" sz="2800" dirty="0">
                <a:solidFill>
                  <a:schemeClr val="tx1"/>
                </a:solidFill>
                <a:latin typeface="Times New Roman" pitchFamily="18" charset="0"/>
                <a:ea typeface="微软雅黑" pitchFamily="34" charset="-122"/>
                <a:cs typeface="Times New Roman" pitchFamily="18" charset="0"/>
              </a:rPr>
              <a:t>V</a:t>
            </a:r>
            <a:r>
              <a:rPr lang="zh-CN" altLang="en-US" sz="2800" dirty="0">
                <a:solidFill>
                  <a:schemeClr val="tx1"/>
                </a:solidFill>
                <a:latin typeface="Times New Roman" pitchFamily="18" charset="0"/>
                <a:ea typeface="微软雅黑" pitchFamily="34" charset="-122"/>
                <a:cs typeface="Times New Roman" pitchFamily="18" charset="0"/>
              </a:rPr>
              <a:t>型、</a:t>
            </a:r>
            <a:r>
              <a:rPr lang="en-US" altLang="zh-CN" sz="2800" dirty="0">
                <a:solidFill>
                  <a:schemeClr val="tx1"/>
                </a:solidFill>
                <a:latin typeface="Times New Roman" pitchFamily="18" charset="0"/>
                <a:ea typeface="微软雅黑" pitchFamily="34" charset="-122"/>
                <a:cs typeface="Times New Roman" pitchFamily="18" charset="0"/>
              </a:rPr>
              <a:t>H</a:t>
            </a:r>
            <a:r>
              <a:rPr lang="zh-CN" altLang="en-US" sz="2800" dirty="0">
                <a:solidFill>
                  <a:schemeClr val="tx1"/>
                </a:solidFill>
                <a:latin typeface="Times New Roman" pitchFamily="18" charset="0"/>
                <a:ea typeface="微软雅黑" pitchFamily="34" charset="-122"/>
                <a:cs typeface="Times New Roman" pitchFamily="18" charset="0"/>
              </a:rPr>
              <a:t>型、星</a:t>
            </a:r>
            <a:r>
              <a:rPr lang="zh-CN" altLang="en-US" sz="2800" dirty="0">
                <a:solidFill>
                  <a:schemeClr val="tx1"/>
                </a:solidFill>
                <a:latin typeface="微软雅黑" pitchFamily="34" charset="-122"/>
                <a:ea typeface="微软雅黑" pitchFamily="34" charset="-122"/>
              </a:rPr>
              <a:t>型等</a:t>
            </a:r>
          </a:p>
        </p:txBody>
      </p:sp>
      <p:pic>
        <p:nvPicPr>
          <p:cNvPr id="23" name="Picture 6"/>
          <p:cNvPicPr>
            <a:picLocks noChangeAspect="1" noChangeArrowheads="1"/>
          </p:cNvPicPr>
          <p:nvPr/>
        </p:nvPicPr>
        <p:blipFill>
          <a:blip r:embed="rId6" cstate="print"/>
          <a:srcRect/>
          <a:stretch>
            <a:fillRect/>
          </a:stretch>
        </p:blipFill>
        <p:spPr bwMode="auto">
          <a:xfrm>
            <a:off x="1115615" y="3659304"/>
            <a:ext cx="3312369" cy="2465774"/>
          </a:xfrm>
          <a:prstGeom prst="rect">
            <a:avLst/>
          </a:prstGeom>
          <a:noFill/>
          <a:ln w="9525">
            <a:noFill/>
            <a:miter lim="800000"/>
            <a:headEnd/>
            <a:tailEnd/>
          </a:ln>
        </p:spPr>
      </p:pic>
      <p:sp>
        <p:nvSpPr>
          <p:cNvPr id="26" name="圆角矩形标注 25"/>
          <p:cNvSpPr/>
          <p:nvPr/>
        </p:nvSpPr>
        <p:spPr>
          <a:xfrm>
            <a:off x="5265118" y="4005064"/>
            <a:ext cx="2691258" cy="1728192"/>
          </a:xfrm>
          <a:prstGeom prst="wedgeRoundRectCallout">
            <a:avLst>
              <a:gd name="adj1" fmla="val -69028"/>
              <a:gd name="adj2" fmla="val 2184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125000"/>
              </a:lnSpc>
              <a:spcBef>
                <a:spcPts val="1200"/>
              </a:spcBef>
            </a:pPr>
            <a:r>
              <a:rPr lang="zh-CN" altLang="en-US" sz="2400" dirty="0">
                <a:solidFill>
                  <a:schemeClr val="bg1"/>
                </a:solidFill>
                <a:latin typeface="微软雅黑" pitchFamily="34" charset="-122"/>
                <a:ea typeface="微软雅黑" pitchFamily="34" charset="-122"/>
              </a:rPr>
              <a:t>左图为一立式四缸内燃机活塞</a:t>
            </a:r>
            <a:r>
              <a:rPr lang="en-US" altLang="zh-CN" sz="2400" dirty="0">
                <a:solidFill>
                  <a:schemeClr val="bg1"/>
                </a:solidFill>
                <a:latin typeface="微软雅黑" pitchFamily="34" charset="-122"/>
                <a:ea typeface="微软雅黑" pitchFamily="34" charset="-122"/>
              </a:rPr>
              <a:t>-</a:t>
            </a:r>
            <a:r>
              <a:rPr lang="zh-CN" altLang="en-US" sz="2400" dirty="0">
                <a:solidFill>
                  <a:schemeClr val="bg1"/>
                </a:solidFill>
                <a:latin typeface="微软雅黑" pitchFamily="34" charset="-122"/>
                <a:ea typeface="微软雅黑" pitchFamily="34" charset="-122"/>
              </a:rPr>
              <a:t>连杆</a:t>
            </a:r>
            <a:r>
              <a:rPr lang="en-US" altLang="zh-CN" sz="2400" dirty="0">
                <a:solidFill>
                  <a:schemeClr val="bg1"/>
                </a:solidFill>
                <a:latin typeface="微软雅黑" pitchFamily="34" charset="-122"/>
                <a:ea typeface="微软雅黑" pitchFamily="34" charset="-122"/>
              </a:rPr>
              <a:t>-</a:t>
            </a:r>
            <a:r>
              <a:rPr lang="zh-CN" altLang="en-US" sz="2400" dirty="0">
                <a:solidFill>
                  <a:schemeClr val="bg1"/>
                </a:solidFill>
                <a:latin typeface="微软雅黑" pitchFamily="34" charset="-122"/>
                <a:ea typeface="微软雅黑" pitchFamily="34" charset="-122"/>
              </a:rPr>
              <a:t>轴系示意图</a:t>
            </a:r>
            <a:endParaRPr lang="zh-CN" altLang="en-US" sz="2400" dirty="0"/>
          </a:p>
        </p:txBody>
      </p:sp>
      <p:sp>
        <p:nvSpPr>
          <p:cNvPr id="24" name="TextBox 23"/>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blinds(horizontal)">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1"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slide(fromBottom)">
                                      <p:cBhvr>
                                        <p:cTn id="15" dur="500"/>
                                        <p:tgtEl>
                                          <p:spTgt spid="26"/>
                                        </p:tgtEl>
                                      </p:cBhvr>
                                    </p:animEffect>
                                  </p:childTnLst>
                                </p:cTn>
                              </p:par>
                              <p:par>
                                <p:cTn id="16" presetID="12" presetClass="entr" presetSubtype="4"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slide(fromBottom)">
                                      <p:cBhvr>
                                        <p:cTn id="1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6"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p:cNvPicPr>
            <a:picLocks noChangeAspect="1" noChangeArrowheads="1"/>
          </p:cNvPicPr>
          <p:nvPr/>
        </p:nvPicPr>
        <p:blipFill>
          <a:blip r:embed="rId3" cstate="print"/>
          <a:srcRect/>
          <a:stretch>
            <a:fillRect/>
          </a:stretch>
        </p:blipFill>
        <p:spPr bwMode="auto">
          <a:xfrm>
            <a:off x="5076056" y="1999546"/>
            <a:ext cx="3600399" cy="3805718"/>
          </a:xfrm>
          <a:prstGeom prst="rect">
            <a:avLst/>
          </a:prstGeom>
          <a:noFill/>
          <a:ln w="9525">
            <a:noFill/>
            <a:miter lim="800000"/>
            <a:headEnd/>
            <a:tailEnd/>
          </a:ln>
        </p:spPr>
      </p:pic>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22</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sp>
        <p:nvSpPr>
          <p:cNvPr id="19" name="TextBox 37"/>
          <p:cNvSpPr txBox="1">
            <a:spLocks noChangeArrowheads="1"/>
          </p:cNvSpPr>
          <p:nvPr/>
        </p:nvSpPr>
        <p:spPr bwMode="auto">
          <a:xfrm>
            <a:off x="827584" y="1283281"/>
            <a:ext cx="6358508"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活塞式内燃机实际循环和理想循环</a:t>
            </a:r>
          </a:p>
        </p:txBody>
      </p:sp>
      <p:sp>
        <p:nvSpPr>
          <p:cNvPr id="21" name="矩形 20"/>
          <p:cNvSpPr/>
          <p:nvPr/>
        </p:nvSpPr>
        <p:spPr>
          <a:xfrm>
            <a:off x="165820" y="1296750"/>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2.</a:t>
            </a:r>
            <a:endParaRPr lang="zh-CN" altLang="en-US" sz="2800" i="1" dirty="0">
              <a:solidFill>
                <a:srgbClr val="C00000"/>
              </a:solidFill>
              <a:latin typeface="Bernard MT Condensed"/>
            </a:endParaRPr>
          </a:p>
        </p:txBody>
      </p:sp>
      <p:sp>
        <p:nvSpPr>
          <p:cNvPr id="23" name="Rectangle 7"/>
          <p:cNvSpPr>
            <a:spLocks noChangeArrowheads="1"/>
          </p:cNvSpPr>
          <p:nvPr/>
        </p:nvSpPr>
        <p:spPr bwMode="auto">
          <a:xfrm>
            <a:off x="172716" y="1927538"/>
            <a:ext cx="4932040" cy="523220"/>
          </a:xfrm>
          <a:prstGeom prst="rect">
            <a:avLst/>
          </a:prstGeom>
          <a:noFill/>
          <a:ln w="9525">
            <a:noFill/>
            <a:miter lim="800000"/>
            <a:headEnd/>
            <a:tailEnd/>
          </a:ln>
          <a:effectLst/>
        </p:spPr>
        <p:txBody>
          <a:bodyPr wrap="square" anchor="ctr">
            <a:spAutoFit/>
          </a:bodyPr>
          <a:lstStyle/>
          <a:p>
            <a:r>
              <a:rPr lang="zh-CN" altLang="en-US" sz="2800" dirty="0">
                <a:solidFill>
                  <a:srgbClr val="0000FF"/>
                </a:solidFill>
                <a:latin typeface="微软雅黑" pitchFamily="34" charset="-122"/>
                <a:ea typeface="微软雅黑" pitchFamily="34" charset="-122"/>
                <a:cs typeface="Times New Roman" pitchFamily="18" charset="0"/>
              </a:rPr>
              <a:t>（</a:t>
            </a:r>
            <a:r>
              <a:rPr lang="en-US" altLang="zh-CN" sz="2800" dirty="0">
                <a:solidFill>
                  <a:srgbClr val="0000FF"/>
                </a:solidFill>
                <a:latin typeface="微软雅黑" pitchFamily="34" charset="-122"/>
                <a:ea typeface="微软雅黑" pitchFamily="34" charset="-122"/>
                <a:cs typeface="Times New Roman" pitchFamily="18" charset="0"/>
              </a:rPr>
              <a:t>1</a:t>
            </a:r>
            <a:r>
              <a:rPr lang="zh-CN" altLang="en-US" sz="2800" dirty="0">
                <a:solidFill>
                  <a:srgbClr val="0000FF"/>
                </a:solidFill>
                <a:latin typeface="微软雅黑" pitchFamily="34" charset="-122"/>
                <a:ea typeface="微软雅黑" pitchFamily="34" charset="-122"/>
                <a:cs typeface="Times New Roman" pitchFamily="18" charset="0"/>
              </a:rPr>
              <a:t>）实际循环工作过程</a:t>
            </a:r>
          </a:p>
        </p:txBody>
      </p:sp>
      <p:sp>
        <p:nvSpPr>
          <p:cNvPr id="25" name="Rectangle 4"/>
          <p:cNvSpPr>
            <a:spLocks noChangeArrowheads="1"/>
          </p:cNvSpPr>
          <p:nvPr/>
        </p:nvSpPr>
        <p:spPr bwMode="auto">
          <a:xfrm>
            <a:off x="817058" y="4213076"/>
            <a:ext cx="4015843" cy="1384995"/>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wrap="none" anchor="ctr">
            <a:spAutoFit/>
          </a:bodyPr>
          <a:lstStyle/>
          <a:p>
            <a:pPr>
              <a:lnSpc>
                <a:spcPct val="150000"/>
              </a:lnSpc>
            </a:pPr>
            <a:r>
              <a:rPr lang="en-US" altLang="zh-CN" sz="2800" b="1" dirty="0">
                <a:latin typeface="Times New Roman" pitchFamily="18" charset="0"/>
                <a:ea typeface="微软雅黑" pitchFamily="34" charset="-122"/>
                <a:cs typeface="Times New Roman" pitchFamily="18" charset="0"/>
              </a:rPr>
              <a:t>0-1</a:t>
            </a:r>
            <a:r>
              <a:rPr lang="zh-CN" altLang="en-US" sz="2800" b="1" dirty="0">
                <a:latin typeface="Times New Roman" pitchFamily="18" charset="0"/>
                <a:ea typeface="微软雅黑" pitchFamily="34" charset="-122"/>
                <a:cs typeface="Times New Roman" pitchFamily="18" charset="0"/>
              </a:rPr>
              <a:t>：吸气过程</a:t>
            </a:r>
            <a:endParaRPr lang="en-US" altLang="zh-CN" sz="2800" b="1" dirty="0">
              <a:latin typeface="Times New Roman" pitchFamily="18" charset="0"/>
              <a:ea typeface="微软雅黑" pitchFamily="34" charset="-122"/>
              <a:cs typeface="Times New Roman" pitchFamily="18" charset="0"/>
            </a:endParaRPr>
          </a:p>
          <a:p>
            <a:pPr>
              <a:lnSpc>
                <a:spcPct val="150000"/>
              </a:lnSpc>
            </a:pPr>
            <a:r>
              <a:rPr lang="en-US" altLang="zh-CN" sz="2800" dirty="0">
                <a:solidFill>
                  <a:srgbClr val="0070C0"/>
                </a:solidFill>
                <a:latin typeface="Times New Roman" pitchFamily="18" charset="0"/>
                <a:ea typeface="微软雅黑" pitchFamily="34" charset="-122"/>
                <a:cs typeface="Times New Roman" pitchFamily="18" charset="0"/>
              </a:rPr>
              <a:t>(</a:t>
            </a:r>
            <a:r>
              <a:rPr lang="zh-CN" altLang="en-US" sz="2800" dirty="0">
                <a:solidFill>
                  <a:srgbClr val="0070C0"/>
                </a:solidFill>
                <a:latin typeface="Times New Roman" pitchFamily="18" charset="0"/>
                <a:ea typeface="微软雅黑" pitchFamily="34" charset="-122"/>
                <a:cs typeface="Times New Roman" pitchFamily="18" charset="0"/>
              </a:rPr>
              <a:t>缸内压力稍低于大气压</a:t>
            </a:r>
            <a:r>
              <a:rPr lang="en-US" altLang="zh-CN" sz="2800" dirty="0">
                <a:solidFill>
                  <a:srgbClr val="0070C0"/>
                </a:solidFill>
                <a:latin typeface="Times New Roman" pitchFamily="18" charset="0"/>
                <a:ea typeface="微软雅黑" pitchFamily="34" charset="-122"/>
                <a:cs typeface="Times New Roman" pitchFamily="18" charset="0"/>
              </a:rPr>
              <a:t>)</a:t>
            </a:r>
          </a:p>
        </p:txBody>
      </p:sp>
      <p:sp>
        <p:nvSpPr>
          <p:cNvPr id="34" name="Rectangle 7"/>
          <p:cNvSpPr>
            <a:spLocks noChangeArrowheads="1"/>
          </p:cNvSpPr>
          <p:nvPr/>
        </p:nvSpPr>
        <p:spPr bwMode="auto">
          <a:xfrm>
            <a:off x="827584" y="2564904"/>
            <a:ext cx="3850779" cy="1384995"/>
          </a:xfrm>
          <a:prstGeom prst="rect">
            <a:avLst/>
          </a:prstGeom>
          <a:noFill/>
          <a:ln w="9525">
            <a:noFill/>
            <a:miter lim="800000"/>
            <a:headEnd/>
            <a:tailEnd/>
          </a:ln>
          <a:effectLst/>
        </p:spPr>
        <p:txBody>
          <a:bodyPr wrap="square" anchor="ctr">
            <a:spAutoFit/>
          </a:bodyPr>
          <a:lstStyle/>
          <a:p>
            <a:pPr>
              <a:lnSpc>
                <a:spcPct val="150000"/>
              </a:lnSpc>
            </a:pPr>
            <a:r>
              <a:rPr lang="zh-CN" altLang="en-US" sz="2800" dirty="0">
                <a:latin typeface="微软雅黑" pitchFamily="34" charset="-122"/>
                <a:ea typeface="微软雅黑" pitchFamily="34" charset="-122"/>
                <a:cs typeface="Times New Roman" pitchFamily="18" charset="0"/>
              </a:rPr>
              <a:t>以四冲程混合加热循环柴油机为例：</a:t>
            </a:r>
            <a:endParaRPr lang="zh-CN" altLang="en-US" sz="2800" dirty="0">
              <a:latin typeface="微软雅黑" pitchFamily="34" charset="-122"/>
              <a:ea typeface="微软雅黑" pitchFamily="34" charset="-122"/>
            </a:endParaRPr>
          </a:p>
        </p:txBody>
      </p:sp>
      <p:sp>
        <p:nvSpPr>
          <p:cNvPr id="22" name="TextBox 21"/>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animBg="1"/>
      <p:bldP spid="3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p:cNvPicPr>
            <a:picLocks noChangeAspect="1" noChangeArrowheads="1"/>
          </p:cNvPicPr>
          <p:nvPr/>
        </p:nvPicPr>
        <p:blipFill>
          <a:blip r:embed="rId3" cstate="print"/>
          <a:srcRect/>
          <a:stretch>
            <a:fillRect/>
          </a:stretch>
        </p:blipFill>
        <p:spPr bwMode="auto">
          <a:xfrm>
            <a:off x="5102695" y="1628800"/>
            <a:ext cx="3416475" cy="3816424"/>
          </a:xfrm>
          <a:prstGeom prst="rect">
            <a:avLst/>
          </a:prstGeom>
          <a:noFill/>
          <a:ln w="9525">
            <a:noFill/>
            <a:miter lim="800000"/>
            <a:headEnd/>
            <a:tailEnd/>
          </a:ln>
        </p:spPr>
      </p:pic>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23</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sp>
        <p:nvSpPr>
          <p:cNvPr id="25" name="Rectangle 4"/>
          <p:cNvSpPr>
            <a:spLocks noChangeArrowheads="1"/>
          </p:cNvSpPr>
          <p:nvPr/>
        </p:nvSpPr>
        <p:spPr bwMode="auto">
          <a:xfrm>
            <a:off x="529591" y="1412776"/>
            <a:ext cx="4158048" cy="1772793"/>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wrap="square" anchor="ctr">
            <a:spAutoFit/>
          </a:bodyPr>
          <a:lstStyle/>
          <a:p>
            <a:pPr>
              <a:lnSpc>
                <a:spcPct val="130000"/>
              </a:lnSpc>
            </a:pPr>
            <a:r>
              <a:rPr lang="en-US" altLang="zh-CN" sz="2800" b="1" dirty="0">
                <a:latin typeface="Times New Roman" pitchFamily="18" charset="0"/>
                <a:ea typeface="微软雅黑" pitchFamily="34" charset="-122"/>
                <a:cs typeface="Times New Roman" pitchFamily="18" charset="0"/>
              </a:rPr>
              <a:t>1-2</a:t>
            </a:r>
            <a:r>
              <a:rPr lang="zh-CN" altLang="en-US" sz="2800" b="1" dirty="0">
                <a:latin typeface="Times New Roman" pitchFamily="18" charset="0"/>
                <a:ea typeface="微软雅黑" pitchFamily="34" charset="-122"/>
                <a:cs typeface="Times New Roman" pitchFamily="18" charset="0"/>
              </a:rPr>
              <a:t>：多变压缩过程</a:t>
            </a:r>
            <a:endParaRPr lang="en-US" altLang="zh-CN" sz="2800" b="1" dirty="0">
              <a:latin typeface="Times New Roman" pitchFamily="18" charset="0"/>
              <a:ea typeface="微软雅黑" pitchFamily="34" charset="-122"/>
              <a:cs typeface="Times New Roman" pitchFamily="18" charset="0"/>
            </a:endParaRPr>
          </a:p>
          <a:p>
            <a:pPr>
              <a:lnSpc>
                <a:spcPct val="130000"/>
              </a:lnSpc>
            </a:pPr>
            <a:r>
              <a:rPr lang="zh-CN" altLang="en-US" sz="2800" dirty="0">
                <a:solidFill>
                  <a:schemeClr val="tx1"/>
                </a:solidFill>
                <a:latin typeface="Times New Roman" pitchFamily="18" charset="0"/>
                <a:ea typeface="微软雅黑" pitchFamily="34" charset="-122"/>
                <a:cs typeface="Times New Roman" pitchFamily="18" charset="0"/>
              </a:rPr>
              <a:t>中速：</a:t>
            </a:r>
            <a:r>
              <a:rPr lang="en-US" altLang="zh-CN" sz="2800" i="1" dirty="0">
                <a:solidFill>
                  <a:schemeClr val="tx1"/>
                </a:solidFill>
                <a:latin typeface="Times New Roman" pitchFamily="18" charset="0"/>
                <a:ea typeface="微软雅黑" pitchFamily="34" charset="-122"/>
                <a:cs typeface="Times New Roman" pitchFamily="18" charset="0"/>
              </a:rPr>
              <a:t>n</a:t>
            </a:r>
            <a:r>
              <a:rPr lang="zh-CN" altLang="en-US" sz="2800" dirty="0">
                <a:solidFill>
                  <a:schemeClr val="tx1"/>
                </a:solidFill>
                <a:latin typeface="Times New Roman" pitchFamily="18" charset="0"/>
                <a:ea typeface="微软雅黑" pitchFamily="34" charset="-122"/>
                <a:cs typeface="Times New Roman" pitchFamily="18" charset="0"/>
              </a:rPr>
              <a:t>＝</a:t>
            </a:r>
            <a:r>
              <a:rPr lang="en-US" altLang="zh-CN" sz="2800" dirty="0">
                <a:solidFill>
                  <a:schemeClr val="tx1"/>
                </a:solidFill>
                <a:latin typeface="Times New Roman" pitchFamily="18" charset="0"/>
                <a:ea typeface="微软雅黑" pitchFamily="34" charset="-122"/>
                <a:cs typeface="Times New Roman" pitchFamily="18" charset="0"/>
              </a:rPr>
              <a:t>1.34</a:t>
            </a:r>
            <a:r>
              <a:rPr lang="zh-CN" altLang="en-US" sz="2800" b="1" dirty="0">
                <a:solidFill>
                  <a:prstClr val="black"/>
                </a:solidFill>
                <a:latin typeface="Times New Roman" panose="02020603050405020304" pitchFamily="18" charset="0"/>
                <a:cs typeface="Times New Roman" panose="02020603050405020304" pitchFamily="18" charset="0"/>
              </a:rPr>
              <a:t>～</a:t>
            </a:r>
            <a:r>
              <a:rPr lang="en-US" altLang="zh-CN" sz="2800" dirty="0">
                <a:solidFill>
                  <a:schemeClr val="tx1"/>
                </a:solidFill>
                <a:latin typeface="Times New Roman" pitchFamily="18" charset="0"/>
                <a:ea typeface="微软雅黑" pitchFamily="34" charset="-122"/>
                <a:cs typeface="Times New Roman" pitchFamily="18" charset="0"/>
              </a:rPr>
              <a:t>1.37</a:t>
            </a:r>
            <a:endParaRPr lang="zh-CN" altLang="en-US" sz="2800" dirty="0">
              <a:solidFill>
                <a:schemeClr val="tx1"/>
              </a:solidFill>
              <a:latin typeface="Times New Roman" pitchFamily="18" charset="0"/>
              <a:ea typeface="微软雅黑" pitchFamily="34" charset="-122"/>
              <a:cs typeface="Times New Roman" pitchFamily="18" charset="0"/>
            </a:endParaRPr>
          </a:p>
          <a:p>
            <a:pPr>
              <a:lnSpc>
                <a:spcPct val="130000"/>
              </a:lnSpc>
            </a:pPr>
            <a:r>
              <a:rPr lang="zh-CN" altLang="en-US" sz="2800" dirty="0">
                <a:solidFill>
                  <a:schemeClr val="tx1"/>
                </a:solidFill>
                <a:latin typeface="Times New Roman" pitchFamily="18" charset="0"/>
                <a:ea typeface="微软雅黑" pitchFamily="34" charset="-122"/>
                <a:cs typeface="Times New Roman" pitchFamily="18" charset="0"/>
              </a:rPr>
              <a:t>高速：</a:t>
            </a:r>
            <a:r>
              <a:rPr lang="en-US" altLang="zh-CN" sz="2800" i="1" dirty="0">
                <a:solidFill>
                  <a:schemeClr val="tx1"/>
                </a:solidFill>
                <a:latin typeface="Times New Roman" pitchFamily="18" charset="0"/>
                <a:ea typeface="微软雅黑" pitchFamily="34" charset="-122"/>
                <a:cs typeface="Times New Roman" pitchFamily="18" charset="0"/>
              </a:rPr>
              <a:t>n</a:t>
            </a:r>
            <a:r>
              <a:rPr lang="en-US" altLang="zh-CN" sz="2800" dirty="0">
                <a:solidFill>
                  <a:schemeClr val="tx1"/>
                </a:solidFill>
                <a:latin typeface="Times New Roman" pitchFamily="18" charset="0"/>
                <a:ea typeface="微软雅黑" pitchFamily="34" charset="-122"/>
                <a:cs typeface="Times New Roman" pitchFamily="18" charset="0"/>
              </a:rPr>
              <a:t> </a:t>
            </a:r>
            <a:r>
              <a:rPr lang="en-US" altLang="zh-CN" sz="2800" b="1" dirty="0">
                <a:solidFill>
                  <a:schemeClr val="tx1"/>
                </a:solidFill>
                <a:latin typeface="Times New Roman" pitchFamily="18" charset="0"/>
                <a:ea typeface="微软雅黑" pitchFamily="34" charset="-122"/>
                <a:cs typeface="Times New Roman" pitchFamily="18" charset="0"/>
              </a:rPr>
              <a:t>= </a:t>
            </a:r>
            <a:r>
              <a:rPr lang="en-US" altLang="zh-CN" sz="2800" dirty="0">
                <a:solidFill>
                  <a:schemeClr val="tx1"/>
                </a:solidFill>
                <a:latin typeface="Times New Roman" pitchFamily="18" charset="0"/>
                <a:ea typeface="微软雅黑" pitchFamily="34" charset="-122"/>
                <a:cs typeface="Times New Roman" pitchFamily="18" charset="0"/>
              </a:rPr>
              <a:t>1.37</a:t>
            </a:r>
            <a:r>
              <a:rPr lang="zh-CN" altLang="en-US" sz="2800" b="1" dirty="0">
                <a:solidFill>
                  <a:schemeClr val="tx1"/>
                </a:solidFill>
                <a:latin typeface="宋体"/>
                <a:ea typeface="宋体"/>
                <a:cs typeface="Times New Roman" pitchFamily="18" charset="0"/>
              </a:rPr>
              <a:t>～</a:t>
            </a:r>
            <a:r>
              <a:rPr lang="en-US" altLang="zh-CN" sz="2800" dirty="0">
                <a:solidFill>
                  <a:schemeClr val="tx1"/>
                </a:solidFill>
                <a:latin typeface="Times New Roman" pitchFamily="18" charset="0"/>
                <a:ea typeface="微软雅黑" pitchFamily="34" charset="-122"/>
                <a:cs typeface="Times New Roman" pitchFamily="18" charset="0"/>
              </a:rPr>
              <a:t>1.41</a:t>
            </a:r>
          </a:p>
        </p:txBody>
      </p:sp>
      <p:sp>
        <p:nvSpPr>
          <p:cNvPr id="20" name="Rectangle 4"/>
          <p:cNvSpPr>
            <a:spLocks noChangeArrowheads="1"/>
          </p:cNvSpPr>
          <p:nvPr/>
        </p:nvSpPr>
        <p:spPr bwMode="auto">
          <a:xfrm>
            <a:off x="520314" y="3356992"/>
            <a:ext cx="4176602" cy="2677656"/>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wrap="square" anchor="ctr">
            <a:spAutoFit/>
          </a:bodyPr>
          <a:lstStyle/>
          <a:p>
            <a:pPr>
              <a:lnSpc>
                <a:spcPct val="150000"/>
              </a:lnSpc>
            </a:pPr>
            <a:r>
              <a:rPr lang="en-US" altLang="zh-CN" sz="2800" b="1" dirty="0">
                <a:solidFill>
                  <a:srgbClr val="FF0000"/>
                </a:solidFill>
                <a:latin typeface="Times New Roman" pitchFamily="18" charset="0"/>
                <a:ea typeface="微软雅黑" pitchFamily="34" charset="-122"/>
                <a:cs typeface="Times New Roman" pitchFamily="18" charset="0"/>
              </a:rPr>
              <a:t>2-3-4</a:t>
            </a:r>
            <a:r>
              <a:rPr lang="zh-CN" altLang="en-US" sz="2800" b="1" dirty="0">
                <a:solidFill>
                  <a:srgbClr val="FF0000"/>
                </a:solidFill>
                <a:latin typeface="Times New Roman" pitchFamily="18" charset="0"/>
                <a:ea typeface="微软雅黑" pitchFamily="34" charset="-122"/>
                <a:cs typeface="Times New Roman" pitchFamily="18" charset="0"/>
              </a:rPr>
              <a:t>：喷油燃烧过程</a:t>
            </a:r>
          </a:p>
          <a:p>
            <a:pPr>
              <a:lnSpc>
                <a:spcPct val="150000"/>
              </a:lnSpc>
            </a:pPr>
            <a:r>
              <a:rPr lang="zh-CN" altLang="en-US" sz="2800" dirty="0">
                <a:solidFill>
                  <a:schemeClr val="tx1"/>
                </a:solidFill>
                <a:latin typeface="Times New Roman" pitchFamily="18" charset="0"/>
                <a:ea typeface="微软雅黑" pitchFamily="34" charset="-122"/>
                <a:cs typeface="Times New Roman" pitchFamily="18" charset="0"/>
              </a:rPr>
              <a:t>其中</a:t>
            </a:r>
            <a:r>
              <a:rPr lang="en-US" altLang="zh-CN" sz="2800" dirty="0">
                <a:solidFill>
                  <a:schemeClr val="tx1"/>
                </a:solidFill>
                <a:latin typeface="Times New Roman" pitchFamily="18" charset="0"/>
                <a:ea typeface="微软雅黑" pitchFamily="34" charset="-122"/>
                <a:cs typeface="Times New Roman" pitchFamily="18" charset="0"/>
              </a:rPr>
              <a:t>2’</a:t>
            </a:r>
            <a:r>
              <a:rPr lang="zh-CN" altLang="en-US" sz="2800" kern="1000" spc="-100" dirty="0">
                <a:solidFill>
                  <a:schemeClr val="tx1"/>
                </a:solidFill>
                <a:latin typeface="Times New Roman" pitchFamily="18" charset="0"/>
                <a:ea typeface="微软雅黑" pitchFamily="34" charset="-122"/>
                <a:cs typeface="Times New Roman" pitchFamily="18" charset="0"/>
              </a:rPr>
              <a:t>开</a:t>
            </a:r>
            <a:r>
              <a:rPr lang="zh-CN" altLang="en-US" sz="2800" dirty="0">
                <a:solidFill>
                  <a:schemeClr val="tx1"/>
                </a:solidFill>
                <a:latin typeface="Times New Roman" pitchFamily="18" charset="0"/>
                <a:ea typeface="微软雅黑" pitchFamily="34" charset="-122"/>
                <a:cs typeface="Times New Roman" pitchFamily="18" charset="0"/>
              </a:rPr>
              <a:t>始喷油 </a:t>
            </a:r>
            <a:r>
              <a:rPr lang="en-US" altLang="zh-CN" sz="2800" dirty="0">
                <a:solidFill>
                  <a:schemeClr val="tx1"/>
                </a:solidFill>
                <a:latin typeface="微软雅黑" panose="020B0503020204020204" pitchFamily="34" charset="-122"/>
                <a:ea typeface="微软雅黑" panose="020B0503020204020204" pitchFamily="34" charset="-122"/>
                <a:cs typeface="Times New Roman" pitchFamily="18" charset="0"/>
              </a:rPr>
              <a:t>,</a:t>
            </a:r>
            <a:r>
              <a:rPr lang="en-US" altLang="zh-CN" sz="2800" dirty="0">
                <a:solidFill>
                  <a:schemeClr val="tx1"/>
                </a:solidFill>
                <a:latin typeface="Times New Roman" pitchFamily="18" charset="0"/>
                <a:ea typeface="微软雅黑" pitchFamily="34" charset="-122"/>
                <a:cs typeface="Times New Roman" pitchFamily="18" charset="0"/>
              </a:rPr>
              <a:t>  2’</a:t>
            </a:r>
            <a:r>
              <a:rPr lang="en-US" altLang="zh-CN" sz="2800" spc="-200" dirty="0">
                <a:solidFill>
                  <a:schemeClr val="tx1"/>
                </a:solidFill>
                <a:latin typeface="微软雅黑" panose="020B0503020204020204" pitchFamily="34" charset="-122"/>
                <a:ea typeface="微软雅黑" panose="020B0503020204020204" pitchFamily="34" charset="-122"/>
                <a:cs typeface="Times New Roman" pitchFamily="18" charset="0"/>
              </a:rPr>
              <a:t>-</a:t>
            </a:r>
            <a:r>
              <a:rPr lang="en-US" altLang="zh-CN" sz="2800" dirty="0">
                <a:solidFill>
                  <a:schemeClr val="tx1"/>
                </a:solidFill>
                <a:latin typeface="Times New Roman" pitchFamily="18" charset="0"/>
                <a:ea typeface="微软雅黑" pitchFamily="34" charset="-122"/>
                <a:cs typeface="Times New Roman" pitchFamily="18" charset="0"/>
              </a:rPr>
              <a:t>2 </a:t>
            </a:r>
            <a:r>
              <a:rPr lang="zh-CN" altLang="en-US" sz="2800" dirty="0">
                <a:solidFill>
                  <a:schemeClr val="tx1"/>
                </a:solidFill>
                <a:latin typeface="Times New Roman" pitchFamily="18" charset="0"/>
                <a:ea typeface="微软雅黑" pitchFamily="34" charset="-122"/>
                <a:cs typeface="Times New Roman" pitchFamily="18" charset="0"/>
              </a:rPr>
              <a:t>着火落后期 </a:t>
            </a:r>
            <a:r>
              <a:rPr lang="en-US" altLang="zh-CN" sz="2800" dirty="0">
                <a:solidFill>
                  <a:schemeClr val="tx1"/>
                </a:solidFill>
                <a:latin typeface="微软雅黑" panose="020B0503020204020204" pitchFamily="34" charset="-122"/>
                <a:ea typeface="微软雅黑" panose="020B0503020204020204" pitchFamily="34" charset="-122"/>
                <a:cs typeface="Times New Roman" pitchFamily="18" charset="0"/>
              </a:rPr>
              <a:t>,  </a:t>
            </a:r>
            <a:r>
              <a:rPr lang="en-US" altLang="zh-CN" sz="2800" dirty="0">
                <a:solidFill>
                  <a:schemeClr val="tx1"/>
                </a:solidFill>
                <a:latin typeface="Times New Roman" pitchFamily="18" charset="0"/>
                <a:ea typeface="微软雅黑" pitchFamily="34" charset="-122"/>
                <a:cs typeface="Times New Roman" pitchFamily="18" charset="0"/>
              </a:rPr>
              <a:t>2-3</a:t>
            </a:r>
            <a:r>
              <a:rPr lang="zh-CN" altLang="en-US" sz="2800" dirty="0">
                <a:solidFill>
                  <a:schemeClr val="tx1"/>
                </a:solidFill>
                <a:latin typeface="Times New Roman" pitchFamily="18" charset="0"/>
                <a:ea typeface="微软雅黑" pitchFamily="34" charset="-122"/>
                <a:cs typeface="Times New Roman" pitchFamily="18" charset="0"/>
              </a:rPr>
              <a:t>接近定容，</a:t>
            </a:r>
            <a:r>
              <a:rPr lang="en-US" altLang="zh-CN" sz="2800" dirty="0">
                <a:solidFill>
                  <a:schemeClr val="tx1"/>
                </a:solidFill>
                <a:latin typeface="Times New Roman" pitchFamily="18" charset="0"/>
                <a:ea typeface="微软雅黑" pitchFamily="34" charset="-122"/>
                <a:cs typeface="Times New Roman" pitchFamily="18" charset="0"/>
              </a:rPr>
              <a:t>3-4 </a:t>
            </a:r>
            <a:r>
              <a:rPr lang="zh-CN" altLang="en-US" sz="2800" dirty="0">
                <a:solidFill>
                  <a:schemeClr val="tx1"/>
                </a:solidFill>
                <a:latin typeface="Times New Roman" pitchFamily="18" charset="0"/>
                <a:ea typeface="微软雅黑" pitchFamily="34" charset="-122"/>
                <a:cs typeface="Times New Roman" pitchFamily="18" charset="0"/>
              </a:rPr>
              <a:t>接近定压 </a:t>
            </a:r>
            <a:r>
              <a:rPr lang="en-US" altLang="zh-CN" sz="2800" dirty="0">
                <a:solidFill>
                  <a:schemeClr val="tx1"/>
                </a:solidFill>
                <a:latin typeface="Times New Roman" pitchFamily="18" charset="0"/>
                <a:ea typeface="微软雅黑" pitchFamily="34" charset="-122"/>
                <a:cs typeface="Times New Roman" pitchFamily="18" charset="0"/>
              </a:rPr>
              <a:t>(</a:t>
            </a:r>
            <a:r>
              <a:rPr lang="zh-CN" altLang="en-US" sz="2800" dirty="0">
                <a:solidFill>
                  <a:schemeClr val="tx1"/>
                </a:solidFill>
                <a:latin typeface="Times New Roman" pitchFamily="18" charset="0"/>
                <a:ea typeface="微软雅黑" pitchFamily="34" charset="-122"/>
                <a:cs typeface="Times New Roman" pitchFamily="18" charset="0"/>
              </a:rPr>
              <a:t>边喷边烧</a:t>
            </a:r>
            <a:r>
              <a:rPr lang="en-US" altLang="zh-CN" sz="2800" dirty="0">
                <a:solidFill>
                  <a:schemeClr val="tx1"/>
                </a:solidFill>
                <a:latin typeface="Times New Roman" pitchFamily="18" charset="0"/>
                <a:ea typeface="微软雅黑" pitchFamily="34" charset="-122"/>
                <a:cs typeface="Times New Roman" pitchFamily="18" charset="0"/>
              </a:rPr>
              <a:t>)</a:t>
            </a:r>
            <a:r>
              <a:rPr lang="zh-CN" altLang="en-US" sz="2800" dirty="0">
                <a:solidFill>
                  <a:schemeClr val="tx1"/>
                </a:solidFill>
                <a:latin typeface="Times New Roman" pitchFamily="18" charset="0"/>
                <a:ea typeface="微软雅黑" pitchFamily="34" charset="-122"/>
                <a:cs typeface="Times New Roman" pitchFamily="18" charset="0"/>
              </a:rPr>
              <a:t>。</a:t>
            </a:r>
            <a:endParaRPr lang="en-US" altLang="zh-CN" sz="2800" dirty="0">
              <a:solidFill>
                <a:schemeClr val="tx1"/>
              </a:solidFill>
              <a:latin typeface="Times New Roman" pitchFamily="18" charset="0"/>
              <a:ea typeface="微软雅黑" pitchFamily="34" charset="-122"/>
              <a:cs typeface="Times New Roman" pitchFamily="18" charset="0"/>
            </a:endParaRPr>
          </a:p>
        </p:txBody>
      </p:sp>
      <p:sp>
        <p:nvSpPr>
          <p:cNvPr id="19" name="TextBox 18"/>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p:cNvPicPr>
            <a:picLocks noChangeAspect="1" noChangeArrowheads="1"/>
          </p:cNvPicPr>
          <p:nvPr/>
        </p:nvPicPr>
        <p:blipFill>
          <a:blip r:embed="rId3" cstate="print"/>
          <a:srcRect/>
          <a:stretch>
            <a:fillRect/>
          </a:stretch>
        </p:blipFill>
        <p:spPr bwMode="auto">
          <a:xfrm>
            <a:off x="4860032" y="1628800"/>
            <a:ext cx="4184987" cy="4123966"/>
          </a:xfrm>
          <a:prstGeom prst="rect">
            <a:avLst/>
          </a:prstGeom>
          <a:noFill/>
          <a:ln w="9525">
            <a:noFill/>
            <a:miter lim="800000"/>
            <a:headEnd/>
            <a:tailEnd/>
          </a:ln>
        </p:spPr>
      </p:pic>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24</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sp>
        <p:nvSpPr>
          <p:cNvPr id="25" name="Rectangle 4"/>
          <p:cNvSpPr>
            <a:spLocks noChangeArrowheads="1"/>
          </p:cNvSpPr>
          <p:nvPr/>
        </p:nvSpPr>
        <p:spPr bwMode="auto">
          <a:xfrm>
            <a:off x="467545" y="1497445"/>
            <a:ext cx="4176602" cy="1717971"/>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wrap="square" anchor="ctr">
            <a:spAutoFit/>
          </a:bodyPr>
          <a:lstStyle/>
          <a:p>
            <a:pPr>
              <a:lnSpc>
                <a:spcPct val="130000"/>
              </a:lnSpc>
            </a:pPr>
            <a:r>
              <a:rPr lang="en-US" altLang="zh-CN" sz="2800" b="1" dirty="0">
                <a:solidFill>
                  <a:schemeClr val="tx1"/>
                </a:solidFill>
                <a:latin typeface="Times New Roman" pitchFamily="18" charset="0"/>
                <a:ea typeface="微软雅黑" pitchFamily="34" charset="-122"/>
                <a:cs typeface="Times New Roman" pitchFamily="18" charset="0"/>
              </a:rPr>
              <a:t>4-5</a:t>
            </a:r>
            <a:r>
              <a:rPr lang="zh-CN" altLang="en-US" sz="2800" b="1" dirty="0">
                <a:solidFill>
                  <a:schemeClr val="tx1"/>
                </a:solidFill>
                <a:latin typeface="Times New Roman" pitchFamily="18" charset="0"/>
                <a:ea typeface="微软雅黑" pitchFamily="34" charset="-122"/>
                <a:cs typeface="Times New Roman" pitchFamily="18" charset="0"/>
              </a:rPr>
              <a:t>：多变膨胀过程</a:t>
            </a:r>
          </a:p>
          <a:p>
            <a:pPr>
              <a:lnSpc>
                <a:spcPct val="130000"/>
              </a:lnSpc>
            </a:pPr>
            <a:r>
              <a:rPr lang="zh-CN" altLang="en-US" sz="2800" dirty="0">
                <a:solidFill>
                  <a:schemeClr val="tx1"/>
                </a:solidFill>
                <a:latin typeface="Times New Roman" pitchFamily="18" charset="0"/>
                <a:ea typeface="微软雅黑" pitchFamily="34" charset="-122"/>
                <a:cs typeface="Times New Roman" pitchFamily="18" charset="0"/>
              </a:rPr>
              <a:t>中速：</a:t>
            </a:r>
            <a:r>
              <a:rPr lang="en-US" altLang="zh-CN" sz="2800" i="1" dirty="0">
                <a:solidFill>
                  <a:schemeClr val="tx1"/>
                </a:solidFill>
                <a:latin typeface="Times New Roman" pitchFamily="18" charset="0"/>
                <a:ea typeface="微软雅黑" pitchFamily="34" charset="-122"/>
                <a:cs typeface="Times New Roman" pitchFamily="18" charset="0"/>
              </a:rPr>
              <a:t>n</a:t>
            </a:r>
            <a:r>
              <a:rPr lang="zh-CN" altLang="en-US" sz="2800" dirty="0">
                <a:solidFill>
                  <a:schemeClr val="tx1"/>
                </a:solidFill>
                <a:latin typeface="Times New Roman" pitchFamily="18" charset="0"/>
                <a:ea typeface="微软雅黑" pitchFamily="34" charset="-122"/>
                <a:cs typeface="Times New Roman" pitchFamily="18" charset="0"/>
              </a:rPr>
              <a:t>＝</a:t>
            </a:r>
            <a:r>
              <a:rPr lang="en-US" altLang="zh-CN" sz="2800" dirty="0">
                <a:solidFill>
                  <a:schemeClr val="tx1"/>
                </a:solidFill>
                <a:latin typeface="Times New Roman" pitchFamily="18" charset="0"/>
                <a:ea typeface="微软雅黑" pitchFamily="34" charset="-122"/>
                <a:cs typeface="Times New Roman" pitchFamily="18" charset="0"/>
              </a:rPr>
              <a:t>1.25</a:t>
            </a:r>
            <a:r>
              <a:rPr lang="zh-CN" altLang="en-US" sz="2800" dirty="0">
                <a:solidFill>
                  <a:schemeClr val="tx1"/>
                </a:solidFill>
                <a:latin typeface="Times New Roman" pitchFamily="18" charset="0"/>
                <a:ea typeface="微软雅黑" pitchFamily="34" charset="-122"/>
                <a:cs typeface="Times New Roman" pitchFamily="18" charset="0"/>
              </a:rPr>
              <a:t>－</a:t>
            </a:r>
            <a:r>
              <a:rPr lang="en-US" altLang="zh-CN" sz="2800" dirty="0">
                <a:solidFill>
                  <a:schemeClr val="tx1"/>
                </a:solidFill>
                <a:latin typeface="Times New Roman" pitchFamily="18" charset="0"/>
                <a:ea typeface="微软雅黑" pitchFamily="34" charset="-122"/>
                <a:cs typeface="Times New Roman" pitchFamily="18" charset="0"/>
              </a:rPr>
              <a:t>1.30</a:t>
            </a:r>
          </a:p>
          <a:p>
            <a:pPr>
              <a:lnSpc>
                <a:spcPct val="130000"/>
              </a:lnSpc>
            </a:pPr>
            <a:r>
              <a:rPr lang="zh-CN" altLang="en-US" sz="2800" dirty="0">
                <a:solidFill>
                  <a:schemeClr val="tx1"/>
                </a:solidFill>
                <a:latin typeface="Times New Roman" pitchFamily="18" charset="0"/>
                <a:ea typeface="微软雅黑" pitchFamily="34" charset="-122"/>
                <a:cs typeface="Times New Roman" pitchFamily="18" charset="0"/>
              </a:rPr>
              <a:t>高速：</a:t>
            </a:r>
            <a:r>
              <a:rPr lang="en-US" altLang="zh-CN" sz="2800" i="1" dirty="0">
                <a:solidFill>
                  <a:schemeClr val="tx1"/>
                </a:solidFill>
                <a:latin typeface="Times New Roman" pitchFamily="18" charset="0"/>
                <a:ea typeface="微软雅黑" pitchFamily="34" charset="-122"/>
                <a:cs typeface="Times New Roman" pitchFamily="18" charset="0"/>
              </a:rPr>
              <a:t>n</a:t>
            </a:r>
            <a:r>
              <a:rPr lang="zh-CN" altLang="en-US" sz="2800" dirty="0">
                <a:solidFill>
                  <a:schemeClr val="tx1"/>
                </a:solidFill>
                <a:latin typeface="Times New Roman" pitchFamily="18" charset="0"/>
                <a:ea typeface="微软雅黑" pitchFamily="34" charset="-122"/>
                <a:cs typeface="Times New Roman" pitchFamily="18" charset="0"/>
              </a:rPr>
              <a:t>＝ </a:t>
            </a:r>
            <a:r>
              <a:rPr lang="en-US" altLang="zh-CN" sz="2800" dirty="0">
                <a:solidFill>
                  <a:schemeClr val="tx1"/>
                </a:solidFill>
                <a:latin typeface="Times New Roman" pitchFamily="18" charset="0"/>
                <a:ea typeface="微软雅黑" pitchFamily="34" charset="-122"/>
                <a:cs typeface="Times New Roman" pitchFamily="18" charset="0"/>
              </a:rPr>
              <a:t>1.18</a:t>
            </a:r>
            <a:r>
              <a:rPr lang="zh-CN" altLang="en-US" sz="2800" dirty="0">
                <a:solidFill>
                  <a:schemeClr val="tx1"/>
                </a:solidFill>
                <a:latin typeface="Times New Roman" pitchFamily="18" charset="0"/>
                <a:ea typeface="微软雅黑" pitchFamily="34" charset="-122"/>
                <a:cs typeface="Times New Roman" pitchFamily="18" charset="0"/>
              </a:rPr>
              <a:t>－</a:t>
            </a:r>
            <a:r>
              <a:rPr lang="en-US" altLang="zh-CN" sz="2800" dirty="0">
                <a:solidFill>
                  <a:schemeClr val="tx1"/>
                </a:solidFill>
                <a:latin typeface="Times New Roman" pitchFamily="18" charset="0"/>
                <a:ea typeface="微软雅黑" pitchFamily="34" charset="-122"/>
                <a:cs typeface="Times New Roman" pitchFamily="18" charset="0"/>
              </a:rPr>
              <a:t>1.27</a:t>
            </a:r>
          </a:p>
        </p:txBody>
      </p:sp>
      <p:sp>
        <p:nvSpPr>
          <p:cNvPr id="18" name="Rectangle 4"/>
          <p:cNvSpPr>
            <a:spLocks noChangeArrowheads="1"/>
          </p:cNvSpPr>
          <p:nvPr/>
        </p:nvSpPr>
        <p:spPr bwMode="auto">
          <a:xfrm>
            <a:off x="467544" y="3456962"/>
            <a:ext cx="4176602" cy="2332946"/>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wrap="square" anchor="ctr">
            <a:spAutoFit/>
          </a:bodyPr>
          <a:lstStyle/>
          <a:p>
            <a:pPr>
              <a:lnSpc>
                <a:spcPct val="130000"/>
              </a:lnSpc>
            </a:pPr>
            <a:r>
              <a:rPr lang="en-US" altLang="zh-CN" sz="2800" b="1" dirty="0">
                <a:solidFill>
                  <a:srgbClr val="7030A0"/>
                </a:solidFill>
                <a:latin typeface="Times New Roman" pitchFamily="18" charset="0"/>
                <a:ea typeface="微软雅黑" pitchFamily="34" charset="-122"/>
                <a:cs typeface="Times New Roman" pitchFamily="18" charset="0"/>
              </a:rPr>
              <a:t>5-0</a:t>
            </a:r>
            <a:r>
              <a:rPr lang="zh-CN" altLang="en-US" sz="2800" b="1" dirty="0">
                <a:solidFill>
                  <a:srgbClr val="7030A0"/>
                </a:solidFill>
                <a:latin typeface="Times New Roman" pitchFamily="18" charset="0"/>
                <a:ea typeface="微软雅黑" pitchFamily="34" charset="-122"/>
                <a:cs typeface="Times New Roman" pitchFamily="18" charset="0"/>
              </a:rPr>
              <a:t>：排气过程</a:t>
            </a:r>
          </a:p>
          <a:p>
            <a:pPr>
              <a:lnSpc>
                <a:spcPct val="130000"/>
              </a:lnSpc>
            </a:pPr>
            <a:r>
              <a:rPr lang="zh-CN" altLang="en-US" sz="2800" dirty="0">
                <a:solidFill>
                  <a:schemeClr val="tx1"/>
                </a:solidFill>
                <a:latin typeface="Times New Roman" pitchFamily="18" charset="0"/>
                <a:ea typeface="微软雅黑" pitchFamily="34" charset="-122"/>
                <a:cs typeface="Times New Roman" pitchFamily="18" charset="0"/>
              </a:rPr>
              <a:t>其中 </a:t>
            </a:r>
            <a:r>
              <a:rPr lang="en-US" altLang="zh-CN" sz="2800" dirty="0">
                <a:solidFill>
                  <a:schemeClr val="tx1"/>
                </a:solidFill>
                <a:latin typeface="Times New Roman" pitchFamily="18" charset="0"/>
                <a:ea typeface="微软雅黑" pitchFamily="34" charset="-122"/>
                <a:cs typeface="Times New Roman" pitchFamily="18" charset="0"/>
              </a:rPr>
              <a:t>5-1’</a:t>
            </a:r>
            <a:r>
              <a:rPr lang="zh-CN" altLang="en-US" sz="2800" dirty="0">
                <a:solidFill>
                  <a:schemeClr val="tx1"/>
                </a:solidFill>
                <a:latin typeface="Times New Roman" pitchFamily="18" charset="0"/>
                <a:ea typeface="微软雅黑" pitchFamily="34" charset="-122"/>
                <a:cs typeface="Times New Roman" pitchFamily="18" charset="0"/>
              </a:rPr>
              <a:t>为自由排气，接近定容过程；</a:t>
            </a:r>
            <a:r>
              <a:rPr lang="en-US" altLang="zh-CN" sz="2800" dirty="0">
                <a:latin typeface="Times New Roman" pitchFamily="18" charset="0"/>
                <a:ea typeface="微软雅黑" pitchFamily="34" charset="-122"/>
                <a:cs typeface="Times New Roman" pitchFamily="18" charset="0"/>
              </a:rPr>
              <a:t>1’-0</a:t>
            </a:r>
            <a:r>
              <a:rPr lang="zh-CN" altLang="en-US" sz="2800" dirty="0">
                <a:solidFill>
                  <a:prstClr val="black"/>
                </a:solidFill>
                <a:latin typeface="Times New Roman" pitchFamily="18" charset="0"/>
                <a:ea typeface="微软雅黑" pitchFamily="34" charset="-122"/>
                <a:cs typeface="Times New Roman" pitchFamily="18" charset="0"/>
              </a:rPr>
              <a:t>为</a:t>
            </a:r>
            <a:r>
              <a:rPr lang="zh-CN" altLang="en-US" sz="2800" dirty="0">
                <a:latin typeface="Times New Roman" pitchFamily="18" charset="0"/>
                <a:ea typeface="微软雅黑" pitchFamily="34" charset="-122"/>
                <a:cs typeface="Times New Roman" pitchFamily="18" charset="0"/>
              </a:rPr>
              <a:t>强制排气</a:t>
            </a:r>
            <a:r>
              <a:rPr lang="zh-CN" altLang="en-US" sz="2800" dirty="0">
                <a:solidFill>
                  <a:prstClr val="black"/>
                </a:solidFill>
                <a:latin typeface="Times New Roman" pitchFamily="18" charset="0"/>
                <a:ea typeface="微软雅黑" pitchFamily="34" charset="-122"/>
                <a:cs typeface="Times New Roman" pitchFamily="18" charset="0"/>
              </a:rPr>
              <a:t>，</a:t>
            </a:r>
            <a:r>
              <a:rPr lang="zh-CN" altLang="en-US" sz="2800" dirty="0">
                <a:latin typeface="Times New Roman" pitchFamily="18" charset="0"/>
                <a:ea typeface="微软雅黑" pitchFamily="34" charset="-122"/>
                <a:cs typeface="Times New Roman" pitchFamily="18" charset="0"/>
              </a:rPr>
              <a:t>接近定压过程。</a:t>
            </a:r>
            <a:endParaRPr lang="zh-CN" altLang="en-US" sz="2800" dirty="0">
              <a:solidFill>
                <a:schemeClr val="tx1"/>
              </a:solidFill>
              <a:latin typeface="Times New Roman" pitchFamily="18" charset="0"/>
              <a:ea typeface="微软雅黑" pitchFamily="34" charset="-122"/>
              <a:cs typeface="Times New Roman" pitchFamily="18" charset="0"/>
            </a:endParaRPr>
          </a:p>
        </p:txBody>
      </p:sp>
      <p:sp>
        <p:nvSpPr>
          <p:cNvPr id="19" name="TextBox 18"/>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25</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23" name="Rectangle 7"/>
          <p:cNvSpPr>
            <a:spLocks noChangeArrowheads="1"/>
          </p:cNvSpPr>
          <p:nvPr/>
        </p:nvSpPr>
        <p:spPr bwMode="auto">
          <a:xfrm>
            <a:off x="100350" y="1321604"/>
            <a:ext cx="6228184" cy="523220"/>
          </a:xfrm>
          <a:prstGeom prst="rect">
            <a:avLst/>
          </a:prstGeom>
          <a:noFill/>
          <a:ln w="9525">
            <a:noFill/>
            <a:miter lim="800000"/>
            <a:headEnd/>
            <a:tailEnd/>
          </a:ln>
          <a:effectLst/>
        </p:spPr>
        <p:txBody>
          <a:bodyPr wrap="square" anchor="ctr">
            <a:spAutoFit/>
          </a:bodyPr>
          <a:lstStyle/>
          <a:p>
            <a:r>
              <a:rPr lang="zh-CN" altLang="en-US" sz="2800" dirty="0">
                <a:solidFill>
                  <a:srgbClr val="0000FF"/>
                </a:solidFill>
                <a:latin typeface="微软雅黑" pitchFamily="34" charset="-122"/>
                <a:ea typeface="微软雅黑" pitchFamily="34" charset="-122"/>
                <a:cs typeface="Times New Roman" pitchFamily="18" charset="0"/>
              </a:rPr>
              <a:t>（</a:t>
            </a:r>
            <a:r>
              <a:rPr lang="en-US" altLang="zh-CN" sz="2800" dirty="0">
                <a:solidFill>
                  <a:srgbClr val="0000FF"/>
                </a:solidFill>
                <a:latin typeface="微软雅黑" pitchFamily="34" charset="-122"/>
                <a:ea typeface="微软雅黑" pitchFamily="34" charset="-122"/>
                <a:cs typeface="Times New Roman" pitchFamily="18" charset="0"/>
              </a:rPr>
              <a:t>2</a:t>
            </a:r>
            <a:r>
              <a:rPr lang="zh-CN" altLang="en-US" sz="2800" dirty="0">
                <a:solidFill>
                  <a:srgbClr val="0000FF"/>
                </a:solidFill>
                <a:latin typeface="微软雅黑" pitchFamily="34" charset="-122"/>
                <a:ea typeface="微软雅黑" pitchFamily="34" charset="-122"/>
                <a:cs typeface="Times New Roman" pitchFamily="18" charset="0"/>
              </a:rPr>
              <a:t>）活塞式内燃机的理想循环图</a:t>
            </a:r>
          </a:p>
        </p:txBody>
      </p:sp>
      <p:sp>
        <p:nvSpPr>
          <p:cNvPr id="26" name="Rectangle 5"/>
          <p:cNvSpPr>
            <a:spLocks noChangeArrowheads="1"/>
          </p:cNvSpPr>
          <p:nvPr/>
        </p:nvSpPr>
        <p:spPr bwMode="auto">
          <a:xfrm>
            <a:off x="619540" y="2038946"/>
            <a:ext cx="5248604" cy="52322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sz="2800" dirty="0">
                <a:latin typeface="微软雅黑" pitchFamily="34" charset="-122"/>
                <a:ea typeface="微软雅黑" pitchFamily="34" charset="-122"/>
              </a:rPr>
              <a:t>实际工作循环的抽象和简化方法</a:t>
            </a:r>
            <a:r>
              <a:rPr lang="en-US" altLang="zh-CN" sz="2800" dirty="0">
                <a:latin typeface="微软雅黑" pitchFamily="34" charset="-122"/>
                <a:ea typeface="微软雅黑" pitchFamily="34" charset="-122"/>
              </a:rPr>
              <a:t>:</a:t>
            </a:r>
          </a:p>
        </p:txBody>
      </p:sp>
      <p:sp>
        <p:nvSpPr>
          <p:cNvPr id="30" name="Rectangle 6"/>
          <p:cNvSpPr>
            <a:spLocks noChangeArrowheads="1"/>
          </p:cNvSpPr>
          <p:nvPr/>
        </p:nvSpPr>
        <p:spPr bwMode="auto">
          <a:xfrm>
            <a:off x="509314" y="2708920"/>
            <a:ext cx="7239000" cy="3323987"/>
          </a:xfrm>
          <a:prstGeom prst="rect">
            <a:avLst/>
          </a:prstGeom>
          <a:noFill/>
          <a:ln w="9525">
            <a:noFill/>
            <a:miter lim="800000"/>
            <a:headEnd/>
            <a:tailEnd/>
          </a:ln>
          <a:effectLst/>
        </p:spPr>
        <p:txBody>
          <a:bodyPr>
            <a:spAutoFit/>
          </a:bodyPr>
          <a:lstStyle/>
          <a:p>
            <a:pPr marL="514350" indent="-514350">
              <a:lnSpc>
                <a:spcPct val="150000"/>
              </a:lnSpc>
              <a:buFont typeface="Wingdings" panose="05000000000000000000" pitchFamily="2" charset="2"/>
              <a:buChar char="Ø"/>
              <a:defRPr/>
            </a:pPr>
            <a:r>
              <a:rPr lang="zh-CN" altLang="en-US" sz="2800" dirty="0">
                <a:latin typeface="Times New Roman" pitchFamily="18" charset="0"/>
                <a:ea typeface="微软雅黑" pitchFamily="34" charset="-122"/>
                <a:cs typeface="Times New Roman" pitchFamily="18" charset="0"/>
              </a:rPr>
              <a:t>取作闭口系（不考虑进排气过程）；</a:t>
            </a:r>
            <a:endParaRPr lang="en-US" altLang="zh-CN" sz="2800" dirty="0">
              <a:latin typeface="Times New Roman" pitchFamily="18" charset="0"/>
              <a:ea typeface="微软雅黑" pitchFamily="34" charset="-122"/>
              <a:cs typeface="Times New Roman" pitchFamily="18" charset="0"/>
            </a:endParaRPr>
          </a:p>
          <a:p>
            <a:pPr marL="514350" indent="-514350">
              <a:lnSpc>
                <a:spcPct val="150000"/>
              </a:lnSpc>
              <a:buFont typeface="Wingdings" panose="05000000000000000000" pitchFamily="2" charset="2"/>
              <a:buChar char="Ø"/>
              <a:defRPr/>
            </a:pPr>
            <a:r>
              <a:rPr lang="zh-CN" altLang="en-US" sz="2800" dirty="0">
                <a:latin typeface="Times New Roman" pitchFamily="18" charset="0"/>
                <a:ea typeface="微软雅黑" pitchFamily="34" charset="-122"/>
                <a:cs typeface="Times New Roman" pitchFamily="18" charset="0"/>
              </a:rPr>
              <a:t>以空气代替燃气（理想气体、定比热）；</a:t>
            </a:r>
            <a:endParaRPr lang="en-US" altLang="zh-CN" sz="2800" dirty="0">
              <a:latin typeface="Times New Roman" pitchFamily="18" charset="0"/>
              <a:ea typeface="微软雅黑" pitchFamily="34" charset="-122"/>
              <a:cs typeface="Times New Roman" pitchFamily="18" charset="0"/>
            </a:endParaRPr>
          </a:p>
          <a:p>
            <a:pPr marL="514350" indent="-514350">
              <a:lnSpc>
                <a:spcPct val="150000"/>
              </a:lnSpc>
              <a:buFont typeface="Wingdings" panose="05000000000000000000" pitchFamily="2" charset="2"/>
              <a:buChar char="Ø"/>
              <a:defRPr/>
            </a:pPr>
            <a:r>
              <a:rPr lang="zh-CN" altLang="en-US" sz="2800" dirty="0">
                <a:latin typeface="Times New Roman" pitchFamily="18" charset="0"/>
                <a:ea typeface="微软雅黑" pitchFamily="34" charset="-122"/>
                <a:cs typeface="Times New Roman" pitchFamily="18" charset="0"/>
              </a:rPr>
              <a:t>用可逆加热代替燃烧，可逆放热代替排气（无化学变化） ；</a:t>
            </a:r>
            <a:endParaRPr lang="en-US" altLang="zh-CN" sz="2800" dirty="0">
              <a:latin typeface="Times New Roman" pitchFamily="18" charset="0"/>
              <a:ea typeface="微软雅黑" pitchFamily="34" charset="-122"/>
              <a:cs typeface="Times New Roman" pitchFamily="18" charset="0"/>
            </a:endParaRPr>
          </a:p>
          <a:p>
            <a:pPr marL="514350" indent="-514350">
              <a:lnSpc>
                <a:spcPct val="150000"/>
              </a:lnSpc>
              <a:buFont typeface="Wingdings" panose="05000000000000000000" pitchFamily="2" charset="2"/>
              <a:buChar char="Ø"/>
              <a:defRPr/>
            </a:pPr>
            <a:r>
              <a:rPr lang="zh-CN" altLang="en-US" sz="2800" dirty="0">
                <a:latin typeface="Times New Roman" pitchFamily="18" charset="0"/>
                <a:ea typeface="微软雅黑" pitchFamily="34" charset="-122"/>
                <a:cs typeface="Times New Roman" pitchFamily="18" charset="0"/>
              </a:rPr>
              <a:t>压缩、膨胀过程为可逆绝热</a:t>
            </a:r>
            <a:r>
              <a:rPr lang="en-US" altLang="zh-CN" sz="2800" dirty="0">
                <a:latin typeface="Times New Roman" pitchFamily="18" charset="0"/>
                <a:ea typeface="微软雅黑" pitchFamily="34" charset="-122"/>
                <a:cs typeface="Times New Roman" pitchFamily="18" charset="0"/>
              </a:rPr>
              <a:t>(</a:t>
            </a:r>
            <a:r>
              <a:rPr lang="zh-CN" altLang="en-US" sz="2800" dirty="0">
                <a:latin typeface="Times New Roman" pitchFamily="18" charset="0"/>
                <a:ea typeface="微软雅黑" pitchFamily="34" charset="-122"/>
                <a:cs typeface="Times New Roman" pitchFamily="18" charset="0"/>
              </a:rPr>
              <a:t>定熵</a:t>
            </a:r>
            <a:r>
              <a:rPr lang="en-US" altLang="zh-CN" sz="2800" dirty="0">
                <a:latin typeface="Times New Roman" pitchFamily="18" charset="0"/>
                <a:ea typeface="微软雅黑" pitchFamily="34" charset="-122"/>
                <a:cs typeface="Times New Roman" pitchFamily="18" charset="0"/>
              </a:rPr>
              <a:t>)</a:t>
            </a:r>
            <a:r>
              <a:rPr lang="zh-CN" altLang="en-US" sz="2800" dirty="0">
                <a:latin typeface="Times New Roman" pitchFamily="18" charset="0"/>
                <a:ea typeface="微软雅黑" pitchFamily="34" charset="-122"/>
                <a:cs typeface="Times New Roman" pitchFamily="18" charset="0"/>
              </a:rPr>
              <a:t>过程。</a:t>
            </a:r>
          </a:p>
        </p:txBody>
      </p:sp>
      <p:sp>
        <p:nvSpPr>
          <p:cNvPr id="19" name="TextBox 18"/>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1"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slide(fromBottom)">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6"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26</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20" name="Text Box 12"/>
          <p:cNvSpPr txBox="1">
            <a:spLocks noChangeArrowheads="1"/>
          </p:cNvSpPr>
          <p:nvPr/>
        </p:nvSpPr>
        <p:spPr bwMode="auto">
          <a:xfrm>
            <a:off x="571472" y="2924944"/>
            <a:ext cx="7744944" cy="1298817"/>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pPr>
              <a:lnSpc>
                <a:spcPct val="150000"/>
              </a:lnSpc>
            </a:pPr>
            <a:r>
              <a:rPr lang="zh-CN" altLang="en-US" sz="2800" dirty="0">
                <a:latin typeface="微软雅黑" pitchFamily="34" charset="-122"/>
                <a:ea typeface="微软雅黑" pitchFamily="34" charset="-122"/>
              </a:rPr>
              <a:t>通过以上简化，由开式的实际循环图得到闭式的理想循环图</a:t>
            </a:r>
            <a:r>
              <a:rPr lang="en-US" altLang="zh-CN" sz="2800" dirty="0">
                <a:solidFill>
                  <a:srgbClr val="FF0000"/>
                </a:solidFill>
                <a:latin typeface="微软雅黑" pitchFamily="34" charset="-122"/>
                <a:ea typeface="微软雅黑" pitchFamily="34" charset="-122"/>
              </a:rPr>
              <a:t>(</a:t>
            </a:r>
            <a:r>
              <a:rPr lang="zh-CN" altLang="en-US" sz="2800" dirty="0">
                <a:solidFill>
                  <a:srgbClr val="FF0000"/>
                </a:solidFill>
                <a:latin typeface="微软雅黑" pitchFamily="34" charset="-122"/>
                <a:ea typeface="微软雅黑" pitchFamily="34" charset="-122"/>
              </a:rPr>
              <a:t>空气标准循环</a:t>
            </a:r>
            <a:r>
              <a:rPr lang="en-US" altLang="zh-CN" sz="2800" dirty="0">
                <a:solidFill>
                  <a:srgbClr val="FF0000"/>
                </a:solidFill>
                <a:latin typeface="微软雅黑" pitchFamily="34" charset="-122"/>
                <a:ea typeface="微软雅黑" pitchFamily="34" charset="-122"/>
              </a:rPr>
              <a:t>)</a:t>
            </a:r>
            <a:r>
              <a:rPr lang="zh-CN" altLang="en-US" sz="2800" dirty="0">
                <a:latin typeface="微软雅黑" pitchFamily="34" charset="-122"/>
                <a:ea typeface="微软雅黑" pitchFamily="34" charset="-122"/>
              </a:rPr>
              <a:t>。</a:t>
            </a:r>
          </a:p>
        </p:txBody>
      </p:sp>
      <p:sp>
        <p:nvSpPr>
          <p:cNvPr id="22" name="Rectangle 14"/>
          <p:cNvSpPr>
            <a:spLocks noChangeArrowheads="1"/>
          </p:cNvSpPr>
          <p:nvPr/>
        </p:nvSpPr>
        <p:spPr bwMode="auto">
          <a:xfrm>
            <a:off x="565881" y="4725144"/>
            <a:ext cx="7632849" cy="52322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r>
              <a:rPr lang="zh-CN" altLang="en-US" sz="2800" dirty="0">
                <a:solidFill>
                  <a:srgbClr val="000000"/>
                </a:solidFill>
                <a:latin typeface="微软雅黑" pitchFamily="34" charset="-122"/>
                <a:ea typeface="微软雅黑" pitchFamily="34" charset="-122"/>
              </a:rPr>
              <a:t> 不同活塞式内燃机的理想循环图如下页所示：</a:t>
            </a:r>
          </a:p>
        </p:txBody>
      </p:sp>
      <p:sp>
        <p:nvSpPr>
          <p:cNvPr id="19" name="矩形 18"/>
          <p:cNvSpPr/>
          <p:nvPr/>
        </p:nvSpPr>
        <p:spPr>
          <a:xfrm>
            <a:off x="547858" y="1714358"/>
            <a:ext cx="7744944" cy="662554"/>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nSpc>
                <a:spcPct val="150000"/>
              </a:lnSpc>
            </a:pPr>
            <a:r>
              <a:rPr lang="zh-CN" altLang="en-US" sz="2800" dirty="0">
                <a:latin typeface="微软雅黑" pitchFamily="34" charset="-122"/>
                <a:ea typeface="微软雅黑" pitchFamily="34" charset="-122"/>
              </a:rPr>
              <a:t>实际循环为开式的不可逆循环</a:t>
            </a:r>
            <a:r>
              <a:rPr lang="en-US" altLang="zh-CN" sz="28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进排气过程耗功。</a:t>
            </a:r>
          </a:p>
        </p:txBody>
      </p:sp>
      <p:sp>
        <p:nvSpPr>
          <p:cNvPr id="21" name="TextBox 20"/>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4"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slide(fromBottom)">
                                      <p:cBhvr>
                                        <p:cTn id="1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27</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19" name="Rectangle 11"/>
          <p:cNvSpPr>
            <a:spLocks noChangeArrowheads="1"/>
          </p:cNvSpPr>
          <p:nvPr/>
        </p:nvSpPr>
        <p:spPr bwMode="auto">
          <a:xfrm>
            <a:off x="683568" y="5005625"/>
            <a:ext cx="2425918" cy="400110"/>
          </a:xfrm>
          <a:prstGeom prst="rect">
            <a:avLst/>
          </a:prstGeom>
          <a:noFill/>
          <a:ln w="9525">
            <a:noFill/>
            <a:miter lim="800000"/>
            <a:headEnd/>
            <a:tailEnd/>
          </a:ln>
        </p:spPr>
        <p:txBody>
          <a:bodyPr wrap="square" anchor="ctr">
            <a:spAutoFit/>
          </a:bodyPr>
          <a:lstStyle/>
          <a:p>
            <a:r>
              <a:rPr lang="zh-CN" altLang="en-US" sz="2000" b="1" dirty="0">
                <a:solidFill>
                  <a:srgbClr val="000000"/>
                </a:solidFill>
                <a:latin typeface="微软雅黑" pitchFamily="34" charset="-122"/>
                <a:ea typeface="微软雅黑" pitchFamily="34" charset="-122"/>
              </a:rPr>
              <a:t>混合加热（柴油机） </a:t>
            </a:r>
          </a:p>
        </p:txBody>
      </p:sp>
      <p:sp>
        <p:nvSpPr>
          <p:cNvPr id="21" name="Rectangle 12"/>
          <p:cNvSpPr>
            <a:spLocks noChangeArrowheads="1"/>
          </p:cNvSpPr>
          <p:nvPr/>
        </p:nvSpPr>
        <p:spPr bwMode="auto">
          <a:xfrm>
            <a:off x="3333564" y="5017819"/>
            <a:ext cx="2512226" cy="707886"/>
          </a:xfrm>
          <a:prstGeom prst="rect">
            <a:avLst/>
          </a:prstGeom>
          <a:noFill/>
          <a:ln w="9525">
            <a:noFill/>
            <a:miter lim="800000"/>
            <a:headEnd/>
            <a:tailEnd/>
          </a:ln>
        </p:spPr>
        <p:txBody>
          <a:bodyPr wrap="none" anchor="ctr">
            <a:spAutoFit/>
          </a:bodyPr>
          <a:lstStyle/>
          <a:p>
            <a:r>
              <a:rPr lang="zh-CN" altLang="en-US" sz="2000" b="1" dirty="0">
                <a:solidFill>
                  <a:srgbClr val="000000"/>
                </a:solidFill>
                <a:latin typeface="Times New Roman" pitchFamily="18" charset="0"/>
                <a:ea typeface="微软雅黑" pitchFamily="34" charset="-122"/>
                <a:cs typeface="Times New Roman" pitchFamily="18" charset="0"/>
              </a:rPr>
              <a:t>定容加热（汽油机、</a:t>
            </a:r>
          </a:p>
          <a:p>
            <a:r>
              <a:rPr lang="zh-CN" altLang="en-US" sz="2000" b="1" dirty="0">
                <a:solidFill>
                  <a:srgbClr val="000000"/>
                </a:solidFill>
                <a:latin typeface="Times New Roman" pitchFamily="18" charset="0"/>
                <a:ea typeface="微软雅黑" pitchFamily="34" charset="-122"/>
                <a:cs typeface="Times New Roman" pitchFamily="18" charset="0"/>
              </a:rPr>
              <a:t>煤气机）</a:t>
            </a:r>
            <a:r>
              <a:rPr lang="en-US" altLang="zh-CN" sz="2000" b="1" dirty="0">
                <a:solidFill>
                  <a:srgbClr val="000000"/>
                </a:solidFill>
                <a:latin typeface="Times New Roman" pitchFamily="18" charset="0"/>
                <a:ea typeface="微软雅黑" pitchFamily="34" charset="-122"/>
                <a:cs typeface="Times New Roman" pitchFamily="18" charset="0"/>
              </a:rPr>
              <a:t>Otto  Cycle </a:t>
            </a:r>
          </a:p>
        </p:txBody>
      </p:sp>
      <p:sp>
        <p:nvSpPr>
          <p:cNvPr id="23" name="Rectangle 13"/>
          <p:cNvSpPr>
            <a:spLocks noChangeArrowheads="1"/>
          </p:cNvSpPr>
          <p:nvPr/>
        </p:nvSpPr>
        <p:spPr bwMode="auto">
          <a:xfrm>
            <a:off x="5917798" y="4933617"/>
            <a:ext cx="2808312" cy="1015663"/>
          </a:xfrm>
          <a:prstGeom prst="rect">
            <a:avLst/>
          </a:prstGeom>
          <a:noFill/>
          <a:ln w="9525">
            <a:noFill/>
            <a:miter lim="800000"/>
            <a:headEnd/>
            <a:tailEnd/>
          </a:ln>
        </p:spPr>
        <p:txBody>
          <a:bodyPr wrap="square" anchor="ctr">
            <a:spAutoFit/>
          </a:bodyPr>
          <a:lstStyle/>
          <a:p>
            <a:r>
              <a:rPr lang="zh-CN" altLang="en-US" sz="2000" b="1" dirty="0">
                <a:solidFill>
                  <a:srgbClr val="000000"/>
                </a:solidFill>
                <a:latin typeface="Times New Roman" pitchFamily="18" charset="0"/>
                <a:ea typeface="微软雅黑" pitchFamily="34" charset="-122"/>
                <a:cs typeface="Times New Roman" pitchFamily="18" charset="0"/>
              </a:rPr>
              <a:t>定压加热（早期柴油机、高增压、船用高速柴油机）</a:t>
            </a:r>
            <a:r>
              <a:rPr lang="en-US" altLang="zh-CN" sz="2000" b="1" dirty="0">
                <a:solidFill>
                  <a:srgbClr val="000000"/>
                </a:solidFill>
                <a:latin typeface="Times New Roman" pitchFamily="18" charset="0"/>
                <a:ea typeface="微软雅黑" pitchFamily="34" charset="-122"/>
                <a:cs typeface="Times New Roman" pitchFamily="18" charset="0"/>
              </a:rPr>
              <a:t>Diesel  Cycle</a:t>
            </a:r>
          </a:p>
        </p:txBody>
      </p:sp>
      <p:pic>
        <p:nvPicPr>
          <p:cNvPr id="24" name="Picture 8"/>
          <p:cNvPicPr>
            <a:picLocks noChangeAspect="1" noChangeArrowheads="1"/>
          </p:cNvPicPr>
          <p:nvPr/>
        </p:nvPicPr>
        <p:blipFill>
          <a:blip r:embed="rId6" cstate="print"/>
          <a:srcRect/>
          <a:stretch>
            <a:fillRect/>
          </a:stretch>
        </p:blipFill>
        <p:spPr bwMode="auto">
          <a:xfrm>
            <a:off x="949246" y="1261209"/>
            <a:ext cx="7391304" cy="3600000"/>
          </a:xfrm>
          <a:prstGeom prst="rect">
            <a:avLst/>
          </a:prstGeom>
          <a:noFill/>
          <a:ln w="9525">
            <a:noFill/>
            <a:miter lim="800000"/>
            <a:headEnd/>
            <a:tailEnd/>
          </a:ln>
        </p:spPr>
      </p:pic>
      <p:sp>
        <p:nvSpPr>
          <p:cNvPr id="20" name="TextBox 19"/>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dissolve">
                                      <p:cBhvr>
                                        <p:cTn id="10" dur="500"/>
                                        <p:tgtEl>
                                          <p:spTgt spid="21"/>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checkerboard(across)">
                                      <p:cBhvr>
                                        <p:cTn id="1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P spid="2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28</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19" name="Rectangle 7"/>
          <p:cNvSpPr>
            <a:spLocks noChangeArrowheads="1"/>
          </p:cNvSpPr>
          <p:nvPr/>
        </p:nvSpPr>
        <p:spPr bwMode="auto">
          <a:xfrm>
            <a:off x="179512" y="1321604"/>
            <a:ext cx="3707904" cy="523220"/>
          </a:xfrm>
          <a:prstGeom prst="rect">
            <a:avLst/>
          </a:prstGeom>
          <a:noFill/>
          <a:ln w="9525">
            <a:noFill/>
            <a:miter lim="800000"/>
            <a:headEnd/>
            <a:tailEnd/>
          </a:ln>
          <a:effectLst/>
        </p:spPr>
        <p:txBody>
          <a:bodyPr wrap="square" anchor="ctr">
            <a:spAutoFit/>
          </a:bodyPr>
          <a:lstStyle/>
          <a:p>
            <a:r>
              <a:rPr lang="zh-CN" altLang="en-US" sz="2800" dirty="0">
                <a:solidFill>
                  <a:srgbClr val="0000FF"/>
                </a:solidFill>
                <a:latin typeface="微软雅黑" pitchFamily="34" charset="-122"/>
                <a:ea typeface="微软雅黑" pitchFamily="34" charset="-122"/>
                <a:cs typeface="Times New Roman" pitchFamily="18" charset="0"/>
              </a:rPr>
              <a:t>（</a:t>
            </a:r>
            <a:r>
              <a:rPr lang="en-US" altLang="zh-CN" sz="2800" dirty="0">
                <a:solidFill>
                  <a:srgbClr val="0000FF"/>
                </a:solidFill>
                <a:latin typeface="微软雅黑" pitchFamily="34" charset="-122"/>
                <a:ea typeface="微软雅黑" pitchFamily="34" charset="-122"/>
                <a:cs typeface="Times New Roman" pitchFamily="18" charset="0"/>
              </a:rPr>
              <a:t>3</a:t>
            </a:r>
            <a:r>
              <a:rPr lang="zh-CN" altLang="en-US" sz="2800" dirty="0">
                <a:solidFill>
                  <a:srgbClr val="0000FF"/>
                </a:solidFill>
                <a:latin typeface="微软雅黑" pitchFamily="34" charset="-122"/>
                <a:ea typeface="微软雅黑" pitchFamily="34" charset="-122"/>
                <a:cs typeface="Times New Roman" pitchFamily="18" charset="0"/>
              </a:rPr>
              <a:t>）循环特性参数</a:t>
            </a:r>
          </a:p>
        </p:txBody>
      </p:sp>
      <p:graphicFrame>
        <p:nvGraphicFramePr>
          <p:cNvPr id="21" name="表格 20"/>
          <p:cNvGraphicFramePr>
            <a:graphicFrameLocks noGrp="1"/>
          </p:cNvGraphicFramePr>
          <p:nvPr>
            <p:extLst>
              <p:ext uri="{D42A27DB-BD31-4B8C-83A1-F6EECF244321}">
                <p14:modId xmlns:p14="http://schemas.microsoft.com/office/powerpoint/2010/main" val="592992687"/>
              </p:ext>
            </p:extLst>
          </p:nvPr>
        </p:nvGraphicFramePr>
        <p:xfrm>
          <a:off x="504341" y="2132856"/>
          <a:ext cx="8136903" cy="3468498"/>
        </p:xfrm>
        <a:graphic>
          <a:graphicData uri="http://schemas.openxmlformats.org/drawingml/2006/table">
            <a:tbl>
              <a:tblPr firstRow="1" bandRow="1">
                <a:tableStyleId>{5C22544A-7EE6-4342-B048-85BDC9FD1C3A}</a:tableStyleId>
              </a:tblPr>
              <a:tblGrid>
                <a:gridCol w="2716890">
                  <a:extLst>
                    <a:ext uri="{9D8B030D-6E8A-4147-A177-3AD203B41FA5}">
                      <a16:colId xmlns:a16="http://schemas.microsoft.com/office/drawing/2014/main" val="20000"/>
                    </a:ext>
                  </a:extLst>
                </a:gridCol>
                <a:gridCol w="1775613">
                  <a:extLst>
                    <a:ext uri="{9D8B030D-6E8A-4147-A177-3AD203B41FA5}">
                      <a16:colId xmlns:a16="http://schemas.microsoft.com/office/drawing/2014/main" val="20001"/>
                    </a:ext>
                  </a:extLst>
                </a:gridCol>
                <a:gridCol w="1868787">
                  <a:extLst>
                    <a:ext uri="{9D8B030D-6E8A-4147-A177-3AD203B41FA5}">
                      <a16:colId xmlns:a16="http://schemas.microsoft.com/office/drawing/2014/main" val="20002"/>
                    </a:ext>
                  </a:extLst>
                </a:gridCol>
                <a:gridCol w="1775613">
                  <a:extLst>
                    <a:ext uri="{9D8B030D-6E8A-4147-A177-3AD203B41FA5}">
                      <a16:colId xmlns:a16="http://schemas.microsoft.com/office/drawing/2014/main" val="20003"/>
                    </a:ext>
                  </a:extLst>
                </a:gridCol>
              </a:tblGrid>
              <a:tr h="647255">
                <a:tc>
                  <a:txBody>
                    <a:bodyPr/>
                    <a:lstStyle/>
                    <a:p>
                      <a:pPr algn="ctr">
                        <a:lnSpc>
                          <a:spcPct val="150000"/>
                        </a:lnSpc>
                        <a:spcBef>
                          <a:spcPts val="600"/>
                        </a:spcBef>
                        <a:spcAft>
                          <a:spcPts val="600"/>
                        </a:spcAft>
                      </a:pPr>
                      <a:endParaRPr lang="zh-CN" altLang="en-US" sz="2400" b="0" dirty="0">
                        <a:latin typeface="Times New Roman" pitchFamily="18" charset="0"/>
                        <a:ea typeface="微软雅黑" pitchFamily="34" charset="-122"/>
                        <a:cs typeface="Times New Roman" pitchFamily="18" charset="0"/>
                      </a:endParaRPr>
                    </a:p>
                  </a:txBody>
                  <a:tcPr anchor="ctr"/>
                </a:tc>
                <a:tc>
                  <a:txBody>
                    <a:bodyPr/>
                    <a:lstStyle/>
                    <a:p>
                      <a:pPr algn="ctr">
                        <a:lnSpc>
                          <a:spcPct val="150000"/>
                        </a:lnSpc>
                        <a:spcBef>
                          <a:spcPts val="600"/>
                        </a:spcBef>
                        <a:spcAft>
                          <a:spcPts val="600"/>
                        </a:spcAft>
                      </a:pPr>
                      <a:r>
                        <a:rPr lang="zh-CN" altLang="en-US" sz="2400" b="0" dirty="0">
                          <a:latin typeface="Times New Roman" pitchFamily="18" charset="0"/>
                          <a:ea typeface="微软雅黑" pitchFamily="34" charset="-122"/>
                          <a:cs typeface="Times New Roman" pitchFamily="18" charset="0"/>
                        </a:rPr>
                        <a:t>混合加热</a:t>
                      </a:r>
                    </a:p>
                  </a:txBody>
                  <a:tcPr anchor="ctr"/>
                </a:tc>
                <a:tc>
                  <a:txBody>
                    <a:bodyPr/>
                    <a:lstStyle/>
                    <a:p>
                      <a:pPr algn="ctr">
                        <a:lnSpc>
                          <a:spcPct val="150000"/>
                        </a:lnSpc>
                        <a:spcBef>
                          <a:spcPts val="600"/>
                        </a:spcBef>
                        <a:spcAft>
                          <a:spcPts val="600"/>
                        </a:spcAft>
                      </a:pPr>
                      <a:r>
                        <a:rPr lang="zh-CN" altLang="en-US" sz="2400" b="0" dirty="0">
                          <a:latin typeface="Times New Roman" pitchFamily="18" charset="0"/>
                          <a:ea typeface="微软雅黑" pitchFamily="34" charset="-122"/>
                          <a:cs typeface="Times New Roman" pitchFamily="18" charset="0"/>
                        </a:rPr>
                        <a:t>定容加热 </a:t>
                      </a:r>
                    </a:p>
                  </a:txBody>
                  <a:tcPr anchor="ctr"/>
                </a:tc>
                <a:tc>
                  <a:txBody>
                    <a:bodyPr/>
                    <a:lstStyle/>
                    <a:p>
                      <a:pPr algn="ctr">
                        <a:lnSpc>
                          <a:spcPct val="150000"/>
                        </a:lnSpc>
                        <a:spcBef>
                          <a:spcPts val="600"/>
                        </a:spcBef>
                        <a:spcAft>
                          <a:spcPts val="600"/>
                        </a:spcAft>
                      </a:pPr>
                      <a:r>
                        <a:rPr lang="zh-CN" altLang="en-US" sz="2400" b="0" dirty="0">
                          <a:latin typeface="Times New Roman" pitchFamily="18" charset="0"/>
                          <a:ea typeface="微软雅黑" pitchFamily="34" charset="-122"/>
                          <a:cs typeface="Times New Roman" pitchFamily="18" charset="0"/>
                        </a:rPr>
                        <a:t>定压加热</a:t>
                      </a:r>
                    </a:p>
                  </a:txBody>
                  <a:tcPr anchor="ctr"/>
                </a:tc>
                <a:extLst>
                  <a:ext uri="{0D108BD9-81ED-4DB2-BD59-A6C34878D82A}">
                    <a16:rowId xmlns:a16="http://schemas.microsoft.com/office/drawing/2014/main" val="10000"/>
                  </a:ext>
                </a:extLst>
              </a:tr>
              <a:tr h="535560">
                <a:tc>
                  <a:txBody>
                    <a:bodyPr/>
                    <a:lstStyle/>
                    <a:p>
                      <a:pPr algn="ctr">
                        <a:lnSpc>
                          <a:spcPct val="150000"/>
                        </a:lnSpc>
                      </a:pPr>
                      <a:r>
                        <a:rPr lang="zh-CN" altLang="en-US" sz="2400" b="0" dirty="0">
                          <a:latin typeface="Times New Roman" pitchFamily="18" charset="0"/>
                          <a:ea typeface="微软雅黑" pitchFamily="34" charset="-122"/>
                          <a:cs typeface="Times New Roman" pitchFamily="18" charset="0"/>
                        </a:rPr>
                        <a:t>压缩比 </a:t>
                      </a:r>
                      <a:r>
                        <a:rPr lang="en-US" altLang="zh-CN" sz="2400" b="1" i="1" dirty="0">
                          <a:latin typeface="Times New Roman" pitchFamily="18" charset="0"/>
                          <a:ea typeface="微软雅黑" pitchFamily="34" charset="-122"/>
                          <a:cs typeface="Times New Roman" pitchFamily="18" charset="0"/>
                        </a:rPr>
                        <a:t>ε </a:t>
                      </a:r>
                      <a:r>
                        <a:rPr lang="en-US" altLang="zh-CN" sz="2400" b="1" dirty="0">
                          <a:latin typeface="Times New Roman" pitchFamily="18" charset="0"/>
                          <a:ea typeface="微软雅黑" pitchFamily="34" charset="-122"/>
                          <a:cs typeface="Times New Roman" pitchFamily="18" charset="0"/>
                        </a:rPr>
                        <a:t>=</a:t>
                      </a:r>
                      <a:r>
                        <a:rPr lang="en-US" altLang="zh-CN" sz="2400" b="1" i="1" dirty="0">
                          <a:latin typeface="Times New Roman" pitchFamily="18" charset="0"/>
                          <a:ea typeface="微软雅黑" pitchFamily="34" charset="-122"/>
                          <a:cs typeface="Times New Roman" pitchFamily="18" charset="0"/>
                        </a:rPr>
                        <a:t>V</a:t>
                      </a:r>
                      <a:r>
                        <a:rPr lang="en-US" altLang="zh-CN" sz="2400" b="1" baseline="-25000" dirty="0">
                          <a:latin typeface="Times New Roman" pitchFamily="18" charset="0"/>
                          <a:ea typeface="微软雅黑" pitchFamily="34" charset="-122"/>
                          <a:cs typeface="Times New Roman" pitchFamily="18" charset="0"/>
                        </a:rPr>
                        <a:t>1</a:t>
                      </a:r>
                      <a:r>
                        <a:rPr lang="en-US" altLang="zh-CN" sz="2400" b="1" i="1" dirty="0">
                          <a:latin typeface="Times New Roman" pitchFamily="18" charset="0"/>
                          <a:ea typeface="微软雅黑" pitchFamily="34" charset="-122"/>
                          <a:cs typeface="Times New Roman" pitchFamily="18" charset="0"/>
                        </a:rPr>
                        <a:t> /V</a:t>
                      </a:r>
                      <a:r>
                        <a:rPr lang="en-US" altLang="zh-CN" sz="2400" b="1" baseline="-25000" dirty="0">
                          <a:latin typeface="Times New Roman" pitchFamily="18" charset="0"/>
                          <a:ea typeface="微软雅黑" pitchFamily="34" charset="-122"/>
                          <a:cs typeface="Times New Roman" pitchFamily="18" charset="0"/>
                        </a:rPr>
                        <a:t>2</a:t>
                      </a:r>
                      <a:endParaRPr lang="zh-CN" altLang="en-US" sz="2400" b="1" dirty="0">
                        <a:latin typeface="Times New Roman" pitchFamily="18" charset="0"/>
                        <a:ea typeface="微软雅黑" pitchFamily="34" charset="-122"/>
                        <a:cs typeface="Times New Roman" pitchFamily="18" charset="0"/>
                      </a:endParaRPr>
                    </a:p>
                  </a:txBody>
                  <a:tcPr anchor="ctr"/>
                </a:tc>
                <a:tc>
                  <a:txBody>
                    <a:bodyPr/>
                    <a:lstStyle/>
                    <a:p>
                      <a:pPr algn="ctr">
                        <a:lnSpc>
                          <a:spcPct val="150000"/>
                        </a:lnSpc>
                      </a:pPr>
                      <a:r>
                        <a:rPr lang="en-US" altLang="zh-CN" sz="2400" b="1" dirty="0">
                          <a:latin typeface="Times New Roman" pitchFamily="18" charset="0"/>
                          <a:ea typeface="微软雅黑" pitchFamily="34" charset="-122"/>
                          <a:cs typeface="Times New Roman" pitchFamily="18" charset="0"/>
                        </a:rPr>
                        <a:t>14-20</a:t>
                      </a:r>
                      <a:endParaRPr lang="zh-CN" altLang="en-US" sz="2400" b="1" dirty="0">
                        <a:latin typeface="Times New Roman" pitchFamily="18" charset="0"/>
                        <a:ea typeface="微软雅黑" pitchFamily="34" charset="-122"/>
                        <a:cs typeface="Times New Roman" pitchFamily="18" charset="0"/>
                      </a:endParaRPr>
                    </a:p>
                  </a:txBody>
                  <a:tcPr anchor="ctr"/>
                </a:tc>
                <a:tc>
                  <a:txBody>
                    <a:bodyPr/>
                    <a:lstStyle/>
                    <a:p>
                      <a:pPr algn="ctr">
                        <a:lnSpc>
                          <a:spcPct val="150000"/>
                        </a:lnSpc>
                      </a:pPr>
                      <a:r>
                        <a:rPr lang="en-US" altLang="zh-CN" sz="2400" b="1" dirty="0">
                          <a:latin typeface="Times New Roman" pitchFamily="18" charset="0"/>
                          <a:ea typeface="微软雅黑" pitchFamily="34" charset="-122"/>
                          <a:cs typeface="Times New Roman" pitchFamily="18" charset="0"/>
                        </a:rPr>
                        <a:t>5-12</a:t>
                      </a:r>
                      <a:endParaRPr lang="zh-CN" altLang="en-US" sz="2400" b="1" dirty="0">
                        <a:latin typeface="Times New Roman" pitchFamily="18" charset="0"/>
                        <a:ea typeface="微软雅黑" pitchFamily="34" charset="-122"/>
                        <a:cs typeface="Times New Roman" pitchFamily="18" charset="0"/>
                      </a:endParaRPr>
                    </a:p>
                  </a:txBody>
                  <a:tcPr anchor="ctr"/>
                </a:tc>
                <a:tc>
                  <a:txBody>
                    <a:bodyPr/>
                    <a:lstStyle/>
                    <a:p>
                      <a:pPr algn="ctr">
                        <a:lnSpc>
                          <a:spcPct val="150000"/>
                        </a:lnSpc>
                      </a:pPr>
                      <a:r>
                        <a:rPr lang="en-US" altLang="zh-CN" sz="2400" b="1" dirty="0">
                          <a:latin typeface="Times New Roman" pitchFamily="18" charset="0"/>
                          <a:ea typeface="微软雅黑" pitchFamily="34" charset="-122"/>
                          <a:cs typeface="Times New Roman" pitchFamily="18" charset="0"/>
                        </a:rPr>
                        <a:t>14-20</a:t>
                      </a:r>
                      <a:endParaRPr lang="zh-CN" altLang="en-US" sz="2400" b="1" dirty="0">
                        <a:latin typeface="Times New Roman" pitchFamily="18" charset="0"/>
                        <a:ea typeface="微软雅黑" pitchFamily="34" charset="-122"/>
                        <a:cs typeface="Times New Roman" pitchFamily="18" charset="0"/>
                      </a:endParaRPr>
                    </a:p>
                  </a:txBody>
                  <a:tcPr anchor="ctr"/>
                </a:tc>
                <a:extLst>
                  <a:ext uri="{0D108BD9-81ED-4DB2-BD59-A6C34878D82A}">
                    <a16:rowId xmlns:a16="http://schemas.microsoft.com/office/drawing/2014/main" val="10001"/>
                  </a:ext>
                </a:extLst>
              </a:tr>
              <a:tr h="976609">
                <a:tc>
                  <a:txBody>
                    <a:bodyPr/>
                    <a:lstStyle/>
                    <a:p>
                      <a:pPr algn="ctr">
                        <a:lnSpc>
                          <a:spcPct val="150000"/>
                        </a:lnSpc>
                      </a:pPr>
                      <a:r>
                        <a:rPr lang="zh-CN" altLang="en-US" sz="2400" b="0" dirty="0">
                          <a:latin typeface="Times New Roman" pitchFamily="18" charset="0"/>
                          <a:ea typeface="微软雅黑" pitchFamily="34" charset="-122"/>
                          <a:cs typeface="Times New Roman" pitchFamily="18" charset="0"/>
                        </a:rPr>
                        <a:t>定容升压比</a:t>
                      </a:r>
                      <a:endParaRPr lang="en-US" altLang="zh-CN" sz="2400" b="0" dirty="0">
                        <a:latin typeface="Times New Roman" pitchFamily="18" charset="0"/>
                        <a:ea typeface="微软雅黑" pitchFamily="34" charset="-122"/>
                        <a:cs typeface="Times New Roman" pitchFamily="18" charset="0"/>
                      </a:endParaRPr>
                    </a:p>
                    <a:p>
                      <a:pPr algn="ctr">
                        <a:lnSpc>
                          <a:spcPct val="150000"/>
                        </a:lnSpc>
                      </a:pPr>
                      <a:r>
                        <a:rPr lang="en-US" altLang="zh-CN" sz="2400" b="1" i="1" dirty="0">
                          <a:latin typeface="Times New Roman" pitchFamily="18" charset="0"/>
                          <a:ea typeface="微软雅黑" pitchFamily="34" charset="-122"/>
                          <a:cs typeface="Times New Roman" pitchFamily="18" charset="0"/>
                        </a:rPr>
                        <a:t>λ = p</a:t>
                      </a:r>
                      <a:r>
                        <a:rPr lang="en-US" altLang="zh-CN" sz="2400" b="1" baseline="-25000" dirty="0">
                          <a:latin typeface="Times New Roman" pitchFamily="18" charset="0"/>
                          <a:ea typeface="微软雅黑" pitchFamily="34" charset="-122"/>
                          <a:cs typeface="Times New Roman" pitchFamily="18" charset="0"/>
                        </a:rPr>
                        <a:t>3 </a:t>
                      </a:r>
                      <a:r>
                        <a:rPr lang="en-US" altLang="zh-CN" sz="2400" b="1" i="1" dirty="0">
                          <a:latin typeface="Times New Roman" pitchFamily="18" charset="0"/>
                          <a:ea typeface="微软雅黑" pitchFamily="34" charset="-122"/>
                          <a:cs typeface="Times New Roman" pitchFamily="18" charset="0"/>
                        </a:rPr>
                        <a:t>/p</a:t>
                      </a:r>
                      <a:r>
                        <a:rPr lang="en-US" altLang="zh-CN" sz="2400" b="1" baseline="-25000" dirty="0">
                          <a:latin typeface="Times New Roman" pitchFamily="18" charset="0"/>
                          <a:ea typeface="微软雅黑" pitchFamily="34" charset="-122"/>
                          <a:cs typeface="Times New Roman" pitchFamily="18" charset="0"/>
                        </a:rPr>
                        <a:t>2</a:t>
                      </a:r>
                      <a:endParaRPr lang="zh-CN" altLang="en-US" sz="2400" b="1" dirty="0">
                        <a:latin typeface="Times New Roman" pitchFamily="18" charset="0"/>
                        <a:ea typeface="微软雅黑" pitchFamily="34" charset="-122"/>
                        <a:cs typeface="Times New Roman" pitchFamily="18" charset="0"/>
                      </a:endParaRPr>
                    </a:p>
                  </a:txBody>
                  <a:tcPr anchor="ctr"/>
                </a:tc>
                <a:tc>
                  <a:txBody>
                    <a:bodyPr/>
                    <a:lstStyle/>
                    <a:p>
                      <a:pPr algn="ctr">
                        <a:lnSpc>
                          <a:spcPct val="150000"/>
                        </a:lnSpc>
                      </a:pPr>
                      <a:r>
                        <a:rPr lang="en-US" altLang="zh-CN" sz="2400" b="1" dirty="0">
                          <a:latin typeface="Times New Roman" pitchFamily="18" charset="0"/>
                          <a:ea typeface="微软雅黑" pitchFamily="34" charset="-122"/>
                          <a:cs typeface="Times New Roman" pitchFamily="18" charset="0"/>
                        </a:rPr>
                        <a:t>1.3-2.2</a:t>
                      </a:r>
                      <a:endParaRPr lang="zh-CN" altLang="en-US" sz="2400" b="1" dirty="0">
                        <a:latin typeface="Times New Roman" pitchFamily="18" charset="0"/>
                        <a:ea typeface="微软雅黑" pitchFamily="34" charset="-122"/>
                        <a:cs typeface="Times New Roman" pitchFamily="18" charset="0"/>
                      </a:endParaRP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CN" altLang="en-US" sz="2400" b="1" dirty="0">
                          <a:latin typeface="Times New Roman" pitchFamily="18" charset="0"/>
                          <a:ea typeface="微软雅黑" pitchFamily="34" charset="-122"/>
                          <a:cs typeface="Times New Roman" pitchFamily="18" charset="0"/>
                        </a:rPr>
                        <a:t>？</a:t>
                      </a:r>
                    </a:p>
                  </a:txBody>
                  <a:tcPr anchor="ctr"/>
                </a:tc>
                <a:tc>
                  <a:txBody>
                    <a:bodyPr/>
                    <a:lstStyle/>
                    <a:p>
                      <a:pPr algn="ctr">
                        <a:lnSpc>
                          <a:spcPct val="150000"/>
                        </a:lnSpc>
                      </a:pPr>
                      <a:r>
                        <a:rPr lang="en-US" altLang="zh-CN" sz="2400" b="1" dirty="0">
                          <a:latin typeface="Times New Roman" pitchFamily="18" charset="0"/>
                          <a:ea typeface="微软雅黑" pitchFamily="34" charset="-122"/>
                          <a:cs typeface="Times New Roman" pitchFamily="18" charset="0"/>
                        </a:rPr>
                        <a:t>——</a:t>
                      </a:r>
                      <a:endParaRPr lang="zh-CN" altLang="en-US" sz="2400" b="1" dirty="0">
                        <a:latin typeface="Times New Roman" pitchFamily="18" charset="0"/>
                        <a:ea typeface="微软雅黑" pitchFamily="34" charset="-122"/>
                        <a:cs typeface="Times New Roman" pitchFamily="18" charset="0"/>
                      </a:endParaRPr>
                    </a:p>
                  </a:txBody>
                  <a:tcPr anchor="ctr"/>
                </a:tc>
                <a:extLst>
                  <a:ext uri="{0D108BD9-81ED-4DB2-BD59-A6C34878D82A}">
                    <a16:rowId xmlns:a16="http://schemas.microsoft.com/office/drawing/2014/main" val="10002"/>
                  </a:ext>
                </a:extLst>
              </a:tr>
              <a:tr h="976609">
                <a:tc>
                  <a:txBody>
                    <a:bodyPr/>
                    <a:lstStyle/>
                    <a:p>
                      <a:pPr algn="ctr">
                        <a:lnSpc>
                          <a:spcPct val="150000"/>
                        </a:lnSpc>
                      </a:pPr>
                      <a:r>
                        <a:rPr lang="zh-CN" altLang="en-US" sz="2400" b="0" dirty="0">
                          <a:latin typeface="Times New Roman" pitchFamily="18" charset="0"/>
                          <a:ea typeface="微软雅黑" pitchFamily="34" charset="-122"/>
                          <a:cs typeface="Times New Roman" pitchFamily="18" charset="0"/>
                        </a:rPr>
                        <a:t>定压预胀比</a:t>
                      </a:r>
                      <a:endParaRPr lang="en-US" altLang="zh-CN" sz="2400" b="0" dirty="0">
                        <a:latin typeface="Times New Roman" pitchFamily="18" charset="0"/>
                        <a:ea typeface="微软雅黑" pitchFamily="34" charset="-122"/>
                        <a:cs typeface="Times New Roman" pitchFamily="18" charset="0"/>
                      </a:endParaRPr>
                    </a:p>
                    <a:p>
                      <a:pPr algn="ctr">
                        <a:lnSpc>
                          <a:spcPct val="150000"/>
                        </a:lnSpc>
                      </a:pPr>
                      <a:r>
                        <a:rPr lang="en-US" altLang="zh-CN" sz="2400" b="1" i="1" dirty="0">
                          <a:latin typeface="Times New Roman" pitchFamily="18" charset="0"/>
                          <a:ea typeface="微软雅黑" pitchFamily="34" charset="-122"/>
                          <a:cs typeface="Times New Roman" pitchFamily="18" charset="0"/>
                        </a:rPr>
                        <a:t>ρ= V</a:t>
                      </a:r>
                      <a:r>
                        <a:rPr lang="en-US" altLang="zh-CN" sz="2400" b="1" baseline="-25000" dirty="0">
                          <a:latin typeface="Times New Roman" pitchFamily="18" charset="0"/>
                          <a:ea typeface="微软雅黑" pitchFamily="34" charset="-122"/>
                          <a:cs typeface="Times New Roman" pitchFamily="18" charset="0"/>
                        </a:rPr>
                        <a:t>4</a:t>
                      </a:r>
                      <a:r>
                        <a:rPr lang="en-US" altLang="zh-CN" sz="2400" b="1" i="1" dirty="0">
                          <a:latin typeface="Times New Roman" pitchFamily="18" charset="0"/>
                          <a:ea typeface="微软雅黑" pitchFamily="34" charset="-122"/>
                          <a:cs typeface="Times New Roman" pitchFamily="18" charset="0"/>
                        </a:rPr>
                        <a:t> /V</a:t>
                      </a:r>
                      <a:r>
                        <a:rPr lang="en-US" altLang="zh-CN" sz="2400" b="1" baseline="-25000" dirty="0">
                          <a:latin typeface="Times New Roman" pitchFamily="18" charset="0"/>
                          <a:ea typeface="微软雅黑" pitchFamily="34" charset="-122"/>
                          <a:cs typeface="Times New Roman" pitchFamily="18" charset="0"/>
                        </a:rPr>
                        <a:t>3</a:t>
                      </a:r>
                      <a:endParaRPr lang="zh-CN" altLang="en-US" sz="2400" b="1" dirty="0">
                        <a:latin typeface="Times New Roman" pitchFamily="18" charset="0"/>
                        <a:ea typeface="微软雅黑" pitchFamily="34" charset="-122"/>
                        <a:cs typeface="Times New Roman" pitchFamily="18" charset="0"/>
                      </a:endParaRPr>
                    </a:p>
                  </a:txBody>
                  <a:tcPr anchor="ctr"/>
                </a:tc>
                <a:tc>
                  <a:txBody>
                    <a:bodyPr/>
                    <a:lstStyle/>
                    <a:p>
                      <a:pPr algn="ctr">
                        <a:lnSpc>
                          <a:spcPct val="150000"/>
                        </a:lnSpc>
                      </a:pPr>
                      <a:r>
                        <a:rPr lang="en-US" altLang="zh-CN" sz="2400" b="1" dirty="0">
                          <a:latin typeface="Times New Roman" pitchFamily="18" charset="0"/>
                          <a:ea typeface="微软雅黑" pitchFamily="34" charset="-122"/>
                          <a:cs typeface="Times New Roman" pitchFamily="18" charset="0"/>
                        </a:rPr>
                        <a:t>1.1-1.7</a:t>
                      </a:r>
                      <a:endParaRPr lang="zh-CN" altLang="en-US" sz="2400" b="1" dirty="0">
                        <a:latin typeface="Times New Roman" pitchFamily="18" charset="0"/>
                        <a:ea typeface="微软雅黑" pitchFamily="34" charset="-122"/>
                        <a:cs typeface="Times New Roman" pitchFamily="18" charset="0"/>
                      </a:endParaRPr>
                    </a:p>
                  </a:txBody>
                  <a:tcPr anchor="ctr"/>
                </a:tc>
                <a:tc>
                  <a:txBody>
                    <a:bodyPr/>
                    <a:lstStyle/>
                    <a:p>
                      <a:pPr algn="ctr">
                        <a:lnSpc>
                          <a:spcPct val="150000"/>
                        </a:lnSpc>
                      </a:pPr>
                      <a:r>
                        <a:rPr lang="en-US" altLang="zh-CN" sz="2400" b="1" dirty="0">
                          <a:latin typeface="Times New Roman" pitchFamily="18" charset="0"/>
                          <a:ea typeface="微软雅黑" pitchFamily="34" charset="-122"/>
                          <a:cs typeface="Times New Roman" pitchFamily="18" charset="0"/>
                        </a:rPr>
                        <a:t>——</a:t>
                      </a:r>
                      <a:endParaRPr lang="zh-CN" altLang="en-US" sz="2400" b="1" dirty="0">
                        <a:latin typeface="Times New Roman" pitchFamily="18" charset="0"/>
                        <a:ea typeface="微软雅黑" pitchFamily="34" charset="-122"/>
                        <a:cs typeface="Times New Roman" pitchFamily="18" charset="0"/>
                      </a:endParaRPr>
                    </a:p>
                  </a:txBody>
                  <a:tcPr anchor="ctr"/>
                </a:tc>
                <a:tc>
                  <a:txBody>
                    <a:bodyPr/>
                    <a:lstStyle/>
                    <a:p>
                      <a:pPr algn="ctr">
                        <a:lnSpc>
                          <a:spcPct val="150000"/>
                        </a:lnSpc>
                      </a:pPr>
                      <a:r>
                        <a:rPr lang="en-US" altLang="zh-CN" sz="2400" b="1" dirty="0">
                          <a:latin typeface="Times New Roman" pitchFamily="18" charset="0"/>
                          <a:ea typeface="微软雅黑" pitchFamily="34" charset="-122"/>
                          <a:cs typeface="Times New Roman" pitchFamily="18" charset="0"/>
                        </a:rPr>
                        <a:t>1.1-1.7</a:t>
                      </a:r>
                      <a:endParaRPr lang="zh-CN" altLang="en-US" sz="2400" b="1" dirty="0">
                        <a:latin typeface="Times New Roman" pitchFamily="18" charset="0"/>
                        <a:ea typeface="微软雅黑" pitchFamily="34" charset="-122"/>
                        <a:cs typeface="Times New Roman" pitchFamily="18" charset="0"/>
                      </a:endParaRPr>
                    </a:p>
                  </a:txBody>
                  <a:tcPr anchor="ctr"/>
                </a:tc>
                <a:extLst>
                  <a:ext uri="{0D108BD9-81ED-4DB2-BD59-A6C34878D82A}">
                    <a16:rowId xmlns:a16="http://schemas.microsoft.com/office/drawing/2014/main" val="10003"/>
                  </a:ext>
                </a:extLst>
              </a:tr>
            </a:tbl>
          </a:graphicData>
        </a:graphic>
      </p:graphicFrame>
      <p:sp>
        <p:nvSpPr>
          <p:cNvPr id="18" name="TextBox 17"/>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ssolv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ox(in)">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29</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sp>
        <p:nvSpPr>
          <p:cNvPr id="20" name="TextBox 37"/>
          <p:cNvSpPr txBox="1">
            <a:spLocks noChangeArrowheads="1"/>
          </p:cNvSpPr>
          <p:nvPr/>
        </p:nvSpPr>
        <p:spPr bwMode="auto">
          <a:xfrm>
            <a:off x="755576" y="1249596"/>
            <a:ext cx="3922787"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循环的功、热和热效率</a:t>
            </a:r>
          </a:p>
        </p:txBody>
      </p:sp>
      <p:sp>
        <p:nvSpPr>
          <p:cNvPr id="22" name="矩形 21"/>
          <p:cNvSpPr/>
          <p:nvPr/>
        </p:nvSpPr>
        <p:spPr>
          <a:xfrm>
            <a:off x="93812" y="1263065"/>
            <a:ext cx="47766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3.</a:t>
            </a:r>
            <a:endParaRPr lang="zh-CN" altLang="en-US" sz="2800" i="1" dirty="0">
              <a:solidFill>
                <a:srgbClr val="C00000"/>
              </a:solidFill>
              <a:latin typeface="Bernard MT Condensed"/>
            </a:endParaRPr>
          </a:p>
        </p:txBody>
      </p:sp>
      <p:grpSp>
        <p:nvGrpSpPr>
          <p:cNvPr id="46" name="组合 45"/>
          <p:cNvGrpSpPr/>
          <p:nvPr/>
        </p:nvGrpSpPr>
        <p:grpSpPr>
          <a:xfrm>
            <a:off x="755576" y="1916832"/>
            <a:ext cx="6048673" cy="648072"/>
            <a:chOff x="323528" y="2384884"/>
            <a:chExt cx="7066766" cy="793787"/>
          </a:xfrm>
        </p:grpSpPr>
        <p:sp>
          <p:nvSpPr>
            <p:cNvPr id="34" name="五边形 33"/>
            <p:cNvSpPr/>
            <p:nvPr/>
          </p:nvSpPr>
          <p:spPr>
            <a:xfrm>
              <a:off x="323528" y="2458671"/>
              <a:ext cx="1934948" cy="720000"/>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800" dirty="0">
                  <a:latin typeface="微软雅黑" pitchFamily="34" charset="-122"/>
                  <a:ea typeface="微软雅黑" pitchFamily="34" charset="-122"/>
                </a:rPr>
                <a:t>功、热</a:t>
              </a:r>
            </a:p>
          </p:txBody>
        </p:sp>
        <p:sp>
          <p:nvSpPr>
            <p:cNvPr id="35" name="圆角矩形 34"/>
            <p:cNvSpPr/>
            <p:nvPr/>
          </p:nvSpPr>
          <p:spPr>
            <a:xfrm>
              <a:off x="3060474" y="2384884"/>
              <a:ext cx="4329820" cy="792088"/>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aphicFrame>
          <p:nvGraphicFramePr>
            <p:cNvPr id="80900" name="Object 4"/>
            <p:cNvGraphicFramePr>
              <a:graphicFrameLocks noChangeAspect="1"/>
            </p:cNvGraphicFramePr>
            <p:nvPr>
              <p:extLst>
                <p:ext uri="{D42A27DB-BD31-4B8C-83A1-F6EECF244321}">
                  <p14:modId xmlns:p14="http://schemas.microsoft.com/office/powerpoint/2010/main" val="2384705098"/>
                </p:ext>
              </p:extLst>
            </p:nvPr>
          </p:nvGraphicFramePr>
          <p:xfrm>
            <a:off x="3897439" y="2458670"/>
            <a:ext cx="2951343" cy="654482"/>
          </p:xfrm>
          <a:graphic>
            <a:graphicData uri="http://schemas.openxmlformats.org/presentationml/2006/ole">
              <mc:AlternateContent xmlns:mc="http://schemas.openxmlformats.org/markup-compatibility/2006">
                <mc:Choice xmlns:v="urn:schemas-microsoft-com:vml" Requires="v">
                  <p:oleObj spid="_x0000_s84225" name="公式" r:id="rId7" imgW="1028700" imgH="228600" progId="Equation.3">
                    <p:embed/>
                  </p:oleObj>
                </mc:Choice>
                <mc:Fallback>
                  <p:oleObj name="公式" r:id="rId7" imgW="1028700" imgH="228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97439" y="2458670"/>
                          <a:ext cx="2951343" cy="654482"/>
                        </a:xfrm>
                        <a:prstGeom prst="rect">
                          <a:avLst/>
                        </a:prstGeom>
                        <a:noFill/>
                      </p:spPr>
                    </p:pic>
                  </p:oleObj>
                </mc:Fallback>
              </mc:AlternateContent>
            </a:graphicData>
          </a:graphic>
        </p:graphicFrame>
      </p:grpSp>
      <p:grpSp>
        <p:nvGrpSpPr>
          <p:cNvPr id="47" name="组合 46"/>
          <p:cNvGrpSpPr/>
          <p:nvPr/>
        </p:nvGrpSpPr>
        <p:grpSpPr>
          <a:xfrm>
            <a:off x="784945" y="2777369"/>
            <a:ext cx="6063275" cy="1018205"/>
            <a:chOff x="571472" y="3321028"/>
            <a:chExt cx="6063275" cy="1083909"/>
          </a:xfrm>
        </p:grpSpPr>
        <p:sp>
          <p:nvSpPr>
            <p:cNvPr id="36" name="五边形 35"/>
            <p:cNvSpPr/>
            <p:nvPr/>
          </p:nvSpPr>
          <p:spPr>
            <a:xfrm>
              <a:off x="571472" y="3501088"/>
              <a:ext cx="1670787" cy="720000"/>
            </a:xfrm>
            <a:prstGeom prst="homePlate">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2800" dirty="0">
                  <a:latin typeface="微软雅黑" panose="020B0503020204020204" pitchFamily="34" charset="-122"/>
                  <a:ea typeface="微软雅黑" panose="020B0503020204020204" pitchFamily="34" charset="-122"/>
                </a:rPr>
                <a:t>热效率</a:t>
              </a:r>
            </a:p>
          </p:txBody>
        </p:sp>
        <p:sp>
          <p:nvSpPr>
            <p:cNvPr id="37" name="圆角矩形 36"/>
            <p:cNvSpPr/>
            <p:nvPr/>
          </p:nvSpPr>
          <p:spPr>
            <a:xfrm>
              <a:off x="2890971" y="3321028"/>
              <a:ext cx="3743776" cy="108012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0902" name="Object 6"/>
            <p:cNvGraphicFramePr>
              <a:graphicFrameLocks noChangeAspect="1"/>
            </p:cNvGraphicFramePr>
            <p:nvPr>
              <p:extLst>
                <p:ext uri="{D42A27DB-BD31-4B8C-83A1-F6EECF244321}">
                  <p14:modId xmlns:p14="http://schemas.microsoft.com/office/powerpoint/2010/main" val="1272954777"/>
                </p:ext>
              </p:extLst>
            </p:nvPr>
          </p:nvGraphicFramePr>
          <p:xfrm>
            <a:off x="3538403" y="3321029"/>
            <a:ext cx="2519856" cy="1083908"/>
          </p:xfrm>
          <a:graphic>
            <a:graphicData uri="http://schemas.openxmlformats.org/presentationml/2006/ole">
              <mc:AlternateContent xmlns:mc="http://schemas.openxmlformats.org/markup-compatibility/2006">
                <mc:Choice xmlns:v="urn:schemas-microsoft-com:vml" Requires="v">
                  <p:oleObj spid="_x0000_s84226" name="公式" r:id="rId9" imgW="1002865" imgH="431613" progId="Equation.3">
                    <p:embed/>
                  </p:oleObj>
                </mc:Choice>
                <mc:Fallback>
                  <p:oleObj name="公式" r:id="rId9" imgW="1002865" imgH="431613"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38403" y="3321029"/>
                          <a:ext cx="2519856" cy="1083908"/>
                        </a:xfrm>
                        <a:prstGeom prst="rect">
                          <a:avLst/>
                        </a:prstGeom>
                        <a:noFill/>
                        <a:ln>
                          <a:noFill/>
                        </a:ln>
                      </p:spPr>
                    </p:pic>
                  </p:oleObj>
                </mc:Fallback>
              </mc:AlternateContent>
            </a:graphicData>
          </a:graphic>
        </p:graphicFrame>
      </p:grpSp>
      <p:grpSp>
        <p:nvGrpSpPr>
          <p:cNvPr id="44" name="组合 43"/>
          <p:cNvGrpSpPr/>
          <p:nvPr/>
        </p:nvGrpSpPr>
        <p:grpSpPr>
          <a:xfrm>
            <a:off x="1428425" y="4515574"/>
            <a:ext cx="5882312" cy="1296144"/>
            <a:chOff x="3225552" y="4797152"/>
            <a:chExt cx="5882312" cy="1296144"/>
          </a:xfrm>
        </p:grpSpPr>
        <p:sp>
          <p:nvSpPr>
            <p:cNvPr id="42" name="圆角矩形 41"/>
            <p:cNvSpPr/>
            <p:nvPr/>
          </p:nvSpPr>
          <p:spPr>
            <a:xfrm>
              <a:off x="3347864" y="4797152"/>
              <a:ext cx="5760000" cy="129614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2948" name="Object 4"/>
            <p:cNvGraphicFramePr>
              <a:graphicFrameLocks noChangeAspect="1"/>
            </p:cNvGraphicFramePr>
            <p:nvPr>
              <p:extLst>
                <p:ext uri="{D42A27DB-BD31-4B8C-83A1-F6EECF244321}">
                  <p14:modId xmlns:p14="http://schemas.microsoft.com/office/powerpoint/2010/main" val="1205777154"/>
                </p:ext>
              </p:extLst>
            </p:nvPr>
          </p:nvGraphicFramePr>
          <p:xfrm>
            <a:off x="3225552" y="4894321"/>
            <a:ext cx="5486400" cy="550863"/>
          </p:xfrm>
          <a:graphic>
            <a:graphicData uri="http://schemas.openxmlformats.org/presentationml/2006/ole">
              <mc:AlternateContent xmlns:mc="http://schemas.openxmlformats.org/markup-compatibility/2006">
                <mc:Choice xmlns:v="urn:schemas-microsoft-com:vml" Requires="v">
                  <p:oleObj spid="_x0000_s84227" r:id="rId11" imgW="2133600" imgH="203200" progId="Equation.DSMT4">
                    <p:embed/>
                  </p:oleObj>
                </mc:Choice>
                <mc:Fallback>
                  <p:oleObj r:id="rId11" imgW="2133600" imgH="203200" progId="Equation.DSMT4">
                    <p:embed/>
                    <p:pic>
                      <p:nvPicPr>
                        <p:cNvPr id="0"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25552" y="4894321"/>
                          <a:ext cx="5486400" cy="550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2950" name="Object 6"/>
            <p:cNvGraphicFramePr>
              <a:graphicFrameLocks noChangeAspect="1"/>
            </p:cNvGraphicFramePr>
            <p:nvPr>
              <p:extLst>
                <p:ext uri="{D42A27DB-BD31-4B8C-83A1-F6EECF244321}">
                  <p14:modId xmlns:p14="http://schemas.microsoft.com/office/powerpoint/2010/main" val="4002420547"/>
                </p:ext>
              </p:extLst>
            </p:nvPr>
          </p:nvGraphicFramePr>
          <p:xfrm>
            <a:off x="3227415" y="5585296"/>
            <a:ext cx="3048000" cy="508000"/>
          </p:xfrm>
          <a:graphic>
            <a:graphicData uri="http://schemas.openxmlformats.org/presentationml/2006/ole">
              <mc:AlternateContent xmlns:mc="http://schemas.openxmlformats.org/markup-compatibility/2006">
                <mc:Choice xmlns:v="urn:schemas-microsoft-com:vml" Requires="v">
                  <p:oleObj spid="_x0000_s84228" r:id="rId13" imgW="1143000" imgH="190500" progId="Equation.DSMT4">
                    <p:embed/>
                  </p:oleObj>
                </mc:Choice>
                <mc:Fallback>
                  <p:oleObj r:id="rId13" imgW="1143000" imgH="190500" progId="Equation.DSMT4">
                    <p:embed/>
                    <p:pic>
                      <p:nvPicPr>
                        <p:cNvPr id="0" name="Picture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27415" y="5585296"/>
                          <a:ext cx="30480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8" name="五边形 37"/>
          <p:cNvSpPr/>
          <p:nvPr/>
        </p:nvSpPr>
        <p:spPr>
          <a:xfrm>
            <a:off x="579870" y="3795574"/>
            <a:ext cx="2520281" cy="720000"/>
          </a:xfrm>
          <a:prstGeom prst="homePlate">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b="1" dirty="0">
                <a:solidFill>
                  <a:schemeClr val="tx1"/>
                </a:solidFill>
              </a:rPr>
              <a:t>混合加热循环</a:t>
            </a:r>
            <a:endParaRPr lang="zh-CN" altLang="en-US" sz="2800" dirty="0">
              <a:solidFill>
                <a:schemeClr val="tx1"/>
              </a:solidFill>
              <a:latin typeface="微软雅黑" pitchFamily="34" charset="-122"/>
              <a:ea typeface="微软雅黑" pitchFamily="34" charset="-122"/>
            </a:endParaRPr>
          </a:p>
        </p:txBody>
      </p:sp>
      <p:sp>
        <p:nvSpPr>
          <p:cNvPr id="31" name="TextBox 30"/>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blinds(horizontal)">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blinds(horizontal)">
                                      <p:cBhvr>
                                        <p:cTn id="15" dur="500"/>
                                        <p:tgtEl>
                                          <p:spTgt spid="4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47"/>
                                        </p:tgtEl>
                                        <p:attrNameLst>
                                          <p:attrName>style.visibility</p:attrName>
                                        </p:attrNameLst>
                                      </p:cBhvr>
                                      <p:to>
                                        <p:strVal val="visible"/>
                                      </p:to>
                                    </p:set>
                                    <p:animEffect transition="in" filter="blinds(horizontal)">
                                      <p:cBhvr>
                                        <p:cTn id="20" dur="500"/>
                                        <p:tgtEl>
                                          <p:spTgt spid="4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animBg="1"/>
      <p:bldP spid="3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30</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30" name="Rectangle 7"/>
          <p:cNvSpPr>
            <a:spLocks noChangeArrowheads="1"/>
          </p:cNvSpPr>
          <p:nvPr/>
        </p:nvSpPr>
        <p:spPr bwMode="auto">
          <a:xfrm>
            <a:off x="373063" y="1393026"/>
            <a:ext cx="8375650" cy="4124206"/>
          </a:xfrm>
          <a:prstGeom prst="rect">
            <a:avLst/>
          </a:prstGeom>
          <a:noFill/>
          <a:ln w="9525">
            <a:noFill/>
            <a:miter lim="800000"/>
            <a:headEnd/>
            <a:tailEnd/>
          </a:ln>
        </p:spPr>
        <p:txBody>
          <a:bodyPr anchor="ctr">
            <a:spAutoFit/>
          </a:bodyPr>
          <a:lstStyle/>
          <a:p>
            <a:pPr>
              <a:lnSpc>
                <a:spcPct val="150000"/>
              </a:lnSpc>
            </a:pPr>
            <a:r>
              <a:rPr lang="zh-CN" altLang="en-US" sz="2800" dirty="0">
                <a:latin typeface="微软雅黑" pitchFamily="34" charset="-122"/>
                <a:ea typeface="微软雅黑" pitchFamily="34" charset="-122"/>
              </a:rPr>
              <a:t>对定容加热和定压加热循环，</a:t>
            </a:r>
            <a:r>
              <a:rPr lang="zh-CN" altLang="en-US" sz="2800" dirty="0">
                <a:latin typeface="微软雅黑" pitchFamily="34" charset="-122"/>
                <a:ea typeface="微软雅黑" pitchFamily="34" charset="-122"/>
                <a:sym typeface="Symbol" pitchFamily="18" charset="2"/>
              </a:rPr>
              <a:t>以上公式</a:t>
            </a:r>
            <a:r>
              <a:rPr lang="zh-CN" altLang="en-US" sz="2800" dirty="0">
                <a:latin typeface="微软雅黑" pitchFamily="34" charset="-122"/>
                <a:ea typeface="微软雅黑" pitchFamily="34" charset="-122"/>
              </a:rPr>
              <a:t>同样适用，只是</a:t>
            </a:r>
            <a:r>
              <a:rPr lang="zh-CN" altLang="en-US" sz="2800" b="1" dirty="0">
                <a:solidFill>
                  <a:srgbClr val="0070C0"/>
                </a:solidFill>
                <a:latin typeface="微软雅黑" pitchFamily="34" charset="-122"/>
                <a:ea typeface="微软雅黑" pitchFamily="34" charset="-122"/>
              </a:rPr>
              <a:t>定容加热循环没有定压加热量，定压加热循环没有定容加热量。</a:t>
            </a:r>
            <a:endParaRPr lang="en-US" altLang="zh-CN" sz="2800" b="1" dirty="0">
              <a:solidFill>
                <a:srgbClr val="0070C0"/>
              </a:solidFill>
              <a:latin typeface="微软雅黑" pitchFamily="34" charset="-122"/>
              <a:ea typeface="微软雅黑" pitchFamily="34" charset="-122"/>
              <a:sym typeface="Symbol" pitchFamily="18" charset="2"/>
            </a:endParaRPr>
          </a:p>
          <a:p>
            <a:pPr>
              <a:lnSpc>
                <a:spcPct val="150000"/>
              </a:lnSpc>
              <a:spcBef>
                <a:spcPts val="1200"/>
              </a:spcBef>
            </a:pPr>
            <a:r>
              <a:rPr lang="zh-CN" altLang="en-US" sz="2800" dirty="0">
                <a:latin typeface="微软雅黑" pitchFamily="34" charset="-122"/>
                <a:ea typeface="微软雅黑" pitchFamily="34" charset="-122"/>
                <a:sym typeface="Symbol" pitchFamily="18" charset="2"/>
              </a:rPr>
              <a:t>由上页公式可</a:t>
            </a:r>
            <a:r>
              <a:rPr lang="zh-CN" altLang="en-US" sz="2800" dirty="0">
                <a:latin typeface="微软雅黑" pitchFamily="34" charset="-122"/>
                <a:ea typeface="微软雅黑" pitchFamily="34" charset="-122"/>
              </a:rPr>
              <a:t>知，</a:t>
            </a:r>
            <a:r>
              <a:rPr lang="zh-CN" altLang="en-US" sz="2800" dirty="0">
                <a:solidFill>
                  <a:srgbClr val="FF0000"/>
                </a:solidFill>
                <a:latin typeface="微软雅黑" pitchFamily="34" charset="-122"/>
                <a:ea typeface="微软雅黑" pitchFamily="34" charset="-122"/>
              </a:rPr>
              <a:t>求出理想循环各点的温度后，活塞式内燃机的</a:t>
            </a:r>
            <a:r>
              <a:rPr lang="zh-CN" altLang="en-US" sz="2800" dirty="0">
                <a:solidFill>
                  <a:srgbClr val="FF0000"/>
                </a:solidFill>
                <a:latin typeface="微软雅黑" pitchFamily="34" charset="-122"/>
                <a:ea typeface="微软雅黑" pitchFamily="34" charset="-122"/>
                <a:sym typeface="Symbol" pitchFamily="18" charset="2"/>
              </a:rPr>
              <a:t>吸热量、放热量、循环净功和热效率便很容易计算。</a:t>
            </a:r>
          </a:p>
        </p:txBody>
      </p:sp>
      <p:sp>
        <p:nvSpPr>
          <p:cNvPr id="17" name="TextBox 16"/>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31</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sp>
        <p:nvSpPr>
          <p:cNvPr id="22" name="Rectangle 9"/>
          <p:cNvSpPr>
            <a:spLocks noChangeArrowheads="1"/>
          </p:cNvSpPr>
          <p:nvPr/>
        </p:nvSpPr>
        <p:spPr bwMode="auto">
          <a:xfrm>
            <a:off x="609493" y="1196752"/>
            <a:ext cx="7847119" cy="171822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nSpc>
                <a:spcPct val="130000"/>
              </a:lnSpc>
            </a:pPr>
            <a:r>
              <a:rPr lang="zh-CN" altLang="en-US" sz="2800" dirty="0">
                <a:latin typeface="微软雅黑" pitchFamily="34" charset="-122"/>
                <a:ea typeface="微软雅黑" pitchFamily="34" charset="-122"/>
              </a:rPr>
              <a:t>为分析热效率与循环特性参数之间的关系，推出了以下关系式，把循环热效率表示为循环特性参数的函数。</a:t>
            </a:r>
          </a:p>
        </p:txBody>
      </p:sp>
      <p:sp>
        <p:nvSpPr>
          <p:cNvPr id="3" name="矩形 2"/>
          <p:cNvSpPr/>
          <p:nvPr/>
        </p:nvSpPr>
        <p:spPr>
          <a:xfrm>
            <a:off x="571472" y="3068960"/>
            <a:ext cx="7655881" cy="523220"/>
          </a:xfrm>
          <a:prstGeom prst="rect">
            <a:avLst/>
          </a:prstGeom>
        </p:spPr>
        <p:txBody>
          <a:bodyPr wrap="square">
            <a:spAutoFit/>
          </a:bodyPr>
          <a:lstStyle/>
          <a:p>
            <a:r>
              <a:rPr lang="zh-CN" altLang="en-US" sz="2800" dirty="0">
                <a:solidFill>
                  <a:prstClr val="black"/>
                </a:solidFill>
                <a:latin typeface="微软雅黑" pitchFamily="34" charset="-122"/>
                <a:ea typeface="微软雅黑" pitchFamily="34" charset="-122"/>
              </a:rPr>
              <a:t>对混合加热循环，</a:t>
            </a:r>
            <a:r>
              <a:rPr lang="en-US" altLang="zh-CN" sz="2800" dirty="0">
                <a:solidFill>
                  <a:prstClr val="black"/>
                </a:solidFill>
                <a:latin typeface="微软雅黑" pitchFamily="34" charset="-122"/>
                <a:ea typeface="微软雅黑" pitchFamily="34" charset="-122"/>
              </a:rPr>
              <a:t>1-2</a:t>
            </a:r>
            <a:r>
              <a:rPr lang="zh-CN" altLang="en-US" sz="2800" dirty="0">
                <a:solidFill>
                  <a:prstClr val="black"/>
                </a:solidFill>
                <a:latin typeface="微软雅黑" pitchFamily="34" charset="-122"/>
                <a:ea typeface="微软雅黑" pitchFamily="34" charset="-122"/>
              </a:rPr>
              <a:t>为定熵过程，所以有：</a:t>
            </a:r>
            <a:endParaRPr lang="zh-CN" altLang="en-US" dirty="0"/>
          </a:p>
        </p:txBody>
      </p:sp>
      <p:sp>
        <p:nvSpPr>
          <p:cNvPr id="5" name="Rectangle 3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2846416977"/>
              </p:ext>
            </p:extLst>
          </p:nvPr>
        </p:nvGraphicFramePr>
        <p:xfrm>
          <a:off x="3059832" y="3645024"/>
          <a:ext cx="2716774" cy="981691"/>
        </p:xfrm>
        <a:graphic>
          <a:graphicData uri="http://schemas.openxmlformats.org/presentationml/2006/ole">
            <mc:AlternateContent xmlns:mc="http://schemas.openxmlformats.org/markup-compatibility/2006">
              <mc:Choice xmlns:v="urn:schemas-microsoft-com:vml" Requires="v">
                <p:oleObj spid="_x0000_s86120" name="公式" r:id="rId7" imgW="1409700" imgH="508000" progId="Equation.3">
                  <p:embed/>
                </p:oleObj>
              </mc:Choice>
              <mc:Fallback>
                <p:oleObj name="公式" r:id="rId7" imgW="1409700" imgH="508000" progId="Equation.3">
                  <p:embed/>
                  <p:pic>
                    <p:nvPicPr>
                      <p:cNvPr id="0" name="Object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59832" y="3645024"/>
                        <a:ext cx="2716774" cy="981691"/>
                      </a:xfrm>
                      <a:prstGeom prst="rect">
                        <a:avLst/>
                      </a:prstGeom>
                      <a:noFill/>
                    </p:spPr>
                  </p:pic>
                </p:oleObj>
              </mc:Fallback>
            </mc:AlternateContent>
          </a:graphicData>
        </a:graphic>
      </p:graphicFrame>
      <p:sp>
        <p:nvSpPr>
          <p:cNvPr id="14" name="矩形 13"/>
          <p:cNvSpPr/>
          <p:nvPr/>
        </p:nvSpPr>
        <p:spPr>
          <a:xfrm>
            <a:off x="690356" y="4509120"/>
            <a:ext cx="2914580" cy="738664"/>
          </a:xfrm>
          <a:prstGeom prst="rect">
            <a:avLst/>
          </a:prstGeom>
        </p:spPr>
        <p:txBody>
          <a:bodyPr wrap="none">
            <a:spAutoFit/>
          </a:bodyPr>
          <a:lstStyle/>
          <a:p>
            <a:pPr lvl="0">
              <a:lnSpc>
                <a:spcPct val="150000"/>
              </a:lnSpc>
            </a:pPr>
            <a:r>
              <a:rPr lang="en-US" altLang="zh-CN" sz="2800" dirty="0">
                <a:solidFill>
                  <a:prstClr val="black"/>
                </a:solidFill>
                <a:latin typeface="微软雅黑" pitchFamily="34" charset="-122"/>
                <a:ea typeface="微软雅黑" pitchFamily="34" charset="-122"/>
              </a:rPr>
              <a:t>2-3</a:t>
            </a:r>
            <a:r>
              <a:rPr lang="zh-CN" altLang="en-US" sz="2800" dirty="0">
                <a:solidFill>
                  <a:prstClr val="black"/>
                </a:solidFill>
                <a:latin typeface="微软雅黑" pitchFamily="34" charset="-122"/>
                <a:ea typeface="微软雅黑" pitchFamily="34" charset="-122"/>
              </a:rPr>
              <a:t>为定容过程：</a:t>
            </a:r>
          </a:p>
        </p:txBody>
      </p:sp>
      <p:sp>
        <p:nvSpPr>
          <p:cNvPr id="15" name="Rectangle 3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extLst>
              <p:ext uri="{D42A27DB-BD31-4B8C-83A1-F6EECF244321}">
                <p14:modId xmlns:p14="http://schemas.microsoft.com/office/powerpoint/2010/main" val="3627554388"/>
              </p:ext>
            </p:extLst>
          </p:nvPr>
        </p:nvGraphicFramePr>
        <p:xfrm>
          <a:off x="2987824" y="5182952"/>
          <a:ext cx="3340710" cy="889254"/>
        </p:xfrm>
        <a:graphic>
          <a:graphicData uri="http://schemas.openxmlformats.org/presentationml/2006/ole">
            <mc:AlternateContent xmlns:mc="http://schemas.openxmlformats.org/markup-compatibility/2006">
              <mc:Choice xmlns:v="urn:schemas-microsoft-com:vml" Requires="v">
                <p:oleObj spid="_x0000_s86121" name="公式" r:id="rId9" imgW="1651000" imgH="431800" progId="Equation.3">
                  <p:embed/>
                </p:oleObj>
              </mc:Choice>
              <mc:Fallback>
                <p:oleObj name="公式" r:id="rId9" imgW="1651000" imgH="431800" progId="Equation.3">
                  <p:embed/>
                  <p:pic>
                    <p:nvPicPr>
                      <p:cNvPr id="0"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87824" y="5182952"/>
                        <a:ext cx="3340710" cy="889254"/>
                      </a:xfrm>
                      <a:prstGeom prst="rect">
                        <a:avLst/>
                      </a:prstGeom>
                      <a:noFill/>
                    </p:spPr>
                  </p:pic>
                </p:oleObj>
              </mc:Fallback>
            </mc:AlternateContent>
          </a:graphicData>
        </a:graphic>
      </p:graphicFrame>
      <p:sp>
        <p:nvSpPr>
          <p:cNvPr id="23" name="TextBox 22"/>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prstClr val="black"/>
                </a:solidFill>
                <a:latin typeface="黑体" pitchFamily="49" charset="-122"/>
                <a:ea typeface="黑体" pitchFamily="49" charset="-122"/>
              </a:rPr>
              <a:t>32</a:t>
            </a:r>
            <a:endParaRPr lang="zh-CN" altLang="en-US" sz="2000" b="1" dirty="0">
              <a:solidFill>
                <a:prstClr val="black"/>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sp>
        <p:nvSpPr>
          <p:cNvPr id="3"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906649479"/>
              </p:ext>
            </p:extLst>
          </p:nvPr>
        </p:nvGraphicFramePr>
        <p:xfrm>
          <a:off x="2531958" y="2007424"/>
          <a:ext cx="3031883" cy="784473"/>
        </p:xfrm>
        <a:graphic>
          <a:graphicData uri="http://schemas.openxmlformats.org/presentationml/2006/ole">
            <mc:AlternateContent xmlns:mc="http://schemas.openxmlformats.org/markup-compatibility/2006">
              <mc:Choice xmlns:v="urn:schemas-microsoft-com:vml" Requires="v">
                <p:oleObj spid="_x0000_s93294" name="公式" r:id="rId7" imgW="1701800" imgH="431800" progId="Equation.3">
                  <p:embed/>
                </p:oleObj>
              </mc:Choice>
              <mc:Fallback>
                <p:oleObj name="公式" r:id="rId7" imgW="1701800" imgH="43180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31958" y="2007424"/>
                        <a:ext cx="3031883" cy="784473"/>
                      </a:xfrm>
                      <a:prstGeom prst="rect">
                        <a:avLst/>
                      </a:prstGeom>
                      <a:noFill/>
                    </p:spPr>
                  </p:pic>
                </p:oleObj>
              </mc:Fallback>
            </mc:AlternateContent>
          </a:graphicData>
        </a:graphic>
      </p:graphicFrame>
      <p:sp>
        <p:nvSpPr>
          <p:cNvPr id="30" name="矩形 29"/>
          <p:cNvSpPr/>
          <p:nvPr/>
        </p:nvSpPr>
        <p:spPr>
          <a:xfrm>
            <a:off x="571472" y="1268760"/>
            <a:ext cx="2914580" cy="738664"/>
          </a:xfrm>
          <a:prstGeom prst="rect">
            <a:avLst/>
          </a:prstGeom>
        </p:spPr>
        <p:txBody>
          <a:bodyPr wrap="none">
            <a:spAutoFit/>
          </a:bodyPr>
          <a:lstStyle/>
          <a:p>
            <a:pPr lvl="0">
              <a:lnSpc>
                <a:spcPct val="150000"/>
              </a:lnSpc>
            </a:pPr>
            <a:r>
              <a:rPr lang="en-US" altLang="zh-CN" sz="2800" dirty="0">
                <a:solidFill>
                  <a:prstClr val="black"/>
                </a:solidFill>
                <a:latin typeface="微软雅黑" pitchFamily="34" charset="-122"/>
                <a:ea typeface="微软雅黑" pitchFamily="34" charset="-122"/>
              </a:rPr>
              <a:t>3-4</a:t>
            </a:r>
            <a:r>
              <a:rPr lang="zh-CN" altLang="en-US" sz="2800" dirty="0">
                <a:solidFill>
                  <a:prstClr val="black"/>
                </a:solidFill>
                <a:latin typeface="微软雅黑" pitchFamily="34" charset="-122"/>
                <a:ea typeface="微软雅黑" pitchFamily="34" charset="-122"/>
              </a:rPr>
              <a:t>为定压过程：</a:t>
            </a:r>
          </a:p>
        </p:txBody>
      </p:sp>
      <p:sp>
        <p:nvSpPr>
          <p:cNvPr id="6" name="矩形 5"/>
          <p:cNvSpPr/>
          <p:nvPr/>
        </p:nvSpPr>
        <p:spPr>
          <a:xfrm>
            <a:off x="571472" y="2736503"/>
            <a:ext cx="6952856" cy="738664"/>
          </a:xfrm>
          <a:prstGeom prst="rect">
            <a:avLst/>
          </a:prstGeom>
        </p:spPr>
        <p:txBody>
          <a:bodyPr wrap="square">
            <a:spAutoFit/>
          </a:bodyPr>
          <a:lstStyle/>
          <a:p>
            <a:pPr lvl="0">
              <a:lnSpc>
                <a:spcPct val="150000"/>
              </a:lnSpc>
            </a:pPr>
            <a:r>
              <a:rPr lang="zh-CN" altLang="en-US" sz="2800" dirty="0">
                <a:solidFill>
                  <a:prstClr val="black"/>
                </a:solidFill>
                <a:latin typeface="微软雅黑" pitchFamily="34" charset="-122"/>
                <a:ea typeface="微软雅黑" pitchFamily="34" charset="-122"/>
              </a:rPr>
              <a:t>又由于</a:t>
            </a:r>
            <a:r>
              <a:rPr lang="en-US" altLang="zh-CN" sz="2800" dirty="0">
                <a:solidFill>
                  <a:prstClr val="black"/>
                </a:solidFill>
                <a:latin typeface="微软雅黑" pitchFamily="34" charset="-122"/>
                <a:ea typeface="微软雅黑" pitchFamily="34" charset="-122"/>
              </a:rPr>
              <a:t>1-2</a:t>
            </a:r>
            <a:r>
              <a:rPr lang="zh-CN" altLang="en-US" sz="2800" dirty="0">
                <a:solidFill>
                  <a:prstClr val="black"/>
                </a:solidFill>
                <a:latin typeface="微软雅黑" pitchFamily="34" charset="-122"/>
                <a:ea typeface="微软雅黑" pitchFamily="34" charset="-122"/>
              </a:rPr>
              <a:t>和</a:t>
            </a:r>
            <a:r>
              <a:rPr lang="en-US" altLang="zh-CN" sz="2800" dirty="0">
                <a:solidFill>
                  <a:prstClr val="black"/>
                </a:solidFill>
                <a:latin typeface="微软雅黑" pitchFamily="34" charset="-122"/>
                <a:ea typeface="微软雅黑" pitchFamily="34" charset="-122"/>
              </a:rPr>
              <a:t>4-5</a:t>
            </a:r>
            <a:r>
              <a:rPr lang="zh-CN" altLang="en-US" sz="2800" dirty="0">
                <a:solidFill>
                  <a:prstClr val="black"/>
                </a:solidFill>
                <a:latin typeface="微软雅黑" pitchFamily="34" charset="-122"/>
                <a:ea typeface="微软雅黑" pitchFamily="34" charset="-122"/>
              </a:rPr>
              <a:t>过程均为定熵过程，有</a:t>
            </a:r>
          </a:p>
        </p:txBody>
      </p:sp>
      <p:sp>
        <p:nvSpPr>
          <p:cNvPr id="1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p:cNvGraphicFramePr>
            <a:graphicFrameLocks noChangeAspect="1"/>
          </p:cNvGraphicFramePr>
          <p:nvPr>
            <p:extLst>
              <p:ext uri="{D42A27DB-BD31-4B8C-83A1-F6EECF244321}">
                <p14:modId xmlns:p14="http://schemas.microsoft.com/office/powerpoint/2010/main" val="2418873847"/>
              </p:ext>
            </p:extLst>
          </p:nvPr>
        </p:nvGraphicFramePr>
        <p:xfrm>
          <a:off x="1683601" y="3475167"/>
          <a:ext cx="5048639" cy="569590"/>
        </p:xfrm>
        <a:graphic>
          <a:graphicData uri="http://schemas.openxmlformats.org/presentationml/2006/ole">
            <mc:AlternateContent xmlns:mc="http://schemas.openxmlformats.org/markup-compatibility/2006">
              <mc:Choice xmlns:v="urn:schemas-microsoft-com:vml" Requires="v">
                <p:oleObj spid="_x0000_s93295" name="公式" r:id="rId9" imgW="2324100" imgH="254000" progId="Equation.3">
                  <p:embed/>
                </p:oleObj>
              </mc:Choice>
              <mc:Fallback>
                <p:oleObj name="公式" r:id="rId9" imgW="2324100" imgH="254000"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83601" y="3475167"/>
                        <a:ext cx="5048639" cy="569590"/>
                      </a:xfrm>
                      <a:prstGeom prst="rect">
                        <a:avLst/>
                      </a:prstGeom>
                      <a:noFill/>
                    </p:spPr>
                  </p:pic>
                </p:oleObj>
              </mc:Fallback>
            </mc:AlternateContent>
          </a:graphicData>
        </a:graphic>
      </p:graphicFrame>
      <p:sp>
        <p:nvSpPr>
          <p:cNvPr id="16" name="矩形 15"/>
          <p:cNvSpPr/>
          <p:nvPr/>
        </p:nvSpPr>
        <p:spPr>
          <a:xfrm>
            <a:off x="571472" y="4221088"/>
            <a:ext cx="7947698" cy="523220"/>
          </a:xfrm>
          <a:prstGeom prst="rect">
            <a:avLst/>
          </a:prstGeom>
        </p:spPr>
        <p:txBody>
          <a:bodyPr wrap="square">
            <a:spAutoFit/>
          </a:bodyPr>
          <a:lstStyle/>
          <a:p>
            <a:pPr algn="just">
              <a:spcAft>
                <a:spcPts val="0"/>
              </a:spcAft>
            </a:pPr>
            <a:r>
              <a:rPr lang="zh-CN" altLang="zh-CN" sz="2800" kern="500" dirty="0">
                <a:latin typeface="微软雅黑" panose="020B0503020204020204" pitchFamily="34" charset="-122"/>
                <a:ea typeface="微软雅黑" panose="020B0503020204020204" pitchFamily="34" charset="-122"/>
              </a:rPr>
              <a:t>两式相除，并注意到</a:t>
            </a:r>
            <a:r>
              <a:rPr lang="en-US" altLang="zh-CN" sz="2800" i="1" kern="500" dirty="0">
                <a:latin typeface="Times New Roman"/>
                <a:ea typeface="华文宋体"/>
              </a:rPr>
              <a:t>v</a:t>
            </a:r>
            <a:r>
              <a:rPr lang="en-US" altLang="zh-CN" sz="2800" kern="500" baseline="-25000" dirty="0">
                <a:latin typeface="Times New Roman"/>
                <a:ea typeface="华文宋体"/>
              </a:rPr>
              <a:t>1</a:t>
            </a:r>
            <a:r>
              <a:rPr lang="en-US" altLang="zh-CN" sz="2800" kern="500" dirty="0">
                <a:latin typeface="Times New Roman"/>
                <a:ea typeface="华文宋体"/>
              </a:rPr>
              <a:t>=</a:t>
            </a:r>
            <a:r>
              <a:rPr lang="en-US" altLang="zh-CN" sz="2800" i="1" kern="500" dirty="0">
                <a:latin typeface="Times New Roman"/>
                <a:ea typeface="华文宋体"/>
              </a:rPr>
              <a:t>v</a:t>
            </a:r>
            <a:r>
              <a:rPr lang="en-US" altLang="zh-CN" sz="2800" kern="500" baseline="-25000" dirty="0">
                <a:latin typeface="Times New Roman"/>
                <a:ea typeface="华文宋体"/>
              </a:rPr>
              <a:t>5</a:t>
            </a:r>
            <a:r>
              <a:rPr lang="zh-CN" altLang="zh-CN" sz="2800" kern="500" baseline="-25000" dirty="0">
                <a:latin typeface="Times New Roman"/>
                <a:ea typeface="华文宋体"/>
              </a:rPr>
              <a:t>、</a:t>
            </a:r>
            <a:r>
              <a:rPr lang="en-US" altLang="zh-CN" sz="2800" i="1" kern="500" dirty="0">
                <a:latin typeface="Times New Roman"/>
                <a:ea typeface="华文宋体"/>
              </a:rPr>
              <a:t> v</a:t>
            </a:r>
            <a:r>
              <a:rPr lang="en-US" altLang="zh-CN" sz="2800" kern="500" baseline="-25000" dirty="0">
                <a:latin typeface="Times New Roman"/>
                <a:ea typeface="华文宋体"/>
              </a:rPr>
              <a:t>2</a:t>
            </a:r>
            <a:r>
              <a:rPr lang="en-US" altLang="zh-CN" sz="2800" kern="500" dirty="0">
                <a:latin typeface="Times New Roman"/>
                <a:ea typeface="华文宋体"/>
              </a:rPr>
              <a:t>=</a:t>
            </a:r>
            <a:r>
              <a:rPr lang="en-US" altLang="zh-CN" sz="2800" i="1" kern="500" dirty="0">
                <a:latin typeface="Times New Roman"/>
                <a:ea typeface="华文宋体"/>
              </a:rPr>
              <a:t>v</a:t>
            </a:r>
            <a:r>
              <a:rPr lang="en-US" altLang="zh-CN" sz="2800" kern="500" baseline="-25000" dirty="0">
                <a:latin typeface="Times New Roman"/>
                <a:ea typeface="华文宋体"/>
              </a:rPr>
              <a:t>3</a:t>
            </a:r>
            <a:r>
              <a:rPr lang="zh-CN" altLang="zh-CN" sz="2800" kern="500" baseline="-25000" dirty="0">
                <a:latin typeface="Times New Roman"/>
                <a:ea typeface="华文宋体"/>
              </a:rPr>
              <a:t>、</a:t>
            </a:r>
            <a:r>
              <a:rPr lang="zh-CN" altLang="zh-CN" sz="2800" i="1" kern="500" dirty="0">
                <a:latin typeface="Times New Roman"/>
                <a:ea typeface="华文宋体"/>
              </a:rPr>
              <a:t> </a:t>
            </a:r>
            <a:r>
              <a:rPr lang="en-US" altLang="zh-CN" sz="2800" i="1" kern="500" dirty="0">
                <a:latin typeface="Times New Roman"/>
                <a:ea typeface="华文宋体"/>
              </a:rPr>
              <a:t>p</a:t>
            </a:r>
            <a:r>
              <a:rPr lang="en-US" altLang="zh-CN" sz="2800" kern="500" baseline="-25000" dirty="0">
                <a:latin typeface="Times New Roman"/>
                <a:ea typeface="华文宋体"/>
              </a:rPr>
              <a:t>3</a:t>
            </a:r>
            <a:r>
              <a:rPr lang="en-US" altLang="zh-CN" sz="2800" kern="500" dirty="0">
                <a:latin typeface="Times New Roman"/>
                <a:ea typeface="华文宋体"/>
              </a:rPr>
              <a:t>=</a:t>
            </a:r>
            <a:r>
              <a:rPr lang="en-US" altLang="zh-CN" sz="2800" i="1" kern="500" dirty="0">
                <a:latin typeface="Times New Roman"/>
                <a:ea typeface="华文宋体"/>
              </a:rPr>
              <a:t>p</a:t>
            </a:r>
            <a:r>
              <a:rPr lang="en-US" altLang="zh-CN" sz="2800" kern="500" baseline="-25000" dirty="0">
                <a:latin typeface="Times New Roman"/>
                <a:ea typeface="华文宋体"/>
              </a:rPr>
              <a:t>4</a:t>
            </a:r>
            <a:r>
              <a:rPr lang="zh-CN" altLang="zh-CN" sz="2800" kern="0" dirty="0">
                <a:latin typeface="Times New Roman"/>
                <a:ea typeface="华文宋体"/>
                <a:cs typeface="宋体"/>
              </a:rPr>
              <a:t>，</a:t>
            </a:r>
            <a:r>
              <a:rPr lang="zh-CN" altLang="zh-CN" sz="2800" kern="0" dirty="0">
                <a:latin typeface="微软雅黑" panose="020B0503020204020204" pitchFamily="34" charset="-122"/>
                <a:ea typeface="微软雅黑" panose="020B0503020204020204" pitchFamily="34" charset="-122"/>
                <a:cs typeface="宋体"/>
              </a:rPr>
              <a:t>可推得</a:t>
            </a:r>
            <a:endParaRPr lang="zh-CN" altLang="zh-CN" sz="2800" kern="500" dirty="0">
              <a:effectLst/>
              <a:latin typeface="微软雅黑" panose="020B0503020204020204" pitchFamily="34" charset="-122"/>
              <a:ea typeface="微软雅黑" panose="020B0503020204020204" pitchFamily="34" charset="-122"/>
            </a:endParaRPr>
          </a:p>
        </p:txBody>
      </p:sp>
      <p:sp>
        <p:nvSpPr>
          <p:cNvPr id="17"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 name="对象 17"/>
          <p:cNvGraphicFramePr>
            <a:graphicFrameLocks noChangeAspect="1"/>
          </p:cNvGraphicFramePr>
          <p:nvPr>
            <p:extLst>
              <p:ext uri="{D42A27DB-BD31-4B8C-83A1-F6EECF244321}">
                <p14:modId xmlns:p14="http://schemas.microsoft.com/office/powerpoint/2010/main" val="3522614483"/>
              </p:ext>
            </p:extLst>
          </p:nvPr>
        </p:nvGraphicFramePr>
        <p:xfrm>
          <a:off x="2028762" y="4869160"/>
          <a:ext cx="4487093" cy="1083961"/>
        </p:xfrm>
        <a:graphic>
          <a:graphicData uri="http://schemas.openxmlformats.org/presentationml/2006/ole">
            <mc:AlternateContent xmlns:mc="http://schemas.openxmlformats.org/markup-compatibility/2006">
              <mc:Choice xmlns:v="urn:schemas-microsoft-com:vml" Requires="v">
                <p:oleObj spid="_x0000_s93296" name="公式" r:id="rId11" imgW="2120900" imgH="508000" progId="Equation.3">
                  <p:embed/>
                </p:oleObj>
              </mc:Choice>
              <mc:Fallback>
                <p:oleObj name="公式" r:id="rId11" imgW="2120900" imgH="5080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28762" y="4869160"/>
                        <a:ext cx="4487093" cy="1083961"/>
                      </a:xfrm>
                      <a:prstGeom prst="rect">
                        <a:avLst/>
                      </a:prstGeom>
                      <a:noFill/>
                    </p:spPr>
                  </p:pic>
                </p:oleObj>
              </mc:Fallback>
            </mc:AlternateContent>
          </a:graphicData>
        </a:graphic>
      </p:graphicFrame>
      <p:sp>
        <p:nvSpPr>
          <p:cNvPr id="25" name="TextBox 24"/>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extLst>
      <p:ext uri="{BB962C8B-B14F-4D97-AF65-F5344CB8AC3E}">
        <p14:creationId xmlns:p14="http://schemas.microsoft.com/office/powerpoint/2010/main" val="2869735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prstClr val="black"/>
                </a:solidFill>
                <a:latin typeface="黑体" pitchFamily="49" charset="-122"/>
                <a:ea typeface="黑体" pitchFamily="49" charset="-122"/>
              </a:rPr>
              <a:t>33</a:t>
            </a:r>
            <a:endParaRPr lang="zh-CN" altLang="en-US" sz="2000" b="1" dirty="0">
              <a:solidFill>
                <a:prstClr val="black"/>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sp>
        <p:nvSpPr>
          <p:cNvPr id="3"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
        <p:nvSpPr>
          <p:cNvPr id="30" name="矩形 29"/>
          <p:cNvSpPr/>
          <p:nvPr/>
        </p:nvSpPr>
        <p:spPr>
          <a:xfrm>
            <a:off x="571472" y="1196752"/>
            <a:ext cx="3991798" cy="738664"/>
          </a:xfrm>
          <a:prstGeom prst="rect">
            <a:avLst/>
          </a:prstGeom>
        </p:spPr>
        <p:txBody>
          <a:bodyPr wrap="none">
            <a:spAutoFit/>
          </a:bodyPr>
          <a:lstStyle/>
          <a:p>
            <a:pPr>
              <a:lnSpc>
                <a:spcPct val="150000"/>
              </a:lnSpc>
            </a:pPr>
            <a:r>
              <a:rPr lang="en-US" altLang="zh-CN" sz="2800" dirty="0">
                <a:solidFill>
                  <a:prstClr val="black"/>
                </a:solidFill>
                <a:latin typeface="微软雅黑" pitchFamily="34" charset="-122"/>
                <a:ea typeface="微软雅黑" pitchFamily="34" charset="-122"/>
              </a:rPr>
              <a:t>5-1</a:t>
            </a:r>
            <a:r>
              <a:rPr lang="zh-CN" altLang="en-US" sz="2800" dirty="0">
                <a:solidFill>
                  <a:prstClr val="black"/>
                </a:solidFill>
                <a:latin typeface="微软雅黑" pitchFamily="34" charset="-122"/>
                <a:ea typeface="微软雅黑" pitchFamily="34" charset="-122"/>
              </a:rPr>
              <a:t>为定容过程，所以：</a:t>
            </a:r>
          </a:p>
        </p:txBody>
      </p:sp>
      <p:sp>
        <p:nvSpPr>
          <p:cNvPr id="6" name="矩形 5"/>
          <p:cNvSpPr/>
          <p:nvPr/>
        </p:nvSpPr>
        <p:spPr>
          <a:xfrm>
            <a:off x="657172" y="2852936"/>
            <a:ext cx="7299204" cy="738664"/>
          </a:xfrm>
          <a:prstGeom prst="rect">
            <a:avLst/>
          </a:prstGeom>
        </p:spPr>
        <p:txBody>
          <a:bodyPr wrap="square">
            <a:spAutoFit/>
          </a:bodyPr>
          <a:lstStyle/>
          <a:p>
            <a:pPr>
              <a:lnSpc>
                <a:spcPct val="150000"/>
              </a:lnSpc>
            </a:pPr>
            <a:r>
              <a:rPr lang="zh-CN" altLang="en-US" sz="2800" dirty="0">
                <a:solidFill>
                  <a:prstClr val="black"/>
                </a:solidFill>
                <a:latin typeface="微软雅黑" pitchFamily="34" charset="-122"/>
                <a:ea typeface="微软雅黑" pitchFamily="34" charset="-122"/>
              </a:rPr>
              <a:t>将以上各点的温度值代入以下计算热效率公式：</a:t>
            </a:r>
          </a:p>
        </p:txBody>
      </p:sp>
      <p:sp>
        <p:nvSpPr>
          <p:cNvPr id="1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
        <p:nvSpPr>
          <p:cNvPr id="17"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
        <p:nvSpPr>
          <p:cNvPr id="1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0" name="对象 19"/>
          <p:cNvGraphicFramePr>
            <a:graphicFrameLocks noChangeAspect="1"/>
          </p:cNvGraphicFramePr>
          <p:nvPr>
            <p:extLst>
              <p:ext uri="{D42A27DB-BD31-4B8C-83A1-F6EECF244321}">
                <p14:modId xmlns:p14="http://schemas.microsoft.com/office/powerpoint/2010/main" val="333363521"/>
              </p:ext>
            </p:extLst>
          </p:nvPr>
        </p:nvGraphicFramePr>
        <p:xfrm>
          <a:off x="2728913" y="1928813"/>
          <a:ext cx="2130425" cy="804862"/>
        </p:xfrm>
        <a:graphic>
          <a:graphicData uri="http://schemas.openxmlformats.org/presentationml/2006/ole">
            <mc:AlternateContent xmlns:mc="http://schemas.openxmlformats.org/markup-compatibility/2006">
              <mc:Choice xmlns:v="urn:schemas-microsoft-com:vml" Requires="v">
                <p:oleObj spid="_x0000_s96331" name="公式" r:id="rId7" imgW="1167893" imgH="431613" progId="Equation.3">
                  <p:embed/>
                </p:oleObj>
              </mc:Choice>
              <mc:Fallback>
                <p:oleObj name="公式" r:id="rId7" imgW="1167893" imgH="431613"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28913" y="1928813"/>
                        <a:ext cx="2130425" cy="804862"/>
                      </a:xfrm>
                      <a:prstGeom prst="rect">
                        <a:avLst/>
                      </a:prstGeom>
                      <a:noFill/>
                    </p:spPr>
                  </p:pic>
                </p:oleObj>
              </mc:Fallback>
            </mc:AlternateContent>
          </a:graphicData>
        </a:graphic>
      </p:graphicFrame>
      <p:sp>
        <p:nvSpPr>
          <p:cNvPr id="2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2" name="对象 21"/>
          <p:cNvGraphicFramePr>
            <a:graphicFrameLocks noChangeAspect="1"/>
          </p:cNvGraphicFramePr>
          <p:nvPr>
            <p:extLst>
              <p:ext uri="{D42A27DB-BD31-4B8C-83A1-F6EECF244321}">
                <p14:modId xmlns:p14="http://schemas.microsoft.com/office/powerpoint/2010/main" val="4099942621"/>
              </p:ext>
            </p:extLst>
          </p:nvPr>
        </p:nvGraphicFramePr>
        <p:xfrm>
          <a:off x="2065148" y="3717032"/>
          <a:ext cx="4996244" cy="2016224"/>
        </p:xfrm>
        <a:graphic>
          <a:graphicData uri="http://schemas.openxmlformats.org/presentationml/2006/ole">
            <mc:AlternateContent xmlns:mc="http://schemas.openxmlformats.org/markup-compatibility/2006">
              <mc:Choice xmlns:v="urn:schemas-microsoft-com:vml" Requires="v">
                <p:oleObj spid="_x0000_s96332" name="公式" r:id="rId9" imgW="1790640" imgH="711000" progId="Equation.3">
                  <p:embed/>
                </p:oleObj>
              </mc:Choice>
              <mc:Fallback>
                <p:oleObj name="公式" r:id="rId9" imgW="1790640" imgH="711000" progId="Equation.3">
                  <p:embed/>
                  <p:pic>
                    <p:nvPicPr>
                      <p:cNvPr id="0" name="Object 3"/>
                      <p:cNvPicPr>
                        <a:picLocks noChangeAspect="1" noChangeArrowheads="1"/>
                      </p:cNvPicPr>
                      <p:nvPr/>
                    </p:nvPicPr>
                    <p:blipFill>
                      <a:blip r:embed="rId10"/>
                      <a:srcRect/>
                      <a:stretch>
                        <a:fillRect/>
                      </a:stretch>
                    </p:blipFill>
                    <p:spPr bwMode="auto">
                      <a:xfrm>
                        <a:off x="2065148" y="3717032"/>
                        <a:ext cx="4996244" cy="2016224"/>
                      </a:xfrm>
                      <a:prstGeom prst="rect">
                        <a:avLst/>
                      </a:prstGeom>
                      <a:noFill/>
                    </p:spPr>
                  </p:pic>
                </p:oleObj>
              </mc:Fallback>
            </mc:AlternateContent>
          </a:graphicData>
        </a:graphic>
      </p:graphicFrame>
      <p:sp>
        <p:nvSpPr>
          <p:cNvPr id="25" name="TextBox 24"/>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extLst>
      <p:ext uri="{BB962C8B-B14F-4D97-AF65-F5344CB8AC3E}">
        <p14:creationId xmlns:p14="http://schemas.microsoft.com/office/powerpoint/2010/main" val="2792158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prstClr val="black"/>
                </a:solidFill>
                <a:latin typeface="黑体" pitchFamily="49" charset="-122"/>
                <a:ea typeface="黑体" pitchFamily="49" charset="-122"/>
              </a:rPr>
              <a:t>34</a:t>
            </a:r>
            <a:endParaRPr lang="zh-CN" altLang="en-US" sz="2000" b="1" dirty="0">
              <a:solidFill>
                <a:prstClr val="black"/>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sp>
        <p:nvSpPr>
          <p:cNvPr id="3"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
        <p:nvSpPr>
          <p:cNvPr id="30" name="矩形 29"/>
          <p:cNvSpPr/>
          <p:nvPr/>
        </p:nvSpPr>
        <p:spPr>
          <a:xfrm>
            <a:off x="605096" y="1052736"/>
            <a:ext cx="1620957" cy="662554"/>
          </a:xfrm>
          <a:prstGeom prst="rect">
            <a:avLst/>
          </a:prstGeom>
        </p:spPr>
        <p:txBody>
          <a:bodyPr wrap="none">
            <a:spAutoFit/>
          </a:bodyPr>
          <a:lstStyle/>
          <a:p>
            <a:pPr>
              <a:lnSpc>
                <a:spcPct val="150000"/>
              </a:lnSpc>
            </a:pPr>
            <a:r>
              <a:rPr lang="zh-CN" altLang="en-US" sz="2800" dirty="0">
                <a:solidFill>
                  <a:prstClr val="black"/>
                </a:solidFill>
                <a:latin typeface="微软雅黑" pitchFamily="34" charset="-122"/>
                <a:ea typeface="微软雅黑" pitchFamily="34" charset="-122"/>
              </a:rPr>
              <a:t>整理得：</a:t>
            </a:r>
          </a:p>
        </p:txBody>
      </p:sp>
      <p:sp>
        <p:nvSpPr>
          <p:cNvPr id="6" name="矩形 5"/>
          <p:cNvSpPr/>
          <p:nvPr/>
        </p:nvSpPr>
        <p:spPr>
          <a:xfrm>
            <a:off x="605096" y="2708918"/>
            <a:ext cx="7816952" cy="1384995"/>
          </a:xfrm>
          <a:prstGeom prst="rect">
            <a:avLst/>
          </a:prstGeom>
        </p:spPr>
        <p:txBody>
          <a:bodyPr wrap="square">
            <a:spAutoFit/>
          </a:bodyPr>
          <a:lstStyle/>
          <a:p>
            <a:pPr>
              <a:lnSpc>
                <a:spcPct val="150000"/>
              </a:lnSpc>
            </a:pPr>
            <a:r>
              <a:rPr lang="zh-CN" altLang="en-US" sz="2800" dirty="0">
                <a:solidFill>
                  <a:prstClr val="black"/>
                </a:solidFill>
                <a:latin typeface="微软雅黑" pitchFamily="34" charset="-122"/>
                <a:ea typeface="微软雅黑" pitchFamily="34" charset="-122"/>
              </a:rPr>
              <a:t>用类似的方法，可推得定容加热和定压加热循环热效率与循环特性参数之间的关系式为：</a:t>
            </a:r>
          </a:p>
        </p:txBody>
      </p:sp>
      <p:sp>
        <p:nvSpPr>
          <p:cNvPr id="14"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
        <p:nvSpPr>
          <p:cNvPr id="17"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
        <p:nvSpPr>
          <p:cNvPr id="19"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
        <p:nvSpPr>
          <p:cNvPr id="21"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p:cNvGraphicFramePr>
            <a:graphicFrameLocks noChangeAspect="1"/>
          </p:cNvGraphicFramePr>
          <p:nvPr>
            <p:extLst>
              <p:ext uri="{D42A27DB-BD31-4B8C-83A1-F6EECF244321}">
                <p14:modId xmlns:p14="http://schemas.microsoft.com/office/powerpoint/2010/main" val="2849479965"/>
              </p:ext>
            </p:extLst>
          </p:nvPr>
        </p:nvGraphicFramePr>
        <p:xfrm>
          <a:off x="2506054" y="1715290"/>
          <a:ext cx="3666756" cy="849614"/>
        </p:xfrm>
        <a:graphic>
          <a:graphicData uri="http://schemas.openxmlformats.org/presentationml/2006/ole">
            <mc:AlternateContent xmlns:mc="http://schemas.openxmlformats.org/markup-compatibility/2006">
              <mc:Choice xmlns:v="urn:schemas-microsoft-com:vml" Requires="v">
                <p:oleObj spid="_x0000_s97389" name="公式" r:id="rId7" imgW="1954951" imgH="444307" progId="Equation.3">
                  <p:embed/>
                </p:oleObj>
              </mc:Choice>
              <mc:Fallback>
                <p:oleObj name="公式" r:id="rId7" imgW="1954951" imgH="444307"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6054" y="1715290"/>
                        <a:ext cx="3666756" cy="849614"/>
                      </a:xfrm>
                      <a:prstGeom prst="rect">
                        <a:avLst/>
                      </a:prstGeom>
                      <a:solidFill>
                        <a:schemeClr val="accent4">
                          <a:lumMod val="40000"/>
                          <a:lumOff val="60000"/>
                        </a:schemeClr>
                      </a:solidFill>
                    </p:spPr>
                  </p:pic>
                </p:oleObj>
              </mc:Fallback>
            </mc:AlternateContent>
          </a:graphicData>
        </a:graphic>
      </p:graphicFrame>
      <p:sp>
        <p:nvSpPr>
          <p:cNvPr id="16" name="矩形 15"/>
          <p:cNvSpPr/>
          <p:nvPr/>
        </p:nvSpPr>
        <p:spPr>
          <a:xfrm>
            <a:off x="761125" y="4293096"/>
            <a:ext cx="2425664" cy="523220"/>
          </a:xfrm>
          <a:prstGeom prst="rect">
            <a:avLst/>
          </a:prstGeom>
        </p:spPr>
        <p:txBody>
          <a:bodyPr wrap="none">
            <a:spAutoFit/>
          </a:bodyPr>
          <a:lstStyle/>
          <a:p>
            <a:r>
              <a:rPr lang="zh-CN" altLang="en-US" sz="2800" dirty="0">
                <a:solidFill>
                  <a:prstClr val="black"/>
                </a:solidFill>
                <a:latin typeface="微软雅黑" pitchFamily="34" charset="-122"/>
                <a:ea typeface="微软雅黑" pitchFamily="34" charset="-122"/>
              </a:rPr>
              <a:t>定容加热循环</a:t>
            </a:r>
            <a:r>
              <a:rPr lang="en-US" altLang="zh-CN" sz="2800" dirty="0">
                <a:solidFill>
                  <a:prstClr val="black"/>
                </a:solidFill>
                <a:latin typeface="微软雅黑" pitchFamily="34" charset="-122"/>
                <a:ea typeface="微软雅黑" pitchFamily="34" charset="-122"/>
              </a:rPr>
              <a:t>:</a:t>
            </a:r>
            <a:endParaRPr lang="zh-CN" altLang="en-US" dirty="0"/>
          </a:p>
        </p:txBody>
      </p:sp>
      <p:sp>
        <p:nvSpPr>
          <p:cNvPr id="18" name="矩形 17"/>
          <p:cNvSpPr/>
          <p:nvPr/>
        </p:nvSpPr>
        <p:spPr>
          <a:xfrm>
            <a:off x="769162" y="5229200"/>
            <a:ext cx="2425664" cy="523220"/>
          </a:xfrm>
          <a:prstGeom prst="rect">
            <a:avLst/>
          </a:prstGeom>
        </p:spPr>
        <p:txBody>
          <a:bodyPr wrap="none">
            <a:spAutoFit/>
          </a:bodyPr>
          <a:lstStyle/>
          <a:p>
            <a:r>
              <a:rPr lang="zh-CN" altLang="en-US" sz="2800" dirty="0">
                <a:solidFill>
                  <a:prstClr val="black"/>
                </a:solidFill>
                <a:latin typeface="微软雅黑" pitchFamily="34" charset="-122"/>
                <a:ea typeface="微软雅黑" pitchFamily="34" charset="-122"/>
              </a:rPr>
              <a:t>定压加热循环</a:t>
            </a:r>
            <a:r>
              <a:rPr lang="en-US" altLang="zh-CN" sz="2800" dirty="0">
                <a:solidFill>
                  <a:prstClr val="black"/>
                </a:solidFill>
                <a:latin typeface="微软雅黑" pitchFamily="34" charset="-122"/>
                <a:ea typeface="微软雅黑" pitchFamily="34" charset="-122"/>
              </a:rPr>
              <a:t>:</a:t>
            </a:r>
            <a:endParaRPr lang="zh-CN" altLang="en-US" dirty="0"/>
          </a:p>
        </p:txBody>
      </p:sp>
      <p:sp>
        <p:nvSpPr>
          <p:cNvPr id="23"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4" name="对象 23"/>
          <p:cNvGraphicFramePr>
            <a:graphicFrameLocks noChangeAspect="1"/>
          </p:cNvGraphicFramePr>
          <p:nvPr>
            <p:extLst>
              <p:ext uri="{D42A27DB-BD31-4B8C-83A1-F6EECF244321}">
                <p14:modId xmlns:p14="http://schemas.microsoft.com/office/powerpoint/2010/main" val="243142388"/>
              </p:ext>
            </p:extLst>
          </p:nvPr>
        </p:nvGraphicFramePr>
        <p:xfrm>
          <a:off x="3649431" y="5102029"/>
          <a:ext cx="2168989" cy="777562"/>
        </p:xfrm>
        <a:graphic>
          <a:graphicData uri="http://schemas.openxmlformats.org/presentationml/2006/ole">
            <mc:AlternateContent xmlns:mc="http://schemas.openxmlformats.org/markup-compatibility/2006">
              <mc:Choice xmlns:v="urn:schemas-microsoft-com:vml" Requires="v">
                <p:oleObj spid="_x0000_s97390" name="公式" r:id="rId9" imgW="1256755" imgH="444307" progId="Equation.3">
                  <p:embed/>
                </p:oleObj>
              </mc:Choice>
              <mc:Fallback>
                <p:oleObj name="公式" r:id="rId9" imgW="1256755" imgH="444307"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49431" y="5102029"/>
                        <a:ext cx="2168989" cy="777562"/>
                      </a:xfrm>
                      <a:prstGeom prst="rect">
                        <a:avLst/>
                      </a:prstGeom>
                      <a:solidFill>
                        <a:schemeClr val="accent6">
                          <a:lumMod val="40000"/>
                          <a:lumOff val="60000"/>
                        </a:schemeClr>
                      </a:solidFill>
                    </p:spPr>
                  </p:pic>
                </p:oleObj>
              </mc:Fallback>
            </mc:AlternateContent>
          </a:graphicData>
        </a:graphic>
      </p:graphicFrame>
      <p:sp>
        <p:nvSpPr>
          <p:cNvPr id="25"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6" name="对象 25"/>
          <p:cNvGraphicFramePr>
            <a:graphicFrameLocks noChangeAspect="1"/>
          </p:cNvGraphicFramePr>
          <p:nvPr>
            <p:extLst>
              <p:ext uri="{D42A27DB-BD31-4B8C-83A1-F6EECF244321}">
                <p14:modId xmlns:p14="http://schemas.microsoft.com/office/powerpoint/2010/main" val="4286044159"/>
              </p:ext>
            </p:extLst>
          </p:nvPr>
        </p:nvGraphicFramePr>
        <p:xfrm>
          <a:off x="3779912" y="4155362"/>
          <a:ext cx="1512168" cy="788031"/>
        </p:xfrm>
        <a:graphic>
          <a:graphicData uri="http://schemas.openxmlformats.org/presentationml/2006/ole">
            <mc:AlternateContent xmlns:mc="http://schemas.openxmlformats.org/markup-compatibility/2006">
              <mc:Choice xmlns:v="urn:schemas-microsoft-com:vml" Requires="v">
                <p:oleObj spid="_x0000_s97391" r:id="rId11" imgW="672808" imgH="355446" progId="Equation.DSMT4">
                  <p:embed/>
                </p:oleObj>
              </mc:Choice>
              <mc:Fallback>
                <p:oleObj r:id="rId11" imgW="672808" imgH="355446"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79912" y="4155362"/>
                        <a:ext cx="1512168" cy="788031"/>
                      </a:xfrm>
                      <a:prstGeom prst="rect">
                        <a:avLst/>
                      </a:prstGeom>
                      <a:solidFill>
                        <a:schemeClr val="accent1">
                          <a:lumMod val="40000"/>
                          <a:lumOff val="60000"/>
                        </a:schemeClr>
                      </a:solidFill>
                    </p:spPr>
                  </p:pic>
                </p:oleObj>
              </mc:Fallback>
            </mc:AlternateContent>
          </a:graphicData>
        </a:graphic>
      </p:graphicFrame>
      <p:sp>
        <p:nvSpPr>
          <p:cNvPr id="31" name="TextBox 30"/>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extLst>
      <p:ext uri="{BB962C8B-B14F-4D97-AF65-F5344CB8AC3E}">
        <p14:creationId xmlns:p14="http://schemas.microsoft.com/office/powerpoint/2010/main" val="1690682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6" grpId="0"/>
      <p:bldP spid="1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prstClr val="black"/>
                </a:solidFill>
                <a:latin typeface="黑体" pitchFamily="49" charset="-122"/>
                <a:ea typeface="黑体" pitchFamily="49" charset="-122"/>
              </a:rPr>
              <a:t>35</a:t>
            </a:r>
            <a:endParaRPr lang="zh-CN" altLang="en-US" sz="2000" b="1" dirty="0">
              <a:solidFill>
                <a:prstClr val="black"/>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graphicFrame>
        <p:nvGraphicFramePr>
          <p:cNvPr id="35" name="Object 11"/>
          <p:cNvGraphicFramePr>
            <a:graphicFrameLocks noChangeAspect="1"/>
          </p:cNvGraphicFramePr>
          <p:nvPr>
            <p:extLst>
              <p:ext uri="{D42A27DB-BD31-4B8C-83A1-F6EECF244321}">
                <p14:modId xmlns:p14="http://schemas.microsoft.com/office/powerpoint/2010/main" val="1672751579"/>
              </p:ext>
            </p:extLst>
          </p:nvPr>
        </p:nvGraphicFramePr>
        <p:xfrm>
          <a:off x="2601573" y="4581872"/>
          <a:ext cx="2970559" cy="1439416"/>
        </p:xfrm>
        <a:graphic>
          <a:graphicData uri="http://schemas.openxmlformats.org/presentationml/2006/ole">
            <mc:AlternateContent xmlns:mc="http://schemas.openxmlformats.org/markup-compatibility/2006">
              <mc:Choice xmlns:v="urn:schemas-microsoft-com:vml" Requires="v">
                <p:oleObj spid="_x0000_s94258" name="公式" r:id="rId7" imgW="838080" imgH="406080" progId="Equation.3">
                  <p:embed/>
                </p:oleObj>
              </mc:Choice>
              <mc:Fallback>
                <p:oleObj name="公式" r:id="rId7" imgW="838080" imgH="406080" progId="Equation.3">
                  <p:embed/>
                  <p:pic>
                    <p:nvPicPr>
                      <p:cNvPr id="0" name=""/>
                      <p:cNvPicPr>
                        <a:picLocks noChangeAspect="1" noChangeArrowheads="1"/>
                      </p:cNvPicPr>
                      <p:nvPr/>
                    </p:nvPicPr>
                    <p:blipFill>
                      <a:blip r:embed="rId8"/>
                      <a:srcRect/>
                      <a:stretch>
                        <a:fillRect/>
                      </a:stretch>
                    </p:blipFill>
                    <p:spPr bwMode="auto">
                      <a:xfrm>
                        <a:off x="2601573" y="4581872"/>
                        <a:ext cx="2970559" cy="1439416"/>
                      </a:xfrm>
                      <a:prstGeom prst="rect">
                        <a:avLst/>
                      </a:prstGeom>
                      <a:solidFill>
                        <a:schemeClr val="accent6">
                          <a:lumMod val="60000"/>
                          <a:lumOff val="40000"/>
                        </a:schemeClr>
                      </a:solidFill>
                      <a:ln w="28575">
                        <a:solidFill>
                          <a:schemeClr val="accent1"/>
                        </a:solidFill>
                        <a:miter lim="800000"/>
                        <a:headEnd/>
                        <a:tailEnd/>
                      </a:ln>
                    </p:spPr>
                  </p:pic>
                </p:oleObj>
              </mc:Fallback>
            </mc:AlternateContent>
          </a:graphicData>
        </a:graphic>
      </p:graphicFrame>
      <p:sp>
        <p:nvSpPr>
          <p:cNvPr id="6" name="矩形 5"/>
          <p:cNvSpPr/>
          <p:nvPr/>
        </p:nvSpPr>
        <p:spPr>
          <a:xfrm>
            <a:off x="605008" y="1136204"/>
            <a:ext cx="7639400" cy="2621615"/>
          </a:xfrm>
          <a:prstGeom prst="rect">
            <a:avLst/>
          </a:prstGeom>
          <a:solidFill>
            <a:schemeClr val="bg2"/>
          </a:solidFill>
        </p:spPr>
        <p:style>
          <a:lnRef idx="1">
            <a:schemeClr val="accent1"/>
          </a:lnRef>
          <a:fillRef idx="2">
            <a:schemeClr val="accent1"/>
          </a:fillRef>
          <a:effectRef idx="1">
            <a:schemeClr val="accent1"/>
          </a:effectRef>
          <a:fontRef idx="minor">
            <a:schemeClr val="dk1"/>
          </a:fontRef>
        </p:style>
        <p:txBody>
          <a:bodyPr wrap="square">
            <a:spAutoFit/>
          </a:bodyPr>
          <a:lstStyle/>
          <a:p>
            <a:pPr lvl="0">
              <a:lnSpc>
                <a:spcPct val="140000"/>
              </a:lnSpc>
            </a:pPr>
            <a:r>
              <a:rPr lang="zh-CN" altLang="en-US" sz="2400" dirty="0">
                <a:solidFill>
                  <a:prstClr val="black"/>
                </a:solidFill>
                <a:latin typeface="微软雅黑" pitchFamily="34" charset="-122"/>
                <a:ea typeface="微软雅黑" pitchFamily="34" charset="-122"/>
              </a:rPr>
              <a:t>由于 </a:t>
            </a:r>
            <a:r>
              <a:rPr lang="en-US" altLang="zh-CN" sz="2400" b="1" i="1" dirty="0">
                <a:solidFill>
                  <a:prstClr val="black"/>
                </a:solidFill>
                <a:latin typeface="Times New Roman" panose="02020603050405020304" pitchFamily="18" charset="0"/>
                <a:ea typeface="微软雅黑" pitchFamily="34" charset="-122"/>
                <a:cs typeface="Times New Roman" panose="02020603050405020304" pitchFamily="18" charset="0"/>
              </a:rPr>
              <a:t>ε </a:t>
            </a:r>
            <a:r>
              <a:rPr lang="zh-CN" altLang="en-US" sz="2400" dirty="0">
                <a:solidFill>
                  <a:prstClr val="black"/>
                </a:solidFill>
                <a:latin typeface="微软雅黑" pitchFamily="34" charset="-122"/>
                <a:ea typeface="微软雅黑" pitchFamily="34" charset="-122"/>
              </a:rPr>
              <a:t>和 </a:t>
            </a:r>
            <a:r>
              <a:rPr lang="en-US" altLang="zh-CN" sz="2400" b="1" i="1" dirty="0">
                <a:solidFill>
                  <a:prstClr val="black"/>
                </a:solidFill>
                <a:latin typeface="Times New Roman" panose="02020603050405020304" pitchFamily="18" charset="0"/>
                <a:ea typeface="微软雅黑" pitchFamily="34" charset="-122"/>
                <a:cs typeface="Times New Roman" panose="02020603050405020304" pitchFamily="18" charset="0"/>
              </a:rPr>
              <a:t>λ </a:t>
            </a:r>
            <a:r>
              <a:rPr lang="zh-CN" altLang="en-US" sz="2400" dirty="0">
                <a:solidFill>
                  <a:prstClr val="black"/>
                </a:solidFill>
                <a:latin typeface="微软雅黑" pitchFamily="34" charset="-122"/>
                <a:ea typeface="微软雅黑" pitchFamily="34" charset="-122"/>
              </a:rPr>
              <a:t>增大，循环的平均吸热温度提高，而平均放热温度不变；而 </a:t>
            </a:r>
            <a:r>
              <a:rPr lang="en-US" altLang="zh-CN" sz="2400" b="1" i="1" dirty="0">
                <a:solidFill>
                  <a:prstClr val="black"/>
                </a:solidFill>
                <a:latin typeface="Times New Roman" panose="02020603050405020304" pitchFamily="18" charset="0"/>
                <a:ea typeface="微软雅黑" pitchFamily="34" charset="-122"/>
                <a:cs typeface="Times New Roman" panose="02020603050405020304" pitchFamily="18" charset="0"/>
              </a:rPr>
              <a:t>ρ </a:t>
            </a:r>
            <a:r>
              <a:rPr lang="zh-CN" altLang="en-US" sz="2400" dirty="0">
                <a:solidFill>
                  <a:prstClr val="black"/>
                </a:solidFill>
                <a:latin typeface="微软雅黑" pitchFamily="34" charset="-122"/>
                <a:ea typeface="微软雅黑" pitchFamily="34" charset="-122"/>
              </a:rPr>
              <a:t>增大使二者都增大，但吸热为定压过程，放热为定容过程，定容线比定压线陡，所以 </a:t>
            </a:r>
            <a:r>
              <a:rPr lang="en-US" altLang="zh-CN" sz="2400" b="1" i="1" dirty="0">
                <a:solidFill>
                  <a:prstClr val="black"/>
                </a:solidFill>
                <a:latin typeface="Times New Roman" panose="02020603050405020304" pitchFamily="18" charset="0"/>
                <a:ea typeface="微软雅黑" pitchFamily="34" charset="-122"/>
                <a:cs typeface="Times New Roman" panose="02020603050405020304" pitchFamily="18" charset="0"/>
              </a:rPr>
              <a:t>ρ </a:t>
            </a:r>
            <a:r>
              <a:rPr lang="zh-CN" altLang="en-US" sz="2400" dirty="0">
                <a:solidFill>
                  <a:prstClr val="black"/>
                </a:solidFill>
                <a:latin typeface="微软雅黑" pitchFamily="34" charset="-122"/>
                <a:ea typeface="微软雅黑" pitchFamily="34" charset="-122"/>
              </a:rPr>
              <a:t>增大使吸热增大的量小于放热增大的量，总体上相当于提高了平均放热温度，所以热效率降低。</a:t>
            </a:r>
            <a:endParaRPr lang="en-US" altLang="zh-CN" sz="2400" dirty="0">
              <a:solidFill>
                <a:prstClr val="black"/>
              </a:solidFill>
              <a:latin typeface="微软雅黑" pitchFamily="34" charset="-122"/>
              <a:ea typeface="微软雅黑" pitchFamily="34" charset="-122"/>
            </a:endParaRPr>
          </a:p>
        </p:txBody>
      </p:sp>
      <p:sp>
        <p:nvSpPr>
          <p:cNvPr id="14" name="矩形 13"/>
          <p:cNvSpPr/>
          <p:nvPr/>
        </p:nvSpPr>
        <p:spPr>
          <a:xfrm>
            <a:off x="571472" y="3861048"/>
            <a:ext cx="5985498" cy="609398"/>
          </a:xfrm>
          <a:prstGeom prst="rect">
            <a:avLst/>
          </a:prstGeom>
          <a:solidFill>
            <a:schemeClr val="accent1">
              <a:lumMod val="40000"/>
              <a:lumOff val="60000"/>
            </a:schemeClr>
          </a:solidFill>
        </p:spPr>
        <p:txBody>
          <a:bodyPr wrap="square">
            <a:spAutoFit/>
          </a:bodyPr>
          <a:lstStyle/>
          <a:p>
            <a:pPr lvl="0">
              <a:lnSpc>
                <a:spcPct val="140000"/>
              </a:lnSpc>
            </a:pPr>
            <a:r>
              <a:rPr lang="zh-CN" altLang="en-US" sz="2400" dirty="0">
                <a:solidFill>
                  <a:prstClr val="black"/>
                </a:solidFill>
                <a:latin typeface="微软雅黑" pitchFamily="34" charset="-122"/>
                <a:ea typeface="微软雅黑" pitchFamily="34" charset="-122"/>
              </a:rPr>
              <a:t>因此，对任意循环，都有以下规律：</a:t>
            </a:r>
          </a:p>
        </p:txBody>
      </p:sp>
      <p:sp>
        <p:nvSpPr>
          <p:cNvPr id="19" name="TextBox 18"/>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extLst>
      <p:ext uri="{BB962C8B-B14F-4D97-AF65-F5344CB8AC3E}">
        <p14:creationId xmlns:p14="http://schemas.microsoft.com/office/powerpoint/2010/main" val="2869735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fill="hold"/>
                                        <p:tgtEl>
                                          <p:spTgt spid="35"/>
                                        </p:tgtEl>
                                        <p:attrNameLst>
                                          <p:attrName>ppt_x</p:attrName>
                                        </p:attrNameLst>
                                      </p:cBhvr>
                                      <p:tavLst>
                                        <p:tav tm="0">
                                          <p:val>
                                            <p:strVal val="#ppt_x"/>
                                          </p:val>
                                        </p:tav>
                                        <p:tav tm="100000">
                                          <p:val>
                                            <p:strVal val="#ppt_x"/>
                                          </p:val>
                                        </p:tav>
                                      </p:tavLst>
                                    </p:anim>
                                    <p:anim calcmode="lin" valueType="num">
                                      <p:cBhvr additive="base">
                                        <p:cTn id="12"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36</a:t>
            </a:r>
            <a:endParaRPr lang="zh-CN" altLang="en-US" sz="2000" b="1" dirty="0">
              <a:solidFill>
                <a:schemeClr val="tx1"/>
              </a:solidFill>
              <a:latin typeface="黑体" pitchFamily="49" charset="-122"/>
              <a:ea typeface="黑体" pitchFamily="49" charset="-122"/>
            </a:endParaRPr>
          </a:p>
        </p:txBody>
      </p:sp>
      <p:sp>
        <p:nvSpPr>
          <p:cNvPr id="33" name="TextBox 32"/>
          <p:cNvSpPr txBox="1"/>
          <p:nvPr/>
        </p:nvSpPr>
        <p:spPr>
          <a:xfrm>
            <a:off x="107504" y="1312873"/>
            <a:ext cx="5143504" cy="523220"/>
          </a:xfrm>
          <a:prstGeom prst="rect">
            <a:avLst/>
          </a:prstGeom>
          <a:noFill/>
        </p:spPr>
        <p:txBody>
          <a:bodyPr wrap="square">
            <a:spAutoFit/>
          </a:bodyPr>
          <a:lstStyle/>
          <a:p>
            <a:pPr>
              <a:defRPr/>
            </a:pPr>
            <a:r>
              <a:rPr lang="en-US" altLang="zh-CN" sz="2800" b="1" dirty="0">
                <a:solidFill>
                  <a:schemeClr val="accent1">
                    <a:lumMod val="75000"/>
                  </a:schemeClr>
                </a:solidFill>
                <a:latin typeface="微软雅黑" pitchFamily="34" charset="-122"/>
                <a:ea typeface="微软雅黑" pitchFamily="34" charset="-122"/>
                <a:cs typeface="Times New Roman" pitchFamily="18" charset="0"/>
              </a:rPr>
              <a:t>8-4 </a:t>
            </a:r>
            <a:r>
              <a:rPr lang="zh-CN" altLang="en-US" sz="2800" b="1" dirty="0">
                <a:solidFill>
                  <a:schemeClr val="accent1">
                    <a:lumMod val="75000"/>
                  </a:schemeClr>
                </a:solidFill>
                <a:latin typeface="微软雅黑" pitchFamily="34" charset="-122"/>
                <a:ea typeface="微软雅黑" pitchFamily="34" charset="-122"/>
                <a:cs typeface="Times New Roman" pitchFamily="18" charset="0"/>
              </a:rPr>
              <a:t>燃气轮机装置循环</a:t>
            </a: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20" name="TextBox 37"/>
          <p:cNvSpPr txBox="1">
            <a:spLocks noChangeArrowheads="1"/>
          </p:cNvSpPr>
          <p:nvPr/>
        </p:nvSpPr>
        <p:spPr bwMode="auto">
          <a:xfrm>
            <a:off x="805780" y="1897668"/>
            <a:ext cx="5589017"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燃气轮机装置的基本组成</a:t>
            </a:r>
          </a:p>
        </p:txBody>
      </p:sp>
      <p:sp>
        <p:nvSpPr>
          <p:cNvPr id="22" name="矩形 21"/>
          <p:cNvSpPr/>
          <p:nvPr/>
        </p:nvSpPr>
        <p:spPr>
          <a:xfrm>
            <a:off x="144016" y="1954163"/>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1.</a:t>
            </a:r>
            <a:endParaRPr lang="zh-CN" altLang="en-US" sz="2800" i="1" dirty="0">
              <a:solidFill>
                <a:srgbClr val="C00000"/>
              </a:solidFill>
              <a:latin typeface="Bernard MT Condensed"/>
            </a:endParaRPr>
          </a:p>
        </p:txBody>
      </p:sp>
      <p:pic>
        <p:nvPicPr>
          <p:cNvPr id="9830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9362" y="2564904"/>
            <a:ext cx="5127561" cy="3384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TextBox 20"/>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83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37</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31" name="Rectangle 7"/>
          <p:cNvSpPr>
            <a:spLocks noChangeArrowheads="1"/>
          </p:cNvSpPr>
          <p:nvPr/>
        </p:nvSpPr>
        <p:spPr bwMode="auto">
          <a:xfrm>
            <a:off x="478186" y="1969676"/>
            <a:ext cx="4283968" cy="523220"/>
          </a:xfrm>
          <a:prstGeom prst="rect">
            <a:avLst/>
          </a:prstGeom>
          <a:noFill/>
          <a:ln w="9525">
            <a:noFill/>
            <a:miter lim="800000"/>
            <a:headEnd/>
            <a:tailEnd/>
          </a:ln>
          <a:effectLst/>
        </p:spPr>
        <p:txBody>
          <a:bodyPr wrap="square" anchor="ctr">
            <a:spAutoFit/>
          </a:bodyPr>
          <a:lstStyle/>
          <a:p>
            <a:r>
              <a:rPr lang="zh-CN" altLang="en-US" sz="2800" dirty="0">
                <a:solidFill>
                  <a:srgbClr val="0000FF"/>
                </a:solidFill>
                <a:latin typeface="微软雅黑" pitchFamily="34" charset="-122"/>
                <a:ea typeface="微软雅黑" pitchFamily="34" charset="-122"/>
                <a:cs typeface="Times New Roman" pitchFamily="18" charset="0"/>
              </a:rPr>
              <a:t>（</a:t>
            </a:r>
            <a:r>
              <a:rPr lang="en-US" altLang="zh-CN" sz="2800" dirty="0">
                <a:solidFill>
                  <a:srgbClr val="0000FF"/>
                </a:solidFill>
                <a:latin typeface="微软雅黑" pitchFamily="34" charset="-122"/>
                <a:ea typeface="微软雅黑" pitchFamily="34" charset="-122"/>
                <a:cs typeface="Times New Roman" pitchFamily="18" charset="0"/>
              </a:rPr>
              <a:t>1</a:t>
            </a:r>
            <a:r>
              <a:rPr lang="zh-CN" altLang="en-US" sz="2800" dirty="0">
                <a:solidFill>
                  <a:srgbClr val="0000FF"/>
                </a:solidFill>
                <a:latin typeface="微软雅黑" pitchFamily="34" charset="-122"/>
                <a:ea typeface="微软雅黑" pitchFamily="34" charset="-122"/>
                <a:cs typeface="Times New Roman" pitchFamily="18" charset="0"/>
              </a:rPr>
              <a:t>）理想循环简化条件</a:t>
            </a:r>
            <a:endParaRPr lang="zh-CN" altLang="en-US" sz="2800" b="1" dirty="0">
              <a:solidFill>
                <a:srgbClr val="0000FF"/>
              </a:solidFill>
              <a:latin typeface="微软雅黑" pitchFamily="34" charset="-122"/>
              <a:ea typeface="微软雅黑" pitchFamily="34" charset="-122"/>
              <a:cs typeface="Times New Roman" pitchFamily="18" charset="0"/>
            </a:endParaRPr>
          </a:p>
        </p:txBody>
      </p:sp>
      <p:sp>
        <p:nvSpPr>
          <p:cNvPr id="23" name="矩形 22"/>
          <p:cNvSpPr/>
          <p:nvPr/>
        </p:nvSpPr>
        <p:spPr>
          <a:xfrm>
            <a:off x="557164" y="2564904"/>
            <a:ext cx="7981825" cy="3323987"/>
          </a:xfrm>
          <a:prstGeom prst="rect">
            <a:avLst/>
          </a:prstGeom>
        </p:spPr>
        <p:txBody>
          <a:bodyPr wrap="square">
            <a:spAutoFit/>
          </a:bodyPr>
          <a:lstStyle/>
          <a:p>
            <a:pPr marL="514350" indent="-514350">
              <a:lnSpc>
                <a:spcPct val="150000"/>
              </a:lnSpc>
              <a:buFont typeface="Wingdings" panose="05000000000000000000" pitchFamily="2" charset="2"/>
              <a:buChar char="Ø"/>
              <a:defRPr/>
            </a:pPr>
            <a:r>
              <a:rPr lang="zh-CN" altLang="en-US" sz="2800" dirty="0">
                <a:solidFill>
                  <a:prstClr val="black"/>
                </a:solidFill>
                <a:latin typeface="Times New Roman" pitchFamily="18" charset="0"/>
                <a:ea typeface="微软雅黑" pitchFamily="34" charset="-122"/>
                <a:cs typeface="Times New Roman" pitchFamily="18" charset="0"/>
              </a:rPr>
              <a:t>变开式循环为闭式循环；</a:t>
            </a:r>
          </a:p>
          <a:p>
            <a:pPr marL="514350" indent="-514350">
              <a:lnSpc>
                <a:spcPct val="150000"/>
              </a:lnSpc>
              <a:buFont typeface="Wingdings" panose="05000000000000000000" pitchFamily="2" charset="2"/>
              <a:buChar char="Ø"/>
              <a:defRPr/>
            </a:pPr>
            <a:r>
              <a:rPr lang="zh-CN" altLang="en-US" sz="2800" dirty="0">
                <a:solidFill>
                  <a:prstClr val="black"/>
                </a:solidFill>
                <a:latin typeface="Times New Roman" pitchFamily="18" charset="0"/>
                <a:ea typeface="微软雅黑" pitchFamily="34" charset="-122"/>
                <a:cs typeface="Times New Roman" pitchFamily="18" charset="0"/>
              </a:rPr>
              <a:t>以空气代替燃气（理想气体、定比热）；</a:t>
            </a:r>
          </a:p>
          <a:p>
            <a:pPr marL="514350" lvl="0" indent="-514350">
              <a:lnSpc>
                <a:spcPct val="150000"/>
              </a:lnSpc>
              <a:buFont typeface="Wingdings" panose="05000000000000000000" pitchFamily="2" charset="2"/>
              <a:buChar char="Ø"/>
              <a:defRPr/>
            </a:pPr>
            <a:r>
              <a:rPr lang="zh-CN" altLang="en-US" sz="2800" dirty="0">
                <a:solidFill>
                  <a:prstClr val="black"/>
                </a:solidFill>
                <a:latin typeface="Times New Roman" pitchFamily="18" charset="0"/>
                <a:ea typeface="微软雅黑" pitchFamily="34" charset="-122"/>
                <a:cs typeface="Times New Roman" pitchFamily="18" charset="0"/>
              </a:rPr>
              <a:t>用可逆定压加热代替燃烧，可逆定压放热代替排气（无化学变化） ；</a:t>
            </a:r>
            <a:endParaRPr lang="en-US" altLang="zh-CN" sz="2800" dirty="0">
              <a:solidFill>
                <a:prstClr val="black"/>
              </a:solidFill>
              <a:latin typeface="Times New Roman" pitchFamily="18" charset="0"/>
              <a:ea typeface="微软雅黑" pitchFamily="34" charset="-122"/>
              <a:cs typeface="Times New Roman" pitchFamily="18" charset="0"/>
            </a:endParaRPr>
          </a:p>
          <a:p>
            <a:pPr marL="514350" lvl="0" indent="-514350">
              <a:lnSpc>
                <a:spcPct val="150000"/>
              </a:lnSpc>
              <a:buFont typeface="Wingdings" panose="05000000000000000000" pitchFamily="2" charset="2"/>
              <a:buChar char="Ø"/>
              <a:defRPr/>
            </a:pPr>
            <a:r>
              <a:rPr lang="zh-CN" altLang="en-US" sz="2800" dirty="0">
                <a:solidFill>
                  <a:prstClr val="black"/>
                </a:solidFill>
                <a:latin typeface="Times New Roman" pitchFamily="18" charset="0"/>
                <a:ea typeface="微软雅黑" pitchFamily="34" charset="-122"/>
                <a:cs typeface="Times New Roman" pitchFamily="18" charset="0"/>
              </a:rPr>
              <a:t>压缩、膨胀过程为可逆绝热</a:t>
            </a:r>
            <a:r>
              <a:rPr lang="en-US" altLang="zh-CN" sz="2800" dirty="0">
                <a:solidFill>
                  <a:prstClr val="black"/>
                </a:solidFill>
                <a:latin typeface="Times New Roman" pitchFamily="18" charset="0"/>
                <a:ea typeface="微软雅黑" pitchFamily="34" charset="-122"/>
                <a:cs typeface="Times New Roman" pitchFamily="18" charset="0"/>
              </a:rPr>
              <a:t>(</a:t>
            </a:r>
            <a:r>
              <a:rPr lang="zh-CN" altLang="en-US" sz="2800" dirty="0">
                <a:solidFill>
                  <a:prstClr val="black"/>
                </a:solidFill>
                <a:latin typeface="Times New Roman" pitchFamily="18" charset="0"/>
                <a:ea typeface="微软雅黑" pitchFamily="34" charset="-122"/>
                <a:cs typeface="Times New Roman" pitchFamily="18" charset="0"/>
              </a:rPr>
              <a:t>定熵</a:t>
            </a:r>
            <a:r>
              <a:rPr lang="en-US" altLang="zh-CN" sz="2800" dirty="0">
                <a:solidFill>
                  <a:prstClr val="black"/>
                </a:solidFill>
                <a:latin typeface="Times New Roman" pitchFamily="18" charset="0"/>
                <a:ea typeface="微软雅黑" pitchFamily="34" charset="-122"/>
                <a:cs typeface="Times New Roman" pitchFamily="18" charset="0"/>
              </a:rPr>
              <a:t>)</a:t>
            </a:r>
            <a:r>
              <a:rPr lang="zh-CN" altLang="en-US" sz="2800" dirty="0">
                <a:solidFill>
                  <a:prstClr val="black"/>
                </a:solidFill>
                <a:latin typeface="Times New Roman" pitchFamily="18" charset="0"/>
                <a:ea typeface="微软雅黑" pitchFamily="34" charset="-122"/>
                <a:cs typeface="Times New Roman" pitchFamily="18" charset="0"/>
              </a:rPr>
              <a:t>过程。</a:t>
            </a:r>
          </a:p>
        </p:txBody>
      </p:sp>
      <p:sp>
        <p:nvSpPr>
          <p:cNvPr id="20" name="TextBox 37"/>
          <p:cNvSpPr txBox="1">
            <a:spLocks noChangeArrowheads="1"/>
          </p:cNvSpPr>
          <p:nvPr/>
        </p:nvSpPr>
        <p:spPr bwMode="auto">
          <a:xfrm>
            <a:off x="827584" y="1351181"/>
            <a:ext cx="4461079"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燃气轮机定压加热理想循环</a:t>
            </a:r>
          </a:p>
        </p:txBody>
      </p:sp>
      <p:sp>
        <p:nvSpPr>
          <p:cNvPr id="21" name="矩形 20"/>
          <p:cNvSpPr/>
          <p:nvPr/>
        </p:nvSpPr>
        <p:spPr>
          <a:xfrm>
            <a:off x="153513" y="1364734"/>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2.</a:t>
            </a:r>
            <a:endParaRPr lang="zh-CN" altLang="en-US" sz="2800" i="1" dirty="0">
              <a:solidFill>
                <a:srgbClr val="C00000"/>
              </a:solidFill>
              <a:latin typeface="Bernard MT Condensed"/>
            </a:endParaRPr>
          </a:p>
        </p:txBody>
      </p:sp>
      <p:sp>
        <p:nvSpPr>
          <p:cNvPr id="22" name="TextBox 21"/>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38</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31" name="Rectangle 7"/>
          <p:cNvSpPr>
            <a:spLocks noChangeArrowheads="1"/>
          </p:cNvSpPr>
          <p:nvPr/>
        </p:nvSpPr>
        <p:spPr bwMode="auto">
          <a:xfrm>
            <a:off x="301054" y="1261170"/>
            <a:ext cx="4283968" cy="523220"/>
          </a:xfrm>
          <a:prstGeom prst="rect">
            <a:avLst/>
          </a:prstGeom>
          <a:noFill/>
          <a:ln w="9525">
            <a:noFill/>
            <a:miter lim="800000"/>
            <a:headEnd/>
            <a:tailEnd/>
          </a:ln>
          <a:effectLst/>
        </p:spPr>
        <p:txBody>
          <a:bodyPr wrap="square" anchor="ctr">
            <a:spAutoFit/>
          </a:bodyPr>
          <a:lstStyle/>
          <a:p>
            <a:r>
              <a:rPr lang="zh-CN" altLang="en-US" sz="2800" dirty="0">
                <a:solidFill>
                  <a:srgbClr val="0000FF"/>
                </a:solidFill>
                <a:latin typeface="微软雅黑" pitchFamily="34" charset="-122"/>
                <a:ea typeface="微软雅黑" pitchFamily="34" charset="-122"/>
                <a:cs typeface="Times New Roman" pitchFamily="18" charset="0"/>
              </a:rPr>
              <a:t>（</a:t>
            </a:r>
            <a:r>
              <a:rPr lang="en-US" altLang="zh-CN" sz="2800" dirty="0">
                <a:solidFill>
                  <a:srgbClr val="0000FF"/>
                </a:solidFill>
                <a:latin typeface="微软雅黑" pitchFamily="34" charset="-122"/>
                <a:ea typeface="微软雅黑" pitchFamily="34" charset="-122"/>
                <a:cs typeface="Times New Roman" pitchFamily="18" charset="0"/>
              </a:rPr>
              <a:t>2</a:t>
            </a:r>
            <a:r>
              <a:rPr lang="zh-CN" altLang="en-US" sz="2800" dirty="0">
                <a:solidFill>
                  <a:srgbClr val="0000FF"/>
                </a:solidFill>
                <a:latin typeface="微软雅黑" pitchFamily="34" charset="-122"/>
                <a:ea typeface="微软雅黑" pitchFamily="34" charset="-122"/>
                <a:cs typeface="Times New Roman" pitchFamily="18" charset="0"/>
              </a:rPr>
              <a:t>）理想循环图</a:t>
            </a:r>
            <a:endParaRPr lang="zh-CN" altLang="en-US" sz="2800" b="1" dirty="0">
              <a:solidFill>
                <a:srgbClr val="0000FF"/>
              </a:solidFill>
              <a:latin typeface="微软雅黑" pitchFamily="34" charset="-122"/>
              <a:ea typeface="微软雅黑" pitchFamily="34" charset="-122"/>
              <a:cs typeface="Times New Roman" pitchFamily="18" charset="0"/>
            </a:endParaRPr>
          </a:p>
        </p:txBody>
      </p:sp>
      <p:sp>
        <p:nvSpPr>
          <p:cNvPr id="23" name="矩形 22"/>
          <p:cNvSpPr/>
          <p:nvPr/>
        </p:nvSpPr>
        <p:spPr>
          <a:xfrm>
            <a:off x="745976" y="4581128"/>
            <a:ext cx="7691586" cy="1169551"/>
          </a:xfrm>
          <a:prstGeom prst="rect">
            <a:avLst/>
          </a:prstGeom>
          <a:ln w="25400">
            <a:solidFill>
              <a:schemeClr val="accent1">
                <a:shade val="50000"/>
              </a:schemeClr>
            </a:solidFill>
          </a:ln>
        </p:spPr>
        <p:txBody>
          <a:bodyPr wrap="square">
            <a:spAutoFit/>
          </a:bodyPr>
          <a:lstStyle/>
          <a:p>
            <a:pPr>
              <a:spcBef>
                <a:spcPct val="50000"/>
              </a:spcBef>
              <a:defRPr/>
            </a:pPr>
            <a:r>
              <a:rPr lang="en-US" altLang="zh-CN" sz="2800" dirty="0">
                <a:latin typeface="Times New Roman" pitchFamily="18" charset="0"/>
                <a:ea typeface="微软雅黑" pitchFamily="34" charset="-122"/>
                <a:cs typeface="Times New Roman" pitchFamily="18" charset="0"/>
              </a:rPr>
              <a:t>1-2</a:t>
            </a:r>
            <a:r>
              <a:rPr lang="zh-CN" altLang="en-US" sz="2800" dirty="0">
                <a:latin typeface="Times New Roman" pitchFamily="18" charset="0"/>
                <a:ea typeface="微软雅黑" pitchFamily="34" charset="-122"/>
                <a:cs typeface="Times New Roman" pitchFamily="18" charset="0"/>
              </a:rPr>
              <a:t>：定熵压缩；       </a:t>
            </a:r>
            <a:r>
              <a:rPr lang="en-US" altLang="zh-CN" sz="2800" dirty="0">
                <a:latin typeface="Times New Roman" pitchFamily="18" charset="0"/>
                <a:ea typeface="微软雅黑" pitchFamily="34" charset="-122"/>
                <a:cs typeface="Times New Roman" pitchFamily="18" charset="0"/>
              </a:rPr>
              <a:t>2-3</a:t>
            </a:r>
            <a:r>
              <a:rPr lang="zh-CN" altLang="en-US" sz="2800" dirty="0">
                <a:latin typeface="Times New Roman" pitchFamily="18" charset="0"/>
                <a:ea typeface="微软雅黑" pitchFamily="34" charset="-122"/>
                <a:cs typeface="Times New Roman" pitchFamily="18" charset="0"/>
              </a:rPr>
              <a:t>：定压加热（燃烧室）</a:t>
            </a:r>
          </a:p>
          <a:p>
            <a:pPr>
              <a:spcBef>
                <a:spcPct val="50000"/>
              </a:spcBef>
              <a:defRPr/>
            </a:pPr>
            <a:r>
              <a:rPr lang="en-US" altLang="zh-CN" sz="2800" dirty="0">
                <a:latin typeface="Times New Roman" pitchFamily="18" charset="0"/>
                <a:ea typeface="微软雅黑" pitchFamily="34" charset="-122"/>
                <a:cs typeface="Times New Roman" pitchFamily="18" charset="0"/>
              </a:rPr>
              <a:t>3-4</a:t>
            </a:r>
            <a:r>
              <a:rPr lang="zh-CN" altLang="en-US" sz="2800" dirty="0">
                <a:latin typeface="Times New Roman" pitchFamily="18" charset="0"/>
                <a:ea typeface="微软雅黑" pitchFamily="34" charset="-122"/>
                <a:cs typeface="Times New Roman" pitchFamily="18" charset="0"/>
              </a:rPr>
              <a:t>：定熵膨胀；       </a:t>
            </a:r>
            <a:r>
              <a:rPr lang="en-US" altLang="zh-CN" sz="2800" dirty="0">
                <a:latin typeface="Times New Roman" pitchFamily="18" charset="0"/>
                <a:ea typeface="微软雅黑" pitchFamily="34" charset="-122"/>
                <a:cs typeface="Times New Roman" pitchFamily="18" charset="0"/>
              </a:rPr>
              <a:t>4-5</a:t>
            </a:r>
            <a:r>
              <a:rPr lang="zh-CN" altLang="en-US" sz="2800" dirty="0">
                <a:latin typeface="Times New Roman" pitchFamily="18" charset="0"/>
                <a:ea typeface="微软雅黑" pitchFamily="34" charset="-122"/>
                <a:cs typeface="Times New Roman" pitchFamily="18" charset="0"/>
              </a:rPr>
              <a:t>：定压放热（在大气中）</a:t>
            </a:r>
          </a:p>
        </p:txBody>
      </p:sp>
      <p:pic>
        <p:nvPicPr>
          <p:cNvPr id="9933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687" y="1895872"/>
            <a:ext cx="5561257" cy="2376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TextBox 18"/>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3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blinds(horizontal)">
                                      <p:cBhvr>
                                        <p:cTn id="1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2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39</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graphicFrame>
        <p:nvGraphicFramePr>
          <p:cNvPr id="24" name="Object 12"/>
          <p:cNvGraphicFramePr>
            <a:graphicFrameLocks noChangeAspect="1"/>
          </p:cNvGraphicFramePr>
          <p:nvPr>
            <p:extLst>
              <p:ext uri="{D42A27DB-BD31-4B8C-83A1-F6EECF244321}">
                <p14:modId xmlns:p14="http://schemas.microsoft.com/office/powerpoint/2010/main" val="3431146690"/>
              </p:ext>
            </p:extLst>
          </p:nvPr>
        </p:nvGraphicFramePr>
        <p:xfrm>
          <a:off x="3629025" y="1901874"/>
          <a:ext cx="2098675" cy="981075"/>
        </p:xfrm>
        <a:graphic>
          <a:graphicData uri="http://schemas.openxmlformats.org/presentationml/2006/ole">
            <mc:AlternateContent xmlns:mc="http://schemas.openxmlformats.org/markup-compatibility/2006">
              <mc:Choice xmlns:v="urn:schemas-microsoft-com:vml" Requires="v">
                <p:oleObj spid="_x0000_s88186" name="公式" r:id="rId7" imgW="927100" imgH="431800" progId="Equation.3">
                  <p:embed/>
                </p:oleObj>
              </mc:Choice>
              <mc:Fallback>
                <p:oleObj name="公式" r:id="rId7" imgW="927100" imgH="4318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29025" y="1901874"/>
                        <a:ext cx="2098675" cy="981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11"/>
          <p:cNvGraphicFramePr>
            <a:graphicFrameLocks noChangeAspect="1"/>
          </p:cNvGraphicFramePr>
          <p:nvPr>
            <p:extLst>
              <p:ext uri="{D42A27DB-BD31-4B8C-83A1-F6EECF244321}">
                <p14:modId xmlns:p14="http://schemas.microsoft.com/office/powerpoint/2010/main" val="1622925242"/>
              </p:ext>
            </p:extLst>
          </p:nvPr>
        </p:nvGraphicFramePr>
        <p:xfrm>
          <a:off x="3688018" y="3162496"/>
          <a:ext cx="1897062" cy="981075"/>
        </p:xfrm>
        <a:graphic>
          <a:graphicData uri="http://schemas.openxmlformats.org/presentationml/2006/ole">
            <mc:AlternateContent xmlns:mc="http://schemas.openxmlformats.org/markup-compatibility/2006">
              <mc:Choice xmlns:v="urn:schemas-microsoft-com:vml" Requires="v">
                <p:oleObj spid="_x0000_s88187" name="Equation" r:id="rId9" imgW="837836" imgH="431613" progId="Equation.3">
                  <p:embed/>
                </p:oleObj>
              </mc:Choice>
              <mc:Fallback>
                <p:oleObj name="Equation" r:id="rId9" imgW="837836" imgH="431613"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88018" y="3162496"/>
                        <a:ext cx="1897062" cy="981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Rectangle 14"/>
          <p:cNvSpPr>
            <a:spLocks noChangeArrowheads="1"/>
          </p:cNvSpPr>
          <p:nvPr/>
        </p:nvSpPr>
        <p:spPr bwMode="auto">
          <a:xfrm>
            <a:off x="778400" y="3393478"/>
            <a:ext cx="1619250" cy="519113"/>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a:spAutoFit/>
          </a:bodyPr>
          <a:lstStyle/>
          <a:p>
            <a:r>
              <a:rPr lang="zh-CN" altLang="en-US" sz="2800" b="1" dirty="0">
                <a:latin typeface="Times New Roman" pitchFamily="18" charset="0"/>
              </a:rPr>
              <a:t>增温比：</a:t>
            </a:r>
          </a:p>
        </p:txBody>
      </p:sp>
      <p:sp>
        <p:nvSpPr>
          <p:cNvPr id="39" name="Rectangle 7"/>
          <p:cNvSpPr>
            <a:spLocks noChangeArrowheads="1"/>
          </p:cNvSpPr>
          <p:nvPr/>
        </p:nvSpPr>
        <p:spPr bwMode="auto">
          <a:xfrm>
            <a:off x="179512" y="1321604"/>
            <a:ext cx="3707904" cy="523220"/>
          </a:xfrm>
          <a:prstGeom prst="rect">
            <a:avLst/>
          </a:prstGeom>
          <a:noFill/>
          <a:ln w="9525">
            <a:noFill/>
            <a:miter lim="800000"/>
            <a:headEnd/>
            <a:tailEnd/>
          </a:ln>
          <a:effectLst/>
        </p:spPr>
        <p:txBody>
          <a:bodyPr wrap="square" anchor="ctr">
            <a:spAutoFit/>
          </a:bodyPr>
          <a:lstStyle/>
          <a:p>
            <a:r>
              <a:rPr lang="zh-CN" altLang="en-US" sz="2800" dirty="0">
                <a:solidFill>
                  <a:srgbClr val="0000FF"/>
                </a:solidFill>
                <a:latin typeface="微软雅黑" pitchFamily="34" charset="-122"/>
                <a:ea typeface="微软雅黑" pitchFamily="34" charset="-122"/>
                <a:cs typeface="Times New Roman" pitchFamily="18" charset="0"/>
              </a:rPr>
              <a:t>（</a:t>
            </a:r>
            <a:r>
              <a:rPr lang="en-US" altLang="zh-CN" sz="2800" dirty="0">
                <a:solidFill>
                  <a:srgbClr val="0000FF"/>
                </a:solidFill>
                <a:latin typeface="微软雅黑" pitchFamily="34" charset="-122"/>
                <a:ea typeface="微软雅黑" pitchFamily="34" charset="-122"/>
                <a:cs typeface="Times New Roman" pitchFamily="18" charset="0"/>
              </a:rPr>
              <a:t>3</a:t>
            </a:r>
            <a:r>
              <a:rPr lang="zh-CN" altLang="en-US" sz="2800" dirty="0">
                <a:solidFill>
                  <a:srgbClr val="0000FF"/>
                </a:solidFill>
                <a:latin typeface="微软雅黑" pitchFamily="34" charset="-122"/>
                <a:ea typeface="微软雅黑" pitchFamily="34" charset="-122"/>
                <a:cs typeface="Times New Roman" pitchFamily="18" charset="0"/>
              </a:rPr>
              <a:t>）循环特性参数</a:t>
            </a:r>
          </a:p>
        </p:txBody>
      </p:sp>
      <p:sp>
        <p:nvSpPr>
          <p:cNvPr id="40" name="Rectangle 13"/>
          <p:cNvSpPr>
            <a:spLocks noChangeArrowheads="1"/>
          </p:cNvSpPr>
          <p:nvPr/>
        </p:nvSpPr>
        <p:spPr bwMode="auto">
          <a:xfrm>
            <a:off x="761979" y="2204864"/>
            <a:ext cx="1619250" cy="51911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spAutoFit/>
          </a:bodyPr>
          <a:lstStyle/>
          <a:p>
            <a:r>
              <a:rPr lang="zh-CN" altLang="en-US" sz="2800" b="1" dirty="0">
                <a:latin typeface="Times New Roman" pitchFamily="18" charset="0"/>
              </a:rPr>
              <a:t>增压比：</a:t>
            </a:r>
          </a:p>
        </p:txBody>
      </p:sp>
      <p:sp>
        <p:nvSpPr>
          <p:cNvPr id="21" name="TextBox 20"/>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40</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sp>
        <p:nvSpPr>
          <p:cNvPr id="31" name="Rectangle 7"/>
          <p:cNvSpPr>
            <a:spLocks noChangeArrowheads="1"/>
          </p:cNvSpPr>
          <p:nvPr/>
        </p:nvSpPr>
        <p:spPr bwMode="auto">
          <a:xfrm>
            <a:off x="209483" y="1268760"/>
            <a:ext cx="5687404" cy="523220"/>
          </a:xfrm>
          <a:prstGeom prst="rect">
            <a:avLst/>
          </a:prstGeom>
          <a:noFill/>
          <a:ln w="9525">
            <a:noFill/>
            <a:miter lim="800000"/>
            <a:headEnd/>
            <a:tailEnd/>
          </a:ln>
          <a:effectLst/>
        </p:spPr>
        <p:txBody>
          <a:bodyPr wrap="square" anchor="ctr">
            <a:spAutoFit/>
          </a:bodyPr>
          <a:lstStyle/>
          <a:p>
            <a:r>
              <a:rPr lang="zh-CN" altLang="en-US" sz="2800" dirty="0">
                <a:solidFill>
                  <a:srgbClr val="0000FF"/>
                </a:solidFill>
                <a:latin typeface="微软雅黑" pitchFamily="34" charset="-122"/>
                <a:ea typeface="微软雅黑" pitchFamily="34" charset="-122"/>
                <a:cs typeface="Times New Roman" pitchFamily="18" charset="0"/>
              </a:rPr>
              <a:t>（</a:t>
            </a:r>
            <a:r>
              <a:rPr lang="en-US" altLang="zh-CN" sz="2800" dirty="0">
                <a:solidFill>
                  <a:srgbClr val="0000FF"/>
                </a:solidFill>
                <a:latin typeface="微软雅黑" pitchFamily="34" charset="-122"/>
                <a:ea typeface="微软雅黑" pitchFamily="34" charset="-122"/>
                <a:cs typeface="Times New Roman" pitchFamily="18" charset="0"/>
              </a:rPr>
              <a:t>4</a:t>
            </a:r>
            <a:r>
              <a:rPr lang="zh-CN" altLang="en-US" sz="2800" dirty="0">
                <a:solidFill>
                  <a:srgbClr val="0000FF"/>
                </a:solidFill>
                <a:latin typeface="微软雅黑" pitchFamily="34" charset="-122"/>
                <a:ea typeface="微软雅黑" pitchFamily="34" charset="-122"/>
                <a:cs typeface="Times New Roman" pitchFamily="18" charset="0"/>
              </a:rPr>
              <a:t>）理想循环的功、热及热效率</a:t>
            </a:r>
            <a:endParaRPr lang="zh-CN" altLang="en-US" sz="2800" b="1" dirty="0">
              <a:solidFill>
                <a:srgbClr val="0000FF"/>
              </a:solidFill>
              <a:latin typeface="微软雅黑" pitchFamily="34" charset="-122"/>
              <a:ea typeface="微软雅黑" pitchFamily="34" charset="-122"/>
              <a:cs typeface="Times New Roman" pitchFamily="18" charset="0"/>
            </a:endParaRPr>
          </a:p>
        </p:txBody>
      </p:sp>
      <p:sp>
        <p:nvSpPr>
          <p:cNvPr id="3" name="矩形 2"/>
          <p:cNvSpPr/>
          <p:nvPr/>
        </p:nvSpPr>
        <p:spPr>
          <a:xfrm>
            <a:off x="610594" y="1700808"/>
            <a:ext cx="7488832" cy="1384995"/>
          </a:xfrm>
          <a:prstGeom prst="rect">
            <a:avLst/>
          </a:prstGeom>
        </p:spPr>
        <p:txBody>
          <a:bodyPr wrap="square">
            <a:spAutoFit/>
          </a:bodyPr>
          <a:lstStyle/>
          <a:p>
            <a:pPr lvl="0">
              <a:lnSpc>
                <a:spcPct val="150000"/>
              </a:lnSpc>
            </a:pPr>
            <a:r>
              <a:rPr lang="zh-CN" altLang="en-US" sz="2800" dirty="0">
                <a:latin typeface="微软雅黑" pitchFamily="34" charset="-122"/>
                <a:ea typeface="微软雅黑" pitchFamily="34" charset="-122"/>
                <a:cs typeface="Times New Roman" pitchFamily="18" charset="0"/>
              </a:rPr>
              <a:t>燃气轮机的吸热和放热过程都简化为理想气体的定压过程，故</a:t>
            </a:r>
            <a:endParaRPr lang="zh-CN" altLang="en-US" sz="2800" b="1" dirty="0">
              <a:latin typeface="微软雅黑" pitchFamily="34" charset="-122"/>
              <a:ea typeface="微软雅黑" pitchFamily="34" charset="-122"/>
              <a:cs typeface="Times New Roman" pitchFamily="18" charset="0"/>
            </a:endParaRP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 name="对象 15"/>
          <p:cNvGraphicFramePr>
            <a:graphicFrameLocks noChangeAspect="1"/>
          </p:cNvGraphicFramePr>
          <p:nvPr>
            <p:extLst>
              <p:ext uri="{D42A27DB-BD31-4B8C-83A1-F6EECF244321}">
                <p14:modId xmlns:p14="http://schemas.microsoft.com/office/powerpoint/2010/main" val="730391061"/>
              </p:ext>
            </p:extLst>
          </p:nvPr>
        </p:nvGraphicFramePr>
        <p:xfrm>
          <a:off x="3184509" y="3038172"/>
          <a:ext cx="2107572" cy="587688"/>
        </p:xfrm>
        <a:graphic>
          <a:graphicData uri="http://schemas.openxmlformats.org/presentationml/2006/ole">
            <mc:AlternateContent xmlns:mc="http://schemas.openxmlformats.org/markup-compatibility/2006">
              <mc:Choice xmlns:v="urn:schemas-microsoft-com:vml" Requires="v">
                <p:oleObj spid="_x0000_s100446" name="公式" r:id="rId7" imgW="685800" imgH="190440" progId="Equation.3">
                  <p:embed/>
                </p:oleObj>
              </mc:Choice>
              <mc:Fallback>
                <p:oleObj name="公式" r:id="rId7" imgW="685800" imgH="190440" progId="Equation.3">
                  <p:embed/>
                  <p:pic>
                    <p:nvPicPr>
                      <p:cNvPr id="0" name="对象 5"/>
                      <p:cNvPicPr>
                        <a:picLocks noChangeAspect="1" noChangeArrowheads="1"/>
                      </p:cNvPicPr>
                      <p:nvPr/>
                    </p:nvPicPr>
                    <p:blipFill>
                      <a:blip r:embed="rId8"/>
                      <a:srcRect/>
                      <a:stretch>
                        <a:fillRect/>
                      </a:stretch>
                    </p:blipFill>
                    <p:spPr bwMode="auto">
                      <a:xfrm>
                        <a:off x="3184509" y="3038172"/>
                        <a:ext cx="2107572" cy="587688"/>
                      </a:xfrm>
                      <a:prstGeom prst="rect">
                        <a:avLst/>
                      </a:prstGeom>
                      <a:noFill/>
                      <a:ln>
                        <a:noFill/>
                      </a:ln>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472732995"/>
              </p:ext>
            </p:extLst>
          </p:nvPr>
        </p:nvGraphicFramePr>
        <p:xfrm>
          <a:off x="3203848" y="3717032"/>
          <a:ext cx="2065884" cy="576064"/>
        </p:xfrm>
        <a:graphic>
          <a:graphicData uri="http://schemas.openxmlformats.org/presentationml/2006/ole">
            <mc:AlternateContent xmlns:mc="http://schemas.openxmlformats.org/markup-compatibility/2006">
              <mc:Choice xmlns:v="urn:schemas-microsoft-com:vml" Requires="v">
                <p:oleObj spid="_x0000_s100447" name="公式" r:id="rId9" imgW="685800" imgH="190440" progId="Equation.3">
                  <p:embed/>
                </p:oleObj>
              </mc:Choice>
              <mc:Fallback>
                <p:oleObj name="公式" r:id="rId9" imgW="685800" imgH="190440" progId="Equation.3">
                  <p:embed/>
                  <p:pic>
                    <p:nvPicPr>
                      <p:cNvPr id="0" name="对象 15"/>
                      <p:cNvPicPr>
                        <a:picLocks noChangeAspect="1" noChangeArrowheads="1"/>
                      </p:cNvPicPr>
                      <p:nvPr/>
                    </p:nvPicPr>
                    <p:blipFill>
                      <a:blip r:embed="rId10"/>
                      <a:srcRect/>
                      <a:stretch>
                        <a:fillRect/>
                      </a:stretch>
                    </p:blipFill>
                    <p:spPr bwMode="auto">
                      <a:xfrm>
                        <a:off x="3203848" y="3717032"/>
                        <a:ext cx="2065884" cy="576064"/>
                      </a:xfrm>
                      <a:prstGeom prst="rect">
                        <a:avLst/>
                      </a:prstGeom>
                      <a:noFill/>
                      <a:ln>
                        <a:noFill/>
                      </a:ln>
                    </p:spPr>
                  </p:pic>
                </p:oleObj>
              </mc:Fallback>
            </mc:AlternateContent>
          </a:graphicData>
        </a:graphic>
      </p:graphicFrame>
      <p:sp>
        <p:nvSpPr>
          <p:cNvPr id="18" name="Rectangle 1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9" name="对象 18"/>
          <p:cNvGraphicFramePr>
            <a:graphicFrameLocks noChangeAspect="1"/>
          </p:cNvGraphicFramePr>
          <p:nvPr>
            <p:extLst>
              <p:ext uri="{D42A27DB-BD31-4B8C-83A1-F6EECF244321}">
                <p14:modId xmlns:p14="http://schemas.microsoft.com/office/powerpoint/2010/main" val="3515839210"/>
              </p:ext>
            </p:extLst>
          </p:nvPr>
        </p:nvGraphicFramePr>
        <p:xfrm>
          <a:off x="2753249" y="5085184"/>
          <a:ext cx="2816998" cy="880312"/>
        </p:xfrm>
        <a:graphic>
          <a:graphicData uri="http://schemas.openxmlformats.org/presentationml/2006/ole">
            <mc:AlternateContent xmlns:mc="http://schemas.openxmlformats.org/markup-compatibility/2006">
              <mc:Choice xmlns:v="urn:schemas-microsoft-com:vml" Requires="v">
                <p:oleObj spid="_x0000_s100448" r:id="rId11" imgW="1218671" imgH="380835" progId="Equation.DSMT4">
                  <p:embed/>
                </p:oleObj>
              </mc:Choice>
              <mc:Fallback>
                <p:oleObj r:id="rId11" imgW="1218671" imgH="380835"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53249" y="5085184"/>
                        <a:ext cx="2816998" cy="880312"/>
                      </a:xfrm>
                      <a:prstGeom prst="rect">
                        <a:avLst/>
                      </a:prstGeom>
                      <a:solidFill>
                        <a:schemeClr val="accent6">
                          <a:lumMod val="40000"/>
                          <a:lumOff val="60000"/>
                        </a:schemeClr>
                      </a:solidFill>
                    </p:spPr>
                  </p:pic>
                </p:oleObj>
              </mc:Fallback>
            </mc:AlternateContent>
          </a:graphicData>
        </a:graphic>
      </p:graphicFrame>
      <p:sp>
        <p:nvSpPr>
          <p:cNvPr id="20"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1" name="对象 20"/>
          <p:cNvGraphicFramePr>
            <a:graphicFrameLocks noChangeAspect="1"/>
          </p:cNvGraphicFramePr>
          <p:nvPr>
            <p:extLst>
              <p:ext uri="{D42A27DB-BD31-4B8C-83A1-F6EECF244321}">
                <p14:modId xmlns:p14="http://schemas.microsoft.com/office/powerpoint/2010/main" val="470867275"/>
              </p:ext>
            </p:extLst>
          </p:nvPr>
        </p:nvGraphicFramePr>
        <p:xfrm>
          <a:off x="3347864" y="4437112"/>
          <a:ext cx="1688588" cy="504056"/>
        </p:xfrm>
        <a:graphic>
          <a:graphicData uri="http://schemas.openxmlformats.org/presentationml/2006/ole">
            <mc:AlternateContent xmlns:mc="http://schemas.openxmlformats.org/markup-compatibility/2006">
              <mc:Choice xmlns:v="urn:schemas-microsoft-com:vml" Requires="v">
                <p:oleObj spid="_x0000_s100449" r:id="rId13" imgW="634725" imgH="190417" progId="Equation.DSMT4">
                  <p:embed/>
                </p:oleObj>
              </mc:Choice>
              <mc:Fallback>
                <p:oleObj r:id="rId13" imgW="634725" imgH="190417" progId="Equation.DSMT4">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47864" y="4437112"/>
                        <a:ext cx="1688588" cy="504056"/>
                      </a:xfrm>
                      <a:prstGeom prst="rect">
                        <a:avLst/>
                      </a:prstGeom>
                      <a:solidFill>
                        <a:srgbClr val="99CCFF"/>
                      </a:solidFill>
                    </p:spPr>
                  </p:pic>
                </p:oleObj>
              </mc:Fallback>
            </mc:AlternateContent>
          </a:graphicData>
        </a:graphic>
      </p:graphicFrame>
      <p:sp>
        <p:nvSpPr>
          <p:cNvPr id="26" name="TextBox 25"/>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41</a:t>
            </a:r>
            <a:endParaRPr lang="zh-CN" altLang="en-US" sz="2000" b="1" dirty="0">
              <a:solidFill>
                <a:schemeClr val="tx1"/>
              </a:solidFill>
              <a:latin typeface="黑体" pitchFamily="49" charset="-122"/>
              <a:ea typeface="黑体" pitchFamily="49" charset="-122"/>
            </a:endParaRPr>
          </a:p>
        </p:txBody>
      </p:sp>
      <p:grpSp>
        <p:nvGrpSpPr>
          <p:cNvPr id="6"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sp>
        <p:nvSpPr>
          <p:cNvPr id="2" name="矩形 1"/>
          <p:cNvSpPr/>
          <p:nvPr/>
        </p:nvSpPr>
        <p:spPr>
          <a:xfrm>
            <a:off x="572984" y="4365104"/>
            <a:ext cx="7167368" cy="523220"/>
          </a:xfrm>
          <a:prstGeom prst="rect">
            <a:avLst/>
          </a:prstGeom>
        </p:spPr>
        <p:txBody>
          <a:bodyPr wrap="square">
            <a:spAutoFit/>
          </a:bodyPr>
          <a:lstStyle/>
          <a:p>
            <a:r>
              <a:rPr lang="zh-CN" altLang="en-US" sz="2800" dirty="0">
                <a:solidFill>
                  <a:prstClr val="black"/>
                </a:solidFill>
                <a:latin typeface="Times New Roman" pitchFamily="18" charset="0"/>
                <a:ea typeface="微软雅黑" pitchFamily="34" charset="-122"/>
                <a:cs typeface="Times New Roman" pitchFamily="18" charset="0"/>
              </a:rPr>
              <a:t>因此，燃气轮机循环的热效率又可以表示为</a:t>
            </a:r>
            <a:endParaRPr lang="zh-CN" altLang="en-US" sz="2800"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p:cNvGraphicFramePr>
            <a:graphicFrameLocks noChangeAspect="1"/>
          </p:cNvGraphicFramePr>
          <p:nvPr>
            <p:extLst>
              <p:ext uri="{D42A27DB-BD31-4B8C-83A1-F6EECF244321}">
                <p14:modId xmlns:p14="http://schemas.microsoft.com/office/powerpoint/2010/main" val="3781892438"/>
              </p:ext>
            </p:extLst>
          </p:nvPr>
        </p:nvGraphicFramePr>
        <p:xfrm>
          <a:off x="3203848" y="5013176"/>
          <a:ext cx="2310384" cy="936104"/>
        </p:xfrm>
        <a:graphic>
          <a:graphicData uri="http://schemas.openxmlformats.org/presentationml/2006/ole">
            <mc:AlternateContent xmlns:mc="http://schemas.openxmlformats.org/markup-compatibility/2006">
              <mc:Choice xmlns:v="urn:schemas-microsoft-com:vml" Requires="v">
                <p:oleObj spid="_x0000_s102498" r:id="rId7" imgW="1104900" imgH="444500" progId="Equation.DSMT4">
                  <p:embed/>
                </p:oleObj>
              </mc:Choice>
              <mc:Fallback>
                <p:oleObj r:id="rId7" imgW="1104900" imgH="4445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3848" y="5013176"/>
                        <a:ext cx="2310384" cy="936104"/>
                      </a:xfrm>
                      <a:prstGeom prst="rect">
                        <a:avLst/>
                      </a:prstGeom>
                      <a:solidFill>
                        <a:schemeClr val="accent3">
                          <a:lumMod val="40000"/>
                          <a:lumOff val="60000"/>
                        </a:schemeClr>
                      </a:solidFill>
                    </p:spPr>
                  </p:pic>
                </p:oleObj>
              </mc:Fallback>
            </mc:AlternateContent>
          </a:graphicData>
        </a:graphic>
      </p:graphicFrame>
      <p:sp>
        <p:nvSpPr>
          <p:cNvPr id="16"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p:cNvGraphicFramePr>
            <a:graphicFrameLocks noChangeAspect="1"/>
          </p:cNvGraphicFramePr>
          <p:nvPr>
            <p:extLst>
              <p:ext uri="{D42A27DB-BD31-4B8C-83A1-F6EECF244321}">
                <p14:modId xmlns:p14="http://schemas.microsoft.com/office/powerpoint/2010/main" val="1145495077"/>
              </p:ext>
            </p:extLst>
          </p:nvPr>
        </p:nvGraphicFramePr>
        <p:xfrm>
          <a:off x="3275856" y="3501008"/>
          <a:ext cx="2102250" cy="864096"/>
        </p:xfrm>
        <a:graphic>
          <a:graphicData uri="http://schemas.openxmlformats.org/presentationml/2006/ole">
            <mc:AlternateContent xmlns:mc="http://schemas.openxmlformats.org/markup-compatibility/2006">
              <mc:Choice xmlns:v="urn:schemas-microsoft-com:vml" Requires="v">
                <p:oleObj spid="_x0000_s102499" name="公式" r:id="rId9" imgW="774360" imgH="317160" progId="Equation.3">
                  <p:embed/>
                </p:oleObj>
              </mc:Choice>
              <mc:Fallback>
                <p:oleObj name="公式" r:id="rId9" imgW="774360" imgH="317160" progId="Equation.3">
                  <p:embed/>
                  <p:pic>
                    <p:nvPicPr>
                      <p:cNvPr id="0" name="Object 7"/>
                      <p:cNvPicPr>
                        <a:picLocks noChangeAspect="1" noChangeArrowheads="1"/>
                      </p:cNvPicPr>
                      <p:nvPr/>
                    </p:nvPicPr>
                    <p:blipFill>
                      <a:blip r:embed="rId10"/>
                      <a:srcRect/>
                      <a:stretch>
                        <a:fillRect/>
                      </a:stretch>
                    </p:blipFill>
                    <p:spPr bwMode="auto">
                      <a:xfrm>
                        <a:off x="3275856" y="3501008"/>
                        <a:ext cx="2102250" cy="864096"/>
                      </a:xfrm>
                      <a:prstGeom prst="rect">
                        <a:avLst/>
                      </a:prstGeom>
                      <a:noFill/>
                    </p:spPr>
                  </p:pic>
                </p:oleObj>
              </mc:Fallback>
            </mc:AlternateContent>
          </a:graphicData>
        </a:graphic>
      </p:graphicFrame>
      <p:sp>
        <p:nvSpPr>
          <p:cNvPr id="25" name="矩形 24"/>
          <p:cNvSpPr/>
          <p:nvPr/>
        </p:nvSpPr>
        <p:spPr>
          <a:xfrm>
            <a:off x="395536" y="1268760"/>
            <a:ext cx="5826107" cy="523220"/>
          </a:xfrm>
          <a:prstGeom prst="rect">
            <a:avLst/>
          </a:prstGeom>
        </p:spPr>
        <p:txBody>
          <a:bodyPr wrap="square">
            <a:spAutoFit/>
          </a:bodyPr>
          <a:lstStyle/>
          <a:p>
            <a:r>
              <a:rPr lang="zh-CN" altLang="en-US" sz="2800" dirty="0">
                <a:solidFill>
                  <a:prstClr val="black"/>
                </a:solidFill>
                <a:latin typeface="Times New Roman" pitchFamily="18" charset="0"/>
                <a:ea typeface="微软雅黑" pitchFamily="34" charset="-122"/>
                <a:cs typeface="Times New Roman" pitchFamily="18" charset="0"/>
              </a:rPr>
              <a:t>由于</a:t>
            </a:r>
            <a:r>
              <a:rPr lang="en-US" altLang="zh-CN" sz="2800" dirty="0">
                <a:solidFill>
                  <a:prstClr val="black"/>
                </a:solidFill>
                <a:latin typeface="Times New Roman" pitchFamily="18" charset="0"/>
                <a:ea typeface="微软雅黑" pitchFamily="34" charset="-122"/>
                <a:cs typeface="Times New Roman" pitchFamily="18" charset="0"/>
              </a:rPr>
              <a:t>1-2</a:t>
            </a:r>
            <a:r>
              <a:rPr lang="zh-CN" altLang="en-US" sz="2800" dirty="0">
                <a:solidFill>
                  <a:prstClr val="black"/>
                </a:solidFill>
                <a:latin typeface="Times New Roman" pitchFamily="18" charset="0"/>
                <a:ea typeface="微软雅黑" pitchFamily="34" charset="-122"/>
                <a:cs typeface="Times New Roman" pitchFamily="18" charset="0"/>
              </a:rPr>
              <a:t>和</a:t>
            </a:r>
            <a:r>
              <a:rPr lang="en-US" altLang="zh-CN" sz="2800" dirty="0">
                <a:solidFill>
                  <a:prstClr val="black"/>
                </a:solidFill>
                <a:latin typeface="Times New Roman" pitchFamily="18" charset="0"/>
                <a:ea typeface="微软雅黑" pitchFamily="34" charset="-122"/>
                <a:cs typeface="Times New Roman" pitchFamily="18" charset="0"/>
              </a:rPr>
              <a:t>3-4</a:t>
            </a:r>
            <a:r>
              <a:rPr lang="zh-CN" altLang="en-US" sz="2800" dirty="0">
                <a:solidFill>
                  <a:prstClr val="black"/>
                </a:solidFill>
                <a:latin typeface="Times New Roman" pitchFamily="18" charset="0"/>
                <a:ea typeface="微软雅黑" pitchFamily="34" charset="-122"/>
                <a:cs typeface="Times New Roman" pitchFamily="18" charset="0"/>
              </a:rPr>
              <a:t>都是定熵过程，并且</a:t>
            </a:r>
            <a:endParaRPr lang="zh-CN" altLang="en-US" sz="2800" dirty="0"/>
          </a:p>
        </p:txBody>
      </p:sp>
      <p:graphicFrame>
        <p:nvGraphicFramePr>
          <p:cNvPr id="18" name="对象 17"/>
          <p:cNvGraphicFramePr>
            <a:graphicFrameLocks noChangeAspect="1"/>
          </p:cNvGraphicFramePr>
          <p:nvPr>
            <p:extLst>
              <p:ext uri="{D42A27DB-BD31-4B8C-83A1-F6EECF244321}">
                <p14:modId xmlns:p14="http://schemas.microsoft.com/office/powerpoint/2010/main" val="3042247845"/>
              </p:ext>
            </p:extLst>
          </p:nvPr>
        </p:nvGraphicFramePr>
        <p:xfrm>
          <a:off x="3075383" y="1844824"/>
          <a:ext cx="2557534" cy="535409"/>
        </p:xfrm>
        <a:graphic>
          <a:graphicData uri="http://schemas.openxmlformats.org/presentationml/2006/ole">
            <mc:AlternateContent xmlns:mc="http://schemas.openxmlformats.org/markup-compatibility/2006">
              <mc:Choice xmlns:v="urn:schemas-microsoft-com:vml" Requires="v">
                <p:oleObj spid="_x0000_s102500" name="公式" r:id="rId11" imgW="850680" imgH="177480" progId="Equation.3">
                  <p:embed/>
                </p:oleObj>
              </mc:Choice>
              <mc:Fallback>
                <p:oleObj name="公式" r:id="rId11" imgW="850680" imgH="177480" progId="Equation.3">
                  <p:embed/>
                  <p:pic>
                    <p:nvPicPr>
                      <p:cNvPr id="0" name="对象 16"/>
                      <p:cNvPicPr>
                        <a:picLocks noChangeAspect="1" noChangeArrowheads="1"/>
                      </p:cNvPicPr>
                      <p:nvPr/>
                    </p:nvPicPr>
                    <p:blipFill>
                      <a:blip r:embed="rId12"/>
                      <a:srcRect/>
                      <a:stretch>
                        <a:fillRect/>
                      </a:stretch>
                    </p:blipFill>
                    <p:spPr bwMode="auto">
                      <a:xfrm>
                        <a:off x="3075383" y="1844824"/>
                        <a:ext cx="2557534" cy="535409"/>
                      </a:xfrm>
                      <a:prstGeom prst="rect">
                        <a:avLst/>
                      </a:prstGeom>
                      <a:noFill/>
                      <a:ln>
                        <a:noFill/>
                      </a:ln>
                    </p:spPr>
                  </p:pic>
                </p:oleObj>
              </mc:Fallback>
            </mc:AlternateContent>
          </a:graphicData>
        </a:graphic>
      </p:graphicFrame>
      <p:sp>
        <p:nvSpPr>
          <p:cNvPr id="19" name="Rectangle 1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0" name="对象 19"/>
          <p:cNvGraphicFramePr>
            <a:graphicFrameLocks noChangeAspect="1"/>
          </p:cNvGraphicFramePr>
          <p:nvPr>
            <p:extLst>
              <p:ext uri="{D42A27DB-BD31-4B8C-83A1-F6EECF244321}">
                <p14:modId xmlns:p14="http://schemas.microsoft.com/office/powerpoint/2010/main" val="3866937727"/>
              </p:ext>
            </p:extLst>
          </p:nvPr>
        </p:nvGraphicFramePr>
        <p:xfrm>
          <a:off x="2349500" y="2336800"/>
          <a:ext cx="3594100" cy="1104900"/>
        </p:xfrm>
        <a:graphic>
          <a:graphicData uri="http://schemas.openxmlformats.org/presentationml/2006/ole">
            <mc:AlternateContent xmlns:mc="http://schemas.openxmlformats.org/markup-compatibility/2006">
              <mc:Choice xmlns:v="urn:schemas-microsoft-com:vml" Requires="v">
                <p:oleObj spid="_x0000_s102501" name="公式" r:id="rId13" imgW="1371600" imgH="419040" progId="Equation.3">
                  <p:embed/>
                </p:oleObj>
              </mc:Choice>
              <mc:Fallback>
                <p:oleObj name="公式" r:id="rId13" imgW="1371600" imgH="419040" progId="Equation.3">
                  <p:embed/>
                  <p:pic>
                    <p:nvPicPr>
                      <p:cNvPr id="0" name="Object 11"/>
                      <p:cNvPicPr>
                        <a:picLocks noChangeAspect="1" noChangeArrowheads="1"/>
                      </p:cNvPicPr>
                      <p:nvPr/>
                    </p:nvPicPr>
                    <p:blipFill>
                      <a:blip r:embed="rId14"/>
                      <a:srcRect/>
                      <a:stretch>
                        <a:fillRect/>
                      </a:stretch>
                    </p:blipFill>
                    <p:spPr bwMode="auto">
                      <a:xfrm>
                        <a:off x="2349500" y="2336800"/>
                        <a:ext cx="3594100" cy="1104900"/>
                      </a:xfrm>
                      <a:prstGeom prst="rect">
                        <a:avLst/>
                      </a:prstGeom>
                      <a:noFill/>
                    </p:spPr>
                  </p:pic>
                </p:oleObj>
              </mc:Fallback>
            </mc:AlternateContent>
          </a:graphicData>
        </a:graphic>
      </p:graphicFrame>
      <p:sp>
        <p:nvSpPr>
          <p:cNvPr id="26" name="TextBox 25"/>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prstClr val="black"/>
                </a:solidFill>
                <a:latin typeface="黑体" pitchFamily="49" charset="-122"/>
                <a:ea typeface="黑体" pitchFamily="49" charset="-122"/>
              </a:rPr>
              <a:t>42</a:t>
            </a:r>
            <a:endParaRPr lang="zh-CN" altLang="en-US" sz="2000" b="1" dirty="0">
              <a:solidFill>
                <a:prstClr val="black"/>
              </a:solidFill>
              <a:latin typeface="黑体" pitchFamily="49" charset="-122"/>
              <a:ea typeface="黑体" pitchFamily="49" charset="-122"/>
            </a:endParaRPr>
          </a:p>
        </p:txBody>
      </p:sp>
      <p:grpSp>
        <p:nvGrpSpPr>
          <p:cNvPr id="6"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30" name="矩形 29"/>
          <p:cNvSpPr/>
          <p:nvPr/>
        </p:nvSpPr>
        <p:spPr>
          <a:xfrm>
            <a:off x="395536" y="1484784"/>
            <a:ext cx="8352928" cy="3724096"/>
          </a:xfrm>
          <a:prstGeom prst="rect">
            <a:avLst/>
          </a:prstGeom>
        </p:spPr>
        <p:txBody>
          <a:bodyPr wrap="square">
            <a:spAutoFit/>
          </a:bodyPr>
          <a:lstStyle/>
          <a:p>
            <a:pPr>
              <a:lnSpc>
                <a:spcPct val="150000"/>
              </a:lnSpc>
              <a:spcBef>
                <a:spcPts val="1200"/>
              </a:spcBef>
            </a:pPr>
            <a:r>
              <a:rPr lang="zh-CN" altLang="en-US" sz="3200" b="1" dirty="0">
                <a:solidFill>
                  <a:prstClr val="black"/>
                </a:solidFill>
                <a:latin typeface="Times New Roman" pitchFamily="18" charset="0"/>
                <a:ea typeface="微软雅黑" pitchFamily="34" charset="-122"/>
                <a:cs typeface="Times New Roman" pitchFamily="18" charset="0"/>
              </a:rPr>
              <a:t>讨论：</a:t>
            </a:r>
          </a:p>
          <a:p>
            <a:pPr marL="457200" indent="-457200">
              <a:lnSpc>
                <a:spcPct val="150000"/>
              </a:lnSpc>
              <a:spcBef>
                <a:spcPts val="1200"/>
              </a:spcBef>
              <a:buFont typeface="Wingdings" panose="05000000000000000000" pitchFamily="2" charset="2"/>
              <a:buChar char="Ø"/>
            </a:pPr>
            <a:r>
              <a:rPr lang="zh-CN" altLang="en-US" sz="2800" b="1" dirty="0">
                <a:solidFill>
                  <a:srgbClr val="FF0000"/>
                </a:solidFill>
                <a:latin typeface="Times New Roman" pitchFamily="18" charset="0"/>
                <a:ea typeface="微软雅黑" pitchFamily="34" charset="-122"/>
                <a:cs typeface="Times New Roman" pitchFamily="18" charset="0"/>
              </a:rPr>
              <a:t>随增压比</a:t>
            </a:r>
            <a:r>
              <a:rPr lang="en-US" altLang="zh-CN" sz="2800" b="1" i="1" dirty="0">
                <a:solidFill>
                  <a:srgbClr val="FF0000"/>
                </a:solidFill>
                <a:latin typeface="Times New Roman" pitchFamily="18" charset="0"/>
                <a:ea typeface="微软雅黑" pitchFamily="34" charset="-122"/>
                <a:cs typeface="Times New Roman" pitchFamily="18" charset="0"/>
              </a:rPr>
              <a:t>π</a:t>
            </a:r>
            <a:r>
              <a:rPr lang="en-US" altLang="zh-CN" sz="2800" b="1" dirty="0">
                <a:solidFill>
                  <a:srgbClr val="FF0000"/>
                </a:solidFill>
                <a:latin typeface="Times New Roman" pitchFamily="18" charset="0"/>
                <a:ea typeface="微软雅黑" pitchFamily="34" charset="-122"/>
                <a:cs typeface="Times New Roman" pitchFamily="18" charset="0"/>
              </a:rPr>
              <a:t>↑→</a:t>
            </a:r>
            <a:r>
              <a:rPr lang="en-US" altLang="zh-CN" sz="2800" b="1" i="1" dirty="0" err="1">
                <a:solidFill>
                  <a:srgbClr val="FF0000"/>
                </a:solidFill>
                <a:latin typeface="Times New Roman" pitchFamily="18" charset="0"/>
                <a:ea typeface="微软雅黑" pitchFamily="34" charset="-122"/>
                <a:cs typeface="Times New Roman" pitchFamily="18" charset="0"/>
              </a:rPr>
              <a:t>η</a:t>
            </a:r>
            <a:r>
              <a:rPr lang="en-US" altLang="zh-CN" sz="2800" b="1" baseline="-25000" dirty="0" err="1">
                <a:solidFill>
                  <a:srgbClr val="FF0000"/>
                </a:solidFill>
                <a:latin typeface="Times New Roman" pitchFamily="18" charset="0"/>
                <a:ea typeface="微软雅黑" pitchFamily="34" charset="-122"/>
                <a:cs typeface="Times New Roman" pitchFamily="18" charset="0"/>
              </a:rPr>
              <a:t>t</a:t>
            </a:r>
            <a:r>
              <a:rPr lang="en-US" altLang="zh-CN" sz="2800" b="1" dirty="0">
                <a:solidFill>
                  <a:srgbClr val="FF0000"/>
                </a:solidFill>
                <a:latin typeface="Times New Roman" pitchFamily="18" charset="0"/>
                <a:ea typeface="微软雅黑" pitchFamily="34" charset="-122"/>
                <a:cs typeface="Times New Roman" pitchFamily="18" charset="0"/>
              </a:rPr>
              <a:t>↑,</a:t>
            </a:r>
            <a:r>
              <a:rPr lang="zh-CN" altLang="en-US" sz="2800" b="1" dirty="0">
                <a:solidFill>
                  <a:srgbClr val="FF0000"/>
                </a:solidFill>
                <a:latin typeface="Times New Roman" pitchFamily="18" charset="0"/>
                <a:ea typeface="微软雅黑" pitchFamily="34" charset="-122"/>
                <a:cs typeface="Times New Roman" pitchFamily="18" charset="0"/>
              </a:rPr>
              <a:t>一般取</a:t>
            </a:r>
            <a:r>
              <a:rPr lang="en-US" altLang="zh-CN" sz="2800" b="1" i="1" dirty="0">
                <a:solidFill>
                  <a:srgbClr val="FF0000"/>
                </a:solidFill>
                <a:latin typeface="Times New Roman" pitchFamily="18" charset="0"/>
                <a:ea typeface="微软雅黑" pitchFamily="34" charset="-122"/>
                <a:cs typeface="Times New Roman" pitchFamily="18" charset="0"/>
              </a:rPr>
              <a:t>π</a:t>
            </a:r>
            <a:r>
              <a:rPr lang="en-US" altLang="zh-CN" sz="2800" b="1" dirty="0">
                <a:solidFill>
                  <a:srgbClr val="FF0000"/>
                </a:solidFill>
                <a:latin typeface="Times New Roman" pitchFamily="18" charset="0"/>
                <a:ea typeface="微软雅黑" pitchFamily="34" charset="-122"/>
                <a:cs typeface="Times New Roman" pitchFamily="18" charset="0"/>
              </a:rPr>
              <a:t>=3</a:t>
            </a:r>
            <a:r>
              <a:rPr lang="zh-CN" altLang="en-US" sz="2800" b="1" dirty="0">
                <a:solidFill>
                  <a:srgbClr val="FF0000"/>
                </a:solidFill>
                <a:latin typeface="宋体"/>
                <a:ea typeface="宋体"/>
                <a:cs typeface="Times New Roman" pitchFamily="18" charset="0"/>
              </a:rPr>
              <a:t>～</a:t>
            </a:r>
            <a:r>
              <a:rPr lang="en-US" altLang="zh-CN" sz="2800" b="1" dirty="0">
                <a:solidFill>
                  <a:srgbClr val="FF0000"/>
                </a:solidFill>
                <a:latin typeface="Times New Roman" pitchFamily="18" charset="0"/>
                <a:ea typeface="微软雅黑" pitchFamily="34" charset="-122"/>
                <a:cs typeface="Times New Roman" pitchFamily="18" charset="0"/>
              </a:rPr>
              <a:t>10</a:t>
            </a:r>
            <a:r>
              <a:rPr lang="zh-CN" altLang="en-US" sz="2800" b="1" dirty="0">
                <a:solidFill>
                  <a:srgbClr val="FF0000"/>
                </a:solidFill>
                <a:latin typeface="Times New Roman" pitchFamily="18" charset="0"/>
                <a:ea typeface="微软雅黑" pitchFamily="34" charset="-122"/>
                <a:cs typeface="Times New Roman" pitchFamily="18" charset="0"/>
              </a:rPr>
              <a:t>，</a:t>
            </a:r>
            <a:r>
              <a:rPr lang="en-US" altLang="zh-CN" sz="2800" b="1" i="1" dirty="0">
                <a:solidFill>
                  <a:srgbClr val="FF0000"/>
                </a:solidFill>
                <a:latin typeface="Times New Roman" pitchFamily="18" charset="0"/>
                <a:ea typeface="微软雅黑" pitchFamily="34" charset="-122"/>
                <a:cs typeface="Times New Roman" pitchFamily="18" charset="0"/>
              </a:rPr>
              <a:t>π</a:t>
            </a:r>
            <a:r>
              <a:rPr lang="zh-CN" altLang="en-US" sz="2800" b="1" dirty="0">
                <a:solidFill>
                  <a:srgbClr val="FF0000"/>
                </a:solidFill>
                <a:latin typeface="Times New Roman" pitchFamily="18" charset="0"/>
                <a:ea typeface="微软雅黑" pitchFamily="34" charset="-122"/>
                <a:cs typeface="Times New Roman" pitchFamily="18" charset="0"/>
              </a:rPr>
              <a:t>的提高受材料性能的限制。</a:t>
            </a:r>
            <a:r>
              <a:rPr lang="en-US" altLang="zh-CN" sz="2800" b="1" i="1" dirty="0" err="1">
                <a:solidFill>
                  <a:srgbClr val="FF0000"/>
                </a:solidFill>
                <a:latin typeface="Times New Roman" pitchFamily="18" charset="0"/>
                <a:ea typeface="微软雅黑" pitchFamily="34" charset="-122"/>
                <a:cs typeface="Times New Roman" pitchFamily="18" charset="0"/>
              </a:rPr>
              <a:t>η</a:t>
            </a:r>
            <a:r>
              <a:rPr lang="en-US" altLang="zh-CN" sz="2800" b="1" baseline="-25000" dirty="0" err="1">
                <a:solidFill>
                  <a:srgbClr val="FF0000"/>
                </a:solidFill>
                <a:latin typeface="Times New Roman" pitchFamily="18" charset="0"/>
                <a:ea typeface="微软雅黑" pitchFamily="34" charset="-122"/>
                <a:cs typeface="Times New Roman" pitchFamily="18" charset="0"/>
              </a:rPr>
              <a:t>t</a:t>
            </a:r>
            <a:r>
              <a:rPr lang="en-US" altLang="zh-CN" sz="2800" b="1" dirty="0">
                <a:solidFill>
                  <a:srgbClr val="FF0000"/>
                </a:solidFill>
                <a:latin typeface="Times New Roman" pitchFamily="18" charset="0"/>
                <a:ea typeface="微软雅黑" pitchFamily="34" charset="-122"/>
                <a:cs typeface="Times New Roman" pitchFamily="18" charset="0"/>
              </a:rPr>
              <a:t> </a:t>
            </a:r>
            <a:r>
              <a:rPr lang="zh-CN" altLang="en-US" sz="2800" b="1" dirty="0">
                <a:solidFill>
                  <a:srgbClr val="FF0000"/>
                </a:solidFill>
                <a:latin typeface="Times New Roman" pitchFamily="18" charset="0"/>
                <a:ea typeface="微软雅黑" pitchFamily="34" charset="-122"/>
                <a:cs typeface="Times New Roman" pitchFamily="18" charset="0"/>
              </a:rPr>
              <a:t>与</a:t>
            </a:r>
            <a:r>
              <a:rPr lang="en-US" altLang="zh-CN" sz="2800" b="1" i="1" dirty="0">
                <a:solidFill>
                  <a:srgbClr val="FF0000"/>
                </a:solidFill>
                <a:latin typeface="Times New Roman" pitchFamily="18" charset="0"/>
                <a:ea typeface="微软雅黑" pitchFamily="34" charset="-122"/>
                <a:cs typeface="Times New Roman" pitchFamily="18" charset="0"/>
              </a:rPr>
              <a:t>τ </a:t>
            </a:r>
            <a:r>
              <a:rPr lang="zh-CN" altLang="en-US" sz="2800" b="1" dirty="0">
                <a:solidFill>
                  <a:srgbClr val="FF0000"/>
                </a:solidFill>
                <a:latin typeface="Times New Roman" pitchFamily="18" charset="0"/>
                <a:ea typeface="微软雅黑" pitchFamily="34" charset="-122"/>
                <a:cs typeface="Times New Roman" pitchFamily="18" charset="0"/>
              </a:rPr>
              <a:t>无关。</a:t>
            </a:r>
          </a:p>
          <a:p>
            <a:pPr marL="457200" indent="-457200">
              <a:lnSpc>
                <a:spcPct val="150000"/>
              </a:lnSpc>
              <a:spcBef>
                <a:spcPts val="1200"/>
              </a:spcBef>
              <a:buFont typeface="Wingdings" panose="05000000000000000000" pitchFamily="2" charset="2"/>
              <a:buChar char="Ø"/>
            </a:pPr>
            <a:r>
              <a:rPr lang="zh-CN" altLang="en-US" sz="2800" b="1" dirty="0">
                <a:solidFill>
                  <a:srgbClr val="0070C0"/>
                </a:solidFill>
                <a:latin typeface="Times New Roman" pitchFamily="18" charset="0"/>
                <a:ea typeface="微软雅黑" pitchFamily="34" charset="-122"/>
                <a:cs typeface="Times New Roman" pitchFamily="18" charset="0"/>
              </a:rPr>
              <a:t>但</a:t>
            </a:r>
            <a:r>
              <a:rPr lang="en-US" altLang="zh-CN" sz="2800" b="1" i="1" dirty="0">
                <a:solidFill>
                  <a:srgbClr val="0070C0"/>
                </a:solidFill>
                <a:latin typeface="Times New Roman" pitchFamily="18" charset="0"/>
                <a:ea typeface="微软雅黑" pitchFamily="34" charset="-122"/>
                <a:cs typeface="Times New Roman" pitchFamily="18" charset="0"/>
              </a:rPr>
              <a:t>π</a:t>
            </a:r>
            <a:r>
              <a:rPr lang="en-US" altLang="zh-CN" sz="2800" b="1" dirty="0">
                <a:solidFill>
                  <a:srgbClr val="0070C0"/>
                </a:solidFill>
                <a:latin typeface="Times New Roman" pitchFamily="18" charset="0"/>
                <a:ea typeface="微软雅黑" pitchFamily="34" charset="-122"/>
                <a:cs typeface="Times New Roman" pitchFamily="18" charset="0"/>
              </a:rPr>
              <a:t>↑ </a:t>
            </a:r>
            <a:r>
              <a:rPr lang="zh-CN" altLang="en-US" sz="2800" b="1" dirty="0">
                <a:solidFill>
                  <a:srgbClr val="0070C0"/>
                </a:solidFill>
                <a:latin typeface="Times New Roman" pitchFamily="18" charset="0"/>
                <a:ea typeface="微软雅黑" pitchFamily="34" charset="-122"/>
                <a:cs typeface="Times New Roman" pitchFamily="18" charset="0"/>
              </a:rPr>
              <a:t>，循环净功 </a:t>
            </a:r>
            <a:r>
              <a:rPr lang="en-US" altLang="zh-CN" sz="2800" b="1" i="1" dirty="0">
                <a:solidFill>
                  <a:srgbClr val="0070C0"/>
                </a:solidFill>
                <a:latin typeface="Times New Roman" pitchFamily="18" charset="0"/>
                <a:ea typeface="微软雅黑" pitchFamily="34" charset="-122"/>
                <a:cs typeface="Times New Roman" pitchFamily="18" charset="0"/>
              </a:rPr>
              <a:t>w</a:t>
            </a:r>
            <a:r>
              <a:rPr lang="en-US" altLang="zh-CN" sz="2800" b="1" baseline="-25000" dirty="0">
                <a:solidFill>
                  <a:srgbClr val="0070C0"/>
                </a:solidFill>
                <a:latin typeface="Times New Roman" pitchFamily="18" charset="0"/>
                <a:ea typeface="微软雅黑" pitchFamily="34" charset="-122"/>
                <a:cs typeface="Times New Roman" pitchFamily="18" charset="0"/>
              </a:rPr>
              <a:t>0</a:t>
            </a:r>
            <a:r>
              <a:rPr lang="en-US" altLang="zh-CN" sz="2800" b="1" i="1" baseline="-25000" dirty="0">
                <a:solidFill>
                  <a:srgbClr val="0070C0"/>
                </a:solidFill>
                <a:latin typeface="Times New Roman" pitchFamily="18" charset="0"/>
                <a:ea typeface="微软雅黑" pitchFamily="34" charset="-122"/>
                <a:cs typeface="Times New Roman" pitchFamily="18" charset="0"/>
              </a:rPr>
              <a:t> </a:t>
            </a:r>
            <a:r>
              <a:rPr lang="zh-CN" altLang="en-US" sz="2800" b="1" dirty="0">
                <a:solidFill>
                  <a:srgbClr val="0070C0"/>
                </a:solidFill>
                <a:latin typeface="Times New Roman" pitchFamily="18" charset="0"/>
                <a:ea typeface="微软雅黑" pitchFamily="34" charset="-122"/>
                <a:cs typeface="Times New Roman" pitchFamily="18" charset="0"/>
              </a:rPr>
              <a:t>并非单调增加，而是存在一个最佳</a:t>
            </a:r>
            <a:r>
              <a:rPr lang="en-US" altLang="zh-CN" sz="2800" b="1" i="1" dirty="0" err="1">
                <a:solidFill>
                  <a:srgbClr val="0070C0"/>
                </a:solidFill>
                <a:latin typeface="Times New Roman" pitchFamily="18" charset="0"/>
                <a:ea typeface="微软雅黑" pitchFamily="34" charset="-122"/>
                <a:cs typeface="Times New Roman" pitchFamily="18" charset="0"/>
              </a:rPr>
              <a:t>π</a:t>
            </a:r>
            <a:r>
              <a:rPr lang="en-US" altLang="zh-CN" sz="2800" b="1" baseline="-25000" dirty="0" err="1">
                <a:solidFill>
                  <a:srgbClr val="0070C0"/>
                </a:solidFill>
                <a:latin typeface="Times New Roman" pitchFamily="18" charset="0"/>
                <a:ea typeface="微软雅黑" pitchFamily="34" charset="-122"/>
                <a:cs typeface="Times New Roman" pitchFamily="18" charset="0"/>
              </a:rPr>
              <a:t>opt</a:t>
            </a:r>
            <a:r>
              <a:rPr lang="en-US" altLang="zh-CN" sz="2800" b="1" i="1" baseline="-25000" dirty="0">
                <a:solidFill>
                  <a:srgbClr val="0070C0"/>
                </a:solidFill>
                <a:latin typeface="Times New Roman" pitchFamily="18" charset="0"/>
                <a:ea typeface="微软雅黑" pitchFamily="34" charset="-122"/>
                <a:cs typeface="Times New Roman" pitchFamily="18" charset="0"/>
              </a:rPr>
              <a:t>  </a:t>
            </a:r>
            <a:r>
              <a:rPr lang="zh-CN" altLang="en-US" sz="2800" b="1" dirty="0">
                <a:solidFill>
                  <a:srgbClr val="0070C0"/>
                </a:solidFill>
                <a:latin typeface="Times New Roman" pitchFamily="18" charset="0"/>
                <a:ea typeface="微软雅黑" pitchFamily="34" charset="-122"/>
                <a:cs typeface="Times New Roman" pitchFamily="18" charset="0"/>
              </a:rPr>
              <a:t>，使 </a:t>
            </a:r>
            <a:r>
              <a:rPr lang="en-US" altLang="zh-CN" sz="2800" b="1" i="1" dirty="0">
                <a:solidFill>
                  <a:srgbClr val="0070C0"/>
                </a:solidFill>
                <a:latin typeface="Times New Roman" pitchFamily="18" charset="0"/>
                <a:ea typeface="微软雅黑" pitchFamily="34" charset="-122"/>
                <a:cs typeface="Times New Roman" pitchFamily="18" charset="0"/>
              </a:rPr>
              <a:t>w</a:t>
            </a:r>
            <a:r>
              <a:rPr lang="en-US" altLang="zh-CN" sz="2800" b="1" baseline="-25000" dirty="0">
                <a:solidFill>
                  <a:srgbClr val="0070C0"/>
                </a:solidFill>
                <a:latin typeface="Times New Roman" pitchFamily="18" charset="0"/>
                <a:ea typeface="微软雅黑" pitchFamily="34" charset="-122"/>
                <a:cs typeface="Times New Roman" pitchFamily="18" charset="0"/>
              </a:rPr>
              <a:t>0</a:t>
            </a:r>
            <a:r>
              <a:rPr lang="en-US" altLang="zh-CN" sz="2800" b="1" i="1" baseline="-25000" dirty="0">
                <a:solidFill>
                  <a:srgbClr val="0070C0"/>
                </a:solidFill>
                <a:latin typeface="Times New Roman" pitchFamily="18" charset="0"/>
                <a:ea typeface="微软雅黑" pitchFamily="34" charset="-122"/>
                <a:cs typeface="Times New Roman" pitchFamily="18" charset="0"/>
              </a:rPr>
              <a:t> </a:t>
            </a:r>
            <a:r>
              <a:rPr lang="zh-CN" altLang="en-US" sz="2800" b="1" dirty="0">
                <a:solidFill>
                  <a:srgbClr val="0070C0"/>
                </a:solidFill>
                <a:latin typeface="Times New Roman" pitchFamily="18" charset="0"/>
                <a:ea typeface="微软雅黑" pitchFamily="34" charset="-122"/>
                <a:cs typeface="Times New Roman" pitchFamily="18" charset="0"/>
              </a:rPr>
              <a:t>为最大。</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
        <p:nvSpPr>
          <p:cNvPr id="1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
        <p:nvSpPr>
          <p:cNvPr id="19" name="TextBox 18"/>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extLst>
      <p:ext uri="{BB962C8B-B14F-4D97-AF65-F5344CB8AC3E}">
        <p14:creationId xmlns:p14="http://schemas.microsoft.com/office/powerpoint/2010/main" val="3437593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
                                            <p:txEl>
                                              <p:pRg st="1" end="1"/>
                                            </p:txEl>
                                          </p:spTgt>
                                        </p:tgtEl>
                                        <p:attrNameLst>
                                          <p:attrName>style.visibility</p:attrName>
                                        </p:attrNameLst>
                                      </p:cBhvr>
                                      <p:to>
                                        <p:strVal val="visible"/>
                                      </p:to>
                                    </p:set>
                                    <p:animEffect transition="in" filter="blinds(horizontal)">
                                      <p:cBhvr>
                                        <p:cTn id="7" dur="500"/>
                                        <p:tgtEl>
                                          <p:spTgt spid="3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0">
                                            <p:txEl>
                                              <p:pRg st="2" end="2"/>
                                            </p:txEl>
                                          </p:spTgt>
                                        </p:tgtEl>
                                        <p:attrNameLst>
                                          <p:attrName>style.visibility</p:attrName>
                                        </p:attrNameLst>
                                      </p:cBhvr>
                                      <p:to>
                                        <p:strVal val="visible"/>
                                      </p:to>
                                    </p:set>
                                    <p:anim calcmode="lin" valueType="num">
                                      <p:cBhvr additive="base">
                                        <p:cTn id="12" dur="500" fill="hold"/>
                                        <p:tgtEl>
                                          <p:spTgt spid="30">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43</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sp>
        <p:nvSpPr>
          <p:cNvPr id="18" name="矩形 17"/>
          <p:cNvSpPr/>
          <p:nvPr/>
        </p:nvSpPr>
        <p:spPr>
          <a:xfrm>
            <a:off x="683568" y="1268760"/>
            <a:ext cx="7965926" cy="1308628"/>
          </a:xfrm>
          <a:prstGeom prst="rect">
            <a:avLst/>
          </a:prstGeom>
        </p:spPr>
        <p:txBody>
          <a:bodyPr wrap="square">
            <a:spAutoFit/>
          </a:bodyPr>
          <a:lstStyle/>
          <a:p>
            <a:pPr>
              <a:lnSpc>
                <a:spcPct val="150000"/>
              </a:lnSpc>
            </a:pPr>
            <a:r>
              <a:rPr lang="zh-CN" altLang="en-US" sz="2800" dirty="0">
                <a:latin typeface="Times New Roman" pitchFamily="18" charset="0"/>
                <a:ea typeface="微软雅黑" pitchFamily="34" charset="-122"/>
                <a:cs typeface="Times New Roman" pitchFamily="18" charset="0"/>
              </a:rPr>
              <a:t>将</a:t>
            </a:r>
            <a:r>
              <a:rPr lang="en-US" altLang="zh-CN" sz="2800" i="1" dirty="0">
                <a:latin typeface="Times New Roman" pitchFamily="18" charset="0"/>
                <a:ea typeface="微软雅黑" pitchFamily="34" charset="-122"/>
                <a:cs typeface="Times New Roman" pitchFamily="18" charset="0"/>
              </a:rPr>
              <a:t>w</a:t>
            </a:r>
            <a:r>
              <a:rPr lang="en-US" altLang="zh-CN" sz="2800" baseline="-25000" dirty="0">
                <a:latin typeface="Times New Roman" pitchFamily="18" charset="0"/>
                <a:ea typeface="微软雅黑" pitchFamily="34" charset="-122"/>
                <a:cs typeface="Times New Roman" pitchFamily="18" charset="0"/>
              </a:rPr>
              <a:t>0</a:t>
            </a:r>
            <a:r>
              <a:rPr lang="en-US" altLang="zh-CN" sz="2800" dirty="0">
                <a:latin typeface="Times New Roman" pitchFamily="18" charset="0"/>
                <a:ea typeface="微软雅黑" pitchFamily="34" charset="-122"/>
                <a:cs typeface="Times New Roman" pitchFamily="18" charset="0"/>
              </a:rPr>
              <a:t> </a:t>
            </a:r>
            <a:r>
              <a:rPr lang="zh-CN" altLang="en-US" sz="2800" dirty="0">
                <a:latin typeface="Times New Roman" pitchFamily="18" charset="0"/>
                <a:ea typeface="微软雅黑" pitchFamily="34" charset="-122"/>
                <a:cs typeface="Times New Roman" pitchFamily="18" charset="0"/>
              </a:rPr>
              <a:t>计算式对 </a:t>
            </a:r>
            <a:r>
              <a:rPr lang="en-US" altLang="zh-CN" sz="2800" i="1" dirty="0">
                <a:latin typeface="Times New Roman" pitchFamily="18" charset="0"/>
                <a:ea typeface="微软雅黑" pitchFamily="34" charset="-122"/>
                <a:cs typeface="Times New Roman" pitchFamily="18" charset="0"/>
              </a:rPr>
              <a:t>π </a:t>
            </a:r>
            <a:r>
              <a:rPr lang="zh-CN" altLang="en-US" sz="2800" dirty="0">
                <a:latin typeface="Times New Roman" pitchFamily="18" charset="0"/>
                <a:ea typeface="微软雅黑" pitchFamily="34" charset="-122"/>
                <a:cs typeface="Times New Roman" pitchFamily="18" charset="0"/>
              </a:rPr>
              <a:t>求导并令其等于零，可求得</a:t>
            </a:r>
            <a:r>
              <a:rPr lang="en-US" altLang="zh-CN" sz="2800" i="1" dirty="0" err="1">
                <a:latin typeface="Times New Roman" pitchFamily="18" charset="0"/>
                <a:ea typeface="微软雅黑" pitchFamily="34" charset="-122"/>
                <a:cs typeface="Times New Roman" pitchFamily="18" charset="0"/>
              </a:rPr>
              <a:t>π</a:t>
            </a:r>
            <a:r>
              <a:rPr lang="en-US" altLang="zh-CN" sz="2800" baseline="-25000" dirty="0" err="1">
                <a:latin typeface="Times New Roman" pitchFamily="18" charset="0"/>
                <a:ea typeface="微软雅黑" pitchFamily="34" charset="-122"/>
                <a:cs typeface="Times New Roman" pitchFamily="18" charset="0"/>
              </a:rPr>
              <a:t>opt</a:t>
            </a:r>
            <a:r>
              <a:rPr lang="en-US" altLang="zh-CN" sz="2800" dirty="0">
                <a:latin typeface="Times New Roman" pitchFamily="18" charset="0"/>
                <a:ea typeface="微软雅黑" pitchFamily="34" charset="-122"/>
                <a:cs typeface="Times New Roman" pitchFamily="18" charset="0"/>
              </a:rPr>
              <a:t> </a:t>
            </a:r>
            <a:r>
              <a:rPr lang="zh-CN" altLang="en-US" sz="2800" dirty="0">
                <a:latin typeface="Times New Roman" pitchFamily="18" charset="0"/>
                <a:ea typeface="微软雅黑" pitchFamily="34" charset="-122"/>
                <a:cs typeface="Times New Roman" pitchFamily="18" charset="0"/>
              </a:rPr>
              <a:t>，将 </a:t>
            </a:r>
            <a:r>
              <a:rPr lang="en-US" altLang="zh-CN" sz="2800" i="1" dirty="0">
                <a:latin typeface="Times New Roman" pitchFamily="18" charset="0"/>
                <a:ea typeface="微软雅黑" pitchFamily="34" charset="-122"/>
                <a:cs typeface="Times New Roman" pitchFamily="18" charset="0"/>
              </a:rPr>
              <a:t>π</a:t>
            </a:r>
            <a:r>
              <a:rPr lang="en-US" altLang="zh-CN" sz="2800" baseline="-25000" dirty="0">
                <a:latin typeface="Times New Roman" pitchFamily="18" charset="0"/>
                <a:ea typeface="微软雅黑" pitchFamily="34" charset="-122"/>
                <a:cs typeface="Times New Roman" pitchFamily="18" charset="0"/>
              </a:rPr>
              <a:t>opt </a:t>
            </a:r>
            <a:r>
              <a:rPr lang="zh-CN" altLang="en-US" sz="2800" dirty="0">
                <a:latin typeface="Times New Roman" pitchFamily="18" charset="0"/>
                <a:ea typeface="微软雅黑" pitchFamily="34" charset="-122"/>
                <a:cs typeface="Times New Roman" pitchFamily="18" charset="0"/>
              </a:rPr>
              <a:t>代入 </a:t>
            </a:r>
            <a:r>
              <a:rPr lang="en-US" altLang="zh-CN" sz="2800" i="1" dirty="0">
                <a:latin typeface="Times New Roman" pitchFamily="18" charset="0"/>
                <a:ea typeface="微软雅黑" pitchFamily="34" charset="-122"/>
                <a:cs typeface="Times New Roman" pitchFamily="18" charset="0"/>
              </a:rPr>
              <a:t>w</a:t>
            </a:r>
            <a:r>
              <a:rPr lang="en-US" altLang="zh-CN" sz="2800" baseline="-25000" dirty="0">
                <a:latin typeface="Times New Roman" pitchFamily="18" charset="0"/>
                <a:ea typeface="微软雅黑" pitchFamily="34" charset="-122"/>
                <a:cs typeface="Times New Roman" pitchFamily="18" charset="0"/>
              </a:rPr>
              <a:t>0</a:t>
            </a:r>
            <a:r>
              <a:rPr lang="en-US" altLang="zh-CN" sz="2800" dirty="0">
                <a:latin typeface="Times New Roman" pitchFamily="18" charset="0"/>
                <a:ea typeface="微软雅黑" pitchFamily="34" charset="-122"/>
                <a:cs typeface="Times New Roman" pitchFamily="18" charset="0"/>
              </a:rPr>
              <a:t> </a:t>
            </a:r>
            <a:r>
              <a:rPr lang="zh-CN" altLang="en-US" sz="2800" dirty="0">
                <a:latin typeface="Times New Roman" pitchFamily="18" charset="0"/>
                <a:ea typeface="微软雅黑" pitchFamily="34" charset="-122"/>
                <a:cs typeface="Times New Roman" pitchFamily="18" charset="0"/>
              </a:rPr>
              <a:t>计算式，得到最大 </a:t>
            </a:r>
            <a:r>
              <a:rPr lang="en-US" altLang="zh-CN" sz="2800" i="1" dirty="0">
                <a:latin typeface="Times New Roman" pitchFamily="18" charset="0"/>
                <a:ea typeface="微软雅黑" pitchFamily="34" charset="-122"/>
                <a:cs typeface="Times New Roman" pitchFamily="18" charset="0"/>
              </a:rPr>
              <a:t>w</a:t>
            </a:r>
            <a:r>
              <a:rPr lang="en-US" altLang="zh-CN" sz="2800" baseline="-25000" dirty="0">
                <a:latin typeface="Times New Roman" pitchFamily="18" charset="0"/>
                <a:ea typeface="微软雅黑" pitchFamily="34" charset="-122"/>
                <a:cs typeface="Times New Roman" pitchFamily="18" charset="0"/>
              </a:rPr>
              <a:t>0</a:t>
            </a:r>
            <a:r>
              <a:rPr lang="en-US" altLang="zh-CN" sz="2800" dirty="0">
                <a:latin typeface="Times New Roman" pitchFamily="18" charset="0"/>
                <a:ea typeface="微软雅黑" pitchFamily="34" charset="-122"/>
                <a:cs typeface="Times New Roman" pitchFamily="18" charset="0"/>
              </a:rPr>
              <a:t> </a:t>
            </a:r>
            <a:r>
              <a:rPr lang="zh-CN" altLang="en-US" dirty="0"/>
              <a:t>。</a:t>
            </a:r>
          </a:p>
        </p:txBody>
      </p:sp>
      <p:graphicFrame>
        <p:nvGraphicFramePr>
          <p:cNvPr id="19" name="Object 13"/>
          <p:cNvGraphicFramePr>
            <a:graphicFrameLocks noChangeAspect="1"/>
          </p:cNvGraphicFramePr>
          <p:nvPr>
            <p:extLst>
              <p:ext uri="{D42A27DB-BD31-4B8C-83A1-F6EECF244321}">
                <p14:modId xmlns:p14="http://schemas.microsoft.com/office/powerpoint/2010/main" val="1778152785"/>
              </p:ext>
            </p:extLst>
          </p:nvPr>
        </p:nvGraphicFramePr>
        <p:xfrm>
          <a:off x="3487906" y="2818105"/>
          <a:ext cx="1790109" cy="1023779"/>
        </p:xfrm>
        <a:graphic>
          <a:graphicData uri="http://schemas.openxmlformats.org/presentationml/2006/ole">
            <mc:AlternateContent xmlns:mc="http://schemas.openxmlformats.org/markup-compatibility/2006">
              <mc:Choice xmlns:v="urn:schemas-microsoft-com:vml" Requires="v">
                <p:oleObj spid="_x0000_s90228" name="公式" r:id="rId7" imgW="1002865" imgH="571252" progId="Equation.3">
                  <p:embed/>
                </p:oleObj>
              </mc:Choice>
              <mc:Fallback>
                <p:oleObj name="公式" r:id="rId7" imgW="1002865" imgH="571252"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87906" y="2818105"/>
                        <a:ext cx="1790109" cy="1023779"/>
                      </a:xfrm>
                      <a:prstGeom prst="rect">
                        <a:avLst/>
                      </a:prstGeom>
                      <a:noFill/>
                      <a:ln w="28575">
                        <a:solidFill>
                          <a:schemeClr val="accent1"/>
                        </a:solidFill>
                        <a:miter lim="800000"/>
                        <a:headEnd/>
                        <a:tailEnd/>
                      </a:ln>
                    </p:spPr>
                  </p:pic>
                </p:oleObj>
              </mc:Fallback>
            </mc:AlternateContent>
          </a:graphicData>
        </a:graphic>
      </p:graphicFrame>
      <p:sp>
        <p:nvSpPr>
          <p:cNvPr id="20" name="Rectangle 14"/>
          <p:cNvSpPr>
            <a:spLocks noChangeArrowheads="1"/>
          </p:cNvSpPr>
          <p:nvPr/>
        </p:nvSpPr>
        <p:spPr bwMode="auto">
          <a:xfrm>
            <a:off x="876746" y="5354052"/>
            <a:ext cx="4852610" cy="523220"/>
          </a:xfrm>
          <a:prstGeom prst="rect">
            <a:avLst/>
          </a:prstGeom>
          <a:noFill/>
          <a:ln w="9525">
            <a:noFill/>
            <a:miter lim="800000"/>
            <a:headEnd/>
            <a:tailEnd/>
          </a:ln>
        </p:spPr>
        <p:txBody>
          <a:bodyPr wrap="none">
            <a:spAutoFit/>
          </a:bodyPr>
          <a:lstStyle/>
          <a:p>
            <a:r>
              <a:rPr lang="zh-CN" altLang="en-US" sz="2800" b="1" dirty="0">
                <a:solidFill>
                  <a:srgbClr val="7030A0"/>
                </a:solidFill>
                <a:latin typeface="微软雅黑" pitchFamily="34" charset="-122"/>
                <a:ea typeface="微软雅黑" pitchFamily="34" charset="-122"/>
                <a:cs typeface="Times New Roman" pitchFamily="18" charset="0"/>
              </a:rPr>
              <a:t>燃气轮机装置实际循环自学。</a:t>
            </a:r>
          </a:p>
        </p:txBody>
      </p:sp>
      <p:graphicFrame>
        <p:nvGraphicFramePr>
          <p:cNvPr id="21" name="Object 15"/>
          <p:cNvGraphicFramePr>
            <a:graphicFrameLocks noChangeAspect="1"/>
          </p:cNvGraphicFramePr>
          <p:nvPr>
            <p:extLst>
              <p:ext uri="{D42A27DB-BD31-4B8C-83A1-F6EECF244321}">
                <p14:modId xmlns:p14="http://schemas.microsoft.com/office/powerpoint/2010/main" val="581937832"/>
              </p:ext>
            </p:extLst>
          </p:nvPr>
        </p:nvGraphicFramePr>
        <p:xfrm>
          <a:off x="3131840" y="4129916"/>
          <a:ext cx="2584070" cy="962392"/>
        </p:xfrm>
        <a:graphic>
          <a:graphicData uri="http://schemas.openxmlformats.org/presentationml/2006/ole">
            <mc:AlternateContent xmlns:mc="http://schemas.openxmlformats.org/markup-compatibility/2006">
              <mc:Choice xmlns:v="urn:schemas-microsoft-com:vml" Requires="v">
                <p:oleObj spid="_x0000_s90229" name="公式" r:id="rId9" imgW="1435100" imgH="533400" progId="Equation.3">
                  <p:embed/>
                </p:oleObj>
              </mc:Choice>
              <mc:Fallback>
                <p:oleObj name="公式" r:id="rId9" imgW="1435100" imgH="53340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31840" y="4129916"/>
                        <a:ext cx="2584070" cy="962392"/>
                      </a:xfrm>
                      <a:prstGeom prst="rect">
                        <a:avLst/>
                      </a:prstGeom>
                      <a:noFill/>
                      <a:ln w="28575">
                        <a:solidFill>
                          <a:schemeClr val="accent1"/>
                        </a:solidFill>
                        <a:miter lim="800000"/>
                        <a:headEnd/>
                        <a:tailEnd/>
                      </a:ln>
                    </p:spPr>
                  </p:pic>
                </p:oleObj>
              </mc:Fallback>
            </mc:AlternateContent>
          </a:graphicData>
        </a:graphic>
      </p:graphicFrame>
      <p:sp>
        <p:nvSpPr>
          <p:cNvPr id="22" name="TextBox 21"/>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500" fill="hold"/>
                                        <p:tgtEl>
                                          <p:spTgt spid="20"/>
                                        </p:tgtEl>
                                        <p:attrNameLst>
                                          <p:attrName>ppt_x</p:attrName>
                                        </p:attrNameLst>
                                      </p:cBhvr>
                                      <p:tavLst>
                                        <p:tav tm="0">
                                          <p:val>
                                            <p:strVal val="#ppt_x"/>
                                          </p:val>
                                        </p:tav>
                                        <p:tav tm="100000">
                                          <p:val>
                                            <p:strVal val="#ppt_x"/>
                                          </p:val>
                                        </p:tav>
                                      </p:tavLst>
                                    </p:anim>
                                    <p:anim calcmode="lin" valueType="num">
                                      <p:cBhvr additive="base">
                                        <p:cTn id="1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nvGrpSpPr>
        <p:grpSpPr>
          <a:xfrm>
            <a:off x="685800" y="2985467"/>
            <a:ext cx="7833370" cy="2963813"/>
            <a:chOff x="685800" y="3000027"/>
            <a:chExt cx="7943850" cy="2963813"/>
          </a:xfrm>
        </p:grpSpPr>
        <p:pic>
          <p:nvPicPr>
            <p:cNvPr id="30" name="Picture 7"/>
            <p:cNvPicPr>
              <a:picLocks noChangeAspect="1" noChangeArrowheads="1"/>
            </p:cNvPicPr>
            <p:nvPr/>
          </p:nvPicPr>
          <p:blipFill>
            <a:blip r:embed="rId3" cstate="print"/>
            <a:srcRect/>
            <a:stretch>
              <a:fillRect/>
            </a:stretch>
          </p:blipFill>
          <p:spPr bwMode="auto">
            <a:xfrm>
              <a:off x="685800" y="3000027"/>
              <a:ext cx="7943850" cy="2589213"/>
            </a:xfrm>
            <a:prstGeom prst="rect">
              <a:avLst/>
            </a:prstGeom>
            <a:noFill/>
            <a:ln w="9525">
              <a:noFill/>
              <a:miter lim="800000"/>
              <a:headEnd/>
              <a:tailEnd/>
            </a:ln>
          </p:spPr>
        </p:pic>
        <p:sp>
          <p:nvSpPr>
            <p:cNvPr id="26" name="Text Box 6"/>
            <p:cNvSpPr txBox="1">
              <a:spLocks noChangeArrowheads="1"/>
            </p:cNvSpPr>
            <p:nvPr/>
          </p:nvSpPr>
          <p:spPr bwMode="auto">
            <a:xfrm>
              <a:off x="1619912" y="5502175"/>
              <a:ext cx="2160000" cy="461665"/>
            </a:xfrm>
            <a:prstGeom prst="rect">
              <a:avLst/>
            </a:prstGeom>
            <a:noFill/>
            <a:ln w="9525">
              <a:noFill/>
              <a:miter lim="800000"/>
              <a:headEnd/>
              <a:tailEnd/>
            </a:ln>
          </p:spPr>
          <p:txBody>
            <a:bodyPr wrap="square">
              <a:spAutoFit/>
            </a:bodyPr>
            <a:lstStyle/>
            <a:p>
              <a:pPr algn="ctr"/>
              <a:r>
                <a:rPr lang="zh-CN" altLang="en-US" sz="2400" dirty="0">
                  <a:latin typeface="微软雅黑" pitchFamily="34" charset="-122"/>
                  <a:ea typeface="微软雅黑" pitchFamily="34" charset="-122"/>
                </a:rPr>
                <a:t>组成示意图</a:t>
              </a:r>
            </a:p>
          </p:txBody>
        </p:sp>
        <p:sp>
          <p:nvSpPr>
            <p:cNvPr id="34" name="Text Box 6"/>
            <p:cNvSpPr txBox="1">
              <a:spLocks noChangeArrowheads="1"/>
            </p:cNvSpPr>
            <p:nvPr/>
          </p:nvSpPr>
          <p:spPr bwMode="auto">
            <a:xfrm>
              <a:off x="5960608" y="5498068"/>
              <a:ext cx="2160000" cy="461665"/>
            </a:xfrm>
            <a:prstGeom prst="rect">
              <a:avLst/>
            </a:prstGeom>
            <a:noFill/>
            <a:ln w="9525">
              <a:noFill/>
              <a:miter lim="800000"/>
              <a:headEnd/>
              <a:tailEnd/>
            </a:ln>
          </p:spPr>
          <p:txBody>
            <a:bodyPr wrap="square">
              <a:spAutoFit/>
            </a:bodyPr>
            <a:lstStyle/>
            <a:p>
              <a:pPr algn="ctr"/>
              <a:r>
                <a:rPr lang="en-US" altLang="zh-CN" sz="2400" b="1" i="1" dirty="0">
                  <a:latin typeface="Times New Roman" pitchFamily="18" charset="0"/>
                  <a:ea typeface="微软雅黑" pitchFamily="34" charset="-122"/>
                  <a:cs typeface="Times New Roman" pitchFamily="18" charset="0"/>
                </a:rPr>
                <a:t>T-s</a:t>
              </a:r>
              <a:r>
                <a:rPr lang="zh-CN" altLang="en-US" sz="2400" dirty="0">
                  <a:latin typeface="Times New Roman" pitchFamily="18" charset="0"/>
                  <a:ea typeface="微软雅黑" pitchFamily="34" charset="-122"/>
                  <a:cs typeface="Times New Roman" pitchFamily="18" charset="0"/>
                </a:rPr>
                <a:t>图</a:t>
              </a:r>
            </a:p>
          </p:txBody>
        </p:sp>
      </p:grpSp>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44</a:t>
            </a:r>
            <a:endParaRPr lang="zh-CN" altLang="en-US" sz="2000" b="1" dirty="0">
              <a:solidFill>
                <a:schemeClr val="tx1"/>
              </a:solidFill>
              <a:latin typeface="黑体" pitchFamily="49" charset="-122"/>
              <a:ea typeface="黑体" pitchFamily="49" charset="-122"/>
            </a:endParaRPr>
          </a:p>
        </p:txBody>
      </p:sp>
      <p:sp>
        <p:nvSpPr>
          <p:cNvPr id="33" name="TextBox 32"/>
          <p:cNvSpPr txBox="1"/>
          <p:nvPr/>
        </p:nvSpPr>
        <p:spPr>
          <a:xfrm>
            <a:off x="128160" y="1143000"/>
            <a:ext cx="3939784" cy="523220"/>
          </a:xfrm>
          <a:prstGeom prst="rect">
            <a:avLst/>
          </a:prstGeom>
          <a:noFill/>
        </p:spPr>
        <p:txBody>
          <a:bodyPr wrap="square">
            <a:spAutoFit/>
          </a:bodyPr>
          <a:lstStyle/>
          <a:p>
            <a:pPr>
              <a:defRPr/>
            </a:pPr>
            <a:r>
              <a:rPr lang="en-US" altLang="zh-CN" sz="2800" b="1" dirty="0">
                <a:solidFill>
                  <a:schemeClr val="accent1">
                    <a:lumMod val="75000"/>
                  </a:schemeClr>
                </a:solidFill>
                <a:latin typeface="微软雅黑" pitchFamily="34" charset="-122"/>
                <a:ea typeface="微软雅黑" pitchFamily="34" charset="-122"/>
                <a:cs typeface="Times New Roman" pitchFamily="18" charset="0"/>
              </a:rPr>
              <a:t>8-5 </a:t>
            </a:r>
            <a:r>
              <a:rPr lang="zh-CN" altLang="en-US" sz="2800" b="1" dirty="0">
                <a:solidFill>
                  <a:schemeClr val="accent1">
                    <a:lumMod val="75000"/>
                  </a:schemeClr>
                </a:solidFill>
                <a:latin typeface="微软雅黑" pitchFamily="34" charset="-122"/>
                <a:ea typeface="微软雅黑" pitchFamily="34" charset="-122"/>
                <a:cs typeface="Times New Roman" pitchFamily="18" charset="0"/>
              </a:rPr>
              <a:t>蒸气压缩制冷循环</a:t>
            </a: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sp>
        <p:nvSpPr>
          <p:cNvPr id="20" name="TextBox 37"/>
          <p:cNvSpPr txBox="1">
            <a:spLocks noChangeArrowheads="1"/>
          </p:cNvSpPr>
          <p:nvPr/>
        </p:nvSpPr>
        <p:spPr bwMode="auto">
          <a:xfrm>
            <a:off x="805780" y="1700808"/>
            <a:ext cx="6358508"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蒸气压缩制冷循环的组成及工作原理</a:t>
            </a:r>
          </a:p>
        </p:txBody>
      </p:sp>
      <p:sp>
        <p:nvSpPr>
          <p:cNvPr id="22" name="矩形 21"/>
          <p:cNvSpPr/>
          <p:nvPr/>
        </p:nvSpPr>
        <p:spPr>
          <a:xfrm>
            <a:off x="144016" y="1714277"/>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1.</a:t>
            </a:r>
            <a:endParaRPr lang="zh-CN" altLang="en-US" sz="2800" i="1" dirty="0">
              <a:solidFill>
                <a:srgbClr val="C00000"/>
              </a:solidFill>
              <a:latin typeface="Bernard MT Condensed"/>
            </a:endParaRPr>
          </a:p>
        </p:txBody>
      </p:sp>
      <p:sp>
        <p:nvSpPr>
          <p:cNvPr id="31" name="Rectangle 7"/>
          <p:cNvSpPr>
            <a:spLocks noChangeArrowheads="1"/>
          </p:cNvSpPr>
          <p:nvPr/>
        </p:nvSpPr>
        <p:spPr bwMode="auto">
          <a:xfrm>
            <a:off x="128160" y="2401724"/>
            <a:ext cx="8391010" cy="523220"/>
          </a:xfrm>
          <a:prstGeom prst="rect">
            <a:avLst/>
          </a:prstGeom>
          <a:noFill/>
          <a:ln w="9525">
            <a:noFill/>
            <a:miter lim="800000"/>
            <a:headEnd/>
            <a:tailEnd/>
          </a:ln>
          <a:effectLst/>
        </p:spPr>
        <p:txBody>
          <a:bodyPr wrap="square" anchor="ctr">
            <a:spAutoFit/>
          </a:bodyPr>
          <a:lstStyle/>
          <a:p>
            <a:r>
              <a:rPr lang="zh-CN" altLang="en-US" sz="2800" dirty="0">
                <a:solidFill>
                  <a:srgbClr val="0000FF"/>
                </a:solidFill>
                <a:latin typeface="微软雅黑" pitchFamily="34" charset="-122"/>
                <a:ea typeface="微软雅黑" pitchFamily="34" charset="-122"/>
                <a:cs typeface="Times New Roman" pitchFamily="18" charset="0"/>
              </a:rPr>
              <a:t>（</a:t>
            </a:r>
            <a:r>
              <a:rPr lang="en-US" altLang="zh-CN" sz="2800" dirty="0">
                <a:solidFill>
                  <a:srgbClr val="0000FF"/>
                </a:solidFill>
                <a:latin typeface="微软雅黑" pitchFamily="34" charset="-122"/>
                <a:ea typeface="微软雅黑" pitchFamily="34" charset="-122"/>
                <a:cs typeface="Times New Roman" pitchFamily="18" charset="0"/>
              </a:rPr>
              <a:t>1</a:t>
            </a:r>
            <a:r>
              <a:rPr lang="zh-CN" altLang="en-US" sz="2800" dirty="0">
                <a:solidFill>
                  <a:srgbClr val="0000FF"/>
                </a:solidFill>
                <a:latin typeface="微软雅黑" pitchFamily="34" charset="-122"/>
                <a:ea typeface="微软雅黑" pitchFamily="34" charset="-122"/>
                <a:cs typeface="Times New Roman" pitchFamily="18" charset="0"/>
              </a:rPr>
              <a:t>）理想循环</a:t>
            </a:r>
            <a:r>
              <a:rPr lang="zh-CN" altLang="en-US" sz="2800" dirty="0">
                <a:latin typeface="微软雅黑" pitchFamily="34" charset="-122"/>
                <a:ea typeface="微软雅黑" pitchFamily="34" charset="-122"/>
                <a:cs typeface="Times New Roman" pitchFamily="18" charset="0"/>
              </a:rPr>
              <a:t>（</a:t>
            </a:r>
            <a:r>
              <a:rPr lang="zh-CN" altLang="en-US" sz="2800" dirty="0">
                <a:latin typeface="微软雅黑" pitchFamily="34" charset="-122"/>
                <a:ea typeface="微软雅黑" pitchFamily="34" charset="-122"/>
              </a:rPr>
              <a:t>在湿蒸气区进行，为逆向卡诺循环）</a:t>
            </a:r>
            <a:endParaRPr lang="zh-CN" altLang="en-US" sz="2800" dirty="0">
              <a:latin typeface="微软雅黑" pitchFamily="34" charset="-122"/>
              <a:ea typeface="微软雅黑" pitchFamily="34" charset="-122"/>
              <a:cs typeface="Times New Roman" pitchFamily="18" charset="0"/>
            </a:endParaRPr>
          </a:p>
        </p:txBody>
      </p:sp>
      <p:sp>
        <p:nvSpPr>
          <p:cNvPr id="24" name="TextBox 23"/>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blinds(horizontal)">
                                      <p:cBhvr>
                                        <p:cTn id="1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animBg="1"/>
      <p:bldP spid="3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45</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31" name="Rectangle 7"/>
          <p:cNvSpPr>
            <a:spLocks noChangeArrowheads="1"/>
          </p:cNvSpPr>
          <p:nvPr/>
        </p:nvSpPr>
        <p:spPr bwMode="auto">
          <a:xfrm>
            <a:off x="319385" y="1412776"/>
            <a:ext cx="6084168" cy="523220"/>
          </a:xfrm>
          <a:prstGeom prst="rect">
            <a:avLst/>
          </a:prstGeom>
          <a:noFill/>
          <a:ln w="9525">
            <a:noFill/>
            <a:miter lim="800000"/>
            <a:headEnd/>
            <a:tailEnd/>
          </a:ln>
          <a:effectLst/>
        </p:spPr>
        <p:txBody>
          <a:bodyPr wrap="square" anchor="ctr">
            <a:spAutoFit/>
          </a:bodyPr>
          <a:lstStyle/>
          <a:p>
            <a:r>
              <a:rPr lang="zh-CN" altLang="en-US" sz="2800" dirty="0">
                <a:solidFill>
                  <a:srgbClr val="0000FF"/>
                </a:solidFill>
                <a:latin typeface="微软雅黑" pitchFamily="34" charset="-122"/>
                <a:ea typeface="微软雅黑" pitchFamily="34" charset="-122"/>
                <a:cs typeface="Times New Roman" pitchFamily="18" charset="0"/>
              </a:rPr>
              <a:t>（</a:t>
            </a:r>
            <a:r>
              <a:rPr lang="en-US" altLang="zh-CN" sz="2800" dirty="0">
                <a:solidFill>
                  <a:srgbClr val="0000FF"/>
                </a:solidFill>
                <a:latin typeface="微软雅黑" pitchFamily="34" charset="-122"/>
                <a:ea typeface="微软雅黑" pitchFamily="34" charset="-122"/>
                <a:cs typeface="Times New Roman" pitchFamily="18" charset="0"/>
              </a:rPr>
              <a:t>2</a:t>
            </a:r>
            <a:r>
              <a:rPr lang="zh-CN" altLang="en-US" sz="2800" dirty="0">
                <a:solidFill>
                  <a:srgbClr val="0000FF"/>
                </a:solidFill>
                <a:latin typeface="微软雅黑" pitchFamily="34" charset="-122"/>
                <a:ea typeface="微软雅黑" pitchFamily="34" charset="-122"/>
                <a:cs typeface="Times New Roman" pitchFamily="18" charset="0"/>
              </a:rPr>
              <a:t>）理论循环（对理想循环的改进</a:t>
            </a:r>
            <a:r>
              <a:rPr lang="zh-CN" altLang="en-US" sz="2800" dirty="0">
                <a:solidFill>
                  <a:srgbClr val="0000FF"/>
                </a:solidFill>
                <a:latin typeface="微软雅黑" pitchFamily="34" charset="-122"/>
                <a:ea typeface="微软雅黑" pitchFamily="34" charset="-122"/>
              </a:rPr>
              <a:t>）</a:t>
            </a:r>
            <a:endParaRPr lang="zh-CN" altLang="en-US" sz="2800" dirty="0">
              <a:solidFill>
                <a:srgbClr val="0000FF"/>
              </a:solidFill>
              <a:latin typeface="微软雅黑" pitchFamily="34" charset="-122"/>
              <a:ea typeface="微软雅黑" pitchFamily="34" charset="-122"/>
              <a:cs typeface="Times New Roman" pitchFamily="18" charset="0"/>
            </a:endParaRPr>
          </a:p>
        </p:txBody>
      </p:sp>
      <p:sp>
        <p:nvSpPr>
          <p:cNvPr id="23" name="矩形 22"/>
          <p:cNvSpPr/>
          <p:nvPr/>
        </p:nvSpPr>
        <p:spPr>
          <a:xfrm>
            <a:off x="612808" y="2060846"/>
            <a:ext cx="7838106" cy="3477875"/>
          </a:xfrm>
          <a:prstGeom prst="rect">
            <a:avLst/>
          </a:prstGeom>
        </p:spPr>
        <p:txBody>
          <a:bodyPr wrap="square">
            <a:spAutoFit/>
          </a:bodyPr>
          <a:lstStyle/>
          <a:p>
            <a:pPr marL="457200" indent="-457200">
              <a:lnSpc>
                <a:spcPct val="150000"/>
              </a:lnSpc>
              <a:buFont typeface="Wingdings" panose="05000000000000000000" pitchFamily="2" charset="2"/>
              <a:buChar char="Ø"/>
            </a:pPr>
            <a:r>
              <a:rPr lang="zh-CN" altLang="en-US" sz="2800" dirty="0">
                <a:latin typeface="微软雅黑" pitchFamily="34" charset="-122"/>
                <a:ea typeface="微软雅黑" pitchFamily="34" charset="-122"/>
              </a:rPr>
              <a:t>压缩机中液滴的存在，对气缸造成液击。因此</a:t>
            </a:r>
            <a:r>
              <a:rPr lang="zh-CN" altLang="en-US" sz="2800" b="1" dirty="0">
                <a:solidFill>
                  <a:srgbClr val="0070C0"/>
                </a:solidFill>
                <a:latin typeface="微软雅黑" pitchFamily="34" charset="-122"/>
                <a:ea typeface="微软雅黑" pitchFamily="34" charset="-122"/>
              </a:rPr>
              <a:t>用干压缩代替湿压缩</a:t>
            </a:r>
            <a:r>
              <a:rPr lang="zh-CN" altLang="en-US" sz="2800" dirty="0">
                <a:latin typeface="微软雅黑" pitchFamily="34" charset="-122"/>
                <a:ea typeface="微软雅黑" pitchFamily="34" charset="-122"/>
              </a:rPr>
              <a:t>；</a:t>
            </a:r>
          </a:p>
          <a:p>
            <a:pPr marL="457200" indent="-457200">
              <a:lnSpc>
                <a:spcPct val="150000"/>
              </a:lnSpc>
              <a:spcBef>
                <a:spcPts val="1200"/>
              </a:spcBef>
              <a:buFont typeface="Wingdings" panose="05000000000000000000" pitchFamily="2" charset="2"/>
              <a:buChar char="Ø"/>
            </a:pPr>
            <a:r>
              <a:rPr lang="zh-CN" altLang="en-US" sz="2800" dirty="0">
                <a:latin typeface="微软雅黑" pitchFamily="34" charset="-122"/>
                <a:ea typeface="微软雅黑" pitchFamily="34" charset="-122"/>
              </a:rPr>
              <a:t>膨胀机所做膨胀功很小，且结构复杂，不易调节。因此</a:t>
            </a:r>
            <a:r>
              <a:rPr lang="zh-CN" altLang="en-US" sz="2800" b="1" dirty="0">
                <a:solidFill>
                  <a:srgbClr val="0070C0"/>
                </a:solidFill>
                <a:latin typeface="微软雅黑" pitchFamily="34" charset="-122"/>
                <a:ea typeface="微软雅黑" pitchFamily="34" charset="-122"/>
              </a:rPr>
              <a:t>用节流阀代替膨胀机</a:t>
            </a:r>
            <a:r>
              <a:rPr lang="zh-CN" altLang="en-US" sz="2800" dirty="0">
                <a:latin typeface="微软雅黑" pitchFamily="34" charset="-122"/>
                <a:ea typeface="微软雅黑" pitchFamily="34" charset="-122"/>
              </a:rPr>
              <a:t>，制冷量虽有所减小，但结构简单，便于调节。</a:t>
            </a:r>
          </a:p>
        </p:txBody>
      </p:sp>
      <p:sp>
        <p:nvSpPr>
          <p:cNvPr id="18" name="TextBox 17"/>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linds(horizontal)">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
                                            <p:txEl>
                                              <p:pRg st="0" end="0"/>
                                            </p:txEl>
                                          </p:spTgt>
                                        </p:tgtEl>
                                        <p:attrNameLst>
                                          <p:attrName>style.visibility</p:attrName>
                                        </p:attrNameLst>
                                      </p:cBhvr>
                                      <p:to>
                                        <p:strVal val="visible"/>
                                      </p:to>
                                    </p:set>
                                    <p:animEffect transition="in" filter="blinds(horizontal)">
                                      <p:cBhvr>
                                        <p:cTn id="12" dur="500"/>
                                        <p:tgtEl>
                                          <p:spTgt spid="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23">
                                            <p:txEl>
                                              <p:pRg st="1" end="1"/>
                                            </p:txEl>
                                          </p:spTgt>
                                        </p:tgtEl>
                                        <p:attrNameLst>
                                          <p:attrName>style.visibility</p:attrName>
                                        </p:attrNameLst>
                                      </p:cBhvr>
                                      <p:to>
                                        <p:strVal val="visible"/>
                                      </p:to>
                                    </p:set>
                                    <p:animEffect transition="in" filter="slide(fromBottom)">
                                      <p:cBhvr>
                                        <p:cTn id="17" dur="500"/>
                                        <p:tgtEl>
                                          <p:spTgt spid="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46</a:t>
            </a:r>
            <a:endParaRPr lang="zh-CN" altLang="en-US" sz="2000" b="1" dirty="0">
              <a:solidFill>
                <a:schemeClr val="tx1"/>
              </a:solidFill>
              <a:latin typeface="黑体" pitchFamily="49" charset="-122"/>
              <a:ea typeface="黑体" pitchFamily="49" charset="-122"/>
            </a:endParaRPr>
          </a:p>
        </p:txBody>
      </p:sp>
      <p:sp>
        <p:nvSpPr>
          <p:cNvPr id="33" name="TextBox 32"/>
          <p:cNvSpPr txBox="1"/>
          <p:nvPr/>
        </p:nvSpPr>
        <p:spPr>
          <a:xfrm>
            <a:off x="571472" y="1484784"/>
            <a:ext cx="5650171"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lvl="0"/>
            <a:r>
              <a:rPr lang="zh-CN" altLang="en-US" sz="2800" dirty="0">
                <a:latin typeface="微软雅黑" pitchFamily="34" charset="-122"/>
                <a:ea typeface="微软雅黑" pitchFamily="34" charset="-122"/>
                <a:cs typeface="Times New Roman" pitchFamily="18" charset="0"/>
              </a:rPr>
              <a:t>理论循环的组成及</a:t>
            </a:r>
            <a:r>
              <a:rPr lang="en-US" altLang="zh-CN" sz="2800" b="1" i="1" dirty="0">
                <a:solidFill>
                  <a:prstClr val="black"/>
                </a:solidFill>
                <a:latin typeface="Times New Roman" pitchFamily="18" charset="0"/>
                <a:ea typeface="微软雅黑" pitchFamily="34" charset="-122"/>
                <a:cs typeface="Times New Roman" pitchFamily="18" charset="0"/>
              </a:rPr>
              <a:t>T-s</a:t>
            </a:r>
            <a:r>
              <a:rPr lang="en-US" altLang="zh-CN" b="1" i="1" dirty="0">
                <a:solidFill>
                  <a:prstClr val="black"/>
                </a:solidFill>
                <a:latin typeface="Times New Roman" pitchFamily="18" charset="0"/>
                <a:ea typeface="微软雅黑" pitchFamily="34" charset="-122"/>
                <a:cs typeface="Times New Roman" pitchFamily="18" charset="0"/>
              </a:rPr>
              <a:t> </a:t>
            </a:r>
            <a:r>
              <a:rPr lang="zh-CN" altLang="en-US" sz="2800" dirty="0">
                <a:solidFill>
                  <a:prstClr val="black"/>
                </a:solidFill>
                <a:latin typeface="Times New Roman" pitchFamily="18" charset="0"/>
                <a:ea typeface="微软雅黑" pitchFamily="34" charset="-122"/>
                <a:cs typeface="Times New Roman" pitchFamily="18" charset="0"/>
              </a:rPr>
              <a:t>图如下：</a:t>
            </a:r>
            <a:endParaRPr lang="zh-CN" altLang="en-US" sz="2800" dirty="0">
              <a:latin typeface="微软雅黑" pitchFamily="34" charset="-122"/>
              <a:ea typeface="微软雅黑" pitchFamily="34" charset="-122"/>
              <a:cs typeface="Times New Roman" pitchFamily="18" charset="0"/>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grpSp>
        <p:nvGrpSpPr>
          <p:cNvPr id="26" name="组合 25"/>
          <p:cNvGrpSpPr/>
          <p:nvPr/>
        </p:nvGrpSpPr>
        <p:grpSpPr>
          <a:xfrm>
            <a:off x="533400" y="2204864"/>
            <a:ext cx="7943850" cy="3430141"/>
            <a:chOff x="533400" y="1886124"/>
            <a:chExt cx="7943850" cy="3430141"/>
          </a:xfrm>
        </p:grpSpPr>
        <p:pic>
          <p:nvPicPr>
            <p:cNvPr id="21" name="Picture 3"/>
            <p:cNvPicPr>
              <a:picLocks noChangeAspect="1" noChangeArrowheads="1"/>
            </p:cNvPicPr>
            <p:nvPr/>
          </p:nvPicPr>
          <p:blipFill>
            <a:blip r:embed="rId6" cstate="print"/>
            <a:srcRect/>
            <a:stretch>
              <a:fillRect/>
            </a:stretch>
          </p:blipFill>
          <p:spPr bwMode="auto">
            <a:xfrm>
              <a:off x="533400" y="1886124"/>
              <a:ext cx="7943850" cy="2767012"/>
            </a:xfrm>
            <a:prstGeom prst="rect">
              <a:avLst/>
            </a:prstGeom>
            <a:noFill/>
            <a:ln w="9525">
              <a:noFill/>
              <a:miter lim="800000"/>
              <a:headEnd/>
              <a:tailEnd/>
            </a:ln>
          </p:spPr>
        </p:pic>
        <p:sp>
          <p:nvSpPr>
            <p:cNvPr id="24" name="Text Box 6"/>
            <p:cNvSpPr txBox="1">
              <a:spLocks noChangeArrowheads="1"/>
            </p:cNvSpPr>
            <p:nvPr/>
          </p:nvSpPr>
          <p:spPr bwMode="auto">
            <a:xfrm>
              <a:off x="1619912" y="4797152"/>
              <a:ext cx="2160000" cy="519113"/>
            </a:xfrm>
            <a:prstGeom prst="rect">
              <a:avLst/>
            </a:prstGeom>
            <a:solidFill>
              <a:schemeClr val="bg2"/>
            </a:solidFill>
            <a:ln w="9525">
              <a:noFill/>
              <a:miter lim="800000"/>
              <a:headEnd/>
              <a:tailEnd/>
            </a:ln>
          </p:spPr>
          <p:txBody>
            <a:bodyPr wrap="square">
              <a:spAutoFit/>
            </a:bodyPr>
            <a:lstStyle/>
            <a:p>
              <a:pPr algn="ctr"/>
              <a:r>
                <a:rPr lang="zh-CN" altLang="en-US" sz="2800" dirty="0">
                  <a:latin typeface="微软雅黑" pitchFamily="34" charset="-122"/>
                  <a:ea typeface="微软雅黑" pitchFamily="34" charset="-122"/>
                </a:rPr>
                <a:t>组成示意图</a:t>
              </a:r>
            </a:p>
          </p:txBody>
        </p:sp>
        <p:sp>
          <p:nvSpPr>
            <p:cNvPr id="25" name="Text Box 6"/>
            <p:cNvSpPr txBox="1">
              <a:spLocks noChangeArrowheads="1"/>
            </p:cNvSpPr>
            <p:nvPr/>
          </p:nvSpPr>
          <p:spPr bwMode="auto">
            <a:xfrm>
              <a:off x="5783775" y="4797151"/>
              <a:ext cx="2160000" cy="519113"/>
            </a:xfrm>
            <a:prstGeom prst="rect">
              <a:avLst/>
            </a:prstGeom>
            <a:solidFill>
              <a:schemeClr val="bg2"/>
            </a:solidFill>
            <a:ln w="9525">
              <a:noFill/>
              <a:miter lim="800000"/>
              <a:headEnd/>
              <a:tailEnd/>
            </a:ln>
          </p:spPr>
          <p:txBody>
            <a:bodyPr wrap="square">
              <a:spAutoFit/>
            </a:bodyPr>
            <a:lstStyle/>
            <a:p>
              <a:pPr algn="ctr"/>
              <a:r>
                <a:rPr lang="en-US" altLang="zh-CN" sz="2800" i="1" dirty="0">
                  <a:latin typeface="Times New Roman" pitchFamily="18" charset="0"/>
                  <a:ea typeface="微软雅黑" pitchFamily="34" charset="-122"/>
                  <a:cs typeface="Times New Roman" pitchFamily="18" charset="0"/>
                </a:rPr>
                <a:t>T-s</a:t>
              </a:r>
              <a:r>
                <a:rPr lang="zh-CN" altLang="en-US" sz="2800" dirty="0">
                  <a:latin typeface="Times New Roman" pitchFamily="18" charset="0"/>
                  <a:ea typeface="微软雅黑" pitchFamily="34" charset="-122"/>
                  <a:cs typeface="Times New Roman" pitchFamily="18" charset="0"/>
                </a:rPr>
                <a:t>图</a:t>
              </a:r>
            </a:p>
          </p:txBody>
        </p:sp>
      </p:grpSp>
      <p:sp>
        <p:nvSpPr>
          <p:cNvPr id="22" name="TextBox 21"/>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47</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31" name="Rectangle 7"/>
          <p:cNvSpPr>
            <a:spLocks noChangeArrowheads="1"/>
          </p:cNvSpPr>
          <p:nvPr/>
        </p:nvSpPr>
        <p:spPr bwMode="auto">
          <a:xfrm>
            <a:off x="292324" y="1126679"/>
            <a:ext cx="2699792" cy="523220"/>
          </a:xfrm>
          <a:prstGeom prst="rect">
            <a:avLst/>
          </a:prstGeom>
          <a:noFill/>
          <a:ln w="9525">
            <a:noFill/>
            <a:miter lim="800000"/>
            <a:headEnd/>
            <a:tailEnd/>
          </a:ln>
          <a:effectLst/>
        </p:spPr>
        <p:txBody>
          <a:bodyPr wrap="square" anchor="ctr">
            <a:spAutoFit/>
          </a:bodyPr>
          <a:lstStyle/>
          <a:p>
            <a:r>
              <a:rPr lang="zh-CN" altLang="en-US" sz="2800" dirty="0">
                <a:solidFill>
                  <a:srgbClr val="0000FF"/>
                </a:solidFill>
                <a:latin typeface="微软雅黑" pitchFamily="34" charset="-122"/>
                <a:ea typeface="微软雅黑" pitchFamily="34" charset="-122"/>
                <a:cs typeface="Times New Roman" pitchFamily="18" charset="0"/>
              </a:rPr>
              <a:t>（</a:t>
            </a:r>
            <a:r>
              <a:rPr lang="en-US" altLang="zh-CN" sz="2800" dirty="0">
                <a:solidFill>
                  <a:srgbClr val="0000FF"/>
                </a:solidFill>
                <a:latin typeface="微软雅黑" pitchFamily="34" charset="-122"/>
                <a:ea typeface="微软雅黑" pitchFamily="34" charset="-122"/>
                <a:cs typeface="Times New Roman" pitchFamily="18" charset="0"/>
              </a:rPr>
              <a:t>3</a:t>
            </a:r>
            <a:r>
              <a:rPr lang="zh-CN" altLang="en-US" sz="2800" dirty="0">
                <a:solidFill>
                  <a:srgbClr val="0000FF"/>
                </a:solidFill>
                <a:latin typeface="微软雅黑" pitchFamily="34" charset="-122"/>
                <a:ea typeface="微软雅黑" pitchFamily="34" charset="-122"/>
                <a:cs typeface="Times New Roman" pitchFamily="18" charset="0"/>
              </a:rPr>
              <a:t>）工作原理</a:t>
            </a:r>
          </a:p>
        </p:txBody>
      </p:sp>
      <p:sp>
        <p:nvSpPr>
          <p:cNvPr id="23" name="矩形 22"/>
          <p:cNvSpPr/>
          <p:nvPr/>
        </p:nvSpPr>
        <p:spPr>
          <a:xfrm>
            <a:off x="304900" y="1729923"/>
            <a:ext cx="8640960" cy="4321183"/>
          </a:xfrm>
          <a:prstGeom prst="rect">
            <a:avLst/>
          </a:prstGeom>
        </p:spPr>
        <p:txBody>
          <a:bodyPr wrap="square">
            <a:spAutoFit/>
          </a:bodyPr>
          <a:lstStyle/>
          <a:p>
            <a:pPr marL="457200" indent="-457200">
              <a:lnSpc>
                <a:spcPct val="130000"/>
              </a:lnSpc>
              <a:spcBef>
                <a:spcPts val="600"/>
              </a:spcBef>
              <a:buFont typeface="Wingdings" panose="05000000000000000000" pitchFamily="2" charset="2"/>
              <a:buChar char="Ø"/>
            </a:pPr>
            <a:r>
              <a:rPr lang="en-US" altLang="zh-CN" sz="2800" b="1" dirty="0">
                <a:solidFill>
                  <a:srgbClr val="0070C0"/>
                </a:solidFill>
                <a:latin typeface="Times New Roman" pitchFamily="18" charset="0"/>
                <a:ea typeface="微软雅黑" pitchFamily="34" charset="-122"/>
                <a:cs typeface="Times New Roman" pitchFamily="18" charset="0"/>
              </a:rPr>
              <a:t>1-2</a:t>
            </a:r>
            <a:r>
              <a:rPr lang="zh-CN" altLang="en-US" sz="2800" dirty="0">
                <a:latin typeface="Times New Roman" pitchFamily="18" charset="0"/>
                <a:ea typeface="微软雅黑" pitchFamily="34" charset="-122"/>
                <a:cs typeface="Times New Roman" pitchFamily="18" charset="0"/>
              </a:rPr>
              <a:t>：干饱和蒸气在压缩机中定熵压缩为过热蒸气；</a:t>
            </a:r>
          </a:p>
          <a:p>
            <a:pPr marL="457200" indent="-457200">
              <a:lnSpc>
                <a:spcPct val="130000"/>
              </a:lnSpc>
              <a:spcBef>
                <a:spcPts val="600"/>
              </a:spcBef>
              <a:buFont typeface="Wingdings" panose="05000000000000000000" pitchFamily="2" charset="2"/>
              <a:buChar char="Ø"/>
            </a:pPr>
            <a:r>
              <a:rPr lang="en-US" altLang="zh-CN" sz="2800" b="1" dirty="0">
                <a:solidFill>
                  <a:srgbClr val="0070C0"/>
                </a:solidFill>
                <a:latin typeface="Times New Roman" pitchFamily="18" charset="0"/>
                <a:ea typeface="微软雅黑" pitchFamily="34" charset="-122"/>
                <a:cs typeface="Times New Roman" pitchFamily="18" charset="0"/>
              </a:rPr>
              <a:t>2-3</a:t>
            </a:r>
            <a:r>
              <a:rPr lang="zh-CN" altLang="en-US" sz="2800" dirty="0">
                <a:latin typeface="Times New Roman" pitchFamily="18" charset="0"/>
                <a:ea typeface="微软雅黑" pitchFamily="34" charset="-122"/>
                <a:cs typeface="Times New Roman" pitchFamily="18" charset="0"/>
              </a:rPr>
              <a:t>：过热蒸气在冷凝器中定压冷却为饱和液体；</a:t>
            </a:r>
          </a:p>
          <a:p>
            <a:pPr marL="457200" indent="-457200">
              <a:lnSpc>
                <a:spcPct val="130000"/>
              </a:lnSpc>
              <a:spcBef>
                <a:spcPts val="600"/>
              </a:spcBef>
              <a:buFont typeface="Wingdings" panose="05000000000000000000" pitchFamily="2" charset="2"/>
              <a:buChar char="Ø"/>
            </a:pPr>
            <a:r>
              <a:rPr lang="en-US" altLang="zh-CN" sz="2800" b="1" dirty="0">
                <a:solidFill>
                  <a:srgbClr val="0070C0"/>
                </a:solidFill>
                <a:latin typeface="Times New Roman" pitchFamily="18" charset="0"/>
                <a:ea typeface="微软雅黑" pitchFamily="34" charset="-122"/>
                <a:cs typeface="Times New Roman" pitchFamily="18" charset="0"/>
              </a:rPr>
              <a:t>3-4</a:t>
            </a:r>
            <a:r>
              <a:rPr lang="zh-CN" altLang="en-US" sz="2800" dirty="0">
                <a:latin typeface="Times New Roman" pitchFamily="18" charset="0"/>
                <a:ea typeface="微软雅黑" pitchFamily="34" charset="-122"/>
                <a:cs typeface="Times New Roman" pitchFamily="18" charset="0"/>
              </a:rPr>
              <a:t>：饱和液体经节流阀绝热节流（不可逆）后 </a:t>
            </a:r>
            <a:r>
              <a:rPr lang="en-US" altLang="zh-CN" sz="2800" b="1" i="1" dirty="0">
                <a:latin typeface="Times New Roman" pitchFamily="18" charset="0"/>
                <a:ea typeface="微软雅黑" pitchFamily="34" charset="-122"/>
                <a:cs typeface="Times New Roman" pitchFamily="18" charset="0"/>
              </a:rPr>
              <a:t>p</a:t>
            </a:r>
            <a:r>
              <a:rPr lang="en-US" altLang="zh-CN" sz="2800" b="1" dirty="0">
                <a:latin typeface="Times New Roman" pitchFamily="18" charset="0"/>
                <a:ea typeface="微软雅黑" pitchFamily="34" charset="-122"/>
                <a:cs typeface="Times New Roman" pitchFamily="18" charset="0"/>
              </a:rPr>
              <a:t>↓</a:t>
            </a:r>
            <a:r>
              <a:rPr lang="zh-CN" altLang="en-US" sz="2800" dirty="0">
                <a:latin typeface="Times New Roman" pitchFamily="18" charset="0"/>
                <a:ea typeface="微软雅黑" pitchFamily="34" charset="-122"/>
                <a:cs typeface="Times New Roman" pitchFamily="18" charset="0"/>
              </a:rPr>
              <a:t>、</a:t>
            </a:r>
            <a:r>
              <a:rPr lang="en-US" altLang="zh-CN" sz="2800" b="1" i="1" dirty="0">
                <a:latin typeface="Times New Roman" pitchFamily="18" charset="0"/>
                <a:ea typeface="微软雅黑" pitchFamily="34" charset="-122"/>
                <a:cs typeface="Times New Roman" pitchFamily="18" charset="0"/>
              </a:rPr>
              <a:t>T</a:t>
            </a:r>
            <a:r>
              <a:rPr lang="en-US" altLang="zh-CN" sz="2800" b="1" dirty="0">
                <a:latin typeface="Times New Roman" pitchFamily="18" charset="0"/>
                <a:ea typeface="微软雅黑" pitchFamily="34" charset="-122"/>
                <a:cs typeface="Times New Roman" pitchFamily="18" charset="0"/>
              </a:rPr>
              <a:t>↓ </a:t>
            </a:r>
            <a:r>
              <a:rPr lang="zh-CN" altLang="en-US" sz="2800" dirty="0">
                <a:latin typeface="Times New Roman" pitchFamily="18" charset="0"/>
                <a:ea typeface="微软雅黑" pitchFamily="34" charset="-122"/>
                <a:cs typeface="Times New Roman" pitchFamily="18" charset="0"/>
              </a:rPr>
              <a:t>；</a:t>
            </a:r>
            <a:endParaRPr lang="en-US" altLang="zh-CN" sz="2800" dirty="0">
              <a:latin typeface="Times New Roman" pitchFamily="18" charset="0"/>
              <a:ea typeface="微软雅黑" pitchFamily="34" charset="-122"/>
              <a:cs typeface="Times New Roman" pitchFamily="18" charset="0"/>
            </a:endParaRPr>
          </a:p>
          <a:p>
            <a:pPr marL="457200" indent="-457200">
              <a:lnSpc>
                <a:spcPct val="130000"/>
              </a:lnSpc>
              <a:spcBef>
                <a:spcPts val="600"/>
              </a:spcBef>
              <a:buFont typeface="Wingdings" panose="05000000000000000000" pitchFamily="2" charset="2"/>
              <a:buChar char="Ø"/>
            </a:pPr>
            <a:r>
              <a:rPr lang="en-US" altLang="zh-CN" sz="2800" b="1" dirty="0">
                <a:solidFill>
                  <a:srgbClr val="0070C0"/>
                </a:solidFill>
                <a:latin typeface="Times New Roman" pitchFamily="18" charset="0"/>
                <a:ea typeface="微软雅黑" pitchFamily="34" charset="-122"/>
                <a:cs typeface="Times New Roman" pitchFamily="18" charset="0"/>
              </a:rPr>
              <a:t>4-1</a:t>
            </a:r>
            <a:r>
              <a:rPr lang="zh-CN" altLang="en-US" sz="2800" dirty="0">
                <a:latin typeface="Times New Roman" pitchFamily="18" charset="0"/>
                <a:ea typeface="微软雅黑" pitchFamily="34" charset="-122"/>
                <a:cs typeface="Times New Roman" pitchFamily="18" charset="0"/>
              </a:rPr>
              <a:t>：制冷剂液体在蒸发器中定压吸热气化为干饱和蒸气。</a:t>
            </a:r>
            <a:endParaRPr lang="en-US" altLang="zh-CN" sz="2800" dirty="0">
              <a:latin typeface="Times New Roman" pitchFamily="18" charset="0"/>
              <a:ea typeface="微软雅黑" pitchFamily="34" charset="-122"/>
              <a:cs typeface="Times New Roman" pitchFamily="18" charset="0"/>
            </a:endParaRPr>
          </a:p>
          <a:p>
            <a:pPr indent="457200">
              <a:lnSpc>
                <a:spcPct val="130000"/>
              </a:lnSpc>
              <a:spcBef>
                <a:spcPts val="600"/>
              </a:spcBef>
            </a:pPr>
            <a:r>
              <a:rPr lang="zh-CN" altLang="en-US" sz="2800" b="1" dirty="0">
                <a:solidFill>
                  <a:srgbClr val="7030A0"/>
                </a:solidFill>
                <a:latin typeface="Times New Roman" pitchFamily="18" charset="0"/>
                <a:ea typeface="微软雅黑" pitchFamily="34" charset="-122"/>
                <a:cs typeface="Times New Roman" pitchFamily="18" charset="0"/>
              </a:rPr>
              <a:t>从而达到从低温吸热、向高温放热的目的。</a:t>
            </a:r>
          </a:p>
        </p:txBody>
      </p:sp>
      <p:sp>
        <p:nvSpPr>
          <p:cNvPr id="18" name="TextBox 17"/>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blinds(horizontal)">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3">
                                            <p:txEl>
                                              <p:pRg st="1" end="1"/>
                                            </p:txEl>
                                          </p:spTgt>
                                        </p:tgtEl>
                                        <p:attrNameLst>
                                          <p:attrName>style.visibility</p:attrName>
                                        </p:attrNameLst>
                                      </p:cBhvr>
                                      <p:to>
                                        <p:strVal val="visible"/>
                                      </p:to>
                                    </p:set>
                                    <p:animEffect transition="in" filter="box(in)">
                                      <p:cBhvr>
                                        <p:cTn id="12" dur="500"/>
                                        <p:tgtEl>
                                          <p:spTgt spid="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3">
                                            <p:txEl>
                                              <p:pRg st="2" end="2"/>
                                            </p:txEl>
                                          </p:spTgt>
                                        </p:tgtEl>
                                        <p:attrNameLst>
                                          <p:attrName>style.visibility</p:attrName>
                                        </p:attrNameLst>
                                      </p:cBhvr>
                                      <p:to>
                                        <p:strVal val="visible"/>
                                      </p:to>
                                    </p:set>
                                    <p:animEffect transition="in" filter="blinds(horizontal)">
                                      <p:cBhvr>
                                        <p:cTn id="17" dur="500"/>
                                        <p:tgtEl>
                                          <p:spTgt spid="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23">
                                            <p:txEl>
                                              <p:pRg st="3" end="3"/>
                                            </p:txEl>
                                          </p:spTgt>
                                        </p:tgtEl>
                                        <p:attrNameLst>
                                          <p:attrName>style.visibility</p:attrName>
                                        </p:attrNameLst>
                                      </p:cBhvr>
                                      <p:to>
                                        <p:strVal val="visible"/>
                                      </p:to>
                                    </p:set>
                                    <p:animEffect transition="in" filter="slide(fromBottom)">
                                      <p:cBhvr>
                                        <p:cTn id="22" dur="500"/>
                                        <p:tgtEl>
                                          <p:spTgt spid="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3">
                                            <p:txEl>
                                              <p:pRg st="4" end="4"/>
                                            </p:txEl>
                                          </p:spTgt>
                                        </p:tgtEl>
                                        <p:attrNameLst>
                                          <p:attrName>style.visibility</p:attrName>
                                        </p:attrNameLst>
                                      </p:cBhvr>
                                      <p:to>
                                        <p:strVal val="visible"/>
                                      </p:to>
                                    </p:set>
                                    <p:anim calcmode="lin" valueType="num">
                                      <p:cBhvr additive="base">
                                        <p:cTn id="27" dur="500" fill="hold"/>
                                        <p:tgtEl>
                                          <p:spTgt spid="2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827584" y="2420887"/>
            <a:ext cx="7128792" cy="3148835"/>
            <a:chOff x="609600" y="2060848"/>
            <a:chExt cx="8001000" cy="3387725"/>
          </a:xfrm>
        </p:grpSpPr>
        <p:pic>
          <p:nvPicPr>
            <p:cNvPr id="23" name="Picture 5"/>
            <p:cNvPicPr>
              <a:picLocks noChangeAspect="1" noChangeArrowheads="1"/>
            </p:cNvPicPr>
            <p:nvPr/>
          </p:nvPicPr>
          <p:blipFill>
            <a:blip r:embed="rId3" cstate="print"/>
            <a:srcRect/>
            <a:stretch>
              <a:fillRect/>
            </a:stretch>
          </p:blipFill>
          <p:spPr bwMode="auto">
            <a:xfrm>
              <a:off x="4800600" y="2060848"/>
              <a:ext cx="3810000" cy="3387725"/>
            </a:xfrm>
            <a:prstGeom prst="rect">
              <a:avLst/>
            </a:prstGeom>
            <a:noFill/>
            <a:ln w="9525">
              <a:noFill/>
              <a:miter lim="800000"/>
              <a:headEnd/>
              <a:tailEnd/>
            </a:ln>
          </p:spPr>
        </p:pic>
        <p:pic>
          <p:nvPicPr>
            <p:cNvPr id="24" name="Picture 6"/>
            <p:cNvPicPr>
              <a:picLocks noChangeAspect="1" noChangeArrowheads="1"/>
            </p:cNvPicPr>
            <p:nvPr/>
          </p:nvPicPr>
          <p:blipFill>
            <a:blip r:embed="rId4" cstate="print"/>
            <a:srcRect/>
            <a:stretch>
              <a:fillRect/>
            </a:stretch>
          </p:blipFill>
          <p:spPr bwMode="auto">
            <a:xfrm>
              <a:off x="609600" y="2384648"/>
              <a:ext cx="3810000" cy="2870200"/>
            </a:xfrm>
            <a:prstGeom prst="rect">
              <a:avLst/>
            </a:prstGeom>
            <a:noFill/>
            <a:ln w="9525">
              <a:noFill/>
              <a:miter lim="800000"/>
              <a:headEnd/>
              <a:tailEnd/>
            </a:ln>
          </p:spPr>
        </p:pic>
      </p:grpSp>
      <p:pic>
        <p:nvPicPr>
          <p:cNvPr id="4" name="Picture 2" descr="C:\Users\nathan\Desktop\20130513校长报告0511\幻灯片4.PNG"/>
          <p:cNvPicPr>
            <a:picLocks noChangeAspect="1" noChangeArrowheads="1"/>
          </p:cNvPicPr>
          <p:nvPr/>
        </p:nvPicPr>
        <p:blipFill>
          <a:blip r:embed="rId5"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48</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6"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7" cstate="print"/>
            <a:srcRect/>
            <a:stretch>
              <a:fillRect/>
            </a:stretch>
          </p:blipFill>
          <p:spPr bwMode="auto">
            <a:xfrm>
              <a:off x="5500694" y="6122213"/>
              <a:ext cx="1862040" cy="396000"/>
            </a:xfrm>
            <a:prstGeom prst="rect">
              <a:avLst/>
            </a:prstGeom>
            <a:noFill/>
          </p:spPr>
        </p:pic>
      </p:grpSp>
      <p:sp>
        <p:nvSpPr>
          <p:cNvPr id="20" name="TextBox 37"/>
          <p:cNvSpPr txBox="1">
            <a:spLocks noChangeArrowheads="1"/>
          </p:cNvSpPr>
          <p:nvPr/>
        </p:nvSpPr>
        <p:spPr bwMode="auto">
          <a:xfrm>
            <a:off x="808298" y="1196752"/>
            <a:ext cx="7222604"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制冷量、耗功量及制冷系数</a:t>
            </a:r>
            <a:r>
              <a:rPr lang="zh-CN" altLang="en-US" sz="2800" dirty="0">
                <a:latin typeface="微软雅黑" pitchFamily="34" charset="-122"/>
                <a:ea typeface="微软雅黑" pitchFamily="34" charset="-122"/>
              </a:rPr>
              <a:t>（均与焓有关）</a:t>
            </a:r>
          </a:p>
        </p:txBody>
      </p:sp>
      <p:sp>
        <p:nvSpPr>
          <p:cNvPr id="22" name="矩形 21"/>
          <p:cNvSpPr/>
          <p:nvPr/>
        </p:nvSpPr>
        <p:spPr>
          <a:xfrm>
            <a:off x="146534" y="1210221"/>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2.</a:t>
            </a:r>
            <a:endParaRPr lang="zh-CN" altLang="en-US" sz="2800" i="1" dirty="0">
              <a:solidFill>
                <a:srgbClr val="C00000"/>
              </a:solidFill>
              <a:latin typeface="Bernard MT Condensed"/>
            </a:endParaRPr>
          </a:p>
        </p:txBody>
      </p:sp>
      <p:sp>
        <p:nvSpPr>
          <p:cNvPr id="26" name="矩形 25"/>
          <p:cNvSpPr/>
          <p:nvPr/>
        </p:nvSpPr>
        <p:spPr>
          <a:xfrm>
            <a:off x="1930508" y="5487615"/>
            <a:ext cx="963725" cy="461665"/>
          </a:xfrm>
          <a:prstGeom prst="rect">
            <a:avLst/>
          </a:prstGeom>
          <a:solidFill>
            <a:schemeClr val="bg2"/>
          </a:solidFill>
        </p:spPr>
        <p:txBody>
          <a:bodyPr wrap="none">
            <a:spAutoFit/>
          </a:bodyPr>
          <a:lstStyle/>
          <a:p>
            <a:r>
              <a:rPr lang="en-US" altLang="zh-CN" sz="2400" i="1" dirty="0">
                <a:solidFill>
                  <a:prstClr val="black"/>
                </a:solidFill>
                <a:latin typeface="Times New Roman" pitchFamily="18" charset="0"/>
                <a:ea typeface="微软雅黑" pitchFamily="34" charset="-122"/>
                <a:cs typeface="Times New Roman" pitchFamily="18" charset="0"/>
              </a:rPr>
              <a:t>T</a:t>
            </a:r>
            <a:r>
              <a:rPr lang="en-US" altLang="zh-CN" sz="2400" dirty="0">
                <a:solidFill>
                  <a:prstClr val="black"/>
                </a:solidFill>
                <a:latin typeface="Times New Roman" pitchFamily="18" charset="0"/>
                <a:ea typeface="微软雅黑" pitchFamily="34" charset="-122"/>
                <a:cs typeface="Times New Roman" pitchFamily="18" charset="0"/>
              </a:rPr>
              <a:t>-</a:t>
            </a:r>
            <a:r>
              <a:rPr lang="en-US" altLang="zh-CN" sz="2400" i="1" dirty="0">
                <a:solidFill>
                  <a:prstClr val="black"/>
                </a:solidFill>
                <a:latin typeface="Times New Roman" pitchFamily="18" charset="0"/>
                <a:ea typeface="微软雅黑" pitchFamily="34" charset="-122"/>
                <a:cs typeface="Times New Roman" pitchFamily="18" charset="0"/>
              </a:rPr>
              <a:t>s </a:t>
            </a:r>
            <a:r>
              <a:rPr lang="zh-CN" altLang="en-US" sz="2400" dirty="0">
                <a:solidFill>
                  <a:prstClr val="black"/>
                </a:solidFill>
                <a:latin typeface="Times New Roman" pitchFamily="18" charset="0"/>
                <a:ea typeface="微软雅黑" pitchFamily="34" charset="-122"/>
                <a:cs typeface="Times New Roman" pitchFamily="18" charset="0"/>
              </a:rPr>
              <a:t>图</a:t>
            </a:r>
            <a:endParaRPr lang="zh-CN" altLang="en-US" sz="2400" dirty="0"/>
          </a:p>
        </p:txBody>
      </p:sp>
      <p:sp>
        <p:nvSpPr>
          <p:cNvPr id="30" name="矩形 29"/>
          <p:cNvSpPr/>
          <p:nvPr/>
        </p:nvSpPr>
        <p:spPr>
          <a:xfrm>
            <a:off x="5796733" y="5415607"/>
            <a:ext cx="1295547" cy="461665"/>
          </a:xfrm>
          <a:prstGeom prst="rect">
            <a:avLst/>
          </a:prstGeom>
          <a:solidFill>
            <a:schemeClr val="bg2"/>
          </a:solidFill>
        </p:spPr>
        <p:txBody>
          <a:bodyPr wrap="none">
            <a:spAutoFit/>
          </a:bodyPr>
          <a:lstStyle/>
          <a:p>
            <a:r>
              <a:rPr lang="en-US" altLang="zh-CN" sz="2400" dirty="0" err="1">
                <a:solidFill>
                  <a:prstClr val="black"/>
                </a:solidFill>
                <a:latin typeface="Times New Roman" pitchFamily="18" charset="0"/>
                <a:ea typeface="微软雅黑" pitchFamily="34" charset="-122"/>
                <a:cs typeface="Times New Roman" pitchFamily="18" charset="0"/>
              </a:rPr>
              <a:t>lg</a:t>
            </a:r>
            <a:r>
              <a:rPr lang="en-US" altLang="zh-CN" sz="2400" dirty="0">
                <a:solidFill>
                  <a:prstClr val="black"/>
                </a:solidFill>
                <a:latin typeface="Times New Roman" pitchFamily="18" charset="0"/>
                <a:ea typeface="微软雅黑" pitchFamily="34" charset="-122"/>
                <a:cs typeface="Times New Roman" pitchFamily="18" charset="0"/>
              </a:rPr>
              <a:t> </a:t>
            </a:r>
            <a:r>
              <a:rPr lang="en-US" altLang="zh-CN" sz="2400" i="1" dirty="0">
                <a:solidFill>
                  <a:prstClr val="black"/>
                </a:solidFill>
                <a:latin typeface="Times New Roman" pitchFamily="18" charset="0"/>
                <a:ea typeface="微软雅黑" pitchFamily="34" charset="-122"/>
                <a:cs typeface="Times New Roman" pitchFamily="18" charset="0"/>
              </a:rPr>
              <a:t>p</a:t>
            </a:r>
            <a:r>
              <a:rPr lang="en-US" altLang="zh-CN" sz="2400" dirty="0">
                <a:solidFill>
                  <a:prstClr val="black"/>
                </a:solidFill>
                <a:latin typeface="Times New Roman" pitchFamily="18" charset="0"/>
                <a:ea typeface="微软雅黑" pitchFamily="34" charset="-122"/>
                <a:cs typeface="Times New Roman" pitchFamily="18" charset="0"/>
              </a:rPr>
              <a:t>-</a:t>
            </a:r>
            <a:r>
              <a:rPr lang="en-US" altLang="zh-CN" sz="2400" i="1" dirty="0">
                <a:solidFill>
                  <a:prstClr val="black"/>
                </a:solidFill>
                <a:latin typeface="Times New Roman" pitchFamily="18" charset="0"/>
                <a:ea typeface="微软雅黑" pitchFamily="34" charset="-122"/>
                <a:cs typeface="Times New Roman" pitchFamily="18" charset="0"/>
              </a:rPr>
              <a:t>h </a:t>
            </a:r>
            <a:r>
              <a:rPr lang="zh-CN" altLang="en-US" sz="2400" dirty="0">
                <a:solidFill>
                  <a:prstClr val="black"/>
                </a:solidFill>
                <a:latin typeface="Times New Roman" pitchFamily="18" charset="0"/>
                <a:ea typeface="微软雅黑" pitchFamily="34" charset="-122"/>
                <a:cs typeface="Times New Roman" pitchFamily="18" charset="0"/>
              </a:rPr>
              <a:t>图</a:t>
            </a:r>
            <a:endParaRPr lang="zh-CN" altLang="en-US" sz="2400" dirty="0"/>
          </a:p>
        </p:txBody>
      </p:sp>
      <p:sp>
        <p:nvSpPr>
          <p:cNvPr id="31" name="Rectangle 7"/>
          <p:cNvSpPr>
            <a:spLocks noChangeArrowheads="1"/>
          </p:cNvSpPr>
          <p:nvPr/>
        </p:nvSpPr>
        <p:spPr bwMode="auto">
          <a:xfrm>
            <a:off x="179512" y="1791980"/>
            <a:ext cx="4932040" cy="523220"/>
          </a:xfrm>
          <a:prstGeom prst="rect">
            <a:avLst/>
          </a:prstGeom>
          <a:noFill/>
          <a:ln w="9525">
            <a:noFill/>
            <a:miter lim="800000"/>
            <a:headEnd/>
            <a:tailEnd/>
          </a:ln>
          <a:effectLst/>
        </p:spPr>
        <p:txBody>
          <a:bodyPr wrap="square" anchor="ctr">
            <a:spAutoFit/>
          </a:bodyPr>
          <a:lstStyle/>
          <a:p>
            <a:r>
              <a:rPr lang="zh-CN" altLang="en-US" sz="2800" dirty="0">
                <a:solidFill>
                  <a:srgbClr val="0000FF"/>
                </a:solidFill>
                <a:latin typeface="微软雅黑" pitchFamily="34" charset="-122"/>
                <a:ea typeface="微软雅黑" pitchFamily="34" charset="-122"/>
                <a:cs typeface="Times New Roman" pitchFamily="18" charset="0"/>
              </a:rPr>
              <a:t>（</a:t>
            </a:r>
            <a:r>
              <a:rPr lang="en-US" altLang="zh-CN" sz="2800" dirty="0">
                <a:solidFill>
                  <a:srgbClr val="0000FF"/>
                </a:solidFill>
                <a:latin typeface="微软雅黑" pitchFamily="34" charset="-122"/>
                <a:ea typeface="微软雅黑" pitchFamily="34" charset="-122"/>
                <a:cs typeface="Times New Roman" pitchFamily="18" charset="0"/>
              </a:rPr>
              <a:t>1</a:t>
            </a:r>
            <a:r>
              <a:rPr lang="zh-CN" altLang="en-US" sz="2800" dirty="0">
                <a:solidFill>
                  <a:srgbClr val="0000FF"/>
                </a:solidFill>
                <a:latin typeface="微软雅黑" pitchFamily="34" charset="-122"/>
                <a:ea typeface="微软雅黑" pitchFamily="34" charset="-122"/>
                <a:cs typeface="Times New Roman" pitchFamily="18" charset="0"/>
              </a:rPr>
              <a:t>）</a:t>
            </a:r>
            <a:r>
              <a:rPr lang="zh-CN" altLang="en-US" sz="2800" dirty="0">
                <a:solidFill>
                  <a:srgbClr val="0000FF"/>
                </a:solidFill>
                <a:latin typeface="Times New Roman" pitchFamily="18" charset="0"/>
                <a:ea typeface="微软雅黑" pitchFamily="34" charset="-122"/>
                <a:cs typeface="Times New Roman" pitchFamily="18" charset="0"/>
              </a:rPr>
              <a:t>单位制冷剂制冷量 </a:t>
            </a:r>
            <a:r>
              <a:rPr lang="en-US" altLang="zh-CN" sz="2800" i="1" dirty="0">
                <a:solidFill>
                  <a:srgbClr val="0000FF"/>
                </a:solidFill>
                <a:latin typeface="Times New Roman" pitchFamily="18" charset="0"/>
                <a:ea typeface="微软雅黑" pitchFamily="34" charset="-122"/>
                <a:cs typeface="Times New Roman" pitchFamily="18" charset="0"/>
              </a:rPr>
              <a:t>q</a:t>
            </a:r>
            <a:r>
              <a:rPr lang="en-US" altLang="zh-CN" sz="2800" baseline="-25000" dirty="0">
                <a:solidFill>
                  <a:srgbClr val="0000FF"/>
                </a:solidFill>
                <a:latin typeface="Times New Roman" pitchFamily="18" charset="0"/>
                <a:ea typeface="微软雅黑" pitchFamily="34" charset="-122"/>
                <a:cs typeface="Times New Roman" pitchFamily="18" charset="0"/>
              </a:rPr>
              <a:t>2</a:t>
            </a:r>
            <a:endParaRPr lang="zh-CN" altLang="en-US" sz="2800" dirty="0">
              <a:solidFill>
                <a:srgbClr val="0000FF"/>
              </a:solidFill>
              <a:latin typeface="Times New Roman" pitchFamily="18" charset="0"/>
              <a:ea typeface="微软雅黑" pitchFamily="34" charset="-122"/>
              <a:cs typeface="Times New Roman" pitchFamily="18" charset="0"/>
            </a:endParaRPr>
          </a:p>
        </p:txBody>
      </p:sp>
      <p:sp>
        <p:nvSpPr>
          <p:cNvPr id="32" name="TextBox 31"/>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0" grpId="0" animBg="1"/>
      <p:bldP spid="3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49</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sp>
        <p:nvSpPr>
          <p:cNvPr id="31" name="Rectangle 7"/>
          <p:cNvSpPr>
            <a:spLocks noChangeArrowheads="1"/>
          </p:cNvSpPr>
          <p:nvPr/>
        </p:nvSpPr>
        <p:spPr bwMode="auto">
          <a:xfrm>
            <a:off x="251520" y="1163668"/>
            <a:ext cx="2736304" cy="523220"/>
          </a:xfrm>
          <a:prstGeom prst="rect">
            <a:avLst/>
          </a:prstGeom>
          <a:noFill/>
          <a:ln w="9525">
            <a:noFill/>
            <a:miter lim="800000"/>
            <a:headEnd/>
            <a:tailEnd/>
          </a:ln>
          <a:effectLst/>
        </p:spPr>
        <p:txBody>
          <a:bodyPr wrap="square" anchor="ctr">
            <a:spAutoFit/>
          </a:bodyPr>
          <a:lstStyle/>
          <a:p>
            <a:r>
              <a:rPr lang="zh-CN" altLang="en-US" sz="2800" dirty="0">
                <a:solidFill>
                  <a:srgbClr val="0000FF"/>
                </a:solidFill>
                <a:latin typeface="微软雅黑" pitchFamily="34" charset="-122"/>
                <a:ea typeface="微软雅黑" pitchFamily="34" charset="-122"/>
                <a:cs typeface="Times New Roman" pitchFamily="18" charset="0"/>
              </a:rPr>
              <a:t>（</a:t>
            </a:r>
            <a:r>
              <a:rPr lang="en-US" altLang="zh-CN" sz="2800" dirty="0">
                <a:solidFill>
                  <a:srgbClr val="0000FF"/>
                </a:solidFill>
                <a:latin typeface="微软雅黑" pitchFamily="34" charset="-122"/>
                <a:ea typeface="微软雅黑" pitchFamily="34" charset="-122"/>
                <a:cs typeface="Times New Roman" pitchFamily="18" charset="0"/>
              </a:rPr>
              <a:t>2</a:t>
            </a:r>
            <a:r>
              <a:rPr lang="zh-CN" altLang="en-US" sz="2800" dirty="0">
                <a:solidFill>
                  <a:srgbClr val="0000FF"/>
                </a:solidFill>
                <a:latin typeface="微软雅黑" pitchFamily="34" charset="-122"/>
                <a:ea typeface="微软雅黑" pitchFamily="34" charset="-122"/>
                <a:cs typeface="Times New Roman" pitchFamily="18" charset="0"/>
              </a:rPr>
              <a:t>）</a:t>
            </a:r>
            <a:r>
              <a:rPr lang="zh-CN" altLang="en-US" sz="2800" dirty="0">
                <a:solidFill>
                  <a:srgbClr val="0000FF"/>
                </a:solidFill>
                <a:latin typeface="微软雅黑" pitchFamily="34" charset="-122"/>
                <a:ea typeface="微软雅黑" pitchFamily="34" charset="-122"/>
              </a:rPr>
              <a:t>耗功量</a:t>
            </a:r>
            <a:r>
              <a:rPr lang="zh-CN" altLang="en-US" sz="1050" b="1" dirty="0">
                <a:solidFill>
                  <a:srgbClr val="0000FF"/>
                </a:solidFill>
                <a:latin typeface="+mj-ea"/>
              </a:rPr>
              <a:t> </a:t>
            </a:r>
            <a:r>
              <a:rPr lang="en-US" altLang="zh-CN" sz="2800" b="1" i="1" dirty="0">
                <a:solidFill>
                  <a:srgbClr val="0000FF"/>
                </a:solidFill>
                <a:latin typeface="Times New Roman" pitchFamily="18" charset="0"/>
                <a:cs typeface="Times New Roman" pitchFamily="18" charset="0"/>
              </a:rPr>
              <a:t>w</a:t>
            </a:r>
            <a:r>
              <a:rPr lang="en-US" altLang="zh-CN" sz="2800" b="1" baseline="-25000" dirty="0">
                <a:solidFill>
                  <a:srgbClr val="0000FF"/>
                </a:solidFill>
                <a:latin typeface="Times New Roman" pitchFamily="18" charset="0"/>
                <a:cs typeface="Times New Roman" pitchFamily="18" charset="0"/>
              </a:rPr>
              <a:t>0</a:t>
            </a:r>
            <a:endParaRPr lang="zh-CN" altLang="en-US" sz="2800" dirty="0">
              <a:solidFill>
                <a:srgbClr val="0000FF"/>
              </a:solidFill>
              <a:latin typeface="Times New Roman" pitchFamily="18" charset="0"/>
              <a:ea typeface="微软雅黑" pitchFamily="34" charset="-122"/>
              <a:cs typeface="Times New Roman" pitchFamily="18" charset="0"/>
            </a:endParaRPr>
          </a:p>
        </p:txBody>
      </p:sp>
      <p:grpSp>
        <p:nvGrpSpPr>
          <p:cNvPr id="37" name="组合 36"/>
          <p:cNvGrpSpPr/>
          <p:nvPr/>
        </p:nvGrpSpPr>
        <p:grpSpPr>
          <a:xfrm>
            <a:off x="1053895" y="1686889"/>
            <a:ext cx="6480720" cy="2610846"/>
            <a:chOff x="609600" y="2060848"/>
            <a:chExt cx="8001000" cy="3387725"/>
          </a:xfrm>
        </p:grpSpPr>
        <p:pic>
          <p:nvPicPr>
            <p:cNvPr id="38" name="Picture 5"/>
            <p:cNvPicPr>
              <a:picLocks noChangeAspect="1" noChangeArrowheads="1"/>
            </p:cNvPicPr>
            <p:nvPr/>
          </p:nvPicPr>
          <p:blipFill>
            <a:blip r:embed="rId7" cstate="print"/>
            <a:srcRect/>
            <a:stretch>
              <a:fillRect/>
            </a:stretch>
          </p:blipFill>
          <p:spPr bwMode="auto">
            <a:xfrm>
              <a:off x="4800600" y="2060848"/>
              <a:ext cx="3810000" cy="3387725"/>
            </a:xfrm>
            <a:prstGeom prst="rect">
              <a:avLst/>
            </a:prstGeom>
            <a:noFill/>
            <a:ln w="9525">
              <a:noFill/>
              <a:miter lim="800000"/>
              <a:headEnd/>
              <a:tailEnd/>
            </a:ln>
          </p:spPr>
        </p:pic>
        <p:pic>
          <p:nvPicPr>
            <p:cNvPr id="39" name="Picture 6"/>
            <p:cNvPicPr>
              <a:picLocks noChangeAspect="1" noChangeArrowheads="1"/>
            </p:cNvPicPr>
            <p:nvPr/>
          </p:nvPicPr>
          <p:blipFill>
            <a:blip r:embed="rId8" cstate="print"/>
            <a:srcRect/>
            <a:stretch>
              <a:fillRect/>
            </a:stretch>
          </p:blipFill>
          <p:spPr bwMode="auto">
            <a:xfrm>
              <a:off x="609600" y="2384648"/>
              <a:ext cx="3810000" cy="2870200"/>
            </a:xfrm>
            <a:prstGeom prst="rect">
              <a:avLst/>
            </a:prstGeom>
            <a:noFill/>
            <a:ln w="9525">
              <a:noFill/>
              <a:miter lim="800000"/>
              <a:headEnd/>
              <a:tailEnd/>
            </a:ln>
          </p:spPr>
        </p:pic>
      </p:grpSp>
      <p:sp>
        <p:nvSpPr>
          <p:cNvPr id="42" name="Rectangle 4"/>
          <p:cNvSpPr>
            <a:spLocks noChangeArrowheads="1"/>
          </p:cNvSpPr>
          <p:nvPr/>
        </p:nvSpPr>
        <p:spPr bwMode="auto">
          <a:xfrm>
            <a:off x="612163" y="4221088"/>
            <a:ext cx="7848269" cy="652486"/>
          </a:xfrm>
          <a:prstGeom prst="rect">
            <a:avLst/>
          </a:prstGeom>
          <a:noFill/>
          <a:ln w="9525">
            <a:noFill/>
            <a:miter lim="800000"/>
            <a:headEnd/>
            <a:tailEnd/>
          </a:ln>
          <a:effectLst/>
        </p:spPr>
        <p:txBody>
          <a:bodyPr wrap="square">
            <a:spAutoFit/>
          </a:bodyPr>
          <a:lstStyle/>
          <a:p>
            <a:pPr algn="ctr">
              <a:lnSpc>
                <a:spcPct val="130000"/>
              </a:lnSpc>
            </a:pPr>
            <a:r>
              <a:rPr lang="zh-CN" altLang="en-US" sz="2800" b="1" dirty="0">
                <a:solidFill>
                  <a:srgbClr val="FF0000"/>
                </a:solidFill>
                <a:latin typeface="Times New Roman" pitchFamily="18" charset="0"/>
                <a:ea typeface="微软雅黑" pitchFamily="34" charset="-122"/>
                <a:cs typeface="Times New Roman" pitchFamily="18" charset="0"/>
              </a:rPr>
              <a:t>注意：</a:t>
            </a:r>
            <a:r>
              <a:rPr lang="en-US" altLang="zh-CN" sz="2800" b="1" i="1" dirty="0">
                <a:latin typeface="Times New Roman" pitchFamily="18" charset="0"/>
                <a:ea typeface="微软雅黑" pitchFamily="34" charset="-122"/>
                <a:cs typeface="Times New Roman" pitchFamily="18" charset="0"/>
              </a:rPr>
              <a:t>T-s </a:t>
            </a:r>
            <a:r>
              <a:rPr lang="zh-CN" altLang="en-US" sz="2800" dirty="0">
                <a:latin typeface="Times New Roman" pitchFamily="18" charset="0"/>
                <a:ea typeface="微软雅黑" pitchFamily="34" charset="-122"/>
                <a:cs typeface="Times New Roman" pitchFamily="18" charset="0"/>
              </a:rPr>
              <a:t>图上面积 </a:t>
            </a:r>
            <a:r>
              <a:rPr lang="en-US" altLang="zh-CN" sz="2800" dirty="0">
                <a:latin typeface="Times New Roman" pitchFamily="18" charset="0"/>
                <a:ea typeface="微软雅黑" pitchFamily="34" charset="-122"/>
                <a:cs typeface="Times New Roman" pitchFamily="18" charset="0"/>
              </a:rPr>
              <a:t>12341 </a:t>
            </a:r>
            <a:r>
              <a:rPr lang="zh-CN" altLang="en-US" sz="2800" dirty="0">
                <a:latin typeface="Times New Roman" pitchFamily="18" charset="0"/>
                <a:ea typeface="微软雅黑" pitchFamily="34" charset="-122"/>
                <a:cs typeface="Times New Roman" pitchFamily="18" charset="0"/>
              </a:rPr>
              <a:t>不代表循环耗功量，但</a:t>
            </a:r>
            <a:r>
              <a:rPr lang="en-US" altLang="zh-CN" sz="2800" dirty="0">
                <a:latin typeface="微软雅黑" pitchFamily="34" charset="-122"/>
                <a:ea typeface="微软雅黑" pitchFamily="34" charset="-122"/>
                <a:cs typeface="Times New Roman" pitchFamily="18" charset="0"/>
              </a:rPr>
              <a:t>:</a:t>
            </a:r>
            <a:endParaRPr lang="zh-CN" altLang="en-US" sz="2800" dirty="0">
              <a:latin typeface="Times New Roman" pitchFamily="18" charset="0"/>
              <a:ea typeface="微软雅黑" pitchFamily="34" charset="-122"/>
              <a:cs typeface="Times New Roman" pitchFamily="18" charset="0"/>
            </a:endParaRPr>
          </a:p>
        </p:txBody>
      </p:sp>
      <p:sp>
        <p:nvSpPr>
          <p:cNvPr id="43" name="矩形 42"/>
          <p:cNvSpPr/>
          <p:nvPr/>
        </p:nvSpPr>
        <p:spPr>
          <a:xfrm>
            <a:off x="616380" y="5445224"/>
            <a:ext cx="2371444" cy="652486"/>
          </a:xfrm>
          <a:prstGeom prst="rect">
            <a:avLst/>
          </a:prstGeom>
        </p:spPr>
        <p:txBody>
          <a:bodyPr wrap="square">
            <a:spAutoFit/>
          </a:bodyPr>
          <a:lstStyle/>
          <a:p>
            <a:pPr lvl="0">
              <a:lnSpc>
                <a:spcPct val="130000"/>
              </a:lnSpc>
              <a:defRPr/>
            </a:pPr>
            <a:r>
              <a:rPr lang="zh-CN" altLang="en-US" sz="2800" dirty="0">
                <a:latin typeface="Times New Roman" pitchFamily="18" charset="0"/>
                <a:ea typeface="微软雅黑" pitchFamily="34" charset="-122"/>
                <a:cs typeface="Times New Roman" pitchFamily="18" charset="0"/>
              </a:rPr>
              <a:t>在 </a:t>
            </a:r>
            <a:r>
              <a:rPr lang="en-US" altLang="zh-CN" sz="2800" b="1" dirty="0" err="1">
                <a:latin typeface="Times New Roman" pitchFamily="18" charset="0"/>
                <a:ea typeface="微软雅黑" pitchFamily="34" charset="-122"/>
                <a:cs typeface="Times New Roman" pitchFamily="18" charset="0"/>
              </a:rPr>
              <a:t>lg</a:t>
            </a:r>
            <a:r>
              <a:rPr lang="en-US" altLang="zh-CN" b="1" dirty="0">
                <a:latin typeface="Times New Roman" pitchFamily="18" charset="0"/>
                <a:ea typeface="微软雅黑" pitchFamily="34" charset="-122"/>
                <a:cs typeface="Times New Roman" pitchFamily="18" charset="0"/>
              </a:rPr>
              <a:t> </a:t>
            </a:r>
            <a:r>
              <a:rPr lang="en-US" altLang="zh-CN" sz="2800" b="1" i="1" dirty="0">
                <a:latin typeface="Times New Roman" pitchFamily="18" charset="0"/>
                <a:ea typeface="微软雅黑" pitchFamily="34" charset="-122"/>
                <a:cs typeface="Times New Roman" pitchFamily="18" charset="0"/>
              </a:rPr>
              <a:t>p-h</a:t>
            </a:r>
            <a:r>
              <a:rPr lang="en-US" altLang="zh-CN" sz="2800" i="1" dirty="0">
                <a:latin typeface="Times New Roman" pitchFamily="18" charset="0"/>
                <a:ea typeface="微软雅黑" pitchFamily="34" charset="-122"/>
                <a:cs typeface="Times New Roman" pitchFamily="18" charset="0"/>
              </a:rPr>
              <a:t> </a:t>
            </a:r>
            <a:r>
              <a:rPr lang="zh-CN" altLang="en-US" sz="2800" dirty="0">
                <a:latin typeface="Times New Roman" pitchFamily="18" charset="0"/>
                <a:ea typeface="微软雅黑" pitchFamily="34" charset="-122"/>
                <a:cs typeface="Times New Roman" pitchFamily="18" charset="0"/>
              </a:rPr>
              <a:t>图上：</a:t>
            </a:r>
            <a:r>
              <a:rPr lang="zh-CN" altLang="en-US" sz="2800" b="1" dirty="0">
                <a:solidFill>
                  <a:srgbClr val="0070C0"/>
                </a:solidFill>
                <a:latin typeface="Times New Roman" pitchFamily="18" charset="0"/>
                <a:ea typeface="微软雅黑" pitchFamily="34" charset="-122"/>
                <a:cs typeface="Times New Roman" pitchFamily="18" charset="0"/>
              </a:rPr>
              <a:t>                   </a:t>
            </a:r>
            <a:endParaRPr lang="zh-CN" altLang="en-US" sz="2800" b="1" baseline="-25000" dirty="0">
              <a:solidFill>
                <a:srgbClr val="FF0000"/>
              </a:solidFill>
              <a:latin typeface="Times New Roman" pitchFamily="18" charset="0"/>
              <a:ea typeface="微软雅黑" pitchFamily="34" charset="-122"/>
              <a:cs typeface="Times New Roman"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767114632"/>
              </p:ext>
            </p:extLst>
          </p:nvPr>
        </p:nvGraphicFramePr>
        <p:xfrm>
          <a:off x="3707904" y="5555714"/>
          <a:ext cx="1656184" cy="523684"/>
        </p:xfrm>
        <a:graphic>
          <a:graphicData uri="http://schemas.openxmlformats.org/presentationml/2006/ole">
            <mc:AlternateContent xmlns:mc="http://schemas.openxmlformats.org/markup-compatibility/2006">
              <mc:Choice xmlns:v="urn:schemas-microsoft-com:vml" Requires="v">
                <p:oleObj spid="_x0000_s91216" name="Equation" r:id="rId9" imgW="723586" imgH="228501" progId="Equation.3">
                  <p:embed/>
                </p:oleObj>
              </mc:Choice>
              <mc:Fallback>
                <p:oleObj name="Equation" r:id="rId9" imgW="723586" imgH="228501"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07904" y="5555714"/>
                        <a:ext cx="1656184" cy="523684"/>
                      </a:xfrm>
                      <a:prstGeom prst="rect">
                        <a:avLst/>
                      </a:prstGeom>
                      <a:solidFill>
                        <a:schemeClr val="accent4">
                          <a:lumMod val="40000"/>
                          <a:lumOff val="60000"/>
                        </a:schemeClr>
                      </a:solidFill>
                      <a:ln>
                        <a:noFill/>
                      </a:ln>
                      <a:effec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672523290"/>
              </p:ext>
            </p:extLst>
          </p:nvPr>
        </p:nvGraphicFramePr>
        <p:xfrm>
          <a:off x="3691747" y="4940399"/>
          <a:ext cx="1672341" cy="504825"/>
        </p:xfrm>
        <a:graphic>
          <a:graphicData uri="http://schemas.openxmlformats.org/presentationml/2006/ole">
            <mc:AlternateContent xmlns:mc="http://schemas.openxmlformats.org/markup-compatibility/2006">
              <mc:Choice xmlns:v="urn:schemas-microsoft-com:vml" Requires="v">
                <p:oleObj spid="_x0000_s91217" r:id="rId11" imgW="634725" imgH="190417" progId="Equation.DSMT4">
                  <p:embed/>
                </p:oleObj>
              </mc:Choice>
              <mc:Fallback>
                <p:oleObj r:id="rId11" imgW="634725" imgH="190417" progId="Equation.DSMT4">
                  <p:embed/>
                  <p:pic>
                    <p:nvPicPr>
                      <p:cNvPr id="0" name="对象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91747" y="4940399"/>
                        <a:ext cx="1672341" cy="504825"/>
                      </a:xfrm>
                      <a:prstGeom prst="rect">
                        <a:avLst/>
                      </a:prstGeom>
                      <a:solidFill>
                        <a:schemeClr val="accent3">
                          <a:lumMod val="40000"/>
                          <a:lumOff val="60000"/>
                        </a:schemeClr>
                      </a:solidFill>
                      <a:ln>
                        <a:noFill/>
                      </a:ln>
                    </p:spPr>
                  </p:pic>
                </p:oleObj>
              </mc:Fallback>
            </mc:AlternateContent>
          </a:graphicData>
        </a:graphic>
      </p:graphicFrame>
      <p:sp>
        <p:nvSpPr>
          <p:cNvPr id="24" name="TextBox 23"/>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0-#ppt_w/2"/>
                                          </p:val>
                                        </p:tav>
                                        <p:tav tm="100000">
                                          <p:val>
                                            <p:strVal val="#ppt_x"/>
                                          </p:val>
                                        </p:tav>
                                      </p:tavLst>
                                    </p:anim>
                                    <p:anim calcmode="lin" valueType="num">
                                      <p:cBhvr additive="base">
                                        <p:cTn id="2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4"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50</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5"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6" cstate="print"/>
            <a:srcRect/>
            <a:stretch>
              <a:fillRect/>
            </a:stretch>
          </p:blipFill>
          <p:spPr bwMode="auto">
            <a:xfrm>
              <a:off x="5500694" y="6122213"/>
              <a:ext cx="1862040" cy="396000"/>
            </a:xfrm>
            <a:prstGeom prst="rect">
              <a:avLst/>
            </a:prstGeom>
            <a:noFill/>
          </p:spPr>
        </p:pic>
      </p:grpSp>
      <p:sp>
        <p:nvSpPr>
          <p:cNvPr id="31" name="Rectangle 7"/>
          <p:cNvSpPr>
            <a:spLocks noChangeArrowheads="1"/>
          </p:cNvSpPr>
          <p:nvPr/>
        </p:nvSpPr>
        <p:spPr bwMode="auto">
          <a:xfrm>
            <a:off x="282799" y="1340768"/>
            <a:ext cx="3275856" cy="523220"/>
          </a:xfrm>
          <a:prstGeom prst="rect">
            <a:avLst/>
          </a:prstGeom>
          <a:noFill/>
          <a:ln w="9525">
            <a:noFill/>
            <a:miter lim="800000"/>
            <a:headEnd/>
            <a:tailEnd/>
          </a:ln>
          <a:effectLst/>
        </p:spPr>
        <p:txBody>
          <a:bodyPr wrap="square" anchor="ctr">
            <a:spAutoFit/>
          </a:bodyPr>
          <a:lstStyle/>
          <a:p>
            <a:r>
              <a:rPr lang="zh-CN" altLang="en-US" sz="2800" dirty="0">
                <a:solidFill>
                  <a:srgbClr val="0000FF"/>
                </a:solidFill>
                <a:latin typeface="微软雅黑" pitchFamily="34" charset="-122"/>
                <a:ea typeface="微软雅黑" pitchFamily="34" charset="-122"/>
                <a:cs typeface="Times New Roman" pitchFamily="18" charset="0"/>
              </a:rPr>
              <a:t>（</a:t>
            </a:r>
            <a:r>
              <a:rPr lang="en-US" altLang="zh-CN" sz="2800" dirty="0">
                <a:solidFill>
                  <a:srgbClr val="0000FF"/>
                </a:solidFill>
                <a:latin typeface="微软雅黑" pitchFamily="34" charset="-122"/>
                <a:ea typeface="微软雅黑" pitchFamily="34" charset="-122"/>
                <a:cs typeface="Times New Roman" pitchFamily="18" charset="0"/>
              </a:rPr>
              <a:t>3</a:t>
            </a:r>
            <a:r>
              <a:rPr lang="zh-CN" altLang="en-US" sz="2800" dirty="0">
                <a:solidFill>
                  <a:srgbClr val="0000FF"/>
                </a:solidFill>
                <a:latin typeface="微软雅黑" pitchFamily="34" charset="-122"/>
                <a:ea typeface="微软雅黑" pitchFamily="34" charset="-122"/>
                <a:cs typeface="Times New Roman" pitchFamily="18" charset="0"/>
              </a:rPr>
              <a:t>）制冷系数</a:t>
            </a:r>
            <a:endParaRPr lang="zh-CN" altLang="en-US" sz="2800" dirty="0">
              <a:solidFill>
                <a:srgbClr val="0000FF"/>
              </a:solidFill>
              <a:latin typeface="Times New Roman" pitchFamily="18" charset="0"/>
              <a:ea typeface="微软雅黑" pitchFamily="34" charset="-122"/>
              <a:cs typeface="Times New Roman" pitchFamily="18" charset="0"/>
            </a:endParaRPr>
          </a:p>
        </p:txBody>
      </p:sp>
      <p:graphicFrame>
        <p:nvGraphicFramePr>
          <p:cNvPr id="16" name="对象 2"/>
          <p:cNvGraphicFramePr>
            <a:graphicFrameLocks noChangeAspect="1"/>
          </p:cNvGraphicFramePr>
          <p:nvPr>
            <p:extLst>
              <p:ext uri="{D42A27DB-BD31-4B8C-83A1-F6EECF244321}">
                <p14:modId xmlns:p14="http://schemas.microsoft.com/office/powerpoint/2010/main" val="3010220235"/>
              </p:ext>
            </p:extLst>
          </p:nvPr>
        </p:nvGraphicFramePr>
        <p:xfrm>
          <a:off x="2348458" y="4869160"/>
          <a:ext cx="3989387" cy="1076325"/>
        </p:xfrm>
        <a:graphic>
          <a:graphicData uri="http://schemas.openxmlformats.org/presentationml/2006/ole">
            <mc:AlternateContent xmlns:mc="http://schemas.openxmlformats.org/markup-compatibility/2006">
              <mc:Choice xmlns:v="urn:schemas-microsoft-com:vml" Requires="v">
                <p:oleObj spid="_x0000_s92222" r:id="rId7" imgW="1447172" imgH="393529" progId="Equation.DSMT4">
                  <p:embed/>
                </p:oleObj>
              </mc:Choice>
              <mc:Fallback>
                <p:oleObj r:id="rId7" imgW="1447172" imgH="393529" progId="Equation.DSMT4">
                  <p:embed/>
                  <p:pic>
                    <p:nvPicPr>
                      <p:cNvPr id="0" name="对象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48458" y="4869160"/>
                        <a:ext cx="3989387" cy="1076325"/>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1" name="组合 20"/>
          <p:cNvGrpSpPr/>
          <p:nvPr/>
        </p:nvGrpSpPr>
        <p:grpSpPr>
          <a:xfrm>
            <a:off x="1064332" y="2132856"/>
            <a:ext cx="6480720" cy="2610846"/>
            <a:chOff x="609600" y="2060848"/>
            <a:chExt cx="8001000" cy="3387725"/>
          </a:xfrm>
        </p:grpSpPr>
        <p:pic>
          <p:nvPicPr>
            <p:cNvPr id="22" name="Picture 5"/>
            <p:cNvPicPr>
              <a:picLocks noChangeAspect="1" noChangeArrowheads="1"/>
            </p:cNvPicPr>
            <p:nvPr/>
          </p:nvPicPr>
          <p:blipFill>
            <a:blip r:embed="rId9" cstate="print"/>
            <a:srcRect/>
            <a:stretch>
              <a:fillRect/>
            </a:stretch>
          </p:blipFill>
          <p:spPr bwMode="auto">
            <a:xfrm>
              <a:off x="4800600" y="2060848"/>
              <a:ext cx="3810000" cy="3387725"/>
            </a:xfrm>
            <a:prstGeom prst="rect">
              <a:avLst/>
            </a:prstGeom>
            <a:noFill/>
            <a:ln w="9525">
              <a:noFill/>
              <a:miter lim="800000"/>
              <a:headEnd/>
              <a:tailEnd/>
            </a:ln>
          </p:spPr>
        </p:pic>
        <p:pic>
          <p:nvPicPr>
            <p:cNvPr id="23" name="Picture 6"/>
            <p:cNvPicPr>
              <a:picLocks noChangeAspect="1" noChangeArrowheads="1"/>
            </p:cNvPicPr>
            <p:nvPr/>
          </p:nvPicPr>
          <p:blipFill>
            <a:blip r:embed="rId10" cstate="print"/>
            <a:srcRect/>
            <a:stretch>
              <a:fillRect/>
            </a:stretch>
          </p:blipFill>
          <p:spPr bwMode="auto">
            <a:xfrm>
              <a:off x="609600" y="2384648"/>
              <a:ext cx="3810000" cy="2870200"/>
            </a:xfrm>
            <a:prstGeom prst="rect">
              <a:avLst/>
            </a:prstGeom>
            <a:noFill/>
            <a:ln w="9525">
              <a:noFill/>
              <a:miter lim="800000"/>
              <a:headEnd/>
              <a:tailEnd/>
            </a:ln>
          </p:spPr>
        </p:pic>
      </p:grpSp>
      <p:sp>
        <p:nvSpPr>
          <p:cNvPr id="24" name="TextBox 23"/>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51</a:t>
            </a:r>
            <a:endParaRPr lang="zh-CN" altLang="en-US" sz="2000" b="1" dirty="0">
              <a:solidFill>
                <a:schemeClr val="tx1"/>
              </a:solidFill>
              <a:latin typeface="黑体" pitchFamily="49" charset="-122"/>
              <a:ea typeface="黑体" pitchFamily="49" charset="-122"/>
            </a:endParaRPr>
          </a:p>
        </p:txBody>
      </p:sp>
      <p:grpSp>
        <p:nvGrpSpPr>
          <p:cNvPr id="3"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20" name="TextBox 37"/>
          <p:cNvSpPr txBox="1">
            <a:spLocks noChangeArrowheads="1"/>
          </p:cNvSpPr>
          <p:nvPr/>
        </p:nvSpPr>
        <p:spPr bwMode="auto">
          <a:xfrm>
            <a:off x="956275" y="1124744"/>
            <a:ext cx="3119114" cy="523220"/>
          </a:xfrm>
          <a:prstGeom prst="rect">
            <a:avLst/>
          </a:prstGeom>
          <a:noFill/>
          <a:ln w="9525">
            <a:noFill/>
            <a:miter lim="800000"/>
            <a:headEnd/>
            <a:tailEnd/>
          </a:ln>
        </p:spPr>
        <p:txBody>
          <a:bodyPr wrap="square">
            <a:spAutoFit/>
          </a:bodyPr>
          <a:lstStyle/>
          <a:p>
            <a:pPr>
              <a:defRPr/>
            </a:pPr>
            <a:r>
              <a:rPr lang="en-US" altLang="zh-CN" sz="2800" b="1" dirty="0" err="1">
                <a:solidFill>
                  <a:srgbClr val="C00000"/>
                </a:solidFill>
                <a:latin typeface="Times New Roman" pitchFamily="18" charset="0"/>
                <a:ea typeface="微软雅黑" pitchFamily="34" charset="-122"/>
                <a:cs typeface="Times New Roman" pitchFamily="18" charset="0"/>
              </a:rPr>
              <a:t>lg</a:t>
            </a:r>
            <a:r>
              <a:rPr lang="en-US" altLang="zh-CN" b="1" dirty="0">
                <a:solidFill>
                  <a:srgbClr val="C00000"/>
                </a:solidFill>
                <a:latin typeface="Times New Roman" pitchFamily="18" charset="0"/>
                <a:ea typeface="微软雅黑" pitchFamily="34" charset="-122"/>
                <a:cs typeface="Times New Roman" pitchFamily="18" charset="0"/>
              </a:rPr>
              <a:t> </a:t>
            </a:r>
            <a:r>
              <a:rPr lang="en-US" altLang="zh-CN" sz="2800" b="1" i="1" dirty="0">
                <a:solidFill>
                  <a:srgbClr val="C00000"/>
                </a:solidFill>
                <a:latin typeface="Times New Roman" pitchFamily="18" charset="0"/>
                <a:ea typeface="微软雅黑" pitchFamily="34" charset="-122"/>
                <a:cs typeface="Times New Roman" pitchFamily="18" charset="0"/>
              </a:rPr>
              <a:t>p-h </a:t>
            </a:r>
            <a:r>
              <a:rPr lang="zh-CN" altLang="en-US" sz="2800" b="1" dirty="0">
                <a:solidFill>
                  <a:srgbClr val="C00000"/>
                </a:solidFill>
                <a:latin typeface="微软雅黑" pitchFamily="34" charset="-122"/>
                <a:ea typeface="微软雅黑" pitchFamily="34" charset="-122"/>
              </a:rPr>
              <a:t>图简介</a:t>
            </a:r>
          </a:p>
        </p:txBody>
      </p:sp>
      <p:sp>
        <p:nvSpPr>
          <p:cNvPr id="22" name="矩形 21"/>
          <p:cNvSpPr/>
          <p:nvPr/>
        </p:nvSpPr>
        <p:spPr>
          <a:xfrm>
            <a:off x="294511" y="1138213"/>
            <a:ext cx="46851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3.</a:t>
            </a:r>
            <a:endParaRPr lang="zh-CN" altLang="en-US" sz="2800" i="1" dirty="0">
              <a:solidFill>
                <a:srgbClr val="C00000"/>
              </a:solidFill>
              <a:latin typeface="Bernard MT Condensed"/>
            </a:endParaRPr>
          </a:p>
        </p:txBody>
      </p:sp>
      <p:sp>
        <p:nvSpPr>
          <p:cNvPr id="25" name="Rectangle 7"/>
          <p:cNvSpPr>
            <a:spLocks noChangeArrowheads="1"/>
          </p:cNvSpPr>
          <p:nvPr/>
        </p:nvSpPr>
        <p:spPr bwMode="auto">
          <a:xfrm>
            <a:off x="491582" y="1677705"/>
            <a:ext cx="4284787" cy="1384995"/>
          </a:xfrm>
          <a:prstGeom prst="rect">
            <a:avLst/>
          </a:prstGeom>
          <a:noFill/>
          <a:ln w="9525">
            <a:noFill/>
            <a:miter lim="800000"/>
            <a:headEnd/>
            <a:tailEnd/>
          </a:ln>
        </p:spPr>
        <p:txBody>
          <a:bodyPr wrap="square">
            <a:spAutoFit/>
          </a:bodyPr>
          <a:lstStyle/>
          <a:p>
            <a:pPr>
              <a:lnSpc>
                <a:spcPct val="150000"/>
              </a:lnSpc>
            </a:pPr>
            <a:r>
              <a:rPr lang="zh-CN" altLang="en-US" sz="2800" dirty="0">
                <a:latin typeface="Times New Roman" pitchFamily="18" charset="0"/>
                <a:ea typeface="微软雅黑" pitchFamily="34" charset="-122"/>
                <a:cs typeface="Times New Roman" pitchFamily="18" charset="0"/>
              </a:rPr>
              <a:t>压焓图给出了</a:t>
            </a:r>
            <a:r>
              <a:rPr lang="en-US" altLang="zh-CN" sz="2800" dirty="0">
                <a:latin typeface="Times New Roman" pitchFamily="18" charset="0"/>
                <a:ea typeface="微软雅黑" pitchFamily="34" charset="-122"/>
                <a:cs typeface="Times New Roman" pitchFamily="18" charset="0"/>
              </a:rPr>
              <a:t>6</a:t>
            </a:r>
            <a:r>
              <a:rPr lang="zh-CN" altLang="en-US" sz="2800" dirty="0">
                <a:latin typeface="Times New Roman" pitchFamily="18" charset="0"/>
                <a:ea typeface="微软雅黑" pitchFamily="34" charset="-122"/>
                <a:cs typeface="Times New Roman" pitchFamily="18" charset="0"/>
              </a:rPr>
              <a:t>个参数的变化规律：</a:t>
            </a:r>
            <a:r>
              <a:rPr lang="en-US" altLang="zh-CN" sz="2800" b="1" i="1" dirty="0">
                <a:latin typeface="Times New Roman" pitchFamily="18" charset="0"/>
                <a:ea typeface="微软雅黑" pitchFamily="34" charset="-122"/>
                <a:cs typeface="Times New Roman" pitchFamily="18" charset="0"/>
              </a:rPr>
              <a:t>p, h, s, v, T, x</a:t>
            </a:r>
            <a:r>
              <a:rPr lang="zh-CN" altLang="en-US" sz="2800" dirty="0">
                <a:latin typeface="Times New Roman" pitchFamily="18" charset="0"/>
                <a:ea typeface="微软雅黑" pitchFamily="34" charset="-122"/>
                <a:cs typeface="Times New Roman" pitchFamily="18" charset="0"/>
              </a:rPr>
              <a:t>。</a:t>
            </a:r>
            <a:endParaRPr lang="en-US" altLang="zh-CN" sz="2800" b="1" i="1" dirty="0">
              <a:latin typeface="Times New Roman" pitchFamily="18" charset="0"/>
              <a:ea typeface="微软雅黑" pitchFamily="34" charset="-122"/>
              <a:cs typeface="Times New Roman" pitchFamily="18" charset="0"/>
            </a:endParaRPr>
          </a:p>
        </p:txBody>
      </p:sp>
      <p:pic>
        <p:nvPicPr>
          <p:cNvPr id="26" name="Picture 13"/>
          <p:cNvPicPr>
            <a:picLocks noChangeAspect="1" noChangeArrowheads="1"/>
          </p:cNvPicPr>
          <p:nvPr/>
        </p:nvPicPr>
        <p:blipFill>
          <a:blip r:embed="rId6" cstate="print"/>
          <a:srcRect/>
          <a:stretch>
            <a:fillRect/>
          </a:stretch>
        </p:blipFill>
        <p:spPr bwMode="auto">
          <a:xfrm>
            <a:off x="4918135" y="2204864"/>
            <a:ext cx="3758321" cy="3168352"/>
          </a:xfrm>
          <a:prstGeom prst="rect">
            <a:avLst/>
          </a:prstGeom>
          <a:noFill/>
          <a:ln w="9525">
            <a:noFill/>
            <a:miter lim="800000"/>
            <a:headEnd/>
            <a:tailEnd/>
          </a:ln>
        </p:spPr>
      </p:pic>
      <p:sp>
        <p:nvSpPr>
          <p:cNvPr id="30" name="矩形 29"/>
          <p:cNvSpPr/>
          <p:nvPr/>
        </p:nvSpPr>
        <p:spPr>
          <a:xfrm>
            <a:off x="538760" y="3169460"/>
            <a:ext cx="4127508" cy="738664"/>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p>
            <a:pPr lvl="0">
              <a:lnSpc>
                <a:spcPct val="150000"/>
              </a:lnSpc>
            </a:pPr>
            <a:r>
              <a:rPr lang="en-US" altLang="zh-CN" sz="2800" b="1" dirty="0">
                <a:solidFill>
                  <a:prstClr val="black"/>
                </a:solidFill>
                <a:latin typeface="Times New Roman" pitchFamily="18" charset="0"/>
                <a:ea typeface="微软雅黑" pitchFamily="34" charset="-122"/>
                <a:cs typeface="Times New Roman" pitchFamily="18" charset="0"/>
              </a:rPr>
              <a:t>P.136F.8.20</a:t>
            </a:r>
            <a:r>
              <a:rPr lang="zh-CN" altLang="en-US" sz="2800" dirty="0">
                <a:latin typeface="Times New Roman" pitchFamily="18" charset="0"/>
                <a:ea typeface="微软雅黑" pitchFamily="34" charset="-122"/>
                <a:cs typeface="Times New Roman" pitchFamily="18" charset="0"/>
              </a:rPr>
              <a:t>为</a:t>
            </a:r>
            <a:r>
              <a:rPr lang="zh-CN" altLang="en-US" sz="2800" dirty="0">
                <a:solidFill>
                  <a:prstClr val="black"/>
                </a:solidFill>
                <a:latin typeface="Times New Roman" pitchFamily="18" charset="0"/>
                <a:ea typeface="微软雅黑" pitchFamily="34" charset="-122"/>
                <a:cs typeface="Times New Roman" pitchFamily="18" charset="0"/>
              </a:rPr>
              <a:t>氨压焓图</a:t>
            </a:r>
            <a:endParaRPr lang="en-US" altLang="zh-CN" sz="2800" dirty="0">
              <a:solidFill>
                <a:prstClr val="black"/>
              </a:solidFill>
              <a:latin typeface="Times New Roman" pitchFamily="18" charset="0"/>
              <a:ea typeface="微软雅黑" pitchFamily="34" charset="-122"/>
              <a:cs typeface="Times New Roman" pitchFamily="18" charset="0"/>
            </a:endParaRPr>
          </a:p>
        </p:txBody>
      </p:sp>
      <p:sp>
        <p:nvSpPr>
          <p:cNvPr id="31" name="Rectangle 9"/>
          <p:cNvSpPr>
            <a:spLocks noChangeArrowheads="1"/>
          </p:cNvSpPr>
          <p:nvPr/>
        </p:nvSpPr>
        <p:spPr bwMode="auto">
          <a:xfrm>
            <a:off x="552819" y="4077072"/>
            <a:ext cx="4141192" cy="138499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pPr>
              <a:lnSpc>
                <a:spcPct val="150000"/>
              </a:lnSpc>
            </a:pPr>
            <a:r>
              <a:rPr lang="en-US" altLang="zh-CN" sz="2800" b="1" dirty="0">
                <a:latin typeface="Times New Roman" pitchFamily="18" charset="0"/>
                <a:ea typeface="微软雅黑" pitchFamily="34" charset="-122"/>
                <a:cs typeface="Times New Roman" pitchFamily="18" charset="0"/>
              </a:rPr>
              <a:t>P.137F.8.21</a:t>
            </a:r>
            <a:r>
              <a:rPr lang="en-US" altLang="zh-CN" sz="2800" dirty="0">
                <a:latin typeface="Times New Roman" pitchFamily="18" charset="0"/>
                <a:ea typeface="微软雅黑" pitchFamily="34" charset="-122"/>
                <a:cs typeface="Times New Roman" pitchFamily="18" charset="0"/>
              </a:rPr>
              <a:t> </a:t>
            </a:r>
            <a:r>
              <a:rPr lang="zh-CN" altLang="en-US" sz="2800" dirty="0">
                <a:latin typeface="Times New Roman" pitchFamily="18" charset="0"/>
                <a:ea typeface="微软雅黑" pitchFamily="34" charset="-122"/>
                <a:cs typeface="Times New Roman" pitchFamily="18" charset="0"/>
              </a:rPr>
              <a:t>为 </a:t>
            </a:r>
            <a:r>
              <a:rPr lang="en-US" altLang="zh-CN" sz="2800" b="1" dirty="0">
                <a:latin typeface="Times New Roman" pitchFamily="18" charset="0"/>
                <a:ea typeface="微软雅黑" pitchFamily="34" charset="-122"/>
                <a:cs typeface="Times New Roman" pitchFamily="18" charset="0"/>
              </a:rPr>
              <a:t>HCFC134a</a:t>
            </a:r>
            <a:r>
              <a:rPr lang="en-US" altLang="zh-CN" sz="2800" i="1" dirty="0">
                <a:latin typeface="Times New Roman" pitchFamily="18" charset="0"/>
                <a:ea typeface="微软雅黑" pitchFamily="34" charset="-122"/>
                <a:cs typeface="Times New Roman" pitchFamily="18" charset="0"/>
              </a:rPr>
              <a:t> </a:t>
            </a:r>
            <a:r>
              <a:rPr lang="zh-CN" altLang="en-US" sz="2800" dirty="0">
                <a:latin typeface="Times New Roman" pitchFamily="18" charset="0"/>
                <a:ea typeface="微软雅黑" pitchFamily="34" charset="-122"/>
                <a:cs typeface="Times New Roman" pitchFamily="18" charset="0"/>
              </a:rPr>
              <a:t>的压焓图（改）</a:t>
            </a:r>
          </a:p>
        </p:txBody>
      </p:sp>
      <p:sp>
        <p:nvSpPr>
          <p:cNvPr id="2" name="矩形 1"/>
          <p:cNvSpPr/>
          <p:nvPr/>
        </p:nvSpPr>
        <p:spPr>
          <a:xfrm>
            <a:off x="372100" y="5479182"/>
            <a:ext cx="4493539" cy="738664"/>
          </a:xfrm>
          <a:prstGeom prst="rect">
            <a:avLst/>
          </a:prstGeom>
        </p:spPr>
        <p:txBody>
          <a:bodyPr wrap="none">
            <a:spAutoFit/>
          </a:bodyPr>
          <a:lstStyle/>
          <a:p>
            <a:pPr lvl="0" algn="ctr">
              <a:lnSpc>
                <a:spcPct val="150000"/>
              </a:lnSpc>
            </a:pPr>
            <a:r>
              <a:rPr lang="zh-CN" altLang="en-US" sz="2800" b="1" dirty="0">
                <a:latin typeface="Times New Roman" pitchFamily="18" charset="0"/>
                <a:ea typeface="微软雅黑" pitchFamily="34" charset="-122"/>
                <a:cs typeface="Times New Roman" pitchFamily="18" charset="0"/>
              </a:rPr>
              <a:t>纵坐标读数为实际压力值。</a:t>
            </a:r>
            <a:endParaRPr lang="zh-CN" altLang="en-US" b="1" dirty="0"/>
          </a:p>
        </p:txBody>
      </p:sp>
      <p:sp>
        <p:nvSpPr>
          <p:cNvPr id="23" name="TextBox 22"/>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linds(horizontal)">
                                      <p:cBhvr>
                                        <p:cTn id="11" dur="500"/>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3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0" grpId="0" animBg="1"/>
      <p:bldP spid="31" grpId="1" animBg="1"/>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nathan\Desktop\20130513校长报告0511\幻灯片4.PNG"/>
          <p:cNvPicPr>
            <a:picLocks noChangeAspect="1" noChangeArrowheads="1"/>
          </p:cNvPicPr>
          <p:nvPr/>
        </p:nvPicPr>
        <p:blipFill>
          <a:blip r:embed="rId3" cstate="print"/>
          <a:srcRect t="6952" b="82546"/>
          <a:stretch>
            <a:fillRect/>
          </a:stretch>
        </p:blipFill>
        <p:spPr bwMode="auto">
          <a:xfrm>
            <a:off x="1587" y="0"/>
            <a:ext cx="9142413" cy="720080"/>
          </a:xfrm>
          <a:prstGeom prst="rect">
            <a:avLst/>
          </a:prstGeom>
          <a:noFill/>
          <a:ln w="9525">
            <a:noFill/>
            <a:miter lim="800000"/>
            <a:headEnd/>
            <a:tailEnd/>
          </a:ln>
        </p:spPr>
      </p:pic>
      <p:sp>
        <p:nvSpPr>
          <p:cNvPr id="7" name="TextBox 11"/>
          <p:cNvSpPr txBox="1">
            <a:spLocks noChangeArrowheads="1"/>
          </p:cNvSpPr>
          <p:nvPr/>
        </p:nvSpPr>
        <p:spPr bwMode="auto">
          <a:xfrm>
            <a:off x="4716016" y="663079"/>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第八章  热力循环</a:t>
            </a:r>
          </a:p>
        </p:txBody>
      </p:sp>
      <p:cxnSp>
        <p:nvCxnSpPr>
          <p:cNvPr id="8" name="直接连接符 7"/>
          <p:cNvCxnSpPr/>
          <p:nvPr/>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等腰三角形 27"/>
          <p:cNvSpPr/>
          <p:nvPr/>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52</a:t>
            </a:r>
            <a:endParaRPr lang="zh-CN" altLang="en-US" sz="2000" b="1" dirty="0">
              <a:solidFill>
                <a:schemeClr val="tx1"/>
              </a:solidFill>
              <a:latin typeface="黑体" pitchFamily="49" charset="-122"/>
              <a:ea typeface="黑体" pitchFamily="49" charset="-122"/>
            </a:endParaRPr>
          </a:p>
        </p:txBody>
      </p:sp>
      <p:grpSp>
        <p:nvGrpSpPr>
          <p:cNvPr id="2" name="组合 19"/>
          <p:cNvGrpSpPr>
            <a:grpSpLocks noChangeAspect="1"/>
          </p:cNvGrpSpPr>
          <p:nvPr/>
        </p:nvGrpSpPr>
        <p:grpSpPr>
          <a:xfrm>
            <a:off x="5572132" y="6072206"/>
            <a:ext cx="2947038" cy="720000"/>
            <a:chOff x="4857752" y="6000768"/>
            <a:chExt cx="2504982" cy="612000"/>
          </a:xfrm>
        </p:grpSpPr>
        <p:pic>
          <p:nvPicPr>
            <p:cNvPr id="1026" name="Picture 2" descr="C:\Documents and Settings\Administrator\桌面\校徽-图.jpg"/>
            <p:cNvPicPr>
              <a:picLocks noChangeAspect="1" noChangeArrowheads="1"/>
            </p:cNvPicPr>
            <p:nvPr/>
          </p:nvPicPr>
          <p:blipFill>
            <a:blip r:embed="rId4" cstate="print"/>
            <a:srcRect/>
            <a:stretch>
              <a:fillRect/>
            </a:stretch>
          </p:blipFill>
          <p:spPr bwMode="auto">
            <a:xfrm>
              <a:off x="4857752" y="6000768"/>
              <a:ext cx="552084" cy="612000"/>
            </a:xfrm>
            <a:prstGeom prst="rect">
              <a:avLst/>
            </a:prstGeom>
            <a:noFill/>
          </p:spPr>
        </p:pic>
        <p:pic>
          <p:nvPicPr>
            <p:cNvPr id="1027" name="Picture 3" descr="C:\Documents and Settings\Administrator\桌面\校徽-黑字.jpg"/>
            <p:cNvPicPr>
              <a:picLocks noChangeAspect="1" noChangeArrowheads="1"/>
            </p:cNvPicPr>
            <p:nvPr/>
          </p:nvPicPr>
          <p:blipFill>
            <a:blip r:embed="rId5" cstate="print"/>
            <a:srcRect/>
            <a:stretch>
              <a:fillRect/>
            </a:stretch>
          </p:blipFill>
          <p:spPr bwMode="auto">
            <a:xfrm>
              <a:off x="5500694" y="6122213"/>
              <a:ext cx="1862040" cy="396000"/>
            </a:xfrm>
            <a:prstGeom prst="rect">
              <a:avLst/>
            </a:prstGeom>
            <a:noFill/>
          </p:spPr>
        </p:pic>
      </p:grpSp>
      <p:sp>
        <p:nvSpPr>
          <p:cNvPr id="23" name="Rectangle 4"/>
          <p:cNvSpPr>
            <a:spLocks noChangeArrowheads="1"/>
          </p:cNvSpPr>
          <p:nvPr/>
        </p:nvSpPr>
        <p:spPr bwMode="auto">
          <a:xfrm>
            <a:off x="1259632" y="2278022"/>
            <a:ext cx="5430571" cy="737831"/>
          </a:xfrm>
          <a:prstGeom prst="rect">
            <a:avLst/>
          </a:prstGeom>
          <a:noFill/>
          <a:ln w="9525">
            <a:noFill/>
            <a:miter lim="800000"/>
            <a:headEnd/>
            <a:tailEnd/>
          </a:ln>
        </p:spPr>
        <p:txBody>
          <a:bodyPr wrap="square" anchor="ctr">
            <a:spAutoFit/>
          </a:bodyPr>
          <a:lstStyle/>
          <a:p>
            <a:pPr>
              <a:lnSpc>
                <a:spcPct val="160000"/>
              </a:lnSpc>
            </a:pPr>
            <a:r>
              <a:rPr lang="zh-CN" altLang="en-US" sz="3000" b="1" dirty="0">
                <a:latin typeface="微软雅黑" pitchFamily="34" charset="-122"/>
                <a:ea typeface="微软雅黑" pitchFamily="34" charset="-122"/>
              </a:rPr>
              <a:t>作业：</a:t>
            </a:r>
            <a:r>
              <a:rPr lang="en-US" altLang="zh-CN" sz="3000" b="1" dirty="0">
                <a:latin typeface="微软雅黑" pitchFamily="34" charset="-122"/>
                <a:ea typeface="微软雅黑" pitchFamily="34" charset="-122"/>
              </a:rPr>
              <a:t>8.1</a:t>
            </a:r>
            <a:r>
              <a:rPr lang="zh-CN" altLang="en-US" sz="3000" b="1" dirty="0">
                <a:latin typeface="微软雅黑" pitchFamily="34" charset="-122"/>
                <a:ea typeface="微软雅黑" pitchFamily="34" charset="-122"/>
              </a:rPr>
              <a:t>，</a:t>
            </a:r>
            <a:r>
              <a:rPr lang="en-US" altLang="zh-CN" sz="3000" b="1" dirty="0">
                <a:latin typeface="微软雅黑" pitchFamily="34" charset="-122"/>
                <a:ea typeface="微软雅黑" pitchFamily="34" charset="-122"/>
              </a:rPr>
              <a:t>8.4</a:t>
            </a:r>
            <a:endParaRPr lang="zh-CN" altLang="en-US" sz="3000" b="1" dirty="0">
              <a:latin typeface="微软雅黑" pitchFamily="34" charset="-122"/>
              <a:ea typeface="微软雅黑" pitchFamily="34" charset="-122"/>
            </a:endParaRPr>
          </a:p>
        </p:txBody>
      </p:sp>
      <p:sp>
        <p:nvSpPr>
          <p:cNvPr id="17" name="TextBox 16"/>
          <p:cNvSpPr txBox="1"/>
          <p:nvPr/>
        </p:nvSpPr>
        <p:spPr>
          <a:xfrm>
            <a:off x="571472" y="142852"/>
            <a:ext cx="2933728"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lgn="l" fontAlgn="auto">
              <a:spcBef>
                <a:spcPts val="0"/>
              </a:spcBef>
              <a:spcAft>
                <a:spcPts val="0"/>
              </a:spcAft>
              <a:defRPr/>
            </a:pPr>
            <a:r>
              <a:rPr lang="zh-CN" altLang="en-US" sz="3200" b="1" dirty="0">
                <a:solidFill>
                  <a:prstClr val="black"/>
                </a:solidFill>
                <a:effectLst>
                  <a:outerShdw blurRad="38100" dist="38100" dir="2700000" algn="tl">
                    <a:srgbClr val="000000">
                      <a:alpha val="43137"/>
                    </a:srgbClr>
                  </a:outerShdw>
                </a:effectLst>
                <a:latin typeface="黑体" pitchFamily="49" charset="-122"/>
                <a:ea typeface="黑体" pitchFamily="49" charset="-122"/>
              </a:rPr>
              <a:t>工程热力学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4510</TotalTime>
  <Words>2713</Words>
  <Application>Microsoft Office PowerPoint</Application>
  <PresentationFormat>全屏显示(4:3)</PresentationFormat>
  <Paragraphs>435</Paragraphs>
  <Slides>53</Slides>
  <Notes>52</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3</vt:i4>
      </vt:variant>
      <vt:variant>
        <vt:lpstr>幻灯片标题</vt:lpstr>
      </vt:variant>
      <vt:variant>
        <vt:i4>53</vt:i4>
      </vt:variant>
    </vt:vector>
  </HeadingPairs>
  <TitlesOfParts>
    <vt:vector size="65" baseType="lpstr">
      <vt:lpstr>黑体</vt:lpstr>
      <vt:lpstr>宋体</vt:lpstr>
      <vt:lpstr>微软雅黑</vt:lpstr>
      <vt:lpstr>Arial</vt:lpstr>
      <vt:lpstr>Bernard MT Condensed</vt:lpstr>
      <vt:lpstr>Calibri</vt:lpstr>
      <vt:lpstr>Times New Roman</vt:lpstr>
      <vt:lpstr>Wingdings</vt:lpstr>
      <vt:lpstr>Office 主题</vt:lpstr>
      <vt:lpstr>公式</vt:lpstr>
      <vt:lpstr>MathType 6.0 Equation</vt:lpstr>
      <vt:lpstr>Equation</vt:lpstr>
      <vt:lpstr>第八章 热力循环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ThinkPad</dc:creator>
  <cp:lastModifiedBy>summ</cp:lastModifiedBy>
  <cp:revision>651</cp:revision>
  <dcterms:created xsi:type="dcterms:W3CDTF">2013-08-29T08:41:10Z</dcterms:created>
  <dcterms:modified xsi:type="dcterms:W3CDTF">2019-12-09T15:12:15Z</dcterms:modified>
</cp:coreProperties>
</file>