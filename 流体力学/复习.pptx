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333" r:id="rId4"/>
    <p:sldId id="302" r:id="rId5"/>
    <p:sldId id="303" r:id="rId6"/>
    <p:sldId id="304" r:id="rId7"/>
    <p:sldId id="259" r:id="rId8"/>
    <p:sldId id="306" r:id="rId9"/>
    <p:sldId id="274" r:id="rId10"/>
    <p:sldId id="260" r:id="rId11"/>
    <p:sldId id="261" r:id="rId12"/>
    <p:sldId id="262" r:id="rId13"/>
    <p:sldId id="263" r:id="rId14"/>
    <p:sldId id="275" r:id="rId15"/>
    <p:sldId id="264" r:id="rId16"/>
    <p:sldId id="276" r:id="rId17"/>
    <p:sldId id="277" r:id="rId18"/>
    <p:sldId id="279" r:id="rId19"/>
    <p:sldId id="280" r:id="rId20"/>
    <p:sldId id="265" r:id="rId21"/>
    <p:sldId id="326" r:id="rId22"/>
    <p:sldId id="267" r:id="rId23"/>
    <p:sldId id="266" r:id="rId24"/>
    <p:sldId id="268" r:id="rId25"/>
    <p:sldId id="269" r:id="rId26"/>
    <p:sldId id="270" r:id="rId27"/>
    <p:sldId id="271" r:id="rId28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2"/>
        <p:guide pos="381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66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png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9.wmf"/><Relationship Id="rId3" Type="http://schemas.openxmlformats.org/officeDocument/2006/relationships/image" Target="../media/image28.e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emf"/><Relationship Id="rId3" Type="http://schemas.openxmlformats.org/officeDocument/2006/relationships/image" Target="../media/image31.wmf"/><Relationship Id="rId2" Type="http://schemas.openxmlformats.org/officeDocument/2006/relationships/image" Target="../media/image29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45.wmf"/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showMasterSp="0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228600"/>
            <a:ext cx="12192000" cy="76200"/>
          </a:xfrm>
          <a:prstGeom prst="rect">
            <a:avLst/>
          </a:prstGeom>
          <a:gradFill rotWithShape="1">
            <a:gsLst>
              <a:gs pos="0">
                <a:srgbClr val="3366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099" name="Picture 5" descr="校徽2n 拷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717" y="6096000"/>
            <a:ext cx="912283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6" descr="swjtu-bl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6457950"/>
            <a:ext cx="2438400" cy="400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6308725"/>
            <a:ext cx="11089217" cy="9366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0033CC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102" name="ShockwaveFlash1"/>
          <p:cNvPicPr/>
          <p:nvPr userDrawn="1"/>
        </p:nvPicPr>
        <p:blipFill>
          <a:blip r:embed="rId4"/>
          <a:stretch>
            <a:fillRect/>
          </a:stretch>
        </p:blipFill>
        <p:spPr>
          <a:xfrm>
            <a:off x="154517" y="6453188"/>
            <a:ext cx="1333500" cy="333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8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905000" y="6499225"/>
            <a:ext cx="1016000" cy="2286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5"/>
            <a:ext cx="51816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0"/>
            <a:ext cx="51816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21.png"/><Relationship Id="rId2" Type="http://schemas.openxmlformats.org/officeDocument/2006/relationships/oleObject" Target="../embeddings/oleObject6.bin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9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28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26.w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emf"/><Relationship Id="rId8" Type="http://schemas.openxmlformats.org/officeDocument/2006/relationships/oleObject" Target="../embeddings/oleObject15.bin"/><Relationship Id="rId7" Type="http://schemas.openxmlformats.org/officeDocument/2006/relationships/tags" Target="../tags/tag64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30.wmf"/><Relationship Id="rId11" Type="http://schemas.openxmlformats.org/officeDocument/2006/relationships/vmlDrawing" Target="../drawings/vmlDrawing6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12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5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32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5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43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42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20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082290" y="336550"/>
            <a:ext cx="6671310" cy="60007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一、概念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、流体、流体与固体的区别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质点、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连续性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介质假设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流体的密度、相对密度、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比体积和重度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压缩性和膨胀性及其系数、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体积弹性模量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粘性、粘度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、牛顿流体、非牛顿流体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、牛顿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内摩擦定律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、表面张力、毛细现象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、理想流体、不可压缩流体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840" y="3168015"/>
            <a:ext cx="20554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第一章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2148840" y="1214120"/>
            <a:ext cx="548640" cy="4460240"/>
          </a:xfrm>
          <a:prstGeom prst="leftBrac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3666" name="对象 113665"/>
          <p:cNvGraphicFramePr/>
          <p:nvPr/>
        </p:nvGraphicFramePr>
        <p:xfrm>
          <a:off x="6383338" y="1052513"/>
          <a:ext cx="3322637" cy="489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562100" imgH="2336800" progId="Equation.3">
                  <p:embed/>
                </p:oleObj>
              </mc:Choice>
              <mc:Fallback>
                <p:oleObj name="" r:id="rId1" imgW="1562100" imgH="23368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83338" y="1052513"/>
                        <a:ext cx="3322637" cy="48974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7" name="文本框 113666"/>
          <p:cNvSpPr txBox="1"/>
          <p:nvPr/>
        </p:nvSpPr>
        <p:spPr>
          <a:xfrm>
            <a:off x="1774825" y="1125538"/>
            <a:ext cx="4249738" cy="47218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algn="r">
              <a:spcBef>
                <a:spcPct val="95000"/>
              </a:spcBef>
            </a:pPr>
            <a:r>
              <a:rPr lang="zh-CN" altLang="en-US" sz="2800" u="none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速度梯度</a:t>
            </a:r>
            <a:endParaRPr lang="zh-CN" altLang="en-US" sz="2800" u="none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spcBef>
                <a:spcPct val="95000"/>
              </a:spcBef>
            </a:pPr>
            <a:r>
              <a:rPr lang="zh-CN" altLang="en-US" sz="2800" u="none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切应力</a:t>
            </a:r>
            <a:endParaRPr lang="zh-CN" altLang="en-US" sz="2800" u="none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spcBef>
                <a:spcPct val="95000"/>
              </a:spcBef>
            </a:pPr>
            <a:r>
              <a:rPr lang="zh-CN" altLang="en-US" sz="2800" u="none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摩擦面积</a:t>
            </a:r>
            <a:endParaRPr lang="zh-CN" altLang="en-US" sz="2800" u="none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spcBef>
                <a:spcPct val="95000"/>
              </a:spcBef>
            </a:pPr>
            <a:r>
              <a:rPr lang="zh-CN" altLang="en-US" sz="2800" u="none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作用在轴表面的摩擦力</a:t>
            </a:r>
            <a:endParaRPr lang="zh-CN" altLang="en-US" sz="2800" u="none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spcBef>
                <a:spcPct val="95000"/>
              </a:spcBef>
            </a:pPr>
            <a:r>
              <a:rPr lang="zh-CN" altLang="en-US" sz="2800" u="none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作用在轴表面的摩擦力矩</a:t>
            </a:r>
            <a:endParaRPr lang="zh-CN" altLang="en-US" sz="2800" u="none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spcBef>
                <a:spcPct val="95000"/>
              </a:spcBef>
            </a:pPr>
            <a:r>
              <a:rPr lang="zh-CN" altLang="en-US" sz="2800" u="none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克服摩擦所需的功率</a:t>
            </a:r>
            <a:endParaRPr lang="zh-CN" altLang="en-US" sz="2800" u="none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75460" y="404495"/>
            <a:ext cx="77343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对于工程中常见的缝隙流动，只要缝隙尺寸较小，都</a:t>
            </a:r>
            <a:r>
              <a:rPr lang="zh-CN" altLang="en-US" sz="24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可近似看成</a:t>
            </a:r>
            <a:r>
              <a:rPr lang="zh-CN" altLang="en-US" sz="24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线性分布。</a:t>
            </a:r>
            <a:endParaRPr lang="zh-CN" altLang="en-US" sz="2400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613410" y="731520"/>
            <a:ext cx="6671310" cy="18637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二、计算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压缩和膨胀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体积弹性模量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、直线运动-</a:t>
            </a:r>
            <a:r>
              <a:rPr lang="zh-CN" altLang="en-US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粘度、速度、损耗、极值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64876" name="内容占位符 164875"/>
          <p:cNvPicPr>
            <a:picLocks noChangeAspect="1"/>
          </p:cNvPicPr>
          <p:nvPr/>
        </p:nvPicPr>
        <p:blipFill>
          <a:blip r:embed="rId1"/>
          <a:srcRect l="8742" t="2309" r="6204" b="5249"/>
          <a:stretch>
            <a:fillRect/>
          </a:stretch>
        </p:blipFill>
        <p:spPr>
          <a:xfrm>
            <a:off x="995680" y="3185795"/>
            <a:ext cx="3851910" cy="2588895"/>
          </a:xfrm>
          <a:prstGeom prst="rect">
            <a:avLst/>
          </a:prstGeom>
        </p:spPr>
      </p:pic>
      <p:pic>
        <p:nvPicPr>
          <p:cNvPr id="6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240" y="3359150"/>
            <a:ext cx="3578860" cy="224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21"/>
          <p:cNvPicPr>
            <a:picLocks noChangeAspect="1"/>
          </p:cNvPicPr>
          <p:nvPr/>
        </p:nvPicPr>
        <p:blipFill>
          <a:blip r:embed="rId3"/>
          <a:srcRect l="5528" r="65883"/>
          <a:stretch>
            <a:fillRect/>
          </a:stretch>
        </p:blipFill>
        <p:spPr>
          <a:xfrm>
            <a:off x="9106535" y="3025140"/>
            <a:ext cx="2922905" cy="2418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973455" y="466725"/>
            <a:ext cx="70643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旋转运动-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粘度、角速度、损耗、扭矩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973455" y="1122045"/>
            <a:ext cx="5086985" cy="23152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1654810" y="3709670"/>
            <a:ext cx="4051300" cy="25647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" name="文本框 101"/>
          <p:cNvSpPr txBox="1"/>
          <p:nvPr/>
        </p:nvSpPr>
        <p:spPr>
          <a:xfrm>
            <a:off x="3556000" y="2915602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1400" b="0">
                <a:latin typeface="微软雅黑" panose="020B0503020204020204" pitchFamily="34" charset="-122"/>
                <a:ea typeface="宋体" panose="02010600030101010101" pitchFamily="2" charset="-122"/>
              </a:rPr>
              <a:t> 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7160895" y="1239520"/>
            <a:ext cx="2736215" cy="46723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" name="文本框 102"/>
          <p:cNvSpPr txBox="1"/>
          <p:nvPr/>
        </p:nvSpPr>
        <p:spPr>
          <a:xfrm>
            <a:off x="3556000" y="6104572"/>
            <a:ext cx="5080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1400" b="0">
                <a:latin typeface="微软雅黑" panose="020B0503020204020204" pitchFamily="34" charset="-122"/>
                <a:ea typeface="宋体" panose="02010600030101010101" pitchFamily="2" charset="-122"/>
              </a:rPr>
              <a:t>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标题 121857"/>
          <p:cNvSpPr>
            <a:spLocks noGrp="1"/>
          </p:cNvSpPr>
          <p:nvPr>
            <p:ph type="title"/>
          </p:nvPr>
        </p:nvSpPr>
        <p:spPr>
          <a:xfrm>
            <a:off x="412750" y="393700"/>
            <a:ext cx="10927080" cy="1749425"/>
          </a:xfrm>
          <a:solidFill>
            <a:schemeClr val="bg1">
              <a:alpha val="100000"/>
            </a:schemeClr>
          </a:solidFill>
        </p:spPr>
        <p:txBody>
          <a:bodyPr anchor="b" anchorCtr="0">
            <a:normAutofit fontScale="90000"/>
          </a:bodyPr>
          <a:p>
            <a:pPr>
              <a:lnSpc>
                <a:spcPct val="150000"/>
              </a:lnSpc>
            </a:pPr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在容积为</a:t>
            </a:r>
            <a:r>
              <a:rPr lang="en-US" altLang="zh-CN" sz="2800" b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1.77m</a:t>
            </a:r>
            <a:r>
              <a:rPr lang="en-US" altLang="zh-CN" sz="2800" b="0" baseline="3000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的气瓶中，原来存在有一定量的</a:t>
            </a:r>
            <a:r>
              <a:rPr lang="en-US" altLang="zh-CN" sz="2800" b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</a:t>
            </a:r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，其绝对压强为</a:t>
            </a:r>
            <a:r>
              <a:rPr lang="en-US" altLang="zh-CN" sz="2800" b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1.034bar</a:t>
            </a:r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，温度为</a:t>
            </a:r>
            <a:r>
              <a:rPr lang="en-US" altLang="zh-CN" sz="2800" b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21℃</a:t>
            </a:r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，后来又用气泵输入</a:t>
            </a:r>
            <a:r>
              <a:rPr lang="en-US" altLang="zh-CN" sz="2800" b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1.36kgCO</a:t>
            </a:r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，测得输入后的温度为</a:t>
            </a:r>
            <a:r>
              <a:rPr lang="en-US" altLang="zh-CN" sz="2800" b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24℃</a:t>
            </a:r>
            <a:r>
              <a:rPr lang="zh-CN" altLang="en-US" sz="2800" b="0"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，试求输入后的绝对压强是多少？</a:t>
            </a:r>
            <a:endParaRPr lang="zh-CN" altLang="en-US" sz="2800" b="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21862" name="内容占位符 121861"/>
          <p:cNvGraphicFramePr/>
          <p:nvPr>
            <p:ph sz="half" idx="1"/>
          </p:nvPr>
        </p:nvGraphicFramePr>
        <p:xfrm>
          <a:off x="2717165" y="2893378"/>
          <a:ext cx="223202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773430" imgH="215900" progId="Equation.3">
                  <p:embed/>
                </p:oleObj>
              </mc:Choice>
              <mc:Fallback>
                <p:oleObj name="" r:id="rId1" imgW="773430" imgH="2159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17165" y="2893378"/>
                        <a:ext cx="2232025" cy="6238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4" name="内容占位符 121863"/>
          <p:cNvGraphicFramePr/>
          <p:nvPr>
            <p:ph sz="quarter" idx="2"/>
          </p:nvPr>
        </p:nvGraphicFramePr>
        <p:xfrm>
          <a:off x="2717165" y="3517265"/>
          <a:ext cx="3523615" cy="3118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663700" imgH="1358900" progId="Equation.3">
                  <p:embed/>
                </p:oleObj>
              </mc:Choice>
              <mc:Fallback>
                <p:oleObj name="" r:id="rId3" imgW="1663700" imgH="1358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7165" y="3517265"/>
                        <a:ext cx="3523615" cy="311848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1" name="文本框 121860"/>
          <p:cNvSpPr txBox="1"/>
          <p:nvPr/>
        </p:nvSpPr>
        <p:spPr>
          <a:xfrm>
            <a:off x="957263" y="2257425"/>
            <a:ext cx="84248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u="none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解：</a:t>
            </a:r>
            <a:r>
              <a:rPr lang="zh-CN" altLang="en-US" sz="2400" b="1" u="none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设原质量为</a:t>
            </a:r>
            <a:r>
              <a:rPr lang="en-US" altLang="zh-CN" sz="2400" b="1" u="none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400" b="1" u="none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b="1" u="none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400" b="1" u="none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输入的质量为</a:t>
            </a:r>
            <a:r>
              <a:rPr lang="en-US" altLang="zh-CN" sz="2400" b="1" u="none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2400" b="1" u="none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，输入后的质量为</a:t>
            </a:r>
            <a:r>
              <a:rPr lang="en-US" altLang="zh-CN" sz="2400" b="1" u="none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400" b="1" u="none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b="1" u="none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endParaRPr lang="en-US" altLang="zh-CN" sz="2400" b="1" u="none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21866" name="内容占位符 121865"/>
          <p:cNvGraphicFramePr/>
          <p:nvPr>
            <p:ph sz="quarter" idx="3"/>
          </p:nvPr>
        </p:nvGraphicFramePr>
        <p:xfrm>
          <a:off x="7330440" y="4509770"/>
          <a:ext cx="23082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824230" imgH="215900" progId="Equation.3">
                  <p:embed/>
                </p:oleObj>
              </mc:Choice>
              <mc:Fallback>
                <p:oleObj name="" r:id="rId5" imgW="824230" imgH="2159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30440" y="4509770"/>
                        <a:ext cx="2308225" cy="6048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8" name="右大括号 121867"/>
          <p:cNvSpPr/>
          <p:nvPr/>
        </p:nvSpPr>
        <p:spPr>
          <a:xfrm>
            <a:off x="6240780" y="3171190"/>
            <a:ext cx="791845" cy="3282315"/>
          </a:xfrm>
          <a:prstGeom prst="rightBrace">
            <a:avLst>
              <a:gd name="adj1" fmla="val 30293"/>
              <a:gd name="adj2" fmla="val 50000"/>
            </a:avLst>
          </a:prstGeom>
          <a:noFill/>
          <a:ln w="762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/>
      <p:bldP spid="12186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" name="文本框 102"/>
          <p:cNvSpPr txBox="1"/>
          <p:nvPr/>
        </p:nvSpPr>
        <p:spPr>
          <a:xfrm>
            <a:off x="3087370" y="105410"/>
            <a:ext cx="8805545" cy="5723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sz="2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一、概念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质量力、表面力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绝对压强、相对压强（表压）、真空压强（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真空度）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标准大气压、工程大气压、液柱高度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欧拉方程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、等压面、分界面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静力学基本方程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帕斯卡定理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、压强水头、位置水头、测压管水头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测压管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测压原理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、重心、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形心、作用点、惯性矩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、压力分布图、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压力体、压力中心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9440" y="3076575"/>
            <a:ext cx="14636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第二章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2382520" y="934720"/>
            <a:ext cx="457200" cy="4805680"/>
          </a:xfrm>
          <a:prstGeom prst="leftBrac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</p:blipFill>
        <p:spPr>
          <a:xfrm>
            <a:off x="683260" y="480695"/>
            <a:ext cx="7883525" cy="5734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1" name="Rectangle 11"/>
          <p:cNvSpPr>
            <a:spLocks noChangeArrowheads="1"/>
          </p:cNvSpPr>
          <p:nvPr/>
        </p:nvSpPr>
        <p:spPr bwMode="auto">
          <a:xfrm>
            <a:off x="257810" y="170180"/>
            <a:ext cx="1137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例题：串联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3U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形测压计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935" y="346075"/>
            <a:ext cx="5934075" cy="4081145"/>
          </a:xfrm>
          <a:prstGeom prst="rect">
            <a:avLst/>
          </a:prstGeom>
        </p:spPr>
      </p:pic>
      <p:graphicFrame>
        <p:nvGraphicFramePr>
          <p:cNvPr id="11" name="Object 24"/>
          <p:cNvGraphicFramePr>
            <a:graphicFrameLocks noChangeAspect="1"/>
          </p:cNvGraphicFramePr>
          <p:nvPr/>
        </p:nvGraphicFramePr>
        <p:xfrm>
          <a:off x="687070" y="896620"/>
          <a:ext cx="9743440" cy="560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" imgW="3086100" imgH="1765300" progId="Equation.3">
                  <p:embed/>
                </p:oleObj>
              </mc:Choice>
              <mc:Fallback>
                <p:oleObj name="" r:id="rId2" imgW="3086100" imgH="17653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7070" y="896620"/>
                        <a:ext cx="9743440" cy="56013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/>
          </p:cNvSpPr>
          <p:nvPr>
            <p:ph type="body" sz="half" idx="1"/>
          </p:nvPr>
        </p:nvSpPr>
        <p:spPr>
          <a:xfrm>
            <a:off x="1919288" y="565150"/>
            <a:ext cx="8280400" cy="5672138"/>
          </a:xfrm>
        </p:spPr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en-US" altLang="zh-CN" sz="2000" dirty="0">
              <a:solidFill>
                <a:srgbClr val="FF660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01265" y="565150"/>
            <a:ext cx="8716645" cy="21056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2957830"/>
            <a:ext cx="8435975" cy="2854960"/>
          </a:xfrm>
          <a:prstGeom prst="rect">
            <a:avLst/>
          </a:prstGeom>
        </p:spPr>
      </p:pic>
      <p:sp>
        <p:nvSpPr>
          <p:cNvPr id="103" name="文本框 102"/>
          <p:cNvSpPr txBox="1"/>
          <p:nvPr/>
        </p:nvSpPr>
        <p:spPr>
          <a:xfrm>
            <a:off x="236855" y="2231390"/>
            <a:ext cx="226441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二、难点分析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/>
          </p:cNvSpPr>
          <p:nvPr>
            <p:ph type="body" sz="half" idx="1"/>
          </p:nvPr>
        </p:nvSpPr>
        <p:spPr>
          <a:xfrm>
            <a:off x="1919288" y="565150"/>
            <a:ext cx="8280400" cy="5672138"/>
          </a:xfrm>
        </p:spPr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en-US" altLang="zh-CN" sz="2000" dirty="0">
              <a:solidFill>
                <a:srgbClr val="FF66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16230" y="565150"/>
            <a:ext cx="25463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三、习题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27"/>
          <p:cNvPicPr>
            <a:picLocks noChangeAspect="1"/>
          </p:cNvPicPr>
          <p:nvPr/>
        </p:nvPicPr>
        <p:blipFill>
          <a:blip r:embed="rId1"/>
          <a:srcRect l="9471" r="12525"/>
          <a:stretch>
            <a:fillRect/>
          </a:stretch>
        </p:blipFill>
        <p:spPr>
          <a:xfrm>
            <a:off x="3549015" y="927100"/>
            <a:ext cx="4654550" cy="51777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611505" y="3171190"/>
            <a:ext cx="19558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平衡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85" y="565150"/>
            <a:ext cx="9916795" cy="1652905"/>
          </a:xfrm>
          <a:prstGeom prst="rect">
            <a:avLst/>
          </a:prstGeom>
        </p:spPr>
      </p:pic>
      <p:graphicFrame>
        <p:nvGraphicFramePr>
          <p:cNvPr id="1073742853" name="Object 17"/>
          <p:cNvGraphicFramePr>
            <a:graphicFrameLocks noChangeAspect="1"/>
          </p:cNvGraphicFramePr>
          <p:nvPr/>
        </p:nvGraphicFramePr>
        <p:xfrm>
          <a:off x="2392045" y="2218055"/>
          <a:ext cx="2924810" cy="4100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1771650" imgH="2486025" progId="PBrush">
                  <p:embed/>
                </p:oleObj>
              </mc:Choice>
              <mc:Fallback>
                <p:oleObj name="" r:id="rId2" imgW="1771650" imgH="2486025" progId="PBrus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92045" y="2218055"/>
                        <a:ext cx="2924810" cy="4100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167640" y="3506470"/>
            <a:ext cx="22244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静压平衡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164840" y="2411095"/>
            <a:ext cx="7785735" cy="3381375"/>
            <a:chOff x="5033" y="3797"/>
            <a:chExt cx="12261" cy="5325"/>
          </a:xfrm>
        </p:grpSpPr>
        <p:cxnSp>
          <p:nvCxnSpPr>
            <p:cNvPr id="2" name="直接连接符 1"/>
            <p:cNvCxnSpPr/>
            <p:nvPr/>
          </p:nvCxnSpPr>
          <p:spPr>
            <a:xfrm flipH="1">
              <a:off x="5342" y="4811"/>
              <a:ext cx="755" cy="0"/>
            </a:xfrm>
            <a:prstGeom prst="line">
              <a:avLst/>
            </a:prstGeom>
            <a:ln w="34925" cmpd="sng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 flipH="1">
              <a:off x="5495" y="7074"/>
              <a:ext cx="755" cy="0"/>
            </a:xfrm>
            <a:prstGeom prst="line">
              <a:avLst/>
            </a:prstGeom>
            <a:ln w="34925" cmpd="sng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>
              <a:off x="5734" y="4823"/>
              <a:ext cx="0" cy="2187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5033" y="5857"/>
              <a:ext cx="53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indent="0"/>
              <a:r>
                <a:rPr lang="en-US" altLang="zh-CN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L</a:t>
              </a:r>
              <a:endPara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graphicFrame>
          <p:nvGraphicFramePr>
            <p:cNvPr id="9" name="对象 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255" y="3797"/>
            <a:ext cx="8039" cy="5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4" imgW="1955800" imgH="1295400" progId="Equation.KSEE3">
                    <p:embed/>
                  </p:oleObj>
                </mc:Choice>
                <mc:Fallback>
                  <p:oleObj name="" r:id="rId4" imgW="1955800" imgH="12954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255" y="3797"/>
                          <a:ext cx="8039" cy="5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/>
          </p:cNvSpPr>
          <p:nvPr>
            <p:ph type="body" sz="half" idx="1"/>
          </p:nvPr>
        </p:nvSpPr>
        <p:spPr>
          <a:xfrm>
            <a:off x="1919288" y="565150"/>
            <a:ext cx="8280400" cy="5672138"/>
          </a:xfrm>
        </p:spPr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en-US" altLang="zh-CN" sz="2000" dirty="0">
              <a:solidFill>
                <a:srgbClr val="FF660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60" y="386080"/>
            <a:ext cx="10200640" cy="15792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940" y="2129790"/>
            <a:ext cx="5071110" cy="383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314960" y="3352800"/>
            <a:ext cx="28454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密闭容器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压力问题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4010" y="183515"/>
            <a:ext cx="1133157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直径D=600mm，高度H=500mm的圆柱形容器，盛水深至h=0.4m，剩余部分装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以密度为0.8g/cm</a:t>
            </a:r>
            <a:r>
              <a:rPr sz="2400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的油，封闭容器上部盖板中心有一小孔，假定容器绕中心轴，等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角速度旋转时，容器转轴和分界面的交点下降0.4m，直至容器底部。求必须的旋转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角速度及盖板、器底的最大、最小压强。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6" name="图片 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8505" y="2571750"/>
            <a:ext cx="7888605" cy="4281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/>
          </p:cNvSpPr>
          <p:nvPr>
            <p:ph type="body" sz="half" idx="1"/>
          </p:nvPr>
        </p:nvSpPr>
        <p:spPr>
          <a:xfrm>
            <a:off x="1919288" y="565150"/>
            <a:ext cx="8280400" cy="5672138"/>
          </a:xfrm>
        </p:spPr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en-US" altLang="zh-CN" sz="2000" dirty="0">
              <a:solidFill>
                <a:srgbClr val="FF66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2417445" y="919480"/>
            <a:ext cx="10255885" cy="52565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元流、总流、流管、流速、流量（体积流量、质量流量）、平均流速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过流断面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定常（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恒定）流动、非定常流动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流线、迹线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一、二、三元流动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均匀流、渐变流、急变流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系统、控制体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拉格朗日法、欧拉法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、理想不可压缩流体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连续性方程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27375" y="397510"/>
            <a:ext cx="2358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第三章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6220" y="3284855"/>
            <a:ext cx="18230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一、概念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1772285" y="1151890"/>
            <a:ext cx="589280" cy="4726305"/>
          </a:xfrm>
          <a:prstGeom prst="leftBrac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97250" y="1085850"/>
            <a:ext cx="223583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688340" indent="-688340">
              <a:lnSpc>
                <a:spcPct val="150000"/>
              </a:lnSpc>
            </a:pP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）加速度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84245" y="2115185"/>
            <a:ext cx="223583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688340" indent="-688340">
              <a:lnSpc>
                <a:spcPct val="150000"/>
              </a:lnSpc>
            </a:pP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迹线计算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Object 24"/>
          <p:cNvGraphicFramePr>
            <a:graphicFrameLocks noChangeAspect="1"/>
          </p:cNvGraphicFramePr>
          <p:nvPr/>
        </p:nvGraphicFramePr>
        <p:xfrm>
          <a:off x="6120765" y="2094548"/>
          <a:ext cx="3074670" cy="105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1155700" imgH="393700" progId="Equation.3">
                  <p:embed/>
                </p:oleObj>
              </mc:Choice>
              <mc:Fallback>
                <p:oleObj name="" r:id="rId1" imgW="1155700" imgH="3937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20765" y="2094548"/>
                        <a:ext cx="3074670" cy="1052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484245" y="3177540"/>
            <a:ext cx="223583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688340" indent="-688340">
              <a:lnSpc>
                <a:spcPct val="150000"/>
              </a:lnSpc>
            </a:pP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流线计算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8" name="Object 24"/>
          <p:cNvGraphicFramePr>
            <a:graphicFrameLocks noChangeAspect="1"/>
          </p:cNvGraphicFramePr>
          <p:nvPr/>
        </p:nvGraphicFramePr>
        <p:xfrm>
          <a:off x="6120765" y="3177223"/>
          <a:ext cx="2296160" cy="1052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862965" imgH="393700" progId="Equation.3">
                  <p:embed/>
                </p:oleObj>
              </mc:Choice>
              <mc:Fallback>
                <p:oleObj name="" r:id="rId3" imgW="862965" imgH="3937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20765" y="3177223"/>
                        <a:ext cx="2296160" cy="1052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3" name="Object 5"/>
          <p:cNvGraphicFramePr>
            <a:graphicFrameLocks noChangeAspect="1"/>
          </p:cNvGraphicFramePr>
          <p:nvPr/>
        </p:nvGraphicFramePr>
        <p:xfrm>
          <a:off x="6120765" y="4424045"/>
          <a:ext cx="298926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5" imgW="1426210" imgH="536575" progId="Equation.DSMT4">
                  <p:embed/>
                </p:oleObj>
              </mc:Choice>
              <mc:Fallback>
                <p:oleObj name="" r:id="rId5" imgW="1426210" imgH="536575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20765" y="4424045"/>
                        <a:ext cx="2989263" cy="10953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6" name="Object 8"/>
          <p:cNvGraphicFramePr>
            <a:graphicFrameLocks noChangeAspect="1"/>
          </p:cNvGraphicFramePr>
          <p:nvPr/>
        </p:nvGraphicFramePr>
        <p:xfrm>
          <a:off x="5941060" y="995045"/>
          <a:ext cx="4599940" cy="1040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1841500" imgH="419100" progId="Equation.DSMT4">
                  <p:embed/>
                </p:oleObj>
              </mc:Choice>
              <mc:Fallback>
                <p:oleObj name="" r:id="rId7" imgW="1841500" imgH="4191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41060" y="995045"/>
                        <a:ext cx="4599940" cy="10407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397250" y="4545330"/>
            <a:ext cx="223583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688340" indent="-688340">
              <a:lnSpc>
                <a:spcPct val="150000"/>
              </a:lnSpc>
            </a:pP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）连续性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2320" y="2760345"/>
            <a:ext cx="19958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二、计算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左大括号 10"/>
          <p:cNvSpPr/>
          <p:nvPr/>
        </p:nvSpPr>
        <p:spPr>
          <a:xfrm>
            <a:off x="2653030" y="1421765"/>
            <a:ext cx="530225" cy="3570605"/>
          </a:xfrm>
          <a:prstGeom prst="leftBrac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4495" y="309880"/>
            <a:ext cx="1138301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某速度场可表示为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                            </a:t>
            </a: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，试求：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（1）加速度；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（2）流线；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（3）t= 0时通过x=-1，y=1点的流线；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（4）该速度场是否满足不可压缩流体的连续方程？ 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对象 -2147482568"/>
          <p:cNvGraphicFramePr>
            <a:graphicFrameLocks noChangeAspect="1"/>
          </p:cNvGraphicFramePr>
          <p:nvPr/>
        </p:nvGraphicFramePr>
        <p:xfrm>
          <a:off x="3095625" y="309880"/>
          <a:ext cx="5507355" cy="69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917065" imgH="241300" progId="Equation.3">
                  <p:embed/>
                </p:oleObj>
              </mc:Choice>
              <mc:Fallback>
                <p:oleObj name="" r:id="rId1" imgW="1917065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95625" y="309880"/>
                        <a:ext cx="5507355" cy="692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513"/>
          <p:cNvGraphicFramePr>
            <a:graphicFrameLocks noChangeAspect="1"/>
          </p:cNvGraphicFramePr>
          <p:nvPr/>
        </p:nvGraphicFramePr>
        <p:xfrm>
          <a:off x="1297305" y="3429000"/>
          <a:ext cx="4525645" cy="102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841500" imgH="419100" progId="Equation.DSMT4">
                  <p:embed/>
                </p:oleObj>
              </mc:Choice>
              <mc:Fallback>
                <p:oleObj name="" r:id="rId3" imgW="1841500" imgH="4191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97305" y="3429000"/>
                        <a:ext cx="4525645" cy="10242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2512"/>
          <p:cNvGraphicFramePr>
            <a:graphicFrameLocks noChangeAspect="1"/>
          </p:cNvGraphicFramePr>
          <p:nvPr/>
        </p:nvGraphicFramePr>
        <p:xfrm>
          <a:off x="1480820" y="4517390"/>
          <a:ext cx="23971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862965" imgH="393700" progId="Equation.3">
                  <p:embed/>
                </p:oleObj>
              </mc:Choice>
              <mc:Fallback>
                <p:oleObj name="" r:id="rId5" imgW="862965" imgH="393700" progId="Equation.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80820" y="4517390"/>
                        <a:ext cx="2397125" cy="1098550"/>
                      </a:xfrm>
                      <a:prstGeom prst="rect">
                        <a:avLst/>
                      </a:prstGeom>
                      <a:noFill/>
                      <a:ln w="381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3" name="Object 5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297305" y="5762625"/>
          <a:ext cx="2989263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8" imgW="1426210" imgH="536575" progId="Equation.DSMT4">
                  <p:embed/>
                </p:oleObj>
              </mc:Choice>
              <mc:Fallback>
                <p:oleObj name="" r:id="rId8" imgW="1426210" imgH="536575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97305" y="5762625"/>
                        <a:ext cx="2989263" cy="10953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5450" y="285115"/>
            <a:ext cx="11492865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已知流速场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                                             </a:t>
            </a: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，试问：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（1）点（1，1，2）的加速度是多少？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（2）是几元流动？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（3）是恒定流还是非恒定流？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-688340">
              <a:lnSpc>
                <a:spcPct val="150000"/>
              </a:lnSpc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（4）是均匀流还是非均匀流？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对象 -2147482555"/>
          <p:cNvGraphicFramePr>
            <a:graphicFrameLocks noChangeAspect="1"/>
          </p:cNvGraphicFramePr>
          <p:nvPr/>
        </p:nvGraphicFramePr>
        <p:xfrm>
          <a:off x="2275205" y="285115"/>
          <a:ext cx="6612890" cy="68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97100" imgH="228600" progId="Equation.3">
                  <p:embed/>
                </p:oleObj>
              </mc:Choice>
              <mc:Fallback>
                <p:oleObj name="" r:id="rId1" imgW="21971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5205" y="285115"/>
                        <a:ext cx="6612890" cy="687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498"/>
          <p:cNvGraphicFramePr>
            <a:graphicFrameLocks noChangeAspect="1"/>
          </p:cNvGraphicFramePr>
          <p:nvPr/>
        </p:nvGraphicFramePr>
        <p:xfrm>
          <a:off x="1132205" y="3639185"/>
          <a:ext cx="3383915" cy="2180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143000" imgH="736600" progId="Equation.3">
                  <p:embed/>
                </p:oleObj>
              </mc:Choice>
              <mc:Fallback>
                <p:oleObj name="" r:id="rId3" imgW="1143000" imgH="736600" progId="Equation.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2205" y="3639185"/>
                        <a:ext cx="3383915" cy="2180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-2147482497"/>
          <p:cNvGraphicFramePr>
            <a:graphicFrameLocks noChangeAspect="1"/>
          </p:cNvGraphicFramePr>
          <p:nvPr/>
        </p:nvGraphicFramePr>
        <p:xfrm>
          <a:off x="5027930" y="3648710"/>
          <a:ext cx="716978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3441700" imgH="685800" progId="Equation.3">
                  <p:embed/>
                </p:oleObj>
              </mc:Choice>
              <mc:Fallback>
                <p:oleObj name="" r:id="rId5" imgW="3441700" imgH="685800" progId="Equation.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27930" y="3648710"/>
                        <a:ext cx="7169785" cy="1428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4654550" y="5191125"/>
            <a:ext cx="54057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762000"/>
            <a:r>
              <a:rPr 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代入（</a:t>
            </a:r>
            <a:r>
              <a:rPr lang="en-US" sz="2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sz="2400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sz="2400" b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对象 -2147482496"/>
          <p:cNvGraphicFramePr>
            <a:graphicFrameLocks noChangeAspect="1"/>
          </p:cNvGraphicFramePr>
          <p:nvPr/>
        </p:nvGraphicFramePr>
        <p:xfrm>
          <a:off x="5027930" y="5651500"/>
          <a:ext cx="691832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7" imgW="3009900" imgH="457200" progId="Equation.3">
                  <p:embed/>
                </p:oleObj>
              </mc:Choice>
              <mc:Fallback>
                <p:oleObj name="" r:id="rId7" imgW="3009900" imgH="457200" progId="Equation.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27930" y="5651500"/>
                        <a:ext cx="6918325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74750" y="1019810"/>
            <a:ext cx="10149205" cy="400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" name="文本框 105"/>
          <p:cNvSpPr txBox="1"/>
          <p:nvPr/>
        </p:nvSpPr>
        <p:spPr>
          <a:xfrm>
            <a:off x="3482340" y="1430020"/>
            <a:ext cx="7734300" cy="4412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、欧拉运动微分方程、欧拉平衡微分方程、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N-S方程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、理想流体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伯努利方程及其假设条件、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应用条件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实际流体的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伯努利方程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压强水头、位置水头、速度水头、总水头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毕托管及其滞止点或驻点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气体伯努利方程：静压、动压、位压、总压、全压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动量方程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及其应用（求受力）、注意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方向分解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7715" y="3168015"/>
            <a:ext cx="13944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第四章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2767965" y="1651635"/>
            <a:ext cx="459105" cy="3685540"/>
          </a:xfrm>
          <a:prstGeom prst="leftBrac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5800"/>
          <a:stretch>
            <a:fillRect/>
          </a:stretch>
        </p:blipFill>
        <p:spPr>
          <a:xfrm>
            <a:off x="1273810" y="1163955"/>
            <a:ext cx="9571990" cy="50101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73810" y="534670"/>
            <a:ext cx="98272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知识点：压力、速度（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）、损失、阻力损失系数、画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水头线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68425" y="1163955"/>
            <a:ext cx="23844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静压力方程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58075" y="4824730"/>
            <a:ext cx="32588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注意：过流断面、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基准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" name="文本框 105"/>
          <p:cNvSpPr txBox="1"/>
          <p:nvPr/>
        </p:nvSpPr>
        <p:spPr>
          <a:xfrm>
            <a:off x="383540" y="476885"/>
            <a:ext cx="1131951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图示管路由两根不同直径的管子与一渐变连接管组成。已知d</a:t>
            </a:r>
            <a:r>
              <a:rPr lang="zh-CN" sz="2400" b="0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=200mm，d</a:t>
            </a:r>
            <a:r>
              <a:rPr lang="zh-CN" sz="2400" b="0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=400mm，A点相对压强p</a:t>
            </a:r>
            <a:r>
              <a:rPr lang="zh-CN" sz="2400" b="0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=68.6kPa，B点相对压强p</a:t>
            </a:r>
            <a:r>
              <a:rPr lang="zh-CN" sz="2400" b="0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=39.2kPa，B点的断面平均流速v</a:t>
            </a:r>
            <a:r>
              <a:rPr lang="zh-CN" sz="2400" b="0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=1m/s，A、B两点高差△z=1.2m。试判断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流动方向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，并计算两断面间的水头损失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hw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90" descr="t312"/>
          <p:cNvPicPr>
            <a:picLocks noChangeAspect="1"/>
          </p:cNvPicPr>
          <p:nvPr/>
        </p:nvPicPr>
        <p:blipFill>
          <a:blip r:embed="rId1"/>
          <a:srcRect l="53673" t="18143" r="684" b="14999"/>
          <a:stretch>
            <a:fillRect/>
          </a:stretch>
        </p:blipFill>
        <p:spPr>
          <a:xfrm>
            <a:off x="887095" y="2449195"/>
            <a:ext cx="7983855" cy="29673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213850" y="3023870"/>
            <a:ext cx="25527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伯努利方程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连续性方程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" name="文本框 105"/>
          <p:cNvSpPr txBox="1"/>
          <p:nvPr/>
        </p:nvSpPr>
        <p:spPr>
          <a:xfrm>
            <a:off x="517525" y="489585"/>
            <a:ext cx="1128077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4.9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一渐变输水管段，与水平面的倾角为45º，如图所示。已知管径d</a:t>
            </a:r>
            <a:r>
              <a:rPr lang="zh-CN" sz="2400" b="0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=200mm，d</a:t>
            </a:r>
            <a:r>
              <a:rPr lang="zh-CN" sz="2400" b="0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=100mm，两断面的间距l=2m。若1-1断面处的流速v</a:t>
            </a:r>
            <a:r>
              <a:rPr lang="zh-CN" sz="2400" b="0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=2m/s，水银差压计读数h</a:t>
            </a:r>
            <a:r>
              <a:rPr lang="zh-CN" sz="2400" b="0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=20cm，试判别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流动方向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，并计算两断面间的水头损失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hw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和压强差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sz="2400" b="0" baseline="-25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2400" b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-p</a:t>
            </a:r>
            <a:r>
              <a:rPr lang="zh-CN" sz="2400" b="0" baseline="-25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21" descr="t314"/>
          <p:cNvPicPr>
            <a:picLocks noChangeAspect="1"/>
          </p:cNvPicPr>
          <p:nvPr/>
        </p:nvPicPr>
        <p:blipFill>
          <a:blip r:embed="rId1"/>
          <a:srcRect l="12822" t="8032"/>
          <a:stretch>
            <a:fillRect/>
          </a:stretch>
        </p:blipFill>
        <p:spPr>
          <a:xfrm>
            <a:off x="2886710" y="1978660"/>
            <a:ext cx="3754755" cy="423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8294370" y="2829560"/>
            <a:ext cx="25527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伯努利方程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连续性方程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静压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方程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/>
          </p:cNvSpPr>
          <p:nvPr>
            <p:ph type="body" sz="half" idx="1"/>
          </p:nvPr>
        </p:nvSpPr>
        <p:spPr>
          <a:xfrm>
            <a:off x="1919288" y="565150"/>
            <a:ext cx="8280400" cy="5672138"/>
          </a:xfrm>
        </p:spPr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</a:endParaRPr>
          </a:p>
          <a:p>
            <a:pPr>
              <a:lnSpc>
                <a:spcPct val="110000"/>
              </a:lnSpc>
              <a:buClrTx/>
              <a:buSzTx/>
              <a:buFontTx/>
              <a:buNone/>
            </a:pPr>
            <a:endParaRPr lang="en-US" altLang="zh-CN" sz="2000" dirty="0">
              <a:solidFill>
                <a:srgbClr val="FF660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1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45" y="360045"/>
            <a:ext cx="114522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图片 19"/>
          <p:cNvPicPr>
            <a:picLocks noChangeAspect="1"/>
          </p:cNvPicPr>
          <p:nvPr/>
        </p:nvPicPr>
        <p:blipFill>
          <a:blip r:embed="rId2"/>
          <a:srcRect l="65112" r="7971" b="66806"/>
          <a:stretch>
            <a:fillRect/>
          </a:stretch>
        </p:blipFill>
        <p:spPr>
          <a:xfrm>
            <a:off x="3203575" y="1370965"/>
            <a:ext cx="3190240" cy="4980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" name="文本框 105"/>
          <p:cNvSpPr txBox="1"/>
          <p:nvPr/>
        </p:nvSpPr>
        <p:spPr>
          <a:xfrm>
            <a:off x="805180" y="426085"/>
            <a:ext cx="10403840" cy="60928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sz="2800" b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</a:t>
            </a:r>
            <a:r>
              <a:rPr lang="zh-CN" sz="2800" b="0"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量纲、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量纲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和谐原理</a:t>
            </a:r>
            <a:endParaRPr 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、相似理论和相似准则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流动相似：几何、运动、动力、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边界条件和初始条件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2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、常用的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相似准则：压力（欧拉）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2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重力（弗劳德）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2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粘性（雷诺）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2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弹性（马赫）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21317" name="对象 521316"/>
          <p:cNvGraphicFramePr/>
          <p:nvPr/>
        </p:nvGraphicFramePr>
        <p:xfrm>
          <a:off x="6230620" y="3066415"/>
          <a:ext cx="1151255" cy="875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647700" imgH="431800" progId="Equation.3">
                  <p:embed/>
                </p:oleObj>
              </mc:Choice>
              <mc:Fallback>
                <p:oleObj name="" r:id="rId1" imgW="647700" imgH="4318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30620" y="3066415"/>
                        <a:ext cx="1151255" cy="8750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8979" name="对象 1448978"/>
          <p:cNvGraphicFramePr/>
          <p:nvPr/>
        </p:nvGraphicFramePr>
        <p:xfrm>
          <a:off x="6173788" y="4746308"/>
          <a:ext cx="18954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914400" imgH="419100" progId="Equation.3">
                  <p:embed/>
                </p:oleObj>
              </mc:Choice>
              <mc:Fallback>
                <p:oleObj name="" r:id="rId3" imgW="914400" imgH="4191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73788" y="4746308"/>
                        <a:ext cx="1895475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0021" name="对象 1450020"/>
          <p:cNvGraphicFramePr/>
          <p:nvPr/>
        </p:nvGraphicFramePr>
        <p:xfrm>
          <a:off x="6230303" y="3857625"/>
          <a:ext cx="133286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5" imgW="545465" imgH="444500" progId="Equation.3">
                  <p:embed/>
                </p:oleObj>
              </mc:Choice>
              <mc:Fallback>
                <p:oleObj name="" r:id="rId5" imgW="545465" imgH="4445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30303" y="3857625"/>
                        <a:ext cx="1332865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1045" name="对象 1451044"/>
          <p:cNvGraphicFramePr/>
          <p:nvPr/>
        </p:nvGraphicFramePr>
        <p:xfrm>
          <a:off x="6230620" y="5613400"/>
          <a:ext cx="1366520" cy="848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7" imgW="533400" imgH="393700" progId="Equation.3">
                  <p:embed/>
                </p:oleObj>
              </mc:Choice>
              <mc:Fallback>
                <p:oleObj name="" r:id="rId7" imgW="533400" imgH="3937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30620" y="5613400"/>
                        <a:ext cx="1366520" cy="848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5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5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" name="文本框 105"/>
          <p:cNvSpPr txBox="1"/>
          <p:nvPr/>
        </p:nvSpPr>
        <p:spPr>
          <a:xfrm>
            <a:off x="351790" y="605790"/>
            <a:ext cx="5396865" cy="4338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雷诺实验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层流、紊流、流态及其判定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、损失：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局部损失、沿程损失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达西公式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层流、紊流的速度及应力分布规律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沿程阻力系数、局部损失系数计算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局部损失的原因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、紊流分析：时均法、混合长度理论</a:t>
            </a:r>
            <a:endParaRPr lang="zh-CN" altLang="en-US" sz="2000" b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21855" y="1159827"/>
            <a:ext cx="5080000" cy="378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尼古拉斯实验原理目的及意义</a:t>
            </a:r>
            <a:endParaRPr lang="zh-CN" altLang="en-US" sz="2000" b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莫迪图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相对粗糙度、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当量直径</a:t>
            </a:r>
            <a:r>
              <a:rPr lang="en-US" altLang="zh-CN" sz="2000" i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</a:t>
            </a:r>
            <a:r>
              <a:rPr lang="en-US" altLang="zh-CN" sz="2000" i="1" baseline="-25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=4R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典型工况的局部损失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有压管道、无压管道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短管、长管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管路阻抗</a:t>
            </a:r>
            <a:endParaRPr lang="zh-CN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、管路串并联特性及计算</a:t>
            </a:r>
            <a:endParaRPr lang="zh-CN" altLang="en-US" sz="20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4960" y="2818130"/>
            <a:ext cx="15519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第六章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左大括号 4"/>
          <p:cNvSpPr/>
          <p:nvPr/>
        </p:nvSpPr>
        <p:spPr>
          <a:xfrm>
            <a:off x="6653530" y="1487170"/>
            <a:ext cx="508000" cy="3211195"/>
          </a:xfrm>
          <a:prstGeom prst="leftBrac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右大括号 5"/>
          <p:cNvSpPr/>
          <p:nvPr/>
        </p:nvSpPr>
        <p:spPr>
          <a:xfrm>
            <a:off x="4766945" y="1377950"/>
            <a:ext cx="435610" cy="3411220"/>
          </a:xfrm>
          <a:prstGeom prst="rightBrac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" name="文本框 105"/>
          <p:cNvSpPr txBox="1"/>
          <p:nvPr/>
        </p:nvSpPr>
        <p:spPr>
          <a:xfrm>
            <a:off x="2539365" y="1473835"/>
            <a:ext cx="8599805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孔口、管嘴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自由出流、淹没出流及其流量公式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、作用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水头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流量系数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管嘴出流的真空度及其作用、条件</a:t>
            </a:r>
            <a:endParaRPr lang="zh-CN" sz="2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不同管嘴的流量特性</a:t>
            </a:r>
            <a:endParaRPr lang="zh-CN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b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流量计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4515" y="3168015"/>
            <a:ext cx="15443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第七章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1884045" y="1757680"/>
            <a:ext cx="397510" cy="3429000"/>
          </a:xfrm>
          <a:prstGeom prst="leftBrac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2568,&quot;width&quot;:10632}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UNIT_PLACING_PICTURE_USER_VIEWPORT" val="{&quot;height&quot;:4245,&quot;width&quot;:10770}"/>
</p:tagLst>
</file>

<file path=ppt/tags/tag66.xml><?xml version="1.0" encoding="utf-8"?>
<p:tagLst xmlns:p="http://schemas.openxmlformats.org/presentationml/2006/main">
  <p:tag name="commondata" val="eyJoZGlkIjoiZTgzNzRjODEwMTdjNDhlOTlhMzc2OTgxNjgwYjkzMm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2165</Words>
  <Application>WPS 演示</Application>
  <PresentationFormat>宽屏</PresentationFormat>
  <Paragraphs>204</Paragraphs>
  <Slides>26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23</vt:i4>
      </vt:variant>
      <vt:variant>
        <vt:lpstr>幻灯片标题</vt:lpstr>
      </vt:variant>
      <vt:variant>
        <vt:i4>26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Wingdings</vt:lpstr>
      <vt:lpstr>Times New Roman</vt:lpstr>
      <vt:lpstr>华文新魏</vt:lpstr>
      <vt:lpstr>Arial Unicode MS</vt:lpstr>
      <vt:lpstr>Calibri</vt:lpstr>
      <vt:lpstr>Office 主题​​</vt:lpstr>
      <vt:lpstr>Equation.3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PBrush</vt:lpstr>
      <vt:lpstr>Equation.KSEE3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在容积为1.77m3的气瓶中，原来存在有一定量的CO，其绝对压强为1.034bar，温度为21℃，后来又用气泵输入1.36kgCO，测得输入后的温度为24℃，试求输入后的绝对压强是多少？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14896</cp:lastModifiedBy>
  <cp:revision>235</cp:revision>
  <dcterms:created xsi:type="dcterms:W3CDTF">2019-06-19T02:08:00Z</dcterms:created>
  <dcterms:modified xsi:type="dcterms:W3CDTF">2024-12-21T13:28:24Z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DCD23A76DF3D4AFA977B8429B0559918</vt:lpwstr>
  </property>
</Properties>
</file>