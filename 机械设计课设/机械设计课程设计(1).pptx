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3"/>
  </p:notesMasterIdLst>
  <p:handoutMasterIdLst>
    <p:handoutMasterId r:id="rId44"/>
  </p:handoutMasterIdLst>
  <p:sldIdLst>
    <p:sldId id="256" r:id="rId2"/>
    <p:sldId id="257" r:id="rId3"/>
    <p:sldId id="259" r:id="rId4"/>
    <p:sldId id="261" r:id="rId5"/>
    <p:sldId id="364" r:id="rId6"/>
    <p:sldId id="365" r:id="rId7"/>
    <p:sldId id="395" r:id="rId8"/>
    <p:sldId id="396" r:id="rId9"/>
    <p:sldId id="267" r:id="rId10"/>
    <p:sldId id="283" r:id="rId11"/>
    <p:sldId id="284" r:id="rId12"/>
    <p:sldId id="288" r:id="rId13"/>
    <p:sldId id="285" r:id="rId14"/>
    <p:sldId id="400" r:id="rId15"/>
    <p:sldId id="286" r:id="rId16"/>
    <p:sldId id="355" r:id="rId17"/>
    <p:sldId id="399" r:id="rId18"/>
    <p:sldId id="393" r:id="rId19"/>
    <p:sldId id="394" r:id="rId20"/>
    <p:sldId id="289" r:id="rId21"/>
    <p:sldId id="290" r:id="rId22"/>
    <p:sldId id="291" r:id="rId23"/>
    <p:sldId id="341" r:id="rId24"/>
    <p:sldId id="292" r:id="rId25"/>
    <p:sldId id="293" r:id="rId26"/>
    <p:sldId id="294" r:id="rId27"/>
    <p:sldId id="326" r:id="rId28"/>
    <p:sldId id="327" r:id="rId29"/>
    <p:sldId id="363" r:id="rId30"/>
    <p:sldId id="328" r:id="rId31"/>
    <p:sldId id="329" r:id="rId32"/>
    <p:sldId id="330" r:id="rId33"/>
    <p:sldId id="331" r:id="rId34"/>
    <p:sldId id="334" r:id="rId35"/>
    <p:sldId id="335" r:id="rId36"/>
    <p:sldId id="338" r:id="rId37"/>
    <p:sldId id="339" r:id="rId38"/>
    <p:sldId id="397" r:id="rId39"/>
    <p:sldId id="340" r:id="rId40"/>
    <p:sldId id="402" r:id="rId41"/>
    <p:sldId id="403" r:id="rId4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A3A923"/>
    <a:srgbClr val="76A923"/>
    <a:srgbClr val="7D9636"/>
    <a:srgbClr val="66FFFF"/>
    <a:srgbClr val="FF00FF"/>
    <a:srgbClr val="A50021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9" autoAdjust="0"/>
    <p:restoredTop sz="94071" autoAdjust="0"/>
  </p:normalViewPr>
  <p:slideViewPr>
    <p:cSldViewPr snapToGrid="0">
      <p:cViewPr varScale="1">
        <p:scale>
          <a:sx n="99" d="100"/>
          <a:sy n="99" d="100"/>
        </p:scale>
        <p:origin x="636" y="-6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1090" y="-58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.xml"/><Relationship Id="rId2" Type="http://schemas.openxmlformats.org/officeDocument/2006/relationships/slide" Target="slides/slide2.xml"/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DCEF66D-644A-4D17-BD7E-6CB831DC033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77068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E240041-B699-41D3-AA3D-7A7A8FB6690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76316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DF56D53-060E-483C-8F69-9793B435541C}" type="slidenum">
              <a:rPr lang="zh-CN" altLang="en-US" smtClean="0"/>
              <a:pPr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654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CD2C5EB-447C-4634-8DFE-3888782D6EFA}" type="slidenum">
              <a:rPr lang="zh-CN" altLang="en-US" smtClean="0"/>
              <a:pPr>
                <a:spcBef>
                  <a:spcPct val="0"/>
                </a:spcBef>
              </a:pPr>
              <a:t>20</a:t>
            </a:fld>
            <a:endParaRPr lang="en-US" altLang="zh-CN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原骨干网 － 1</a:t>
            </a:r>
            <a:r>
              <a:rPr lang="en-US" altLang="zh-CN"/>
              <a:t>Gbps</a:t>
            </a:r>
          </a:p>
          <a:p>
            <a:pPr eaLnBrk="1" hangingPunct="1"/>
            <a:r>
              <a:rPr lang="en-US" altLang="zh-CN"/>
              <a:t>Internet 2 – 10Gbps</a:t>
            </a:r>
          </a:p>
          <a:p>
            <a:pPr eaLnBrk="1" hangingPunct="1"/>
            <a:r>
              <a:rPr lang="en-US" altLang="zh-CN"/>
              <a:t>(</a:t>
            </a:r>
            <a:r>
              <a:rPr lang="zh-CN" altLang="en-US"/>
              <a:t>信息学院内100个点）</a:t>
            </a:r>
          </a:p>
        </p:txBody>
      </p:sp>
    </p:spTree>
    <p:extLst>
      <p:ext uri="{BB962C8B-B14F-4D97-AF65-F5344CB8AC3E}">
        <p14:creationId xmlns:p14="http://schemas.microsoft.com/office/powerpoint/2010/main" val="954401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30DAD02-EE78-4651-885C-16CACF822D48}" type="slidenum">
              <a:rPr lang="zh-CN" altLang="en-US" smtClean="0"/>
              <a:pPr>
                <a:spcBef>
                  <a:spcPct val="0"/>
                </a:spcBef>
              </a:pPr>
              <a:t>21</a:t>
            </a:fld>
            <a:endParaRPr lang="en-US" altLang="zh-CN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原骨干网 － 1</a:t>
            </a:r>
            <a:r>
              <a:rPr lang="en-US" altLang="zh-CN"/>
              <a:t>Gbps</a:t>
            </a:r>
          </a:p>
          <a:p>
            <a:pPr eaLnBrk="1" hangingPunct="1"/>
            <a:r>
              <a:rPr lang="en-US" altLang="zh-CN"/>
              <a:t>Internet 2 – 10Gbps</a:t>
            </a:r>
            <a:r>
              <a:rPr lang="zh-CN" altLang="en-US"/>
              <a:t>数字图书馆数字图书馆</a:t>
            </a:r>
          </a:p>
          <a:p>
            <a:pPr eaLnBrk="1" hangingPunct="1"/>
            <a:r>
              <a:rPr lang="zh-CN" altLang="en-US"/>
              <a:t>(信息学院内100个点）</a:t>
            </a:r>
          </a:p>
        </p:txBody>
      </p:sp>
    </p:spTree>
    <p:extLst>
      <p:ext uri="{BB962C8B-B14F-4D97-AF65-F5344CB8AC3E}">
        <p14:creationId xmlns:p14="http://schemas.microsoft.com/office/powerpoint/2010/main" val="1893989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DE43A73-B7FF-4040-B155-F4E70DAF8302}" type="slidenum">
              <a:rPr lang="zh-CN" altLang="en-US" smtClean="0"/>
              <a:pPr>
                <a:spcBef>
                  <a:spcPct val="0"/>
                </a:spcBef>
              </a:pPr>
              <a:t>22</a:t>
            </a:fld>
            <a:endParaRPr lang="en-US" altLang="zh-CN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原骨干网 － 1</a:t>
            </a:r>
            <a:r>
              <a:rPr lang="en-US" altLang="zh-CN"/>
              <a:t>Gbps</a:t>
            </a:r>
          </a:p>
          <a:p>
            <a:pPr eaLnBrk="1" hangingPunct="1"/>
            <a:r>
              <a:rPr lang="en-US" altLang="zh-CN"/>
              <a:t>Internet 2 – 10Gbps</a:t>
            </a:r>
          </a:p>
          <a:p>
            <a:pPr eaLnBrk="1" hangingPunct="1"/>
            <a:r>
              <a:rPr lang="en-US" altLang="zh-CN"/>
              <a:t>(</a:t>
            </a:r>
            <a:r>
              <a:rPr lang="zh-CN" altLang="en-US"/>
              <a:t>信息学院内100个点）</a:t>
            </a:r>
          </a:p>
        </p:txBody>
      </p:sp>
    </p:spTree>
    <p:extLst>
      <p:ext uri="{BB962C8B-B14F-4D97-AF65-F5344CB8AC3E}">
        <p14:creationId xmlns:p14="http://schemas.microsoft.com/office/powerpoint/2010/main" val="946244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BD351F1-2761-407D-B258-8331E6BEC2EA}" type="slidenum">
              <a:rPr lang="zh-CN" altLang="en-US" smtClean="0"/>
              <a:pPr>
                <a:spcBef>
                  <a:spcPct val="0"/>
                </a:spcBef>
              </a:pPr>
              <a:t>23</a:t>
            </a:fld>
            <a:endParaRPr lang="en-US" altLang="zh-CN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原骨干网 － 1</a:t>
            </a:r>
            <a:r>
              <a:rPr lang="en-US" altLang="zh-CN"/>
              <a:t>Gbps</a:t>
            </a:r>
          </a:p>
          <a:p>
            <a:pPr eaLnBrk="1" hangingPunct="1"/>
            <a:r>
              <a:rPr lang="en-US" altLang="zh-CN"/>
              <a:t>Internet 2 – 10Gbps</a:t>
            </a:r>
          </a:p>
          <a:p>
            <a:pPr eaLnBrk="1" hangingPunct="1"/>
            <a:r>
              <a:rPr lang="en-US" altLang="zh-CN"/>
              <a:t>(</a:t>
            </a:r>
            <a:r>
              <a:rPr lang="zh-CN" altLang="en-US"/>
              <a:t>信息学院内100个点）</a:t>
            </a:r>
          </a:p>
        </p:txBody>
      </p:sp>
    </p:spTree>
    <p:extLst>
      <p:ext uri="{BB962C8B-B14F-4D97-AF65-F5344CB8AC3E}">
        <p14:creationId xmlns:p14="http://schemas.microsoft.com/office/powerpoint/2010/main" val="30349125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AA17B6B-4584-4F16-B56D-9BC9E95F6339}" type="slidenum">
              <a:rPr lang="zh-CN" altLang="en-US" smtClean="0"/>
              <a:pPr>
                <a:spcBef>
                  <a:spcPct val="0"/>
                </a:spcBef>
              </a:pPr>
              <a:t>26</a:t>
            </a:fld>
            <a:endParaRPr lang="en-US" altLang="zh-CN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原骨干网 － 1</a:t>
            </a:r>
            <a:r>
              <a:rPr lang="en-US" altLang="zh-CN"/>
              <a:t>Gbps</a:t>
            </a:r>
          </a:p>
          <a:p>
            <a:pPr eaLnBrk="1" hangingPunct="1"/>
            <a:r>
              <a:rPr lang="en-US" altLang="zh-CN"/>
              <a:t>Internet 2 – 10Gbps</a:t>
            </a:r>
          </a:p>
          <a:p>
            <a:pPr eaLnBrk="1" hangingPunct="1"/>
            <a:r>
              <a:rPr lang="en-US" altLang="zh-CN"/>
              <a:t>(</a:t>
            </a:r>
            <a:r>
              <a:rPr lang="zh-CN" altLang="en-US"/>
              <a:t>信息学院内100个点）</a:t>
            </a:r>
          </a:p>
        </p:txBody>
      </p:sp>
    </p:spTree>
    <p:extLst>
      <p:ext uri="{BB962C8B-B14F-4D97-AF65-F5344CB8AC3E}">
        <p14:creationId xmlns:p14="http://schemas.microsoft.com/office/powerpoint/2010/main" val="1226783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0381CF2-EC83-4C99-B181-1B9819DF91A2}" type="slidenum">
              <a:rPr lang="zh-CN" altLang="en-US" smtClean="0"/>
              <a:pPr>
                <a:spcBef>
                  <a:spcPct val="0"/>
                </a:spcBef>
              </a:pPr>
              <a:t>27</a:t>
            </a:fld>
            <a:endParaRPr lang="en-US" altLang="zh-CN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原骨干网 － 1</a:t>
            </a:r>
            <a:r>
              <a:rPr lang="en-US" altLang="zh-CN"/>
              <a:t>Gbps</a:t>
            </a:r>
          </a:p>
          <a:p>
            <a:pPr eaLnBrk="1" hangingPunct="1"/>
            <a:r>
              <a:rPr lang="en-US" altLang="zh-CN"/>
              <a:t>Internet 2 – 10Gbps</a:t>
            </a:r>
          </a:p>
          <a:p>
            <a:pPr eaLnBrk="1" hangingPunct="1"/>
            <a:r>
              <a:rPr lang="en-US" altLang="zh-CN"/>
              <a:t>(</a:t>
            </a:r>
            <a:r>
              <a:rPr lang="zh-CN" altLang="en-US"/>
              <a:t>信息学院内100个点）</a:t>
            </a:r>
          </a:p>
        </p:txBody>
      </p:sp>
    </p:spTree>
    <p:extLst>
      <p:ext uri="{BB962C8B-B14F-4D97-AF65-F5344CB8AC3E}">
        <p14:creationId xmlns:p14="http://schemas.microsoft.com/office/powerpoint/2010/main" val="1768507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21009CD-C5F6-4E4B-B5C1-CB53EC8ADF2D}" type="slidenum">
              <a:rPr lang="zh-CN" altLang="en-US" smtClean="0"/>
              <a:pPr>
                <a:spcBef>
                  <a:spcPct val="0"/>
                </a:spcBef>
              </a:pPr>
              <a:t>28</a:t>
            </a:fld>
            <a:endParaRPr lang="en-US" altLang="zh-CN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原骨干网 － 1</a:t>
            </a:r>
            <a:r>
              <a:rPr lang="en-US" altLang="zh-CN"/>
              <a:t>Gbps</a:t>
            </a:r>
          </a:p>
          <a:p>
            <a:pPr eaLnBrk="1" hangingPunct="1"/>
            <a:r>
              <a:rPr lang="en-US" altLang="zh-CN"/>
              <a:t>Internet 2 – 10Gbps</a:t>
            </a:r>
          </a:p>
          <a:p>
            <a:pPr eaLnBrk="1" hangingPunct="1"/>
            <a:r>
              <a:rPr lang="en-US" altLang="zh-CN"/>
              <a:t>(</a:t>
            </a:r>
            <a:r>
              <a:rPr lang="zh-CN" altLang="en-US"/>
              <a:t>信息学院内100个点）</a:t>
            </a:r>
          </a:p>
        </p:txBody>
      </p:sp>
    </p:spTree>
    <p:extLst>
      <p:ext uri="{BB962C8B-B14F-4D97-AF65-F5344CB8AC3E}">
        <p14:creationId xmlns:p14="http://schemas.microsoft.com/office/powerpoint/2010/main" val="355130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D2A4C8D-F0C0-4408-8DAE-AD6E5636E9D8}" type="slidenum">
              <a:rPr lang="zh-CN" altLang="en-US" smtClean="0"/>
              <a:pPr>
                <a:spcBef>
                  <a:spcPct val="0"/>
                </a:spcBef>
              </a:pPr>
              <a:t>30</a:t>
            </a:fld>
            <a:endParaRPr lang="en-US" altLang="zh-CN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原骨干网 － 1</a:t>
            </a:r>
            <a:r>
              <a:rPr lang="en-US" altLang="zh-CN"/>
              <a:t>Gbps</a:t>
            </a:r>
          </a:p>
          <a:p>
            <a:pPr eaLnBrk="1" hangingPunct="1"/>
            <a:r>
              <a:rPr lang="en-US" altLang="zh-CN"/>
              <a:t>Internet 2 – 10Gbps</a:t>
            </a:r>
          </a:p>
          <a:p>
            <a:pPr eaLnBrk="1" hangingPunct="1"/>
            <a:r>
              <a:rPr lang="en-US" altLang="zh-CN"/>
              <a:t>(</a:t>
            </a:r>
            <a:r>
              <a:rPr lang="zh-CN" altLang="en-US"/>
              <a:t>信息学院内100个点）</a:t>
            </a:r>
          </a:p>
        </p:txBody>
      </p:sp>
    </p:spTree>
    <p:extLst>
      <p:ext uri="{BB962C8B-B14F-4D97-AF65-F5344CB8AC3E}">
        <p14:creationId xmlns:p14="http://schemas.microsoft.com/office/powerpoint/2010/main" val="3762307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AE6E3DD-3A9F-46CF-A091-1F68C65B8D77}" type="slidenum">
              <a:rPr lang="zh-CN" altLang="en-US" smtClean="0"/>
              <a:pPr>
                <a:spcBef>
                  <a:spcPct val="0"/>
                </a:spcBef>
              </a:pPr>
              <a:t>31</a:t>
            </a:fld>
            <a:endParaRPr lang="en-US" altLang="zh-CN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原骨干网 － 1</a:t>
            </a:r>
            <a:r>
              <a:rPr lang="en-US" altLang="zh-CN"/>
              <a:t>Gbps</a:t>
            </a:r>
          </a:p>
          <a:p>
            <a:pPr eaLnBrk="1" hangingPunct="1"/>
            <a:r>
              <a:rPr lang="en-US" altLang="zh-CN"/>
              <a:t>Internet 2 – 10Gbps</a:t>
            </a:r>
          </a:p>
          <a:p>
            <a:pPr eaLnBrk="1" hangingPunct="1"/>
            <a:r>
              <a:rPr lang="en-US" altLang="zh-CN"/>
              <a:t>(</a:t>
            </a:r>
            <a:r>
              <a:rPr lang="zh-CN" altLang="en-US"/>
              <a:t>信息学院内100个点）</a:t>
            </a:r>
          </a:p>
        </p:txBody>
      </p:sp>
    </p:spTree>
    <p:extLst>
      <p:ext uri="{BB962C8B-B14F-4D97-AF65-F5344CB8AC3E}">
        <p14:creationId xmlns:p14="http://schemas.microsoft.com/office/powerpoint/2010/main" val="37695444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1A2841A-AAF1-429B-8DEC-A75570A5DB5D}" type="slidenum">
              <a:rPr lang="zh-CN" altLang="en-US" smtClean="0"/>
              <a:pPr>
                <a:spcBef>
                  <a:spcPct val="0"/>
                </a:spcBef>
              </a:pPr>
              <a:t>34</a:t>
            </a:fld>
            <a:endParaRPr lang="en-US" altLang="zh-CN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原骨干网 － 1</a:t>
            </a:r>
            <a:r>
              <a:rPr lang="en-US" altLang="zh-CN"/>
              <a:t>Gbps</a:t>
            </a:r>
          </a:p>
          <a:p>
            <a:pPr eaLnBrk="1" hangingPunct="1"/>
            <a:r>
              <a:rPr lang="en-US" altLang="zh-CN"/>
              <a:t>Internet 2 – 10Gbps</a:t>
            </a:r>
          </a:p>
          <a:p>
            <a:pPr eaLnBrk="1" hangingPunct="1"/>
            <a:r>
              <a:rPr lang="en-US" altLang="zh-CN"/>
              <a:t>(</a:t>
            </a:r>
            <a:r>
              <a:rPr lang="zh-CN" altLang="en-US"/>
              <a:t>信息学院内100个点）</a:t>
            </a:r>
          </a:p>
        </p:txBody>
      </p:sp>
    </p:spTree>
    <p:extLst>
      <p:ext uri="{BB962C8B-B14F-4D97-AF65-F5344CB8AC3E}">
        <p14:creationId xmlns:p14="http://schemas.microsoft.com/office/powerpoint/2010/main" val="31060205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F9BA453-3250-4A0A-BC19-CD60042AB5B3}" type="slidenum">
              <a:rPr lang="zh-CN" altLang="en-US" smtClean="0"/>
              <a:pPr>
                <a:spcBef>
                  <a:spcPct val="0"/>
                </a:spcBef>
              </a:pPr>
              <a:t>35</a:t>
            </a:fld>
            <a:endParaRPr lang="en-US" altLang="zh-CN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原骨干网 － 1</a:t>
            </a:r>
            <a:r>
              <a:rPr lang="en-US" altLang="zh-CN"/>
              <a:t>Gbps</a:t>
            </a:r>
          </a:p>
          <a:p>
            <a:pPr eaLnBrk="1" hangingPunct="1"/>
            <a:r>
              <a:rPr lang="en-US" altLang="zh-CN"/>
              <a:t>Internet 2 – 10Gbps</a:t>
            </a:r>
          </a:p>
          <a:p>
            <a:pPr eaLnBrk="1" hangingPunct="1"/>
            <a:r>
              <a:rPr lang="en-US" altLang="zh-CN"/>
              <a:t>(</a:t>
            </a:r>
            <a:r>
              <a:rPr lang="zh-CN" altLang="en-US"/>
              <a:t>信息学院内100个点）</a:t>
            </a:r>
          </a:p>
        </p:txBody>
      </p:sp>
    </p:spTree>
    <p:extLst>
      <p:ext uri="{BB962C8B-B14F-4D97-AF65-F5344CB8AC3E}">
        <p14:creationId xmlns:p14="http://schemas.microsoft.com/office/powerpoint/2010/main" val="40975339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6A3222B-8078-45B3-850E-8B1B81AB09A7}" type="slidenum">
              <a:rPr lang="zh-CN" altLang="en-US" smtClean="0"/>
              <a:pPr>
                <a:spcBef>
                  <a:spcPct val="0"/>
                </a:spcBef>
              </a:pPr>
              <a:t>36</a:t>
            </a:fld>
            <a:endParaRPr lang="en-US" altLang="zh-CN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原骨干网 － 1</a:t>
            </a:r>
            <a:r>
              <a:rPr lang="en-US" altLang="zh-CN"/>
              <a:t>Gbps</a:t>
            </a:r>
          </a:p>
          <a:p>
            <a:pPr eaLnBrk="1" hangingPunct="1"/>
            <a:r>
              <a:rPr lang="en-US" altLang="zh-CN"/>
              <a:t>Internet 2 – 10Gbps</a:t>
            </a:r>
          </a:p>
          <a:p>
            <a:pPr eaLnBrk="1" hangingPunct="1"/>
            <a:r>
              <a:rPr lang="en-US" altLang="zh-CN"/>
              <a:t>(</a:t>
            </a:r>
            <a:r>
              <a:rPr lang="zh-CN" altLang="en-US"/>
              <a:t>信息学院内100个点）</a:t>
            </a:r>
          </a:p>
        </p:txBody>
      </p:sp>
    </p:spTree>
    <p:extLst>
      <p:ext uri="{BB962C8B-B14F-4D97-AF65-F5344CB8AC3E}">
        <p14:creationId xmlns:p14="http://schemas.microsoft.com/office/powerpoint/2010/main" val="19964491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DA23F86-3EA2-431D-9592-6403726E34E7}" type="slidenum">
              <a:rPr lang="zh-CN" altLang="en-US" smtClean="0"/>
              <a:pPr>
                <a:spcBef>
                  <a:spcPct val="0"/>
                </a:spcBef>
              </a:pPr>
              <a:t>37</a:t>
            </a:fld>
            <a:endParaRPr lang="en-US" altLang="zh-CN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原骨干网 － 1</a:t>
            </a:r>
            <a:r>
              <a:rPr lang="en-US" altLang="zh-CN"/>
              <a:t>Gbps</a:t>
            </a:r>
          </a:p>
          <a:p>
            <a:pPr eaLnBrk="1" hangingPunct="1"/>
            <a:r>
              <a:rPr lang="en-US" altLang="zh-CN"/>
              <a:t>Internet 2 – 10Gbps</a:t>
            </a:r>
          </a:p>
          <a:p>
            <a:pPr eaLnBrk="1" hangingPunct="1"/>
            <a:r>
              <a:rPr lang="en-US" altLang="zh-CN"/>
              <a:t>(</a:t>
            </a:r>
            <a:r>
              <a:rPr lang="zh-CN" altLang="en-US"/>
              <a:t>信息学院内100个点）</a:t>
            </a:r>
          </a:p>
        </p:txBody>
      </p:sp>
    </p:spTree>
    <p:extLst>
      <p:ext uri="{BB962C8B-B14F-4D97-AF65-F5344CB8AC3E}">
        <p14:creationId xmlns:p14="http://schemas.microsoft.com/office/powerpoint/2010/main" val="13502748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46F1F59-2A6A-4BC9-ABEC-BAFD09B3E546}" type="slidenum">
              <a:rPr lang="zh-CN" altLang="en-US" smtClean="0"/>
              <a:pPr>
                <a:spcBef>
                  <a:spcPct val="0"/>
                </a:spcBef>
              </a:pPr>
              <a:t>39</a:t>
            </a:fld>
            <a:endParaRPr lang="en-US" altLang="zh-CN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原骨干网 － 1</a:t>
            </a:r>
            <a:r>
              <a:rPr lang="en-US" altLang="zh-CN"/>
              <a:t>Gbps</a:t>
            </a:r>
          </a:p>
          <a:p>
            <a:pPr eaLnBrk="1" hangingPunct="1"/>
            <a:r>
              <a:rPr lang="en-US" altLang="zh-CN"/>
              <a:t>Internet 2 – 10Gbps</a:t>
            </a:r>
          </a:p>
          <a:p>
            <a:pPr eaLnBrk="1" hangingPunct="1"/>
            <a:r>
              <a:rPr lang="en-US" altLang="zh-CN"/>
              <a:t>(</a:t>
            </a:r>
            <a:r>
              <a:rPr lang="zh-CN" altLang="en-US"/>
              <a:t>信息学院内100个点）</a:t>
            </a:r>
          </a:p>
        </p:txBody>
      </p:sp>
    </p:spTree>
    <p:extLst>
      <p:ext uri="{BB962C8B-B14F-4D97-AF65-F5344CB8AC3E}">
        <p14:creationId xmlns:p14="http://schemas.microsoft.com/office/powerpoint/2010/main" val="523631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paint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2880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7721600" cy="1143000"/>
          </a:xfrm>
        </p:spPr>
        <p:txBody>
          <a:bodyPr/>
          <a:lstStyle>
            <a:lvl1pPr>
              <a:defRPr kumimoji="0" sz="48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zh-CN" noProof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3886200"/>
            <a:ext cx="6400800" cy="1771650"/>
          </a:xfrm>
        </p:spPr>
        <p:txBody>
          <a:bodyPr/>
          <a:lstStyle>
            <a:lvl1pPr marL="0" indent="0">
              <a:spcBef>
                <a:spcPct val="0"/>
              </a:spcBef>
              <a:buClrTx/>
              <a:buFontTx/>
              <a:buNone/>
              <a:defRPr kumimoji="0">
                <a:solidFill>
                  <a:srgbClr val="000000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11200" y="6229350"/>
            <a:ext cx="1930400" cy="5143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 kumimoji="0" sz="1400" b="0">
                <a:solidFill>
                  <a:srgbClr val="5E574E"/>
                </a:solidFill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49600" y="6229350"/>
            <a:ext cx="2844800" cy="5143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 kumimoji="0" sz="1400" b="0">
                <a:solidFill>
                  <a:srgbClr val="5E574E"/>
                </a:solidFill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04000" y="6229350"/>
            <a:ext cx="1828800" cy="514350"/>
          </a:xfrm>
        </p:spPr>
        <p:txBody>
          <a:bodyPr/>
          <a:lstStyle>
            <a:lvl1pPr>
              <a:defRPr sz="1400" b="0">
                <a:solidFill>
                  <a:srgbClr val="5E574E"/>
                </a:solidFill>
                <a:effectLst/>
              </a:defRPr>
            </a:lvl1pPr>
          </a:lstStyle>
          <a:p>
            <a:pPr>
              <a:defRPr/>
            </a:pPr>
            <a:fld id="{45F5A679-72F5-4455-993C-2D8DEF758D0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1551606"/>
      </p:ext>
    </p:extLst>
  </p:cSld>
  <p:clrMapOvr>
    <a:masterClrMapping/>
  </p:clrMapOvr>
  <p:transition advTm="37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8C2E7C-0936-4650-95F0-618AE71A106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0940288"/>
      </p:ext>
    </p:extLst>
  </p:cSld>
  <p:clrMapOvr>
    <a:masterClrMapping/>
  </p:clrMapOvr>
  <p:transition advTm="370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18608E-0365-4953-960A-E15C3CA5142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9321615"/>
      </p:ext>
    </p:extLst>
  </p:cSld>
  <p:clrMapOvr>
    <a:masterClrMapping/>
  </p:clrMapOvr>
  <p:transition advTm="370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295400"/>
            <a:ext cx="40132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70400" y="1295400"/>
            <a:ext cx="40132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DB5809-8043-4E21-97EA-0D02334EDB0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036844"/>
      </p:ext>
    </p:extLst>
  </p:cSld>
  <p:clrMapOvr>
    <a:masterClrMapping/>
  </p:clrMapOvr>
  <p:transition advTm="370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9AFBE9-F887-4BE4-AEFB-58F13A68A0D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8270709"/>
      </p:ext>
    </p:extLst>
  </p:cSld>
  <p:clrMapOvr>
    <a:masterClrMapping/>
  </p:clrMapOvr>
  <p:transition advTm="370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3ACE12-4E48-4921-8AC2-9CCD61A678C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2282354"/>
      </p:ext>
    </p:extLst>
  </p:cSld>
  <p:clrMapOvr>
    <a:masterClrMapping/>
  </p:clrMapOvr>
  <p:transition advTm="37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18C148-9E96-48CC-AC11-EEB949FCD3B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5264195"/>
      </p:ext>
    </p:extLst>
  </p:cSld>
  <p:clrMapOvr>
    <a:masterClrMapping/>
  </p:clrMapOvr>
  <p:transition advTm="370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4EE4B1-583D-4B9E-98AF-ECD7812BB3C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8384444"/>
      </p:ext>
    </p:extLst>
  </p:cSld>
  <p:clrMapOvr>
    <a:masterClrMapping/>
  </p:clrMapOvr>
  <p:transition advTm="370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A3AB06-3F73-4A5A-8C44-3C7A72D15EF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6512886"/>
      </p:ext>
    </p:extLst>
  </p:cSld>
  <p:clrMapOvr>
    <a:masterClrMapping/>
  </p:clrMapOvr>
  <p:transition advTm="370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9D92F1-B429-406E-950E-E94CC9314FA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2989190"/>
      </p:ext>
    </p:extLst>
  </p:cSld>
  <p:clrMapOvr>
    <a:masterClrMapping/>
  </p:clrMapOvr>
  <p:transition advTm="370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38900" y="228600"/>
            <a:ext cx="2044700" cy="5867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228600"/>
            <a:ext cx="5981700" cy="5867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ED70D0-FDAD-4795-A278-95FE0258FD5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4964874"/>
      </p:ext>
    </p:extLst>
  </p:cSld>
  <p:clrMapOvr>
    <a:masterClrMapping/>
  </p:clrMapOvr>
  <p:transition advTm="370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4013200" cy="4800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470400" y="1295400"/>
            <a:ext cx="4013200" cy="48006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12E79D-999B-4C24-A9F2-9D0ED3A11A7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8114695"/>
      </p:ext>
    </p:extLst>
  </p:cSld>
  <p:clrMapOvr>
    <a:masterClrMapping/>
  </p:clrMapOvr>
  <p:transition advTm="370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04800" y="228600"/>
            <a:ext cx="8178800" cy="586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5A0022-C667-4B39-B8DC-C1C29C70FA8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6338505"/>
      </p:ext>
    </p:extLst>
  </p:cSld>
  <p:clrMapOvr>
    <a:masterClrMapping/>
  </p:clrMapOvr>
  <p:transition advTm="370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2286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295400"/>
            <a:ext cx="81788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82000" y="640080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kumimoji="0" sz="240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8337CFD-3BB1-498E-8128-03CAE57723C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029" name="Picture 7" descr="paint"/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3820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40" r:id="rId1"/>
    <p:sldLayoutId id="2147484028" r:id="rId2"/>
    <p:sldLayoutId id="2147484029" r:id="rId3"/>
    <p:sldLayoutId id="2147484030" r:id="rId4"/>
    <p:sldLayoutId id="2147484031" r:id="rId5"/>
    <p:sldLayoutId id="2147484032" r:id="rId6"/>
    <p:sldLayoutId id="2147484033" r:id="rId7"/>
    <p:sldLayoutId id="2147484034" r:id="rId8"/>
    <p:sldLayoutId id="2147484035" r:id="rId9"/>
    <p:sldLayoutId id="2147484036" r:id="rId10"/>
    <p:sldLayoutId id="2147484037" r:id="rId11"/>
    <p:sldLayoutId id="2147484038" r:id="rId12"/>
    <p:sldLayoutId id="2147484039" r:id="rId13"/>
  </p:sldLayoutIdLst>
  <p:transition advTm="3700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Monotype Sorts" pitchFamily="2" charset="2"/>
        <a:buChar char="z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Monotype Sorts" pitchFamily="2" charset="2"/>
        <a:buChar char="y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Monotype Sorts" pitchFamily="2" charset="2"/>
        <a:buChar char="x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11" Type="http://schemas.openxmlformats.org/officeDocument/2006/relationships/image" Target="../media/image13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4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11" Type="http://schemas.openxmlformats.org/officeDocument/2006/relationships/image" Target="../media/image18.png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8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22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3.wmf"/><Relationship Id="rId9" Type="http://schemas.openxmlformats.org/officeDocument/2006/relationships/image" Target="../media/image25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431800" y="685800"/>
            <a:ext cx="8243888" cy="1014413"/>
          </a:xfrm>
        </p:spPr>
        <p:txBody>
          <a:bodyPr/>
          <a:lstStyle/>
          <a:p>
            <a:pPr algn="ctr" eaLnBrk="1" hangingPunct="1"/>
            <a:r>
              <a:rPr kumimoji="1" lang="zh-CN" altLang="en-US" sz="6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机械设计课程设计</a:t>
            </a:r>
            <a:endParaRPr kumimoji="1" lang="en-US" altLang="zh-CN" sz="60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3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979613" y="4892675"/>
            <a:ext cx="5113337" cy="1295400"/>
          </a:xfrm>
        </p:spPr>
        <p:txBody>
          <a:bodyPr/>
          <a:lstStyle/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zh-CN" altLang="en-US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机械设计课程组</a:t>
            </a:r>
            <a:endParaRPr kumimoji="1" lang="zh-CN" altLang="zh-CN" sz="2800" b="1" dirty="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zh-CN" altLang="en-US" sz="28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kumimoji="1" lang="en-US" altLang="zh-CN" sz="28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kumimoji="1" lang="zh-CN" altLang="en-US" sz="28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二三年三月</a:t>
            </a:r>
          </a:p>
        </p:txBody>
      </p:sp>
      <p:sp>
        <p:nvSpPr>
          <p:cNvPr id="5124" name="Rectangle 1028"/>
          <p:cNvSpPr>
            <a:spLocks noChangeArrowheads="1"/>
          </p:cNvSpPr>
          <p:nvPr/>
        </p:nvSpPr>
        <p:spPr bwMode="auto">
          <a:xfrm>
            <a:off x="1692275" y="3884613"/>
            <a:ext cx="583247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西南交通大学机械工程学院</a:t>
            </a:r>
          </a:p>
        </p:txBody>
      </p:sp>
      <p:grpSp>
        <p:nvGrpSpPr>
          <p:cNvPr id="5125" name="组合 4"/>
          <p:cNvGrpSpPr>
            <a:grpSpLocks/>
          </p:cNvGrpSpPr>
          <p:nvPr/>
        </p:nvGrpSpPr>
        <p:grpSpPr bwMode="auto">
          <a:xfrm>
            <a:off x="3295650" y="2562225"/>
            <a:ext cx="2625725" cy="977900"/>
            <a:chOff x="3295082" y="2561790"/>
            <a:chExt cx="2626859" cy="978898"/>
          </a:xfrm>
        </p:grpSpPr>
        <p:pic>
          <p:nvPicPr>
            <p:cNvPr id="5126" name="图片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68" t="27516" r="24860" b="44830"/>
            <a:stretch>
              <a:fillRect/>
            </a:stretch>
          </p:blipFill>
          <p:spPr bwMode="auto">
            <a:xfrm>
              <a:off x="3295082" y="2561790"/>
              <a:ext cx="2626859" cy="978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27" name="矩形 3"/>
            <p:cNvSpPr>
              <a:spLocks noChangeArrowheads="1"/>
            </p:cNvSpPr>
            <p:nvPr/>
          </p:nvSpPr>
          <p:spPr bwMode="auto">
            <a:xfrm>
              <a:off x="4053035" y="2561790"/>
              <a:ext cx="382232" cy="2169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18288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5000"/>
                </a:lnSpc>
                <a:spcBef>
                  <a:spcPct val="30000"/>
                </a:spcBef>
                <a:buClr>
                  <a:srgbClr val="A50021"/>
                </a:buClr>
                <a:buFont typeface="Monotype Sorts" pitchFamily="2" charset="2"/>
                <a:buChar char="v"/>
              </a:pPr>
              <a:endParaRPr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</p:spTree>
  </p:cSld>
  <p:clrMapOvr>
    <a:masterClrMapping/>
  </p:clrMapOvr>
  <p:transition advTm="37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9683509E-AC01-432C-9FBE-E3FCD19CEA56}" type="slidenum">
              <a:rPr kumimoji="0" lang="zh-CN" altLang="en-US" sz="2400" smtClean="0">
                <a:solidFill>
                  <a:srgbClr val="0000CC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2</a:t>
            </a:fld>
            <a:endParaRPr kumimoji="0" lang="en-US" altLang="zh-CN" sz="240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7772400" cy="609600"/>
          </a:xfrm>
        </p:spPr>
        <p:txBody>
          <a:bodyPr/>
          <a:lstStyle/>
          <a:p>
            <a:pPr algn="ctr" eaLnBrk="1" hangingPunct="1"/>
            <a:r>
              <a:rPr lang="zh-CN" altLang="en-US" sz="44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第一次布置 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0238" y="1762125"/>
            <a:ext cx="8083550" cy="4343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rgbClr val="A50021"/>
              </a:buClr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 课程设计的目的、内容及要求</a:t>
            </a:r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 课程设计准备工作</a:t>
            </a:r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 传动装置的总体设计 </a:t>
            </a:r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 计算传动装置的总传动比及分配各级传动比 </a:t>
            </a:r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 传动装置的运动和动力参数的计算</a:t>
            </a:r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 传动零件的设计计算 </a:t>
            </a:r>
          </a:p>
          <a:p>
            <a:pPr eaLnBrk="1" hangingPunct="1">
              <a:lnSpc>
                <a:spcPct val="90000"/>
              </a:lnSpc>
              <a:buClr>
                <a:srgbClr val="A50021"/>
              </a:buClr>
              <a:buFont typeface="Wingdings" panose="05000000000000000000" pitchFamily="2" charset="2"/>
              <a:buChar char="Ø"/>
            </a:pP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Tm="37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0000D7C3-963E-499F-BBE8-7099D804F180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3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课程设计的目的、内容及要求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930400"/>
            <a:ext cx="7848600" cy="1517650"/>
          </a:xfrm>
        </p:spPr>
        <p:txBody>
          <a:bodyPr/>
          <a:lstStyle/>
          <a:p>
            <a:pPr marL="533400" indent="-533400" algn="just" eaLnBrk="1" hangingPunct="1">
              <a:lnSpc>
                <a:spcPct val="130000"/>
              </a:lnSpc>
              <a:buFont typeface="Monotype Sorts" pitchFamily="2" charset="2"/>
              <a:buNone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“两线”：课程教学→设计实践</a:t>
            </a:r>
          </a:p>
          <a:p>
            <a:pPr marL="533400" indent="-533400" algn="just" eaLnBrk="1" hangingPunct="1">
              <a:lnSpc>
                <a:spcPct val="130000"/>
              </a:lnSpc>
              <a:buFont typeface="Monotype Sorts" pitchFamily="2" charset="2"/>
              <a:buNone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“三性”：实践性、综合性、创新性</a:t>
            </a:r>
          </a:p>
        </p:txBody>
      </p:sp>
      <p:sp>
        <p:nvSpPr>
          <p:cNvPr id="8197" name="Rectangle 8"/>
          <p:cNvSpPr>
            <a:spLocks noChangeArrowheads="1"/>
          </p:cNvSpPr>
          <p:nvPr/>
        </p:nvSpPr>
        <p:spPr bwMode="auto">
          <a:xfrm>
            <a:off x="436563" y="1223963"/>
            <a:ext cx="2449512" cy="555625"/>
          </a:xfrm>
          <a:prstGeom prst="rect">
            <a:avLst/>
          </a:prstGeom>
          <a:solidFill>
            <a:srgbClr val="CCFFFF"/>
          </a:solidFill>
          <a:ln w="25400" algn="ctr">
            <a:solidFill>
              <a:srgbClr val="0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一、目的</a:t>
            </a:r>
          </a:p>
        </p:txBody>
      </p:sp>
      <p:sp>
        <p:nvSpPr>
          <p:cNvPr id="11274" name="Rectangle 10"/>
          <p:cNvSpPr>
            <a:spLocks noChangeArrowheads="1"/>
          </p:cNvSpPr>
          <p:nvPr/>
        </p:nvSpPr>
        <p:spPr bwMode="auto">
          <a:xfrm>
            <a:off x="638175" y="3476625"/>
            <a:ext cx="8208963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Font typeface="Monotype Sorts" pitchFamily="2" charset="2"/>
              <a:buNone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1、综合运用机械设计及其他先修课的知识，进行设计训练，使已学知识得以巩固、加深和扩展；</a:t>
            </a:r>
          </a:p>
        </p:txBody>
      </p:sp>
      <p:sp>
        <p:nvSpPr>
          <p:cNvPr id="11276" name="Rectangle 12"/>
          <p:cNvSpPr>
            <a:spLocks noChangeArrowheads="1"/>
          </p:cNvSpPr>
          <p:nvPr/>
        </p:nvSpPr>
        <p:spPr bwMode="auto">
          <a:xfrm>
            <a:off x="638175" y="4786313"/>
            <a:ext cx="8280400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2、学习和掌握通用机械零件、部件、机械传动及一般机械的基本设计方法和步骤，培养工程设计能力和分析问题、解决问题的能力；</a:t>
            </a:r>
          </a:p>
        </p:txBody>
      </p:sp>
    </p:spTree>
  </p:cSld>
  <p:clrMapOvr>
    <a:masterClrMapping/>
  </p:clrMapOvr>
  <p:transition advTm="37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  <p:bldP spid="11274" grpId="0"/>
      <p:bldP spid="1127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B1BA783E-BF29-4304-986A-4E184F4C9756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4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19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课程设计的目的、内容及要求</a:t>
            </a: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854075" y="1389063"/>
            <a:ext cx="7886700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marL="534988" indent="-534988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Monotype Sorts" pitchFamily="2" charset="2"/>
              <a:buNone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3、提高计算、制图、运用设计资料（手册、 图册）进行经验估算及考虑技术决策等机械设计方面的基本技能。 </a:t>
            </a:r>
          </a:p>
        </p:txBody>
      </p:sp>
      <p:sp>
        <p:nvSpPr>
          <p:cNvPr id="141318" name="Rectangle 6"/>
          <p:cNvSpPr>
            <a:spLocks noChangeArrowheads="1"/>
          </p:cNvSpPr>
          <p:nvPr/>
        </p:nvSpPr>
        <p:spPr bwMode="auto">
          <a:xfrm>
            <a:off x="250825" y="3386138"/>
            <a:ext cx="7118350" cy="604837"/>
          </a:xfrm>
          <a:prstGeom prst="rect">
            <a:avLst/>
          </a:prstGeom>
          <a:solidFill>
            <a:srgbClr val="CCFFFF"/>
          </a:solidFill>
          <a:ln w="25400" algn="ctr">
            <a:solidFill>
              <a:srgbClr val="0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b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二、内容：设计一般机械中的传动装置</a:t>
            </a:r>
          </a:p>
        </p:txBody>
      </p:sp>
      <p:grpSp>
        <p:nvGrpSpPr>
          <p:cNvPr id="141323" name="Group 11"/>
          <p:cNvGrpSpPr>
            <a:grpSpLocks/>
          </p:cNvGrpSpPr>
          <p:nvPr/>
        </p:nvGrpSpPr>
        <p:grpSpPr bwMode="auto">
          <a:xfrm>
            <a:off x="107950" y="4392613"/>
            <a:ext cx="9115425" cy="1268412"/>
            <a:chOff x="68" y="2767"/>
            <a:chExt cx="5742" cy="799"/>
          </a:xfrm>
        </p:grpSpPr>
        <p:sp>
          <p:nvSpPr>
            <p:cNvPr id="9224" name="Rectangle 17"/>
            <p:cNvSpPr>
              <a:spLocks noChangeArrowheads="1"/>
            </p:cNvSpPr>
            <p:nvPr/>
          </p:nvSpPr>
          <p:spPr bwMode="auto">
            <a:xfrm>
              <a:off x="203" y="2767"/>
              <a:ext cx="1452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sy="-100000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zh-CN" altLang="en-US" sz="2800">
                  <a:solidFill>
                    <a:srgbClr val="A5002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1、题目：       </a:t>
              </a:r>
            </a:p>
          </p:txBody>
        </p:sp>
        <p:sp>
          <p:nvSpPr>
            <p:cNvPr id="9225" name="Rectangle 8"/>
            <p:cNvSpPr>
              <a:spLocks noChangeArrowheads="1"/>
            </p:cNvSpPr>
            <p:nvPr/>
          </p:nvSpPr>
          <p:spPr bwMode="auto">
            <a:xfrm>
              <a:off x="68" y="3236"/>
              <a:ext cx="574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b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①带式运输机的</a:t>
              </a:r>
              <a:r>
                <a:rPr lang="zh-CN" altLang="en-US" sz="28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双级斜齿圆柱齿轮</a:t>
              </a:r>
              <a:r>
                <a: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减速器 </a:t>
              </a:r>
              <a:r>
                <a:rPr lang="en-US" altLang="zh-CN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含带设计</a:t>
              </a:r>
              <a:r>
                <a:rPr lang="en-US" altLang="zh-CN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</p:grpSp>
      <p:sp>
        <p:nvSpPr>
          <p:cNvPr id="141322" name="Rectangle 10"/>
          <p:cNvSpPr>
            <a:spLocks noChangeArrowheads="1"/>
          </p:cNvSpPr>
          <p:nvPr/>
        </p:nvSpPr>
        <p:spPr bwMode="auto">
          <a:xfrm>
            <a:off x="176213" y="5900738"/>
            <a:ext cx="6445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b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     ②带式运输机的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锥—圆柱齿轮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减速器</a:t>
            </a:r>
          </a:p>
        </p:txBody>
      </p:sp>
    </p:spTree>
  </p:cSld>
  <p:clrMapOvr>
    <a:masterClrMapping/>
  </p:clrMapOvr>
  <p:transition advTm="37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8" grpId="0" animBg="1"/>
      <p:bldP spid="1413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8DF62DE1-DA89-4BF1-983B-41CF934E0361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5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4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150" y="1785938"/>
            <a:ext cx="4968875" cy="424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Rectangle 5"/>
          <p:cNvSpPr>
            <a:spLocks noChangeArrowheads="1"/>
          </p:cNvSpPr>
          <p:nvPr/>
        </p:nvSpPr>
        <p:spPr bwMode="auto">
          <a:xfrm>
            <a:off x="406400" y="2286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课程设计的目的、内容及要求</a:t>
            </a: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1149350" y="6300788"/>
            <a:ext cx="7620000" cy="382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sy="-100000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30000"/>
              </a:spcBef>
              <a:buClr>
                <a:srgbClr val="A50021"/>
              </a:buClr>
              <a:buFont typeface="Monotype Sorts" pitchFamily="2" charset="2"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1—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电动机；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2—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带传动；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3—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减速器；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4—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联轴器；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5—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鼓轮；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6—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传送带</a:t>
            </a:r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817563" y="1196975"/>
            <a:ext cx="7570787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sy="-100000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30000"/>
              </a:spcBef>
              <a:buClr>
                <a:srgbClr val="A50021"/>
              </a:buClr>
              <a:buFont typeface="Monotype Sorts" pitchFamily="2" charset="2"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①带式运输机的双级斜齿圆柱齿轮减速器（含带设计）</a:t>
            </a:r>
          </a:p>
        </p:txBody>
      </p:sp>
    </p:spTree>
  </p:cSld>
  <p:clrMapOvr>
    <a:masterClrMapping/>
  </p:clrMapOvr>
  <p:transition advTm="370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24469773-0FA7-4262-9BDC-5FF84C478F11}" type="slidenum">
              <a:rPr kumimoji="0" lang="zh-CN" altLang="en-US" sz="2400" smtClean="0">
                <a:solidFill>
                  <a:srgbClr val="0000CC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6</a:t>
            </a:fld>
            <a:endParaRPr kumimoji="0" lang="en-US" altLang="zh-CN" sz="240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pic>
        <p:nvPicPr>
          <p:cNvPr id="11267" name="Picture 4" descr="Untitled-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050" y="1628775"/>
            <a:ext cx="7007225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Rectangle 5"/>
          <p:cNvSpPr>
            <a:spLocks noChangeArrowheads="1"/>
          </p:cNvSpPr>
          <p:nvPr/>
        </p:nvSpPr>
        <p:spPr bwMode="auto">
          <a:xfrm>
            <a:off x="406400" y="2286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课程设计的目的、内容及要求</a:t>
            </a:r>
          </a:p>
        </p:txBody>
      </p:sp>
    </p:spTree>
  </p:cSld>
  <p:clrMapOvr>
    <a:masterClrMapping/>
  </p:clrMapOvr>
  <p:transition advTm="37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02583496-8652-4B95-B74C-BE5C7A47302A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7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11313" name="Group 3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127553"/>
              </p:ext>
            </p:extLst>
          </p:nvPr>
        </p:nvGraphicFramePr>
        <p:xfrm>
          <a:off x="539750" y="1700213"/>
          <a:ext cx="8496300" cy="4392613"/>
        </p:xfrm>
        <a:graphic>
          <a:graphicData uri="http://schemas.openxmlformats.org/drawingml/2006/table">
            <a:tbl>
              <a:tblPr/>
              <a:tblGrid>
                <a:gridCol w="266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8420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  已知条件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10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数    据    编    号（根据学号后一位）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I-1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I-2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I-3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I-4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I-5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I-6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I-7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I-8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I-9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I-0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鼓轮直径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(mm)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300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330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350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350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380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300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360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320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360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380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传送带运行速度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m/s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0.63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0.75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0.85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0.8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0.8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0.7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0.84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0.75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0.8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0.85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2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传送带从动轴所需扭矩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N•m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1000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970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850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950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1050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900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860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900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1000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950</a:t>
                      </a:r>
                    </a:p>
                  </a:txBody>
                  <a:tcPr marL="0" marR="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355" name="Rectangle 350"/>
          <p:cNvSpPr>
            <a:spLocks noChangeArrowheads="1"/>
          </p:cNvSpPr>
          <p:nvPr/>
        </p:nvSpPr>
        <p:spPr bwMode="auto">
          <a:xfrm>
            <a:off x="406400" y="2286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课程设计的目的、内容及要求</a:t>
            </a:r>
          </a:p>
        </p:txBody>
      </p:sp>
    </p:spTree>
  </p:cSld>
  <p:clrMapOvr>
    <a:masterClrMapping/>
  </p:clrMapOvr>
  <p:transition advTm="37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E5CA6F05-8E66-40F9-B21E-391C7EAD4989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8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5" name="Rectangle 4"/>
          <p:cNvSpPr>
            <a:spLocks noChangeArrowheads="1"/>
          </p:cNvSpPr>
          <p:nvPr/>
        </p:nvSpPr>
        <p:spPr bwMode="auto">
          <a:xfrm>
            <a:off x="684213" y="1241425"/>
            <a:ext cx="54641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b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②带式运输机的锥——圆柱齿轮减速器</a:t>
            </a:r>
          </a:p>
        </p:txBody>
      </p:sp>
      <p:sp>
        <p:nvSpPr>
          <p:cNvPr id="13316" name="Rectangle 5"/>
          <p:cNvSpPr>
            <a:spLocks noChangeArrowheads="1"/>
          </p:cNvSpPr>
          <p:nvPr/>
        </p:nvSpPr>
        <p:spPr bwMode="auto">
          <a:xfrm>
            <a:off x="406400" y="2286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课程设计的目的、内容及要求</a:t>
            </a:r>
          </a:p>
        </p:txBody>
      </p:sp>
      <p:pic>
        <p:nvPicPr>
          <p:cNvPr id="13317" name="Picture 7" descr="未命名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989138"/>
            <a:ext cx="4714875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8" name="Text Box 8"/>
          <p:cNvSpPr txBox="1">
            <a:spLocks noChangeArrowheads="1"/>
          </p:cNvSpPr>
          <p:nvPr/>
        </p:nvSpPr>
        <p:spPr bwMode="auto">
          <a:xfrm>
            <a:off x="684213" y="5546725"/>
            <a:ext cx="4486275" cy="105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sy="-100000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30000"/>
              </a:spcBef>
              <a:buClr>
                <a:srgbClr val="A50021"/>
              </a:buClr>
              <a:buFont typeface="Monotype Sorts" pitchFamily="2" charset="2"/>
              <a:buNone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电动机；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联轴器；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减速器；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4—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鼓轮；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5—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传送带</a:t>
            </a:r>
          </a:p>
        </p:txBody>
      </p:sp>
      <p:graphicFrame>
        <p:nvGraphicFramePr>
          <p:cNvPr id="212024" name="Group 56"/>
          <p:cNvGraphicFramePr>
            <a:graphicFrameLocks noGrp="1"/>
          </p:cNvGraphicFramePr>
          <p:nvPr/>
        </p:nvGraphicFramePr>
        <p:xfrm>
          <a:off x="5400675" y="2414588"/>
          <a:ext cx="3635375" cy="3535362"/>
        </p:xfrm>
        <a:graphic>
          <a:graphicData uri="http://schemas.openxmlformats.org/drawingml/2006/table">
            <a:tbl>
              <a:tblPr/>
              <a:tblGrid>
                <a:gridCol w="72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7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7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69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已知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条件</a:t>
                      </a:r>
                    </a:p>
                  </a:txBody>
                  <a:tcPr marL="0" marR="0" marT="46803" marB="468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II-1</a:t>
                      </a:r>
                    </a:p>
                  </a:txBody>
                  <a:tcPr marL="0" marR="0" marT="46803" marB="468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II-2</a:t>
                      </a:r>
                    </a:p>
                  </a:txBody>
                  <a:tcPr marL="0" marR="0" marT="46803" marB="468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II-3</a:t>
                      </a:r>
                    </a:p>
                  </a:txBody>
                  <a:tcPr marL="0" marR="0" marT="46803" marB="468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II-4</a:t>
                      </a:r>
                    </a:p>
                  </a:txBody>
                  <a:tcPr marL="0" marR="0" marT="46803" marB="468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3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牵引</a:t>
                      </a:r>
                      <a:b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</a:b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力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(N)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0" marR="0" marT="46803" marB="468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6000</a:t>
                      </a:r>
                    </a:p>
                  </a:txBody>
                  <a:tcPr marL="0" marR="0" marT="46803" marB="468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7000</a:t>
                      </a:r>
                    </a:p>
                  </a:txBody>
                  <a:tcPr marL="0" marR="0" marT="46803" marB="468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8000</a:t>
                      </a:r>
                    </a:p>
                  </a:txBody>
                  <a:tcPr marL="0" marR="0" marT="46803" marB="468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9000</a:t>
                      </a:r>
                    </a:p>
                  </a:txBody>
                  <a:tcPr marL="0" marR="0" marT="46803" marB="468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4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传送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速度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(m/s)</a:t>
                      </a:r>
                    </a:p>
                  </a:txBody>
                  <a:tcPr marL="0" marR="0" marT="46803" marB="468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0.80</a:t>
                      </a:r>
                    </a:p>
                  </a:txBody>
                  <a:tcPr marL="0" marR="0" marT="46803" marB="468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0.85</a:t>
                      </a:r>
                    </a:p>
                  </a:txBody>
                  <a:tcPr marL="0" marR="0" marT="46803" marB="468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0.90</a:t>
                      </a:r>
                    </a:p>
                  </a:txBody>
                  <a:tcPr marL="0" marR="0" marT="46803" marB="468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0.95</a:t>
                      </a:r>
                    </a:p>
                  </a:txBody>
                  <a:tcPr marL="0" marR="0" marT="46803" marB="468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14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鼓轮</a:t>
                      </a:r>
                      <a:b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</a:b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直径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(mm)</a:t>
                      </a:r>
                    </a:p>
                  </a:txBody>
                  <a:tcPr marL="0" marR="0" marT="46803" marB="468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240</a:t>
                      </a:r>
                    </a:p>
                  </a:txBody>
                  <a:tcPr marL="0" marR="0" marT="46803" marB="468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220</a:t>
                      </a:r>
                    </a:p>
                  </a:txBody>
                  <a:tcPr marL="0" marR="0" marT="46803" marB="468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0" marR="0" marT="46803" marB="468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180</a:t>
                      </a:r>
                    </a:p>
                  </a:txBody>
                  <a:tcPr marL="0" marR="0" marT="46803" marB="4680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advTm="37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3A16CA8F-FCC1-4098-A53A-2E740C8A4BD8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9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3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课程设计的目的、内容及要求</a:t>
            </a:r>
          </a:p>
        </p:txBody>
      </p:sp>
      <p:sp>
        <p:nvSpPr>
          <p:cNvPr id="14340" name="Rectangle 3"/>
          <p:cNvSpPr>
            <a:spLocks noChangeArrowheads="1"/>
          </p:cNvSpPr>
          <p:nvPr/>
        </p:nvSpPr>
        <p:spPr bwMode="auto">
          <a:xfrm>
            <a:off x="550863" y="1182688"/>
            <a:ext cx="8640762" cy="116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2、内容：</a:t>
            </a:r>
          </a:p>
          <a:p>
            <a:pPr eaLnBrk="1" hangingPunct="1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（1）传动方案的分析和拟定；</a:t>
            </a:r>
          </a:p>
        </p:txBody>
      </p:sp>
      <p:sp>
        <p:nvSpPr>
          <p:cNvPr id="166917" name="Rectangle 5"/>
          <p:cNvSpPr>
            <a:spLocks noChangeArrowheads="1"/>
          </p:cNvSpPr>
          <p:nvPr/>
        </p:nvSpPr>
        <p:spPr bwMode="auto">
          <a:xfrm>
            <a:off x="550863" y="2419350"/>
            <a:ext cx="8421687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b">
            <a:spAutoFit/>
          </a:bodyPr>
          <a:lstStyle>
            <a:lvl1pPr marL="984250" indent="-9842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（2）电动机的选择，传动装置的运动和动力参数的计算；</a:t>
            </a:r>
          </a:p>
        </p:txBody>
      </p:sp>
      <p:sp>
        <p:nvSpPr>
          <p:cNvPr id="166919" name="Rectangle 7"/>
          <p:cNvSpPr>
            <a:spLocks noChangeArrowheads="1"/>
          </p:cNvSpPr>
          <p:nvPr/>
        </p:nvSpPr>
        <p:spPr bwMode="auto">
          <a:xfrm>
            <a:off x="550863" y="3644900"/>
            <a:ext cx="8215312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b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（3）传动件的设计（带传动、双级齿轮传动）；</a:t>
            </a:r>
          </a:p>
        </p:txBody>
      </p:sp>
      <p:sp>
        <p:nvSpPr>
          <p:cNvPr id="166921" name="Rectangle 9"/>
          <p:cNvSpPr>
            <a:spLocks noChangeArrowheads="1"/>
          </p:cNvSpPr>
          <p:nvPr/>
        </p:nvSpPr>
        <p:spPr bwMode="auto">
          <a:xfrm>
            <a:off x="550863" y="4229100"/>
            <a:ext cx="8593137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b">
            <a:spAutoFit/>
          </a:bodyPr>
          <a:lstStyle>
            <a:lvl1pPr marL="900113" indent="-900113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（4）轴的设计（所有轴的结构设计，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高速轴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的弯、扭组合强度校核及安全系数校核）；</a:t>
            </a:r>
          </a:p>
        </p:txBody>
      </p:sp>
      <p:sp>
        <p:nvSpPr>
          <p:cNvPr id="166923" name="Rectangle 11"/>
          <p:cNvSpPr>
            <a:spLocks noChangeArrowheads="1"/>
          </p:cNvSpPr>
          <p:nvPr/>
        </p:nvSpPr>
        <p:spPr bwMode="auto">
          <a:xfrm>
            <a:off x="550863" y="5456238"/>
            <a:ext cx="8478837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b">
            <a:spAutoFit/>
          </a:bodyPr>
          <a:lstStyle>
            <a:lvl1pPr marL="900113" indent="-900113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（5）轴承的设计（所有轴承的组合设计，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高速轴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上轴承的寿命计算）；</a:t>
            </a:r>
          </a:p>
        </p:txBody>
      </p:sp>
    </p:spTree>
  </p:cSld>
  <p:clrMapOvr>
    <a:masterClrMapping/>
  </p:clrMapOvr>
  <p:transition advTm="37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6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6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6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7" grpId="0"/>
      <p:bldP spid="166919" grpId="0"/>
      <p:bldP spid="166921" grpId="0"/>
      <p:bldP spid="1669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D410A896-651F-498A-882B-28A6A03930FC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10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3" name="Rectangle 14"/>
          <p:cNvSpPr>
            <a:spLocks noChangeArrowheads="1"/>
          </p:cNvSpPr>
          <p:nvPr/>
        </p:nvSpPr>
        <p:spPr bwMode="auto">
          <a:xfrm>
            <a:off x="406400" y="2286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课程设计的目的、内容及要求</a:t>
            </a:r>
          </a:p>
        </p:txBody>
      </p:sp>
      <p:sp>
        <p:nvSpPr>
          <p:cNvPr id="55312" name="Rectangle 16"/>
          <p:cNvSpPr>
            <a:spLocks noChangeArrowheads="1"/>
          </p:cNvSpPr>
          <p:nvPr/>
        </p:nvSpPr>
        <p:spPr bwMode="auto">
          <a:xfrm>
            <a:off x="367163" y="2025650"/>
            <a:ext cx="8654369" cy="4013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sy="-100000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900113" indent="-900113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（7）联轴器的选择；</a:t>
            </a:r>
          </a:p>
          <a:p>
            <a:pPr algn="just" eaLnBrk="1" hangingPunct="1">
              <a:lnSpc>
                <a:spcPct val="11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（8）减速器的润滑与密封；</a:t>
            </a:r>
          </a:p>
          <a:p>
            <a:pPr algn="just" eaLnBrk="1" hangingPunct="1">
              <a:lnSpc>
                <a:spcPct val="11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（9）减速器装配图设计（箱体、箱盖、附件设计等）</a:t>
            </a:r>
          </a:p>
          <a:p>
            <a:pPr algn="just" eaLnBrk="1" hangingPunct="1">
              <a:lnSpc>
                <a:spcPct val="11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（10）零件工作图设计；</a:t>
            </a:r>
          </a:p>
          <a:p>
            <a:pPr algn="just" eaLnBrk="1" hangingPunct="1">
              <a:lnSpc>
                <a:spcPct val="11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（11）编写设计计算说明书；</a:t>
            </a:r>
          </a:p>
          <a:p>
            <a:pPr algn="just" eaLnBrk="1" hangingPunct="1">
              <a:lnSpc>
                <a:spcPct val="11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（12）答辩。</a:t>
            </a:r>
          </a:p>
        </p:txBody>
      </p:sp>
      <p:sp>
        <p:nvSpPr>
          <p:cNvPr id="15365" name="Rectangle 6"/>
          <p:cNvSpPr>
            <a:spLocks noChangeArrowheads="1"/>
          </p:cNvSpPr>
          <p:nvPr/>
        </p:nvSpPr>
        <p:spPr bwMode="auto">
          <a:xfrm>
            <a:off x="367164" y="1392238"/>
            <a:ext cx="8294687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sy="-100000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（6）键的选择及强度校核 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高速轴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上键的校核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； </a:t>
            </a:r>
          </a:p>
        </p:txBody>
      </p:sp>
    </p:spTree>
  </p:cSld>
  <p:clrMapOvr>
    <a:masterClrMapping/>
  </p:clrMapOvr>
  <p:transition advTm="37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3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3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3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3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3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1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B6D96CE0-1FC0-49B4-9F3D-64C2603EF90B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11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325" name="Rectangle 5"/>
          <p:cNvSpPr>
            <a:spLocks noChangeArrowheads="1"/>
          </p:cNvSpPr>
          <p:nvPr/>
        </p:nvSpPr>
        <p:spPr bwMode="auto">
          <a:xfrm>
            <a:off x="700088" y="1233488"/>
            <a:ext cx="8253412" cy="535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sy="-100000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3、工作量：</a:t>
            </a:r>
          </a:p>
          <a:p>
            <a:pPr lvl="1" eaLnBrk="1" hangingPunct="1">
              <a:lnSpc>
                <a:spcPct val="11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　减速器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总装图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一张： 1</a:t>
            </a:r>
            <a:r>
              <a:rPr lang="zh-CN" altLang="en-US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图纸   比例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1：2</a:t>
            </a:r>
          </a:p>
          <a:p>
            <a:pPr lvl="1" algn="just" eaLnBrk="1" hangingPunct="1">
              <a:lnSpc>
                <a:spcPct val="11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②　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传动零件工作图一张：2</a:t>
            </a:r>
            <a:r>
              <a:rPr lang="zh-CN" altLang="en-US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图纸  比例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1：1</a:t>
            </a:r>
          </a:p>
          <a:p>
            <a:pPr lvl="1" algn="just" eaLnBrk="1" hangingPunct="1">
              <a:lnSpc>
                <a:spcPct val="11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绘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低速级大齿轮</a:t>
            </a:r>
          </a:p>
          <a:p>
            <a:pPr lvl="1" algn="just" eaLnBrk="1" hangingPunct="1">
              <a:lnSpc>
                <a:spcPct val="11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③　轴的工作图一张：2</a:t>
            </a:r>
            <a:r>
              <a:rPr lang="zh-CN" altLang="en-US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图纸   比例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1：1</a:t>
            </a:r>
          </a:p>
          <a:p>
            <a:pPr lvl="1" algn="just" eaLnBrk="1" hangingPunct="1">
              <a:lnSpc>
                <a:spcPct val="11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绘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输出轴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④　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设计计算说明书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一份：6000～8000字</a:t>
            </a:r>
          </a:p>
          <a:p>
            <a:pPr lvl="1" eaLnBrk="1" hangingPunct="1">
              <a:lnSpc>
                <a:spcPct val="11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（≥30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88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课程设计的目的、内容及要求</a:t>
            </a:r>
          </a:p>
        </p:txBody>
      </p:sp>
    </p:spTree>
  </p:cSld>
  <p:clrMapOvr>
    <a:masterClrMapping/>
  </p:clrMapOvr>
  <p:transition advTm="37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63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63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63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63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3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63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63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498F0B87-F170-4F56-B2A1-C8FDE9D14499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12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11" name="Rectangle 4"/>
          <p:cNvSpPr>
            <a:spLocks noChangeArrowheads="1"/>
          </p:cNvSpPr>
          <p:nvPr/>
        </p:nvSpPr>
        <p:spPr bwMode="auto">
          <a:xfrm>
            <a:off x="539750" y="26035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课程设计的目的、内容及要求</a:t>
            </a:r>
          </a:p>
        </p:txBody>
      </p:sp>
      <p:sp>
        <p:nvSpPr>
          <p:cNvPr id="60421" name="Rectangle 5"/>
          <p:cNvSpPr>
            <a:spLocks noChangeArrowheads="1"/>
          </p:cNvSpPr>
          <p:nvPr/>
        </p:nvSpPr>
        <p:spPr bwMode="auto">
          <a:xfrm>
            <a:off x="422275" y="1219200"/>
            <a:ext cx="8521700" cy="397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sy="-100000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801688" indent="-801688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40000"/>
              </a:spcBef>
              <a:buFont typeface="Monotype Sorts" pitchFamily="2" charset="2"/>
              <a:buNone/>
            </a:pPr>
            <a:r>
              <a:rPr lang="zh-CN" altLang="en-US" sz="2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4、进行方式：</a:t>
            </a:r>
          </a:p>
          <a:p>
            <a:pPr eaLnBrk="1" hangingPunct="1">
              <a:lnSpc>
                <a:spcPct val="130000"/>
              </a:lnSpc>
              <a:spcBef>
                <a:spcPct val="40000"/>
              </a:spcBef>
              <a:buFont typeface="Monotype Sorts" pitchFamily="2" charset="2"/>
              <a:buNone/>
            </a:pPr>
            <a:r>
              <a:rPr lang="zh-CN" altLang="en-US" sz="2800" b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①　每人一题，学生按</a:t>
            </a:r>
            <a:r>
              <a:rPr lang="zh-CN" altLang="en-US" sz="2800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指定题号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，在教师指导下，准时、保质、按量完成全部设计； </a:t>
            </a:r>
            <a:endParaRPr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hangingPunct="1">
              <a:lnSpc>
                <a:spcPct val="130000"/>
              </a:lnSpc>
              <a:spcBef>
                <a:spcPct val="40000"/>
              </a:spcBef>
              <a:buFont typeface="Monotype Sorts" pitchFamily="2" charset="2"/>
              <a:buNone/>
            </a:pP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 ②　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教师每周上课时间到教室进行指导、答疑和检查，其他时间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QQ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群答疑；</a:t>
            </a:r>
          </a:p>
          <a:p>
            <a:pPr algn="just" eaLnBrk="1" hangingPunct="1">
              <a:lnSpc>
                <a:spcPct val="130000"/>
              </a:lnSpc>
              <a:spcBef>
                <a:spcPct val="40000"/>
              </a:spcBef>
              <a:buFont typeface="Monotype Sorts" pitchFamily="2" charset="2"/>
              <a:buNone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 ③  </a:t>
            </a:r>
            <a:r>
              <a:rPr lang="zh-CN" altLang="en-US" sz="2800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手工绘图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正确、美观干净。</a:t>
            </a:r>
          </a:p>
        </p:txBody>
      </p:sp>
    </p:spTree>
  </p:cSld>
  <p:clrMapOvr>
    <a:masterClrMapping/>
  </p:clrMapOvr>
  <p:transition advTm="37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4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4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4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067AA684-23B5-4EC7-A069-57792CA81FC1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13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35" name="Rectangle 5"/>
          <p:cNvSpPr>
            <a:spLocks noChangeArrowheads="1"/>
          </p:cNvSpPr>
          <p:nvPr/>
        </p:nvSpPr>
        <p:spPr bwMode="auto">
          <a:xfrm>
            <a:off x="406400" y="2286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课程设计的目的、内容及要求</a:t>
            </a:r>
          </a:p>
        </p:txBody>
      </p:sp>
      <p:sp>
        <p:nvSpPr>
          <p:cNvPr id="59400" name="Rectangle 1032"/>
          <p:cNvSpPr>
            <a:spLocks noChangeArrowheads="1"/>
          </p:cNvSpPr>
          <p:nvPr/>
        </p:nvSpPr>
        <p:spPr bwMode="auto">
          <a:xfrm>
            <a:off x="925513" y="2130425"/>
            <a:ext cx="3816350" cy="137318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第一次布置：分题号、借图板、理论计算要点、进度安排等</a:t>
            </a:r>
          </a:p>
        </p:txBody>
      </p:sp>
      <p:sp>
        <p:nvSpPr>
          <p:cNvPr id="18437" name="Rectangle 1033"/>
          <p:cNvSpPr>
            <a:spLocks noChangeArrowheads="1"/>
          </p:cNvSpPr>
          <p:nvPr/>
        </p:nvSpPr>
        <p:spPr bwMode="auto">
          <a:xfrm>
            <a:off x="850900" y="1277938"/>
            <a:ext cx="2520950" cy="555625"/>
          </a:xfrm>
          <a:prstGeom prst="rect">
            <a:avLst/>
          </a:prstGeom>
          <a:solidFill>
            <a:srgbClr val="CCFFFF"/>
          </a:solidFill>
          <a:ln w="25400" algn="ctr">
            <a:solidFill>
              <a:srgbClr val="0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三、进度</a:t>
            </a:r>
          </a:p>
        </p:txBody>
      </p:sp>
      <p:grpSp>
        <p:nvGrpSpPr>
          <p:cNvPr id="59411" name="Group 1043"/>
          <p:cNvGrpSpPr>
            <a:grpSpLocks/>
          </p:cNvGrpSpPr>
          <p:nvPr/>
        </p:nvGrpSpPr>
        <p:grpSpPr bwMode="auto">
          <a:xfrm>
            <a:off x="4811713" y="1903413"/>
            <a:ext cx="4200525" cy="1757362"/>
            <a:chOff x="2653" y="976"/>
            <a:chExt cx="2858" cy="1107"/>
          </a:xfrm>
        </p:grpSpPr>
        <p:sp>
          <p:nvSpPr>
            <p:cNvPr id="18447" name="Rectangle 1035"/>
            <p:cNvSpPr>
              <a:spLocks noChangeArrowheads="1"/>
            </p:cNvSpPr>
            <p:nvPr/>
          </p:nvSpPr>
          <p:spPr bwMode="auto">
            <a:xfrm>
              <a:off x="3062" y="976"/>
              <a:ext cx="2449" cy="1107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b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35000"/>
                </a:spcBef>
                <a:buFont typeface="Monotype Sorts" pitchFamily="2" charset="2"/>
                <a:buNone/>
              </a:pPr>
              <a:r>
                <a: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传动装置的总体设计 </a:t>
              </a:r>
            </a:p>
            <a:p>
              <a:pPr algn="just" eaLnBrk="1" hangingPunct="1">
                <a:spcBef>
                  <a:spcPct val="35000"/>
                </a:spcBef>
                <a:buFont typeface="Monotype Sorts" pitchFamily="2" charset="2"/>
                <a:buNone/>
              </a:pPr>
              <a:r>
                <a: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传动件的设计</a:t>
              </a:r>
            </a:p>
            <a:p>
              <a:pPr algn="just" eaLnBrk="1" hangingPunct="1">
                <a:spcBef>
                  <a:spcPct val="35000"/>
                </a:spcBef>
                <a:buFont typeface="Monotype Sorts" pitchFamily="2" charset="2"/>
                <a:buNone/>
              </a:pPr>
              <a:r>
                <a: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轴结构设计</a:t>
              </a:r>
            </a:p>
          </p:txBody>
        </p:sp>
        <p:sp>
          <p:nvSpPr>
            <p:cNvPr id="18448" name="Line 1036"/>
            <p:cNvSpPr>
              <a:spLocks noChangeShapeType="1"/>
            </p:cNvSpPr>
            <p:nvPr/>
          </p:nvSpPr>
          <p:spPr bwMode="auto">
            <a:xfrm>
              <a:off x="2653" y="1661"/>
              <a:ext cx="409" cy="0"/>
            </a:xfrm>
            <a:prstGeom prst="line">
              <a:avLst/>
            </a:prstGeom>
            <a:noFill/>
            <a:ln w="635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b"/>
            <a:lstStyle/>
            <a:p>
              <a:endParaRPr lang="zh-CN" altLang="en-US"/>
            </a:p>
          </p:txBody>
        </p:sp>
      </p:grpSp>
      <p:sp>
        <p:nvSpPr>
          <p:cNvPr id="59405" name="Rectangle 1037"/>
          <p:cNvSpPr>
            <a:spLocks noChangeArrowheads="1"/>
          </p:cNvSpPr>
          <p:nvPr/>
        </p:nvSpPr>
        <p:spPr bwMode="auto">
          <a:xfrm>
            <a:off x="925513" y="3944938"/>
            <a:ext cx="3876675" cy="137318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第二次布置：装配草图的设计与绘制、减速器拆装 </a:t>
            </a:r>
          </a:p>
        </p:txBody>
      </p:sp>
      <p:grpSp>
        <p:nvGrpSpPr>
          <p:cNvPr id="59412" name="Group 1044"/>
          <p:cNvGrpSpPr>
            <a:grpSpLocks/>
          </p:cNvGrpSpPr>
          <p:nvPr/>
        </p:nvGrpSpPr>
        <p:grpSpPr bwMode="auto">
          <a:xfrm>
            <a:off x="4811713" y="4403725"/>
            <a:ext cx="4051300" cy="519113"/>
            <a:chOff x="2653" y="2630"/>
            <a:chExt cx="3085" cy="327"/>
          </a:xfrm>
        </p:grpSpPr>
        <p:sp>
          <p:nvSpPr>
            <p:cNvPr id="18445" name="Line 1038"/>
            <p:cNvSpPr>
              <a:spLocks noChangeShapeType="1"/>
            </p:cNvSpPr>
            <p:nvPr/>
          </p:nvSpPr>
          <p:spPr bwMode="auto">
            <a:xfrm>
              <a:off x="2653" y="2795"/>
              <a:ext cx="409" cy="0"/>
            </a:xfrm>
            <a:prstGeom prst="line">
              <a:avLst/>
            </a:prstGeom>
            <a:noFill/>
            <a:ln w="635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18446" name="Rectangle 1039"/>
            <p:cNvSpPr>
              <a:spLocks noChangeArrowheads="1"/>
            </p:cNvSpPr>
            <p:nvPr/>
          </p:nvSpPr>
          <p:spPr bwMode="auto">
            <a:xfrm>
              <a:off x="3062" y="2630"/>
              <a:ext cx="2676" cy="327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b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装配工作图的绘制</a:t>
              </a:r>
            </a:p>
          </p:txBody>
        </p:sp>
      </p:grpSp>
      <p:sp>
        <p:nvSpPr>
          <p:cNvPr id="59408" name="Rectangle 1040"/>
          <p:cNvSpPr>
            <a:spLocks noChangeArrowheads="1"/>
          </p:cNvSpPr>
          <p:nvPr/>
        </p:nvSpPr>
        <p:spPr bwMode="auto">
          <a:xfrm>
            <a:off x="925513" y="5715000"/>
            <a:ext cx="3860800" cy="94615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第三次布置：零件工作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图的设计与绘制</a:t>
            </a:r>
          </a:p>
        </p:txBody>
      </p:sp>
      <p:grpSp>
        <p:nvGrpSpPr>
          <p:cNvPr id="59413" name="Group 1045"/>
          <p:cNvGrpSpPr>
            <a:grpSpLocks/>
          </p:cNvGrpSpPr>
          <p:nvPr/>
        </p:nvGrpSpPr>
        <p:grpSpPr bwMode="auto">
          <a:xfrm>
            <a:off x="4884738" y="5751513"/>
            <a:ext cx="3816350" cy="946150"/>
            <a:chOff x="2699" y="3605"/>
            <a:chExt cx="2404" cy="596"/>
          </a:xfrm>
        </p:grpSpPr>
        <p:sp>
          <p:nvSpPr>
            <p:cNvPr id="18443" name="Rectangle 1041"/>
            <p:cNvSpPr>
              <a:spLocks noChangeArrowheads="1"/>
            </p:cNvSpPr>
            <p:nvPr/>
          </p:nvSpPr>
          <p:spPr bwMode="auto">
            <a:xfrm>
              <a:off x="3107" y="3605"/>
              <a:ext cx="1996" cy="596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b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编写设计说明书、总结和答辩</a:t>
              </a:r>
            </a:p>
          </p:txBody>
        </p:sp>
        <p:sp>
          <p:nvSpPr>
            <p:cNvPr id="18444" name="Line 1042"/>
            <p:cNvSpPr>
              <a:spLocks noChangeShapeType="1"/>
            </p:cNvSpPr>
            <p:nvPr/>
          </p:nvSpPr>
          <p:spPr bwMode="auto">
            <a:xfrm>
              <a:off x="2699" y="3884"/>
              <a:ext cx="363" cy="0"/>
            </a:xfrm>
            <a:prstGeom prst="line">
              <a:avLst/>
            </a:prstGeom>
            <a:noFill/>
            <a:ln w="635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b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advTm="37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00" grpId="0" animBg="1"/>
      <p:bldP spid="59405" grpId="0" animBg="1"/>
      <p:bldP spid="5940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366519-CFA0-4BDE-8098-A65FA92C07EB}" type="slidenum">
              <a:rPr lang="zh-CN" altLang="en-US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19459" name="Rectangle 201"/>
          <p:cNvSpPr>
            <a:spLocks noChangeArrowheads="1"/>
          </p:cNvSpPr>
          <p:nvPr/>
        </p:nvSpPr>
        <p:spPr bwMode="auto">
          <a:xfrm>
            <a:off x="2671763" y="65088"/>
            <a:ext cx="4152900" cy="101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机械设计课程设计进度表</a:t>
            </a:r>
          </a:p>
          <a:p>
            <a:pPr algn="ctr"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2023</a:t>
            </a:r>
            <a:r>
              <a:rPr kumimoji="0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年（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1∽ 8</a:t>
            </a:r>
            <a:r>
              <a:rPr kumimoji="0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aphicFrame>
        <p:nvGraphicFramePr>
          <p:cNvPr id="4" name="Group 334"/>
          <p:cNvGraphicFramePr>
            <a:graphicFrameLocks noGrp="1"/>
          </p:cNvGraphicFramePr>
          <p:nvPr/>
        </p:nvGraphicFramePr>
        <p:xfrm>
          <a:off x="250825" y="1296988"/>
          <a:ext cx="8688387" cy="4964113"/>
        </p:xfrm>
        <a:graphic>
          <a:graphicData uri="http://schemas.openxmlformats.org/drawingml/2006/table">
            <a:tbl>
              <a:tblPr/>
              <a:tblGrid>
                <a:gridCol w="2863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8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8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81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81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81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81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810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360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任务</a:t>
                      </a:r>
                    </a:p>
                  </a:txBody>
                  <a:tcPr marL="91444" marR="91444"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第</a:t>
                      </a: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1</a:t>
                      </a: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周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marL="0" marR="0" marT="46792" marB="4679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第</a:t>
                      </a: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周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marL="0" marR="0" marT="46792" marB="4679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第</a:t>
                      </a: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周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marL="0" marR="0" marT="46792" marB="4679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第</a:t>
                      </a: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4</a:t>
                      </a: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周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marL="0" marR="0" marT="46792" marB="4679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第</a:t>
                      </a: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5</a:t>
                      </a: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周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marL="0" marR="0" marT="46792" marB="4679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第</a:t>
                      </a: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6</a:t>
                      </a: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周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marL="0" marR="0" marT="46792" marB="4679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第</a:t>
                      </a: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7</a:t>
                      </a: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周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marL="0" marR="0" marT="46792" marB="4679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第</a:t>
                      </a: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8</a:t>
                      </a: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周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marL="0" marR="0" marT="46792" marB="4679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（第一次布置）设计内容和任务、总体设计等</a:t>
                      </a:r>
                    </a:p>
                  </a:txBody>
                  <a:tcPr marL="91444" marR="91444"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传动装置的总体设计；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传动件设计</a:t>
                      </a:r>
                    </a:p>
                  </a:txBody>
                  <a:tcPr marL="91444" marR="91444"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（第二次布置）装配草图设计与绘制、减速器装拆</a:t>
                      </a:r>
                    </a:p>
                  </a:txBody>
                  <a:tcPr marL="91444" marR="91444"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减速器装拆实验</a:t>
                      </a:r>
                    </a:p>
                  </a:txBody>
                  <a:tcPr marL="91444" marR="91444"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装配工作图的绘制与总成</a:t>
                      </a:r>
                    </a:p>
                  </a:txBody>
                  <a:tcPr marL="91444" marR="91444"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（第三次布置）零件工作图设计与绘制</a:t>
                      </a:r>
                    </a:p>
                  </a:txBody>
                  <a:tcPr marL="91444" marR="91444"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编写设计说明书</a:t>
                      </a:r>
                    </a:p>
                  </a:txBody>
                  <a:tcPr marL="91444" marR="91444"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0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总结和答辩</a:t>
                      </a:r>
                    </a:p>
                  </a:txBody>
                  <a:tcPr marL="91444" marR="91444"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4" marR="91444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9562" name="Line 4"/>
          <p:cNvSpPr>
            <a:spLocks noChangeShapeType="1"/>
          </p:cNvSpPr>
          <p:nvPr/>
        </p:nvSpPr>
        <p:spPr bwMode="auto">
          <a:xfrm flipV="1">
            <a:off x="3109913" y="2128838"/>
            <a:ext cx="735012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63" name="Line 4"/>
          <p:cNvSpPr>
            <a:spLocks noChangeShapeType="1"/>
          </p:cNvSpPr>
          <p:nvPr/>
        </p:nvSpPr>
        <p:spPr bwMode="auto">
          <a:xfrm flipV="1">
            <a:off x="3109913" y="2701925"/>
            <a:ext cx="735012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64" name="Line 4"/>
          <p:cNvSpPr>
            <a:spLocks noChangeShapeType="1"/>
          </p:cNvSpPr>
          <p:nvPr/>
        </p:nvSpPr>
        <p:spPr bwMode="auto">
          <a:xfrm flipV="1">
            <a:off x="3836988" y="3282950"/>
            <a:ext cx="736600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65" name="Line 4"/>
          <p:cNvSpPr>
            <a:spLocks noChangeShapeType="1"/>
          </p:cNvSpPr>
          <p:nvPr/>
        </p:nvSpPr>
        <p:spPr bwMode="auto">
          <a:xfrm flipV="1">
            <a:off x="3836988" y="3838575"/>
            <a:ext cx="736600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66" name="Line 4"/>
          <p:cNvSpPr>
            <a:spLocks noChangeShapeType="1"/>
          </p:cNvSpPr>
          <p:nvPr/>
        </p:nvSpPr>
        <p:spPr bwMode="auto">
          <a:xfrm flipV="1">
            <a:off x="3844925" y="4376738"/>
            <a:ext cx="3273425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67" name="Line 4"/>
          <p:cNvSpPr>
            <a:spLocks noChangeShapeType="1"/>
          </p:cNvSpPr>
          <p:nvPr/>
        </p:nvSpPr>
        <p:spPr bwMode="auto">
          <a:xfrm flipV="1">
            <a:off x="6738938" y="4914900"/>
            <a:ext cx="1114425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68" name="Line 4"/>
          <p:cNvSpPr>
            <a:spLocks noChangeShapeType="1"/>
          </p:cNvSpPr>
          <p:nvPr/>
        </p:nvSpPr>
        <p:spPr bwMode="auto">
          <a:xfrm flipV="1">
            <a:off x="8202613" y="5983288"/>
            <a:ext cx="736600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69" name="Line 4"/>
          <p:cNvSpPr>
            <a:spLocks noChangeShapeType="1"/>
          </p:cNvSpPr>
          <p:nvPr/>
        </p:nvSpPr>
        <p:spPr bwMode="auto">
          <a:xfrm flipV="1">
            <a:off x="7466013" y="5462588"/>
            <a:ext cx="736600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advTm="370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D8E5EC6A-1287-40F7-BC1B-12A4DB497F9D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15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83" name="Rectangle 5"/>
          <p:cNvSpPr>
            <a:spLocks noChangeArrowheads="1"/>
          </p:cNvSpPr>
          <p:nvPr/>
        </p:nvSpPr>
        <p:spPr bwMode="auto">
          <a:xfrm>
            <a:off x="406400" y="2286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课程设计的目的、内容及要求</a:t>
            </a:r>
          </a:p>
        </p:txBody>
      </p:sp>
      <p:sp>
        <p:nvSpPr>
          <p:cNvPr id="58375" name="Rectangle 7"/>
          <p:cNvSpPr>
            <a:spLocks noChangeArrowheads="1"/>
          </p:cNvSpPr>
          <p:nvPr/>
        </p:nvSpPr>
        <p:spPr bwMode="auto">
          <a:xfrm>
            <a:off x="742800" y="1968950"/>
            <a:ext cx="777866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sy="-100000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42925" indent="-542925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1、</a:t>
            </a:r>
            <a:r>
              <a:rPr lang="zh-CN" altLang="en-US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图纸与设计数据一致！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图纸结构、投影、标注及数据是否正确，线条是否符合制图标准，图面是否整洁，字迹是否工整等；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2、设计计算说明书：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zh-CN" altLang="en-US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严禁从网上找模板：问题多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设计计算是否正确、完整、字迹是否工整等；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3、设计表现：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态度是否端正，能否按进度完成工作量，课堂出勤率；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4、答辩成绩。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</a:t>
            </a:r>
          </a:p>
        </p:txBody>
      </p:sp>
      <p:sp>
        <p:nvSpPr>
          <p:cNvPr id="20485" name="Rectangle 2"/>
          <p:cNvSpPr>
            <a:spLocks noChangeArrowheads="1"/>
          </p:cNvSpPr>
          <p:nvPr/>
        </p:nvSpPr>
        <p:spPr bwMode="auto">
          <a:xfrm>
            <a:off x="522288" y="1189038"/>
            <a:ext cx="4356100" cy="555625"/>
          </a:xfrm>
          <a:prstGeom prst="rect">
            <a:avLst/>
          </a:prstGeom>
          <a:solidFill>
            <a:srgbClr val="CCFFFF"/>
          </a:solidFill>
          <a:ln w="25400" algn="ctr">
            <a:solidFill>
              <a:srgbClr val="0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四、成绩评定：百分制</a:t>
            </a:r>
          </a:p>
        </p:txBody>
      </p:sp>
    </p:spTree>
  </p:cSld>
  <p:clrMapOvr>
    <a:masterClrMapping/>
  </p:clrMapOvr>
  <p:transition advTm="37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3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3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3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83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83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8382000" y="6242050"/>
            <a:ext cx="762000" cy="457200"/>
          </a:xfrm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B255449B-D1DD-4EB5-AB86-1EB20BFB53E5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16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2755" name="Text Box 3"/>
          <p:cNvSpPr txBox="1">
            <a:spLocks noChangeArrowheads="1"/>
          </p:cNvSpPr>
          <p:nvPr/>
        </p:nvSpPr>
        <p:spPr bwMode="auto">
          <a:xfrm>
            <a:off x="1981200" y="115888"/>
            <a:ext cx="5903913" cy="7016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400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课程设计准备工作</a:t>
            </a:r>
          </a:p>
        </p:txBody>
      </p:sp>
      <p:sp>
        <p:nvSpPr>
          <p:cNvPr id="21508" name="Rectangle 9"/>
          <p:cNvSpPr>
            <a:spLocks noChangeArrowheads="1"/>
          </p:cNvSpPr>
          <p:nvPr/>
        </p:nvSpPr>
        <p:spPr bwMode="auto">
          <a:xfrm>
            <a:off x="725488" y="1255713"/>
            <a:ext cx="5473700" cy="577850"/>
          </a:xfrm>
          <a:prstGeom prst="rect">
            <a:avLst/>
          </a:prstGeom>
          <a:solidFill>
            <a:srgbClr val="CCFFFF"/>
          </a:solidFill>
          <a:ln w="25400" algn="ctr">
            <a:solidFill>
              <a:srgbClr val="0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30000"/>
              </a:spcBef>
              <a:buClr>
                <a:srgbClr val="A50021"/>
              </a:buClr>
              <a:buFont typeface="Monotype Sorts" pitchFamily="2" charset="2"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一、准备设计资料、工具</a:t>
            </a:r>
          </a:p>
        </p:txBody>
      </p:sp>
      <p:sp>
        <p:nvSpPr>
          <p:cNvPr id="21509" name="Text Box 11"/>
          <p:cNvSpPr txBox="1">
            <a:spLocks noChangeArrowheads="1"/>
          </p:cNvSpPr>
          <p:nvPr/>
        </p:nvSpPr>
        <p:spPr bwMode="auto">
          <a:xfrm>
            <a:off x="798513" y="1990725"/>
            <a:ext cx="7918450" cy="4684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sy="-100000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ts val="1200"/>
              </a:spcBef>
              <a:buClr>
                <a:srgbClr val="A50021"/>
              </a:buClr>
              <a:buFont typeface="Wingdings" panose="05000000000000000000" pitchFamily="2" charset="2"/>
              <a:buChar char="w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设计手册：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机械设计课程设计手册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，陈秀宁主编，浙江大学出版社；</a:t>
            </a:r>
          </a:p>
          <a:p>
            <a:pPr eaLnBrk="1" hangingPunct="1">
              <a:lnSpc>
                <a:spcPct val="115000"/>
              </a:lnSpc>
              <a:spcBef>
                <a:spcPts val="1200"/>
              </a:spcBef>
              <a:buClr>
                <a:srgbClr val="A50021"/>
              </a:buClr>
              <a:buFont typeface="Wingdings" panose="05000000000000000000" pitchFamily="2" charset="2"/>
              <a:buChar char="w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图册：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机械设计课程设计图册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，龚溎义，高等教育出版社；</a:t>
            </a:r>
          </a:p>
          <a:p>
            <a:pPr eaLnBrk="1" hangingPunct="1">
              <a:lnSpc>
                <a:spcPct val="115000"/>
              </a:lnSpc>
              <a:spcBef>
                <a:spcPts val="1200"/>
              </a:spcBef>
              <a:buClr>
                <a:srgbClr val="A50021"/>
              </a:buClr>
              <a:buFont typeface="Wingdings" panose="05000000000000000000" pitchFamily="2" charset="2"/>
              <a:buChar char="w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教材：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机械设计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，吴宗泽 吴鹿鸣；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5000"/>
              </a:lnSpc>
              <a:spcBef>
                <a:spcPts val="1200"/>
              </a:spcBef>
              <a:buClr>
                <a:srgbClr val="A50021"/>
              </a:buClr>
              <a:buFont typeface="Wingdings" panose="05000000000000000000" pitchFamily="2" charset="2"/>
              <a:buChar char="w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说明书及资料袋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机械设计课程设计资料袋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含实验报告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（教材科购买：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等购买通知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）；</a:t>
            </a:r>
          </a:p>
          <a:p>
            <a:pPr eaLnBrk="1" hangingPunct="1">
              <a:lnSpc>
                <a:spcPct val="115000"/>
              </a:lnSpc>
              <a:spcBef>
                <a:spcPts val="1200"/>
              </a:spcBef>
              <a:buClr>
                <a:srgbClr val="A50021"/>
              </a:buClr>
              <a:buFont typeface="Wingdings" panose="05000000000000000000" pitchFamily="2" charset="2"/>
              <a:buChar char="w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一个演算本。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5000"/>
              </a:lnSpc>
              <a:spcBef>
                <a:spcPts val="1200"/>
              </a:spcBef>
              <a:buClr>
                <a:srgbClr val="A50021"/>
              </a:buClr>
              <a:buFont typeface="Wingdings" panose="05000000000000000000" pitchFamily="2" charset="2"/>
              <a:buChar char="w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图纸及制图工具：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图纸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defRPr/>
            </a:pPr>
            <a:fld id="{DF6401AA-034C-443C-B879-344A697A3803}" type="slidenum">
              <a:rPr kumimoji="0" lang="zh-CN" altLang="en-US" sz="2400" smtClean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>
                <a:defRPr/>
              </a:pPr>
              <a:t>17</a:t>
            </a:fld>
            <a:endParaRPr kumimoji="0" lang="en-US" altLang="zh-CN" sz="2400">
              <a:solidFill>
                <a:srgbClr val="0000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981200" y="115888"/>
            <a:ext cx="5903913" cy="7016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400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课程设计准备工作</a:t>
            </a:r>
          </a:p>
        </p:txBody>
      </p:sp>
      <p:pic>
        <p:nvPicPr>
          <p:cNvPr id="7" name="Picture 12" descr="20120112095918_30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33" r="15936"/>
          <a:stretch>
            <a:fillRect/>
          </a:stretch>
        </p:blipFill>
        <p:spPr bwMode="auto">
          <a:xfrm>
            <a:off x="2811463" y="1033463"/>
            <a:ext cx="3975100" cy="57927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Tm="37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2"/>
          <p:cNvSpPr txBox="1">
            <a:spLocks noChangeArrowheads="1"/>
          </p:cNvSpPr>
          <p:nvPr/>
        </p:nvSpPr>
        <p:spPr bwMode="auto">
          <a:xfrm>
            <a:off x="1981200" y="115888"/>
            <a:ext cx="5903913" cy="73818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  <a:spcBef>
                <a:spcPct val="30000"/>
              </a:spcBef>
              <a:buClr>
                <a:srgbClr val="A50021"/>
              </a:buClr>
              <a:buFont typeface="Monotype Sorts" pitchFamily="2" charset="2"/>
              <a:buNone/>
              <a:defRPr/>
            </a:pPr>
            <a:r>
              <a:rPr lang="zh-CN" altLang="en-US" sz="400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课程设计准备工作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611188" y="1473200"/>
            <a:ext cx="4751387" cy="609600"/>
          </a:xfrm>
          <a:prstGeom prst="rect">
            <a:avLst/>
          </a:prstGeom>
          <a:solidFill>
            <a:srgbClr val="CCFFFF"/>
          </a:solidFill>
          <a:ln w="25400" algn="ctr">
            <a:solidFill>
              <a:srgbClr val="0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30000"/>
              </a:spcBef>
              <a:buClr>
                <a:srgbClr val="A50021"/>
              </a:buClr>
              <a:buFont typeface="Monotype Sorts" pitchFamily="2" charset="2"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二、借图板，绘图仪器</a:t>
            </a:r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977106" y="2644244"/>
            <a:ext cx="7671238" cy="34356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25000"/>
              </a:lnSpc>
              <a:spcBef>
                <a:spcPts val="1200"/>
              </a:spcBef>
              <a:buClr>
                <a:srgbClr val="A50021"/>
              </a:buClr>
              <a:buFont typeface="Wingdings" panose="05000000000000000000" pitchFamily="2" charset="2"/>
              <a:buChar char="w"/>
              <a:defRPr/>
            </a:pPr>
            <a:r>
              <a:rPr lang="zh-CN" altLang="en-US" sz="2400" u="wavy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</a:rPr>
              <a:t>图板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u="wavy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</a:rPr>
              <a:t>等通知后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每个班派一个代表去进行登记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无押金和租金。然后统一到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号楼取图板。</a:t>
            </a:r>
          </a:p>
          <a:p>
            <a:pPr marL="1341438" indent="-1341438" eaLnBrk="1" hangingPunct="1">
              <a:lnSpc>
                <a:spcPct val="125000"/>
              </a:lnSpc>
              <a:spcBef>
                <a:spcPts val="1200"/>
              </a:spcBef>
              <a:buClr>
                <a:srgbClr val="A50021"/>
              </a:buClr>
              <a:buFont typeface="Monotype Sorts" pitchFamily="2" charset="2"/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</a:p>
          <a:p>
            <a:pPr marL="342900" indent="-342900" eaLnBrk="1" hangingPunct="1">
              <a:lnSpc>
                <a:spcPct val="125000"/>
              </a:lnSpc>
              <a:spcBef>
                <a:spcPts val="1200"/>
              </a:spcBef>
              <a:buClr>
                <a:srgbClr val="A50021"/>
              </a:buClr>
              <a:buFont typeface="Wingdings" panose="05000000000000000000" pitchFamily="2" charset="2"/>
              <a:buChar char="w"/>
              <a:defRPr/>
            </a:pPr>
            <a:r>
              <a:rPr lang="zh-CN" altLang="en-US" sz="2400" u="wavy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</a:rPr>
              <a:t>绘图仪器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：丁字尺（三角板），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X5117</a:t>
            </a:r>
          </a:p>
          <a:p>
            <a:pPr lvl="1" indent="-100013" eaLnBrk="1" hangingPunct="1">
              <a:lnSpc>
                <a:spcPct val="125000"/>
              </a:lnSpc>
              <a:spcBef>
                <a:spcPts val="1200"/>
              </a:spcBef>
              <a:buFont typeface="Monotype Sorts" pitchFamily="2" charset="2"/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与毛茂林老师联系，电话：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13880269158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-100013" eaLnBrk="1" hangingPunct="1">
              <a:lnSpc>
                <a:spcPct val="125000"/>
              </a:lnSpc>
              <a:spcBef>
                <a:spcPts val="1200"/>
              </a:spcBef>
              <a:buFont typeface="Monotype Sorts" pitchFamily="2" charset="2"/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时间： 请以班级为单位，与毛老师协商。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20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2"/>
          <p:cNvSpPr txBox="1">
            <a:spLocks noChangeArrowheads="1"/>
          </p:cNvSpPr>
          <p:nvPr/>
        </p:nvSpPr>
        <p:spPr bwMode="auto">
          <a:xfrm>
            <a:off x="1979613" y="188913"/>
            <a:ext cx="5903912" cy="73818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  <a:spcBef>
                <a:spcPct val="30000"/>
              </a:spcBef>
              <a:buClr>
                <a:srgbClr val="A50021"/>
              </a:buClr>
              <a:buFont typeface="Monotype Sorts" pitchFamily="2" charset="2"/>
              <a:buNone/>
              <a:defRPr/>
            </a:pPr>
            <a:r>
              <a:rPr lang="zh-CN" altLang="en-US" sz="400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课程设计准备工作</a:t>
            </a: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774700" y="1433618"/>
            <a:ext cx="4751388" cy="608013"/>
          </a:xfrm>
          <a:prstGeom prst="rect">
            <a:avLst/>
          </a:prstGeom>
          <a:solidFill>
            <a:srgbClr val="CCFFFF"/>
          </a:solidFill>
          <a:ln w="25400" algn="ctr">
            <a:solidFill>
              <a:srgbClr val="0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30000"/>
              </a:spcBef>
              <a:buClr>
                <a:srgbClr val="A50021"/>
              </a:buClr>
              <a:buFont typeface="Monotype Sorts" pitchFamily="2" charset="2"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四、减速器拆装实验</a:t>
            </a: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1427163" y="2403581"/>
            <a:ext cx="7370762" cy="403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sy="-100000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50000"/>
              </a:spcBef>
              <a:spcAft>
                <a:spcPts val="600"/>
              </a:spcAft>
              <a:buClr>
                <a:srgbClr val="A50021"/>
              </a:buClr>
              <a:buFont typeface="Wingdings" panose="05000000000000000000" pitchFamily="2" charset="2"/>
              <a:buChar char="w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教室：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X5218</a:t>
            </a:r>
          </a:p>
          <a:p>
            <a:pPr eaLnBrk="1" hangingPunct="1">
              <a:lnSpc>
                <a:spcPct val="105000"/>
              </a:lnSpc>
              <a:spcBef>
                <a:spcPct val="50000"/>
              </a:spcBef>
              <a:spcAft>
                <a:spcPts val="600"/>
              </a:spcAft>
              <a:buClr>
                <a:srgbClr val="A50021"/>
              </a:buClr>
              <a:buFont typeface="Wingdings" panose="05000000000000000000" pitchFamily="2" charset="2"/>
              <a:buChar char="w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指导老师：毛茂林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联系方式：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13880269158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05000"/>
              </a:lnSpc>
              <a:spcBef>
                <a:spcPct val="50000"/>
              </a:spcBef>
              <a:spcAft>
                <a:spcPts val="600"/>
              </a:spcAft>
              <a:buClr>
                <a:srgbClr val="A50021"/>
              </a:buClr>
              <a:buFont typeface="Wingdings" panose="05000000000000000000" pitchFamily="2" charset="2"/>
              <a:buChar char="w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时间：与毛老师协商（</a:t>
            </a:r>
            <a:r>
              <a:rPr lang="zh-CN" altLang="en-US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实验前应先看设计手册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05000"/>
              </a:lnSpc>
              <a:spcBef>
                <a:spcPct val="50000"/>
              </a:spcBef>
              <a:spcAft>
                <a:spcPts val="600"/>
              </a:spcAft>
              <a:buClr>
                <a:srgbClr val="A50021"/>
              </a:buClr>
              <a:buFont typeface="Wingdings" panose="05000000000000000000" pitchFamily="2" charset="2"/>
              <a:buChar char="w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目的：为设计做准备，增强对减速器的全面了解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与感性认识。</a:t>
            </a:r>
          </a:p>
          <a:p>
            <a:pPr eaLnBrk="1" hangingPunct="1">
              <a:lnSpc>
                <a:spcPct val="105000"/>
              </a:lnSpc>
              <a:spcBef>
                <a:spcPct val="50000"/>
              </a:spcBef>
              <a:spcAft>
                <a:spcPts val="600"/>
              </a:spcAft>
              <a:buClr>
                <a:srgbClr val="A50021"/>
              </a:buClr>
              <a:buFont typeface="Wingdings" panose="05000000000000000000" pitchFamily="2" charset="2"/>
              <a:buChar char="w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每人需完成相应的实验报告。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21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220724A3-3521-475D-B03E-689911926D27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20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03" name="Rectangle 6"/>
          <p:cNvSpPr>
            <a:spLocks noChangeArrowheads="1"/>
          </p:cNvSpPr>
          <p:nvPr/>
        </p:nvSpPr>
        <p:spPr bwMode="auto">
          <a:xfrm>
            <a:off x="406400" y="2286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传动装置的总体设计</a:t>
            </a:r>
          </a:p>
        </p:txBody>
      </p:sp>
      <p:sp>
        <p:nvSpPr>
          <p:cNvPr id="25604" name="Rectangle 1031"/>
          <p:cNvSpPr>
            <a:spLocks noChangeArrowheads="1"/>
          </p:cNvSpPr>
          <p:nvPr/>
        </p:nvSpPr>
        <p:spPr bwMode="auto">
          <a:xfrm>
            <a:off x="382588" y="1275644"/>
            <a:ext cx="8420895" cy="480131"/>
          </a:xfrm>
          <a:prstGeom prst="rect">
            <a:avLst/>
          </a:prstGeom>
          <a:solidFill>
            <a:srgbClr val="CCFFFF"/>
          </a:solidFill>
          <a:ln w="25400" algn="ctr">
            <a:solidFill>
              <a:srgbClr val="0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b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一、分析和拟定传动装置的运动简图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(P9～P15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自学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67593" name="Rectangle 1033"/>
          <p:cNvSpPr>
            <a:spLocks noChangeArrowheads="1"/>
          </p:cNvSpPr>
          <p:nvPr/>
        </p:nvSpPr>
        <p:spPr bwMode="auto">
          <a:xfrm>
            <a:off x="1141413" y="1778000"/>
            <a:ext cx="7431087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传动方案已定（任务书中简图）；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一人一题（题号分配：与学号的尾数相对应）。</a:t>
            </a:r>
          </a:p>
        </p:txBody>
      </p:sp>
      <p:grpSp>
        <p:nvGrpSpPr>
          <p:cNvPr id="67600" name="Group 1040"/>
          <p:cNvGrpSpPr>
            <a:grpSpLocks/>
          </p:cNvGrpSpPr>
          <p:nvPr/>
        </p:nvGrpSpPr>
        <p:grpSpPr bwMode="auto">
          <a:xfrm>
            <a:off x="331788" y="3222625"/>
            <a:ext cx="7477125" cy="1171575"/>
            <a:chOff x="209" y="1900"/>
            <a:chExt cx="4710" cy="738"/>
          </a:xfrm>
        </p:grpSpPr>
        <p:sp>
          <p:nvSpPr>
            <p:cNvPr id="25609" name="Rectangle 8"/>
            <p:cNvSpPr>
              <a:spLocks noChangeArrowheads="1"/>
            </p:cNvSpPr>
            <p:nvPr/>
          </p:nvSpPr>
          <p:spPr bwMode="auto">
            <a:xfrm>
              <a:off x="759" y="2370"/>
              <a:ext cx="3856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sy="-100000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1、 </a:t>
              </a:r>
              <a:r>
                <a:rPr lang="zh-CN" alt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电动机类型：均用</a:t>
              </a:r>
              <a:r>
                <a:rPr lang="en-US" altLang="zh-CN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zh-CN" alt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系列电动机  </a:t>
              </a:r>
            </a:p>
          </p:txBody>
        </p:sp>
        <p:sp>
          <p:nvSpPr>
            <p:cNvPr id="25610" name="Rectangle 1035"/>
            <p:cNvSpPr>
              <a:spLocks noChangeArrowheads="1"/>
            </p:cNvSpPr>
            <p:nvPr/>
          </p:nvSpPr>
          <p:spPr bwMode="auto">
            <a:xfrm>
              <a:off x="209" y="1900"/>
              <a:ext cx="4710" cy="350"/>
            </a:xfrm>
            <a:prstGeom prst="rect">
              <a:avLst/>
            </a:prstGeom>
            <a:solidFill>
              <a:srgbClr val="CCFFFF"/>
            </a:solidFill>
            <a:ln w="25400" algn="ctr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b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二、选择电动机类型及功率</a:t>
              </a: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P15～P17）</a:t>
              </a:r>
            </a:p>
          </p:txBody>
        </p:sp>
      </p:grpSp>
      <p:sp>
        <p:nvSpPr>
          <p:cNvPr id="67598" name="Rectangle 1038"/>
          <p:cNvSpPr>
            <a:spLocks noChangeArrowheads="1"/>
          </p:cNvSpPr>
          <p:nvPr/>
        </p:nvSpPr>
        <p:spPr bwMode="auto">
          <a:xfrm>
            <a:off x="1182688" y="4478338"/>
            <a:ext cx="7961312" cy="103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2、 确定电动机功率：</a:t>
            </a:r>
          </a:p>
          <a:p>
            <a:pPr algn="just" eaLnBrk="1" hangingPunct="1">
              <a:lnSpc>
                <a:spcPct val="135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 电动机所需输出功率：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4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=P</a:t>
            </a:r>
            <a:r>
              <a:rPr lang="en-US" altLang="zh-CN" sz="24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/η     （2－1）</a:t>
            </a:r>
          </a:p>
        </p:txBody>
      </p:sp>
      <p:sp>
        <p:nvSpPr>
          <p:cNvPr id="67599" name="Rectangle 1039"/>
          <p:cNvSpPr>
            <a:spLocks noChangeArrowheads="1"/>
          </p:cNvSpPr>
          <p:nvPr/>
        </p:nvSpPr>
        <p:spPr bwMode="auto">
          <a:xfrm>
            <a:off x="1692275" y="5648325"/>
            <a:ext cx="7451725" cy="10160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Char char="z"/>
              <a:defRPr kumimoji="1"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Char char="y"/>
              <a:defRPr kumimoji="1"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x"/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2400" dirty="0">
                <a:latin typeface="+mj-lt"/>
                <a:ea typeface="微软雅黑" panose="020B0503020204020204" pitchFamily="34" charset="-122"/>
              </a:rPr>
              <a:t>―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工作机所需功率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取决于工作阻力及运行速度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 eaLnBrk="1" hangingPunct="1">
              <a:lnSpc>
                <a:spcPct val="160000"/>
              </a:lnSpc>
              <a:spcBef>
                <a:spcPct val="0"/>
              </a:spcBef>
              <a:buFont typeface="Monotype Sorts" pitchFamily="2" charset="2"/>
              <a:buNone/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η</a:t>
            </a:r>
            <a:r>
              <a:rPr lang="zh-CN" altLang="en-US" sz="2400" dirty="0">
                <a:latin typeface="+mj-lt"/>
                <a:ea typeface="微软雅黑" panose="020B0503020204020204" pitchFamily="34" charset="-122"/>
              </a:rPr>
              <a:t>―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电动机至工作机之间传动装置的总效率</a:t>
            </a:r>
          </a:p>
        </p:txBody>
      </p:sp>
    </p:spTree>
  </p:cSld>
  <p:clrMapOvr>
    <a:masterClrMapping/>
  </p:clrMapOvr>
  <p:transition advTm="37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3" grpId="0"/>
      <p:bldP spid="67598" grpId="0"/>
      <p:bldP spid="6759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28ABB218-91A2-4074-BA17-2B2EF09870E7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21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1" name="Rectangle 35"/>
          <p:cNvSpPr>
            <a:spLocks noChangeArrowheads="1"/>
          </p:cNvSpPr>
          <p:nvPr/>
        </p:nvSpPr>
        <p:spPr bwMode="auto">
          <a:xfrm>
            <a:off x="406400" y="2286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传动装置的总体设计</a:t>
            </a:r>
          </a:p>
        </p:txBody>
      </p:sp>
      <p:sp>
        <p:nvSpPr>
          <p:cNvPr id="63525" name="Rectangle 37"/>
          <p:cNvSpPr>
            <a:spLocks noChangeArrowheads="1"/>
          </p:cNvSpPr>
          <p:nvPr/>
        </p:nvSpPr>
        <p:spPr bwMode="auto">
          <a:xfrm>
            <a:off x="1001713" y="1257300"/>
            <a:ext cx="8123237" cy="52625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Char char="z"/>
              <a:defRPr kumimoji="1"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Char char="y"/>
              <a:defRPr kumimoji="1"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x"/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ct val="0"/>
              </a:spcBef>
              <a:buFont typeface="Monotype Sorts" pitchFamily="2" charset="2"/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柱：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4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24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/1000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(kW)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 typeface="Monotype Sorts" pitchFamily="2" charset="2"/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双级圆柱：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4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4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/9550η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(kW) 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 typeface="Monotype Sorts" pitchFamily="2" charset="2"/>
              <a:buNone/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	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4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2400" dirty="0">
                <a:latin typeface="+mj-lt"/>
                <a:ea typeface="微软雅黑" panose="020B0503020204020204" pitchFamily="34" charset="-122"/>
              </a:rPr>
              <a:t> ―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运输机的工作拉力（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N）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 typeface="Monotype Sorts" pitchFamily="2" charset="2"/>
              <a:buNone/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　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24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2400" dirty="0">
                <a:latin typeface="+mj-lt"/>
                <a:ea typeface="微软雅黑" panose="020B0503020204020204" pitchFamily="34" charset="-122"/>
              </a:rPr>
              <a:t>―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运输机的传送速度（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m/s）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 typeface="Monotype Sorts" pitchFamily="2" charset="2"/>
              <a:buNone/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T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2400" dirty="0">
                <a:ea typeface="微软雅黑" panose="020B0503020204020204" pitchFamily="34" charset="-122"/>
              </a:rPr>
              <a:t>―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运输机卷筒的有效扭矩（Ｎ</a:t>
            </a:r>
            <a:r>
              <a:rPr lang="en-US" altLang="zh-CN" sz="2400" dirty="0">
                <a:latin typeface="+mj-lt"/>
                <a:ea typeface="微软雅黑" panose="020B0503020204020204" pitchFamily="34" charset="-122"/>
              </a:rPr>
              <a:t>·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m）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 typeface="Monotype Sorts" pitchFamily="2" charset="2"/>
              <a:buNone/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4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2400" dirty="0">
                <a:latin typeface="+mj-lt"/>
                <a:ea typeface="微软雅黑" panose="020B0503020204020204" pitchFamily="34" charset="-122"/>
              </a:rPr>
              <a:t>―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运输机卷筒的转速（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r/min）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 typeface="Monotype Sorts" pitchFamily="2" charset="2"/>
              <a:buNone/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η</a:t>
            </a:r>
            <a:r>
              <a:rPr lang="en-US" altLang="zh-CN" sz="24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+mj-lt"/>
                <a:ea typeface="微软雅黑" panose="020B0503020204020204" pitchFamily="34" charset="-122"/>
              </a:rPr>
              <a:t>―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运输机卷筒的效率（工作装置效率）　　　　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Tm="37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5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5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5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5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5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35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2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06CD6913-2E82-4C4B-A958-AAD1CCBC056D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22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699" name="Rectangle 10"/>
          <p:cNvSpPr>
            <a:spLocks noChangeArrowheads="1"/>
          </p:cNvSpPr>
          <p:nvPr/>
        </p:nvSpPr>
        <p:spPr bwMode="auto">
          <a:xfrm>
            <a:off x="406400" y="2286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传动装置的总体设计</a:t>
            </a:r>
          </a:p>
        </p:txBody>
      </p:sp>
      <p:sp>
        <p:nvSpPr>
          <p:cNvPr id="29700" name="Rectangle 12"/>
          <p:cNvSpPr>
            <a:spLocks noChangeArrowheads="1"/>
          </p:cNvSpPr>
          <p:nvPr/>
        </p:nvSpPr>
        <p:spPr bwMode="auto">
          <a:xfrm>
            <a:off x="827088" y="1257300"/>
            <a:ext cx="8151812" cy="517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sy="-100000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75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η</a:t>
            </a:r>
            <a:r>
              <a:rPr lang="en-US" altLang="zh-CN" sz="2400" dirty="0">
                <a:ea typeface="微软雅黑" panose="020B0503020204020204" pitchFamily="34" charset="-122"/>
              </a:rPr>
              <a:t>―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电动机至工作机传动装置的总效率</a:t>
            </a:r>
          </a:p>
          <a:p>
            <a:pPr eaLnBrk="1" hangingPunct="1">
              <a:lnSpc>
                <a:spcPct val="175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η= η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η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η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η</a:t>
            </a:r>
            <a:r>
              <a:rPr lang="en-US" altLang="zh-CN" sz="24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</a:p>
          <a:p>
            <a:pPr eaLnBrk="1" hangingPunct="1">
              <a:lnSpc>
                <a:spcPct val="175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传动装置中</a:t>
            </a:r>
            <a:r>
              <a:rPr lang="zh-CN" altLang="en-US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每一级传动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每对轴承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</a:t>
            </a:r>
            <a:r>
              <a:rPr lang="zh-CN" altLang="en-US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每个联轴器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的效率，见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eaLnBrk="1" hangingPunct="1">
              <a:lnSpc>
                <a:spcPct val="175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注：</a:t>
            </a:r>
          </a:p>
          <a:p>
            <a:pPr eaLnBrk="1" hangingPunct="1">
              <a:lnSpc>
                <a:spcPct val="175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① 轴承效率：一般指一对轴承而言</a:t>
            </a:r>
          </a:p>
          <a:p>
            <a:pPr algn="just" eaLnBrk="1" hangingPunct="1">
              <a:lnSpc>
                <a:spcPct val="175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② 卷筒效率：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η</a:t>
            </a:r>
            <a:r>
              <a:rPr lang="zh-CN" altLang="en-US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卷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=0.95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~0.96,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不再计轴承效率</a:t>
            </a:r>
          </a:p>
          <a:p>
            <a:pPr algn="just" eaLnBrk="1" hangingPunct="1">
              <a:lnSpc>
                <a:spcPct val="175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P22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例2－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1)                     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Tm="370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33A8376C-CFA7-415A-BEB9-3A7E87A07005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23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406400" y="2286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传动装置的总体设计</a:t>
            </a:r>
          </a:p>
        </p:txBody>
      </p:sp>
      <p:sp>
        <p:nvSpPr>
          <p:cNvPr id="181252" name="Rectangle 4"/>
          <p:cNvSpPr>
            <a:spLocks noChangeArrowheads="1"/>
          </p:cNvSpPr>
          <p:nvPr/>
        </p:nvSpPr>
        <p:spPr bwMode="auto">
          <a:xfrm>
            <a:off x="588963" y="1228725"/>
            <a:ext cx="7999412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sy="-100000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③ 联轴器可用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弹性套柱销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联轴器或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弹性柱销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联轴器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  ④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电动机额定功率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400" baseline="-3000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P</a:t>
            </a:r>
            <a:r>
              <a:rPr lang="en-US" altLang="zh-CN" sz="2400" baseline="-3000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&gt;P</a:t>
            </a:r>
            <a:r>
              <a:rPr lang="en-US" altLang="zh-CN" sz="2400" baseline="-30000">
                <a:latin typeface="微软雅黑" panose="020B0503020204020204" pitchFamily="34" charset="-122"/>
                <a:ea typeface="微软雅黑" panose="020B0503020204020204" pitchFamily="34" charset="-122"/>
              </a:rPr>
              <a:t>0      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 baseline="-3000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400" baseline="-30000"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en-US" altLang="zh-CN" sz="2400">
                <a:ea typeface="微软雅黑" panose="020B0503020204020204" pitchFamily="34" charset="-122"/>
              </a:rPr>
              <a:t>―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电动机所需输出功率</a:t>
            </a:r>
            <a:r>
              <a:rPr lang="en-US" altLang="zh-CN" sz="2400" baseline="-30000">
                <a:latin typeface="微软雅黑" panose="020B0503020204020204" pitchFamily="34" charset="-122"/>
                <a:ea typeface="微软雅黑" panose="020B0503020204020204" pitchFamily="34" charset="-122"/>
              </a:rPr>
              <a:t>　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400" baseline="-3000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400" baseline="-3000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2400">
                <a:ea typeface="微软雅黑" panose="020B0503020204020204" pitchFamily="34" charset="-122"/>
              </a:rPr>
              <a:t>―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电动机额定功率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400" baseline="-3000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＝（1~1.3）P</a:t>
            </a:r>
            <a:r>
              <a:rPr lang="en-US" altLang="zh-CN" sz="2400" baseline="-3000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Tm="37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1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1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1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1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1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1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377B53C7-3FE1-47E5-84BA-BADA73F961EE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24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795" name="Rectangle 4"/>
          <p:cNvSpPr>
            <a:spLocks noChangeArrowheads="1"/>
          </p:cNvSpPr>
          <p:nvPr/>
        </p:nvSpPr>
        <p:spPr bwMode="auto">
          <a:xfrm>
            <a:off x="406400" y="2286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传动装置的总体设计</a:t>
            </a:r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866775" y="1687513"/>
            <a:ext cx="8037513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sy="-100000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"/>
              </a:spcBef>
              <a:buFont typeface="Monotype Sorts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功率相同的同类电机有不同的转速：</a:t>
            </a:r>
          </a:p>
          <a:p>
            <a:pPr algn="just" eaLnBrk="1" hangingPunct="1">
              <a:lnSpc>
                <a:spcPct val="150000"/>
              </a:lnSpc>
              <a:spcBef>
                <a:spcPct val="5000"/>
              </a:spcBef>
              <a:buFont typeface="Monotype Sorts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电机转速高、转矩小→外廓尺寸小、重量轻、价格便宜。但传动装置传动比大→尺寸及重量大、价格高，故二者应综合考虑。</a:t>
            </a:r>
          </a:p>
          <a:p>
            <a:pPr eaLnBrk="1" hangingPunct="1">
              <a:lnSpc>
                <a:spcPct val="150000"/>
              </a:lnSpc>
              <a:spcBef>
                <a:spcPct val="5000"/>
              </a:spcBef>
              <a:buFont typeface="Monotype Sorts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本设计一般用同步转速为1500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r/min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及1000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r/min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两种电动机转速。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eaLnBrk="1" hangingPunct="1">
              <a:lnSpc>
                <a:spcPct val="150000"/>
              </a:lnSpc>
              <a:spcBef>
                <a:spcPct val="5000"/>
              </a:spcBef>
              <a:buFont typeface="Monotype Sorts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4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=i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 eaLnBrk="1" hangingPunct="1">
              <a:lnSpc>
                <a:spcPct val="150000"/>
              </a:lnSpc>
              <a:spcBef>
                <a:spcPct val="5000"/>
              </a:spcBef>
              <a:buFont typeface="Monotype Sorts" pitchFamily="2" charset="2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n</a:t>
            </a:r>
            <a:r>
              <a:rPr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2400" dirty="0">
                <a:ea typeface="微软雅黑" panose="020B0503020204020204" pitchFamily="34" charset="-122"/>
              </a:rPr>
              <a:t> ―</a:t>
            </a:r>
            <a:r>
              <a:rPr lang="zh-CN" altLang="en-US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电机满载转速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>
                <a:ea typeface="微软雅黑" panose="020B0503020204020204" pitchFamily="34" charset="-122"/>
              </a:rPr>
              <a:t> ―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各级传动比</a:t>
            </a:r>
          </a:p>
          <a:p>
            <a:pPr eaLnBrk="1" hangingPunct="1">
              <a:lnSpc>
                <a:spcPct val="150000"/>
              </a:lnSpc>
              <a:spcBef>
                <a:spcPct val="5000"/>
              </a:spcBef>
              <a:buFont typeface="Monotype Sorts" pitchFamily="2" charset="2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4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2400" dirty="0">
                <a:ea typeface="微软雅黑" panose="020B0503020204020204" pitchFamily="34" charset="-122"/>
              </a:rPr>
              <a:t> ―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工作机转速。            </a:t>
            </a:r>
          </a:p>
        </p:txBody>
      </p:sp>
      <p:sp>
        <p:nvSpPr>
          <p:cNvPr id="33797" name="Rectangle 11"/>
          <p:cNvSpPr>
            <a:spLocks noChangeArrowheads="1"/>
          </p:cNvSpPr>
          <p:nvPr/>
        </p:nvSpPr>
        <p:spPr bwMode="auto">
          <a:xfrm>
            <a:off x="712788" y="1181100"/>
            <a:ext cx="3960812" cy="555625"/>
          </a:xfrm>
          <a:prstGeom prst="rect">
            <a:avLst/>
          </a:prstGeom>
          <a:solidFill>
            <a:srgbClr val="CCFFFF"/>
          </a:solidFill>
          <a:ln w="25400" algn="ctr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三、确定电动机转速</a:t>
            </a:r>
          </a:p>
        </p:txBody>
      </p:sp>
    </p:spTree>
  </p:cSld>
  <p:clrMapOvr>
    <a:masterClrMapping/>
  </p:clrMapOvr>
  <p:transition advTm="37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5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5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5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9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CAA7D061-DEB1-4750-BACB-5E6D7A2968CF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25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819" name="Rectangle 10"/>
          <p:cNvSpPr>
            <a:spLocks noChangeArrowheads="1"/>
          </p:cNvSpPr>
          <p:nvPr/>
        </p:nvSpPr>
        <p:spPr bwMode="auto">
          <a:xfrm>
            <a:off x="406400" y="2286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传动装置的总体设计</a:t>
            </a:r>
          </a:p>
        </p:txBody>
      </p:sp>
      <p:sp>
        <p:nvSpPr>
          <p:cNvPr id="68619" name="Rectangle 11"/>
          <p:cNvSpPr>
            <a:spLocks noChangeArrowheads="1"/>
          </p:cNvSpPr>
          <p:nvPr/>
        </p:nvSpPr>
        <p:spPr bwMode="auto">
          <a:xfrm>
            <a:off x="876300" y="1373188"/>
            <a:ext cx="8150225" cy="14589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Monotype Sorts" pitchFamily="2" charset="2"/>
              <a:buNone/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(1) 双级圆柱齿轮减速器:  优先选用 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1500 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r/min</a:t>
            </a:r>
          </a:p>
          <a:p>
            <a:pPr algn="just"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Monotype Sorts" pitchFamily="2" charset="2"/>
              <a:buNone/>
              <a:defRPr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(2)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锥</a:t>
            </a:r>
            <a:r>
              <a:rPr lang="zh-CN" altLang="en-US" sz="2400" dirty="0">
                <a:latin typeface="+mj-lt"/>
                <a:ea typeface="微软雅黑" pitchFamily="34" charset="-122"/>
              </a:rPr>
              <a:t>―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柱减速器:  优先选用 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1000 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r/min</a:t>
            </a:r>
          </a:p>
          <a:p>
            <a:pPr algn="just"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Monotype Sorts" pitchFamily="2" charset="2"/>
              <a:buNone/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        确定满载转速（见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P328     　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表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－1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84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8629" name="Group 21"/>
          <p:cNvGrpSpPr>
            <a:grpSpLocks/>
          </p:cNvGrpSpPr>
          <p:nvPr/>
        </p:nvGrpSpPr>
        <p:grpSpPr bwMode="auto">
          <a:xfrm>
            <a:off x="784225" y="3451225"/>
            <a:ext cx="8331200" cy="2771775"/>
            <a:chOff x="158" y="1931"/>
            <a:chExt cx="5248" cy="1746"/>
          </a:xfrm>
        </p:grpSpPr>
        <p:sp>
          <p:nvSpPr>
            <p:cNvPr id="34822" name="Rectangle 14"/>
            <p:cNvSpPr>
              <a:spLocks noChangeArrowheads="1"/>
            </p:cNvSpPr>
            <p:nvPr/>
          </p:nvSpPr>
          <p:spPr bwMode="auto">
            <a:xfrm>
              <a:off x="158" y="1931"/>
              <a:ext cx="1700" cy="302"/>
            </a:xfrm>
            <a:prstGeom prst="rect">
              <a:avLst/>
            </a:prstGeom>
            <a:solidFill>
              <a:srgbClr val="CCFFFF"/>
            </a:solidFill>
            <a:ln w="25400" algn="ctr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b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四、选定电动机</a:t>
              </a:r>
            </a:p>
          </p:txBody>
        </p:sp>
        <p:grpSp>
          <p:nvGrpSpPr>
            <p:cNvPr id="34823" name="Group 20"/>
            <p:cNvGrpSpPr>
              <a:grpSpLocks/>
            </p:cNvGrpSpPr>
            <p:nvPr/>
          </p:nvGrpSpPr>
          <p:grpSpPr bwMode="auto">
            <a:xfrm>
              <a:off x="296" y="2432"/>
              <a:ext cx="5110" cy="1245"/>
              <a:chOff x="296" y="2432"/>
              <a:chExt cx="5110" cy="1245"/>
            </a:xfrm>
          </p:grpSpPr>
          <p:sp>
            <p:nvSpPr>
              <p:cNvPr id="29704" name="Rectangle 12"/>
              <p:cNvSpPr>
                <a:spLocks noChangeArrowheads="1"/>
              </p:cNvSpPr>
              <p:nvPr/>
            </p:nvSpPr>
            <p:spPr bwMode="auto">
              <a:xfrm>
                <a:off x="296" y="2432"/>
                <a:ext cx="5110" cy="12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accent2"/>
                  </a:buClr>
                  <a:buChar char="z"/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Char char="y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x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just" eaLnBrk="1" hangingPunct="1">
                  <a:lnSpc>
                    <a:spcPct val="90000"/>
                  </a:lnSpc>
                  <a:spcBef>
                    <a:spcPct val="50000"/>
                  </a:spcBef>
                  <a:buFont typeface="Monotype Sorts" pitchFamily="2" charset="2"/>
                  <a:buNone/>
                  <a:defRPr/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　　       X  </a:t>
                </a:r>
                <a:r>
                  <a:rPr lang="en-US" altLang="zh-CN" sz="24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sz="24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　</a:t>
                </a:r>
                <a:r>
                  <a:rPr lang="en-US" altLang="zh-CN" sz="2400" dirty="0">
                    <a:latin typeface="+mj-lt"/>
                    <a:ea typeface="微软雅黑" panose="020B0503020204020204" pitchFamily="34" charset="-122"/>
                  </a:rPr>
                  <a:t>      ∆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X                     </a:t>
                </a:r>
                <a:r>
                  <a:rPr lang="en-US" altLang="zh-CN" sz="24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 eaLnBrk="1" hangingPunct="1">
                  <a:lnSpc>
                    <a:spcPct val="90000"/>
                  </a:lnSpc>
                  <a:spcBef>
                    <a:spcPct val="50000"/>
                  </a:spcBef>
                  <a:buFont typeface="Monotype Sorts" pitchFamily="2" charset="2"/>
                  <a:buNone/>
                  <a:defRPr/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￣　         ￣￣￣￣       ￣            ￣　　           ￣￣</a:t>
                </a:r>
              </a:p>
              <a:p>
                <a:pPr algn="just" eaLnBrk="1" hangingPunct="1">
                  <a:lnSpc>
                    <a:spcPct val="90000"/>
                  </a:lnSpc>
                  <a:spcBef>
                    <a:spcPct val="50000"/>
                  </a:spcBef>
                  <a:buFont typeface="Monotype Sorts" pitchFamily="2" charset="2"/>
                  <a:buNone/>
                  <a:defRPr/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系列三相　中心高　机座长    同一机座和转速　 极数 </a:t>
                </a:r>
              </a:p>
              <a:p>
                <a:pPr algn="just" eaLnBrk="1" hangingPunct="1">
                  <a:lnSpc>
                    <a:spcPct val="90000"/>
                  </a:lnSpc>
                  <a:spcBef>
                    <a:spcPct val="50000"/>
                  </a:spcBef>
                  <a:buFont typeface="Monotype Sorts" pitchFamily="2" charset="2"/>
                  <a:buNone/>
                  <a:defRPr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异步电动机　　　     度代号    下不同的功率序号　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825" name="Line 15"/>
              <p:cNvSpPr>
                <a:spLocks noChangeShapeType="1"/>
              </p:cNvSpPr>
              <p:nvPr/>
            </p:nvSpPr>
            <p:spPr bwMode="auto">
              <a:xfrm>
                <a:off x="438" y="2841"/>
                <a:ext cx="227" cy="272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b"/>
              <a:lstStyle/>
              <a:p>
                <a:endParaRPr lang="zh-CN" altLang="en-US"/>
              </a:p>
            </p:txBody>
          </p:sp>
          <p:sp>
            <p:nvSpPr>
              <p:cNvPr id="34826" name="Line 16"/>
              <p:cNvSpPr>
                <a:spLocks noChangeShapeType="1"/>
              </p:cNvSpPr>
              <p:nvPr/>
            </p:nvSpPr>
            <p:spPr bwMode="auto">
              <a:xfrm>
                <a:off x="1618" y="2841"/>
                <a:ext cx="0" cy="22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b"/>
              <a:lstStyle/>
              <a:p>
                <a:endParaRPr lang="zh-CN" altLang="en-US"/>
              </a:p>
            </p:txBody>
          </p:sp>
          <p:sp>
            <p:nvSpPr>
              <p:cNvPr id="34827" name="Line 17"/>
              <p:cNvSpPr>
                <a:spLocks noChangeShapeType="1"/>
              </p:cNvSpPr>
              <p:nvPr/>
            </p:nvSpPr>
            <p:spPr bwMode="auto">
              <a:xfrm>
                <a:off x="2527" y="2835"/>
                <a:ext cx="0" cy="22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b"/>
              <a:lstStyle/>
              <a:p>
                <a:endParaRPr lang="zh-CN" altLang="en-US"/>
              </a:p>
            </p:txBody>
          </p:sp>
          <p:sp>
            <p:nvSpPr>
              <p:cNvPr id="34828" name="Line 18"/>
              <p:cNvSpPr>
                <a:spLocks noChangeShapeType="1"/>
              </p:cNvSpPr>
              <p:nvPr/>
            </p:nvSpPr>
            <p:spPr bwMode="auto">
              <a:xfrm>
                <a:off x="3362" y="2834"/>
                <a:ext cx="78" cy="2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b"/>
              <a:lstStyle/>
              <a:p>
                <a:endParaRPr lang="zh-CN" altLang="en-US"/>
              </a:p>
            </p:txBody>
          </p:sp>
          <p:sp>
            <p:nvSpPr>
              <p:cNvPr id="34829" name="Line 19"/>
              <p:cNvSpPr>
                <a:spLocks noChangeShapeType="1"/>
              </p:cNvSpPr>
              <p:nvPr/>
            </p:nvSpPr>
            <p:spPr bwMode="auto">
              <a:xfrm>
                <a:off x="4755" y="2840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b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advTm="37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9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2F1CBA80-2DF6-4A60-AD52-688F4BA4F8F4}" type="slidenum">
              <a:rPr kumimoji="0" lang="zh-CN" altLang="en-US" sz="2400" smtClean="0">
                <a:solidFill>
                  <a:srgbClr val="0000CC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26</a:t>
            </a:fld>
            <a:endParaRPr kumimoji="0" lang="en-US" altLang="zh-CN" sz="240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sp>
        <p:nvSpPr>
          <p:cNvPr id="35843" name="Rectangle 8"/>
          <p:cNvSpPr>
            <a:spLocks noChangeArrowheads="1"/>
          </p:cNvSpPr>
          <p:nvPr/>
        </p:nvSpPr>
        <p:spPr bwMode="auto">
          <a:xfrm>
            <a:off x="406400" y="2286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传动装置的总体设计</a:t>
            </a:r>
          </a:p>
        </p:txBody>
      </p:sp>
      <p:sp>
        <p:nvSpPr>
          <p:cNvPr id="69641" name="Rectangle 9"/>
          <p:cNvSpPr>
            <a:spLocks noChangeArrowheads="1"/>
          </p:cNvSpPr>
          <p:nvPr/>
        </p:nvSpPr>
        <p:spPr bwMode="auto">
          <a:xfrm>
            <a:off x="1225550" y="4205288"/>
            <a:ext cx="7508875" cy="219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sy="-100000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20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② 设计计算传动装置各级转速时，按电动机</a:t>
            </a:r>
            <a:r>
              <a:rPr lang="zh-CN" altLang="en-US" sz="2400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满载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400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转速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进行计算。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Clr>
                <a:srgbClr val="FF0000"/>
              </a:buClr>
              <a:buFont typeface="Batang" pitchFamily="18" charset="-127"/>
              <a:buChar char="★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不按同步转速1000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r/min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或 1500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r/min</a:t>
            </a:r>
          </a:p>
        </p:txBody>
      </p:sp>
      <p:sp>
        <p:nvSpPr>
          <p:cNvPr id="35845" name="Rectangle 1036"/>
          <p:cNvSpPr>
            <a:spLocks noChangeArrowheads="1"/>
          </p:cNvSpPr>
          <p:nvPr/>
        </p:nvSpPr>
        <p:spPr bwMode="auto">
          <a:xfrm>
            <a:off x="1225550" y="908050"/>
            <a:ext cx="7613650" cy="304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20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注：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① 设计计算传动装置各级功率时，按电动机</a:t>
            </a:r>
            <a:r>
              <a:rPr lang="zh-CN" altLang="en-US" sz="2400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400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功率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400" baseline="-30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进行计算。</a:t>
            </a:r>
          </a:p>
          <a:p>
            <a:pPr algn="just" eaLnBrk="1" hangingPunct="1">
              <a:lnSpc>
                <a:spcPct val="20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400" baseline="-3000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＜P</a:t>
            </a:r>
            <a:r>
              <a:rPr lang="en-US" altLang="zh-CN" sz="2400" baseline="-3000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，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400" baseline="-3000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为额定功率，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400" baseline="-30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作为设计功率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</p:cSld>
  <p:clrMapOvr>
    <a:masterClrMapping/>
  </p:clrMapOvr>
  <p:transition advTm="37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4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E7EE9C3D-B686-4A1F-9C6E-4F8AC0E1B5F6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27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891" name="Rectangle 7"/>
          <p:cNvSpPr>
            <a:spLocks noChangeArrowheads="1"/>
          </p:cNvSpPr>
          <p:nvPr/>
        </p:nvSpPr>
        <p:spPr bwMode="auto">
          <a:xfrm>
            <a:off x="406400" y="228600"/>
            <a:ext cx="8432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4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计算传动装置的总传动比及分配各级传动比</a:t>
            </a:r>
          </a:p>
        </p:txBody>
      </p:sp>
      <p:sp>
        <p:nvSpPr>
          <p:cNvPr id="37892" name="Rectangle 3"/>
          <p:cNvSpPr>
            <a:spLocks noChangeArrowheads="1"/>
          </p:cNvSpPr>
          <p:nvPr/>
        </p:nvSpPr>
        <p:spPr bwMode="auto">
          <a:xfrm>
            <a:off x="539750" y="1406525"/>
            <a:ext cx="2952750" cy="555625"/>
          </a:xfrm>
          <a:prstGeom prst="rect">
            <a:avLst/>
          </a:prstGeom>
          <a:solidFill>
            <a:srgbClr val="CCFFFF"/>
          </a:solidFill>
          <a:ln w="25400" algn="ctr">
            <a:solidFill>
              <a:srgbClr val="0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一、总传动比</a:t>
            </a:r>
          </a:p>
        </p:txBody>
      </p:sp>
      <p:grpSp>
        <p:nvGrpSpPr>
          <p:cNvPr id="162828" name="Group 12"/>
          <p:cNvGrpSpPr>
            <a:grpSpLocks/>
          </p:cNvGrpSpPr>
          <p:nvPr/>
        </p:nvGrpSpPr>
        <p:grpSpPr bwMode="auto">
          <a:xfrm>
            <a:off x="1476375" y="1989138"/>
            <a:ext cx="6065838" cy="2233612"/>
            <a:chOff x="839" y="980"/>
            <a:chExt cx="3821" cy="1407"/>
          </a:xfrm>
        </p:grpSpPr>
        <p:grpSp>
          <p:nvGrpSpPr>
            <p:cNvPr id="37898" name="Group 11"/>
            <p:cNvGrpSpPr>
              <a:grpSpLocks/>
            </p:cNvGrpSpPr>
            <p:nvPr/>
          </p:nvGrpSpPr>
          <p:grpSpPr bwMode="auto">
            <a:xfrm>
              <a:off x="839" y="1071"/>
              <a:ext cx="2960" cy="1316"/>
              <a:chOff x="839" y="1071"/>
              <a:chExt cx="2960" cy="1316"/>
            </a:xfrm>
          </p:grpSpPr>
          <p:sp>
            <p:nvSpPr>
              <p:cNvPr id="37900" name="Rectangle 8"/>
              <p:cNvSpPr>
                <a:spLocks noChangeArrowheads="1"/>
              </p:cNvSpPr>
              <p:nvPr/>
            </p:nvSpPr>
            <p:spPr bwMode="auto">
              <a:xfrm>
                <a:off x="839" y="1071"/>
                <a:ext cx="2960" cy="8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sy="-100000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Font typeface="Monotype Sorts" pitchFamily="2" charset="2"/>
                  <a:buNone/>
                </a:pPr>
                <a:endParaRPr lang="en-US" altLang="zh-CN" sz="2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Font typeface="Monotype Sorts" pitchFamily="2" charset="2"/>
                  <a:buNone/>
                </a:pPr>
                <a:r>
                  <a:rPr lang="en-US" altLang="zh-CN" sz="28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i=n</a:t>
                </a:r>
                <a:r>
                  <a:rPr lang="en-US" altLang="zh-CN" sz="2800" baseline="-25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r>
                  <a:rPr lang="en-US" altLang="zh-CN" sz="28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/n</a:t>
                </a:r>
                <a:r>
                  <a:rPr lang="en-US" altLang="zh-CN" sz="2800" baseline="-25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</a:t>
                </a:r>
                <a:r>
                  <a:rPr lang="en-US" altLang="zh-CN" sz="28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</a:t>
                </a:r>
              </a:p>
            </p:txBody>
          </p:sp>
          <p:sp>
            <p:nvSpPr>
              <p:cNvPr id="37901" name="AutoShape 4"/>
              <p:cNvSpPr>
                <a:spLocks/>
              </p:cNvSpPr>
              <p:nvPr/>
            </p:nvSpPr>
            <p:spPr bwMode="auto">
              <a:xfrm>
                <a:off x="1973" y="1117"/>
                <a:ext cx="136" cy="1270"/>
              </a:xfrm>
              <a:prstGeom prst="leftBrace">
                <a:avLst>
                  <a:gd name="adj1" fmla="val 77819"/>
                  <a:gd name="adj2" fmla="val 50000"/>
                </a:avLst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5000"/>
                  </a:lnSpc>
                  <a:spcBef>
                    <a:spcPct val="30000"/>
                  </a:spcBef>
                  <a:buClr>
                    <a:srgbClr val="A50021"/>
                  </a:buClr>
                  <a:buFont typeface="Monotype Sorts" pitchFamily="2" charset="2"/>
                  <a:buChar char="v"/>
                </a:pPr>
                <a:endPara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7899" name="Rectangle 6"/>
            <p:cNvSpPr>
              <a:spLocks noChangeArrowheads="1"/>
            </p:cNvSpPr>
            <p:nvPr/>
          </p:nvSpPr>
          <p:spPr bwMode="auto">
            <a:xfrm>
              <a:off x="2154" y="980"/>
              <a:ext cx="2506" cy="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b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双级圆柱：</a:t>
              </a:r>
              <a:r>
                <a:rPr lang="en-US" altLang="zh-CN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sz="2800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带</a:t>
              </a:r>
              <a:r>
                <a: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·</a:t>
              </a:r>
              <a:r>
                <a: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sz="2800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齿1 </a:t>
              </a:r>
              <a:r>
                <a:rPr lang="en-US" altLang="zh-CN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·</a:t>
              </a:r>
              <a:r>
                <a:rPr lang="zh-CN" altLang="en-US" sz="2800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sz="2800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齿2</a:t>
              </a:r>
            </a:p>
          </p:txBody>
        </p:sp>
      </p:grpSp>
      <p:sp>
        <p:nvSpPr>
          <p:cNvPr id="162824" name="Rectangle 8"/>
          <p:cNvSpPr>
            <a:spLocks noChangeArrowheads="1"/>
          </p:cNvSpPr>
          <p:nvPr/>
        </p:nvSpPr>
        <p:spPr bwMode="auto">
          <a:xfrm>
            <a:off x="3563938" y="3430588"/>
            <a:ext cx="4105275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锥-柱：     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8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锥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·i</a:t>
            </a:r>
            <a:r>
              <a:rPr lang="zh-CN" altLang="en-US" sz="28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斜</a:t>
            </a:r>
            <a:endParaRPr lang="en-US" altLang="zh-CN" sz="2800" baseline="-25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2829" name="Group 13"/>
          <p:cNvGrpSpPr>
            <a:grpSpLocks/>
          </p:cNvGrpSpPr>
          <p:nvPr/>
        </p:nvGrpSpPr>
        <p:grpSpPr bwMode="auto">
          <a:xfrm>
            <a:off x="539750" y="4884738"/>
            <a:ext cx="3887788" cy="1423987"/>
            <a:chOff x="113" y="2516"/>
            <a:chExt cx="2449" cy="897"/>
          </a:xfrm>
        </p:grpSpPr>
        <p:sp>
          <p:nvSpPr>
            <p:cNvPr id="37896" name="Rectangle 9"/>
            <p:cNvSpPr>
              <a:spLocks noChangeArrowheads="1"/>
            </p:cNvSpPr>
            <p:nvPr/>
          </p:nvSpPr>
          <p:spPr bwMode="auto">
            <a:xfrm>
              <a:off x="192" y="3113"/>
              <a:ext cx="2370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sy="-100000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原则：</a:t>
              </a:r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P19~20</a:t>
              </a:r>
              <a:endPara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897" name="Rectangle 10"/>
            <p:cNvSpPr>
              <a:spLocks noChangeArrowheads="1"/>
            </p:cNvSpPr>
            <p:nvPr/>
          </p:nvSpPr>
          <p:spPr bwMode="auto">
            <a:xfrm>
              <a:off x="113" y="2516"/>
              <a:ext cx="1924" cy="350"/>
            </a:xfrm>
            <a:prstGeom prst="rect">
              <a:avLst/>
            </a:prstGeom>
            <a:solidFill>
              <a:srgbClr val="CCFFFF"/>
            </a:solidFill>
            <a:ln w="25400" algn="ctr">
              <a:solidFill>
                <a:srgbClr val="0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b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二、分配传动比</a:t>
              </a:r>
            </a:p>
          </p:txBody>
        </p:sp>
      </p:grpSp>
    </p:spTree>
  </p:cSld>
  <p:clrMapOvr>
    <a:masterClrMapping/>
  </p:clrMapOvr>
  <p:transition advTm="37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2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2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2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2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1F091328-2086-4447-A7CC-F6C48B081DD7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28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939" name="Rectangle 9"/>
          <p:cNvSpPr>
            <a:spLocks noChangeArrowheads="1"/>
          </p:cNvSpPr>
          <p:nvPr/>
        </p:nvSpPr>
        <p:spPr bwMode="auto">
          <a:xfrm>
            <a:off x="323850" y="188913"/>
            <a:ext cx="8432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4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计算传动装置的总传动比及分配各级传动比</a:t>
            </a:r>
          </a:p>
        </p:txBody>
      </p:sp>
      <p:sp>
        <p:nvSpPr>
          <p:cNvPr id="32772" name="Rectangle 10"/>
          <p:cNvSpPr>
            <a:spLocks noChangeArrowheads="1"/>
          </p:cNvSpPr>
          <p:nvPr/>
        </p:nvSpPr>
        <p:spPr bwMode="auto">
          <a:xfrm>
            <a:off x="431800" y="1196975"/>
            <a:ext cx="8361363" cy="52625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808038" indent="-808038" eaLnBrk="0" hangingPunct="0">
              <a:spcBef>
                <a:spcPct val="20000"/>
              </a:spcBef>
              <a:buClr>
                <a:schemeClr val="accent2"/>
              </a:buClr>
              <a:buChar char="z"/>
              <a:defRPr kumimoji="1"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Char char="y"/>
              <a:defRPr kumimoji="1"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x"/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75000"/>
              </a:lnSpc>
              <a:spcBef>
                <a:spcPct val="0"/>
              </a:spcBef>
              <a:buFont typeface="Monotype Sorts" pitchFamily="2" charset="2"/>
              <a:buNone/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  1、各级传动比应在推荐范围内（表2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1）；</a:t>
            </a:r>
          </a:p>
          <a:p>
            <a:pPr algn="just" eaLnBrk="1" hangingPunct="1">
              <a:lnSpc>
                <a:spcPct val="175000"/>
              </a:lnSpc>
              <a:spcBef>
                <a:spcPct val="0"/>
              </a:spcBef>
              <a:buFont typeface="Monotype Sorts" pitchFamily="2" charset="2"/>
              <a:buNone/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  2、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sz="2400" baseline="-25000" dirty="0">
                <a:latin typeface="微软雅黑" pitchFamily="34" charset="-122"/>
                <a:ea typeface="微软雅黑" pitchFamily="34" charset="-122"/>
              </a:rPr>
              <a:t>带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不能太大，以免大带轮半径超过减速器箱座中心高，造成安装困难；</a:t>
            </a:r>
          </a:p>
          <a:p>
            <a:pPr algn="just" eaLnBrk="1" hangingPunct="1">
              <a:lnSpc>
                <a:spcPct val="175000"/>
              </a:lnSpc>
              <a:spcBef>
                <a:spcPct val="0"/>
              </a:spcBef>
              <a:buFont typeface="Monotype Sorts" pitchFamily="2" charset="2"/>
              <a:buNone/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　     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sz="2400" baseline="-25000" dirty="0">
                <a:latin typeface="微软雅黑" pitchFamily="34" charset="-122"/>
                <a:ea typeface="微软雅黑" pitchFamily="34" charset="-122"/>
              </a:rPr>
              <a:t>带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＝2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~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４，可取偏小些的值（2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~2.5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）</a:t>
            </a:r>
          </a:p>
          <a:p>
            <a:pPr algn="just" eaLnBrk="1" hangingPunct="1">
              <a:lnSpc>
                <a:spcPct val="175000"/>
              </a:lnSpc>
              <a:spcBef>
                <a:spcPct val="0"/>
              </a:spcBef>
              <a:buFont typeface="Monotype Sorts" pitchFamily="2" charset="2"/>
              <a:buNone/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  3、各传动件互不干涉，便于润滑，且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sz="2400" baseline="-25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齿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≠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整数</a:t>
            </a:r>
          </a:p>
          <a:p>
            <a:pPr algn="just" eaLnBrk="1" hangingPunct="1">
              <a:lnSpc>
                <a:spcPct val="175000"/>
              </a:lnSpc>
              <a:spcBef>
                <a:spcPct val="0"/>
              </a:spcBef>
              <a:buFont typeface="Monotype Sorts" pitchFamily="2" charset="2"/>
              <a:buNone/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       双级圆柱齿轮减速器: 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sz="2400" baseline="-25000" dirty="0">
                <a:latin typeface="微软雅黑" pitchFamily="34" charset="-122"/>
                <a:ea typeface="微软雅黑" pitchFamily="34" charset="-122"/>
              </a:rPr>
              <a:t>高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＝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(1.3~1.5)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sz="2400" baseline="-25000" dirty="0">
                <a:latin typeface="微软雅黑" pitchFamily="34" charset="-122"/>
                <a:ea typeface="微软雅黑" pitchFamily="34" charset="-122"/>
              </a:rPr>
              <a:t>低</a:t>
            </a:r>
          </a:p>
          <a:p>
            <a:pPr algn="just" eaLnBrk="1" hangingPunct="1">
              <a:lnSpc>
                <a:spcPct val="175000"/>
              </a:lnSpc>
              <a:spcBef>
                <a:spcPct val="0"/>
              </a:spcBef>
              <a:buFont typeface="Monotype Sorts" pitchFamily="2" charset="2"/>
              <a:buNone/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       锥</a:t>
            </a:r>
            <a:r>
              <a:rPr lang="zh-CN" altLang="en-US" sz="2400" dirty="0">
                <a:latin typeface="+mj-lt"/>
                <a:ea typeface="微软雅黑" pitchFamily="34" charset="-122"/>
              </a:rPr>
              <a:t>―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柱齿轮减速器:  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sz="2400" baseline="-25000" dirty="0">
                <a:latin typeface="微软雅黑" pitchFamily="34" charset="-122"/>
                <a:ea typeface="微软雅黑" pitchFamily="34" charset="-122"/>
              </a:rPr>
              <a:t>锥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≈0.25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&lt;2~3</a:t>
            </a:r>
          </a:p>
          <a:p>
            <a:pPr algn="just" eaLnBrk="1" hangingPunct="1">
              <a:lnSpc>
                <a:spcPct val="175000"/>
              </a:lnSpc>
              <a:spcBef>
                <a:spcPct val="0"/>
              </a:spcBef>
              <a:buFont typeface="Monotype Sorts" pitchFamily="2" charset="2"/>
              <a:buNone/>
              <a:defRPr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注：传动件的参数确定后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验算传动比的误差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δ</a:t>
            </a:r>
            <a:r>
              <a:rPr lang="en-US" altLang="zh-CN" sz="2400" baseline="-25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应满足要求。</a:t>
            </a:r>
            <a:endParaRPr lang="en-US" altLang="zh-CN" sz="2400" baseline="-25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advTm="370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FAE96F40-6933-42BC-9E21-42B4EB24C66A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29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987" name="Rectangle 4"/>
          <p:cNvSpPr>
            <a:spLocks noChangeArrowheads="1"/>
          </p:cNvSpPr>
          <p:nvPr/>
        </p:nvSpPr>
        <p:spPr bwMode="auto">
          <a:xfrm>
            <a:off x="323850" y="188913"/>
            <a:ext cx="8432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4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计算传动装置的总传动比及分配各级传动比</a:t>
            </a:r>
          </a:p>
        </p:txBody>
      </p:sp>
      <p:sp>
        <p:nvSpPr>
          <p:cNvPr id="41988" name="Text Box 33"/>
          <p:cNvSpPr txBox="1">
            <a:spLocks noChangeArrowheads="1"/>
          </p:cNvSpPr>
          <p:nvPr/>
        </p:nvSpPr>
        <p:spPr bwMode="auto">
          <a:xfrm>
            <a:off x="5403850" y="1654175"/>
            <a:ext cx="3390900" cy="158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sy="-100000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30000"/>
              </a:spcBef>
              <a:buClr>
                <a:srgbClr val="A50021"/>
              </a:buClr>
              <a:buFont typeface="Monotype Sorts" pitchFamily="2" charset="2"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两级传动的大齿轮直径相差太远，以至高速级不能润滑。</a:t>
            </a:r>
          </a:p>
        </p:txBody>
      </p:sp>
      <p:sp>
        <p:nvSpPr>
          <p:cNvPr id="41989" name="Text Box 34"/>
          <p:cNvSpPr txBox="1">
            <a:spLocks noChangeArrowheads="1"/>
          </p:cNvSpPr>
          <p:nvPr/>
        </p:nvSpPr>
        <p:spPr bwMode="auto">
          <a:xfrm>
            <a:off x="5394325" y="4822825"/>
            <a:ext cx="3362325" cy="108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sy="-100000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30000"/>
              </a:spcBef>
              <a:buClr>
                <a:srgbClr val="A50021"/>
              </a:buClr>
              <a:buFont typeface="Monotype Sorts" pitchFamily="2" charset="2"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高速级大齿轮与低速轴碰撞。</a:t>
            </a:r>
          </a:p>
        </p:txBody>
      </p:sp>
      <p:grpSp>
        <p:nvGrpSpPr>
          <p:cNvPr id="41990" name="组合 1"/>
          <p:cNvGrpSpPr>
            <a:grpSpLocks/>
          </p:cNvGrpSpPr>
          <p:nvPr/>
        </p:nvGrpSpPr>
        <p:grpSpPr bwMode="auto">
          <a:xfrm>
            <a:off x="1063625" y="1241425"/>
            <a:ext cx="4154488" cy="5297488"/>
            <a:chOff x="1063625" y="1241425"/>
            <a:chExt cx="4154488" cy="5297488"/>
          </a:xfrm>
        </p:grpSpPr>
        <p:sp>
          <p:nvSpPr>
            <p:cNvPr id="41991" name="Oval 5"/>
            <p:cNvSpPr>
              <a:spLocks noChangeArrowheads="1"/>
            </p:cNvSpPr>
            <p:nvPr/>
          </p:nvSpPr>
          <p:spPr bwMode="auto">
            <a:xfrm>
              <a:off x="1249363" y="2268538"/>
              <a:ext cx="609600" cy="609600"/>
            </a:xfrm>
            <a:prstGeom prst="ellips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sy="-100000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5000"/>
                </a:lnSpc>
                <a:spcBef>
                  <a:spcPct val="30000"/>
                </a:spcBef>
                <a:buClr>
                  <a:srgbClr val="A50021"/>
                </a:buClr>
                <a:buFont typeface="Monotype Sorts" pitchFamily="2" charset="2"/>
                <a:buChar char="v"/>
              </a:pPr>
              <a:endParaRPr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41992" name="Oval 6"/>
            <p:cNvSpPr>
              <a:spLocks noChangeArrowheads="1"/>
            </p:cNvSpPr>
            <p:nvPr/>
          </p:nvSpPr>
          <p:spPr bwMode="auto">
            <a:xfrm>
              <a:off x="1868488" y="1928813"/>
              <a:ext cx="1290637" cy="1290637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sy="-100000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5000"/>
                </a:lnSpc>
                <a:spcBef>
                  <a:spcPct val="30000"/>
                </a:spcBef>
                <a:buClr>
                  <a:srgbClr val="A50021"/>
                </a:buClr>
                <a:buFont typeface="Monotype Sorts" pitchFamily="2" charset="2"/>
                <a:buChar char="v"/>
              </a:pPr>
              <a:endParaRPr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41993" name="Oval 7"/>
            <p:cNvSpPr>
              <a:spLocks noChangeArrowheads="1"/>
            </p:cNvSpPr>
            <p:nvPr/>
          </p:nvSpPr>
          <p:spPr bwMode="auto">
            <a:xfrm>
              <a:off x="2151063" y="2211388"/>
              <a:ext cx="727075" cy="727075"/>
            </a:xfrm>
            <a:prstGeom prst="ellips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sy="-100000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5000"/>
                </a:lnSpc>
                <a:spcBef>
                  <a:spcPct val="30000"/>
                </a:spcBef>
                <a:buClr>
                  <a:srgbClr val="A50021"/>
                </a:buClr>
                <a:buFont typeface="Monotype Sorts" pitchFamily="2" charset="2"/>
                <a:buChar char="v"/>
              </a:pPr>
              <a:endParaRPr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41994" name="Line 9"/>
            <p:cNvSpPr>
              <a:spLocks noChangeShapeType="1"/>
            </p:cNvSpPr>
            <p:nvPr/>
          </p:nvSpPr>
          <p:spPr bwMode="auto">
            <a:xfrm>
              <a:off x="1063625" y="2573338"/>
              <a:ext cx="4154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sy="-100000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1995" name="Line 10"/>
            <p:cNvSpPr>
              <a:spLocks noChangeShapeType="1"/>
            </p:cNvSpPr>
            <p:nvPr/>
          </p:nvSpPr>
          <p:spPr bwMode="auto">
            <a:xfrm>
              <a:off x="3990975" y="1241425"/>
              <a:ext cx="0" cy="2671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sy="-100000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1996" name="Line 11"/>
            <p:cNvSpPr>
              <a:spLocks noChangeShapeType="1"/>
            </p:cNvSpPr>
            <p:nvPr/>
          </p:nvSpPr>
          <p:spPr bwMode="auto">
            <a:xfrm>
              <a:off x="2517775" y="1798638"/>
              <a:ext cx="0" cy="15382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sy="-100000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1997" name="Line 12"/>
            <p:cNvSpPr>
              <a:spLocks noChangeShapeType="1"/>
            </p:cNvSpPr>
            <p:nvPr/>
          </p:nvSpPr>
          <p:spPr bwMode="auto">
            <a:xfrm>
              <a:off x="1544638" y="2100263"/>
              <a:ext cx="0" cy="9636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sy="-100000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1998" name="Rectangle 13" descr="横虚线"/>
            <p:cNvSpPr>
              <a:spLocks noChangeArrowheads="1"/>
            </p:cNvSpPr>
            <p:nvPr/>
          </p:nvSpPr>
          <p:spPr bwMode="auto">
            <a:xfrm>
              <a:off x="1195388" y="3275013"/>
              <a:ext cx="3965575" cy="549275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sy="-100000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5000"/>
                </a:lnSpc>
                <a:spcBef>
                  <a:spcPct val="30000"/>
                </a:spcBef>
                <a:buClr>
                  <a:srgbClr val="A50021"/>
                </a:buClr>
                <a:buFont typeface="Monotype Sorts" pitchFamily="2" charset="2"/>
                <a:buChar char="v"/>
              </a:pPr>
              <a:endParaRPr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41999" name="Rectangle 14"/>
            <p:cNvSpPr>
              <a:spLocks noChangeArrowheads="1"/>
            </p:cNvSpPr>
            <p:nvPr/>
          </p:nvSpPr>
          <p:spPr bwMode="auto">
            <a:xfrm>
              <a:off x="1195388" y="1335088"/>
              <a:ext cx="3965575" cy="249396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sy="-100000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5000"/>
                </a:lnSpc>
                <a:spcBef>
                  <a:spcPct val="30000"/>
                </a:spcBef>
                <a:buClr>
                  <a:srgbClr val="A50021"/>
                </a:buClr>
                <a:buFont typeface="Monotype Sorts" pitchFamily="2" charset="2"/>
                <a:buChar char="v"/>
              </a:pPr>
              <a:endParaRPr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42000" name="Oval 18"/>
            <p:cNvSpPr>
              <a:spLocks noChangeArrowheads="1"/>
            </p:cNvSpPr>
            <p:nvPr/>
          </p:nvSpPr>
          <p:spPr bwMode="auto">
            <a:xfrm>
              <a:off x="1916113" y="4373563"/>
              <a:ext cx="2095500" cy="2085975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sy="-100000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5000"/>
                </a:lnSpc>
                <a:spcBef>
                  <a:spcPct val="30000"/>
                </a:spcBef>
                <a:buClr>
                  <a:srgbClr val="A50021"/>
                </a:buClr>
                <a:buFont typeface="Monotype Sorts" pitchFamily="2" charset="2"/>
                <a:buChar char="v"/>
              </a:pPr>
              <a:endParaRPr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42001" name="Oval 19"/>
            <p:cNvSpPr>
              <a:spLocks noChangeArrowheads="1"/>
            </p:cNvSpPr>
            <p:nvPr/>
          </p:nvSpPr>
          <p:spPr bwMode="auto">
            <a:xfrm>
              <a:off x="2632075" y="5135563"/>
              <a:ext cx="569913" cy="571500"/>
            </a:xfrm>
            <a:prstGeom prst="ellips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sy="-100000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5000"/>
                </a:lnSpc>
                <a:spcBef>
                  <a:spcPct val="30000"/>
                </a:spcBef>
                <a:buClr>
                  <a:srgbClr val="A50021"/>
                </a:buClr>
                <a:buFont typeface="Monotype Sorts" pitchFamily="2" charset="2"/>
                <a:buChar char="v"/>
              </a:pPr>
              <a:endParaRPr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42002" name="Oval 20"/>
            <p:cNvSpPr>
              <a:spLocks noChangeArrowheads="1"/>
            </p:cNvSpPr>
            <p:nvPr/>
          </p:nvSpPr>
          <p:spPr bwMode="auto">
            <a:xfrm>
              <a:off x="3219450" y="4530725"/>
              <a:ext cx="1784350" cy="1782763"/>
            </a:xfrm>
            <a:prstGeom prst="ellips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sy="-100000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5000"/>
                </a:lnSpc>
                <a:spcBef>
                  <a:spcPct val="30000"/>
                </a:spcBef>
                <a:buClr>
                  <a:srgbClr val="A50021"/>
                </a:buClr>
                <a:buFont typeface="Monotype Sorts" pitchFamily="2" charset="2"/>
                <a:buChar char="v"/>
              </a:pPr>
              <a:endParaRPr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42003" name="Line 21"/>
            <p:cNvSpPr>
              <a:spLocks noChangeShapeType="1"/>
            </p:cNvSpPr>
            <p:nvPr/>
          </p:nvSpPr>
          <p:spPr bwMode="auto">
            <a:xfrm>
              <a:off x="1185863" y="5421313"/>
              <a:ext cx="38893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sy="-100000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04" name="Line 22"/>
            <p:cNvSpPr>
              <a:spLocks noChangeShapeType="1"/>
            </p:cNvSpPr>
            <p:nvPr/>
          </p:nvSpPr>
          <p:spPr bwMode="auto">
            <a:xfrm>
              <a:off x="4113213" y="4306888"/>
              <a:ext cx="0" cy="2159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sy="-100000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05" name="Line 23"/>
            <p:cNvSpPr>
              <a:spLocks noChangeShapeType="1"/>
            </p:cNvSpPr>
            <p:nvPr/>
          </p:nvSpPr>
          <p:spPr bwMode="auto">
            <a:xfrm>
              <a:off x="2921000" y="4286250"/>
              <a:ext cx="0" cy="2220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sy="-100000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06" name="Line 24"/>
            <p:cNvSpPr>
              <a:spLocks noChangeShapeType="1"/>
            </p:cNvSpPr>
            <p:nvPr/>
          </p:nvSpPr>
          <p:spPr bwMode="auto">
            <a:xfrm>
              <a:off x="1625600" y="4972050"/>
              <a:ext cx="0" cy="901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sy="-100000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07" name="Rectangle 26"/>
            <p:cNvSpPr>
              <a:spLocks noChangeArrowheads="1"/>
            </p:cNvSpPr>
            <p:nvPr/>
          </p:nvSpPr>
          <p:spPr bwMode="auto">
            <a:xfrm>
              <a:off x="1157288" y="4205288"/>
              <a:ext cx="3960812" cy="2333625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sy="-100000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5000"/>
                </a:lnSpc>
                <a:spcBef>
                  <a:spcPct val="30000"/>
                </a:spcBef>
                <a:buClr>
                  <a:srgbClr val="A50021"/>
                </a:buClr>
                <a:buFont typeface="Monotype Sorts" pitchFamily="2" charset="2"/>
                <a:buChar char="v"/>
              </a:pPr>
              <a:endParaRPr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42008" name="Oval 27" descr="浅色上对角线"/>
            <p:cNvSpPr>
              <a:spLocks noChangeArrowheads="1"/>
            </p:cNvSpPr>
            <p:nvPr/>
          </p:nvSpPr>
          <p:spPr bwMode="auto">
            <a:xfrm>
              <a:off x="1538288" y="5338763"/>
              <a:ext cx="165100" cy="166687"/>
            </a:xfrm>
            <a:prstGeom prst="ellips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sy="-100000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5000"/>
                </a:lnSpc>
                <a:spcBef>
                  <a:spcPct val="30000"/>
                </a:spcBef>
                <a:buClr>
                  <a:srgbClr val="A50021"/>
                </a:buClr>
                <a:buFont typeface="Monotype Sorts" pitchFamily="2" charset="2"/>
                <a:buChar char="v"/>
              </a:pPr>
              <a:endParaRPr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42009" name="Oval 28" descr="浅色上对角线"/>
            <p:cNvSpPr>
              <a:spLocks noChangeArrowheads="1"/>
            </p:cNvSpPr>
            <p:nvPr/>
          </p:nvSpPr>
          <p:spPr bwMode="auto">
            <a:xfrm>
              <a:off x="2830513" y="5338763"/>
              <a:ext cx="165100" cy="166687"/>
            </a:xfrm>
            <a:prstGeom prst="ellips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sy="-100000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5000"/>
                </a:lnSpc>
                <a:spcBef>
                  <a:spcPct val="30000"/>
                </a:spcBef>
                <a:buClr>
                  <a:srgbClr val="A50021"/>
                </a:buClr>
                <a:buFont typeface="Monotype Sorts" pitchFamily="2" charset="2"/>
                <a:buChar char="v"/>
              </a:pPr>
              <a:endParaRPr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42010" name="Oval 29" descr="浅色上对角线"/>
            <p:cNvSpPr>
              <a:spLocks noChangeArrowheads="1"/>
            </p:cNvSpPr>
            <p:nvPr/>
          </p:nvSpPr>
          <p:spPr bwMode="auto">
            <a:xfrm>
              <a:off x="4027488" y="5338763"/>
              <a:ext cx="165100" cy="166687"/>
            </a:xfrm>
            <a:prstGeom prst="ellips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1905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sy="-100000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5000"/>
                </a:lnSpc>
                <a:spcBef>
                  <a:spcPct val="30000"/>
                </a:spcBef>
                <a:buClr>
                  <a:srgbClr val="A50021"/>
                </a:buClr>
                <a:buFont typeface="Monotype Sorts" pitchFamily="2" charset="2"/>
                <a:buChar char="v"/>
              </a:pPr>
              <a:endParaRPr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42011" name="Oval 35"/>
            <p:cNvSpPr>
              <a:spLocks noChangeArrowheads="1"/>
            </p:cNvSpPr>
            <p:nvPr/>
          </p:nvSpPr>
          <p:spPr bwMode="auto">
            <a:xfrm>
              <a:off x="1330325" y="5122863"/>
              <a:ext cx="569913" cy="571500"/>
            </a:xfrm>
            <a:prstGeom prst="ellips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sy="-100000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5000"/>
                </a:lnSpc>
                <a:spcBef>
                  <a:spcPct val="30000"/>
                </a:spcBef>
                <a:buClr>
                  <a:srgbClr val="A50021"/>
                </a:buClr>
                <a:buFont typeface="Monotype Sorts" pitchFamily="2" charset="2"/>
                <a:buChar char="v"/>
              </a:pPr>
              <a:endParaRPr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42012" name="Oval 8"/>
            <p:cNvSpPr>
              <a:spLocks noChangeArrowheads="1"/>
            </p:cNvSpPr>
            <p:nvPr/>
          </p:nvSpPr>
          <p:spPr bwMode="auto">
            <a:xfrm>
              <a:off x="2897188" y="1474788"/>
              <a:ext cx="2198687" cy="2197100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sy="-100000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5000"/>
                </a:lnSpc>
                <a:spcBef>
                  <a:spcPct val="30000"/>
                </a:spcBef>
                <a:buClr>
                  <a:srgbClr val="A50021"/>
                </a:buClr>
                <a:buFont typeface="Monotype Sorts" pitchFamily="2" charset="2"/>
                <a:buChar char="v"/>
              </a:pPr>
              <a:endParaRPr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</p:spTree>
  </p:cSld>
  <p:clrMapOvr>
    <a:masterClrMapping/>
  </p:clrMapOvr>
  <p:transition advTm="370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D31CD206-7366-4B91-9266-A7C0C9ADC2D3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30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011" name="Rectangle 10"/>
          <p:cNvSpPr>
            <a:spLocks noChangeArrowheads="1"/>
          </p:cNvSpPr>
          <p:nvPr/>
        </p:nvSpPr>
        <p:spPr bwMode="auto">
          <a:xfrm>
            <a:off x="406400" y="228600"/>
            <a:ext cx="8432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传动装置的运动和动力参数的计算</a:t>
            </a:r>
          </a:p>
        </p:txBody>
      </p:sp>
      <p:graphicFrame>
        <p:nvGraphicFramePr>
          <p:cNvPr id="136197" name="Object 1029"/>
          <p:cNvGraphicFramePr>
            <a:graphicFrameLocks noChangeAspect="1"/>
          </p:cNvGraphicFramePr>
          <p:nvPr/>
        </p:nvGraphicFramePr>
        <p:xfrm>
          <a:off x="1339850" y="1874838"/>
          <a:ext cx="1482725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82391" imgH="228501" progId="Equation.3">
                  <p:embed/>
                </p:oleObj>
              </mc:Choice>
              <mc:Fallback>
                <p:oleObj name="公式" r:id="rId3" imgW="482391" imgH="228501" progId="Equation.3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850" y="1874838"/>
                        <a:ext cx="1482725" cy="70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9" name="Object 1031"/>
          <p:cNvGraphicFramePr>
            <a:graphicFrameLocks noChangeAspect="1"/>
          </p:cNvGraphicFramePr>
          <p:nvPr/>
        </p:nvGraphicFramePr>
        <p:xfrm>
          <a:off x="1339850" y="2667000"/>
          <a:ext cx="2592388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888614" imgH="444307" progId="Equation.3">
                  <p:embed/>
                </p:oleObj>
              </mc:Choice>
              <mc:Fallback>
                <p:oleObj name="公式" r:id="rId5" imgW="888614" imgH="444307" progId="Equation.3">
                  <p:embed/>
                  <p:pic>
                    <p:nvPicPr>
                      <p:cNvPr id="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850" y="2667000"/>
                        <a:ext cx="2592388" cy="130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03" name="Object 1035"/>
          <p:cNvGraphicFramePr>
            <a:graphicFrameLocks noChangeAspect="1"/>
          </p:cNvGraphicFramePr>
          <p:nvPr/>
        </p:nvGraphicFramePr>
        <p:xfrm>
          <a:off x="1339850" y="4035425"/>
          <a:ext cx="3600450" cy="152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054100" imgH="444500" progId="Equation.3">
                  <p:embed/>
                </p:oleObj>
              </mc:Choice>
              <mc:Fallback>
                <p:oleObj name="公式" r:id="rId7" imgW="1054100" imgH="444500" progId="Equation.3">
                  <p:embed/>
                  <p:pic>
                    <p:nvPicPr>
                      <p:cNvPr id="0" name="Object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850" y="4035425"/>
                        <a:ext cx="3600450" cy="152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05" name="Object 1037"/>
          <p:cNvGraphicFramePr>
            <a:graphicFrameLocks noChangeAspect="1"/>
          </p:cNvGraphicFramePr>
          <p:nvPr/>
        </p:nvGraphicFramePr>
        <p:xfrm>
          <a:off x="1339850" y="5792788"/>
          <a:ext cx="1943100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533169" imgH="228501" progId="Equation.3">
                  <p:embed/>
                </p:oleObj>
              </mc:Choice>
              <mc:Fallback>
                <p:oleObj name="公式" r:id="rId9" imgW="533169" imgH="228501" progId="Equation.3">
                  <p:embed/>
                  <p:pic>
                    <p:nvPicPr>
                      <p:cNvPr id="0" name="Object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850" y="5792788"/>
                        <a:ext cx="1943100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6" name="Rectangle 1039"/>
          <p:cNvSpPr>
            <a:spLocks noChangeArrowheads="1"/>
          </p:cNvSpPr>
          <p:nvPr/>
        </p:nvSpPr>
        <p:spPr bwMode="auto">
          <a:xfrm>
            <a:off x="644525" y="1265238"/>
            <a:ext cx="3241675" cy="555625"/>
          </a:xfrm>
          <a:prstGeom prst="rect">
            <a:avLst/>
          </a:prstGeom>
          <a:solidFill>
            <a:srgbClr val="CCFFFF"/>
          </a:solidFill>
          <a:ln w="25400" algn="ctr">
            <a:solidFill>
              <a:srgbClr val="0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一、各轴转速</a:t>
            </a:r>
          </a:p>
        </p:txBody>
      </p:sp>
      <p:pic>
        <p:nvPicPr>
          <p:cNvPr id="43017" name="Picture 1042" descr="未标题-1"/>
          <p:cNvPicPr>
            <a:picLocks noChangeAspect="1" noChangeArrowheads="1"/>
          </p:cNvPicPr>
          <p:nvPr/>
        </p:nvPicPr>
        <p:blipFill>
          <a:blip r:embed="rId11">
            <a:lum bright="-18000" contras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7363" y="1433513"/>
            <a:ext cx="3144837" cy="520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37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6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6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6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C9379547-3544-4D20-8B5D-F8F02927A2C9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31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059" name="Rectangle 10"/>
          <p:cNvSpPr>
            <a:spLocks noChangeArrowheads="1"/>
          </p:cNvSpPr>
          <p:nvPr/>
        </p:nvSpPr>
        <p:spPr bwMode="auto">
          <a:xfrm>
            <a:off x="406400" y="228600"/>
            <a:ext cx="8432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传动装置的运动和动力参数的计算</a:t>
            </a:r>
          </a:p>
        </p:txBody>
      </p:sp>
      <p:graphicFrame>
        <p:nvGraphicFramePr>
          <p:cNvPr id="45060" name="Object 12"/>
          <p:cNvGraphicFramePr>
            <a:graphicFrameLocks noChangeAspect="1"/>
          </p:cNvGraphicFramePr>
          <p:nvPr/>
        </p:nvGraphicFramePr>
        <p:xfrm>
          <a:off x="1370013" y="2233613"/>
          <a:ext cx="234315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736600" imgH="241300" progId="Equation.3">
                  <p:embed/>
                </p:oleObj>
              </mc:Choice>
              <mc:Fallback>
                <p:oleObj name="公式" r:id="rId3" imgW="736600" imgH="2413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0013" y="2233613"/>
                        <a:ext cx="234315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1" name="Object 14"/>
          <p:cNvGraphicFramePr>
            <a:graphicFrameLocks noChangeAspect="1"/>
          </p:cNvGraphicFramePr>
          <p:nvPr/>
        </p:nvGraphicFramePr>
        <p:xfrm>
          <a:off x="1370013" y="3421063"/>
          <a:ext cx="6821487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095500" imgH="241300" progId="Equation.3">
                  <p:embed/>
                </p:oleObj>
              </mc:Choice>
              <mc:Fallback>
                <p:oleObj name="公式" r:id="rId5" imgW="2095500" imgH="2413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0013" y="3421063"/>
                        <a:ext cx="6821487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Object 16"/>
          <p:cNvGraphicFramePr>
            <a:graphicFrameLocks noChangeAspect="1"/>
          </p:cNvGraphicFramePr>
          <p:nvPr/>
        </p:nvGraphicFramePr>
        <p:xfrm>
          <a:off x="1370013" y="4660900"/>
          <a:ext cx="675798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159000" imgH="254000" progId="Equation.3">
                  <p:embed/>
                </p:oleObj>
              </mc:Choice>
              <mc:Fallback>
                <p:oleObj name="公式" r:id="rId7" imgW="2159000" imgH="2540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0013" y="4660900"/>
                        <a:ext cx="6757987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Object 18"/>
          <p:cNvGraphicFramePr>
            <a:graphicFrameLocks noChangeAspect="1"/>
          </p:cNvGraphicFramePr>
          <p:nvPr/>
        </p:nvGraphicFramePr>
        <p:xfrm>
          <a:off x="1370013" y="5886450"/>
          <a:ext cx="4505325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586811" imgH="253890" progId="Equation.3">
                  <p:embed/>
                </p:oleObj>
              </mc:Choice>
              <mc:Fallback>
                <p:oleObj name="公式" r:id="rId9" imgW="1586811" imgH="25389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0013" y="5886450"/>
                        <a:ext cx="4505325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4" name="Rectangle 22"/>
          <p:cNvSpPr>
            <a:spLocks noChangeArrowheads="1"/>
          </p:cNvSpPr>
          <p:nvPr/>
        </p:nvSpPr>
        <p:spPr bwMode="auto">
          <a:xfrm>
            <a:off x="504825" y="1322388"/>
            <a:ext cx="3563938" cy="555625"/>
          </a:xfrm>
          <a:prstGeom prst="rect">
            <a:avLst/>
          </a:prstGeom>
          <a:solidFill>
            <a:srgbClr val="CCFFFF"/>
          </a:solidFill>
          <a:ln w="25400" algn="ctr">
            <a:solidFill>
              <a:srgbClr val="0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二、各轴输入功率</a:t>
            </a:r>
          </a:p>
        </p:txBody>
      </p:sp>
      <p:sp>
        <p:nvSpPr>
          <p:cNvPr id="45065" name="Rectangle 24"/>
          <p:cNvSpPr>
            <a:spLocks noChangeArrowheads="1"/>
          </p:cNvSpPr>
          <p:nvPr/>
        </p:nvSpPr>
        <p:spPr bwMode="auto">
          <a:xfrm>
            <a:off x="4321175" y="1420813"/>
            <a:ext cx="2374368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sy="-100000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3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P21 </a:t>
            </a:r>
            <a:r>
              <a:rPr lang="zh-CN" altLang="en-US" sz="3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3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2-7</a:t>
            </a:r>
            <a:r>
              <a:rPr lang="zh-CN" altLang="en-US" sz="3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45066" name="Picture 1042" descr="未标题-1"/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8000" contras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013" y="333375"/>
            <a:ext cx="1946275" cy="321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3700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25867430-90BF-4608-BBB3-9883BBF51DA8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32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107" name="Rectangle 4102"/>
          <p:cNvSpPr>
            <a:spLocks noChangeArrowheads="1"/>
          </p:cNvSpPr>
          <p:nvPr/>
        </p:nvSpPr>
        <p:spPr bwMode="auto">
          <a:xfrm>
            <a:off x="406400" y="228600"/>
            <a:ext cx="8432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传动装置的运动和动力参数的计算</a:t>
            </a:r>
          </a:p>
        </p:txBody>
      </p:sp>
      <p:sp>
        <p:nvSpPr>
          <p:cNvPr id="47108" name="Rectangle 4103"/>
          <p:cNvSpPr>
            <a:spLocks noChangeArrowheads="1"/>
          </p:cNvSpPr>
          <p:nvPr/>
        </p:nvSpPr>
        <p:spPr bwMode="auto">
          <a:xfrm>
            <a:off x="517525" y="1285875"/>
            <a:ext cx="3816350" cy="555625"/>
          </a:xfrm>
          <a:prstGeom prst="rect">
            <a:avLst/>
          </a:prstGeom>
          <a:solidFill>
            <a:srgbClr val="CCFFFF"/>
          </a:solidFill>
          <a:ln w="25400">
            <a:solidFill>
              <a:srgbClr val="0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sy="-100000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三、各轴输入转矩 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7109" name="Object 4104"/>
          <p:cNvGraphicFramePr>
            <a:graphicFrameLocks noChangeAspect="1"/>
          </p:cNvGraphicFramePr>
          <p:nvPr/>
        </p:nvGraphicFramePr>
        <p:xfrm>
          <a:off x="969963" y="2052638"/>
          <a:ext cx="5110162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38400" imgH="457200" progId="Equation.3">
                  <p:embed/>
                </p:oleObj>
              </mc:Choice>
              <mc:Fallback>
                <p:oleObj name="公式" r:id="rId2" imgW="2438400" imgH="457200" progId="Equation.3">
                  <p:embed/>
                  <p:pic>
                    <p:nvPicPr>
                      <p:cNvPr id="0" name="Object 4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963" y="2052638"/>
                        <a:ext cx="5110162" cy="966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0" name="Object 4106"/>
          <p:cNvGraphicFramePr>
            <a:graphicFrameLocks noChangeAspect="1"/>
          </p:cNvGraphicFramePr>
          <p:nvPr/>
        </p:nvGraphicFramePr>
        <p:xfrm>
          <a:off x="969963" y="3203575"/>
          <a:ext cx="637222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225800" imgH="457200" progId="Equation.3">
                  <p:embed/>
                </p:oleObj>
              </mc:Choice>
              <mc:Fallback>
                <p:oleObj name="公式" r:id="rId4" imgW="3225800" imgH="457200" progId="Equation.3">
                  <p:embed/>
                  <p:pic>
                    <p:nvPicPr>
                      <p:cNvPr id="0" name="Object 4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963" y="3203575"/>
                        <a:ext cx="6372225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1" name="Object 4108"/>
          <p:cNvGraphicFramePr>
            <a:graphicFrameLocks noChangeAspect="1"/>
          </p:cNvGraphicFramePr>
          <p:nvPr/>
        </p:nvGraphicFramePr>
        <p:xfrm>
          <a:off x="969963" y="4441825"/>
          <a:ext cx="7148512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492500" imgH="469900" progId="Equation.3">
                  <p:embed/>
                </p:oleObj>
              </mc:Choice>
              <mc:Fallback>
                <p:oleObj name="公式" r:id="rId6" imgW="3492500" imgH="469900" progId="Equation.3">
                  <p:embed/>
                  <p:pic>
                    <p:nvPicPr>
                      <p:cNvPr id="0" name="Object 4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963" y="4441825"/>
                        <a:ext cx="7148512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2" name="Object 4110"/>
          <p:cNvGraphicFramePr>
            <a:graphicFrameLocks noChangeAspect="1"/>
          </p:cNvGraphicFramePr>
          <p:nvPr/>
        </p:nvGraphicFramePr>
        <p:xfrm>
          <a:off x="969963" y="5584825"/>
          <a:ext cx="8134350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759200" imgH="469900" progId="Equation.3">
                  <p:embed/>
                </p:oleObj>
              </mc:Choice>
              <mc:Fallback>
                <p:oleObj name="公式" r:id="rId8" imgW="3759200" imgH="469900" progId="Equation.3">
                  <p:embed/>
                  <p:pic>
                    <p:nvPicPr>
                      <p:cNvPr id="0" name="Object 4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963" y="5584825"/>
                        <a:ext cx="8134350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3" name="Rectangle 4112"/>
          <p:cNvSpPr>
            <a:spLocks noChangeArrowheads="1"/>
          </p:cNvSpPr>
          <p:nvPr/>
        </p:nvSpPr>
        <p:spPr bwMode="auto">
          <a:xfrm>
            <a:off x="4333875" y="1357313"/>
            <a:ext cx="2374368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sy="-100000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3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P21 </a:t>
            </a:r>
            <a:r>
              <a:rPr lang="zh-CN" altLang="en-US" sz="3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3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2-8</a:t>
            </a:r>
            <a:r>
              <a:rPr lang="zh-CN" altLang="en-US" sz="3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</p:spTree>
  </p:cSld>
  <p:clrMapOvr>
    <a:masterClrMapping/>
  </p:clrMapOvr>
  <p:transition advTm="3700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4C347D7B-8E81-43DF-A0FA-F5B90486D957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33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131" name="Rectangle 5"/>
          <p:cNvSpPr>
            <a:spLocks noChangeArrowheads="1"/>
          </p:cNvSpPr>
          <p:nvPr/>
        </p:nvSpPr>
        <p:spPr bwMode="auto">
          <a:xfrm>
            <a:off x="406400" y="228600"/>
            <a:ext cx="8432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传动装置的运动和动力参数的计算</a:t>
            </a:r>
          </a:p>
        </p:txBody>
      </p:sp>
      <p:sp>
        <p:nvSpPr>
          <p:cNvPr id="48132" name="Rectangle 6"/>
          <p:cNvSpPr>
            <a:spLocks noChangeArrowheads="1"/>
          </p:cNvSpPr>
          <p:nvPr/>
        </p:nvSpPr>
        <p:spPr bwMode="auto">
          <a:xfrm>
            <a:off x="395288" y="1196975"/>
            <a:ext cx="26193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sy="-100000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r>
              <a:rPr lang="en-US" altLang="zh-CN" sz="2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1800" b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aphicFrame>
        <p:nvGraphicFramePr>
          <p:cNvPr id="134308" name="Group 164"/>
          <p:cNvGraphicFramePr>
            <a:graphicFrameLocks noGrp="1"/>
          </p:cNvGraphicFramePr>
          <p:nvPr>
            <p:ph/>
          </p:nvPr>
        </p:nvGraphicFramePr>
        <p:xfrm>
          <a:off x="498475" y="1884363"/>
          <a:ext cx="8497888" cy="2951163"/>
        </p:xfrm>
        <a:graphic>
          <a:graphicData uri="http://schemas.openxmlformats.org/drawingml/2006/table">
            <a:tbl>
              <a:tblPr/>
              <a:tblGrid>
                <a:gridCol w="172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7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41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27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　　　　     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轴名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参数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电动机轴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Ⅰ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轴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Ⅱ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轴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Ⅲ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轴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工作轴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1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  转速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 (r/min)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  功率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 (kw)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  转矩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 (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N·mm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)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170" name="Line 237"/>
          <p:cNvSpPr>
            <a:spLocks noChangeShapeType="1"/>
          </p:cNvSpPr>
          <p:nvPr/>
        </p:nvSpPr>
        <p:spPr bwMode="auto">
          <a:xfrm>
            <a:off x="498475" y="1884363"/>
            <a:ext cx="1728788" cy="5762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sy="-100000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98475" y="4835525"/>
          <a:ext cx="8499476" cy="1385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3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2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5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4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37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29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传动比　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</a:t>
                      </a:r>
                      <a:endParaRPr lang="zh-CN" altLang="en-US" sz="18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2" marR="91432" marT="45722" marB="45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32" marR="91432"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2" marR="91432"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2" marR="91432"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2" marR="91432"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944">
                <a:tc>
                  <a:txBody>
                    <a:bodyPr/>
                    <a:lstStyle/>
                    <a:p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效   率  </a:t>
                      </a:r>
                      <a:r>
                        <a:rPr kumimoji="1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η</a:t>
                      </a:r>
                      <a:endParaRPr lang="zh-CN" altLang="en-US" sz="18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2" marR="91432" marT="45722" marB="457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2" marR="91432"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2" marR="91432"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2" marR="91432"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2" marR="91432"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advTm="3700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CB1190A4-F1CB-4957-AD42-ACF2B8AF8BA1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34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155" name="Rectangle 308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传动零件的设计计算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9156" name="Rectangle 3083"/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305800" cy="2174875"/>
          </a:xfrm>
        </p:spPr>
        <p:txBody>
          <a:bodyPr/>
          <a:lstStyle/>
          <a:p>
            <a:pPr eaLnBrk="1" hangingPunct="1">
              <a:lnSpc>
                <a:spcPct val="175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          传动装置包括各种类型的零、部件，其中决定其工作性能、结构布置和尺寸大小的主要是传动零件，如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带传动、链传动和开式齿轮传动等，再进行箱内传动零件设计。 </a:t>
            </a:r>
          </a:p>
        </p:txBody>
      </p:sp>
      <p:grpSp>
        <p:nvGrpSpPr>
          <p:cNvPr id="138255" name="Group 3087"/>
          <p:cNvGrpSpPr>
            <a:grpSpLocks/>
          </p:cNvGrpSpPr>
          <p:nvPr/>
        </p:nvGrpSpPr>
        <p:grpSpPr bwMode="auto">
          <a:xfrm>
            <a:off x="588963" y="3648075"/>
            <a:ext cx="8240712" cy="2981325"/>
            <a:chOff x="155" y="2442"/>
            <a:chExt cx="5191" cy="1878"/>
          </a:xfrm>
        </p:grpSpPr>
        <p:sp>
          <p:nvSpPr>
            <p:cNvPr id="49158" name="Rectangle 3084"/>
            <p:cNvSpPr>
              <a:spLocks noChangeArrowheads="1"/>
            </p:cNvSpPr>
            <p:nvPr/>
          </p:nvSpPr>
          <p:spPr bwMode="auto">
            <a:xfrm>
              <a:off x="155" y="2886"/>
              <a:ext cx="5191" cy="1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533400" indent="-5334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75000"/>
                </a:lnSpc>
                <a:spcBef>
                  <a:spcPct val="0"/>
                </a:spcBef>
                <a:buFont typeface="Monotype Sorts" pitchFamily="2" charset="2"/>
                <a:buNone/>
              </a:pPr>
              <a:r>
                <a:rPr lang="en-US" altLang="zh-CN" sz="2400">
                  <a:solidFill>
                    <a:srgbClr val="A5002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400">
                  <a:solidFill>
                    <a:srgbClr val="A5002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400">
                  <a:solidFill>
                    <a:srgbClr val="A5002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</a:t>
              </a:r>
              <a:r>
                <a:rPr lang="zh-CN" altLang="en-US" sz="2400">
                  <a:solidFill>
                    <a:srgbClr val="A5002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带传动：</a:t>
              </a: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要求计算出</a:t>
              </a:r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V</a:t>
              </a: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带传动的型号、长度、根数、中心距、初拉力、压轴力；确定带轮直径</a:t>
              </a:r>
              <a:r>
                <a:rPr lang="en-US" altLang="zh-CN" sz="2400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r>
                <a:rPr lang="en-US" altLang="zh-CN" sz="2400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d1</a:t>
              </a: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400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r>
                <a:rPr lang="en-US" altLang="zh-CN" sz="2400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d2</a:t>
              </a: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，材料、张紧装置、带轮结构尺寸等。设计时应注意：</a:t>
              </a:r>
            </a:p>
          </p:txBody>
        </p:sp>
        <p:sp>
          <p:nvSpPr>
            <p:cNvPr id="49159" name="Rectangle 3086"/>
            <p:cNvSpPr>
              <a:spLocks noChangeArrowheads="1"/>
            </p:cNvSpPr>
            <p:nvPr/>
          </p:nvSpPr>
          <p:spPr bwMode="auto">
            <a:xfrm>
              <a:off x="158" y="2442"/>
              <a:ext cx="2692" cy="350"/>
            </a:xfrm>
            <a:prstGeom prst="rect">
              <a:avLst/>
            </a:prstGeom>
            <a:solidFill>
              <a:srgbClr val="CCFFFF"/>
            </a:solidFill>
            <a:ln w="25400" algn="ctr">
              <a:solidFill>
                <a:srgbClr val="0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sy="-100000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buFont typeface="Monotype Sorts" pitchFamily="2" charset="2"/>
                <a:buNone/>
              </a:pPr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一、箱外传动零件设计</a:t>
              </a:r>
            </a:p>
          </p:txBody>
        </p:sp>
      </p:grpSp>
    </p:spTree>
  </p:cSld>
  <p:clrMapOvr>
    <a:masterClrMapping/>
  </p:clrMapOvr>
  <p:transition advTm="37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9DBA17FA-B7A4-4B8F-9ED0-AD8F5C69FE6F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35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305800" cy="4876800"/>
          </a:xfrm>
        </p:spPr>
        <p:txBody>
          <a:bodyPr tIns="91440" rIns="182880" bIns="91440"/>
          <a:lstStyle/>
          <a:p>
            <a:pPr algn="just" eaLnBrk="1" hangingPunct="1">
              <a:lnSpc>
                <a:spcPct val="140000"/>
              </a:lnSpc>
              <a:buFont typeface="Monotype Sorts" pitchFamily="2" charset="2"/>
              <a:buNone/>
            </a:pPr>
            <a:r>
              <a:rPr lang="zh-CN" altLang="en-US" sz="24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04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传动零件的设计计算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40301" name="Rectangle 13"/>
          <p:cNvSpPr>
            <a:spLocks noChangeArrowheads="1"/>
          </p:cNvSpPr>
          <p:nvPr/>
        </p:nvSpPr>
        <p:spPr bwMode="auto">
          <a:xfrm>
            <a:off x="347663" y="1223963"/>
            <a:ext cx="8685212" cy="565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ts val="600"/>
              </a:spcBef>
              <a:buFont typeface="Monotype Sorts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带轮尺寸与传动装置外廓尺寸的相互关系。如：装在电动机轴上的小带轮直径与电动机中心高应相称；大带轮不应过大以免与机架相碰等。一般应由电机轴定小带轮轴孔孔径，大带轮轴孔孔径与减速器输入轴协调；</a:t>
            </a:r>
          </a:p>
          <a:p>
            <a:pPr eaLnBrk="1" hangingPunct="1">
              <a:lnSpc>
                <a:spcPct val="135000"/>
              </a:lnSpc>
              <a:spcBef>
                <a:spcPts val="600"/>
              </a:spcBef>
              <a:buFont typeface="Monotype Sorts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应标准化，由此造成实际带传动的传动比与分配的带传动的传动比之间有差异，可予以修正，从而得到减速器实际的传动比和输入转矩；</a:t>
            </a:r>
          </a:p>
          <a:p>
            <a:pPr eaLnBrk="1" hangingPunct="1">
              <a:lnSpc>
                <a:spcPct val="135000"/>
              </a:lnSpc>
              <a:spcBef>
                <a:spcPts val="600"/>
              </a:spcBef>
              <a:buFont typeface="Monotype Sorts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）Ｖ带轮的结构形式：主要由带轮直径大小而定，具体结构及尺寸可查手册，或参见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P40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。画出结构草图，标明主要尺寸备用。（图册图号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</a:p>
        </p:txBody>
      </p:sp>
    </p:spTree>
  </p:cSld>
  <p:clrMapOvr>
    <a:masterClrMapping/>
  </p:clrMapOvr>
  <p:transition advTm="37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0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0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03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301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7603B0E7-5147-488F-BF7D-BB0165128AB6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36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825" y="1266825"/>
            <a:ext cx="8305800" cy="4876800"/>
          </a:xfrm>
        </p:spPr>
        <p:txBody>
          <a:bodyPr tIns="91440" rIns="182880" bIns="91440"/>
          <a:lstStyle/>
          <a:p>
            <a:pPr algn="just" eaLnBrk="1" hangingPunct="1">
              <a:lnSpc>
                <a:spcPct val="140000"/>
              </a:lnSpc>
              <a:buFont typeface="Monotype Sorts" pitchFamily="2" charset="2"/>
              <a:buNone/>
            </a:pPr>
            <a:r>
              <a:rPr lang="zh-CN" altLang="en-US" sz="2400" b="1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25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传动零件的设计计算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53253" name="Rectangle 6"/>
          <p:cNvSpPr>
            <a:spLocks noChangeArrowheads="1"/>
          </p:cNvSpPr>
          <p:nvPr/>
        </p:nvSpPr>
        <p:spPr bwMode="auto">
          <a:xfrm>
            <a:off x="393700" y="1322388"/>
            <a:ext cx="5041900" cy="503237"/>
          </a:xfrm>
          <a:prstGeom prst="rect">
            <a:avLst/>
          </a:prstGeom>
          <a:solidFill>
            <a:srgbClr val="CCFFFF"/>
          </a:solidFill>
          <a:ln w="25400">
            <a:solidFill>
              <a:srgbClr val="008080"/>
            </a:solidFill>
            <a:miter lim="800000"/>
            <a:headEnd/>
            <a:tailEnd/>
          </a:ln>
        </p:spPr>
        <p:txBody>
          <a:bodyPr/>
          <a:lstStyle>
            <a:lvl1pPr marL="533400" indent="-5334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b="0"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箱内传动零件设计</a:t>
            </a:r>
            <a:endParaRPr lang="zh-CN" altLang="en-US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254" name="Rectangle 8"/>
          <p:cNvSpPr>
            <a:spLocks noChangeArrowheads="1"/>
          </p:cNvSpPr>
          <p:nvPr/>
        </p:nvSpPr>
        <p:spPr bwMode="auto">
          <a:xfrm>
            <a:off x="785813" y="1944688"/>
            <a:ext cx="8458200" cy="47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4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、圆柱齿轮传动：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设计时应注意以下几点：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）建议尺寸：</a:t>
            </a:r>
          </a:p>
          <a:p>
            <a:pPr eaLnBrk="1" hangingPunct="1">
              <a:lnSpc>
                <a:spcPct val="150000"/>
              </a:lnSpc>
              <a:spcBef>
                <a:spcPct val="15000"/>
              </a:spcBef>
              <a:buFont typeface="Monotype Sorts" pitchFamily="2" charset="2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双级圆柱：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aphicFrame>
        <p:nvGraphicFramePr>
          <p:cNvPr id="53255" name="Object 11"/>
          <p:cNvGraphicFramePr>
            <a:graphicFrameLocks noChangeAspect="1"/>
          </p:cNvGraphicFramePr>
          <p:nvPr/>
        </p:nvGraphicFramePr>
        <p:xfrm>
          <a:off x="3490913" y="3346450"/>
          <a:ext cx="259397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040948" imgH="215806" progId="Equation.3">
                  <p:embed/>
                </p:oleObj>
              </mc:Choice>
              <mc:Fallback>
                <p:oleObj name="公式" r:id="rId3" imgW="1040948" imgH="215806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0913" y="3346450"/>
                        <a:ext cx="2593975" cy="54768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6" name="Object 13"/>
          <p:cNvGraphicFramePr>
            <a:graphicFrameLocks noChangeAspect="1"/>
          </p:cNvGraphicFramePr>
          <p:nvPr/>
        </p:nvGraphicFramePr>
        <p:xfrm>
          <a:off x="3486150" y="4057650"/>
          <a:ext cx="273526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053643" imgH="215806" progId="Equation.3">
                  <p:embed/>
                </p:oleObj>
              </mc:Choice>
              <mc:Fallback>
                <p:oleObj name="公式" r:id="rId5" imgW="1053643" imgH="21580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150" y="4057650"/>
                        <a:ext cx="2735263" cy="56673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7" name="Rectangle 15"/>
          <p:cNvSpPr>
            <a:spLocks noChangeArrowheads="1"/>
          </p:cNvSpPr>
          <p:nvPr/>
        </p:nvSpPr>
        <p:spPr bwMode="auto">
          <a:xfrm>
            <a:off x="1616075" y="5129213"/>
            <a:ext cx="17303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sy="-100000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双级锥</a:t>
            </a:r>
            <a:r>
              <a:rPr kumimoji="0"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柱</a:t>
            </a:r>
            <a:r>
              <a:rPr kumimoji="0"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</p:txBody>
      </p:sp>
      <p:graphicFrame>
        <p:nvGraphicFramePr>
          <p:cNvPr id="53258" name="Object 20"/>
          <p:cNvGraphicFramePr>
            <a:graphicFrameLocks noChangeAspect="1"/>
          </p:cNvGraphicFramePr>
          <p:nvPr/>
        </p:nvGraphicFramePr>
        <p:xfrm>
          <a:off x="3927475" y="5953125"/>
          <a:ext cx="266382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053643" imgH="215806" progId="Equation.3">
                  <p:embed/>
                </p:oleObj>
              </mc:Choice>
              <mc:Fallback>
                <p:oleObj name="公式" r:id="rId7" imgW="1053643" imgH="215806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7475" y="5953125"/>
                        <a:ext cx="2663825" cy="5524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259" name="Group 24"/>
          <p:cNvGrpSpPr>
            <a:grpSpLocks/>
          </p:cNvGrpSpPr>
          <p:nvPr/>
        </p:nvGrpSpPr>
        <p:grpSpPr bwMode="auto">
          <a:xfrm>
            <a:off x="3197225" y="5124450"/>
            <a:ext cx="2952750" cy="587375"/>
            <a:chOff x="3288" y="3566"/>
            <a:chExt cx="1860" cy="370"/>
          </a:xfrm>
        </p:grpSpPr>
        <p:graphicFrame>
          <p:nvGraphicFramePr>
            <p:cNvPr id="53261" name="Object 18"/>
            <p:cNvGraphicFramePr>
              <a:graphicFrameLocks noChangeAspect="1"/>
            </p:cNvGraphicFramePr>
            <p:nvPr/>
          </p:nvGraphicFramePr>
          <p:xfrm>
            <a:off x="3742" y="3566"/>
            <a:ext cx="1406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901309" imgH="241195" progId="Equation.3">
                    <p:embed/>
                  </p:oleObj>
                </mc:Choice>
                <mc:Fallback>
                  <p:oleObj name="公式" r:id="rId8" imgW="901309" imgH="241195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2" y="3566"/>
                          <a:ext cx="1406" cy="370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62" name="Rectangle 22"/>
            <p:cNvSpPr>
              <a:spLocks noChangeArrowheads="1"/>
            </p:cNvSpPr>
            <p:nvPr/>
          </p:nvSpPr>
          <p:spPr bwMode="auto">
            <a:xfrm>
              <a:off x="3288" y="3584"/>
              <a:ext cx="42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sy="-100000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高</a:t>
              </a:r>
              <a:r>
                <a:rPr kumimoji="0"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: </a:t>
              </a:r>
            </a:p>
          </p:txBody>
        </p:sp>
      </p:grpSp>
      <p:sp>
        <p:nvSpPr>
          <p:cNvPr id="53260" name="Rectangle 23"/>
          <p:cNvSpPr>
            <a:spLocks noChangeArrowheads="1"/>
          </p:cNvSpPr>
          <p:nvPr/>
        </p:nvSpPr>
        <p:spPr bwMode="auto">
          <a:xfrm>
            <a:off x="3197225" y="5878513"/>
            <a:ext cx="67151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sy="-100000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kumimoji="0"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</p:txBody>
      </p:sp>
    </p:spTree>
  </p:cSld>
  <p:clrMapOvr>
    <a:masterClrMapping/>
  </p:clrMapOvr>
  <p:transition advTm="370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BF38F249-9750-4965-8245-680BE8929C55}" type="slidenum">
              <a:rPr kumimoji="0" lang="zh-CN" altLang="en-US" sz="2400" smtClean="0">
                <a:solidFill>
                  <a:srgbClr val="0000CC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37</a:t>
            </a:fld>
            <a:endParaRPr kumimoji="0" lang="en-US" altLang="zh-CN" sz="240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sp>
        <p:nvSpPr>
          <p:cNvPr id="55299" name="Rectangle 205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传动零件的设计计算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73061" name="Rectangle 2053"/>
          <p:cNvSpPr>
            <a:spLocks noChangeArrowheads="1"/>
          </p:cNvSpPr>
          <p:nvPr/>
        </p:nvSpPr>
        <p:spPr bwMode="auto">
          <a:xfrm>
            <a:off x="1042988" y="1331913"/>
            <a:ext cx="7650162" cy="316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75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）齿轮传动的几何参数和尺寸分别进行标准化、</a:t>
            </a:r>
          </a:p>
          <a:p>
            <a:pPr eaLnBrk="1" hangingPunct="1">
              <a:lnSpc>
                <a:spcPct val="175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圆整或计算其精确值 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75000"/>
              </a:lnSpc>
              <a:spcBef>
                <a:spcPct val="0"/>
              </a:spcBef>
              <a:buFont typeface="Monotype Sorts" pitchFamily="2" charset="2"/>
              <a:buNone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75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）具体结构尺寸可参见（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P35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 eaLnBrk="1" hangingPunct="1">
              <a:lnSpc>
                <a:spcPct val="175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序号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75000"/>
              </a:lnSpc>
              <a:spcBef>
                <a:spcPct val="0"/>
              </a:spcBef>
              <a:buFont typeface="Monotype Sorts" pitchFamily="2" charset="2"/>
              <a:buNone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75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）几何尺寸、参数的计算结果应及时整理并列表。</a:t>
            </a:r>
          </a:p>
        </p:txBody>
      </p:sp>
    </p:spTree>
  </p:cSld>
  <p:clrMapOvr>
    <a:masterClrMapping/>
  </p:clrMapOvr>
  <p:transition advTm="37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3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30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30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30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30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1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2787899A-3793-4149-B0A2-D5CC4A6CB8F5}" type="slidenum">
              <a:rPr kumimoji="0" lang="zh-CN" altLang="en-US" sz="2000" smtClean="0">
                <a:solidFill>
                  <a:srgbClr val="0000CC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38</a:t>
            </a:fld>
            <a:endParaRPr kumimoji="0" lang="en-US" altLang="zh-CN" sz="200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sp>
        <p:nvSpPr>
          <p:cNvPr id="57347" name="TextBox 6"/>
          <p:cNvSpPr txBox="1">
            <a:spLocks noChangeArrowheads="1"/>
          </p:cNvSpPr>
          <p:nvPr/>
        </p:nvSpPr>
        <p:spPr bwMode="auto">
          <a:xfrm>
            <a:off x="774700" y="1341438"/>
            <a:ext cx="2160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30000"/>
              </a:spcBef>
              <a:buClr>
                <a:srgbClr val="A50021"/>
              </a:buClr>
              <a:buFont typeface="Wingdings" panose="05000000000000000000" pitchFamily="2" charset="2"/>
              <a:buChar char="w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参数要求：</a:t>
            </a:r>
          </a:p>
        </p:txBody>
      </p:sp>
      <p:sp>
        <p:nvSpPr>
          <p:cNvPr id="57348" name="TextBox 7"/>
          <p:cNvSpPr txBox="1">
            <a:spLocks noChangeArrowheads="1"/>
          </p:cNvSpPr>
          <p:nvPr/>
        </p:nvSpPr>
        <p:spPr bwMode="auto">
          <a:xfrm>
            <a:off x="1295400" y="1906588"/>
            <a:ext cx="7648575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30000"/>
              </a:spcBef>
              <a:buClr>
                <a:srgbClr val="A50021"/>
              </a:buClr>
              <a:buFont typeface="Monotype Sorts" pitchFamily="2" charset="2"/>
              <a:buNone/>
            </a:pPr>
            <a:r>
              <a:rPr kumimoji="0"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</a:t>
            </a:r>
            <a:r>
              <a:rPr kumimoji="0" lang="en-US" altLang="zh-CN" sz="2400" i="1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β</a:t>
            </a:r>
            <a:r>
              <a:rPr kumimoji="0" lang="zh-CN" altLang="en-US" sz="2400" i="1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r>
              <a:rPr kumimoji="0"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在</a:t>
            </a:r>
            <a:r>
              <a:rPr kumimoji="0"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8~25</a:t>
            </a:r>
            <a:r>
              <a:rPr kumimoji="0"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ﾟ范围</a:t>
            </a:r>
            <a:endParaRPr kumimoji="0" lang="en-US" altLang="zh-CN" sz="240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50000"/>
              </a:lnSpc>
              <a:spcBef>
                <a:spcPct val="30000"/>
              </a:spcBef>
              <a:buClr>
                <a:srgbClr val="A50021"/>
              </a:buClr>
              <a:buFont typeface="Monotype Sorts" pitchFamily="2" charset="2"/>
              <a:buNone/>
            </a:pPr>
            <a:r>
              <a:rPr kumimoji="0"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 模数</a:t>
            </a:r>
            <a:r>
              <a:rPr kumimoji="0"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m</a:t>
            </a:r>
            <a:r>
              <a:rPr kumimoji="0" lang="en-US" altLang="zh-CN" sz="2400" baseline="-2500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n</a:t>
            </a:r>
            <a:r>
              <a:rPr kumimoji="0"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r>
              <a:rPr kumimoji="0"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取标准</a:t>
            </a:r>
            <a:endParaRPr kumimoji="0" lang="en-US" altLang="zh-CN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50000"/>
              </a:lnSpc>
              <a:spcBef>
                <a:spcPct val="30000"/>
              </a:spcBef>
              <a:buClr>
                <a:srgbClr val="A50021"/>
              </a:buClr>
              <a:buFont typeface="Monotype Sorts" pitchFamily="2" charset="2"/>
              <a:buNone/>
            </a:pPr>
            <a:r>
              <a:rPr kumimoji="0"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 中心距</a:t>
            </a:r>
            <a:r>
              <a:rPr kumimoji="0"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a</a:t>
            </a:r>
            <a:r>
              <a:rPr kumimoji="0"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r>
              <a:rPr kumimoji="0"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圆整</a:t>
            </a:r>
            <a:r>
              <a:rPr kumimoji="0"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</a:t>
            </a:r>
            <a:r>
              <a:rPr kumimoji="0"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偶数、</a:t>
            </a:r>
            <a:r>
              <a:rPr kumimoji="0"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0</a:t>
            </a:r>
            <a:r>
              <a:rPr kumimoji="0"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或</a:t>
            </a:r>
            <a:r>
              <a:rPr kumimoji="0"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5</a:t>
            </a:r>
            <a:r>
              <a:rPr kumimoji="0"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结尾</a:t>
            </a:r>
            <a:r>
              <a:rPr kumimoji="0"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</a:t>
            </a:r>
          </a:p>
          <a:p>
            <a:pPr eaLnBrk="1" hangingPunct="1">
              <a:lnSpc>
                <a:spcPct val="150000"/>
              </a:lnSpc>
              <a:spcBef>
                <a:spcPct val="30000"/>
              </a:spcBef>
              <a:buClr>
                <a:srgbClr val="A50021"/>
              </a:buClr>
              <a:buFont typeface="Monotype Sorts" pitchFamily="2" charset="2"/>
              <a:buNone/>
            </a:pPr>
            <a:r>
              <a:rPr kumimoji="0"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 反算</a:t>
            </a:r>
            <a:r>
              <a:rPr kumimoji="0"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β</a:t>
            </a:r>
            <a:r>
              <a:rPr kumimoji="0"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r>
              <a:rPr kumimoji="0"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精确到秒</a:t>
            </a:r>
            <a:endParaRPr kumimoji="0" lang="en-US" altLang="zh-CN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50000"/>
              </a:lnSpc>
              <a:spcBef>
                <a:spcPct val="30000"/>
              </a:spcBef>
              <a:buClr>
                <a:srgbClr val="A50021"/>
              </a:buClr>
              <a:buFont typeface="Monotype Sorts" pitchFamily="2" charset="2"/>
              <a:buNone/>
            </a:pPr>
            <a:r>
              <a:rPr kumimoji="0"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 </a:t>
            </a:r>
            <a:r>
              <a:rPr kumimoji="0"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d</a:t>
            </a:r>
            <a:r>
              <a:rPr kumimoji="0" lang="en-US" altLang="zh-CN" sz="2400" baseline="-2500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1</a:t>
            </a:r>
            <a:r>
              <a:rPr kumimoji="0"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、</a:t>
            </a:r>
            <a:r>
              <a:rPr kumimoji="0"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d</a:t>
            </a:r>
            <a:r>
              <a:rPr kumimoji="0" lang="en-US" altLang="zh-CN" sz="2400" baseline="-2500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2</a:t>
            </a:r>
            <a:r>
              <a:rPr kumimoji="0"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r>
              <a:rPr kumimoji="0"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精确到小数点后三位 </a:t>
            </a:r>
            <a:br>
              <a:rPr kumimoji="0"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</a:br>
            <a:r>
              <a:rPr kumimoji="0"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              </a:t>
            </a:r>
            <a:r>
              <a:rPr kumimoji="0"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（</a:t>
            </a:r>
            <a:r>
              <a:rPr kumimoji="0" lang="zh-CN" altLang="en-US" sz="2400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教材例题遗漏了大齿轮直径</a:t>
            </a:r>
            <a:r>
              <a:rPr kumimoji="0" lang="en-US" altLang="zh-CN" sz="2400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d</a:t>
            </a:r>
            <a:r>
              <a:rPr kumimoji="0" lang="en-US" altLang="zh-CN" sz="2400" u="sng" baseline="-25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2</a:t>
            </a:r>
            <a:r>
              <a:rPr kumimoji="0" lang="zh-CN" altLang="en-US" sz="2400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计算</a:t>
            </a:r>
            <a:r>
              <a:rPr kumimoji="0"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）</a:t>
            </a:r>
          </a:p>
          <a:p>
            <a:pPr eaLnBrk="1" hangingPunct="1">
              <a:lnSpc>
                <a:spcPct val="150000"/>
              </a:lnSpc>
              <a:spcBef>
                <a:spcPct val="30000"/>
              </a:spcBef>
              <a:buClr>
                <a:srgbClr val="A50021"/>
              </a:buClr>
              <a:buFont typeface="Monotype Sorts" pitchFamily="2" charset="2"/>
              <a:buNone/>
            </a:pPr>
            <a:r>
              <a:rPr kumimoji="0"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 齿宽</a:t>
            </a:r>
            <a:r>
              <a:rPr kumimoji="0"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b</a:t>
            </a:r>
            <a:r>
              <a:rPr kumimoji="0" lang="en-US" altLang="zh-CN" sz="2400" baseline="-2500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1</a:t>
            </a:r>
            <a:r>
              <a:rPr kumimoji="0"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、</a:t>
            </a:r>
            <a:r>
              <a:rPr kumimoji="0"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b</a:t>
            </a:r>
            <a:r>
              <a:rPr kumimoji="0" lang="en-US" altLang="zh-CN" sz="2400" baseline="-2500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2</a:t>
            </a:r>
            <a:r>
              <a:rPr kumimoji="0"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: </a:t>
            </a:r>
            <a:r>
              <a:rPr kumimoji="0"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圆整</a:t>
            </a:r>
            <a:endParaRPr lang="zh-CN" altLang="en-US" sz="240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aphicFrame>
        <p:nvGraphicFramePr>
          <p:cNvPr id="57349" name="Object 17"/>
          <p:cNvGraphicFramePr>
            <a:graphicFrameLocks noChangeAspect="1"/>
          </p:cNvGraphicFramePr>
          <p:nvPr/>
        </p:nvGraphicFramePr>
        <p:xfrm>
          <a:off x="4271963" y="5872163"/>
          <a:ext cx="388937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349500" imgH="228600" progId="Equation.3">
                  <p:embed/>
                </p:oleObj>
              </mc:Choice>
              <mc:Fallback>
                <p:oleObj name="公式" r:id="rId2" imgW="2349500" imgH="228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1963" y="5872163"/>
                        <a:ext cx="3889375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052"/>
          <p:cNvSpPr txBox="1">
            <a:spLocks noChangeArrowheads="1"/>
          </p:cNvSpPr>
          <p:nvPr/>
        </p:nvSpPr>
        <p:spPr>
          <a:xfrm>
            <a:off x="406400" y="228600"/>
            <a:ext cx="7772400" cy="609600"/>
          </a:xfrm>
          <a:prstGeom prst="rect">
            <a:avLst/>
          </a:prstGeom>
          <a:noFill/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2"/>
                </a:solidFill>
                <a:latin typeface="Arial Black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2"/>
                </a:solidFill>
                <a:latin typeface="Arial Black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2"/>
                </a:solidFill>
                <a:latin typeface="Arial Black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2"/>
                </a:solidFill>
                <a:latin typeface="Arial Black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2"/>
                </a:solidFill>
                <a:latin typeface="Arial Black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2"/>
                </a:solidFill>
                <a:latin typeface="Arial Black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2"/>
                </a:solidFill>
                <a:latin typeface="Arial Black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2"/>
                </a:solidFill>
                <a:latin typeface="Arial Black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ker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传动零件的设计计算</a:t>
            </a:r>
            <a:r>
              <a:rPr lang="zh-CN" altLang="en-US" b="0" ker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</p:cSld>
  <p:clrMapOvr>
    <a:masterClrMapping/>
  </p:clrMapOvr>
  <p:transition advTm="3700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  <a:defRPr/>
            </a:pPr>
            <a:fld id="{736EA6CF-D8B8-4C0C-A563-F995C8E0F1E1}" type="slidenum">
              <a:rPr kumimoji="0" lang="zh-CN" altLang="en-US" sz="24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50000"/>
                </a:spcBef>
                <a:buClrTx/>
                <a:buFontTx/>
                <a:buNone/>
                <a:defRPr/>
              </a:pPr>
              <a:t>39</a:t>
            </a:fld>
            <a:endParaRPr kumimoji="0" lang="en-US" altLang="zh-CN" sz="240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37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传动零件的设计计算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3012" name="Rectangle 5"/>
          <p:cNvSpPr>
            <a:spLocks noChangeArrowheads="1"/>
          </p:cNvSpPr>
          <p:nvPr/>
        </p:nvSpPr>
        <p:spPr bwMode="auto">
          <a:xfrm>
            <a:off x="969963" y="1449388"/>
            <a:ext cx="7040562" cy="23050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609600" indent="-609600" eaLnBrk="0" hangingPunct="0">
              <a:spcBef>
                <a:spcPct val="20000"/>
              </a:spcBef>
              <a:buClr>
                <a:schemeClr val="accent2"/>
              </a:buClr>
              <a:buChar char="z"/>
              <a:defRPr kumimoji="1"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990600" indent="-533400" eaLnBrk="0" hangingPunct="0">
              <a:spcBef>
                <a:spcPct val="20000"/>
              </a:spcBef>
              <a:buClr>
                <a:schemeClr val="accent2"/>
              </a:buClr>
              <a:buChar char="y"/>
              <a:defRPr kumimoji="1"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371600" indent="-457200" eaLnBrk="0" hangingPunct="0">
              <a:spcBef>
                <a:spcPct val="20000"/>
              </a:spcBef>
              <a:buClr>
                <a:schemeClr val="accent2"/>
              </a:buClr>
              <a:buChar char="x"/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752600" indent="-3810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209800" indent="-381000" eaLnBrk="0" hangingPunct="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Monotype Sorts" pitchFamily="2" charset="2"/>
              <a:buNone/>
              <a:defRPr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800" dirty="0">
                <a:solidFill>
                  <a:srgbClr val="A5002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800" dirty="0">
                <a:solidFill>
                  <a:srgbClr val="A50021"/>
                </a:solidFill>
                <a:latin typeface="微软雅黑" pitchFamily="34" charset="-122"/>
                <a:ea typeface="微软雅黑" pitchFamily="34" charset="-122"/>
              </a:rPr>
              <a:t>、锥齿轮传动：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  <a:defRPr/>
            </a:pPr>
            <a:endParaRPr lang="zh-CN" altLang="en-US" sz="2800" dirty="0">
              <a:solidFill>
                <a:srgbClr val="A50021"/>
              </a:solidFill>
              <a:latin typeface="微软雅黑" pitchFamily="34" charset="-122"/>
              <a:ea typeface="微软雅黑" pitchFamily="34" charset="-122"/>
            </a:endParaRPr>
          </a:p>
          <a:p>
            <a:pPr marL="447675" indent="-447675" eaLnBrk="1" hangingPunct="1">
              <a:lnSpc>
                <a:spcPct val="140000"/>
              </a:lnSpc>
              <a:spcBef>
                <a:spcPct val="0"/>
              </a:spcBef>
              <a:buFont typeface="Monotype Sorts" pitchFamily="2" charset="2"/>
              <a:buNone/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     要求基本同上，具体结构尺寸参见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P37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表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3-2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图册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序号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75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5111" name="Rectangle 7"/>
          <p:cNvSpPr>
            <a:spLocks noChangeArrowheads="1"/>
          </p:cNvSpPr>
          <p:nvPr/>
        </p:nvSpPr>
        <p:spPr bwMode="auto">
          <a:xfrm>
            <a:off x="1468438" y="3933825"/>
            <a:ext cx="6951662" cy="16430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  <a:flatTx/>
          </a:bodyPr>
          <a:lstStyle/>
          <a:p>
            <a:pPr eaLnBrk="1" hangingPunct="1">
              <a:lnSpc>
                <a:spcPct val="140000"/>
              </a:lnSpc>
              <a:buClr>
                <a:schemeClr val="accent2"/>
              </a:buClr>
              <a:buFont typeface="Monotype Sorts" pitchFamily="2" charset="2"/>
              <a:buNone/>
              <a:defRPr/>
            </a:pPr>
            <a:r>
              <a:rPr lang="zh-CN" altLang="en-US" sz="240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特别提示：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边设计边修改，最终装配图、零件</a:t>
            </a:r>
          </a:p>
          <a:p>
            <a:pPr eaLnBrk="1" hangingPunct="1">
              <a:lnSpc>
                <a:spcPct val="140000"/>
              </a:lnSpc>
              <a:buClr>
                <a:schemeClr val="accent2"/>
              </a:buClr>
              <a:buFont typeface="Monotype Sorts" pitchFamily="2" charset="2"/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图、计算说明书的结果必须一致，尤</a:t>
            </a:r>
          </a:p>
          <a:p>
            <a:pPr eaLnBrk="1" hangingPunct="1">
              <a:lnSpc>
                <a:spcPct val="140000"/>
              </a:lnSpc>
              <a:buClr>
                <a:schemeClr val="accent2"/>
              </a:buClr>
              <a:buFont typeface="Monotype Sorts" pitchFamily="2" charset="2"/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其对于轴、齿轮等。</a:t>
            </a:r>
          </a:p>
        </p:txBody>
      </p:sp>
    </p:spTree>
  </p:cSld>
  <p:clrMapOvr>
    <a:masterClrMapping/>
  </p:clrMapOvr>
  <p:transition advTm="37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5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1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8C2E7C-0936-4650-95F0-618AE71A1065}" type="slidenum">
              <a:rPr lang="zh-CN" altLang="en-US" smtClean="0"/>
              <a:pPr>
                <a:defRPr/>
              </a:pPr>
              <a:t>40</a:t>
            </a:fld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7772400" cy="609600"/>
          </a:xfrm>
        </p:spPr>
        <p:txBody>
          <a:bodyPr/>
          <a:lstStyle/>
          <a:p>
            <a:pPr algn="ctr" eaLnBrk="1" hangingPunct="1"/>
            <a:r>
              <a:rPr lang="zh-CN" altLang="en-US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传动零件的设计计算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667" y="1305540"/>
            <a:ext cx="7853585" cy="5000116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3808853" y="5363290"/>
            <a:ext cx="1923925" cy="584775"/>
            <a:chOff x="3834491" y="5363290"/>
            <a:chExt cx="1923925" cy="584775"/>
          </a:xfrm>
        </p:grpSpPr>
        <p:sp>
          <p:nvSpPr>
            <p:cNvPr id="8" name="文本框 7"/>
            <p:cNvSpPr txBox="1"/>
            <p:nvPr/>
          </p:nvSpPr>
          <p:spPr>
            <a:xfrm>
              <a:off x="3834491" y="5460762"/>
              <a:ext cx="19239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R=100     mm</a:t>
              </a:r>
              <a:endPara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689643" y="5363290"/>
              <a:ext cx="5277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+5</a:t>
              </a:r>
            </a:p>
            <a:p>
              <a:r>
                <a:rPr lang="en-US" altLang="zh-CN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-10</a:t>
              </a:r>
              <a:endPara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641015" y="1305540"/>
            <a:ext cx="4573688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（手册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P16~18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P328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419949" y="1909241"/>
            <a:ext cx="2608406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（手册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P20~23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04724761"/>
      </p:ext>
    </p:extLst>
  </p:cSld>
  <p:clrMapOvr>
    <a:masterClrMapping/>
  </p:clrMapOvr>
  <p:transition advTm="3700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8C2E7C-0936-4650-95F0-618AE71A1065}" type="slidenum">
              <a:rPr lang="zh-CN" altLang="en-US" smtClean="0"/>
              <a:pPr>
                <a:defRPr/>
              </a:pPr>
              <a:t>41</a:t>
            </a:fld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1290414" y="1401510"/>
            <a:ext cx="1919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班级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QQ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群：</a:t>
            </a:r>
          </a:p>
        </p:txBody>
      </p:sp>
    </p:spTree>
    <p:extLst>
      <p:ext uri="{BB962C8B-B14F-4D97-AF65-F5344CB8AC3E}">
        <p14:creationId xmlns:p14="http://schemas.microsoft.com/office/powerpoint/2010/main" val="2536855482"/>
      </p:ext>
    </p:extLst>
  </p:cSld>
  <p:clrMapOvr>
    <a:masterClrMapping/>
  </p:clrMapOvr>
  <p:transition advTm="3700"/>
</p:sld>
</file>

<file path=ppt/theme/theme1.xml><?xml version="1.0" encoding="utf-8"?>
<a:theme xmlns:a="http://schemas.openxmlformats.org/drawingml/2006/main" name="简洁型模板">
  <a:themeElements>
    <a:clrScheme name="简洁型模板 2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简洁型模板">
      <a:majorFont>
        <a:latin typeface="Arial Black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CC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sy="-100000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828800" marR="0" indent="0" algn="l" defTabSz="914400" rtl="0" eaLnBrk="1" fontAlgn="base" latinLnBrk="0" hangingPunct="1">
          <a:lnSpc>
            <a:spcPct val="105000"/>
          </a:lnSpc>
          <a:spcBef>
            <a:spcPct val="30000"/>
          </a:spcBef>
          <a:spcAft>
            <a:spcPct val="0"/>
          </a:spcAft>
          <a:buClr>
            <a:srgbClr val="A50021"/>
          </a:buClr>
          <a:buSzTx/>
          <a:buFont typeface="Monotype Sorts" pitchFamily="2" charset="2"/>
          <a:buChar char="v"/>
          <a:tabLst/>
          <a:defRPr kumimoji="1" lang="en-US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华文中宋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CC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sy="-100000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828800" marR="0" indent="0" algn="l" defTabSz="914400" rtl="0" eaLnBrk="1" fontAlgn="base" latinLnBrk="0" hangingPunct="1">
          <a:lnSpc>
            <a:spcPct val="105000"/>
          </a:lnSpc>
          <a:spcBef>
            <a:spcPct val="30000"/>
          </a:spcBef>
          <a:spcAft>
            <a:spcPct val="0"/>
          </a:spcAft>
          <a:buClr>
            <a:srgbClr val="A50021"/>
          </a:buClr>
          <a:buSzTx/>
          <a:buFont typeface="Monotype Sorts" pitchFamily="2" charset="2"/>
          <a:buChar char="v"/>
          <a:tabLst/>
          <a:defRPr kumimoji="1" lang="en-US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华文中宋" pitchFamily="2" charset="-122"/>
          </a:defRPr>
        </a:defPPr>
      </a:lstStyle>
    </a:lnDef>
  </a:objectDefaults>
  <a:extraClrSchemeLst>
    <a:extraClrScheme>
      <a:clrScheme name="简洁型模板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简洁型模板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简洁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简洁型模板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简洁型模板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简洁型模板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简洁型模板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Office\Templates\演示文稿设计\简洁型模板.pot</Template>
  <TotalTime>4491</TotalTime>
  <Words>3037</Words>
  <Application>Microsoft Office PowerPoint</Application>
  <PresentationFormat>全屏显示(4:3)</PresentationFormat>
  <Paragraphs>438</Paragraphs>
  <Slides>41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2" baseType="lpstr">
      <vt:lpstr>Batang</vt:lpstr>
      <vt:lpstr>Monotype Sorts</vt:lpstr>
      <vt:lpstr>黑体</vt:lpstr>
      <vt:lpstr>微软雅黑</vt:lpstr>
      <vt:lpstr>Arial</vt:lpstr>
      <vt:lpstr>Arial Black</vt:lpstr>
      <vt:lpstr>Tahoma</vt:lpstr>
      <vt:lpstr>Times New Roman</vt:lpstr>
      <vt:lpstr>Wingdings</vt:lpstr>
      <vt:lpstr>简洁型模板</vt:lpstr>
      <vt:lpstr>公式</vt:lpstr>
      <vt:lpstr>机械设计课程设计</vt:lpstr>
      <vt:lpstr>第一次布置 </vt:lpstr>
      <vt:lpstr>课程设计的目的、内容及要求</vt:lpstr>
      <vt:lpstr>课程设计的目的、内容及要求</vt:lpstr>
      <vt:lpstr>PowerPoint 演示文稿</vt:lpstr>
      <vt:lpstr>PowerPoint 演示文稿</vt:lpstr>
      <vt:lpstr>PowerPoint 演示文稿</vt:lpstr>
      <vt:lpstr>PowerPoint 演示文稿</vt:lpstr>
      <vt:lpstr>课程设计的目的、内容及要求</vt:lpstr>
      <vt:lpstr>PowerPoint 演示文稿</vt:lpstr>
      <vt:lpstr>课程设计的目的、内容及要求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传动零件的设计计算 </vt:lpstr>
      <vt:lpstr>传动零件的设计计算 </vt:lpstr>
      <vt:lpstr>传动零件的设计计算 </vt:lpstr>
      <vt:lpstr>传动零件的设计计算 </vt:lpstr>
      <vt:lpstr>PowerPoint 演示文稿</vt:lpstr>
      <vt:lpstr>传动零件的设计计算 </vt:lpstr>
      <vt:lpstr>传动零件的设计计算 </vt:lpstr>
      <vt:lpstr>PowerPoint 演示文稿</vt:lpstr>
    </vt:vector>
  </TitlesOfParts>
  <Manager/>
  <Company>Tsinghua Univ.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有关数字校园规划的一些考虑</dc:title>
  <dc:creator>jdx</dc:creator>
  <cp:lastModifiedBy>铎 任</cp:lastModifiedBy>
  <cp:revision>570</cp:revision>
  <cp:lastPrinted>2000-06-20T08:57:54Z</cp:lastPrinted>
  <dcterms:created xsi:type="dcterms:W3CDTF">2000-06-19T06:58:05Z</dcterms:created>
  <dcterms:modified xsi:type="dcterms:W3CDTF">2025-03-18T11:55:48Z</dcterms:modified>
</cp:coreProperties>
</file>