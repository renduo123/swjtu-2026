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7" r:id="rId2"/>
    <p:sldId id="258" r:id="rId3"/>
    <p:sldId id="451" r:id="rId4"/>
    <p:sldId id="450" r:id="rId5"/>
    <p:sldId id="452" r:id="rId6"/>
    <p:sldId id="454" r:id="rId7"/>
    <p:sldId id="449" r:id="rId8"/>
    <p:sldId id="455" r:id="rId9"/>
    <p:sldId id="456" r:id="rId10"/>
    <p:sldId id="457" r:id="rId11"/>
    <p:sldId id="458" r:id="rId12"/>
    <p:sldId id="459" r:id="rId13"/>
    <p:sldId id="463" r:id="rId14"/>
    <p:sldId id="466" r:id="rId15"/>
    <p:sldId id="461" r:id="rId16"/>
    <p:sldId id="465" r:id="rId17"/>
    <p:sldId id="462" r:id="rId18"/>
    <p:sldId id="412" r:id="rId19"/>
  </p:sldIdLst>
  <p:sldSz cx="9144000" cy="5715000" type="screen16x10"/>
  <p:notesSz cx="6858000" cy="9144000"/>
  <p:custDataLst>
    <p:tags r:id="rId2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guide id="3" pos="5488" userDrawn="1">
          <p15:clr>
            <a:srgbClr val="A4A3A4"/>
          </p15:clr>
        </p15:guide>
        <p15:guide id="4"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E0E0E0"/>
    <a:srgbClr val="FF9900"/>
    <a:srgbClr val="3366FF"/>
    <a:srgbClr val="D1EDFF"/>
    <a:srgbClr val="FFFF7D"/>
    <a:srgbClr val="FDFDFD"/>
    <a:srgbClr val="CCEC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3729" autoAdjust="0"/>
  </p:normalViewPr>
  <p:slideViewPr>
    <p:cSldViewPr showGuides="1">
      <p:cViewPr varScale="1">
        <p:scale>
          <a:sx n="131" d="100"/>
          <a:sy n="131" d="100"/>
        </p:scale>
        <p:origin x="1050" y="102"/>
      </p:cViewPr>
      <p:guideLst>
        <p:guide orient="horz" pos="1800"/>
        <p:guide pos="2880"/>
        <p:guide pos="5488"/>
        <p:guide pos="272"/>
      </p:guideLst>
    </p:cSldViewPr>
  </p:slideViewPr>
  <p:notesTextViewPr>
    <p:cViewPr>
      <p:scale>
        <a:sx n="100" d="100"/>
        <a:sy n="100" d="100"/>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image" Target="../media/image6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350"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endParaRPr lang="zh-CN" altLang="en-US"/>
          </a:p>
        </p:txBody>
      </p:sp>
      <p:sp>
        <p:nvSpPr>
          <p:cNvPr id="1054351"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fld id="{F37EA0CE-5915-4F4C-B676-E17D05F042EF}" type="datetimeFigureOut">
              <a:rPr lang="zh-CN" altLang="en-US"/>
              <a:t>2024-09-09</a:t>
            </a:fld>
            <a:endParaRPr lang="zh-CN" altLang="en-US"/>
          </a:p>
        </p:txBody>
      </p:sp>
      <p:sp>
        <p:nvSpPr>
          <p:cNvPr id="1054352"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1054353"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1054354"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endParaRPr lang="zh-CN" altLang="en-US"/>
          </a:p>
        </p:txBody>
      </p:sp>
      <p:sp>
        <p:nvSpPr>
          <p:cNvPr id="1054355"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fld id="{02F0FA9E-A47E-4458-A8BA-8FCC88CC1B1C}" type="slidenum">
              <a:rPr lang="zh-CN" altLang="en-US"/>
              <a:t>‹#›</a:t>
            </a:fld>
            <a:endParaRPr lang="zh-CN" altLang="en-US"/>
          </a:p>
        </p:txBody>
      </p:sp>
    </p:spTree>
    <p:extLst>
      <p:ext uri="{BB962C8B-B14F-4D97-AF65-F5344CB8AC3E}">
        <p14:creationId xmlns:p14="http://schemas.microsoft.com/office/powerpoint/2010/main" val="10346040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8" name="幻灯片图像占位符 1"/>
          <p:cNvSpPr>
            <a:spLocks noGrp="1" noRot="1" noChangeAspect="1"/>
          </p:cNvSpPr>
          <p:nvPr>
            <p:ph type="sldImg"/>
          </p:nvPr>
        </p:nvSpPr>
        <p:spPr/>
      </p:sp>
      <p:sp>
        <p:nvSpPr>
          <p:cNvPr id="1048809" name="备注占位符 2"/>
          <p:cNvSpPr>
            <a:spLocks noGrp="1"/>
          </p:cNvSpPr>
          <p:nvPr>
            <p:ph type="body" idx="1"/>
          </p:nvPr>
        </p:nvSpPr>
        <p:spPr/>
        <p:txBody>
          <a:bodyPr/>
          <a:lstStyle/>
          <a:p>
            <a:endParaRPr lang="zh-CN" altLang="en-US" dirty="0"/>
          </a:p>
        </p:txBody>
      </p:sp>
      <p:sp>
        <p:nvSpPr>
          <p:cNvPr id="1048810" name="灯片编号占位符 3"/>
          <p:cNvSpPr>
            <a:spLocks noGrp="1"/>
          </p:cNvSpPr>
          <p:nvPr>
            <p:ph type="sldNum" sz="quarter" idx="10"/>
          </p:nvPr>
        </p:nvSpPr>
        <p:spPr/>
        <p:txBody>
          <a:bodyPr/>
          <a:lstStyle/>
          <a:p>
            <a:fld id="{A80541FE-6A02-44C7-9DF4-18CC7D02DB72}" type="slidenum">
              <a:rPr lang="zh-CN" altLang="en-US" smtClean="0"/>
              <a:t>3</a:t>
            </a:fld>
            <a:endParaRPr lang="zh-CN" altLang="en-US"/>
          </a:p>
        </p:txBody>
      </p:sp>
    </p:spTree>
    <p:extLst>
      <p:ext uri="{BB962C8B-B14F-4D97-AF65-F5344CB8AC3E}">
        <p14:creationId xmlns:p14="http://schemas.microsoft.com/office/powerpoint/2010/main" val="1606779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dirty="0" smtClean="0">
                <a:latin typeface="黑体" pitchFamily="2" charset="-122"/>
                <a:ea typeface="黑体" pitchFamily="2" charset="-122"/>
              </a:rPr>
              <a:t>变应力下，零件的损坏形式是</a:t>
            </a:r>
            <a:r>
              <a:rPr kumimoji="1" lang="zh-CN" altLang="en-US" sz="1200" dirty="0" smtClean="0">
                <a:solidFill>
                  <a:srgbClr val="FF0000"/>
                </a:solidFill>
                <a:latin typeface="黑体" pitchFamily="2" charset="-122"/>
                <a:ea typeface="黑体" pitchFamily="2" charset="-122"/>
              </a:rPr>
              <a:t>疲劳断裂</a:t>
            </a:r>
            <a:r>
              <a:rPr kumimoji="1" lang="zh-CN" altLang="en-US" sz="1200" dirty="0" smtClean="0">
                <a:latin typeface="黑体" pitchFamily="2" charset="-122"/>
                <a:ea typeface="黑体" pitchFamily="2" charset="-122"/>
              </a:rPr>
              <a:t>。</a:t>
            </a:r>
            <a:endParaRPr lang="en-US" altLang="zh-CN" dirty="0" smtClean="0"/>
          </a:p>
          <a:p>
            <a:r>
              <a:rPr lang="zh-CN" altLang="en-US" dirty="0" smtClean="0"/>
              <a:t>稳定交变应力：应力变化的周期和幅值始终不变。</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rgbClr val="FF0000"/>
                </a:solidFill>
              </a:rPr>
              <a:t>规律性</a:t>
            </a:r>
            <a:r>
              <a:rPr lang="zh-CN" altLang="en-US" sz="1200" dirty="0" smtClean="0"/>
              <a:t>不稳定交变应力可根据</a:t>
            </a:r>
            <a:r>
              <a:rPr lang="zh-CN" altLang="en-US" sz="1200" dirty="0" smtClean="0">
                <a:solidFill>
                  <a:srgbClr val="0000FF"/>
                </a:solidFill>
              </a:rPr>
              <a:t>疲劳损伤累积假说</a:t>
            </a:r>
            <a:r>
              <a:rPr lang="zh-CN" altLang="en-US" sz="1200" dirty="0" smtClean="0"/>
              <a:t>定理，应用等效概念使之转化为相当的稳定变应力予以计算。</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rgbClr val="FF0000"/>
                </a:solidFill>
              </a:rPr>
              <a:t>非规律性</a:t>
            </a:r>
            <a:r>
              <a:rPr lang="zh-CN" altLang="en-US" sz="1200" dirty="0" smtClean="0"/>
              <a:t>不稳定变应力其参数随即变化，应根据试验监测获得其统计分布规律，用统计疲劳强度方法予以解决。</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4</a:t>
            </a:fld>
            <a:endParaRPr lang="zh-CN" altLang="en-US"/>
          </a:p>
        </p:txBody>
      </p:sp>
    </p:spTree>
    <p:extLst>
      <p:ext uri="{BB962C8B-B14F-4D97-AF65-F5344CB8AC3E}">
        <p14:creationId xmlns:p14="http://schemas.microsoft.com/office/powerpoint/2010/main" val="144706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D</a:t>
            </a:r>
            <a:r>
              <a:rPr lang="zh-CN" altLang="en-US" dirty="0" smtClean="0"/>
              <a:t>点所对应的循环次数</a:t>
            </a:r>
            <a:r>
              <a:rPr lang="en-US" altLang="zh-CN" dirty="0" smtClean="0"/>
              <a:t>N</a:t>
            </a:r>
            <a:r>
              <a:rPr lang="en-US" altLang="zh-CN" baseline="-25000" dirty="0" smtClean="0"/>
              <a:t>D</a:t>
            </a:r>
            <a:r>
              <a:rPr lang="zh-CN" altLang="en-US" dirty="0" smtClean="0"/>
              <a:t>，</a:t>
            </a:r>
            <a:r>
              <a:rPr kumimoji="0" lang="en-US" altLang="zh-CN" sz="12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D</a:t>
            </a:r>
            <a:r>
              <a:rPr kumimoji="0" lang="zh-CN" altLang="en-US" sz="12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点的极限应力记为</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rPr>
              <a:t>r</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a:t>
            </a:r>
            <a:r>
              <a:rPr kumimoji="0" lang="zh-CN" altLang="en-US" sz="12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，称为</a:t>
            </a:r>
            <a:r>
              <a:rPr kumimoji="0" lang="zh-CN" altLang="en-US" sz="12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持久疲劳极限</a:t>
            </a:r>
            <a:r>
              <a:rPr kumimoji="0" lang="zh-CN" altLang="en-US" sz="12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a:t>
            </a:r>
            <a:endParaRPr kumimoji="0" lang="en-US" altLang="zh-CN" sz="12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对于各种工程材料来说，大致为</a:t>
            </a:r>
            <a:r>
              <a:rPr lang="en-US" altLang="zh-CN" dirty="0" smtClean="0"/>
              <a:t>10</a:t>
            </a:r>
            <a:r>
              <a:rPr lang="en-US" altLang="zh-CN" baseline="30000" dirty="0" smtClean="0"/>
              <a:t>6</a:t>
            </a:r>
            <a:r>
              <a:rPr lang="en-US" altLang="zh-CN" dirty="0" smtClean="0"/>
              <a:t>——25</a:t>
            </a:r>
            <a:r>
              <a:rPr lang="en-US" altLang="zh-CN" dirty="0" smtClean="0">
                <a:latin typeface="宋体"/>
                <a:ea typeface="+mn-ea"/>
              </a:rPr>
              <a:t>×10</a:t>
            </a:r>
            <a:r>
              <a:rPr lang="en-US" altLang="zh-CN" baseline="30000" dirty="0" smtClean="0">
                <a:latin typeface="宋体"/>
                <a:ea typeface="+mn-ea"/>
              </a:rPr>
              <a:t>7</a:t>
            </a:r>
            <a:r>
              <a:rPr lang="zh-CN" altLang="en-US" dirty="0" smtClean="0">
                <a:latin typeface="宋体"/>
                <a:ea typeface="+mn-ea"/>
              </a:rPr>
              <a:t>之间。由于</a:t>
            </a:r>
            <a:r>
              <a:rPr lang="en-US" altLang="zh-CN" dirty="0" smtClean="0"/>
              <a:t>N</a:t>
            </a:r>
            <a:r>
              <a:rPr lang="en-US" altLang="zh-CN" baseline="-25000" dirty="0" smtClean="0"/>
              <a:t>D</a:t>
            </a:r>
            <a:r>
              <a:rPr lang="zh-CN" altLang="en-US" dirty="0" smtClean="0">
                <a:latin typeface="宋体"/>
                <a:ea typeface="+mn-ea"/>
              </a:rPr>
              <a:t>有时很大，所以人们在做疲劳试验时，常规定一个循环次数</a:t>
            </a:r>
            <a:r>
              <a:rPr lang="en-US" altLang="zh-CN" dirty="0" smtClean="0"/>
              <a:t>N</a:t>
            </a:r>
            <a:r>
              <a:rPr lang="en-US" altLang="zh-CN" baseline="-25000" dirty="0" smtClean="0"/>
              <a:t>0</a:t>
            </a:r>
            <a:r>
              <a:rPr lang="zh-CN" altLang="en-US" dirty="0" smtClean="0">
                <a:latin typeface="宋体"/>
                <a:ea typeface="+mn-ea"/>
              </a:rPr>
              <a:t>（称为循环基数），用</a:t>
            </a:r>
            <a:r>
              <a:rPr lang="en-US" altLang="zh-CN" dirty="0" smtClean="0"/>
              <a:t>N</a:t>
            </a:r>
            <a:r>
              <a:rPr lang="en-US" altLang="zh-CN" baseline="-25000" dirty="0" smtClean="0"/>
              <a:t>0</a:t>
            </a:r>
            <a:r>
              <a:rPr lang="zh-CN" altLang="en-US" dirty="0" smtClean="0">
                <a:latin typeface="宋体"/>
                <a:ea typeface="+mn-ea"/>
              </a:rPr>
              <a:t>和与</a:t>
            </a:r>
            <a:r>
              <a:rPr lang="en-US" altLang="zh-CN" dirty="0" smtClean="0"/>
              <a:t>N</a:t>
            </a:r>
            <a:r>
              <a:rPr lang="en-US" altLang="zh-CN" baseline="-25000" dirty="0" smtClean="0"/>
              <a:t>0</a:t>
            </a:r>
            <a:r>
              <a:rPr lang="zh-CN" altLang="en-US" dirty="0" smtClean="0">
                <a:latin typeface="宋体"/>
                <a:ea typeface="+mn-ea"/>
              </a:rPr>
              <a:t>相对应的疲劳极限</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rPr>
              <a:t>r</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N0</a:t>
            </a:r>
            <a:r>
              <a:rPr lang="zh-CN" altLang="en-US" dirty="0" smtClean="0">
                <a:latin typeface="宋体"/>
                <a:ea typeface="+mn-ea"/>
              </a:rPr>
              <a:t>（简写为</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rPr>
              <a:t>r</a:t>
            </a:r>
            <a:r>
              <a:rPr lang="zh-CN" altLang="en-US" dirty="0" smtClean="0">
                <a:latin typeface="宋体"/>
                <a:ea typeface="+mn-ea"/>
              </a:rPr>
              <a:t>）来近似代表</a:t>
            </a:r>
            <a:r>
              <a:rPr lang="en-US" altLang="zh-CN" dirty="0" smtClean="0"/>
              <a:t>N</a:t>
            </a:r>
            <a:r>
              <a:rPr lang="en-US" altLang="zh-CN" baseline="-25000" dirty="0" smtClean="0"/>
              <a:t>D</a:t>
            </a:r>
            <a:r>
              <a:rPr lang="zh-CN" altLang="en-US" dirty="0" smtClean="0">
                <a:latin typeface="宋体"/>
                <a:ea typeface="+mn-ea"/>
              </a:rPr>
              <a:t>和</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rPr>
              <a:t>r</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a:t>
            </a:r>
            <a:r>
              <a:rPr lang="zh-CN" altLang="en-US" dirty="0" smtClean="0">
                <a:latin typeface="宋体"/>
                <a:ea typeface="+mn-ea"/>
              </a:rPr>
              <a:t>。</a:t>
            </a:r>
            <a:endParaRPr lang="en-US" altLang="zh-CN" dirty="0" smtClean="0">
              <a:latin typeface="宋体"/>
              <a:ea typeface="+mn-ea"/>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latin typeface="宋体"/>
                <a:ea typeface="+mn-ea"/>
              </a:rPr>
              <a:t>m——</a:t>
            </a:r>
            <a:r>
              <a:rPr kumimoji="0" lang="zh-CN" altLang="en-US" sz="1200" b="0" i="0" u="none" strike="noStrike" kern="0" cap="none" spc="0" normalizeH="0" baseline="0" noProof="0" dirty="0" smtClean="0">
                <a:ln>
                  <a:noFill/>
                </a:ln>
                <a:solidFill>
                  <a:srgbClr val="000000"/>
                </a:solidFill>
                <a:effectLst/>
                <a:uLnTx/>
                <a:uFillTx/>
                <a:latin typeface="宋体"/>
                <a:ea typeface="+mn-ea"/>
              </a:rPr>
              <a:t>寿命</a:t>
            </a:r>
            <a:r>
              <a:rPr kumimoji="0" lang="zh-CN" altLang="en-US" sz="1200" b="0" i="0" u="none" strike="noStrike" kern="0" cap="none" spc="0" normalizeH="0" baseline="0" noProof="0" dirty="0" smtClean="0">
                <a:ln>
                  <a:noFill/>
                </a:ln>
                <a:solidFill>
                  <a:srgbClr val="000000"/>
                </a:solidFill>
                <a:effectLst/>
                <a:uLnTx/>
                <a:uFillTx/>
              </a:rPr>
              <a:t>指数。与材料及应力种类有关。</a:t>
            </a:r>
            <a:endParaRPr kumimoji="0" lang="en-US" altLang="zh-CN" sz="1200" b="0" i="0" u="none" strike="noStrike" kern="0" cap="none" spc="0" normalizeH="0" baseline="0" noProof="0" dirty="0" smtClean="0">
              <a:ln>
                <a:noFill/>
              </a:ln>
              <a:solidFill>
                <a:srgbClr val="000000"/>
              </a:solidFill>
              <a:effectLst/>
              <a:uLnTx/>
              <a:uFillTx/>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0" lang="en-US" altLang="zh-CN" sz="1200" b="0" i="0" u="none" strike="noStrike" kern="0" cap="none" spc="0" normalizeH="0" baseline="0" noProof="0" dirty="0" smtClean="0">
                <a:ln>
                  <a:noFill/>
                </a:ln>
                <a:solidFill>
                  <a:srgbClr val="000000"/>
                </a:solidFill>
                <a:effectLst/>
                <a:uLnTx/>
                <a:uFillTx/>
              </a:rPr>
              <a:t>K</a:t>
            </a:r>
            <a:r>
              <a:rPr kumimoji="0" lang="en-US" altLang="zh-CN" sz="1200" b="0" i="0" u="none" strike="noStrike" kern="0" cap="none" spc="0" normalizeH="0" baseline="-25000" noProof="0" dirty="0" smtClean="0">
                <a:ln>
                  <a:noFill/>
                </a:ln>
                <a:solidFill>
                  <a:srgbClr val="000000"/>
                </a:solidFill>
                <a:effectLst/>
                <a:uLnTx/>
                <a:uFillTx/>
              </a:rPr>
              <a:t>N</a:t>
            </a:r>
            <a:r>
              <a:rPr kumimoji="0" lang="en-US" altLang="zh-CN" sz="1200" b="0" i="0" u="none" strike="noStrike" kern="0" cap="none" spc="0" normalizeH="0" baseline="0" noProof="0" dirty="0" smtClean="0">
                <a:ln>
                  <a:noFill/>
                </a:ln>
                <a:solidFill>
                  <a:srgbClr val="000000"/>
                </a:solidFill>
                <a:effectLst/>
                <a:uLnTx/>
                <a:uFillTx/>
              </a:rPr>
              <a:t>——</a:t>
            </a:r>
            <a:r>
              <a:rPr kumimoji="0" lang="zh-CN" altLang="en-US" sz="1200" b="0" i="0" u="none" strike="noStrike" kern="0" cap="none" spc="0" normalizeH="0" baseline="0" noProof="0" dirty="0" smtClean="0">
                <a:ln>
                  <a:noFill/>
                </a:ln>
                <a:solidFill>
                  <a:srgbClr val="000000"/>
                </a:solidFill>
                <a:effectLst/>
                <a:uLnTx/>
                <a:uFillTx/>
              </a:rPr>
              <a:t>寿命系数。</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5</a:t>
            </a:fld>
            <a:endParaRPr lang="zh-CN" altLang="en-US"/>
          </a:p>
        </p:txBody>
      </p:sp>
    </p:spTree>
    <p:extLst>
      <p:ext uri="{BB962C8B-B14F-4D97-AF65-F5344CB8AC3E}">
        <p14:creationId xmlns:p14="http://schemas.microsoft.com/office/powerpoint/2010/main" val="56614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评注：这是一个求解任意循环次数时疲劳极限的问题。本题主要考察学习者对疲劳曲线的特点、方程及其应用，疲劳损伤累积假说及</a:t>
            </a:r>
            <a:r>
              <a:rPr lang="en-US" altLang="zh-CN" dirty="0" smtClean="0"/>
              <a:t>Miner</a:t>
            </a:r>
            <a:r>
              <a:rPr lang="zh-CN" altLang="en-US" dirty="0" smtClean="0"/>
              <a:t>方程等考点掌握的情况。</a:t>
            </a:r>
            <a:endParaRPr lang="en-US" altLang="zh-CN" dirty="0" smtClean="0"/>
          </a:p>
          <a:p>
            <a:r>
              <a:rPr lang="zh-CN" altLang="en-US" dirty="0" smtClean="0"/>
              <a:t>注意题中易错点是塑性材料的屈服极限</a:t>
            </a:r>
            <a:r>
              <a:rPr lang="el-GR" altLang="zh-CN" dirty="0" smtClean="0">
                <a:ea typeface="宋体" panose="02010600030101010101" pitchFamily="2" charset="-122"/>
              </a:rPr>
              <a:t>σ</a:t>
            </a:r>
            <a:r>
              <a:rPr lang="en-US" altLang="zh-CN" baseline="-25000" dirty="0" smtClean="0">
                <a:ea typeface="宋体" panose="02010600030101010101" pitchFamily="2" charset="-122"/>
              </a:rPr>
              <a:t>S</a:t>
            </a:r>
            <a:r>
              <a:rPr lang="zh-CN" altLang="en-US" dirty="0" smtClean="0">
                <a:ea typeface="宋体" panose="02010600030101010101" pitchFamily="2" charset="-122"/>
              </a:rPr>
              <a:t>和循环基数</a:t>
            </a:r>
            <a:r>
              <a:rPr lang="en-US" altLang="zh-CN" dirty="0" smtClean="0">
                <a:ea typeface="宋体" panose="02010600030101010101" pitchFamily="2" charset="-122"/>
              </a:rPr>
              <a:t>N</a:t>
            </a:r>
            <a:r>
              <a:rPr lang="en-US" altLang="zh-CN" baseline="-25000" dirty="0" smtClean="0">
                <a:ea typeface="宋体" panose="02010600030101010101" pitchFamily="2" charset="-122"/>
              </a:rPr>
              <a:t>0</a:t>
            </a:r>
            <a:r>
              <a:rPr lang="zh-CN" altLang="en-US" dirty="0" smtClean="0">
                <a:ea typeface="宋体" panose="02010600030101010101" pitchFamily="2" charset="-122"/>
              </a:rPr>
              <a:t>。</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6</a:t>
            </a:fld>
            <a:endParaRPr lang="zh-CN" altLang="en-US"/>
          </a:p>
        </p:txBody>
      </p:sp>
    </p:spTree>
    <p:extLst>
      <p:ext uri="{BB962C8B-B14F-4D97-AF65-F5344CB8AC3E}">
        <p14:creationId xmlns:p14="http://schemas.microsoft.com/office/powerpoint/2010/main" val="1590209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4" name="幻灯片图像占位符 1"/>
          <p:cNvSpPr>
            <a:spLocks noGrp="1" noRot="1" noChangeAspect="1"/>
          </p:cNvSpPr>
          <p:nvPr>
            <p:ph type="sldImg"/>
          </p:nvPr>
        </p:nvSpPr>
        <p:spPr/>
      </p:sp>
      <p:sp>
        <p:nvSpPr>
          <p:cNvPr id="1048925"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solidFill>
                  <a:schemeClr val="tx1"/>
                </a:solidFill>
                <a:latin typeface="黑体" pitchFamily="2" charset="-122"/>
                <a:ea typeface="黑体" pitchFamily="2" charset="-122"/>
              </a:rPr>
              <a:t>按试验结果，这一疲劳特性曲线为二次曲线，但在工程应用中，常将其以直线来近似代替。</a:t>
            </a:r>
            <a:endParaRPr lang="zh-CN" altLang="en-US" dirty="0"/>
          </a:p>
        </p:txBody>
      </p:sp>
      <p:sp>
        <p:nvSpPr>
          <p:cNvPr id="1048926" name="灯片编号占位符 3"/>
          <p:cNvSpPr>
            <a:spLocks noGrp="1"/>
          </p:cNvSpPr>
          <p:nvPr>
            <p:ph type="sldNum" sz="quarter" idx="10"/>
          </p:nvPr>
        </p:nvSpPr>
        <p:spPr/>
        <p:txBody>
          <a:bodyPr/>
          <a:lstStyle/>
          <a:p>
            <a:fld id="{02F0FA9E-A47E-4458-A8BA-8FCC88CC1B1C}" type="slidenum">
              <a:rPr lang="zh-CN" altLang="en-US" smtClean="0"/>
              <a:t>7</a:t>
            </a:fld>
            <a:endParaRPr lang="zh-CN" altLang="en-US"/>
          </a:p>
        </p:txBody>
      </p:sp>
    </p:spTree>
    <p:extLst>
      <p:ext uri="{BB962C8B-B14F-4D97-AF65-F5344CB8AC3E}">
        <p14:creationId xmlns:p14="http://schemas.microsoft.com/office/powerpoint/2010/main" val="1077358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dirty="0" smtClean="0">
                <a:latin typeface="黑体" pitchFamily="2" charset="-122"/>
              </a:rPr>
              <a:t>简化等寿命曲线：</a:t>
            </a:r>
            <a:r>
              <a:rPr kumimoji="1" lang="zh-CN" altLang="en-US" sz="1200" dirty="0" smtClean="0">
                <a:solidFill>
                  <a:srgbClr val="FF0000"/>
                </a:solidFill>
                <a:latin typeface="黑体" pitchFamily="2" charset="-122"/>
              </a:rPr>
              <a:t>极限应力线图（双直线极限应力图）。</a:t>
            </a:r>
            <a:endParaRPr kumimoji="1" lang="en-US" altLang="zh-CN" sz="1200" dirty="0" smtClean="0">
              <a:solidFill>
                <a:srgbClr val="FF0000"/>
              </a:solidFill>
              <a:latin typeface="黑体"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折线</a:t>
            </a:r>
            <a:r>
              <a:rPr lang="en-US" altLang="zh-CN" dirty="0" smtClean="0"/>
              <a:t>A</a:t>
            </a:r>
            <a:r>
              <a:rPr lang="zh-CN" altLang="en-US" dirty="0" smtClean="0"/>
              <a:t>’</a:t>
            </a:r>
            <a:r>
              <a:rPr lang="en-US" altLang="zh-CN" dirty="0" smtClean="0"/>
              <a:t>D</a:t>
            </a:r>
            <a:r>
              <a:rPr lang="zh-CN" altLang="en-US" dirty="0" smtClean="0"/>
              <a:t>’</a:t>
            </a:r>
            <a:r>
              <a:rPr lang="en-US" altLang="zh-CN" dirty="0" smtClean="0"/>
              <a:t>G</a:t>
            </a:r>
            <a:r>
              <a:rPr lang="zh-CN" altLang="en-US" dirty="0" smtClean="0"/>
              <a:t>’</a:t>
            </a:r>
            <a:r>
              <a:rPr lang="en-US" altLang="zh-CN" dirty="0" smtClean="0"/>
              <a:t>C</a:t>
            </a:r>
            <a:r>
              <a:rPr lang="zh-CN" altLang="en-US" dirty="0" smtClean="0"/>
              <a:t>上各点的横坐标为极限平均应力</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m</a:t>
            </a:r>
            <a:r>
              <a:rPr kumimoji="0" lang="zh-CN" altLang="en-US" sz="12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a:t>
            </a:r>
            <a:r>
              <a:rPr kumimoji="0" lang="zh-CN" altLang="en-US" sz="12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线上各点的纵坐标为极限应力幅</a:t>
            </a:r>
            <a:r>
              <a:rPr kumimoji="0" lang="el-GR"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σ</a:t>
            </a:r>
            <a:r>
              <a:rPr kumimoji="0" lang="en-US" altLang="zh-CN" sz="1200" b="1" i="1"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a:t>
            </a:r>
            <a:r>
              <a:rPr kumimoji="0" lang="en-US" altLang="zh-CN" sz="1200" b="1" i="0" u="none" strike="noStrike" kern="0" cap="none" spc="0" normalizeH="0" baseline="-2500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a</a:t>
            </a:r>
            <a:r>
              <a:rPr kumimoji="0" lang="zh-CN" altLang="en-US" sz="1200" b="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Arial" charset="0"/>
              </a:rPr>
              <a:t>。</a:t>
            </a:r>
            <a:r>
              <a:rPr lang="en-US" altLang="zh-CN" dirty="0" smtClean="0"/>
              <a:t>A</a:t>
            </a:r>
            <a:r>
              <a:rPr lang="zh-CN" altLang="en-US" dirty="0" smtClean="0"/>
              <a:t>’</a:t>
            </a:r>
            <a:r>
              <a:rPr lang="en-US" altLang="zh-CN" dirty="0" smtClean="0"/>
              <a:t>G</a:t>
            </a:r>
            <a:r>
              <a:rPr lang="zh-CN" altLang="en-US" dirty="0" smtClean="0"/>
              <a:t>’线为疲劳强度极限线；</a:t>
            </a:r>
            <a:r>
              <a:rPr lang="en-US" altLang="zh-CN" dirty="0" smtClean="0"/>
              <a:t>G’C</a:t>
            </a:r>
            <a:r>
              <a:rPr lang="zh-CN" altLang="en-US" dirty="0" smtClean="0"/>
              <a:t>线为屈服强度极限线。</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0" baseline="0" dirty="0" smtClean="0"/>
              <a:t>综合影响系数只影响应力幅而不影响平均应力。</a:t>
            </a:r>
            <a:endParaRPr lang="en-US" altLang="zh-CN" b="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0" baseline="0" dirty="0" smtClean="0"/>
              <a:t>如果零件承受的工作应力点位于</a:t>
            </a:r>
            <a:r>
              <a:rPr lang="en-US" altLang="zh-CN" b="0" baseline="0" dirty="0" smtClean="0"/>
              <a:t>OAGC</a:t>
            </a:r>
            <a:r>
              <a:rPr lang="zh-CN" altLang="en-US" b="0" baseline="0" dirty="0" smtClean="0"/>
              <a:t>区域以内，即最大应力既不超过疲劳极限又不超过屈服极限，则零件不发生破坏，否则一定会发生破坏。</a:t>
            </a:r>
            <a:endParaRPr lang="zh-CN" altLang="en-US" b="0" baseline="0"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8</a:t>
            </a:fld>
            <a:endParaRPr lang="zh-CN" altLang="en-US"/>
          </a:p>
        </p:txBody>
      </p:sp>
    </p:spTree>
    <p:extLst>
      <p:ext uri="{BB962C8B-B14F-4D97-AF65-F5344CB8AC3E}">
        <p14:creationId xmlns:p14="http://schemas.microsoft.com/office/powerpoint/2010/main" val="1003945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何谓“单向稳定”？</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单向：是指只有正应力或只有剪应力；稳定：是指应力的变化周期相同，变化幅值相同。</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latin typeface="黑体" pitchFamily="2" charset="-122"/>
                    <a:ea typeface="黑体" pitchFamily="2" charset="-122"/>
                  </a:rPr>
                  <a:t>根据零件危险截面上的工作平均应力</a:t>
                </a:r>
                <a14:m>
                  <m:oMath xmlns:m="http://schemas.openxmlformats.org/officeDocument/2006/math">
                    <m:sSub>
                      <m:sSubPr>
                        <m:ctrlPr>
                          <a:rPr lang="en-US" altLang="zh-CN" sz="1200" i="1" kern="0" smtClean="0">
                            <a:latin typeface="Cambria Math" panose="02040503050406030204" pitchFamily="18" charset="0"/>
                            <a:ea typeface="黑体" pitchFamily="2" charset="-122"/>
                          </a:rPr>
                        </m:ctrlPr>
                      </m:sSubPr>
                      <m:e>
                        <m:r>
                          <a:rPr lang="zh-CN" altLang="en-US" sz="1200" i="1" kern="0" smtClean="0">
                            <a:latin typeface="Cambria Math" panose="02040503050406030204" pitchFamily="18" charset="0"/>
                            <a:ea typeface="黑体" pitchFamily="2" charset="-122"/>
                          </a:rPr>
                          <m:t>𝜎</m:t>
                        </m:r>
                      </m:e>
                      <m:sub>
                        <m:r>
                          <a:rPr lang="en-US" altLang="zh-CN" sz="1200" b="0" i="1" kern="0" smtClean="0">
                            <a:latin typeface="Cambria Math" panose="02040503050406030204" pitchFamily="18" charset="0"/>
                            <a:ea typeface="黑体" pitchFamily="2" charset="-122"/>
                          </a:rPr>
                          <m:t>𝑚</m:t>
                        </m:r>
                      </m:sub>
                    </m:sSub>
                  </m:oMath>
                </a14:m>
                <a:r>
                  <a:rPr lang="zh-CN" altLang="en-US" sz="1200" kern="0" dirty="0" smtClean="0">
                    <a:latin typeface="黑体" pitchFamily="2" charset="-122"/>
                    <a:ea typeface="黑体" pitchFamily="2" charset="-122"/>
                  </a:rPr>
                  <a:t>及工作应力幅</a:t>
                </a:r>
                <a14:m>
                  <m:oMath xmlns:m="http://schemas.openxmlformats.org/officeDocument/2006/math">
                    <m:sSub>
                      <m:sSubPr>
                        <m:ctrlPr>
                          <a:rPr lang="en-US" altLang="zh-CN" sz="1200" i="1" kern="0" smtClean="0">
                            <a:latin typeface="Cambria Math" panose="02040503050406030204" pitchFamily="18" charset="0"/>
                            <a:ea typeface="黑体" pitchFamily="2" charset="-122"/>
                          </a:rPr>
                        </m:ctrlPr>
                      </m:sSubPr>
                      <m:e>
                        <m:r>
                          <a:rPr lang="zh-CN" altLang="en-US" sz="1200" i="1" kern="0" smtClean="0">
                            <a:latin typeface="Cambria Math" panose="02040503050406030204" pitchFamily="18" charset="0"/>
                            <a:ea typeface="黑体" pitchFamily="2" charset="-122"/>
                          </a:rPr>
                          <m:t>𝜎</m:t>
                        </m:r>
                      </m:e>
                      <m:sub>
                        <m:r>
                          <a:rPr lang="en-US" altLang="zh-CN" sz="1200" b="0" i="1" kern="0" smtClean="0">
                            <a:latin typeface="Cambria Math" panose="02040503050406030204" pitchFamily="18" charset="0"/>
                            <a:ea typeface="黑体" pitchFamily="2" charset="-122"/>
                          </a:rPr>
                          <m:t>𝑎</m:t>
                        </m:r>
                      </m:sub>
                    </m:sSub>
                  </m:oMath>
                </a14:m>
                <a:r>
                  <a:rPr lang="zh-CN" altLang="en-US" sz="1200" kern="0" dirty="0" smtClean="0">
                    <a:latin typeface="黑体" pitchFamily="2" charset="-122"/>
                    <a:ea typeface="黑体" pitchFamily="2" charset="-122"/>
                  </a:rPr>
                  <a:t>，在极限应力图上标出工作应力点</a:t>
                </a:r>
                <a14:m>
                  <m:oMath xmlns:m="http://schemas.openxmlformats.org/officeDocument/2006/math">
                    <m:r>
                      <a:rPr lang="en-US" altLang="zh-CN" sz="1200" b="0" i="1" kern="0" smtClean="0">
                        <a:latin typeface="Cambria Math" panose="02040503050406030204" pitchFamily="18" charset="0"/>
                        <a:ea typeface="黑体" pitchFamily="2" charset="-122"/>
                      </a:rPr>
                      <m:t>𝑀</m:t>
                    </m:r>
                    <m:r>
                      <a:rPr lang="en-US" altLang="zh-CN" sz="1200" b="0" i="1" kern="0" smtClean="0">
                        <a:latin typeface="Cambria Math" panose="02040503050406030204" pitchFamily="18" charset="0"/>
                        <a:ea typeface="黑体" pitchFamily="2" charset="-122"/>
                      </a:rPr>
                      <m:t>(</m:t>
                    </m:r>
                    <m:sSub>
                      <m:sSubPr>
                        <m:ctrlPr>
                          <a:rPr lang="en-US" altLang="zh-CN" sz="1200" i="1" kern="0">
                            <a:latin typeface="Cambria Math" panose="02040503050406030204" pitchFamily="18" charset="0"/>
                            <a:ea typeface="黑体" pitchFamily="2" charset="-122"/>
                          </a:rPr>
                        </m:ctrlPr>
                      </m:sSubPr>
                      <m:e>
                        <m:r>
                          <a:rPr lang="zh-CN" altLang="en-US" sz="1200" i="1" kern="0">
                            <a:latin typeface="Cambria Math" panose="02040503050406030204" pitchFamily="18" charset="0"/>
                            <a:ea typeface="黑体" pitchFamily="2" charset="-122"/>
                          </a:rPr>
                          <m:t>𝜎</m:t>
                        </m:r>
                      </m:e>
                      <m:sub>
                        <m:r>
                          <a:rPr lang="en-US" altLang="zh-CN" sz="1200" i="1" kern="0">
                            <a:latin typeface="Cambria Math" panose="02040503050406030204" pitchFamily="18" charset="0"/>
                            <a:ea typeface="黑体" pitchFamily="2" charset="-122"/>
                          </a:rPr>
                          <m:t>𝑚</m:t>
                        </m:r>
                      </m:sub>
                    </m:sSub>
                    <m:r>
                      <a:rPr lang="en-US" altLang="zh-CN" sz="1200" b="0" i="1" kern="0" smtClean="0">
                        <a:latin typeface="Cambria Math" panose="02040503050406030204" pitchFamily="18" charset="0"/>
                        <a:ea typeface="黑体" pitchFamily="2" charset="-122"/>
                      </a:rPr>
                      <m:t>,</m:t>
                    </m:r>
                    <m:sSub>
                      <m:sSubPr>
                        <m:ctrlPr>
                          <a:rPr lang="en-US" altLang="zh-CN" sz="1200" i="1" kern="0">
                            <a:latin typeface="Cambria Math" panose="02040503050406030204" pitchFamily="18" charset="0"/>
                            <a:ea typeface="黑体" pitchFamily="2" charset="-122"/>
                          </a:rPr>
                        </m:ctrlPr>
                      </m:sSubPr>
                      <m:e>
                        <m:r>
                          <a:rPr lang="zh-CN" altLang="en-US" sz="1200" i="1" kern="0">
                            <a:latin typeface="Cambria Math" panose="02040503050406030204" pitchFamily="18" charset="0"/>
                            <a:ea typeface="黑体" pitchFamily="2" charset="-122"/>
                          </a:rPr>
                          <m:t>𝜎</m:t>
                        </m:r>
                      </m:e>
                      <m:sub>
                        <m:r>
                          <a:rPr lang="en-US" altLang="zh-CN" sz="1200" i="1" kern="0">
                            <a:latin typeface="Cambria Math" panose="02040503050406030204" pitchFamily="18" charset="0"/>
                            <a:ea typeface="黑体" pitchFamily="2" charset="-122"/>
                          </a:rPr>
                          <m:t>𝑎</m:t>
                        </m:r>
                      </m:sub>
                    </m:sSub>
                    <m:r>
                      <a:rPr lang="en-US" altLang="zh-CN" sz="1200" b="0" i="1" kern="0" smtClean="0">
                        <a:latin typeface="Cambria Math" panose="02040503050406030204" pitchFamily="18" charset="0"/>
                        <a:ea typeface="黑体" pitchFamily="2" charset="-122"/>
                      </a:rPr>
                      <m:t>)</m:t>
                    </m:r>
                  </m:oMath>
                </a14:m>
                <a:r>
                  <a:rPr lang="en-US" altLang="zh-CN" sz="1200" kern="0" dirty="0" smtClean="0">
                    <a:latin typeface="黑体" pitchFamily="2" charset="-122"/>
                    <a:ea typeface="黑体" pitchFamily="2" charset="-122"/>
                  </a:rPr>
                  <a:t>(</a:t>
                </a:r>
                <a:r>
                  <a:rPr lang="zh-CN" altLang="en-US" sz="1200" kern="0" dirty="0" smtClean="0">
                    <a:latin typeface="黑体" pitchFamily="2" charset="-122"/>
                    <a:ea typeface="黑体" pitchFamily="2" charset="-122"/>
                  </a:rPr>
                  <a:t>或</a:t>
                </a:r>
                <a14:m>
                  <m:oMath xmlns:m="http://schemas.openxmlformats.org/officeDocument/2006/math">
                    <m:r>
                      <a:rPr lang="en-US" altLang="zh-CN" sz="1200" b="0" i="1" kern="0" dirty="0" smtClean="0">
                        <a:latin typeface="Cambria Math" panose="02040503050406030204" pitchFamily="18" charset="0"/>
                        <a:ea typeface="黑体" pitchFamily="2" charset="-122"/>
                      </a:rPr>
                      <m:t>𝑁</m:t>
                    </m:r>
                  </m:oMath>
                </a14:m>
                <a:r>
                  <a:rPr lang="en-US" altLang="zh-CN" sz="1200" kern="0" dirty="0" smtClean="0">
                    <a:latin typeface="黑体" pitchFamily="2" charset="-122"/>
                    <a:ea typeface="黑体" pitchFamily="2" charset="-122"/>
                  </a:rPr>
                  <a:t>)</a:t>
                </a:r>
                <a:r>
                  <a:rPr lang="zh-CN" altLang="en-US" sz="1200" kern="0" dirty="0" smtClean="0">
                    <a:latin typeface="黑体" pitchFamily="2" charset="-122"/>
                    <a:ea typeface="黑体" pitchFamily="2" charset="-122"/>
                  </a:rPr>
                  <a:t>；</a:t>
                </a:r>
                <a:endParaRPr lang="zh-CN" altLang="en-US" sz="1200" dirty="0">
                  <a:latin typeface="华文细黑" panose="02010600040101010101" pitchFamily="2" charset="-122"/>
                  <a:ea typeface="华文细黑" panose="02010600040101010101"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对于切应力的情况，只需把以上公式中的正应力</a:t>
                </a:r>
                <a:r>
                  <a:rPr lang="el-GR" altLang="zh-CN" dirty="0" smtClean="0">
                    <a:ea typeface="宋体" panose="02010600030101010101" pitchFamily="2" charset="-122"/>
                  </a:rPr>
                  <a:t>σ</a:t>
                </a:r>
                <a:r>
                  <a:rPr lang="zh-CN" altLang="en-US" dirty="0" smtClean="0">
                    <a:ea typeface="宋体" panose="02010600030101010101" pitchFamily="2" charset="-122"/>
                  </a:rPr>
                  <a:t>改为切应力</a:t>
                </a:r>
                <a:r>
                  <a:rPr lang="el-GR" altLang="zh-CN" dirty="0" smtClean="0">
                    <a:ea typeface="宋体" panose="02010600030101010101" pitchFamily="2" charset="-122"/>
                  </a:rPr>
                  <a:t>τ</a:t>
                </a:r>
                <a:r>
                  <a:rPr lang="zh-CN" altLang="en-US" dirty="0" smtClean="0">
                    <a:ea typeface="宋体" panose="02010600030101010101" pitchFamily="2" charset="-122"/>
                  </a:rPr>
                  <a:t>即可。</a:t>
                </a:r>
                <a:endParaRPr lang="en-US" altLang="zh-CN" dirty="0" smtClean="0">
                  <a:ea typeface="宋体" panose="02010600030101010101"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ea typeface="宋体" panose="02010600030101010101" pitchFamily="2" charset="-122"/>
                  </a:rPr>
                  <a:t>上面所提到的三种应力变化规律的强度计算均是按无限寿命来考虑的，如果按有限寿命计算，则上述计算公式中用到的</a:t>
                </a:r>
                <a:r>
                  <a:rPr lang="el-GR" altLang="zh-CN" dirty="0" smtClean="0">
                    <a:ea typeface="宋体" panose="02010600030101010101" pitchFamily="2" charset="-122"/>
                  </a:rPr>
                  <a:t>σ</a:t>
                </a:r>
                <a:r>
                  <a:rPr lang="en-US" altLang="zh-CN" baseline="-25000" dirty="0" smtClean="0">
                    <a:ea typeface="宋体" panose="02010600030101010101" pitchFamily="2" charset="-122"/>
                  </a:rPr>
                  <a:t>-1</a:t>
                </a:r>
                <a:r>
                  <a:rPr lang="zh-CN" altLang="en-US" dirty="0" smtClean="0">
                    <a:ea typeface="宋体" panose="02010600030101010101" pitchFamily="2" charset="-122"/>
                  </a:rPr>
                  <a:t>和</a:t>
                </a:r>
                <a:r>
                  <a:rPr lang="el-GR" altLang="zh-CN" dirty="0" smtClean="0">
                    <a:ea typeface="宋体" panose="02010600030101010101" pitchFamily="2" charset="-122"/>
                  </a:rPr>
                  <a:t>σ</a:t>
                </a:r>
                <a:r>
                  <a:rPr lang="en-US" altLang="zh-CN" baseline="-25000" dirty="0" smtClean="0">
                    <a:ea typeface="宋体" panose="02010600030101010101" pitchFamily="2" charset="-122"/>
                  </a:rPr>
                  <a:t>0</a:t>
                </a:r>
                <a:r>
                  <a:rPr lang="zh-CN" altLang="en-US" dirty="0" smtClean="0">
                    <a:ea typeface="宋体" panose="02010600030101010101" pitchFamily="2" charset="-122"/>
                  </a:rPr>
                  <a:t>均应以</a:t>
                </a:r>
                <a:r>
                  <a:rPr lang="el-GR" altLang="zh-CN" dirty="0" smtClean="0">
                    <a:ea typeface="宋体" panose="02010600030101010101" pitchFamily="2" charset="-122"/>
                  </a:rPr>
                  <a:t>σ</a:t>
                </a:r>
                <a:r>
                  <a:rPr lang="en-US" altLang="zh-CN" baseline="-25000" dirty="0" smtClean="0">
                    <a:ea typeface="宋体" panose="02010600030101010101" pitchFamily="2" charset="-122"/>
                  </a:rPr>
                  <a:t>-1N</a:t>
                </a:r>
                <a:r>
                  <a:rPr lang="zh-CN" altLang="en-US" dirty="0" smtClean="0">
                    <a:ea typeface="宋体" panose="02010600030101010101" pitchFamily="2" charset="-122"/>
                  </a:rPr>
                  <a:t>和</a:t>
                </a:r>
                <a:r>
                  <a:rPr lang="el-GR" altLang="zh-CN" dirty="0" smtClean="0">
                    <a:ea typeface="宋体" panose="02010600030101010101" pitchFamily="2" charset="-122"/>
                  </a:rPr>
                  <a:t>σ</a:t>
                </a:r>
                <a:r>
                  <a:rPr lang="en-US" altLang="zh-CN" baseline="-25000" dirty="0" smtClean="0">
                    <a:ea typeface="宋体" panose="02010600030101010101" pitchFamily="2" charset="-122"/>
                  </a:rPr>
                  <a:t>0N</a:t>
                </a:r>
                <a:r>
                  <a:rPr lang="zh-CN" altLang="en-US" dirty="0" smtClean="0">
                    <a:ea typeface="宋体" panose="02010600030101010101" pitchFamily="2" charset="-122"/>
                  </a:rPr>
                  <a:t>来代替。</a:t>
                </a:r>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何谓“单向稳定”？</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单向：是指只有正应力或只有剪应力；稳定：是指应力的变化周期相同，变化幅值相同。</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smtClean="0">
                    <a:latin typeface="黑体" pitchFamily="2" charset="-122"/>
                    <a:ea typeface="黑体" pitchFamily="2" charset="-122"/>
                  </a:rPr>
                  <a:t>根据零件危险截面上的工作平均应力</a:t>
                </a:r>
                <a:r>
                  <a:rPr lang="zh-CN" altLang="en-US" sz="1200" i="0" kern="0" smtClean="0">
                    <a:latin typeface="Cambria Math" panose="02040503050406030204" pitchFamily="18" charset="0"/>
                    <a:ea typeface="黑体" pitchFamily="2" charset="-122"/>
                  </a:rPr>
                  <a:t>𝜎</a:t>
                </a:r>
                <a:r>
                  <a:rPr lang="en-US" altLang="zh-CN" sz="1200" i="0" kern="0" smtClean="0">
                    <a:latin typeface="Cambria Math" panose="02040503050406030204" pitchFamily="18" charset="0"/>
                    <a:ea typeface="黑体" pitchFamily="2" charset="-122"/>
                  </a:rPr>
                  <a:t>_</a:t>
                </a:r>
                <a:r>
                  <a:rPr lang="en-US" altLang="zh-CN" sz="1200" b="0" i="0" kern="0" smtClean="0">
                    <a:latin typeface="Cambria Math" panose="02040503050406030204" pitchFamily="18" charset="0"/>
                    <a:ea typeface="黑体" pitchFamily="2" charset="-122"/>
                  </a:rPr>
                  <a:t>𝑚</a:t>
                </a:r>
                <a:r>
                  <a:rPr lang="zh-CN" altLang="en-US" sz="1200" kern="0" dirty="0" smtClean="0">
                    <a:latin typeface="黑体" pitchFamily="2" charset="-122"/>
                    <a:ea typeface="黑体" pitchFamily="2" charset="-122"/>
                  </a:rPr>
                  <a:t>及工作应力幅</a:t>
                </a:r>
                <a:r>
                  <a:rPr lang="zh-CN" altLang="en-US" sz="1200" i="0" kern="0" smtClean="0">
                    <a:latin typeface="Cambria Math" panose="02040503050406030204" pitchFamily="18" charset="0"/>
                    <a:ea typeface="黑体" pitchFamily="2" charset="-122"/>
                  </a:rPr>
                  <a:t>𝜎</a:t>
                </a:r>
                <a:r>
                  <a:rPr lang="en-US" altLang="zh-CN" sz="1200" i="0" kern="0" smtClean="0">
                    <a:latin typeface="Cambria Math" panose="02040503050406030204" pitchFamily="18" charset="0"/>
                    <a:ea typeface="黑体" pitchFamily="2" charset="-122"/>
                  </a:rPr>
                  <a:t>_</a:t>
                </a:r>
                <a:r>
                  <a:rPr lang="en-US" altLang="zh-CN" sz="1200" b="0" i="0" kern="0" smtClean="0">
                    <a:latin typeface="Cambria Math" panose="02040503050406030204" pitchFamily="18" charset="0"/>
                    <a:ea typeface="黑体" pitchFamily="2" charset="-122"/>
                  </a:rPr>
                  <a:t>𝑎</a:t>
                </a:r>
                <a:r>
                  <a:rPr lang="zh-CN" altLang="en-US" sz="1200" kern="0" dirty="0" smtClean="0">
                    <a:latin typeface="黑体" pitchFamily="2" charset="-122"/>
                    <a:ea typeface="黑体" pitchFamily="2" charset="-122"/>
                  </a:rPr>
                  <a:t>，在极限应力图上标出工作应力点</a:t>
                </a:r>
                <a:r>
                  <a:rPr lang="en-US" altLang="zh-CN" sz="1200" b="0" i="0" kern="0" smtClean="0">
                    <a:latin typeface="Cambria Math" panose="02040503050406030204" pitchFamily="18" charset="0"/>
                    <a:ea typeface="黑体" pitchFamily="2" charset="-122"/>
                  </a:rPr>
                  <a:t>𝑀(</a:t>
                </a:r>
                <a:r>
                  <a:rPr lang="zh-CN" altLang="en-US" sz="1200" i="0" kern="0">
                    <a:latin typeface="Cambria Math" panose="02040503050406030204" pitchFamily="18" charset="0"/>
                    <a:ea typeface="黑体" pitchFamily="2" charset="-122"/>
                  </a:rPr>
                  <a:t>𝜎</a:t>
                </a:r>
                <a:r>
                  <a:rPr lang="en-US" altLang="zh-CN" sz="1200" i="0" kern="0">
                    <a:latin typeface="Cambria Math" panose="02040503050406030204" pitchFamily="18" charset="0"/>
                    <a:ea typeface="黑体" pitchFamily="2" charset="-122"/>
                  </a:rPr>
                  <a:t>_𝑚</a:t>
                </a:r>
                <a:r>
                  <a:rPr lang="en-US" altLang="zh-CN" sz="1200" b="0" i="0" kern="0" smtClean="0">
                    <a:latin typeface="Cambria Math" panose="02040503050406030204" pitchFamily="18" charset="0"/>
                    <a:ea typeface="黑体" pitchFamily="2" charset="-122"/>
                  </a:rPr>
                  <a:t>,</a:t>
                </a:r>
                <a:r>
                  <a:rPr lang="zh-CN" altLang="en-US" sz="1200" i="0" kern="0">
                    <a:latin typeface="Cambria Math" panose="02040503050406030204" pitchFamily="18" charset="0"/>
                    <a:ea typeface="黑体" pitchFamily="2" charset="-122"/>
                  </a:rPr>
                  <a:t>𝜎</a:t>
                </a:r>
                <a:r>
                  <a:rPr lang="en-US" altLang="zh-CN" sz="1200" i="0" kern="0">
                    <a:latin typeface="Cambria Math" panose="02040503050406030204" pitchFamily="18" charset="0"/>
                    <a:ea typeface="黑体" pitchFamily="2" charset="-122"/>
                  </a:rPr>
                  <a:t>_𝑎</a:t>
                </a:r>
                <a:r>
                  <a:rPr lang="en-US" altLang="zh-CN" sz="1200" b="0" i="0" kern="0" smtClean="0">
                    <a:latin typeface="Cambria Math" panose="02040503050406030204" pitchFamily="18" charset="0"/>
                    <a:ea typeface="黑体" pitchFamily="2" charset="-122"/>
                  </a:rPr>
                  <a:t>)</a:t>
                </a:r>
                <a:r>
                  <a:rPr lang="en-US" altLang="zh-CN" sz="1200" kern="0" dirty="0" smtClean="0">
                    <a:latin typeface="黑体" pitchFamily="2" charset="-122"/>
                    <a:ea typeface="黑体" pitchFamily="2" charset="-122"/>
                  </a:rPr>
                  <a:t>(</a:t>
                </a:r>
                <a:r>
                  <a:rPr lang="zh-CN" altLang="en-US" sz="1200" kern="0" dirty="0" smtClean="0">
                    <a:latin typeface="黑体" pitchFamily="2" charset="-122"/>
                    <a:ea typeface="黑体" pitchFamily="2" charset="-122"/>
                  </a:rPr>
                  <a:t>或</a:t>
                </a:r>
                <a:r>
                  <a:rPr lang="en-US" altLang="zh-CN" sz="1200" b="0" i="0" kern="0" dirty="0" smtClean="0">
                    <a:latin typeface="Cambria Math" panose="02040503050406030204" pitchFamily="18" charset="0"/>
                    <a:ea typeface="黑体" pitchFamily="2" charset="-122"/>
                  </a:rPr>
                  <a:t>𝑁</a:t>
                </a:r>
                <a:r>
                  <a:rPr lang="en-US" altLang="zh-CN" sz="1200" kern="0" dirty="0" smtClean="0">
                    <a:latin typeface="黑体" pitchFamily="2" charset="-122"/>
                    <a:ea typeface="黑体" pitchFamily="2" charset="-122"/>
                  </a:rPr>
                  <a:t>)</a:t>
                </a:r>
                <a:r>
                  <a:rPr lang="zh-CN" altLang="en-US" sz="1200" kern="0" dirty="0" smtClean="0">
                    <a:latin typeface="黑体" pitchFamily="2" charset="-122"/>
                    <a:ea typeface="黑体" pitchFamily="2" charset="-122"/>
                  </a:rPr>
                  <a:t>；</a:t>
                </a:r>
                <a:endParaRPr lang="zh-CN" altLang="en-US" sz="1200" dirty="0">
                  <a:latin typeface="华文细黑" panose="02010600040101010101" pitchFamily="2" charset="-122"/>
                  <a:ea typeface="华文细黑" panose="02010600040101010101"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对于切应力的情况，只需把以上公式中的正应力</a:t>
                </a:r>
                <a:r>
                  <a:rPr lang="el-GR" altLang="zh-CN" dirty="0" smtClean="0">
                    <a:ea typeface="宋体" panose="02010600030101010101" pitchFamily="2" charset="-122"/>
                  </a:rPr>
                  <a:t>σ</a:t>
                </a:r>
                <a:r>
                  <a:rPr lang="zh-CN" altLang="en-US" dirty="0" smtClean="0">
                    <a:ea typeface="宋体" panose="02010600030101010101" pitchFamily="2" charset="-122"/>
                  </a:rPr>
                  <a:t>改为切应力</a:t>
                </a:r>
                <a:r>
                  <a:rPr lang="el-GR" altLang="zh-CN" dirty="0" smtClean="0">
                    <a:ea typeface="宋体" panose="02010600030101010101" pitchFamily="2" charset="-122"/>
                  </a:rPr>
                  <a:t>τ</a:t>
                </a:r>
                <a:r>
                  <a:rPr lang="zh-CN" altLang="en-US" smtClean="0">
                    <a:ea typeface="宋体" panose="02010600030101010101" pitchFamily="2" charset="-122"/>
                  </a:rPr>
                  <a:t>即可。</a:t>
                </a:r>
                <a:endParaRPr lang="zh-CN" altLang="en-US" dirty="0"/>
              </a:p>
            </p:txBody>
          </p:sp>
        </mc:Fallback>
      </mc:AlternateContent>
      <p:sp>
        <p:nvSpPr>
          <p:cNvPr id="4" name="灯片编号占位符 3"/>
          <p:cNvSpPr>
            <a:spLocks noGrp="1"/>
          </p:cNvSpPr>
          <p:nvPr>
            <p:ph type="sldNum" sz="quarter" idx="10"/>
          </p:nvPr>
        </p:nvSpPr>
        <p:spPr/>
        <p:txBody>
          <a:bodyPr/>
          <a:lstStyle/>
          <a:p>
            <a:fld id="{02F0FA9E-A47E-4458-A8BA-8FCC88CC1B1C}" type="slidenum">
              <a:rPr lang="zh-CN" altLang="en-US" smtClean="0"/>
              <a:t>9</a:t>
            </a:fld>
            <a:endParaRPr lang="zh-CN" altLang="en-US"/>
          </a:p>
        </p:txBody>
      </p:sp>
    </p:spTree>
    <p:extLst>
      <p:ext uri="{BB962C8B-B14F-4D97-AF65-F5344CB8AC3E}">
        <p14:creationId xmlns:p14="http://schemas.microsoft.com/office/powerpoint/2010/main" val="995938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ni</a:t>
            </a:r>
            <a:r>
              <a:rPr lang="en-US" altLang="zh-CN" dirty="0" smtClean="0"/>
              <a:t>——</a:t>
            </a:r>
            <a:r>
              <a:rPr lang="zh-CN" altLang="en-US" dirty="0" smtClean="0"/>
              <a:t>第</a:t>
            </a:r>
            <a:r>
              <a:rPr lang="en-US" altLang="zh-CN" dirty="0" err="1" smtClean="0"/>
              <a:t>i</a:t>
            </a:r>
            <a:r>
              <a:rPr lang="zh-CN" altLang="en-US" dirty="0" smtClean="0"/>
              <a:t>个变应力</a:t>
            </a:r>
            <a:r>
              <a:rPr lang="el-GR" altLang="zh-CN" dirty="0" smtClean="0">
                <a:ea typeface="宋体" panose="02010600030101010101" pitchFamily="2" charset="-122"/>
              </a:rPr>
              <a:t>σ</a:t>
            </a:r>
            <a:r>
              <a:rPr lang="en-US" altLang="zh-CN" dirty="0" err="1" smtClean="0">
                <a:ea typeface="宋体" panose="02010600030101010101" pitchFamily="2" charset="-122"/>
              </a:rPr>
              <a:t>i</a:t>
            </a:r>
            <a:r>
              <a:rPr lang="zh-CN" altLang="en-US" dirty="0" smtClean="0">
                <a:ea typeface="宋体" panose="02010600030101010101" pitchFamily="2" charset="-122"/>
              </a:rPr>
              <a:t>的应力循环次数；</a:t>
            </a:r>
            <a:r>
              <a:rPr lang="en-US" altLang="zh-CN" dirty="0" smtClean="0">
                <a:ea typeface="宋体" panose="02010600030101010101" pitchFamily="2" charset="-122"/>
              </a:rPr>
              <a:t>Ni——</a:t>
            </a:r>
            <a:r>
              <a:rPr lang="zh-CN" altLang="en-US" dirty="0" smtClean="0">
                <a:ea typeface="宋体" panose="02010600030101010101" pitchFamily="2" charset="-122"/>
              </a:rPr>
              <a:t>在</a:t>
            </a:r>
            <a:r>
              <a:rPr lang="el-GR" altLang="zh-CN" dirty="0" smtClean="0">
                <a:ea typeface="+mn-ea"/>
              </a:rPr>
              <a:t>σ</a:t>
            </a:r>
            <a:r>
              <a:rPr lang="en-US" altLang="zh-CN" dirty="0" err="1" smtClean="0">
                <a:ea typeface="+mn-ea"/>
              </a:rPr>
              <a:t>i</a:t>
            </a:r>
            <a:r>
              <a:rPr lang="zh-CN" altLang="en-US" dirty="0" smtClean="0">
                <a:ea typeface="+mn-ea"/>
              </a:rPr>
              <a:t>单独作用下材料发生疲劳破坏时的应力循环次数；</a:t>
            </a:r>
            <a:r>
              <a:rPr lang="en-US" altLang="zh-CN" dirty="0" smtClean="0">
                <a:ea typeface="+mn-ea"/>
              </a:rPr>
              <a:t>z——</a:t>
            </a:r>
            <a:r>
              <a:rPr lang="zh-CN" altLang="en-US" dirty="0" smtClean="0">
                <a:ea typeface="+mn-ea"/>
              </a:rPr>
              <a:t>变应力的级数。</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10</a:t>
            </a:fld>
            <a:endParaRPr lang="zh-CN" altLang="en-US"/>
          </a:p>
        </p:txBody>
      </p:sp>
    </p:spTree>
    <p:extLst>
      <p:ext uri="{BB962C8B-B14F-4D97-AF65-F5344CB8AC3E}">
        <p14:creationId xmlns:p14="http://schemas.microsoft.com/office/powerpoint/2010/main" val="4015474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问题讨论：</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1</a:t>
            </a:r>
            <a:r>
              <a:rPr lang="zh-CN" altLang="en-US" dirty="0" smtClean="0"/>
              <a:t>）</a:t>
            </a:r>
            <a:r>
              <a:rPr kumimoji="1" lang="zh-CN" altLang="en-US" sz="1200" dirty="0" smtClean="0">
                <a:latin typeface="黑体" pitchFamily="2" charset="-122"/>
              </a:rPr>
              <a:t>相互接触的两个零件，接触应力的大小是否相同？</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2</a:t>
            </a:r>
            <a:r>
              <a:rPr lang="zh-CN" altLang="en-US" dirty="0" smtClean="0"/>
              <a:t>）</a:t>
            </a:r>
            <a:r>
              <a:rPr kumimoji="1" lang="zh-CN" altLang="en-US" sz="1200" dirty="0" smtClean="0">
                <a:latin typeface="黑体" pitchFamily="2" charset="-122"/>
              </a:rPr>
              <a:t>相互接触的两个零件，其许用接触应力的大小是否相同？</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3</a:t>
            </a:r>
            <a:r>
              <a:rPr lang="zh-CN" altLang="en-US" dirty="0" smtClean="0"/>
              <a:t>）</a:t>
            </a:r>
            <a:r>
              <a:rPr kumimoji="1" lang="zh-CN" altLang="en-US" sz="1200" dirty="0" smtClean="0">
                <a:latin typeface="黑体" pitchFamily="2" charset="-122"/>
              </a:rPr>
              <a:t>零件接触应力的循环特性是什么？</a:t>
            </a:r>
            <a:endParaRPr lang="zh-CN" altLang="en-US" dirty="0"/>
          </a:p>
        </p:txBody>
      </p:sp>
      <p:sp>
        <p:nvSpPr>
          <p:cNvPr id="4" name="灯片编号占位符 3"/>
          <p:cNvSpPr>
            <a:spLocks noGrp="1"/>
          </p:cNvSpPr>
          <p:nvPr>
            <p:ph type="sldNum" sz="quarter" idx="10"/>
          </p:nvPr>
        </p:nvSpPr>
        <p:spPr/>
        <p:txBody>
          <a:bodyPr/>
          <a:lstStyle/>
          <a:p>
            <a:fld id="{02F0FA9E-A47E-4458-A8BA-8FCC88CC1B1C}" type="slidenum">
              <a:rPr lang="zh-CN" altLang="en-US" smtClean="0"/>
              <a:t>12</a:t>
            </a:fld>
            <a:endParaRPr lang="zh-CN" altLang="en-US"/>
          </a:p>
        </p:txBody>
      </p:sp>
    </p:spTree>
    <p:extLst>
      <p:ext uri="{BB962C8B-B14F-4D97-AF65-F5344CB8AC3E}">
        <p14:creationId xmlns:p14="http://schemas.microsoft.com/office/powerpoint/2010/main" val="36514910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jpeg"/><Relationship Id="rId7"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image" Target="../media/image3.jpeg"/><Relationship Id="rId5" Type="http://schemas.openxmlformats.org/officeDocument/2006/relationships/image" Target="../media/image1.png"/><Relationship Id="rId4" Type="http://schemas.openxmlformats.org/officeDocument/2006/relationships/oleObject" Target="../embeddings/oleObject1.bin"/><Relationship Id="rId9"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4_标题幻灯片">
    <p:spTree>
      <p:nvGrpSpPr>
        <p:cNvPr id="1" name=""/>
        <p:cNvGrpSpPr/>
        <p:nvPr/>
      </p:nvGrpSpPr>
      <p:grpSpPr>
        <a:xfrm>
          <a:off x="0" y="0"/>
          <a:ext cx="0" cy="0"/>
          <a:chOff x="0" y="0"/>
          <a:chExt cx="0" cy="0"/>
        </a:xfrm>
      </p:grpSpPr>
      <p:sp>
        <p:nvSpPr>
          <p:cNvPr id="1048693" name="灯片编号占位符 5"/>
          <p:cNvSpPr txBox="1"/>
          <p:nvPr/>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2A0566AA-6162-4D95-AC0C-E78E38CB513D}" type="slidenum">
              <a:rPr lang="zh-CN" altLang="en-US" smtClean="0">
                <a:latin typeface="+mn-lt"/>
                <a:ea typeface="+mn-ea"/>
              </a:rPr>
              <a:t>‹#›</a:t>
            </a:fld>
            <a:endParaRPr lang="zh-CN" altLang="en-US" dirty="0">
              <a:latin typeface="+mn-lt"/>
              <a:ea typeface="+mn-ea"/>
            </a:endParaRPr>
          </a:p>
        </p:txBody>
      </p:sp>
      <p:sp>
        <p:nvSpPr>
          <p:cNvPr id="1048695" name="AutoShape 11" descr="http://img3.imgtn.bdimg.com/it/u=648473279,3398283694&amp;fm=21&amp;gp=0.jpg"/>
          <p:cNvSpPr>
            <a:spLocks noChangeAspect="1" noChangeArrowheads="1"/>
          </p:cNvSpPr>
          <p:nvPr userDrawn="1"/>
        </p:nvSpPr>
        <p:spPr bwMode="auto">
          <a:xfrm>
            <a:off x="155575" y="-144462"/>
            <a:ext cx="304800" cy="304801"/>
          </a:xfrm>
          <a:prstGeom prst="rect">
            <a:avLst/>
          </a:prstGeom>
          <a:noFill/>
        </p:spPr>
        <p:txBody>
          <a:bodyPr vert="horz" wrap="square" lIns="91440" tIns="45720" rIns="91440" bIns="45720" numCol="1" anchor="t" anchorCtr="0" compatLnSpc="1"/>
          <a:lstStyle/>
          <a:p>
            <a:endParaRPr lang="zh-CN" altLang="en-US"/>
          </a:p>
        </p:txBody>
      </p:sp>
      <p:sp>
        <p:nvSpPr>
          <p:cNvPr id="1048696" name="AutoShape 13" descr="http://img3.imgtn.bdimg.com/it/u=648473279,3398283694&amp;fm=21&amp;gp=0.jpg"/>
          <p:cNvSpPr>
            <a:spLocks noChangeAspect="1" noChangeArrowheads="1"/>
          </p:cNvSpPr>
          <p:nvPr userDrawn="1"/>
        </p:nvSpPr>
        <p:spPr bwMode="auto">
          <a:xfrm>
            <a:off x="307975" y="7938"/>
            <a:ext cx="304800" cy="304801"/>
          </a:xfrm>
          <a:prstGeom prst="rect">
            <a:avLst/>
          </a:prstGeom>
          <a:noFill/>
        </p:spPr>
        <p:txBody>
          <a:bodyPr vert="horz" wrap="square" lIns="91440" tIns="45720" rIns="91440" bIns="45720" numCol="1" anchor="t" anchorCtr="0" compatLnSpc="1"/>
          <a:lstStyle/>
          <a:p>
            <a:endParaRPr lang="zh-CN" altLang="en-US"/>
          </a:p>
        </p:txBody>
      </p:sp>
      <p:sp>
        <p:nvSpPr>
          <p:cNvPr id="1048698" name="灯片编号占位符 5"/>
          <p:cNvSpPr txBox="1"/>
          <p:nvPr userDrawn="1"/>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32A410C9-B208-4A8D-BBA4-F9BEF18974F4}" type="slidenum">
              <a:rPr lang="zh-CN" altLang="en-US" smtClean="0">
                <a:latin typeface="+mn-lt"/>
                <a:ea typeface="+mn-ea"/>
              </a:rPr>
              <a:t>‹#›</a:t>
            </a:fld>
            <a:endParaRPr lang="zh-CN" altLang="en-US" dirty="0">
              <a:latin typeface="+mn-lt"/>
              <a:ea typeface="+mn-ea"/>
            </a:endParaRPr>
          </a:p>
        </p:txBody>
      </p:sp>
      <p:pic>
        <p:nvPicPr>
          <p:cNvPr id="2097166" name="Picture 13"/>
          <p:cNvPicPr>
            <a:picLocks noChangeAspect="1" noChangeArrowheads="1"/>
          </p:cNvPicPr>
          <p:nvPr userDrawn="1"/>
        </p:nvPicPr>
        <p:blipFill rotWithShape="1">
          <a:blip r:embed="rId3"/>
          <a:srcRect t="64384"/>
          <a:stretch>
            <a:fillRect/>
          </a:stretch>
        </p:blipFill>
        <p:spPr bwMode="auto">
          <a:xfrm>
            <a:off x="-314" y="3729"/>
            <a:ext cx="9144000" cy="1749715"/>
          </a:xfrm>
          <a:prstGeom prst="rect">
            <a:avLst/>
          </a:prstGeom>
          <a:noFill/>
          <a:ln>
            <a:noFill/>
          </a:ln>
          <a:effectLst/>
        </p:spPr>
      </p:pic>
      <p:pic>
        <p:nvPicPr>
          <p:cNvPr id="2097167" name="Picture 13"/>
          <p:cNvPicPr>
            <a:picLocks noChangeAspect="1" noChangeArrowheads="1"/>
          </p:cNvPicPr>
          <p:nvPr userDrawn="1"/>
        </p:nvPicPr>
        <p:blipFill rotWithShape="1">
          <a:blip r:embed="rId3"/>
          <a:srcRect t="64384"/>
          <a:stretch>
            <a:fillRect/>
          </a:stretch>
        </p:blipFill>
        <p:spPr bwMode="auto">
          <a:xfrm>
            <a:off x="-3645" y="3937620"/>
            <a:ext cx="9144000" cy="1777380"/>
          </a:xfrm>
          <a:prstGeom prst="rect">
            <a:avLst/>
          </a:prstGeom>
          <a:noFill/>
          <a:ln>
            <a:noFill/>
          </a:ln>
          <a:effectLst/>
        </p:spPr>
      </p:pic>
      <p:pic>
        <p:nvPicPr>
          <p:cNvPr id="34" name="Picture 13"/>
          <p:cNvPicPr>
            <a:picLocks noChangeAspect="1" noChangeArrowheads="1"/>
          </p:cNvPicPr>
          <p:nvPr userDrawn="1"/>
        </p:nvPicPr>
        <p:blipFill rotWithShape="1">
          <a:blip r:embed="rId3"/>
          <a:srcRect t="64384"/>
          <a:stretch>
            <a:fillRect/>
          </a:stretch>
        </p:blipFill>
        <p:spPr bwMode="auto">
          <a:xfrm>
            <a:off x="-3645" y="1789590"/>
            <a:ext cx="9144000" cy="2148030"/>
          </a:xfrm>
          <a:prstGeom prst="rect">
            <a:avLst/>
          </a:prstGeom>
          <a:noFill/>
          <a:ln>
            <a:noFill/>
          </a:ln>
          <a:effectLst/>
        </p:spPr>
      </p:pic>
      <p:pic>
        <p:nvPicPr>
          <p:cNvPr id="36" name="Picture 13"/>
          <p:cNvPicPr>
            <a:picLocks noChangeAspect="1" noChangeArrowheads="1"/>
          </p:cNvPicPr>
          <p:nvPr userDrawn="1"/>
        </p:nvPicPr>
        <p:blipFill rotWithShape="1">
          <a:blip r:embed="rId3"/>
          <a:srcRect t="64384"/>
          <a:stretch>
            <a:fillRect/>
          </a:stretch>
        </p:blipFill>
        <p:spPr bwMode="auto">
          <a:xfrm>
            <a:off x="-3645" y="603729"/>
            <a:ext cx="9144000" cy="1749715"/>
          </a:xfrm>
          <a:prstGeom prst="rect">
            <a:avLst/>
          </a:prstGeom>
          <a:noFill/>
          <a:ln>
            <a:noFill/>
          </a:ln>
          <a:effectLst/>
        </p:spPr>
      </p:pic>
      <p:grpSp>
        <p:nvGrpSpPr>
          <p:cNvPr id="50" name="组合 38"/>
          <p:cNvGrpSpPr/>
          <p:nvPr userDrawn="1"/>
        </p:nvGrpSpPr>
        <p:grpSpPr>
          <a:xfrm>
            <a:off x="-2193" y="4081636"/>
            <a:ext cx="9144233" cy="360040"/>
            <a:chOff x="-2193" y="3579862"/>
            <a:chExt cx="9144233" cy="360040"/>
          </a:xfrm>
        </p:grpSpPr>
        <p:graphicFrame>
          <p:nvGraphicFramePr>
            <p:cNvPr id="51" name="对象 39"/>
            <p:cNvGraphicFramePr>
              <a:graphicFrameLocks noChangeAspect="1"/>
            </p:cNvGraphicFramePr>
            <p:nvPr/>
          </p:nvGraphicFramePr>
          <p:xfrm>
            <a:off x="-2193" y="3579862"/>
            <a:ext cx="9144000" cy="295275"/>
          </p:xfrm>
          <a:graphic>
            <a:graphicData uri="http://schemas.openxmlformats.org/presentationml/2006/ole">
              <mc:AlternateContent xmlns:mc="http://schemas.openxmlformats.org/markup-compatibility/2006">
                <mc:Choice xmlns:v="urn:schemas-microsoft-com:vml" Requires="v">
                  <p:oleObj spid="_x0000_s5941822" name="Image" r:id="rId4" imgW="7553325" imgH="704850" progId="">
                    <p:embed/>
                  </p:oleObj>
                </mc:Choice>
                <mc:Fallback>
                  <p:oleObj name="Image" r:id="rId4" imgW="7553325" imgH="704850" progId="">
                    <p:embed/>
                    <p:pic>
                      <p:nvPicPr>
                        <p:cNvPr id="0" name="图片 5941732"/>
                        <p:cNvPicPr>
                          <a:picLocks noChangeAspect="1" noChangeArrowheads="1"/>
                        </p:cNvPicPr>
                        <p:nvPr/>
                      </p:nvPicPr>
                      <p:blipFill>
                        <a:blip r:embed="rId5"/>
                        <a:srcRect t="16559" r="903"/>
                        <a:stretch>
                          <a:fillRect/>
                        </a:stretch>
                      </p:blipFill>
                      <p:spPr bwMode="auto">
                        <a:xfrm>
                          <a:off x="-2193" y="3579862"/>
                          <a:ext cx="9144000" cy="295275"/>
                        </a:xfrm>
                        <a:prstGeom prst="rect">
                          <a:avLst/>
                        </a:prstGeom>
                        <a:noFill/>
                        <a:ln>
                          <a:noFill/>
                        </a:ln>
                        <a:effectLst/>
                      </p:spPr>
                    </p:pic>
                  </p:oleObj>
                </mc:Fallback>
              </mc:AlternateContent>
            </a:graphicData>
          </a:graphic>
        </p:graphicFrame>
        <p:pic>
          <p:nvPicPr>
            <p:cNvPr id="52" name="Picture 5"/>
            <p:cNvPicPr>
              <a:picLocks noChangeAspect="1" noChangeArrowheads="1"/>
            </p:cNvPicPr>
            <p:nvPr/>
          </p:nvPicPr>
          <p:blipFill rotWithShape="1">
            <a:blip r:embed="rId6"/>
            <a:srcRect t="87967"/>
            <a:stretch>
              <a:fillRect/>
            </a:stretch>
          </p:blipFill>
          <p:spPr bwMode="auto">
            <a:xfrm>
              <a:off x="-1960" y="3816424"/>
              <a:ext cx="9144000" cy="123478"/>
            </a:xfrm>
            <a:prstGeom prst="rect">
              <a:avLst/>
            </a:prstGeom>
            <a:noFill/>
            <a:ln>
              <a:noFill/>
            </a:ln>
            <a:effectLst/>
          </p:spPr>
        </p:pic>
      </p:grpSp>
      <p:sp>
        <p:nvSpPr>
          <p:cNvPr id="53" name="TextBox 51"/>
          <p:cNvSpPr txBox="1"/>
          <p:nvPr userDrawn="1"/>
        </p:nvSpPr>
        <p:spPr>
          <a:xfrm>
            <a:off x="1958097" y="4586611"/>
            <a:ext cx="5327099" cy="584775"/>
          </a:xfrm>
          <a:prstGeom prst="rect">
            <a:avLst/>
          </a:prstGeom>
          <a:noFill/>
        </p:spPr>
        <p:txBody>
          <a:bodyPr wrap="none" rtlCol="0">
            <a:spAutoFit/>
          </a:bodyPr>
          <a:lstStyle/>
          <a:p>
            <a:pPr algn="r"/>
            <a:r>
              <a:rPr lang="zh-CN" altLang="en-US"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第</a:t>
            </a:r>
            <a:r>
              <a:rPr lang="en-US" altLang="zh-CN"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02</a:t>
            </a:r>
            <a:r>
              <a:rPr lang="zh-CN" altLang="en-US" sz="3200" b="1" dirty="0" smtClean="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rPr>
              <a:t>章 机械零件的疲劳强度</a:t>
            </a:r>
            <a:endParaRPr lang="zh-CN" altLang="en-US" sz="3200" b="1" dirty="0">
              <a:solidFill>
                <a:srgbClr val="0070C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pic>
        <p:nvPicPr>
          <p:cNvPr id="30" name="Picture 10" descr="http://img2.imgtn.bdimg.com/it/u=3154056593,3020314375&amp;fm=21&amp;gp=0.jpg"/>
          <p:cNvPicPr>
            <a:picLocks noChangeArrowheads="1"/>
          </p:cNvPicPr>
          <p:nvPr userDrawn="1"/>
        </p:nvPicPr>
        <p:blipFill rotWithShape="1">
          <a:blip r:embed="rId7" cstate="print"/>
          <a:srcRect l="6362" r="14516"/>
          <a:stretch>
            <a:fillRect/>
          </a:stretch>
        </p:blipFill>
        <p:spPr bwMode="auto">
          <a:xfrm>
            <a:off x="3895358" y="944654"/>
            <a:ext cx="1288800" cy="864096"/>
          </a:xfrm>
          <a:prstGeom prst="rect">
            <a:avLst/>
          </a:prstGeom>
          <a:noFill/>
        </p:spPr>
      </p:pic>
      <p:sp>
        <p:nvSpPr>
          <p:cNvPr id="31" name="矩形 42"/>
          <p:cNvSpPr/>
          <p:nvPr userDrawn="1"/>
        </p:nvSpPr>
        <p:spPr>
          <a:xfrm>
            <a:off x="-3645" y="944654"/>
            <a:ext cx="3004121" cy="864096"/>
          </a:xfrm>
          <a:prstGeom prst="rect">
            <a:avLst/>
          </a:prstGeom>
          <a:solidFill>
            <a:srgbClr val="1F497D">
              <a:lumMod val="60000"/>
              <a:lumOff val="4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2" name="矩形 43"/>
          <p:cNvSpPr/>
          <p:nvPr userDrawn="1"/>
        </p:nvSpPr>
        <p:spPr>
          <a:xfrm>
            <a:off x="3000477" y="944654"/>
            <a:ext cx="851444" cy="864096"/>
          </a:xfrm>
          <a:prstGeom prst="rect">
            <a:avLst/>
          </a:prstGeom>
          <a:solidFill>
            <a:srgbClr val="92D05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3" name="矩形 44"/>
          <p:cNvSpPr/>
          <p:nvPr userDrawn="1"/>
        </p:nvSpPr>
        <p:spPr>
          <a:xfrm>
            <a:off x="8134040" y="942295"/>
            <a:ext cx="1008000" cy="864096"/>
          </a:xfrm>
          <a:prstGeom prst="rect">
            <a:avLst/>
          </a:prstGeom>
          <a:solidFill>
            <a:srgbClr val="F79646">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5" name="矩形 45"/>
          <p:cNvSpPr/>
          <p:nvPr userDrawn="1"/>
        </p:nvSpPr>
        <p:spPr>
          <a:xfrm>
            <a:off x="35496" y="1088670"/>
            <a:ext cx="324000" cy="324000"/>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4" name="矩形 46"/>
          <p:cNvSpPr/>
          <p:nvPr userDrawn="1"/>
        </p:nvSpPr>
        <p:spPr>
          <a:xfrm>
            <a:off x="683568" y="193204"/>
            <a:ext cx="432048" cy="324000"/>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5" name="矩形 47"/>
          <p:cNvSpPr/>
          <p:nvPr userDrawn="1"/>
        </p:nvSpPr>
        <p:spPr>
          <a:xfrm>
            <a:off x="1115616" y="512584"/>
            <a:ext cx="864096" cy="733412"/>
          </a:xfrm>
          <a:prstGeom prst="rect">
            <a:avLst/>
          </a:prstGeom>
          <a:solidFill>
            <a:srgbClr val="1F497D">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56" name="TextBox 48"/>
          <p:cNvSpPr txBox="1"/>
          <p:nvPr userDrawn="1"/>
        </p:nvSpPr>
        <p:spPr>
          <a:xfrm>
            <a:off x="467544" y="1269561"/>
            <a:ext cx="2926080" cy="320041"/>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pPr>
            <a:r>
              <a:rPr kumimoji="0" lang="en-US" altLang="zh-CN" sz="15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rPr>
              <a:t>Southwest Jiaotong University</a:t>
            </a:r>
            <a:endParaRPr kumimoji="0" lang="zh-CN" altLang="en-US" sz="1500" b="0" i="0" u="none" strike="noStrike" kern="0" cap="none" spc="0" normalizeH="0" baseline="0" noProof="0" dirty="0">
              <a:ln>
                <a:noFill/>
              </a:ln>
              <a:solidFill>
                <a:sysClr val="window" lastClr="FFFFFF"/>
              </a:solidFill>
              <a:effectLst>
                <a:outerShdw blurRad="38100" dist="38100" dir="2700000" algn="tl">
                  <a:srgbClr val="000000">
                    <a:alpha val="43137"/>
                  </a:srgbClr>
                </a:outerShdw>
              </a:effectLst>
              <a:uLnTx/>
              <a:uFillTx/>
            </a:endParaRPr>
          </a:p>
        </p:txBody>
      </p:sp>
      <p:pic>
        <p:nvPicPr>
          <p:cNvPr id="57" name="Picture 20" descr="http://www.huanbohainews.com.cn/pic/0/11/39/70/11397032_991616.jpg"/>
          <p:cNvPicPr>
            <a:picLocks noChangeAspect="1" noChangeArrowheads="1"/>
          </p:cNvPicPr>
          <p:nvPr userDrawn="1"/>
        </p:nvPicPr>
        <p:blipFill rotWithShape="1">
          <a:blip r:embed="rId8" cstate="print"/>
          <a:srcRect b="10406"/>
          <a:stretch>
            <a:fillRect/>
          </a:stretch>
        </p:blipFill>
        <p:spPr bwMode="auto">
          <a:xfrm>
            <a:off x="5203995" y="944654"/>
            <a:ext cx="952181" cy="864096"/>
          </a:xfrm>
          <a:prstGeom prst="rect">
            <a:avLst/>
          </a:prstGeom>
          <a:noFill/>
        </p:spPr>
      </p:pic>
      <p:pic>
        <p:nvPicPr>
          <p:cNvPr id="58" name="Picture 24" descr="http://imgbdb3.bendibao.com/bjbdb/20153/24/2015324113029237.jpg"/>
          <p:cNvPicPr>
            <a:picLocks noChangeArrowheads="1"/>
          </p:cNvPicPr>
          <p:nvPr userDrawn="1"/>
        </p:nvPicPr>
        <p:blipFill rotWithShape="1">
          <a:blip r:embed="rId9" cstate="print"/>
          <a:srcRect t="16191" b="16189"/>
          <a:stretch>
            <a:fillRect/>
          </a:stretch>
        </p:blipFill>
        <p:spPr bwMode="auto">
          <a:xfrm>
            <a:off x="6180594" y="944654"/>
            <a:ext cx="1926000" cy="861737"/>
          </a:xfrm>
          <a:prstGeom prst="rect">
            <a:avLst/>
          </a:prstGeom>
          <a:noFill/>
        </p:spPr>
      </p:pic>
      <p:pic>
        <p:nvPicPr>
          <p:cNvPr id="60" name="Picture 11"/>
          <p:cNvPicPr>
            <a:picLocks noChangeAspect="1" noChangeArrowheads="1"/>
          </p:cNvPicPr>
          <p:nvPr userDrawn="1"/>
        </p:nvPicPr>
        <p:blipFill rotWithShape="1">
          <a:blip r:embed="rId3"/>
          <a:srcRect l="5181" t="50052" r="85029" b="35397"/>
          <a:stretch>
            <a:fillRect/>
          </a:stretch>
        </p:blipFill>
        <p:spPr bwMode="auto">
          <a:xfrm>
            <a:off x="359496" y="2256392"/>
            <a:ext cx="1203592" cy="961148"/>
          </a:xfrm>
          <a:prstGeom prst="rect">
            <a:avLst/>
          </a:prstGeom>
          <a:noFill/>
          <a:ln>
            <a:noFill/>
          </a:ln>
          <a:effectLst/>
        </p:spPr>
      </p:pic>
      <p:sp>
        <p:nvSpPr>
          <p:cNvPr id="61" name="WordArt 7"/>
          <p:cNvSpPr>
            <a:spLocks noChangeArrowheads="1" noChangeShapeType="1" noTextEdit="1"/>
          </p:cNvSpPr>
          <p:nvPr userDrawn="1"/>
        </p:nvSpPr>
        <p:spPr bwMode="auto">
          <a:xfrm>
            <a:off x="2983309" y="3165435"/>
            <a:ext cx="3276678" cy="492125"/>
          </a:xfrm>
          <a:prstGeom prst="rect">
            <a:avLst/>
          </a:prstGeom>
        </p:spPr>
        <p:txBody>
          <a:bodyPr wrap="none" numCol="1" fromWordArt="1">
            <a:prstTxWarp prst="textPlain">
              <a:avLst>
                <a:gd name="adj" fmla="val 50014"/>
              </a:avLst>
            </a:prstTxWarp>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3600" b="1" kern="10" dirty="0" smtClean="0">
                <a:ln w="9525">
                  <a:noFill/>
                  <a:round/>
                </a:ln>
                <a:solidFill>
                  <a:srgbClr val="0066CC"/>
                </a:solidFill>
                <a:effectLst>
                  <a:outerShdw blurRad="38100" dist="38100" dir="2700000" algn="tl">
                    <a:srgbClr val="000000">
                      <a:alpha val="43137"/>
                    </a:srgbClr>
                  </a:outerShdw>
                </a:effectLst>
                <a:latin typeface="Arial" panose="020B0604020202020204"/>
                <a:cs typeface="Arial" panose="020B0604020202020204"/>
              </a:rPr>
              <a:t>Mechanical Design</a:t>
            </a:r>
            <a:endParaRPr lang="zh-CN" altLang="en-US" sz="3600" b="1" kern="10" dirty="0">
              <a:ln w="9525">
                <a:noFill/>
                <a:round/>
              </a:ln>
              <a:solidFill>
                <a:srgbClr val="0066CC"/>
              </a:solidFill>
              <a:effectLst>
                <a:outerShdw blurRad="38100" dist="38100" dir="2700000" algn="tl">
                  <a:srgbClr val="000000">
                    <a:alpha val="43137"/>
                  </a:srgbClr>
                </a:outerShdw>
              </a:effectLst>
              <a:latin typeface="Arial" panose="020B0604020202020204"/>
              <a:cs typeface="Arial" panose="020B0604020202020204"/>
            </a:endParaRPr>
          </a:p>
        </p:txBody>
      </p:sp>
      <p:sp>
        <p:nvSpPr>
          <p:cNvPr id="59" name="TextBox 53"/>
          <p:cNvSpPr txBox="1"/>
          <p:nvPr userDrawn="1"/>
        </p:nvSpPr>
        <p:spPr>
          <a:xfrm>
            <a:off x="1355368" y="2177053"/>
            <a:ext cx="6532558" cy="784830"/>
          </a:xfrm>
          <a:prstGeom prst="rect">
            <a:avLst/>
          </a:prstGeom>
          <a:noFill/>
        </p:spPr>
        <p:txBody>
          <a:bodyPr wrap="none" rtlCol="0">
            <a:spAutoFit/>
          </a:bodyPr>
          <a:lstStyle/>
          <a:p>
            <a:pPr algn="ctr"/>
            <a:r>
              <a:rPr lang="zh-CN" altLang="en-US" sz="4500" b="1" dirty="0" smtClean="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机械设计各章知识点小结</a:t>
            </a:r>
            <a:endParaRPr lang="zh-CN" altLang="en-US" sz="4500" b="1"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graphicFrame>
        <p:nvGraphicFramePr>
          <p:cNvPr id="4194304" name="Object 9"/>
          <p:cNvGraphicFramePr>
            <a:graphicFrameLocks noChangeAspect="1"/>
          </p:cNvGraphicFramePr>
          <p:nvPr/>
        </p:nvGraphicFramePr>
        <p:xfrm>
          <a:off x="0" y="120650"/>
          <a:ext cx="9144000" cy="295276"/>
        </p:xfrm>
        <a:graphic>
          <a:graphicData uri="http://schemas.openxmlformats.org/presentationml/2006/ole">
            <mc:AlternateContent xmlns:mc="http://schemas.openxmlformats.org/markup-compatibility/2006">
              <mc:Choice xmlns:v="urn:schemas-microsoft-com:vml" Requires="v">
                <p:oleObj spid="_x0000_s5942839" name="Image" r:id="rId3" imgW="7553325" imgH="704850" progId="">
                  <p:embed/>
                </p:oleObj>
              </mc:Choice>
              <mc:Fallback>
                <p:oleObj name="Image" r:id="rId3" imgW="7553325" imgH="704850" progId="">
                  <p:embed/>
                  <p:pic>
                    <p:nvPicPr>
                      <p:cNvPr id="0" name="Object 9"/>
                      <p:cNvPicPr>
                        <a:picLocks noChangeAspect="1" noChangeArrowheads="1"/>
                      </p:cNvPicPr>
                      <p:nvPr/>
                    </p:nvPicPr>
                    <p:blipFill>
                      <a:blip r:embed="rId4"/>
                      <a:srcRect t="16559" r="903"/>
                      <a:stretch>
                        <a:fillRect/>
                      </a:stretch>
                    </p:blipFill>
                    <p:spPr bwMode="auto">
                      <a:xfrm>
                        <a:off x="0" y="120650"/>
                        <a:ext cx="9144000" cy="295276"/>
                      </a:xfrm>
                      <a:prstGeom prst="rect">
                        <a:avLst/>
                      </a:prstGeom>
                      <a:noFill/>
                      <a:ln>
                        <a:noFill/>
                      </a:ln>
                      <a:effectLst/>
                    </p:spPr>
                  </p:pic>
                </p:oleObj>
              </mc:Fallback>
            </mc:AlternateContent>
          </a:graphicData>
        </a:graphic>
      </p:graphicFrame>
      <p:sp>
        <p:nvSpPr>
          <p:cNvPr id="1048586" name="灯片编号占位符 5"/>
          <p:cNvSpPr txBox="1"/>
          <p:nvPr/>
        </p:nvSpPr>
        <p:spPr>
          <a:xfrm>
            <a:off x="107952" y="49214"/>
            <a:ext cx="2087563" cy="303212"/>
          </a:xfrm>
          <a:prstGeom prst="rect">
            <a:avLst/>
          </a:prstGeom>
        </p:spPr>
        <p:txBody>
          <a:bodyPr/>
          <a:lstStyle>
            <a:lvl1pPr algn="l">
              <a:defRPr b="1">
                <a:solidFill>
                  <a:srgbClr val="C00000"/>
                </a:solidFill>
              </a:defRPr>
            </a:lvl1pPr>
          </a:lstStyle>
          <a:p>
            <a:pPr fontAlgn="auto">
              <a:spcBef>
                <a:spcPts val="0"/>
              </a:spcBef>
              <a:spcAft>
                <a:spcPts val="0"/>
              </a:spcAft>
            </a:pPr>
            <a:fld id="{2D278751-D899-4D39-AACB-C7527FDC3B9A}" type="slidenum">
              <a:rPr lang="zh-CN" altLang="en-US" smtClean="0">
                <a:latin typeface="+mn-lt"/>
                <a:ea typeface="+mn-ea"/>
              </a:rPr>
              <a:t>‹#›</a:t>
            </a:fld>
            <a:endParaRPr lang="zh-CN" altLang="en-US" dirty="0">
              <a:latin typeface="+mn-lt"/>
              <a:ea typeface="+mn-ea"/>
            </a:endParaRPr>
          </a:p>
        </p:txBody>
      </p:sp>
      <p:sp>
        <p:nvSpPr>
          <p:cNvPr id="1048587" name="标题 1"/>
          <p:cNvSpPr>
            <a:spLocks noGrp="1"/>
          </p:cNvSpPr>
          <p:nvPr>
            <p:ph type="title"/>
          </p:nvPr>
        </p:nvSpPr>
        <p:spPr>
          <a:xfrm>
            <a:off x="457200" y="546099"/>
            <a:ext cx="8229600" cy="635266"/>
          </a:xfrm>
        </p:spPr>
        <p:txBody>
          <a:bodyPr>
            <a:normAutofit/>
          </a:bodyPr>
          <a:lstStyle>
            <a:lvl1pPr algn="l">
              <a:defRPr sz="3200" b="1"/>
            </a:lvl1pPr>
          </a:lstStyle>
          <a:p>
            <a:r>
              <a:rPr lang="zh-CN" altLang="en-US" dirty="0" smtClean="0"/>
              <a:t>单击此处编辑母版标题样式</a:t>
            </a:r>
            <a:endParaRPr lang="zh-CN" altLang="en-US" dirty="0"/>
          </a:p>
        </p:txBody>
      </p:sp>
      <p:sp>
        <p:nvSpPr>
          <p:cNvPr id="1048588" name="内容占位符 2"/>
          <p:cNvSpPr>
            <a:spLocks noGrp="1"/>
          </p:cNvSpPr>
          <p:nvPr>
            <p:ph idx="1"/>
          </p:nvPr>
        </p:nvSpPr>
        <p:spPr>
          <a:xfrm>
            <a:off x="457200" y="1333500"/>
            <a:ext cx="8229600" cy="3771636"/>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1048589" name="页脚占位符 3"/>
          <p:cNvSpPr>
            <a:spLocks noGrp="1"/>
          </p:cNvSpPr>
          <p:nvPr>
            <p:ph type="ftr" sz="quarter" idx="10"/>
          </p:nvPr>
        </p:nvSpPr>
        <p:spPr/>
        <p:txBody>
          <a:bodyPr/>
          <a:lstStyle/>
          <a:p>
            <a:endParaRPr lang="zh-CN" altLang="en-US"/>
          </a:p>
        </p:txBody>
      </p:sp>
      <p:sp>
        <p:nvSpPr>
          <p:cNvPr id="1048590" name="灯片编号占位符 5"/>
          <p:cNvSpPr>
            <a:spLocks noGrp="1"/>
          </p:cNvSpPr>
          <p:nvPr>
            <p:ph type="sldNum" sz="quarter" idx="11"/>
          </p:nvPr>
        </p:nvSpPr>
        <p:spPr>
          <a:xfrm>
            <a:off x="709613" y="5297488"/>
            <a:ext cx="2133600" cy="303212"/>
          </a:xfrm>
        </p:spPr>
        <p:txBody>
          <a:bodyPr/>
          <a:lstStyle>
            <a:lvl1pPr algn="l">
              <a:defRPr b="1">
                <a:solidFill>
                  <a:srgbClr val="C00000"/>
                </a:solidFill>
              </a:defRPr>
            </a:lvl1pPr>
          </a:lstStyle>
          <a:p>
            <a:fld id="{C13746F3-A129-4F8B-BCBD-7CEBD612C3F9}" type="slidenum">
              <a:rPr lang="zh-CN" altLang="en-US"/>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2097711" name="图片 5" descr="background1.jpg"/>
          <p:cNvPicPr>
            <a:picLocks noChangeAspect="1"/>
          </p:cNvPicPr>
          <p:nvPr userDrawn="1"/>
        </p:nvPicPr>
        <p:blipFill>
          <a:blip r:embed="rId2"/>
          <a:srcRect/>
          <a:stretch>
            <a:fillRect/>
          </a:stretch>
        </p:blipFill>
        <p:spPr bwMode="auto">
          <a:xfrm>
            <a:off x="0" y="0"/>
            <a:ext cx="9144000" cy="5715000"/>
          </a:xfrm>
          <a:prstGeom prst="rect">
            <a:avLst/>
          </a:prstGeom>
          <a:noFill/>
          <a:ln w="9525">
            <a:noFill/>
            <a:miter lim="800000"/>
            <a:headEnd/>
            <a:tailEnd/>
          </a:ln>
        </p:spPr>
      </p:pic>
      <p:sp>
        <p:nvSpPr>
          <p:cNvPr id="1054338" name="标题 1"/>
          <p:cNvSpPr>
            <a:spLocks noGrp="1"/>
          </p:cNvSpPr>
          <p:nvPr>
            <p:ph type="title"/>
          </p:nvPr>
        </p:nvSpPr>
        <p:spPr>
          <a:xfrm>
            <a:off x="457200" y="546099"/>
            <a:ext cx="8229600" cy="635266"/>
          </a:xfrm>
        </p:spPr>
        <p:txBody>
          <a:bodyPr>
            <a:normAutofit/>
          </a:bodyPr>
          <a:lstStyle>
            <a:lvl1pPr algn="l">
              <a:defRPr sz="3200" b="1"/>
            </a:lvl1pPr>
          </a:lstStyle>
          <a:p>
            <a:r>
              <a:rPr lang="zh-CN" altLang="en-US" dirty="0" smtClean="0"/>
              <a:t>单击此处编辑母版标题样式</a:t>
            </a:r>
            <a:endParaRPr lang="zh-CN" altLang="en-US" dirty="0"/>
          </a:p>
        </p:txBody>
      </p:sp>
      <p:sp>
        <p:nvSpPr>
          <p:cNvPr id="1054339" name="内容占位符 2"/>
          <p:cNvSpPr>
            <a:spLocks noGrp="1"/>
          </p:cNvSpPr>
          <p:nvPr>
            <p:ph idx="1"/>
          </p:nvPr>
        </p:nvSpPr>
        <p:spPr>
          <a:xfrm>
            <a:off x="457200" y="1333500"/>
            <a:ext cx="8229600" cy="3771636"/>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76" name="Picture 4" descr="Header WM"/>
          <p:cNvPicPr>
            <a:picLocks noChangeAspect="1" noChangeArrowheads="1"/>
          </p:cNvPicPr>
          <p:nvPr userDrawn="1"/>
        </p:nvPicPr>
        <p:blipFill>
          <a:blip r:embed="rId2"/>
          <a:srcRect/>
          <a:stretch>
            <a:fillRect/>
          </a:stretch>
        </p:blipFill>
        <p:spPr bwMode="auto">
          <a:xfrm>
            <a:off x="0" y="0"/>
            <a:ext cx="9144000" cy="5715000"/>
          </a:xfrm>
          <a:prstGeom prst="rect">
            <a:avLst/>
          </a:prstGeom>
          <a:noFill/>
          <a:ln w="9525">
            <a:noFill/>
            <a:miter lim="800000"/>
            <a:headEnd/>
            <a:tailEnd/>
          </a:ln>
        </p:spPr>
      </p:pic>
      <p:sp>
        <p:nvSpPr>
          <p:cNvPr id="1048712" name="灯片编号占位符 5"/>
          <p:cNvSpPr txBox="1"/>
          <p:nvPr userDrawn="1"/>
        </p:nvSpPr>
        <p:spPr>
          <a:xfrm>
            <a:off x="107952" y="49214"/>
            <a:ext cx="2087563" cy="303212"/>
          </a:xfrm>
          <a:prstGeom prst="rect">
            <a:avLst/>
          </a:prstGeom>
        </p:spPr>
        <p:txBody>
          <a:bodyPr/>
          <a:lstStyle>
            <a:lvl1pPr algn="l">
              <a:defRPr b="1">
                <a:solidFill>
                  <a:srgbClr val="C00000"/>
                </a:solidFill>
              </a:defRPr>
            </a:lvl1pPr>
          </a:lstStyle>
          <a:p>
            <a:pPr fontAlgn="auto">
              <a:spcBef>
                <a:spcPts val="0"/>
              </a:spcBef>
              <a:spcAft>
                <a:spcPts val="0"/>
              </a:spcAft>
            </a:pPr>
            <a:fld id="{FA746368-22F2-4CE1-BBDB-79170F838213}" type="slidenum">
              <a:rPr lang="zh-CN" altLang="en-US" smtClean="0">
                <a:latin typeface="+mn-lt"/>
                <a:ea typeface="+mn-ea"/>
              </a:rPr>
              <a:t>‹#›</a:t>
            </a:fld>
            <a:endParaRPr lang="zh-CN" altLang="en-US" dirty="0">
              <a:latin typeface="+mn-lt"/>
              <a:ea typeface="+mn-ea"/>
            </a:endParaRPr>
          </a:p>
        </p:txBody>
      </p:sp>
      <p:sp>
        <p:nvSpPr>
          <p:cNvPr id="1048713" name="标题 1"/>
          <p:cNvSpPr>
            <a:spLocks noGrp="1"/>
          </p:cNvSpPr>
          <p:nvPr>
            <p:ph type="title"/>
          </p:nvPr>
        </p:nvSpPr>
        <p:spPr>
          <a:xfrm>
            <a:off x="457200" y="0"/>
            <a:ext cx="8229600" cy="723900"/>
          </a:xfrm>
        </p:spPr>
        <p:txBody>
          <a:bodyPr>
            <a:normAutofit/>
          </a:bodyPr>
          <a:lstStyle>
            <a:lvl1pPr algn="l">
              <a:defRPr sz="3200" b="1"/>
            </a:lvl1pPr>
          </a:lstStyle>
          <a:p>
            <a:r>
              <a:rPr lang="zh-CN" altLang="en-US" smtClean="0"/>
              <a:t>单击此处编辑母版标题样式</a:t>
            </a:r>
            <a:endParaRPr lang="zh-CN" altLang="en-US"/>
          </a:p>
        </p:txBody>
      </p:sp>
      <p:sp>
        <p:nvSpPr>
          <p:cNvPr id="1048714" name="页脚占位符 3"/>
          <p:cNvSpPr>
            <a:spLocks noGrp="1"/>
          </p:cNvSpPr>
          <p:nvPr>
            <p:ph type="ftr" sz="quarter" idx="10"/>
          </p:nvPr>
        </p:nvSpPr>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4304" name="标题 1"/>
          <p:cNvSpPr>
            <a:spLocks noGrp="1"/>
          </p:cNvSpPr>
          <p:nvPr>
            <p:ph type="title"/>
          </p:nvPr>
        </p:nvSpPr>
        <p:spPr>
          <a:xfrm>
            <a:off x="722313" y="3672419"/>
            <a:ext cx="7772400" cy="1135063"/>
          </a:xfrm>
        </p:spPr>
        <p:txBody>
          <a:bodyPr anchor="t"/>
          <a:lstStyle>
            <a:lvl1pPr algn="l">
              <a:defRPr sz="4000" b="1" cap="all"/>
            </a:lvl1pPr>
          </a:lstStyle>
          <a:p>
            <a:r>
              <a:rPr lang="zh-CN" altLang="en-US" smtClean="0"/>
              <a:t>单击此处编辑母版标题样式</a:t>
            </a:r>
            <a:endParaRPr lang="zh-CN" altLang="en-US"/>
          </a:p>
        </p:txBody>
      </p:sp>
      <p:sp>
        <p:nvSpPr>
          <p:cNvPr id="1054305"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1054306" name="页脚占位符 4"/>
          <p:cNvSpPr>
            <a:spLocks noGrp="1"/>
          </p:cNvSpPr>
          <p:nvPr>
            <p:ph type="ftr" sz="quarter" idx="10"/>
          </p:nvPr>
        </p:nvSpPr>
        <p:spPr/>
        <p:txBody>
          <a:bodyPr/>
          <a:lstStyle/>
          <a:p>
            <a:endParaRPr lang="zh-CN" altLang="en-US"/>
          </a:p>
        </p:txBody>
      </p:sp>
      <p:sp>
        <p:nvSpPr>
          <p:cNvPr id="1054307" name="灯片编号占位符 5"/>
          <p:cNvSpPr>
            <a:spLocks noGrp="1"/>
          </p:cNvSpPr>
          <p:nvPr>
            <p:ph type="sldNum" sz="quarter" idx="11"/>
          </p:nvPr>
        </p:nvSpPr>
        <p:spPr/>
        <p:txBody>
          <a:bodyPr/>
          <a:lstStyle/>
          <a:p>
            <a:fld id="{B64DA930-E1DC-4141-85F8-C700ADDEBB84}"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4308" name="标题 1"/>
          <p:cNvSpPr>
            <a:spLocks noGrp="1"/>
          </p:cNvSpPr>
          <p:nvPr>
            <p:ph type="title"/>
          </p:nvPr>
        </p:nvSpPr>
        <p:spPr/>
        <p:txBody>
          <a:bodyPr/>
          <a:lstStyle/>
          <a:p>
            <a:r>
              <a:rPr lang="zh-CN" altLang="en-US" smtClean="0"/>
              <a:t>单击此处编辑母版标题样式</a:t>
            </a:r>
            <a:endParaRPr lang="zh-CN" altLang="en-US"/>
          </a:p>
        </p:txBody>
      </p:sp>
      <p:sp>
        <p:nvSpPr>
          <p:cNvPr id="1054309" name="内容占位符 2"/>
          <p:cNvSpPr>
            <a:spLocks noGrp="1"/>
          </p:cNvSpPr>
          <p:nvPr>
            <p:ph sz="half" idx="1"/>
          </p:nvPr>
        </p:nvSpPr>
        <p:spPr>
          <a:xfrm>
            <a:off x="457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0" name="内容占位符 3"/>
          <p:cNvSpPr>
            <a:spLocks noGrp="1"/>
          </p:cNvSpPr>
          <p:nvPr>
            <p:ph sz="half" idx="2"/>
          </p:nvPr>
        </p:nvSpPr>
        <p:spPr>
          <a:xfrm>
            <a:off x="4648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1"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78C5DC5A-2331-4171-8002-1B0A299176E0}" type="datetimeFigureOut">
              <a:rPr lang="zh-CN" altLang="en-US"/>
              <a:t>2024-09-09</a:t>
            </a:fld>
            <a:endParaRPr lang="zh-CN" altLang="en-US"/>
          </a:p>
        </p:txBody>
      </p:sp>
      <p:sp>
        <p:nvSpPr>
          <p:cNvPr id="1054312" name="页脚占位符 5"/>
          <p:cNvSpPr>
            <a:spLocks noGrp="1"/>
          </p:cNvSpPr>
          <p:nvPr>
            <p:ph type="ftr" sz="quarter" idx="11"/>
          </p:nvPr>
        </p:nvSpPr>
        <p:spPr/>
        <p:txBody>
          <a:bodyPr/>
          <a:lstStyle/>
          <a:p>
            <a:endParaRPr lang="zh-CN" altLang="en-US"/>
          </a:p>
        </p:txBody>
      </p:sp>
      <p:sp>
        <p:nvSpPr>
          <p:cNvPr id="1054313" name="灯片编号占位符 6"/>
          <p:cNvSpPr>
            <a:spLocks noGrp="1"/>
          </p:cNvSpPr>
          <p:nvPr>
            <p:ph type="sldNum" sz="quarter" idx="12"/>
          </p:nvPr>
        </p:nvSpPr>
        <p:spPr/>
        <p:txBody>
          <a:bodyPr/>
          <a:lstStyle/>
          <a:p>
            <a:fld id="{119FF386-9097-438A-824F-981E8E8B246B}"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4325" name="标题 1"/>
          <p:cNvSpPr>
            <a:spLocks noGrp="1"/>
          </p:cNvSpPr>
          <p:nvPr>
            <p:ph type="title"/>
          </p:nvPr>
        </p:nvSpPr>
        <p:spPr/>
        <p:txBody>
          <a:bodyPr/>
          <a:lstStyle/>
          <a:p>
            <a:r>
              <a:rPr lang="zh-CN" altLang="en-US" smtClean="0"/>
              <a:t>单击此处编辑母版标题样式</a:t>
            </a:r>
            <a:endParaRPr lang="zh-CN" altLang="en-US"/>
          </a:p>
        </p:txBody>
      </p:sp>
      <p:sp>
        <p:nvSpPr>
          <p:cNvPr id="1054326" name="文本占位符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54327"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28" name="文本占位符 4"/>
          <p:cNvSpPr>
            <a:spLocks noGrp="1"/>
          </p:cNvSpPr>
          <p:nvPr>
            <p:ph type="body" sz="quarter" idx="3"/>
          </p:nvPr>
        </p:nvSpPr>
        <p:spPr>
          <a:xfrm>
            <a:off x="4645028"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54329" name="内容占位符 5"/>
          <p:cNvSpPr>
            <a:spLocks noGrp="1"/>
          </p:cNvSpPr>
          <p:nvPr>
            <p:ph sz="quarter" idx="4"/>
          </p:nvPr>
        </p:nvSpPr>
        <p:spPr>
          <a:xfrm>
            <a:off x="4645028"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30" name="日期占位符 6"/>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DDD3C521-07BA-4294-8BFC-5C0D5B8FDF41}" type="datetimeFigureOut">
              <a:rPr lang="zh-CN" altLang="en-US"/>
              <a:t>2024-09-09</a:t>
            </a:fld>
            <a:endParaRPr lang="zh-CN" altLang="en-US"/>
          </a:p>
        </p:txBody>
      </p:sp>
      <p:sp>
        <p:nvSpPr>
          <p:cNvPr id="1054331" name="页脚占位符 7"/>
          <p:cNvSpPr>
            <a:spLocks noGrp="1"/>
          </p:cNvSpPr>
          <p:nvPr>
            <p:ph type="ftr" sz="quarter" idx="11"/>
          </p:nvPr>
        </p:nvSpPr>
        <p:spPr/>
        <p:txBody>
          <a:bodyPr/>
          <a:lstStyle/>
          <a:p>
            <a:endParaRPr lang="zh-CN" altLang="en-US"/>
          </a:p>
        </p:txBody>
      </p:sp>
      <p:sp>
        <p:nvSpPr>
          <p:cNvPr id="1054332" name="灯片编号占位符 8"/>
          <p:cNvSpPr>
            <a:spLocks noGrp="1"/>
          </p:cNvSpPr>
          <p:nvPr>
            <p:ph type="sldNum" sz="quarter" idx="12"/>
          </p:nvPr>
        </p:nvSpPr>
        <p:spPr/>
        <p:txBody>
          <a:bodyPr/>
          <a:lstStyle/>
          <a:p>
            <a:fld id="{2BD885E0-0E72-45C0-B408-2AF559F91707}"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4346" name="标题 1"/>
          <p:cNvSpPr>
            <a:spLocks noGrp="1"/>
          </p:cNvSpPr>
          <p:nvPr>
            <p:ph type="title"/>
          </p:nvPr>
        </p:nvSpPr>
        <p:spPr/>
        <p:txBody>
          <a:bodyPr/>
          <a:lstStyle/>
          <a:p>
            <a:r>
              <a:rPr lang="zh-CN" altLang="en-US" smtClean="0"/>
              <a:t>单击此处编辑母版标题样式</a:t>
            </a:r>
            <a:endParaRPr lang="zh-CN" altLang="en-US"/>
          </a:p>
        </p:txBody>
      </p:sp>
      <p:sp>
        <p:nvSpPr>
          <p:cNvPr id="1054347" name="日期占位符 2"/>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EDD81565-D0F0-41D1-903E-40E0738778CD}" type="datetimeFigureOut">
              <a:rPr lang="zh-CN" altLang="en-US"/>
              <a:t>2024-09-09</a:t>
            </a:fld>
            <a:endParaRPr lang="zh-CN" altLang="en-US"/>
          </a:p>
        </p:txBody>
      </p:sp>
      <p:sp>
        <p:nvSpPr>
          <p:cNvPr id="1054348" name="页脚占位符 3"/>
          <p:cNvSpPr>
            <a:spLocks noGrp="1"/>
          </p:cNvSpPr>
          <p:nvPr>
            <p:ph type="ftr" sz="quarter" idx="11"/>
          </p:nvPr>
        </p:nvSpPr>
        <p:spPr/>
        <p:txBody>
          <a:bodyPr/>
          <a:lstStyle/>
          <a:p>
            <a:endParaRPr lang="zh-CN" altLang="en-US"/>
          </a:p>
        </p:txBody>
      </p:sp>
      <p:sp>
        <p:nvSpPr>
          <p:cNvPr id="1054349" name="灯片编号占位符 4"/>
          <p:cNvSpPr>
            <a:spLocks noGrp="1"/>
          </p:cNvSpPr>
          <p:nvPr>
            <p:ph type="sldNum" sz="quarter" idx="12"/>
          </p:nvPr>
        </p:nvSpPr>
        <p:spPr/>
        <p:txBody>
          <a:bodyPr/>
          <a:lstStyle/>
          <a:p>
            <a:fld id="{03E32D16-D876-4614-9309-FE3874F8A992}"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81" name="日期占位符 1"/>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CF377711-3629-4DAD-8439-E0560B6BB2E0}" type="datetimeFigureOut">
              <a:rPr lang="zh-CN" altLang="en-US"/>
              <a:t>2024-09-09</a:t>
            </a:fld>
            <a:endParaRPr lang="zh-CN" altLang="en-US"/>
          </a:p>
        </p:txBody>
      </p:sp>
      <p:sp>
        <p:nvSpPr>
          <p:cNvPr id="1048582" name="页脚占位符 2"/>
          <p:cNvSpPr>
            <a:spLocks noGrp="1"/>
          </p:cNvSpPr>
          <p:nvPr>
            <p:ph type="ftr" sz="quarter" idx="11"/>
          </p:nvPr>
        </p:nvSpPr>
        <p:spPr/>
        <p:txBody>
          <a:bodyPr/>
          <a:lstStyle/>
          <a:p>
            <a:endParaRPr lang="zh-CN" altLang="en-US"/>
          </a:p>
        </p:txBody>
      </p:sp>
      <p:sp>
        <p:nvSpPr>
          <p:cNvPr id="1048583" name="灯片编号占位符 3"/>
          <p:cNvSpPr>
            <a:spLocks noGrp="1"/>
          </p:cNvSpPr>
          <p:nvPr>
            <p:ph type="sldNum" sz="quarter" idx="12"/>
          </p:nvPr>
        </p:nvSpPr>
        <p:spPr/>
        <p:txBody>
          <a:bodyPr/>
          <a:lstStyle/>
          <a:p>
            <a:fld id="{55174DE4-6CEB-434E-9620-53BDFCC300F5}"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4340" name="标题 1"/>
          <p:cNvSpPr>
            <a:spLocks noGrp="1"/>
          </p:cNvSpPr>
          <p:nvPr>
            <p:ph type="title"/>
          </p:nvPr>
        </p:nvSpPr>
        <p:spPr>
          <a:xfrm>
            <a:off x="457203" y="227542"/>
            <a:ext cx="3008313" cy="968376"/>
          </a:xfrm>
        </p:spPr>
        <p:txBody>
          <a:bodyPr anchor="b"/>
          <a:lstStyle>
            <a:lvl1pPr algn="l">
              <a:defRPr sz="2000" b="1"/>
            </a:lvl1pPr>
          </a:lstStyle>
          <a:p>
            <a:r>
              <a:rPr lang="zh-CN" altLang="en-US" smtClean="0"/>
              <a:t>单击此处编辑母版标题样式</a:t>
            </a:r>
            <a:endParaRPr lang="zh-CN" altLang="en-US"/>
          </a:p>
        </p:txBody>
      </p:sp>
      <p:sp>
        <p:nvSpPr>
          <p:cNvPr id="1054341" name="内容占位符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42" name="文本占位符 3"/>
          <p:cNvSpPr>
            <a:spLocks noGrp="1"/>
          </p:cNvSpPr>
          <p:nvPr>
            <p:ph type="body" sz="half" idx="2"/>
          </p:nvPr>
        </p:nvSpPr>
        <p:spPr>
          <a:xfrm>
            <a:off x="457203"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054343"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278B8774-4B2A-4AAE-A808-F725AF2E04CC}" type="datetimeFigureOut">
              <a:rPr lang="zh-CN" altLang="en-US"/>
              <a:t>2024-09-09</a:t>
            </a:fld>
            <a:endParaRPr lang="zh-CN" altLang="en-US"/>
          </a:p>
        </p:txBody>
      </p:sp>
      <p:sp>
        <p:nvSpPr>
          <p:cNvPr id="1054344" name="页脚占位符 5"/>
          <p:cNvSpPr>
            <a:spLocks noGrp="1"/>
          </p:cNvSpPr>
          <p:nvPr>
            <p:ph type="ftr" sz="quarter" idx="11"/>
          </p:nvPr>
        </p:nvSpPr>
        <p:spPr/>
        <p:txBody>
          <a:bodyPr/>
          <a:lstStyle/>
          <a:p>
            <a:endParaRPr lang="zh-CN" altLang="en-US"/>
          </a:p>
        </p:txBody>
      </p:sp>
      <p:sp>
        <p:nvSpPr>
          <p:cNvPr id="1054345" name="灯片编号占位符 6"/>
          <p:cNvSpPr>
            <a:spLocks noGrp="1"/>
          </p:cNvSpPr>
          <p:nvPr>
            <p:ph type="sldNum" sz="quarter" idx="12"/>
          </p:nvPr>
        </p:nvSpPr>
        <p:spPr/>
        <p:txBody>
          <a:bodyPr/>
          <a:lstStyle/>
          <a:p>
            <a:fld id="{6872F262-6D47-49B5-9157-9BD85EDE5943}"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4319" name="标题 1"/>
          <p:cNvSpPr>
            <a:spLocks noGrp="1"/>
          </p:cNvSpPr>
          <p:nvPr>
            <p:ph type="title"/>
          </p:nvPr>
        </p:nvSpPr>
        <p:spPr>
          <a:xfrm>
            <a:off x="1792288" y="4000500"/>
            <a:ext cx="5486400" cy="472282"/>
          </a:xfrm>
        </p:spPr>
        <p:txBody>
          <a:bodyPr anchor="b"/>
          <a:lstStyle>
            <a:lvl1pPr algn="l">
              <a:defRPr sz="2000" b="1"/>
            </a:lvl1pPr>
          </a:lstStyle>
          <a:p>
            <a:r>
              <a:rPr lang="zh-CN" altLang="en-US" smtClean="0"/>
              <a:t>单击此处编辑母版标题样式</a:t>
            </a:r>
            <a:endParaRPr lang="zh-CN" altLang="en-US"/>
          </a:p>
        </p:txBody>
      </p:sp>
      <p:sp>
        <p:nvSpPr>
          <p:cNvPr id="1054320" name="图片占位符 2"/>
          <p:cNvSpPr>
            <a:spLocks noGrp="1"/>
          </p:cNvSpPr>
          <p:nvPr>
            <p:ph type="pic" idx="1"/>
          </p:nvPr>
        </p:nvSpPr>
        <p:spPr>
          <a:xfrm>
            <a:off x="1792288" y="510646"/>
            <a:ext cx="5486400" cy="34290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1054321" name="文本占位符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054322" name="日期占位符 4"/>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44062F43-F3FF-4D13-A31D-DC0970594FD8}" type="datetimeFigureOut">
              <a:rPr lang="zh-CN" altLang="en-US"/>
              <a:t>2024-09-09</a:t>
            </a:fld>
            <a:endParaRPr lang="zh-CN" altLang="en-US"/>
          </a:p>
        </p:txBody>
      </p:sp>
      <p:sp>
        <p:nvSpPr>
          <p:cNvPr id="1054323" name="页脚占位符 5"/>
          <p:cNvSpPr>
            <a:spLocks noGrp="1"/>
          </p:cNvSpPr>
          <p:nvPr>
            <p:ph type="ftr" sz="quarter" idx="11"/>
          </p:nvPr>
        </p:nvSpPr>
        <p:spPr/>
        <p:txBody>
          <a:bodyPr/>
          <a:lstStyle/>
          <a:p>
            <a:endParaRPr lang="zh-CN" altLang="en-US"/>
          </a:p>
        </p:txBody>
      </p:sp>
      <p:sp>
        <p:nvSpPr>
          <p:cNvPr id="1054324" name="灯片编号占位符 6"/>
          <p:cNvSpPr>
            <a:spLocks noGrp="1"/>
          </p:cNvSpPr>
          <p:nvPr>
            <p:ph type="sldNum" sz="quarter" idx="12"/>
          </p:nvPr>
        </p:nvSpPr>
        <p:spPr/>
        <p:txBody>
          <a:bodyPr/>
          <a:lstStyle/>
          <a:p>
            <a:fld id="{89A28788-EEA2-4593-A885-3C689F4F41B7}"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4314" name="标题 1"/>
          <p:cNvSpPr>
            <a:spLocks noGrp="1"/>
          </p:cNvSpPr>
          <p:nvPr>
            <p:ph type="title"/>
          </p:nvPr>
        </p:nvSpPr>
        <p:spPr/>
        <p:txBody>
          <a:bodyPr/>
          <a:lstStyle/>
          <a:p>
            <a:r>
              <a:rPr lang="zh-CN" altLang="en-US" smtClean="0"/>
              <a:t>单击此处编辑母版标题样式</a:t>
            </a:r>
            <a:endParaRPr lang="zh-CN" altLang="en-US"/>
          </a:p>
        </p:txBody>
      </p:sp>
      <p:sp>
        <p:nvSpPr>
          <p:cNvPr id="1054315"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16" name="日期占位符 3"/>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1AC590E2-49AB-44E3-8C36-0D08445AF1E5}" type="datetimeFigureOut">
              <a:rPr lang="zh-CN" altLang="en-US"/>
              <a:t>2024-09-09</a:t>
            </a:fld>
            <a:endParaRPr lang="zh-CN" altLang="en-US"/>
          </a:p>
        </p:txBody>
      </p:sp>
      <p:sp>
        <p:nvSpPr>
          <p:cNvPr id="1054317" name="页脚占位符 4"/>
          <p:cNvSpPr>
            <a:spLocks noGrp="1"/>
          </p:cNvSpPr>
          <p:nvPr>
            <p:ph type="ftr" sz="quarter" idx="11"/>
          </p:nvPr>
        </p:nvSpPr>
        <p:spPr/>
        <p:txBody>
          <a:bodyPr/>
          <a:lstStyle/>
          <a:p>
            <a:endParaRPr lang="zh-CN" altLang="en-US"/>
          </a:p>
        </p:txBody>
      </p:sp>
      <p:sp>
        <p:nvSpPr>
          <p:cNvPr id="1054318" name="灯片编号占位符 5"/>
          <p:cNvSpPr>
            <a:spLocks noGrp="1"/>
          </p:cNvSpPr>
          <p:nvPr>
            <p:ph type="sldNum" sz="quarter" idx="12"/>
          </p:nvPr>
        </p:nvSpPr>
        <p:spPr/>
        <p:txBody>
          <a:bodyPr/>
          <a:lstStyle/>
          <a:p>
            <a:fld id="{3B5ECF40-282A-4BCB-BB10-007085F2831F}"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54333" name="竖排标题 1"/>
          <p:cNvSpPr>
            <a:spLocks noGrp="1"/>
          </p:cNvSpPr>
          <p:nvPr>
            <p:ph type="title" orient="vert"/>
          </p:nvPr>
        </p:nvSpPr>
        <p:spPr>
          <a:xfrm>
            <a:off x="6629400" y="228866"/>
            <a:ext cx="2057400" cy="4876271"/>
          </a:xfrm>
        </p:spPr>
        <p:txBody>
          <a:bodyPr vert="eaVert"/>
          <a:lstStyle/>
          <a:p>
            <a:r>
              <a:rPr lang="zh-CN" altLang="en-US" smtClean="0"/>
              <a:t>单击此处编辑母版标题样式</a:t>
            </a:r>
            <a:endParaRPr lang="zh-CN" altLang="en-US"/>
          </a:p>
        </p:txBody>
      </p:sp>
      <p:sp>
        <p:nvSpPr>
          <p:cNvPr id="1054334" name="竖排文字占位符 2"/>
          <p:cNvSpPr>
            <a:spLocks noGrp="1"/>
          </p:cNvSpPr>
          <p:nvPr>
            <p:ph type="body" orient="vert" idx="1"/>
          </p:nvPr>
        </p:nvSpPr>
        <p:spPr>
          <a:xfrm>
            <a:off x="457200" y="228866"/>
            <a:ext cx="6019800" cy="487627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54335" name="日期占位符 3"/>
          <p:cNvSpPr>
            <a:spLocks noGrp="1"/>
          </p:cNvSpPr>
          <p:nvPr>
            <p:ph type="dt" sz="half" idx="10"/>
          </p:nvPr>
        </p:nvSpPr>
        <p:spPr>
          <a:xfrm>
            <a:off x="457200" y="5297488"/>
            <a:ext cx="2133600" cy="303212"/>
          </a:xfrm>
          <a:prstGeom prst="rect">
            <a:avLst/>
          </a:prstGeom>
        </p:spPr>
        <p:txBody>
          <a:bodyPr/>
          <a:lstStyle>
            <a:lvl1pPr fontAlgn="auto">
              <a:spcBef>
                <a:spcPts val="0"/>
              </a:spcBef>
              <a:spcAft>
                <a:spcPts val="0"/>
              </a:spcAft>
              <a:defRPr>
                <a:latin typeface="+mn-lt"/>
                <a:ea typeface="+mn-ea"/>
              </a:defRPr>
            </a:lvl1pPr>
          </a:lstStyle>
          <a:p>
            <a:fld id="{E7AB1051-31EF-44F9-AA2D-865B02C2540B}" type="datetimeFigureOut">
              <a:rPr lang="zh-CN" altLang="en-US"/>
              <a:t>2024-09-09</a:t>
            </a:fld>
            <a:endParaRPr lang="zh-CN" altLang="en-US"/>
          </a:p>
        </p:txBody>
      </p:sp>
      <p:sp>
        <p:nvSpPr>
          <p:cNvPr id="1054336" name="页脚占位符 4"/>
          <p:cNvSpPr>
            <a:spLocks noGrp="1"/>
          </p:cNvSpPr>
          <p:nvPr>
            <p:ph type="ftr" sz="quarter" idx="11"/>
          </p:nvPr>
        </p:nvSpPr>
        <p:spPr/>
        <p:txBody>
          <a:bodyPr/>
          <a:lstStyle/>
          <a:p>
            <a:endParaRPr lang="zh-CN" altLang="en-US"/>
          </a:p>
        </p:txBody>
      </p:sp>
      <p:sp>
        <p:nvSpPr>
          <p:cNvPr id="1054337" name="灯片编号占位符 5"/>
          <p:cNvSpPr>
            <a:spLocks noGrp="1"/>
          </p:cNvSpPr>
          <p:nvPr>
            <p:ph type="sldNum" sz="quarter" idx="12"/>
          </p:nvPr>
        </p:nvSpPr>
        <p:spPr/>
        <p:txBody>
          <a:bodyPr/>
          <a:lstStyle/>
          <a:p>
            <a:fld id="{FE2A011D-D701-4132-A7EE-B708846F7E53}"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bwMode="auto">
          <a:xfrm>
            <a:off x="457200" y="228600"/>
            <a:ext cx="8229600" cy="9525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048577" name="文本占位符 2"/>
          <p:cNvSpPr>
            <a:spLocks noGrp="1"/>
          </p:cNvSpPr>
          <p:nvPr>
            <p:ph type="body" idx="1"/>
          </p:nvPr>
        </p:nvSpPr>
        <p:spPr bwMode="auto">
          <a:xfrm>
            <a:off x="457200" y="1333500"/>
            <a:ext cx="8229600" cy="37719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48578" name="页脚占位符 4"/>
          <p:cNvSpPr>
            <a:spLocks noGrp="1"/>
          </p:cNvSpPr>
          <p:nvPr>
            <p:ph type="ftr" sz="quarter" idx="3"/>
          </p:nvPr>
        </p:nvSpPr>
        <p:spPr>
          <a:xfrm>
            <a:off x="3124200" y="5297488"/>
            <a:ext cx="2895600" cy="303212"/>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1048579" name="灯片编号占位符 5"/>
          <p:cNvSpPr>
            <a:spLocks noGrp="1"/>
          </p:cNvSpPr>
          <p:nvPr>
            <p:ph type="sldNum" sz="quarter" idx="4"/>
          </p:nvPr>
        </p:nvSpPr>
        <p:spPr>
          <a:xfrm>
            <a:off x="6553200" y="5297488"/>
            <a:ext cx="2133600" cy="303212"/>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fld id="{47D988E0-0923-471B-B752-8C491CAF1381}" type="slidenum">
              <a:rPr lang="zh-CN" altLang="en-US"/>
              <a:t>‹#›</a:t>
            </a:fld>
            <a:endParaRPr lang="zh-CN" altLang="en-US"/>
          </a:p>
        </p:txBody>
      </p:sp>
      <p:sp>
        <p:nvSpPr>
          <p:cNvPr id="1048580" name="灯片编号占位符 5"/>
          <p:cNvSpPr txBox="1"/>
          <p:nvPr/>
        </p:nvSpPr>
        <p:spPr>
          <a:xfrm>
            <a:off x="476250" y="5297488"/>
            <a:ext cx="2133600" cy="303212"/>
          </a:xfrm>
          <a:prstGeom prst="rect">
            <a:avLst/>
          </a:prstGeom>
        </p:spPr>
        <p:txBody>
          <a:bodyPr/>
          <a:lstStyle>
            <a:lvl1pPr algn="l">
              <a:defRPr b="1">
                <a:solidFill>
                  <a:srgbClr val="C00000"/>
                </a:solidFill>
              </a:defRPr>
            </a:lvl1pPr>
          </a:lstStyle>
          <a:p>
            <a:pPr fontAlgn="auto">
              <a:spcBef>
                <a:spcPts val="0"/>
              </a:spcBef>
              <a:spcAft>
                <a:spcPts val="0"/>
              </a:spcAft>
            </a:pPr>
            <a:fld id="{3269193A-965F-43BD-9767-A88894B205C2}" type="slidenum">
              <a:rPr lang="zh-CN" altLang="en-US" smtClean="0">
                <a:latin typeface="+mn-lt"/>
                <a:ea typeface="+mn-ea"/>
              </a:rPr>
              <a:t>‹#›</a:t>
            </a:fld>
            <a:endParaRPr lang="zh-CN" altLang="en-US" dirty="0">
              <a:latin typeface="+mn-lt"/>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3600" b="1" kern="1200">
          <a:solidFill>
            <a:schemeClr val="tx1"/>
          </a:solidFill>
          <a:latin typeface="+mj-lt"/>
          <a:ea typeface="+mj-ea"/>
          <a:cs typeface="微软雅黑" panose="020B0503020204020204" charset="-122"/>
        </a:defRPr>
      </a:lvl1pPr>
      <a:lvl2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2pPr>
      <a:lvl3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3pPr>
      <a:lvl4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4pPr>
      <a:lvl5pPr algn="l" rtl="0" eaLnBrk="0" fontAlgn="base" hangingPunct="0">
        <a:spcBef>
          <a:spcPct val="0"/>
        </a:spcBef>
        <a:spcAft>
          <a:spcPct val="0"/>
        </a:spcAft>
        <a:defRPr sz="3600" b="1">
          <a:solidFill>
            <a:schemeClr val="tx1"/>
          </a:solidFill>
          <a:latin typeface="Verdana" panose="020B0604030504040204" pitchFamily="34" charset="0"/>
          <a:ea typeface="微软雅黑" panose="020B0503020204020204" charset="-122"/>
          <a:cs typeface="微软雅黑" panose="020B0503020204020204" charset="-122"/>
        </a:defRPr>
      </a:lvl5pPr>
      <a:lvl6pPr marL="4572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6pPr>
      <a:lvl7pPr marL="9144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7pPr>
      <a:lvl8pPr marL="13716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8pPr>
      <a:lvl9pPr marL="1828800" algn="l" rtl="0" fontAlgn="base">
        <a:spcBef>
          <a:spcPct val="0"/>
        </a:spcBef>
        <a:spcAft>
          <a:spcPct val="0"/>
        </a:spcAft>
        <a:defRPr sz="3600" b="1">
          <a:solidFill>
            <a:schemeClr val="tx1"/>
          </a:solidFill>
          <a:latin typeface="Verdana" panose="020B0604030504040204" pitchFamily="34" charset="0"/>
          <a:ea typeface="微软雅黑" panose="020B050302020402020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微软雅黑" panose="020B0503020204020204" charset="-122"/>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微软雅黑" panose="020B0503020204020204" charset="-122"/>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微软雅黑" panose="020B0503020204020204" charset="-122"/>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微软雅黑" panose="020B0503020204020204" charset="-122"/>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微软雅黑" panose="020B050302020402020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2.emf"/><Relationship Id="rId3" Type="http://schemas.openxmlformats.org/officeDocument/2006/relationships/notesSlide" Target="../notesSlides/notesSlide1.xml"/><Relationship Id="rId7" Type="http://schemas.openxmlformats.org/officeDocument/2006/relationships/image" Target="../media/image9.emf"/><Relationship Id="rId12" Type="http://schemas.openxmlformats.org/officeDocument/2006/relationships/oleObject" Target="../embeddings/oleObject6.bin"/><Relationship Id="rId17" Type="http://schemas.openxmlformats.org/officeDocument/2006/relationships/image" Target="../media/image14.emf"/><Relationship Id="rId2" Type="http://schemas.openxmlformats.org/officeDocument/2006/relationships/slideLayout" Target="../slideLayouts/slideLayout2.xml"/><Relationship Id="rId16" Type="http://schemas.openxmlformats.org/officeDocument/2006/relationships/oleObject" Target="../embeddings/oleObject8.bin"/><Relationship Id="rId1" Type="http://schemas.openxmlformats.org/officeDocument/2006/relationships/vmlDrawing" Target="../drawings/vmlDrawing3.vml"/><Relationship Id="rId6" Type="http://schemas.openxmlformats.org/officeDocument/2006/relationships/oleObject" Target="../embeddings/oleObject3.bin"/><Relationship Id="rId11" Type="http://schemas.openxmlformats.org/officeDocument/2006/relationships/image" Target="../media/image11.emf"/><Relationship Id="rId5" Type="http://schemas.openxmlformats.org/officeDocument/2006/relationships/image" Target="../media/image16.jpeg"/><Relationship Id="rId15" Type="http://schemas.openxmlformats.org/officeDocument/2006/relationships/image" Target="../media/image13.emf"/><Relationship Id="rId10" Type="http://schemas.openxmlformats.org/officeDocument/2006/relationships/oleObject" Target="../embeddings/oleObject5.bin"/><Relationship Id="rId4" Type="http://schemas.openxmlformats.org/officeDocument/2006/relationships/image" Target="../media/image15.wmf"/><Relationship Id="rId9" Type="http://schemas.openxmlformats.org/officeDocument/2006/relationships/image" Target="../media/image10.emf"/><Relationship Id="rId14"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7.png"/><Relationship Id="rId3" Type="http://schemas.openxmlformats.org/officeDocument/2006/relationships/notesSlide" Target="../notesSlides/notesSlide3.xml"/><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15.wmf"/><Relationship Id="rId10"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19.emf"/></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18" Type="http://schemas.openxmlformats.org/officeDocument/2006/relationships/image" Target="../media/image54.png"/><Relationship Id="rId26" Type="http://schemas.openxmlformats.org/officeDocument/2006/relationships/image" Target="../media/image47.png"/><Relationship Id="rId3" Type="http://schemas.openxmlformats.org/officeDocument/2006/relationships/image" Target="../media/image40.png"/><Relationship Id="rId21" Type="http://schemas.openxmlformats.org/officeDocument/2006/relationships/image" Target="../media/image57.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2" Type="http://schemas.openxmlformats.org/officeDocument/2006/relationships/notesSlide" Target="../notesSlides/notesSlide6.xml"/><Relationship Id="rId16" Type="http://schemas.openxmlformats.org/officeDocument/2006/relationships/image" Target="../media/image52.png"/><Relationship Id="rId20" Type="http://schemas.openxmlformats.org/officeDocument/2006/relationships/image" Target="../media/image56.png"/><Relationship Id="rId29"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44.png"/><Relationship Id="rId24" Type="http://schemas.openxmlformats.org/officeDocument/2006/relationships/image" Target="../media/image60.png"/><Relationship Id="rId5" Type="http://schemas.openxmlformats.org/officeDocument/2006/relationships/image" Target="../media/image42.png"/><Relationship Id="rId15" Type="http://schemas.openxmlformats.org/officeDocument/2006/relationships/image" Target="../media/image51.png"/><Relationship Id="rId23" Type="http://schemas.openxmlformats.org/officeDocument/2006/relationships/image" Target="../media/image59.png"/><Relationship Id="rId28" Type="http://schemas.openxmlformats.org/officeDocument/2006/relationships/image" Target="../media/image63.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1.png"/><Relationship Id="rId9" Type="http://schemas.openxmlformats.org/officeDocument/2006/relationships/image" Target="../media/image43.png"/><Relationship Id="rId14" Type="http://schemas.openxmlformats.org/officeDocument/2006/relationships/image" Target="../media/image50.png"/><Relationship Id="rId22" Type="http://schemas.openxmlformats.org/officeDocument/2006/relationships/image" Target="../media/image58.png"/><Relationship Id="rId27" Type="http://schemas.openxmlformats.org/officeDocument/2006/relationships/image" Target="../media/image62.png"/></Relationships>
</file>

<file path=ppt/slides/_rels/slide9.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7" Type="http://schemas.openxmlformats.org/officeDocument/2006/relationships/image" Target="../media/image69.png"/><Relationship Id="rId2" Type="http://schemas.openxmlformats.org/officeDocument/2006/relationships/notesSlide" Target="../notesSlides/notesSlide7.xml"/><Relationship Id="rId16" Type="http://schemas.openxmlformats.org/officeDocument/2006/relationships/image" Target="../media/image77.png"/><Relationship Id="rId29"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45" Type="http://schemas.openxmlformats.org/officeDocument/2006/relationships/image" Target="../media/image106.png"/><Relationship Id="rId5" Type="http://schemas.openxmlformats.org/officeDocument/2006/relationships/image" Target="../media/image67.png"/><Relationship Id="rId15" Type="http://schemas.openxmlformats.org/officeDocument/2006/relationships/image" Target="../media/image15.wmf"/><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10" Type="http://schemas.openxmlformats.org/officeDocument/2006/relationships/image" Target="../media/image72.png"/><Relationship Id="rId19" Type="http://schemas.openxmlformats.org/officeDocument/2006/relationships/image" Target="../media/image80.png"/><Relationship Id="rId31" Type="http://schemas.openxmlformats.org/officeDocument/2006/relationships/image" Target="../media/image92.png"/><Relationship Id="rId44" Type="http://schemas.openxmlformats.org/officeDocument/2006/relationships/image" Target="../media/image105.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8" Type="http://schemas.openxmlformats.org/officeDocument/2006/relationships/image" Target="../media/image70.png"/><Relationship Id="rId3" Type="http://schemas.openxmlformats.org/officeDocument/2006/relationships/image" Target="../media/image64.png"/><Relationship Id="rId12" Type="http://schemas.openxmlformats.org/officeDocument/2006/relationships/image" Target="../media/image74.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 Id="rId46" Type="http://schemas.openxmlformats.org/officeDocument/2006/relationships/image" Target="../media/image107.png"/><Relationship Id="rId20" Type="http://schemas.openxmlformats.org/officeDocument/2006/relationships/image" Target="../media/image81.png"/><Relationship Id="rId41" Type="http://schemas.openxmlformats.org/officeDocument/2006/relationships/image" Target="../media/image102.png"/></Relationships>
</file>

<file path=ppt/slides/_rels/slide10.xml.rels><?xml version="1.0" encoding="UTF-8" standalone="yes"?>
<Relationships xmlns="http://schemas.openxmlformats.org/package/2006/relationships"><Relationship Id="rId8" Type="http://schemas.openxmlformats.org/officeDocument/2006/relationships/image" Target="../media/image64.emf"/><Relationship Id="rId13" Type="http://schemas.openxmlformats.org/officeDocument/2006/relationships/image" Target="../media/image110.png"/><Relationship Id="rId3" Type="http://schemas.openxmlformats.org/officeDocument/2006/relationships/notesSlide" Target="../notesSlides/notesSlide8.xml"/><Relationship Id="rId7" Type="http://schemas.openxmlformats.org/officeDocument/2006/relationships/oleObject" Target="../embeddings/oleObject10.bin"/><Relationship Id="rId12" Type="http://schemas.openxmlformats.org/officeDocument/2006/relationships/image" Target="../media/image6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09.png"/><Relationship Id="rId11" Type="http://schemas.openxmlformats.org/officeDocument/2006/relationships/oleObject" Target="../embeddings/oleObject12.bin"/><Relationship Id="rId5" Type="http://schemas.openxmlformats.org/officeDocument/2006/relationships/image" Target="../media/image108.png"/><Relationship Id="rId10" Type="http://schemas.openxmlformats.org/officeDocument/2006/relationships/image" Target="../media/image65.emf"/><Relationship Id="rId4" Type="http://schemas.openxmlformats.org/officeDocument/2006/relationships/image" Target="../media/image15.wmf"/><Relationship Id="rId9"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5.wmf"/><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11.wmf"/><Relationship Id="rId3" Type="http://schemas.openxmlformats.org/officeDocument/2006/relationships/notesSlide" Target="../notesSlides/notesSlide9.xml"/><Relationship Id="rId7" Type="http://schemas.openxmlformats.org/officeDocument/2006/relationships/image" Target="../media/image114.jpeg"/><Relationship Id="rId12" Type="http://schemas.openxmlformats.org/officeDocument/2006/relationships/oleObject" Target="../embeddings/oleObject13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13.jpeg"/><Relationship Id="rId11" Type="http://schemas.openxmlformats.org/officeDocument/2006/relationships/image" Target="../media/image111.wmf"/><Relationship Id="rId5" Type="http://schemas.openxmlformats.org/officeDocument/2006/relationships/image" Target="../media/image112.jpeg"/><Relationship Id="rId10" Type="http://schemas.openxmlformats.org/officeDocument/2006/relationships/oleObject" Target="../embeddings/oleObject13.bin"/><Relationship Id="rId4" Type="http://schemas.openxmlformats.org/officeDocument/2006/relationships/image" Target="../media/image15.wmf"/><Relationship Id="rId9" Type="http://schemas.openxmlformats.org/officeDocument/2006/relationships/image" Target="../media/image118.png"/><Relationship Id="rId14" Type="http://schemas.openxmlformats.org/officeDocument/2006/relationships/image" Target="../media/image123.png"/></Relationships>
</file>

<file path=ppt/slides/_rels/slide13.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3" Type="http://schemas.openxmlformats.org/officeDocument/2006/relationships/image" Target="../media/image120.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 Type="http://schemas.openxmlformats.org/officeDocument/2006/relationships/image" Target="../media/image119.png"/><Relationship Id="rId16"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2.png"/><Relationship Id="rId15" Type="http://schemas.openxmlformats.org/officeDocument/2006/relationships/image" Target="../media/image133.png"/><Relationship Id="rId10" Type="http://schemas.openxmlformats.org/officeDocument/2006/relationships/image" Target="../media/image128.png"/><Relationship Id="rId4" Type="http://schemas.openxmlformats.org/officeDocument/2006/relationships/image" Target="../media/image121.png"/><Relationship Id="rId9" Type="http://schemas.openxmlformats.org/officeDocument/2006/relationships/image" Target="../media/image127.png"/><Relationship Id="rId14" Type="http://schemas.openxmlformats.org/officeDocument/2006/relationships/image" Target="../media/image132.png"/></Relationships>
</file>

<file path=ppt/slides/_rels/slide14.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18" Type="http://schemas.openxmlformats.org/officeDocument/2006/relationships/image" Target="../media/image152.png"/><Relationship Id="rId26" Type="http://schemas.openxmlformats.org/officeDocument/2006/relationships/image" Target="../media/image160.png"/><Relationship Id="rId3" Type="http://schemas.openxmlformats.org/officeDocument/2006/relationships/image" Target="../media/image137.png"/><Relationship Id="rId21" Type="http://schemas.openxmlformats.org/officeDocument/2006/relationships/image" Target="../media/image155.png"/><Relationship Id="rId7" Type="http://schemas.openxmlformats.org/officeDocument/2006/relationships/image" Target="../media/image141.png"/><Relationship Id="rId12" Type="http://schemas.openxmlformats.org/officeDocument/2006/relationships/image" Target="../media/image146.png"/><Relationship Id="rId17" Type="http://schemas.openxmlformats.org/officeDocument/2006/relationships/image" Target="../media/image151.png"/><Relationship Id="rId25" Type="http://schemas.openxmlformats.org/officeDocument/2006/relationships/image" Target="../media/image159.png"/><Relationship Id="rId2" Type="http://schemas.openxmlformats.org/officeDocument/2006/relationships/image" Target="../media/image136.png"/><Relationship Id="rId16" Type="http://schemas.openxmlformats.org/officeDocument/2006/relationships/image" Target="../media/image150.png"/><Relationship Id="rId20"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40.png"/><Relationship Id="rId11" Type="http://schemas.openxmlformats.org/officeDocument/2006/relationships/image" Target="../media/image145.png"/><Relationship Id="rId24" Type="http://schemas.openxmlformats.org/officeDocument/2006/relationships/image" Target="../media/image158.png"/><Relationship Id="rId5" Type="http://schemas.openxmlformats.org/officeDocument/2006/relationships/image" Target="../media/image139.png"/><Relationship Id="rId15" Type="http://schemas.openxmlformats.org/officeDocument/2006/relationships/image" Target="../media/image149.png"/><Relationship Id="rId23" Type="http://schemas.openxmlformats.org/officeDocument/2006/relationships/image" Target="../media/image157.png"/><Relationship Id="rId10" Type="http://schemas.openxmlformats.org/officeDocument/2006/relationships/image" Target="../media/image144.png"/><Relationship Id="rId19" Type="http://schemas.openxmlformats.org/officeDocument/2006/relationships/image" Target="../media/image153.png"/><Relationship Id="rId4" Type="http://schemas.openxmlformats.org/officeDocument/2006/relationships/image" Target="../media/image138.png"/><Relationship Id="rId9" Type="http://schemas.openxmlformats.org/officeDocument/2006/relationships/image" Target="../media/image143.png"/><Relationship Id="rId14" Type="http://schemas.openxmlformats.org/officeDocument/2006/relationships/image" Target="../media/image148.png"/><Relationship Id="rId22" Type="http://schemas.openxmlformats.org/officeDocument/2006/relationships/image" Target="../media/image156.png"/><Relationship Id="rId27" Type="http://schemas.openxmlformats.org/officeDocument/2006/relationships/image" Target="../media/image161.png"/></Relationships>
</file>

<file path=ppt/slides/_rels/slide1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 Id="rId5" Type="http://schemas.openxmlformats.org/officeDocument/2006/relationships/image" Target="../media/image165.png"/><Relationship Id="rId4" Type="http://schemas.openxmlformats.org/officeDocument/2006/relationships/image" Target="../media/image164.png"/></Relationships>
</file>

<file path=ppt/slides/_rels/slide16.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7.png"/><Relationship Id="rId7" Type="http://schemas.openxmlformats.org/officeDocument/2006/relationships/image" Target="../media/image1290.png"/><Relationship Id="rId2" Type="http://schemas.openxmlformats.org/officeDocument/2006/relationships/image" Target="../media/image166.png"/><Relationship Id="rId1" Type="http://schemas.openxmlformats.org/officeDocument/2006/relationships/slideLayout" Target="../slideLayouts/slideLayout2.xml"/><Relationship Id="rId11" Type="http://schemas.openxmlformats.org/officeDocument/2006/relationships/image" Target="../media/image172.png"/><Relationship Id="rId10" Type="http://schemas.openxmlformats.org/officeDocument/2006/relationships/image" Target="../media/image171.png"/><Relationship Id="rId4" Type="http://schemas.openxmlformats.org/officeDocument/2006/relationships/image" Target="../media/image168.png"/><Relationship Id="rId9" Type="http://schemas.openxmlformats.org/officeDocument/2006/relationships/image" Target="../media/image170.png"/></Relationships>
</file>

<file path=ppt/slides/_rels/slide17.xml.rels><?xml version="1.0" encoding="UTF-8" standalone="yes"?>
<Relationships xmlns="http://schemas.openxmlformats.org/package/2006/relationships"><Relationship Id="rId8" Type="http://schemas.openxmlformats.org/officeDocument/2006/relationships/image" Target="../media/image1360.png"/><Relationship Id="rId2" Type="http://schemas.openxmlformats.org/officeDocument/2006/relationships/image" Target="../media/image173.png"/><Relationship Id="rId1" Type="http://schemas.openxmlformats.org/officeDocument/2006/relationships/slideLayout" Target="../slideLayouts/slideLayout2.xml"/><Relationship Id="rId10" Type="http://schemas.openxmlformats.org/officeDocument/2006/relationships/image" Target="../media/image174.png"/><Relationship Id="rId9" Type="http://schemas.openxmlformats.org/officeDocument/2006/relationships/image" Target="../media/image1370.png"/></Relationships>
</file>

<file path=ppt/slides/_rels/slide18.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39.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标题 3"/>
          <p:cNvSpPr>
            <a:spLocks noGrp="1"/>
          </p:cNvSpPr>
          <p:nvPr>
            <p:ph type="title"/>
          </p:nvPr>
        </p:nvSpPr>
        <p:spPr>
          <a:solidFill>
            <a:srgbClr val="FFFFFF"/>
          </a:solidFill>
        </p:spPr>
        <p:txBody>
          <a:bodyPr/>
          <a:lstStyle/>
          <a:p>
            <a:pPr eaLnBrk="1" hangingPunct="1"/>
            <a:r>
              <a:rPr lang="zh-CN" altLang="en-US" sz="2400" b="0" smtClean="0">
                <a:solidFill>
                  <a:srgbClr val="C00000"/>
                </a:solidFill>
                <a:ea typeface="黑体" panose="02010609060101010101" pitchFamily="49" charset="-122"/>
              </a:rPr>
              <a:t>本章内容</a:t>
            </a:r>
          </a:p>
        </p:txBody>
      </p:sp>
      <p:sp>
        <p:nvSpPr>
          <p:cNvPr id="54" name="Rectangle 62"/>
          <p:cNvSpPr>
            <a:spLocks noRot="1" noChangeArrowheads="1"/>
          </p:cNvSpPr>
          <p:nvPr/>
        </p:nvSpPr>
        <p:spPr bwMode="auto">
          <a:xfrm>
            <a:off x="388913" y="1489348"/>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了解应力的种类及其特点；</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5" name="Rectangle 63"/>
          <p:cNvSpPr>
            <a:spLocks noRot="1" noChangeArrowheads="1"/>
          </p:cNvSpPr>
          <p:nvPr/>
        </p:nvSpPr>
        <p:spPr bwMode="auto">
          <a:xfrm>
            <a:off x="390503" y="1922737"/>
            <a:ext cx="8423346" cy="287337"/>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a:t>
            </a:r>
            <a:r>
              <a:rPr lang="zh-CN" altLang="en-US" sz="2100" b="1" dirty="0" smtClean="0">
                <a:solidFill>
                  <a:srgbClr val="FF0000"/>
                </a:solidFill>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疲劳曲线</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及</a:t>
            </a:r>
            <a:r>
              <a:rPr lang="zh-CN" altLang="en-US" sz="2100" b="1" dirty="0" smtClean="0">
                <a:solidFill>
                  <a:srgbClr val="FF0000"/>
                </a:solidFill>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极限应力曲线</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的意义和用途；</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6" name="Rectangle 62"/>
          <p:cNvSpPr>
            <a:spLocks noRot="1" noChangeArrowheads="1"/>
          </p:cNvSpPr>
          <p:nvPr/>
        </p:nvSpPr>
        <p:spPr bwMode="auto">
          <a:xfrm>
            <a:off x="388913" y="2356125"/>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能根据给定参数</a:t>
            </a:r>
            <a:r>
              <a:rPr lang="zh-CN" altLang="en-US" sz="2100" b="1" dirty="0" smtClean="0">
                <a:solidFill>
                  <a:srgbClr val="FF00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绘制零件的极限应力简化线图</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7" name="Rectangle 63"/>
          <p:cNvSpPr>
            <a:spLocks noRot="1" noChangeArrowheads="1"/>
          </p:cNvSpPr>
          <p:nvPr/>
        </p:nvSpPr>
        <p:spPr bwMode="auto">
          <a:xfrm>
            <a:off x="390503" y="2789513"/>
            <a:ext cx="8423346" cy="287337"/>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solidFill>
                  <a:srgbClr val="FF0000"/>
                </a:solidFill>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掌握单向变应力时的强度计算方法</a:t>
            </a:r>
            <a:r>
              <a:rPr lang="zh-CN" altLang="en-US" sz="2100" b="1" dirty="0" smtClean="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rPr>
              <a:t>，了解应力等效转化的概念；</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8" name="Rectangle 62"/>
          <p:cNvSpPr>
            <a:spLocks noRot="1" noChangeArrowheads="1"/>
          </p:cNvSpPr>
          <p:nvPr/>
        </p:nvSpPr>
        <p:spPr bwMode="auto">
          <a:xfrm>
            <a:off x="388913" y="3222900"/>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了解疲劳损伤累积假说</a:t>
            </a:r>
            <a:r>
              <a:rPr lang="en-US" altLang="zh-CN"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(Miner</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法则</a:t>
            </a:r>
            <a:r>
              <a:rPr lang="en-US" altLang="zh-CN"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的意义及其应用方法；</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59" name="Rectangle 62"/>
          <p:cNvSpPr>
            <a:spLocks noRot="1" noChangeArrowheads="1"/>
          </p:cNvSpPr>
          <p:nvPr/>
        </p:nvSpPr>
        <p:spPr bwMode="auto">
          <a:xfrm>
            <a:off x="395536" y="3656287"/>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了解双向变应力时的强度校核方法；</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
        <p:nvSpPr>
          <p:cNvPr id="60" name="Rectangle 62"/>
          <p:cNvSpPr>
            <a:spLocks noRot="1" noChangeArrowheads="1"/>
          </p:cNvSpPr>
          <p:nvPr/>
        </p:nvSpPr>
        <p:spPr bwMode="auto">
          <a:xfrm>
            <a:off x="387822" y="4089674"/>
            <a:ext cx="8424936" cy="287338"/>
          </a:xfrm>
          <a:prstGeom prst="rect">
            <a:avLst/>
          </a:prstGeom>
          <a:noFill/>
          <a:ln w="9525">
            <a:noFill/>
            <a:miter lim="800000"/>
          </a:ln>
          <a:effectLst/>
        </p:spPr>
        <p:txBody>
          <a:bodyPr/>
          <a:lstStyle/>
          <a:p>
            <a:pPr marL="342900" indent="-342900" eaLnBrk="0" hangingPunct="0">
              <a:lnSpc>
                <a:spcPct val="80000"/>
              </a:lnSpc>
              <a:spcBef>
                <a:spcPct val="20000"/>
              </a:spcBef>
              <a:buFont typeface="Arial" panose="020B0604020202020204" pitchFamily="34" charset="0"/>
              <a:buNone/>
            </a:pPr>
            <a:r>
              <a:rPr lang="zh-CN" altLang="en-US" sz="2100" b="1" dirty="0">
                <a:solidFill>
                  <a:srgbClr val="CC3300"/>
                </a:solidFill>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 </a:t>
            </a:r>
            <a:r>
              <a:rPr lang="zh-CN" altLang="en-US" sz="2100" b="1" dirty="0" smtClean="0">
                <a:effectLst>
                  <a:outerShdw blurRad="38100" dist="38100" dir="2700000" algn="tl">
                    <a:srgbClr val="C0C0C0"/>
                  </a:outerShdw>
                </a:effectLst>
                <a:latin typeface="宋体" panose="02010600030101010101" pitchFamily="2" charset="-122"/>
                <a:ea typeface="仿宋_GB2312" pitchFamily="49" charset="-122"/>
                <a:cs typeface="微软雅黑" panose="020B0503020204020204" charset="-122"/>
              </a:rPr>
              <a:t>了解接触疲劳强度的概念。</a:t>
            </a:r>
            <a:endParaRPr lang="zh-CN" altLang="en-US" sz="2100" b="1" dirty="0">
              <a:effectLst>
                <a:outerShdw blurRad="38100" dist="38100" dir="2700000" algn="tl">
                  <a:srgbClr val="C0C0C0"/>
                </a:outerShdw>
              </a:effectLst>
              <a:latin typeface="Verdana" panose="020B0604030504040204" pitchFamily="34" charset="0"/>
              <a:ea typeface="仿宋_GB2312" pitchFamily="49"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1000" fill="hold"/>
                                        <p:tgtEl>
                                          <p:spTgt spid="54"/>
                                        </p:tgtEl>
                                        <p:attrNameLst>
                                          <p:attrName>ppt_x</p:attrName>
                                        </p:attrNameLst>
                                      </p:cBhvr>
                                      <p:tavLst>
                                        <p:tav tm="0">
                                          <p:val>
                                            <p:strVal val="#ppt_x"/>
                                          </p:val>
                                        </p:tav>
                                        <p:tav tm="100000">
                                          <p:val>
                                            <p:strVal val="#ppt_x"/>
                                          </p:val>
                                        </p:tav>
                                      </p:tavLst>
                                    </p:anim>
                                    <p:anim calcmode="lin" valueType="num">
                                      <p:cBhvr additive="base">
                                        <p:cTn id="8" dur="10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additive="base">
                                        <p:cTn id="13" dur="1000" fill="hold"/>
                                        <p:tgtEl>
                                          <p:spTgt spid="55"/>
                                        </p:tgtEl>
                                        <p:attrNameLst>
                                          <p:attrName>ppt_x</p:attrName>
                                        </p:attrNameLst>
                                      </p:cBhvr>
                                      <p:tavLst>
                                        <p:tav tm="0">
                                          <p:val>
                                            <p:strVal val="#ppt_x"/>
                                          </p:val>
                                        </p:tav>
                                        <p:tav tm="100000">
                                          <p:val>
                                            <p:strVal val="#ppt_x"/>
                                          </p:val>
                                        </p:tav>
                                      </p:tavLst>
                                    </p:anim>
                                    <p:anim calcmode="lin" valueType="num">
                                      <p:cBhvr additive="base">
                                        <p:cTn id="14" dur="10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additive="base">
                                        <p:cTn id="19" dur="1000" fill="hold"/>
                                        <p:tgtEl>
                                          <p:spTgt spid="56"/>
                                        </p:tgtEl>
                                        <p:attrNameLst>
                                          <p:attrName>ppt_x</p:attrName>
                                        </p:attrNameLst>
                                      </p:cBhvr>
                                      <p:tavLst>
                                        <p:tav tm="0">
                                          <p:val>
                                            <p:strVal val="#ppt_x"/>
                                          </p:val>
                                        </p:tav>
                                        <p:tav tm="100000">
                                          <p:val>
                                            <p:strVal val="#ppt_x"/>
                                          </p:val>
                                        </p:tav>
                                      </p:tavLst>
                                    </p:anim>
                                    <p:anim calcmode="lin" valueType="num">
                                      <p:cBhvr additive="base">
                                        <p:cTn id="20" dur="10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additive="base">
                                        <p:cTn id="25" dur="1000" fill="hold"/>
                                        <p:tgtEl>
                                          <p:spTgt spid="57"/>
                                        </p:tgtEl>
                                        <p:attrNameLst>
                                          <p:attrName>ppt_x</p:attrName>
                                        </p:attrNameLst>
                                      </p:cBhvr>
                                      <p:tavLst>
                                        <p:tav tm="0">
                                          <p:val>
                                            <p:strVal val="#ppt_x"/>
                                          </p:val>
                                        </p:tav>
                                        <p:tav tm="100000">
                                          <p:val>
                                            <p:strVal val="#ppt_x"/>
                                          </p:val>
                                        </p:tav>
                                      </p:tavLst>
                                    </p:anim>
                                    <p:anim calcmode="lin" valueType="num">
                                      <p:cBhvr additive="base">
                                        <p:cTn id="26" dur="10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additive="base">
                                        <p:cTn id="31" dur="1000" fill="hold"/>
                                        <p:tgtEl>
                                          <p:spTgt spid="58"/>
                                        </p:tgtEl>
                                        <p:attrNameLst>
                                          <p:attrName>ppt_x</p:attrName>
                                        </p:attrNameLst>
                                      </p:cBhvr>
                                      <p:tavLst>
                                        <p:tav tm="0">
                                          <p:val>
                                            <p:strVal val="#ppt_x"/>
                                          </p:val>
                                        </p:tav>
                                        <p:tav tm="100000">
                                          <p:val>
                                            <p:strVal val="#ppt_x"/>
                                          </p:val>
                                        </p:tav>
                                      </p:tavLst>
                                    </p:anim>
                                    <p:anim calcmode="lin" valueType="num">
                                      <p:cBhvr additive="base">
                                        <p:cTn id="32" dur="10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anim calcmode="lin" valueType="num">
                                      <p:cBhvr additive="base">
                                        <p:cTn id="37" dur="1000" fill="hold"/>
                                        <p:tgtEl>
                                          <p:spTgt spid="59"/>
                                        </p:tgtEl>
                                        <p:attrNameLst>
                                          <p:attrName>ppt_x</p:attrName>
                                        </p:attrNameLst>
                                      </p:cBhvr>
                                      <p:tavLst>
                                        <p:tav tm="0">
                                          <p:val>
                                            <p:strVal val="#ppt_x"/>
                                          </p:val>
                                        </p:tav>
                                        <p:tav tm="100000">
                                          <p:val>
                                            <p:strVal val="#ppt_x"/>
                                          </p:val>
                                        </p:tav>
                                      </p:tavLst>
                                    </p:anim>
                                    <p:anim calcmode="lin" valueType="num">
                                      <p:cBhvr additive="base">
                                        <p:cTn id="38" dur="10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anim calcmode="lin" valueType="num">
                                      <p:cBhvr additive="base">
                                        <p:cTn id="43" dur="1000" fill="hold"/>
                                        <p:tgtEl>
                                          <p:spTgt spid="60"/>
                                        </p:tgtEl>
                                        <p:attrNameLst>
                                          <p:attrName>ppt_x</p:attrName>
                                        </p:attrNameLst>
                                      </p:cBhvr>
                                      <p:tavLst>
                                        <p:tav tm="0">
                                          <p:val>
                                            <p:strVal val="#ppt_x"/>
                                          </p:val>
                                        </p:tav>
                                        <p:tav tm="100000">
                                          <p:val>
                                            <p:strVal val="#ppt_x"/>
                                          </p:val>
                                        </p:tav>
                                      </p:tavLst>
                                    </p:anim>
                                    <p:anim calcmode="lin" valueType="num">
                                      <p:cBhvr additive="base">
                                        <p:cTn id="44" dur="10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58" grpId="0"/>
      <p:bldP spid="59" grpId="0"/>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 name="组合 1"/>
          <p:cNvGrpSpPr/>
          <p:nvPr/>
        </p:nvGrpSpPr>
        <p:grpSpPr>
          <a:xfrm>
            <a:off x="323528" y="597259"/>
            <a:ext cx="3069436" cy="523220"/>
            <a:chOff x="323528" y="553244"/>
            <a:chExt cx="3069436" cy="523220"/>
          </a:xfrm>
        </p:grpSpPr>
        <p:sp>
          <p:nvSpPr>
            <p:cNvPr id="1048801" name="Text Box 5"/>
            <p:cNvSpPr txBox="1">
              <a:spLocks noChangeArrowheads="1"/>
            </p:cNvSpPr>
            <p:nvPr/>
          </p:nvSpPr>
          <p:spPr bwMode="auto">
            <a:xfrm>
              <a:off x="683568" y="553244"/>
              <a:ext cx="2709396" cy="523220"/>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effectLst/>
                  <a:latin typeface="黑体" pitchFamily="49" charset="-122"/>
                </a:rPr>
                <a:t>交变应力的描述</a:t>
              </a:r>
              <a:endParaRPr lang="zh-CN" altLang="en-US" b="1" dirty="0">
                <a:solidFill>
                  <a:srgbClr val="000099"/>
                </a:solidFill>
                <a:effectLst/>
                <a:latin typeface="黑体" pitchFamily="49" charset="-122"/>
              </a:endParaRPr>
            </a:p>
          </p:txBody>
        </p:sp>
        <p:pic>
          <p:nvPicPr>
            <p:cNvPr id="2097216" name="Picture 15" descr="AR1031"/>
            <p:cNvPicPr>
              <a:picLocks noChangeAspect="1" noChangeArrowheads="1"/>
            </p:cNvPicPr>
            <p:nvPr/>
          </p:nvPicPr>
          <p:blipFill>
            <a:blip r:embed="rId4">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1048803" name="TextBox 44"/>
          <p:cNvSpPr txBox="1">
            <a:spLocks noChangeArrowheads="1"/>
          </p:cNvSpPr>
          <p:nvPr/>
        </p:nvSpPr>
        <p:spPr bwMode="auto">
          <a:xfrm>
            <a:off x="6012159" y="3415580"/>
            <a:ext cx="2376000" cy="1008000"/>
          </a:xfrm>
          <a:prstGeom prst="rect">
            <a:avLst/>
          </a:prstGeom>
          <a:noFill/>
          <a:ln>
            <a:noFill/>
          </a:ln>
        </p:spPr>
        <p:txBody>
          <a:bodyPr>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endParaRPr kumimoji="0" lang="en-US" altLang="zh-CN" sz="2800" b="0" i="0" u="none" strike="noStrike" kern="0" cap="none" spc="0" normalizeH="0" baseline="0" noProof="0" smtClean="0">
              <a:ln>
                <a:noFill/>
              </a:ln>
              <a:solidFill>
                <a:srgbClr val="000000"/>
              </a:solidFill>
              <a:effectLst/>
              <a:uLnTx/>
              <a:uFillTx/>
              <a:latin typeface="Arial" charset="0"/>
              <a:ea typeface="黑体" pitchFamily="2" charset="-122"/>
            </a:endParaRPr>
          </a:p>
          <a:p>
            <a:pPr marL="0" marR="0" lvl="0" indent="0" defTabSz="914400" eaLnBrk="1" fontAlgn="auto" latinLnBrk="0" hangingPunct="1">
              <a:lnSpc>
                <a:spcPct val="100000"/>
              </a:lnSpc>
              <a:spcBef>
                <a:spcPts val="0"/>
              </a:spcBef>
              <a:spcAft>
                <a:spcPts val="0"/>
              </a:spcAft>
              <a:buClrTx/>
              <a:buSzTx/>
              <a:buFontTx/>
              <a:buNone/>
            </a:pPr>
            <a:endParaRPr kumimoji="0" lang="zh-CN" altLang="en-US" sz="2800" b="0" i="0" u="none" strike="noStrike" kern="0" cap="none" spc="0" normalizeH="0" baseline="0" noProof="0" smtClean="0">
              <a:ln>
                <a:noFill/>
              </a:ln>
              <a:solidFill>
                <a:srgbClr val="000000"/>
              </a:solidFill>
              <a:effectLst/>
              <a:uLnTx/>
              <a:uFillTx/>
              <a:latin typeface="Arial" charset="0"/>
              <a:ea typeface="黑体" pitchFamily="2" charset="-122"/>
            </a:endParaRPr>
          </a:p>
        </p:txBody>
      </p:sp>
      <p:pic>
        <p:nvPicPr>
          <p:cNvPr id="2097218" name="Picture 9" descr="T"/>
          <p:cNvPicPr>
            <a:picLocks noChangeAspect="1" noChangeArrowheads="1"/>
          </p:cNvPicPr>
          <p:nvPr/>
        </p:nvPicPr>
        <p:blipFill>
          <a:blip r:embed="rId5"/>
          <a:srcRect/>
          <a:stretch>
            <a:fillRect/>
          </a:stretch>
        </p:blipFill>
        <p:spPr bwMode="auto">
          <a:xfrm>
            <a:off x="5090344" y="693902"/>
            <a:ext cx="3846710" cy="2523638"/>
          </a:xfrm>
          <a:prstGeom prst="rect">
            <a:avLst/>
          </a:prstGeom>
          <a:noFill/>
          <a:ln>
            <a:noFill/>
          </a:ln>
        </p:spPr>
      </p:pic>
      <p:sp>
        <p:nvSpPr>
          <p:cNvPr id="1048804" name="Text Box 11"/>
          <p:cNvSpPr txBox="1">
            <a:spLocks noChangeArrowheads="1"/>
          </p:cNvSpPr>
          <p:nvPr/>
        </p:nvSpPr>
        <p:spPr bwMode="auto">
          <a:xfrm>
            <a:off x="395536" y="1921396"/>
            <a:ext cx="4430712" cy="566738"/>
          </a:xfrm>
          <a:prstGeom prst="rect">
            <a:avLst/>
          </a:prstGeom>
          <a:noFill/>
          <a:ln>
            <a:noFill/>
          </a:ln>
        </p:spPr>
        <p:txBody>
          <a:bodyPr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lnSpc>
                <a:spcPct val="130000"/>
              </a:lnSpc>
            </a:pPr>
            <a:r>
              <a:rPr kumimoji="1" lang="el-GR" altLang="zh-CN" sz="2400" dirty="0">
                <a:latin typeface="华文中宋" pitchFamily="2" charset="-122"/>
                <a:ea typeface="华文中宋" pitchFamily="2" charset="-122"/>
              </a:rPr>
              <a:t>σ</a:t>
            </a:r>
            <a:r>
              <a:rPr kumimoji="1" lang="en-US" altLang="zh-CN" sz="2400" baseline="-25000" dirty="0">
                <a:latin typeface="黑体" pitchFamily="2" charset="-122"/>
              </a:rPr>
              <a:t>a</a:t>
            </a:r>
            <a:r>
              <a:rPr kumimoji="1" lang="en-US" altLang="zh-CN" sz="2400" dirty="0">
                <a:latin typeface="黑体" pitchFamily="2" charset="-122"/>
              </a:rPr>
              <a:t>─</a:t>
            </a:r>
            <a:r>
              <a:rPr kumimoji="1" lang="zh-CN" altLang="en-US" sz="2400" dirty="0">
                <a:latin typeface="黑体" pitchFamily="2" charset="-122"/>
              </a:rPr>
              <a:t>应力幅值；</a:t>
            </a:r>
            <a:r>
              <a:rPr kumimoji="1" lang="el-GR" altLang="zh-CN" sz="2400" dirty="0">
                <a:latin typeface="华文中宋" pitchFamily="2" charset="-122"/>
                <a:ea typeface="华文中宋" pitchFamily="2" charset="-122"/>
              </a:rPr>
              <a:t>σ</a:t>
            </a:r>
            <a:r>
              <a:rPr kumimoji="1" lang="en-US" altLang="zh-CN" sz="2400" baseline="-25000" dirty="0">
                <a:latin typeface="黑体" pitchFamily="2" charset="-122"/>
              </a:rPr>
              <a:t>m</a:t>
            </a:r>
            <a:r>
              <a:rPr kumimoji="1" lang="en-US" altLang="zh-CN" sz="2400" dirty="0">
                <a:latin typeface="黑体" pitchFamily="2" charset="-122"/>
              </a:rPr>
              <a:t>─</a:t>
            </a:r>
            <a:r>
              <a:rPr kumimoji="1" lang="zh-CN" altLang="en-US" sz="2400" dirty="0">
                <a:latin typeface="黑体" pitchFamily="2" charset="-122"/>
              </a:rPr>
              <a:t>平均应力 </a:t>
            </a:r>
          </a:p>
        </p:txBody>
      </p:sp>
      <p:sp>
        <p:nvSpPr>
          <p:cNvPr id="1048805" name="Text Box 12"/>
          <p:cNvSpPr txBox="1">
            <a:spLocks noChangeArrowheads="1"/>
          </p:cNvSpPr>
          <p:nvPr/>
        </p:nvSpPr>
        <p:spPr bwMode="auto">
          <a:xfrm>
            <a:off x="395536" y="1286818"/>
            <a:ext cx="4794250" cy="566737"/>
          </a:xfrm>
          <a:prstGeom prst="rect">
            <a:avLst/>
          </a:prstGeom>
          <a:noFill/>
          <a:ln>
            <a:noFill/>
          </a:ln>
        </p:spPr>
        <p:txBody>
          <a:bodyPr wrap="none"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lnSpc>
                <a:spcPct val="130000"/>
              </a:lnSpc>
            </a:pPr>
            <a:r>
              <a:rPr kumimoji="1" lang="el-GR" altLang="zh-CN" sz="2400" dirty="0">
                <a:latin typeface="华文中宋" pitchFamily="2" charset="-122"/>
                <a:ea typeface="华文中宋" pitchFamily="2" charset="-122"/>
              </a:rPr>
              <a:t>σ</a:t>
            </a:r>
            <a:r>
              <a:rPr kumimoji="1" lang="en-US" altLang="zh-CN" sz="2400" baseline="-25000" dirty="0">
                <a:latin typeface="黑体" pitchFamily="2" charset="-122"/>
              </a:rPr>
              <a:t>max</a:t>
            </a:r>
            <a:r>
              <a:rPr kumimoji="1" lang="en-US" altLang="zh-CN" sz="2400" dirty="0">
                <a:latin typeface="黑体" pitchFamily="2" charset="-122"/>
              </a:rPr>
              <a:t>─</a:t>
            </a:r>
            <a:r>
              <a:rPr kumimoji="1" lang="zh-CN" altLang="en-US" sz="2400" dirty="0">
                <a:latin typeface="黑体" pitchFamily="2" charset="-122"/>
              </a:rPr>
              <a:t>最大应力；</a:t>
            </a:r>
            <a:r>
              <a:rPr kumimoji="1" lang="el-GR" altLang="zh-CN" sz="2400" dirty="0">
                <a:latin typeface="华文中宋" pitchFamily="2" charset="-122"/>
                <a:ea typeface="华文中宋" pitchFamily="2" charset="-122"/>
              </a:rPr>
              <a:t>σ</a:t>
            </a:r>
            <a:r>
              <a:rPr kumimoji="1" lang="en-US" altLang="zh-CN" sz="2400" baseline="-25000" dirty="0">
                <a:latin typeface="黑体" pitchFamily="2" charset="-122"/>
              </a:rPr>
              <a:t>min</a:t>
            </a:r>
            <a:r>
              <a:rPr kumimoji="1" lang="en-US" altLang="zh-CN" sz="2400" dirty="0">
                <a:latin typeface="黑体" pitchFamily="2" charset="-122"/>
              </a:rPr>
              <a:t>─</a:t>
            </a:r>
            <a:r>
              <a:rPr kumimoji="1" lang="zh-CN" altLang="en-US" sz="2400" dirty="0">
                <a:latin typeface="黑体" pitchFamily="2" charset="-122"/>
              </a:rPr>
              <a:t>最小应力  </a:t>
            </a:r>
          </a:p>
        </p:txBody>
      </p:sp>
      <p:sp>
        <p:nvSpPr>
          <p:cNvPr id="1048806" name="Text Box 13"/>
          <p:cNvSpPr txBox="1">
            <a:spLocks noChangeArrowheads="1"/>
          </p:cNvSpPr>
          <p:nvPr/>
        </p:nvSpPr>
        <p:spPr bwMode="auto">
          <a:xfrm>
            <a:off x="395536" y="2569468"/>
            <a:ext cx="3721188" cy="463846"/>
          </a:xfrm>
          <a:prstGeom prst="rect">
            <a:avLst/>
          </a:prstGeom>
          <a:noFill/>
          <a:ln>
            <a:noFill/>
          </a:ln>
        </p:spPr>
        <p:txBody>
          <a:bodyPr wrap="none"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kumimoji="1" lang="en-US" altLang="zh-CN" sz="2400" i="1" dirty="0">
                <a:solidFill>
                  <a:srgbClr val="FF0000"/>
                </a:solidFill>
                <a:latin typeface="黑体" pitchFamily="2" charset="-122"/>
              </a:rPr>
              <a:t>r</a:t>
            </a:r>
            <a:r>
              <a:rPr kumimoji="1" lang="en-US" altLang="zh-CN" sz="2400" i="1" dirty="0">
                <a:latin typeface="黑体" pitchFamily="2" charset="-122"/>
              </a:rPr>
              <a:t> </a:t>
            </a:r>
            <a:r>
              <a:rPr kumimoji="1" lang="en-US" altLang="zh-CN" sz="2400" dirty="0" smtClean="0">
                <a:latin typeface="黑体" pitchFamily="2" charset="-122"/>
              </a:rPr>
              <a:t>─— </a:t>
            </a:r>
            <a:r>
              <a:rPr kumimoji="1" lang="zh-CN" altLang="en-US" sz="2400" dirty="0" smtClean="0">
                <a:solidFill>
                  <a:srgbClr val="FF0000"/>
                </a:solidFill>
                <a:latin typeface="黑体" pitchFamily="2" charset="-122"/>
              </a:rPr>
              <a:t>循环特性</a:t>
            </a:r>
            <a:r>
              <a:rPr kumimoji="1" lang="en-US" altLang="zh-CN" sz="2400" dirty="0" smtClean="0">
                <a:solidFill>
                  <a:srgbClr val="FF0000"/>
                </a:solidFill>
                <a:latin typeface="黑体" pitchFamily="2" charset="-122"/>
              </a:rPr>
              <a:t>(</a:t>
            </a:r>
            <a:r>
              <a:rPr kumimoji="1" lang="zh-CN" altLang="en-US" sz="2400" dirty="0" smtClean="0">
                <a:solidFill>
                  <a:srgbClr val="FF0000"/>
                </a:solidFill>
                <a:latin typeface="黑体" pitchFamily="2" charset="-122"/>
              </a:rPr>
              <a:t>应力比</a:t>
            </a:r>
            <a:r>
              <a:rPr kumimoji="1" lang="en-US" altLang="zh-CN" sz="2400" dirty="0" smtClean="0">
                <a:solidFill>
                  <a:srgbClr val="FF0000"/>
                </a:solidFill>
                <a:latin typeface="黑体" pitchFamily="2" charset="-122"/>
              </a:rPr>
              <a:t>)</a:t>
            </a:r>
            <a:endParaRPr kumimoji="1" lang="zh-CN" altLang="en-US" sz="2400" dirty="0">
              <a:latin typeface="黑体" pitchFamily="2" charset="-122"/>
            </a:endParaRPr>
          </a:p>
        </p:txBody>
      </p:sp>
      <p:graphicFrame>
        <p:nvGraphicFramePr>
          <p:cNvPr id="4194322" name="Object 15"/>
          <p:cNvGraphicFramePr>
            <a:graphicFrameLocks noChangeAspect="1"/>
          </p:cNvGraphicFramePr>
          <p:nvPr>
            <p:extLst/>
          </p:nvPr>
        </p:nvGraphicFramePr>
        <p:xfrm>
          <a:off x="3073648" y="4663976"/>
          <a:ext cx="2152650" cy="785812"/>
        </p:xfrm>
        <a:graphic>
          <a:graphicData uri="http://schemas.openxmlformats.org/presentationml/2006/ole">
            <mc:AlternateContent xmlns:mc="http://schemas.openxmlformats.org/markup-compatibility/2006">
              <mc:Choice xmlns:v="urn:schemas-microsoft-com:vml" Requires="v">
                <p:oleObj spid="_x0000_s6037836" name="Equation" r:id="rId6" imgW="1028700" imgH="342900" progId="Equation.3">
                  <p:embed/>
                </p:oleObj>
              </mc:Choice>
              <mc:Fallback>
                <p:oleObj name="Equation" r:id="rId6" imgW="1028700" imgH="342900" progId="Equation.3">
                  <p:embed/>
                  <p:pic>
                    <p:nvPicPr>
                      <p:cNvPr id="0" name=""/>
                      <p:cNvPicPr>
                        <a:picLocks noChangeAspect="1" noChangeArrowheads="1"/>
                      </p:cNvPicPr>
                      <p:nvPr/>
                    </p:nvPicPr>
                    <p:blipFill>
                      <a:blip r:embed="rId7"/>
                      <a:srcRect/>
                      <a:stretch>
                        <a:fillRect/>
                      </a:stretch>
                    </p:blipFill>
                    <p:spPr bwMode="auto">
                      <a:xfrm>
                        <a:off x="3073648" y="4663976"/>
                        <a:ext cx="2152650" cy="785812"/>
                      </a:xfrm>
                      <a:prstGeom prst="rect">
                        <a:avLst/>
                      </a:prstGeom>
                      <a:noFill/>
                      <a:ln>
                        <a:noFill/>
                      </a:ln>
                      <a:effectLst/>
                    </p:spPr>
                  </p:pic>
                </p:oleObj>
              </mc:Fallback>
            </mc:AlternateContent>
          </a:graphicData>
        </a:graphic>
      </p:graphicFrame>
      <p:graphicFrame>
        <p:nvGraphicFramePr>
          <p:cNvPr id="4194323" name="Object 16"/>
          <p:cNvGraphicFramePr>
            <a:graphicFrameLocks noChangeAspect="1"/>
          </p:cNvGraphicFramePr>
          <p:nvPr>
            <p:extLst/>
          </p:nvPr>
        </p:nvGraphicFramePr>
        <p:xfrm>
          <a:off x="441132" y="4651797"/>
          <a:ext cx="2101850" cy="785812"/>
        </p:xfrm>
        <a:graphic>
          <a:graphicData uri="http://schemas.openxmlformats.org/presentationml/2006/ole">
            <mc:AlternateContent xmlns:mc="http://schemas.openxmlformats.org/markup-compatibility/2006">
              <mc:Choice xmlns:v="urn:schemas-microsoft-com:vml" Requires="v">
                <p:oleObj spid="_x0000_s6037837" name="Equation" r:id="rId8" imgW="1009498" imgH="342900" progId="Equation.3">
                  <p:embed/>
                </p:oleObj>
              </mc:Choice>
              <mc:Fallback>
                <p:oleObj name="Equation" r:id="rId8" imgW="1009498" imgH="342900" progId="Equation.3">
                  <p:embed/>
                  <p:pic>
                    <p:nvPicPr>
                      <p:cNvPr id="0" name=""/>
                      <p:cNvPicPr>
                        <a:picLocks noChangeAspect="1" noChangeArrowheads="1"/>
                      </p:cNvPicPr>
                      <p:nvPr/>
                    </p:nvPicPr>
                    <p:blipFill>
                      <a:blip r:embed="rId9"/>
                      <a:srcRect/>
                      <a:stretch>
                        <a:fillRect/>
                      </a:stretch>
                    </p:blipFill>
                    <p:spPr bwMode="auto">
                      <a:xfrm>
                        <a:off x="441132" y="4651797"/>
                        <a:ext cx="2101850" cy="785812"/>
                      </a:xfrm>
                      <a:prstGeom prst="rect">
                        <a:avLst/>
                      </a:prstGeom>
                      <a:noFill/>
                      <a:ln>
                        <a:noFill/>
                      </a:ln>
                      <a:effectLst/>
                    </p:spPr>
                  </p:pic>
                </p:oleObj>
              </mc:Fallback>
            </mc:AlternateContent>
          </a:graphicData>
        </a:graphic>
      </p:graphicFrame>
      <p:graphicFrame>
        <p:nvGraphicFramePr>
          <p:cNvPr id="4194324" name="Object 17"/>
          <p:cNvGraphicFramePr>
            <a:graphicFrameLocks noChangeAspect="1"/>
          </p:cNvGraphicFramePr>
          <p:nvPr>
            <p:extLst/>
          </p:nvPr>
        </p:nvGraphicFramePr>
        <p:xfrm>
          <a:off x="1475656" y="3274228"/>
          <a:ext cx="1800225" cy="457200"/>
        </p:xfrm>
        <a:graphic>
          <a:graphicData uri="http://schemas.openxmlformats.org/presentationml/2006/ole">
            <mc:AlternateContent xmlns:mc="http://schemas.openxmlformats.org/markup-compatibility/2006">
              <mc:Choice xmlns:v="urn:schemas-microsoft-com:vml" Requires="v">
                <p:oleObj spid="_x0000_s6037838" name="公式" r:id="rId10" imgW="857250" imgH="181051" progId="Equation.3">
                  <p:embed/>
                </p:oleObj>
              </mc:Choice>
              <mc:Fallback>
                <p:oleObj name="公式" r:id="rId10" imgW="857250" imgH="181051" progId="Equation.3">
                  <p:embed/>
                  <p:pic>
                    <p:nvPicPr>
                      <p:cNvPr id="0" name=""/>
                      <p:cNvPicPr>
                        <a:picLocks noChangeAspect="1" noChangeArrowheads="1"/>
                      </p:cNvPicPr>
                      <p:nvPr/>
                    </p:nvPicPr>
                    <p:blipFill>
                      <a:blip r:embed="rId11"/>
                      <a:srcRect/>
                      <a:stretch>
                        <a:fillRect/>
                      </a:stretch>
                    </p:blipFill>
                    <p:spPr bwMode="auto">
                      <a:xfrm>
                        <a:off x="1475656" y="3274228"/>
                        <a:ext cx="1800225" cy="457200"/>
                      </a:xfrm>
                      <a:prstGeom prst="rect">
                        <a:avLst/>
                      </a:prstGeom>
                      <a:noFill/>
                      <a:ln w="12700">
                        <a:solidFill>
                          <a:srgbClr val="FF0000"/>
                        </a:solidFill>
                      </a:ln>
                      <a:effectLst/>
                    </p:spPr>
                  </p:pic>
                </p:oleObj>
              </mc:Fallback>
            </mc:AlternateContent>
          </a:graphicData>
        </a:graphic>
      </p:graphicFrame>
      <p:sp>
        <p:nvSpPr>
          <p:cNvPr id="1048807" name="Text Box 13"/>
          <p:cNvSpPr txBox="1">
            <a:spLocks noChangeArrowheads="1"/>
          </p:cNvSpPr>
          <p:nvPr/>
        </p:nvSpPr>
        <p:spPr bwMode="auto">
          <a:xfrm>
            <a:off x="251520" y="3970189"/>
            <a:ext cx="1720850" cy="463550"/>
          </a:xfrm>
          <a:prstGeom prst="rect">
            <a:avLst/>
          </a:prstGeom>
          <a:noFill/>
          <a:ln>
            <a:noFill/>
          </a:ln>
        </p:spPr>
        <p:txBody>
          <a:bodyPr wrap="none"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kumimoji="1" lang="zh-CN" altLang="en-US" sz="2400" dirty="0">
                <a:solidFill>
                  <a:srgbClr val="FF0000"/>
                </a:solidFill>
                <a:latin typeface="黑体" pitchFamily="2" charset="-122"/>
              </a:rPr>
              <a:t>（幅值比）</a:t>
            </a:r>
          </a:p>
        </p:txBody>
      </p:sp>
      <p:graphicFrame>
        <p:nvGraphicFramePr>
          <p:cNvPr id="4194325" name="Object 8"/>
          <p:cNvGraphicFramePr>
            <a:graphicFrameLocks noChangeAspect="1"/>
          </p:cNvGraphicFramePr>
          <p:nvPr>
            <p:extLst/>
          </p:nvPr>
        </p:nvGraphicFramePr>
        <p:xfrm>
          <a:off x="1864420" y="3984476"/>
          <a:ext cx="1393825" cy="457200"/>
        </p:xfrm>
        <a:graphic>
          <a:graphicData uri="http://schemas.openxmlformats.org/presentationml/2006/ole">
            <mc:AlternateContent xmlns:mc="http://schemas.openxmlformats.org/markup-compatibility/2006">
              <mc:Choice xmlns:v="urn:schemas-microsoft-com:vml" Requires="v">
                <p:oleObj spid="_x0000_s6037839" name="Equation" r:id="rId12" imgW="647738" imgH="181051" progId="Equation.DSMT4">
                  <p:embed/>
                </p:oleObj>
              </mc:Choice>
              <mc:Fallback>
                <p:oleObj name="Equation" r:id="rId12" imgW="647738" imgH="181051" progId="Equation.DSMT4">
                  <p:embed/>
                  <p:pic>
                    <p:nvPicPr>
                      <p:cNvPr id="0" name=""/>
                      <p:cNvPicPr>
                        <a:picLocks noChangeAspect="1" noChangeArrowheads="1"/>
                      </p:cNvPicPr>
                      <p:nvPr/>
                    </p:nvPicPr>
                    <p:blipFill>
                      <a:blip r:embed="rId13"/>
                      <a:srcRect/>
                      <a:stretch>
                        <a:fillRect/>
                      </a:stretch>
                    </p:blipFill>
                    <p:spPr bwMode="auto">
                      <a:xfrm>
                        <a:off x="1864420" y="3984476"/>
                        <a:ext cx="1393825" cy="457200"/>
                      </a:xfrm>
                      <a:prstGeom prst="rect">
                        <a:avLst/>
                      </a:prstGeom>
                      <a:noFill/>
                      <a:ln>
                        <a:noFill/>
                      </a:ln>
                      <a:effectLst/>
                    </p:spPr>
                  </p:pic>
                </p:oleObj>
              </mc:Fallback>
            </mc:AlternateContent>
          </a:graphicData>
        </a:graphic>
      </p:graphicFrame>
      <p:graphicFrame>
        <p:nvGraphicFramePr>
          <p:cNvPr id="4194326" name="对象 55"/>
          <p:cNvGraphicFramePr>
            <a:graphicFrameLocks noChangeAspect="1"/>
          </p:cNvGraphicFramePr>
          <p:nvPr>
            <p:extLst/>
          </p:nvPr>
        </p:nvGraphicFramePr>
        <p:xfrm>
          <a:off x="6143923" y="3364780"/>
          <a:ext cx="2127250" cy="471488"/>
        </p:xfrm>
        <a:graphic>
          <a:graphicData uri="http://schemas.openxmlformats.org/presentationml/2006/ole">
            <mc:AlternateContent xmlns:mc="http://schemas.openxmlformats.org/markup-compatibility/2006">
              <mc:Choice xmlns:v="urn:schemas-microsoft-com:vml" Requires="v">
                <p:oleObj spid="_x0000_s6037840" name="公式" r:id="rId14" imgW="1019099" imgH="190652" progId="Equation.3">
                  <p:embed/>
                </p:oleObj>
              </mc:Choice>
              <mc:Fallback>
                <p:oleObj name="公式" r:id="rId14" imgW="1019099" imgH="190652" progId="Equation.3">
                  <p:embed/>
                  <p:pic>
                    <p:nvPicPr>
                      <p:cNvPr id="0" name=""/>
                      <p:cNvPicPr>
                        <a:picLocks noChangeAspect="1" noChangeArrowheads="1"/>
                      </p:cNvPicPr>
                      <p:nvPr/>
                    </p:nvPicPr>
                    <p:blipFill>
                      <a:blip r:embed="rId15"/>
                      <a:srcRect/>
                      <a:stretch>
                        <a:fillRect/>
                      </a:stretch>
                    </p:blipFill>
                    <p:spPr bwMode="auto">
                      <a:xfrm>
                        <a:off x="6143923" y="3364780"/>
                        <a:ext cx="2127250" cy="471488"/>
                      </a:xfrm>
                      <a:prstGeom prst="rect">
                        <a:avLst/>
                      </a:prstGeom>
                      <a:noFill/>
                      <a:ln>
                        <a:noFill/>
                      </a:ln>
                      <a:effectLst/>
                    </p:spPr>
                  </p:pic>
                </p:oleObj>
              </mc:Fallback>
            </mc:AlternateContent>
          </a:graphicData>
        </a:graphic>
      </p:graphicFrame>
      <p:graphicFrame>
        <p:nvGraphicFramePr>
          <p:cNvPr id="4194327" name="对象 56"/>
          <p:cNvGraphicFramePr>
            <a:graphicFrameLocks noChangeAspect="1"/>
          </p:cNvGraphicFramePr>
          <p:nvPr>
            <p:extLst/>
          </p:nvPr>
        </p:nvGraphicFramePr>
        <p:xfrm>
          <a:off x="6151860" y="3896593"/>
          <a:ext cx="2154238" cy="471487"/>
        </p:xfrm>
        <a:graphic>
          <a:graphicData uri="http://schemas.openxmlformats.org/presentationml/2006/ole">
            <mc:AlternateContent xmlns:mc="http://schemas.openxmlformats.org/markup-compatibility/2006">
              <mc:Choice xmlns:v="urn:schemas-microsoft-com:vml" Requires="v">
                <p:oleObj spid="_x0000_s6037841" name="公式" r:id="rId16" imgW="1028700" imgH="190652" progId="Equation.3">
                  <p:embed/>
                </p:oleObj>
              </mc:Choice>
              <mc:Fallback>
                <p:oleObj name="公式" r:id="rId16" imgW="1028700" imgH="190652" progId="Equation.3">
                  <p:embed/>
                  <p:pic>
                    <p:nvPicPr>
                      <p:cNvPr id="0" name=""/>
                      <p:cNvPicPr>
                        <a:picLocks noChangeAspect="1" noChangeArrowheads="1"/>
                      </p:cNvPicPr>
                      <p:nvPr/>
                    </p:nvPicPr>
                    <p:blipFill>
                      <a:blip r:embed="rId17"/>
                      <a:srcRect/>
                      <a:stretch>
                        <a:fillRect/>
                      </a:stretch>
                    </p:blipFill>
                    <p:spPr bwMode="auto">
                      <a:xfrm>
                        <a:off x="6151860" y="3896593"/>
                        <a:ext cx="2154238" cy="471487"/>
                      </a:xfrm>
                      <a:prstGeom prst="rect">
                        <a:avLst/>
                      </a:prstGeom>
                      <a:noFill/>
                      <a:ln>
                        <a:noFill/>
                      </a:ln>
                      <a:effectLst/>
                    </p:spPr>
                  </p:pic>
                </p:oleObj>
              </mc:Fallback>
            </mc:AlternateContent>
          </a:graphicData>
        </a:graphic>
      </p:graphicFrame>
      <p:sp>
        <p:nvSpPr>
          <p:cNvPr id="2" name="TextBox 1"/>
          <p:cNvSpPr txBox="1"/>
          <p:nvPr/>
        </p:nvSpPr>
        <p:spPr>
          <a:xfrm>
            <a:off x="5724128" y="4618791"/>
            <a:ext cx="3024336" cy="830997"/>
          </a:xfrm>
          <a:prstGeom prst="rect">
            <a:avLst/>
          </a:prstGeom>
          <a:noFill/>
        </p:spPr>
        <p:txBody>
          <a:bodyPr wrap="square" rtlCol="0">
            <a:spAutoFit/>
          </a:bodyPr>
          <a:lstStyle/>
          <a:p>
            <a:pPr>
              <a:lnSpc>
                <a:spcPct val="120000"/>
              </a:lnSpc>
            </a:pPr>
            <a:r>
              <a:rPr lang="zh-CN" altLang="en-US" sz="2000" dirty="0">
                <a:latin typeface="+mn-ea"/>
                <a:ea typeface="+mn-ea"/>
              </a:rPr>
              <a:t>变应力特性可用上述</a:t>
            </a:r>
            <a:r>
              <a:rPr lang="zh-CN" altLang="en-US" sz="2000" dirty="0">
                <a:solidFill>
                  <a:srgbClr val="FF0000"/>
                </a:solidFill>
                <a:latin typeface="+mn-ea"/>
                <a:ea typeface="+mn-ea"/>
              </a:rPr>
              <a:t>五大参数</a:t>
            </a:r>
            <a:r>
              <a:rPr lang="zh-CN" altLang="en-US" sz="2000" dirty="0">
                <a:latin typeface="+mn-ea"/>
                <a:ea typeface="+mn-ea"/>
              </a:rPr>
              <a:t>中的任意两个来描述</a:t>
            </a:r>
            <a:r>
              <a:rPr lang="zh-CN" altLang="en-US" sz="2000" dirty="0" smtClean="0">
                <a:latin typeface="+mn-ea"/>
                <a:ea typeface="+mn-ea"/>
              </a:rPr>
              <a:t>。</a:t>
            </a:r>
            <a:endParaRPr lang="zh-CN" altLang="en-US" sz="2000" dirty="0">
              <a:latin typeface="+mn-ea"/>
              <a:ea typeface="+mn-ea"/>
            </a:endParaRPr>
          </a:p>
        </p:txBody>
      </p:sp>
      <p:sp>
        <p:nvSpPr>
          <p:cNvPr id="21" name="单圆角矩形 20"/>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交变应力的描述</a:t>
            </a:r>
            <a:endParaRPr lang="zh-CN" altLang="en-US" sz="1500" dirty="0">
              <a:solidFill>
                <a:srgbClr val="FF6600"/>
              </a:solidFill>
            </a:endParaRPr>
          </a:p>
        </p:txBody>
      </p:sp>
      <p:sp>
        <p:nvSpPr>
          <p:cNvPr id="22" name="直角三角形 21"/>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548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2097218"/>
                                        </p:tgtEl>
                                        <p:attrNameLst>
                                          <p:attrName>style.visibility</p:attrName>
                                        </p:attrNameLst>
                                      </p:cBhvr>
                                      <p:to>
                                        <p:strVal val="visible"/>
                                      </p:to>
                                    </p:set>
                                    <p:animEffect transition="in" filter="wipe(left)">
                                      <p:cBhvr>
                                        <p:cTn id="10" dur="500"/>
                                        <p:tgtEl>
                                          <p:spTgt spid="20972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48805"/>
                                        </p:tgtEl>
                                        <p:attrNameLst>
                                          <p:attrName>style.visibility</p:attrName>
                                        </p:attrNameLst>
                                      </p:cBhvr>
                                      <p:to>
                                        <p:strVal val="visible"/>
                                      </p:to>
                                    </p:set>
                                    <p:animEffect transition="in" filter="wipe(left)">
                                      <p:cBhvr>
                                        <p:cTn id="15" dur="500"/>
                                        <p:tgtEl>
                                          <p:spTgt spid="104880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48804"/>
                                        </p:tgtEl>
                                        <p:attrNameLst>
                                          <p:attrName>style.visibility</p:attrName>
                                        </p:attrNameLst>
                                      </p:cBhvr>
                                      <p:to>
                                        <p:strVal val="visible"/>
                                      </p:to>
                                    </p:set>
                                    <p:animEffect transition="in" filter="wipe(left)">
                                      <p:cBhvr>
                                        <p:cTn id="20" dur="500"/>
                                        <p:tgtEl>
                                          <p:spTgt spid="104880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194323"/>
                                        </p:tgtEl>
                                        <p:attrNameLst>
                                          <p:attrName>style.visibility</p:attrName>
                                        </p:attrNameLst>
                                      </p:cBhvr>
                                      <p:to>
                                        <p:strVal val="visible"/>
                                      </p:to>
                                    </p:set>
                                    <p:animEffect transition="in" filter="wipe(left)">
                                      <p:cBhvr>
                                        <p:cTn id="25" dur="500"/>
                                        <p:tgtEl>
                                          <p:spTgt spid="41943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194322"/>
                                        </p:tgtEl>
                                        <p:attrNameLst>
                                          <p:attrName>style.visibility</p:attrName>
                                        </p:attrNameLst>
                                      </p:cBhvr>
                                      <p:to>
                                        <p:strVal val="visible"/>
                                      </p:to>
                                    </p:set>
                                    <p:animEffect transition="in" filter="wipe(left)">
                                      <p:cBhvr>
                                        <p:cTn id="30" dur="500"/>
                                        <p:tgtEl>
                                          <p:spTgt spid="41943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48806"/>
                                        </p:tgtEl>
                                        <p:attrNameLst>
                                          <p:attrName>style.visibility</p:attrName>
                                        </p:attrNameLst>
                                      </p:cBhvr>
                                      <p:to>
                                        <p:strVal val="visible"/>
                                      </p:to>
                                    </p:set>
                                    <p:animEffect transition="in" filter="wipe(left)">
                                      <p:cBhvr>
                                        <p:cTn id="35" dur="500"/>
                                        <p:tgtEl>
                                          <p:spTgt spid="104880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194324"/>
                                        </p:tgtEl>
                                        <p:attrNameLst>
                                          <p:attrName>style.visibility</p:attrName>
                                        </p:attrNameLst>
                                      </p:cBhvr>
                                      <p:to>
                                        <p:strVal val="visible"/>
                                      </p:to>
                                    </p:set>
                                    <p:animEffect transition="in" filter="wipe(left)">
                                      <p:cBhvr>
                                        <p:cTn id="40" dur="500"/>
                                        <p:tgtEl>
                                          <p:spTgt spid="419432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48807"/>
                                        </p:tgtEl>
                                        <p:attrNameLst>
                                          <p:attrName>style.visibility</p:attrName>
                                        </p:attrNameLst>
                                      </p:cBhvr>
                                      <p:to>
                                        <p:strVal val="visible"/>
                                      </p:to>
                                    </p:set>
                                    <p:animEffect transition="in" filter="wipe(left)">
                                      <p:cBhvr>
                                        <p:cTn id="45" dur="500"/>
                                        <p:tgtEl>
                                          <p:spTgt spid="104880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194325"/>
                                        </p:tgtEl>
                                        <p:attrNameLst>
                                          <p:attrName>style.visibility</p:attrName>
                                        </p:attrNameLst>
                                      </p:cBhvr>
                                      <p:to>
                                        <p:strVal val="visible"/>
                                      </p:to>
                                    </p:set>
                                    <p:animEffect transition="in" filter="wipe(left)">
                                      <p:cBhvr>
                                        <p:cTn id="50" dur="500"/>
                                        <p:tgtEl>
                                          <p:spTgt spid="41943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194326"/>
                                        </p:tgtEl>
                                        <p:attrNameLst>
                                          <p:attrName>style.visibility</p:attrName>
                                        </p:attrNameLst>
                                      </p:cBhvr>
                                      <p:to>
                                        <p:strVal val="visible"/>
                                      </p:to>
                                    </p:set>
                                    <p:animEffect transition="in" filter="wipe(left)">
                                      <p:cBhvr>
                                        <p:cTn id="55" dur="500"/>
                                        <p:tgtEl>
                                          <p:spTgt spid="4194326"/>
                                        </p:tgtEl>
                                      </p:cBhvr>
                                    </p:animEffect>
                                  </p:childTnLst>
                                </p:cTn>
                              </p:par>
                              <p:par>
                                <p:cTn id="56" presetID="22" presetClass="entr" presetSubtype="8" fill="hold" nodeType="withEffect">
                                  <p:stCondLst>
                                    <p:cond delay="0"/>
                                  </p:stCondLst>
                                  <p:childTnLst>
                                    <p:set>
                                      <p:cBhvr>
                                        <p:cTn id="57" dur="1" fill="hold">
                                          <p:stCondLst>
                                            <p:cond delay="0"/>
                                          </p:stCondLst>
                                        </p:cTn>
                                        <p:tgtEl>
                                          <p:spTgt spid="4194327"/>
                                        </p:tgtEl>
                                        <p:attrNameLst>
                                          <p:attrName>style.visibility</p:attrName>
                                        </p:attrNameLst>
                                      </p:cBhvr>
                                      <p:to>
                                        <p:strVal val="visible"/>
                                      </p:to>
                                    </p:set>
                                    <p:animEffect transition="in" filter="wipe(left)">
                                      <p:cBhvr>
                                        <p:cTn id="58" dur="500"/>
                                        <p:tgtEl>
                                          <p:spTgt spid="4194327"/>
                                        </p:tgtEl>
                                      </p:cBhvr>
                                    </p:animEffect>
                                  </p:childTnLst>
                                </p:cTn>
                              </p:par>
                              <p:par>
                                <p:cTn id="59" presetID="2" presetClass="entr" presetSubtype="4" fill="hold" grpId="0" nodeType="withEffect" nodePh="1">
                                  <p:stCondLst>
                                    <p:cond delay="0"/>
                                  </p:stCondLst>
                                  <p:endCondLst>
                                    <p:cond evt="begin" delay="0">
                                      <p:tn val="59"/>
                                    </p:cond>
                                  </p:endCondLst>
                                  <p:childTnLst>
                                    <p:set>
                                      <p:cBhvr>
                                        <p:cTn id="60" dur="1" fill="hold">
                                          <p:stCondLst>
                                            <p:cond delay="0"/>
                                          </p:stCondLst>
                                        </p:cTn>
                                        <p:tgtEl>
                                          <p:spTgt spid="1048803"/>
                                        </p:tgtEl>
                                        <p:attrNameLst>
                                          <p:attrName>style.visibility</p:attrName>
                                        </p:attrNameLst>
                                      </p:cBhvr>
                                      <p:to>
                                        <p:strVal val="visible"/>
                                      </p:to>
                                    </p:set>
                                    <p:anim calcmode="lin" valueType="num">
                                      <p:cBhvr additive="base">
                                        <p:cTn id="61" dur="500" fill="hold"/>
                                        <p:tgtEl>
                                          <p:spTgt spid="1048803"/>
                                        </p:tgtEl>
                                        <p:attrNameLst>
                                          <p:attrName>ppt_x</p:attrName>
                                        </p:attrNameLst>
                                      </p:cBhvr>
                                      <p:tavLst>
                                        <p:tav tm="0">
                                          <p:val>
                                            <p:strVal val="#ppt_x"/>
                                          </p:val>
                                        </p:tav>
                                        <p:tav tm="100000">
                                          <p:val>
                                            <p:strVal val="#ppt_x"/>
                                          </p:val>
                                        </p:tav>
                                      </p:tavLst>
                                    </p:anim>
                                    <p:anim calcmode="lin" valueType="num">
                                      <p:cBhvr additive="base">
                                        <p:cTn id="62" dur="500" fill="hold"/>
                                        <p:tgtEl>
                                          <p:spTgt spid="104880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randombar(horizontal)">
                                      <p:cBhvr>
                                        <p:cTn id="6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03" grpId="0"/>
      <p:bldP spid="1048804" grpId="0"/>
      <p:bldP spid="1048805" grpId="0"/>
      <p:bldP spid="1048806" grpId="0"/>
      <p:bldP spid="1048807"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51"/>
          <p:cNvGrpSpPr/>
          <p:nvPr/>
        </p:nvGrpSpPr>
        <p:grpSpPr>
          <a:xfrm>
            <a:off x="323529" y="553244"/>
            <a:ext cx="3743320" cy="510540"/>
            <a:chOff x="323529" y="553244"/>
            <a:chExt cx="3743320" cy="510540"/>
          </a:xfrm>
        </p:grpSpPr>
        <p:sp>
          <p:nvSpPr>
            <p:cNvPr id="5" name="Text Box 5"/>
            <p:cNvSpPr txBox="1">
              <a:spLocks noChangeArrowheads="1"/>
            </p:cNvSpPr>
            <p:nvPr/>
          </p:nvSpPr>
          <p:spPr bwMode="auto">
            <a:xfrm>
              <a:off x="683568" y="553244"/>
              <a:ext cx="3383281" cy="510540"/>
            </a:xfrm>
            <a:prstGeom prst="rect">
              <a:avLst/>
            </a:prstGeom>
            <a:noFill/>
            <a:ln>
              <a:noFill/>
            </a:ln>
          </p:spPr>
          <p:txBody>
            <a:bodyPr wrap="non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effectLst/>
                  <a:latin typeface="黑体" pitchFamily="49" charset="-122"/>
                </a:rPr>
                <a:t>常见交变应力的类型</a:t>
              </a:r>
              <a:endParaRPr lang="zh-CN" altLang="en-US"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常见交变应力的类型</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 Box 5"/>
          <p:cNvSpPr txBox="1">
            <a:spLocks noChangeArrowheads="1"/>
          </p:cNvSpPr>
          <p:nvPr/>
        </p:nvSpPr>
        <p:spPr bwMode="auto">
          <a:xfrm>
            <a:off x="4283968" y="621148"/>
            <a:ext cx="4860032" cy="430887"/>
          </a:xfrm>
          <a:prstGeom prst="rect">
            <a:avLst/>
          </a:prstGeom>
          <a:noFill/>
          <a:ln w="9525" algn="ctr">
            <a:noFill/>
            <a:miter lim="800000"/>
          </a:ln>
          <a:effectLst/>
        </p:spPr>
        <p:txBody>
          <a:bodyPr wrap="square">
            <a:spAutoFit/>
          </a:bodyPr>
          <a:lstStyle/>
          <a:p>
            <a:pPr marL="342900" indent="-342900">
              <a:spcBef>
                <a:spcPct val="50000"/>
              </a:spcBef>
              <a:buClr>
                <a:srgbClr val="C00000"/>
              </a:buClr>
              <a:buFont typeface="Wingdings" panose="05000000000000000000" pitchFamily="2" charset="2"/>
              <a:buChar char="l"/>
            </a:pPr>
            <a:r>
              <a:rPr lang="zh-CN" altLang="en-US" sz="2200" dirty="0" smtClean="0">
                <a:latin typeface="华文细黑" panose="02010600040101010101" pitchFamily="2" charset="-122"/>
                <a:ea typeface="华文细黑" panose="02010600040101010101" pitchFamily="2" charset="-122"/>
              </a:rPr>
              <a:t>按变应力参数是否随时间变化分为</a:t>
            </a:r>
            <a:endParaRPr lang="zh-CN" altLang="en-US" sz="2200" dirty="0">
              <a:latin typeface="华文细黑" panose="02010600040101010101" pitchFamily="2" charset="-122"/>
              <a:ea typeface="华文细黑" panose="02010600040101010101" pitchFamily="2" charset="-122"/>
            </a:endParaRPr>
          </a:p>
        </p:txBody>
      </p:sp>
      <p:grpSp>
        <p:nvGrpSpPr>
          <p:cNvPr id="52" name="组合 51"/>
          <p:cNvGrpSpPr/>
          <p:nvPr/>
        </p:nvGrpSpPr>
        <p:grpSpPr>
          <a:xfrm>
            <a:off x="215512" y="1372758"/>
            <a:ext cx="8820984" cy="1750589"/>
            <a:chOff x="215512" y="3793604"/>
            <a:chExt cx="8820984" cy="1750589"/>
          </a:xfrm>
        </p:grpSpPr>
        <p:pic>
          <p:nvPicPr>
            <p:cNvPr id="43" name="图片 42"/>
            <p:cNvPicPr>
              <a:picLocks noChangeAspect="1"/>
            </p:cNvPicPr>
            <p:nvPr/>
          </p:nvPicPr>
          <p:blipFill rotWithShape="1">
            <a:blip r:embed="rId4"/>
            <a:srcRect r="11656" b="67257"/>
            <a:stretch/>
          </p:blipFill>
          <p:spPr>
            <a:xfrm>
              <a:off x="215512" y="3793604"/>
              <a:ext cx="2756278" cy="1309232"/>
            </a:xfrm>
            <a:prstGeom prst="rect">
              <a:avLst/>
            </a:prstGeom>
          </p:spPr>
        </p:pic>
        <p:pic>
          <p:nvPicPr>
            <p:cNvPr id="44" name="图片 43"/>
            <p:cNvPicPr>
              <a:picLocks noChangeAspect="1"/>
            </p:cNvPicPr>
            <p:nvPr/>
          </p:nvPicPr>
          <p:blipFill rotWithShape="1">
            <a:blip r:embed="rId4"/>
            <a:srcRect t="34466" b="32791"/>
            <a:stretch/>
          </p:blipFill>
          <p:spPr>
            <a:xfrm>
              <a:off x="3023824" y="3854717"/>
              <a:ext cx="3168352" cy="1329553"/>
            </a:xfrm>
            <a:prstGeom prst="rect">
              <a:avLst/>
            </a:prstGeom>
          </p:spPr>
        </p:pic>
        <p:pic>
          <p:nvPicPr>
            <p:cNvPr id="45" name="图片 44"/>
            <p:cNvPicPr>
              <a:picLocks noChangeAspect="1"/>
            </p:cNvPicPr>
            <p:nvPr/>
          </p:nvPicPr>
          <p:blipFill rotWithShape="1">
            <a:blip r:embed="rId4"/>
            <a:srcRect t="67209" r="13864"/>
            <a:stretch/>
          </p:blipFill>
          <p:spPr>
            <a:xfrm>
              <a:off x="6336192" y="3888214"/>
              <a:ext cx="2700304" cy="1317489"/>
            </a:xfrm>
            <a:prstGeom prst="rect">
              <a:avLst/>
            </a:prstGeom>
          </p:spPr>
        </p:pic>
        <p:sp>
          <p:nvSpPr>
            <p:cNvPr id="46" name="文本框 45"/>
            <p:cNvSpPr txBox="1"/>
            <p:nvPr/>
          </p:nvSpPr>
          <p:spPr>
            <a:xfrm>
              <a:off x="885765" y="5205639"/>
              <a:ext cx="1415772" cy="338554"/>
            </a:xfrm>
            <a:prstGeom prst="rect">
              <a:avLst/>
            </a:prstGeom>
            <a:noFill/>
          </p:spPr>
          <p:txBody>
            <a:bodyPr wrap="none" rtlCol="0">
              <a:spAutoFit/>
            </a:bodyPr>
            <a:lstStyle/>
            <a:p>
              <a:r>
                <a:rPr lang="zh-CN" altLang="en-US" sz="1600" dirty="0" smtClean="0">
                  <a:latin typeface="+mn-ea"/>
                  <a:ea typeface="+mn-ea"/>
                </a:rPr>
                <a:t>稳定交变应力</a:t>
              </a:r>
              <a:endParaRPr lang="zh-CN" altLang="en-US" sz="1600" dirty="0">
                <a:latin typeface="+mn-ea"/>
                <a:ea typeface="+mn-ea"/>
              </a:endParaRPr>
            </a:p>
          </p:txBody>
        </p:sp>
        <p:sp>
          <p:nvSpPr>
            <p:cNvPr id="47" name="文本框 46"/>
            <p:cNvSpPr txBox="1"/>
            <p:nvPr/>
          </p:nvSpPr>
          <p:spPr>
            <a:xfrm>
              <a:off x="3489745" y="5205639"/>
              <a:ext cx="2236510" cy="338554"/>
            </a:xfrm>
            <a:prstGeom prst="rect">
              <a:avLst/>
            </a:prstGeom>
            <a:noFill/>
          </p:spPr>
          <p:txBody>
            <a:bodyPr wrap="none" rtlCol="0">
              <a:spAutoFit/>
            </a:bodyPr>
            <a:lstStyle/>
            <a:p>
              <a:r>
                <a:rPr lang="zh-CN" altLang="en-US" sz="1600" dirty="0" smtClean="0">
                  <a:latin typeface="+mn-ea"/>
                  <a:ea typeface="+mn-ea"/>
                </a:rPr>
                <a:t>规律性不稳定交变应力</a:t>
              </a:r>
              <a:endParaRPr lang="zh-CN" altLang="en-US" sz="1600" dirty="0">
                <a:latin typeface="+mn-ea"/>
                <a:ea typeface="+mn-ea"/>
              </a:endParaRPr>
            </a:p>
          </p:txBody>
        </p:sp>
        <p:sp>
          <p:nvSpPr>
            <p:cNvPr id="48" name="文本框 47"/>
            <p:cNvSpPr txBox="1"/>
            <p:nvPr/>
          </p:nvSpPr>
          <p:spPr>
            <a:xfrm>
              <a:off x="6465497" y="5205639"/>
              <a:ext cx="2441694" cy="338554"/>
            </a:xfrm>
            <a:prstGeom prst="rect">
              <a:avLst/>
            </a:prstGeom>
            <a:noFill/>
          </p:spPr>
          <p:txBody>
            <a:bodyPr wrap="none" rtlCol="0">
              <a:spAutoFit/>
            </a:bodyPr>
            <a:lstStyle/>
            <a:p>
              <a:r>
                <a:rPr lang="zh-CN" altLang="en-US" sz="1600" dirty="0" smtClean="0">
                  <a:latin typeface="+mn-ea"/>
                  <a:ea typeface="+mn-ea"/>
                </a:rPr>
                <a:t>非规律性不稳定交变应力</a:t>
              </a:r>
              <a:endParaRPr lang="zh-CN" altLang="en-US" sz="1600" dirty="0">
                <a:latin typeface="+mn-ea"/>
                <a:ea typeface="+mn-ea"/>
              </a:endParaRPr>
            </a:p>
          </p:txBody>
        </p:sp>
      </p:grpSp>
      <p:sp>
        <p:nvSpPr>
          <p:cNvPr id="50" name="Rectangle 7"/>
          <p:cNvSpPr>
            <a:spLocks noChangeArrowheads="1"/>
          </p:cNvSpPr>
          <p:nvPr/>
        </p:nvSpPr>
        <p:spPr bwMode="auto">
          <a:xfrm>
            <a:off x="4339128" y="3293999"/>
            <a:ext cx="4252738" cy="400110"/>
          </a:xfrm>
          <a:prstGeom prst="rect">
            <a:avLst/>
          </a:prstGeom>
          <a:noFill/>
          <a:ln>
            <a:noFill/>
          </a:ln>
        </p:spPr>
        <p:txBody>
          <a:bodyPr wrap="square">
            <a:spAutoFit/>
          </a:bodyPr>
          <a:lstStyle/>
          <a:p>
            <a:r>
              <a:rPr lang="zh-CN" altLang="en-US" sz="2000" b="1" dirty="0" smtClean="0">
                <a:solidFill>
                  <a:srgbClr val="FF0000"/>
                </a:solidFill>
                <a:latin typeface="隶书" pitchFamily="49" charset="-122"/>
                <a:ea typeface="隶书" pitchFamily="49" charset="-122"/>
              </a:rPr>
              <a:t>思考：静载荷</a:t>
            </a:r>
            <a:r>
              <a:rPr lang="zh-CN" altLang="en-US" sz="2000" b="1" dirty="0">
                <a:solidFill>
                  <a:srgbClr val="FF0000"/>
                </a:solidFill>
                <a:latin typeface="隶书" pitchFamily="49" charset="-122"/>
                <a:ea typeface="隶书" pitchFamily="49" charset="-122"/>
              </a:rPr>
              <a:t>一定产生静应力吗</a:t>
            </a:r>
            <a:r>
              <a:rPr lang="en-US" altLang="zh-CN" sz="2000" b="1" dirty="0">
                <a:solidFill>
                  <a:srgbClr val="FF0000"/>
                </a:solidFill>
                <a:latin typeface="隶书" pitchFamily="49" charset="-122"/>
                <a:ea typeface="隶书" pitchFamily="49" charset="-122"/>
              </a:rPr>
              <a:t>?</a:t>
            </a:r>
            <a:endParaRPr lang="zh-CN" altLang="en-US" sz="2000" b="1" dirty="0">
              <a:solidFill>
                <a:srgbClr val="FF0000"/>
              </a:solidFill>
              <a:latin typeface="隶书" pitchFamily="49" charset="-122"/>
              <a:ea typeface="隶书" pitchFamily="49" charset="-122"/>
            </a:endParaRPr>
          </a:p>
        </p:txBody>
      </p:sp>
      <p:sp>
        <p:nvSpPr>
          <p:cNvPr id="54" name="矩形 53"/>
          <p:cNvSpPr/>
          <p:nvPr/>
        </p:nvSpPr>
        <p:spPr>
          <a:xfrm>
            <a:off x="179512" y="1273324"/>
            <a:ext cx="2792278" cy="19373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p:nvGrpSpPr>
        <p:grpSpPr>
          <a:xfrm>
            <a:off x="179511" y="3377546"/>
            <a:ext cx="8799265" cy="2216259"/>
            <a:chOff x="179511" y="3377546"/>
            <a:chExt cx="8799265" cy="2216259"/>
          </a:xfrm>
        </p:grpSpPr>
        <p:grpSp>
          <p:nvGrpSpPr>
            <p:cNvPr id="61" name="组合 60"/>
            <p:cNvGrpSpPr/>
            <p:nvPr/>
          </p:nvGrpSpPr>
          <p:grpSpPr>
            <a:xfrm>
              <a:off x="179511" y="3821031"/>
              <a:ext cx="8799265" cy="1772774"/>
              <a:chOff x="179511" y="3821031"/>
              <a:chExt cx="8799265" cy="1772774"/>
            </a:xfrm>
          </p:grpSpPr>
          <p:pic>
            <p:nvPicPr>
              <p:cNvPr id="53" name="图片 52"/>
              <p:cNvPicPr>
                <a:picLocks noChangeAspect="1"/>
              </p:cNvPicPr>
              <p:nvPr/>
            </p:nvPicPr>
            <p:blipFill>
              <a:blip r:embed="rId5"/>
              <a:stretch>
                <a:fillRect/>
              </a:stretch>
            </p:blipFill>
            <p:spPr>
              <a:xfrm>
                <a:off x="179511" y="3824607"/>
                <a:ext cx="8799265" cy="1769197"/>
              </a:xfrm>
              <a:prstGeom prst="rect">
                <a:avLst/>
              </a:prstGeom>
            </p:spPr>
          </p:pic>
          <p:sp>
            <p:nvSpPr>
              <p:cNvPr id="55" name="矩形 54"/>
              <p:cNvSpPr/>
              <p:nvPr/>
            </p:nvSpPr>
            <p:spPr>
              <a:xfrm>
                <a:off x="179512" y="3821031"/>
                <a:ext cx="8799264" cy="17727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下箭头 64"/>
            <p:cNvSpPr/>
            <p:nvPr/>
          </p:nvSpPr>
          <p:spPr>
            <a:xfrm>
              <a:off x="1251615" y="3377546"/>
              <a:ext cx="648072" cy="360040"/>
            </a:xfrm>
            <a:prstGeom prst="downArrow">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35868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75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wheel(1)">
                                      <p:cBhvr>
                                        <p:cTn id="21" dur="1500"/>
                                        <p:tgtEl>
                                          <p:spTgt spid="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wipe(up)">
                                      <p:cBhvr>
                                        <p:cTn id="26" dur="500"/>
                                        <p:tgtEl>
                                          <p:spTgt spid="6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wipe(left)">
                                      <p:cBhvr>
                                        <p:cTn id="31" dur="7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50" grpId="0"/>
      <p:bldP spid="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272459" y="2056519"/>
            <a:ext cx="6042021" cy="3592553"/>
          </a:xfrm>
          <a:prstGeom prst="rect">
            <a:avLst/>
          </a:prstGeom>
        </p:spPr>
      </p:pic>
      <p:sp>
        <p:nvSpPr>
          <p:cNvPr id="54" name="单圆角矩形 5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材料的疲劳曲线</a:t>
            </a:r>
            <a:endParaRPr lang="zh-CN" altLang="en-US" sz="1500" dirty="0">
              <a:solidFill>
                <a:srgbClr val="FF6600"/>
              </a:solidFill>
            </a:endParaRPr>
          </a:p>
        </p:txBody>
      </p:sp>
      <p:sp>
        <p:nvSpPr>
          <p:cNvPr id="55" name="直角三角形 5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2"/>
          <p:cNvGrpSpPr/>
          <p:nvPr/>
        </p:nvGrpSpPr>
        <p:grpSpPr>
          <a:xfrm>
            <a:off x="323528" y="532472"/>
            <a:ext cx="5300688" cy="523220"/>
            <a:chOff x="323528" y="553244"/>
            <a:chExt cx="5300688" cy="523220"/>
          </a:xfrm>
        </p:grpSpPr>
        <p:pic>
          <p:nvPicPr>
            <p:cNvPr id="62" name="Picture 15" descr="AR1031"/>
            <p:cNvPicPr>
              <a:picLocks noChangeAspect="1" noChangeArrowheads="1"/>
            </p:cNvPicPr>
            <p:nvPr/>
          </p:nvPicPr>
          <p:blipFill>
            <a:blip r:embed="rId5">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sp>
          <p:nvSpPr>
            <p:cNvPr id="63" name="Text Box 5"/>
            <p:cNvSpPr txBox="1">
              <a:spLocks noChangeArrowheads="1"/>
            </p:cNvSpPr>
            <p:nvPr/>
          </p:nvSpPr>
          <p:spPr bwMode="auto">
            <a:xfrm>
              <a:off x="755576" y="553244"/>
              <a:ext cx="4868640" cy="523220"/>
            </a:xfrm>
            <a:prstGeom prst="rect">
              <a:avLst/>
            </a:prstGeom>
            <a:noFill/>
            <a:ln>
              <a:noFill/>
            </a:ln>
          </p:spPr>
          <p:txBody>
            <a:bodyPr wrap="non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kumimoji="1" lang="zh-CN" altLang="en-US" b="1" dirty="0">
                  <a:solidFill>
                    <a:srgbClr val="000099"/>
                  </a:solidFill>
                  <a:latin typeface="黑体" pitchFamily="2" charset="-122"/>
                </a:rPr>
                <a:t>材料</a:t>
              </a:r>
              <a:r>
                <a:rPr kumimoji="1" lang="zh-CN" altLang="en-US" b="1" dirty="0" smtClean="0">
                  <a:solidFill>
                    <a:srgbClr val="000099"/>
                  </a:solidFill>
                  <a:latin typeface="黑体" pitchFamily="2" charset="-122"/>
                </a:rPr>
                <a:t>的疲劳曲线（</a:t>
              </a:r>
              <a:r>
                <a:rPr kumimoji="1" lang="el-GR" altLang="zh-CN" b="1" dirty="0" smtClean="0">
                  <a:solidFill>
                    <a:srgbClr val="000099"/>
                  </a:solidFill>
                  <a:latin typeface="黑体" pitchFamily="2" charset="-122"/>
                </a:rPr>
                <a:t>σ</a:t>
              </a:r>
              <a:r>
                <a:rPr kumimoji="1" lang="en-US" altLang="zh-CN" b="1" dirty="0" smtClean="0">
                  <a:solidFill>
                    <a:srgbClr val="000099"/>
                  </a:solidFill>
                  <a:latin typeface="黑体" pitchFamily="2" charset="-122"/>
                </a:rPr>
                <a:t>-</a:t>
              </a:r>
              <a:r>
                <a:rPr kumimoji="1" lang="en-US" altLang="zh-CN" dirty="0" smtClean="0">
                  <a:solidFill>
                    <a:srgbClr val="000099"/>
                  </a:solidFill>
                  <a:latin typeface="黑体" pitchFamily="2" charset="-122"/>
                </a:rPr>
                <a:t>N</a:t>
              </a:r>
              <a:r>
                <a:rPr kumimoji="1" lang="zh-CN" altLang="en-US" dirty="0" smtClean="0">
                  <a:solidFill>
                    <a:srgbClr val="000099"/>
                  </a:solidFill>
                  <a:latin typeface="黑体" pitchFamily="2" charset="-122"/>
                </a:rPr>
                <a:t>曲线）</a:t>
              </a:r>
              <a:endParaRPr lang="zh-CN" altLang="en-US" b="1" dirty="0">
                <a:solidFill>
                  <a:srgbClr val="000099"/>
                </a:solidFill>
                <a:latin typeface="黑体" pitchFamily="2" charset="-122"/>
              </a:endParaRPr>
            </a:p>
          </p:txBody>
        </p:sp>
      </p:grpSp>
      <mc:AlternateContent xmlns:mc="http://schemas.openxmlformats.org/markup-compatibility/2006" xmlns:a14="http://schemas.microsoft.com/office/drawing/2010/main">
        <mc:Choice Requires="a14">
          <p:sp>
            <p:nvSpPr>
              <p:cNvPr id="66" name="Text Box 5"/>
              <p:cNvSpPr txBox="1">
                <a:spLocks noChangeArrowheads="1"/>
              </p:cNvSpPr>
              <p:nvPr/>
            </p:nvSpPr>
            <p:spPr bwMode="auto">
              <a:xfrm>
                <a:off x="323528" y="1130469"/>
                <a:ext cx="5688632" cy="400110"/>
              </a:xfrm>
              <a:prstGeom prst="rect">
                <a:avLst/>
              </a:prstGeom>
              <a:noFill/>
              <a:ln w="9525" algn="ctr">
                <a:noFill/>
                <a:miter lim="800000"/>
              </a:ln>
              <a:effectLst/>
            </p:spPr>
            <p:txBody>
              <a:bodyPr wrap="square">
                <a:spAutoFit/>
              </a:bodyPr>
              <a:lstStyle/>
              <a:p>
                <a:pPr marL="342900" indent="-342900">
                  <a:spcBef>
                    <a:spcPct val="50000"/>
                  </a:spcBef>
                  <a:buClr>
                    <a:srgbClr val="C00000"/>
                  </a:buClr>
                  <a:buFont typeface="Wingdings" panose="05000000000000000000" pitchFamily="2" charset="2"/>
                  <a:buChar char="l"/>
                </a:pPr>
                <a:r>
                  <a:rPr lang="zh-CN" altLang="en-US" sz="2000" kern="0" dirty="0" smtClean="0">
                    <a:latin typeface="黑体" pitchFamily="2" charset="-122"/>
                    <a:ea typeface="黑体" pitchFamily="2" charset="-122"/>
                  </a:rPr>
                  <a:t>是取</a:t>
                </a:r>
                <a:r>
                  <a:rPr lang="zh-CN" altLang="en-US" sz="2000" kern="0" dirty="0" smtClean="0">
                    <a:solidFill>
                      <a:srgbClr val="FF0000"/>
                    </a:solidFill>
                    <a:latin typeface="黑体" pitchFamily="2" charset="-122"/>
                    <a:ea typeface="黑体" pitchFamily="2" charset="-122"/>
                  </a:rPr>
                  <a:t>同一</a:t>
                </a:r>
                <a14:m>
                  <m:oMath xmlns:m="http://schemas.openxmlformats.org/officeDocument/2006/math">
                    <m:r>
                      <a:rPr lang="en-US" altLang="zh-CN" sz="2000" b="0" i="1" kern="0" smtClean="0">
                        <a:solidFill>
                          <a:srgbClr val="FF0000"/>
                        </a:solidFill>
                        <a:latin typeface="Cambria Math" panose="02040503050406030204" pitchFamily="18" charset="0"/>
                        <a:ea typeface="黑体" pitchFamily="2" charset="-122"/>
                      </a:rPr>
                      <m:t>𝑟</m:t>
                    </m:r>
                  </m:oMath>
                </a14:m>
                <a:r>
                  <a:rPr lang="zh-CN" altLang="en-US" sz="2000" kern="0" dirty="0">
                    <a:solidFill>
                      <a:srgbClr val="FF0000"/>
                    </a:solidFill>
                    <a:latin typeface="黑体" pitchFamily="2" charset="-122"/>
                    <a:ea typeface="黑体" pitchFamily="2" charset="-122"/>
                  </a:rPr>
                  <a:t>值</a:t>
                </a:r>
                <a:r>
                  <a:rPr lang="zh-CN" altLang="en-US" sz="2000" kern="0" dirty="0">
                    <a:latin typeface="黑体" pitchFamily="2" charset="-122"/>
                    <a:ea typeface="黑体" pitchFamily="2" charset="-122"/>
                  </a:rPr>
                  <a:t>、</a:t>
                </a:r>
                <a:r>
                  <a:rPr lang="zh-CN" altLang="en-US" sz="2000" kern="0" dirty="0" smtClean="0">
                    <a:solidFill>
                      <a:srgbClr val="FF0000"/>
                    </a:solidFill>
                    <a:latin typeface="黑体" pitchFamily="2" charset="-122"/>
                    <a:ea typeface="黑体" pitchFamily="2" charset="-122"/>
                  </a:rPr>
                  <a:t>不同</a:t>
                </a:r>
                <a14:m>
                  <m:oMath xmlns:m="http://schemas.openxmlformats.org/officeDocument/2006/math">
                    <m:r>
                      <a:rPr lang="en-US" altLang="zh-CN" sz="2000" b="0" i="1" kern="0" smtClean="0">
                        <a:solidFill>
                          <a:srgbClr val="FF0000"/>
                        </a:solidFill>
                        <a:latin typeface="Cambria Math" panose="02040503050406030204" pitchFamily="18" charset="0"/>
                        <a:ea typeface="黑体" pitchFamily="2" charset="-122"/>
                      </a:rPr>
                      <m:t>𝑁</m:t>
                    </m:r>
                  </m:oMath>
                </a14:m>
                <a:r>
                  <a:rPr lang="zh-CN" altLang="en-US" sz="2000" kern="0" dirty="0">
                    <a:solidFill>
                      <a:srgbClr val="FF0000"/>
                    </a:solidFill>
                    <a:latin typeface="黑体" pitchFamily="2" charset="-122"/>
                    <a:ea typeface="黑体" pitchFamily="2" charset="-122"/>
                  </a:rPr>
                  <a:t>值</a:t>
                </a:r>
                <a:r>
                  <a:rPr lang="zh-CN" altLang="en-US" sz="2000" kern="0" dirty="0">
                    <a:latin typeface="黑体" pitchFamily="2" charset="-122"/>
                    <a:ea typeface="黑体" pitchFamily="2" charset="-122"/>
                  </a:rPr>
                  <a:t>时做试验得到的。</a:t>
                </a:r>
                <a:endParaRPr lang="zh-CN" altLang="en-US" sz="2000" dirty="0">
                  <a:latin typeface="华文细黑" panose="02010600040101010101" pitchFamily="2" charset="-122"/>
                  <a:ea typeface="华文细黑" panose="02010600040101010101" pitchFamily="2" charset="-122"/>
                </a:endParaRPr>
              </a:p>
            </p:txBody>
          </p:sp>
        </mc:Choice>
        <mc:Fallback xmlns="">
          <p:sp>
            <p:nvSpPr>
              <p:cNvPr id="66" name="Text Box 5"/>
              <p:cNvSpPr txBox="1">
                <a:spLocks noRot="1" noChangeAspect="1" noMove="1" noResize="1" noEditPoints="1" noAdjustHandles="1" noChangeArrowheads="1" noChangeShapeType="1" noTextEdit="1"/>
              </p:cNvSpPr>
              <p:nvPr/>
            </p:nvSpPr>
            <p:spPr bwMode="auto">
              <a:xfrm>
                <a:off x="323528" y="1130469"/>
                <a:ext cx="5688632" cy="400110"/>
              </a:xfrm>
              <a:prstGeom prst="rect">
                <a:avLst/>
              </a:prstGeom>
              <a:blipFill rotWithShape="0">
                <a:blip r:embed="rId6"/>
                <a:stretch>
                  <a:fillRect l="-965" t="-10606" b="-24242"/>
                </a:stretch>
              </a:blipFill>
              <a:ln w="9525" algn="ctr">
                <a:noFill/>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Text Box 6"/>
              <p:cNvSpPr txBox="1">
                <a:spLocks noChangeArrowheads="1"/>
              </p:cNvSpPr>
              <p:nvPr/>
            </p:nvSpPr>
            <p:spPr bwMode="auto">
              <a:xfrm>
                <a:off x="323528" y="1561356"/>
                <a:ext cx="8676968" cy="400110"/>
              </a:xfrm>
              <a:prstGeom prst="rect">
                <a:avLst/>
              </a:prstGeom>
              <a:noFill/>
              <a:ln w="9525" algn="ctr">
                <a:noFill/>
                <a:miter lim="800000"/>
              </a:ln>
              <a:effectLst/>
            </p:spPr>
            <p:txBody>
              <a:bodyPr wrap="square">
                <a:spAutoFit/>
              </a:bodyPr>
              <a:lstStyle>
                <a:defPPr>
                  <a:defRPr lang="zh-CN"/>
                </a:defPPr>
                <a:lvl1pPr marL="342900" indent="-342900">
                  <a:spcBef>
                    <a:spcPct val="50000"/>
                  </a:spcBef>
                  <a:buClr>
                    <a:srgbClr val="C00000"/>
                  </a:buClr>
                  <a:buFont typeface="Wingdings" panose="05000000000000000000" pitchFamily="2" charset="2"/>
                  <a:buChar char="l"/>
                  <a:defRPr sz="2000" kern="0">
                    <a:latin typeface="黑体" pitchFamily="2" charset="-122"/>
                    <a:ea typeface="黑体" pitchFamily="2" charset="-122"/>
                  </a:defRPr>
                </a:lvl1pPr>
              </a:lstStyle>
              <a:p>
                <a:r>
                  <a:rPr lang="zh-CN" altLang="en-US" dirty="0" smtClean="0"/>
                  <a:t>表示在</a:t>
                </a:r>
                <a:r>
                  <a:rPr lang="zh-CN" altLang="en-US" dirty="0" smtClean="0">
                    <a:solidFill>
                      <a:srgbClr val="FF0000"/>
                    </a:solidFill>
                  </a:rPr>
                  <a:t>给定</a:t>
                </a:r>
                <a:r>
                  <a:rPr lang="zh-CN" altLang="en-US" dirty="0" smtClean="0"/>
                  <a:t>循环特性</a:t>
                </a:r>
                <a14:m>
                  <m:oMath xmlns:m="http://schemas.openxmlformats.org/officeDocument/2006/math">
                    <m:r>
                      <a:rPr lang="en-US" altLang="zh-CN" b="0" i="1" smtClean="0">
                        <a:latin typeface="Cambria Math" panose="02040503050406030204" pitchFamily="18" charset="0"/>
                      </a:rPr>
                      <m:t>𝑟</m:t>
                    </m:r>
                  </m:oMath>
                </a14:m>
                <a:r>
                  <a:rPr lang="zh-CN" altLang="en-US" dirty="0" smtClean="0"/>
                  <a:t>的条件下，应力循环次数</a:t>
                </a:r>
                <a14:m>
                  <m:oMath xmlns:m="http://schemas.openxmlformats.org/officeDocument/2006/math">
                    <m:r>
                      <a:rPr lang="en-US" altLang="zh-CN" b="0" i="1" smtClean="0">
                        <a:latin typeface="Cambria Math" panose="02040503050406030204" pitchFamily="18" charset="0"/>
                      </a:rPr>
                      <m:t>𝑁</m:t>
                    </m:r>
                  </m:oMath>
                </a14:m>
                <a:r>
                  <a:rPr lang="zh-CN" altLang="en-US" dirty="0" smtClean="0"/>
                  <a:t>与疲劳极限的关系曲线。</a:t>
                </a:r>
                <a:endParaRPr lang="zh-CN" altLang="en-US" dirty="0"/>
              </a:p>
            </p:txBody>
          </p:sp>
        </mc:Choice>
        <mc:Fallback xmlns="">
          <p:sp>
            <p:nvSpPr>
              <p:cNvPr id="67" name="Text Box 6"/>
              <p:cNvSpPr txBox="1">
                <a:spLocks noRot="1" noChangeAspect="1" noMove="1" noResize="1" noEditPoints="1" noAdjustHandles="1" noChangeArrowheads="1" noChangeShapeType="1" noTextEdit="1"/>
              </p:cNvSpPr>
              <p:nvPr/>
            </p:nvSpPr>
            <p:spPr bwMode="auto">
              <a:xfrm>
                <a:off x="323528" y="1561356"/>
                <a:ext cx="8676968" cy="400110"/>
              </a:xfrm>
              <a:prstGeom prst="rect">
                <a:avLst/>
              </a:prstGeom>
              <a:blipFill rotWithShape="0">
                <a:blip r:embed="rId7"/>
                <a:stretch>
                  <a:fillRect l="-632" t="-10606" r="-3654" b="-24242"/>
                </a:stretch>
              </a:blipFill>
              <a:ln w="9525" algn="ctr">
                <a:noFill/>
                <a:miter lim="800000"/>
              </a:ln>
              <a:effectLst/>
            </p:spPr>
            <p:txBody>
              <a:bodyPr/>
              <a:lstStyle/>
              <a:p>
                <a:r>
                  <a:rPr lang="zh-CN" altLang="en-US">
                    <a:noFill/>
                  </a:rPr>
                  <a:t> </a:t>
                </a:r>
              </a:p>
            </p:txBody>
          </p:sp>
        </mc:Fallback>
      </mc:AlternateContent>
      <p:grpSp>
        <p:nvGrpSpPr>
          <p:cNvPr id="69" name="组合 68"/>
          <p:cNvGrpSpPr/>
          <p:nvPr/>
        </p:nvGrpSpPr>
        <p:grpSpPr>
          <a:xfrm>
            <a:off x="2555776" y="2715156"/>
            <a:ext cx="2077198" cy="1294472"/>
            <a:chOff x="2843808" y="1202988"/>
            <a:chExt cx="2077198" cy="1294472"/>
          </a:xfrm>
        </p:grpSpPr>
        <p:graphicFrame>
          <p:nvGraphicFramePr>
            <p:cNvPr id="70" name="Object 6"/>
            <p:cNvGraphicFramePr>
              <a:graphicFrameLocks noChangeAspect="1"/>
            </p:cNvGraphicFramePr>
            <p:nvPr>
              <p:extLst/>
            </p:nvPr>
          </p:nvGraphicFramePr>
          <p:xfrm>
            <a:off x="2843808" y="1202988"/>
            <a:ext cx="2077198" cy="553650"/>
          </p:xfrm>
          <a:graphic>
            <a:graphicData uri="http://schemas.openxmlformats.org/presentationml/2006/ole">
              <mc:AlternateContent xmlns:mc="http://schemas.openxmlformats.org/markup-compatibility/2006">
                <mc:Choice xmlns:v="urn:schemas-microsoft-com:vml" Requires="v">
                  <p:oleObj spid="_x0000_s6038588" name="Equation" r:id="rId8" imgW="1666837" imgH="409423" progId="Equation.DSMT4">
                    <p:embed/>
                  </p:oleObj>
                </mc:Choice>
                <mc:Fallback>
                  <p:oleObj name="Equation" r:id="rId8" imgW="1666837" imgH="409423" progId="Equation.DSMT4">
                    <p:embed/>
                    <p:pic>
                      <p:nvPicPr>
                        <p:cNvPr id="0" name=""/>
                        <p:cNvPicPr>
                          <a:picLocks noChangeAspect="1" noChangeArrowheads="1"/>
                        </p:cNvPicPr>
                        <p:nvPr/>
                      </p:nvPicPr>
                      <p:blipFill>
                        <a:blip r:embed="rId9"/>
                        <a:srcRect/>
                        <a:stretch>
                          <a:fillRect/>
                        </a:stretch>
                      </p:blipFill>
                      <p:spPr bwMode="auto">
                        <a:xfrm>
                          <a:off x="2843808" y="1202988"/>
                          <a:ext cx="2077198" cy="553650"/>
                        </a:xfrm>
                        <a:prstGeom prst="rect">
                          <a:avLst/>
                        </a:prstGeom>
                        <a:solidFill>
                          <a:srgbClr val="FFFF00"/>
                        </a:solidFill>
                        <a:ln>
                          <a:noFill/>
                        </a:ln>
                        <a:effectLst/>
                      </p:spPr>
                    </p:pic>
                  </p:oleObj>
                </mc:Fallback>
              </mc:AlternateContent>
            </a:graphicData>
          </a:graphic>
        </p:graphicFrame>
        <p:cxnSp>
          <p:nvCxnSpPr>
            <p:cNvPr id="71" name="直接箭头连接符 36"/>
            <p:cNvCxnSpPr>
              <a:cxnSpLocks/>
            </p:cNvCxnSpPr>
            <p:nvPr/>
          </p:nvCxnSpPr>
          <p:spPr>
            <a:xfrm flipH="1">
              <a:off x="2915816" y="1777380"/>
              <a:ext cx="263524" cy="720080"/>
            </a:xfrm>
            <a:prstGeom prst="straightConnector1">
              <a:avLst/>
            </a:prstGeom>
            <a:noFill/>
            <a:ln w="9525" cap="flat" cmpd="sng" algn="ctr">
              <a:solidFill>
                <a:srgbClr val="000000">
                  <a:shade val="95000"/>
                  <a:satMod val="105000"/>
                </a:srgbClr>
              </a:solidFill>
              <a:prstDash val="solid"/>
              <a:tailEnd type="arrow"/>
            </a:ln>
            <a:effectLst/>
          </p:spPr>
        </p:cxnSp>
      </p:grpSp>
      <p:sp>
        <p:nvSpPr>
          <p:cNvPr id="73" name="椭圆 38"/>
          <p:cNvSpPr/>
          <p:nvPr/>
        </p:nvSpPr>
        <p:spPr>
          <a:xfrm>
            <a:off x="4906640" y="4497462"/>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cxnSp>
        <p:nvCxnSpPr>
          <p:cNvPr id="74" name="直接连接符 39"/>
          <p:cNvCxnSpPr>
            <a:cxnSpLocks/>
            <a:stCxn id="73" idx="0"/>
          </p:cNvCxnSpPr>
          <p:nvPr/>
        </p:nvCxnSpPr>
        <p:spPr>
          <a:xfrm flipH="1" flipV="1">
            <a:off x="4946328" y="2345551"/>
            <a:ext cx="4762" cy="2151911"/>
          </a:xfrm>
          <a:prstGeom prst="line">
            <a:avLst/>
          </a:prstGeom>
          <a:noFill/>
          <a:ln w="9525" cap="flat" cmpd="sng" algn="ctr">
            <a:solidFill>
              <a:srgbClr val="000000">
                <a:shade val="95000"/>
                <a:satMod val="105000"/>
              </a:srgbClr>
            </a:solidFill>
            <a:prstDash val="solid"/>
          </a:ln>
          <a:effectLst/>
        </p:spPr>
      </p:cxnSp>
      <p:grpSp>
        <p:nvGrpSpPr>
          <p:cNvPr id="75" name="组合 74"/>
          <p:cNvGrpSpPr/>
          <p:nvPr/>
        </p:nvGrpSpPr>
        <p:grpSpPr>
          <a:xfrm>
            <a:off x="647378" y="2101697"/>
            <a:ext cx="4298950" cy="347890"/>
            <a:chOff x="935410" y="589529"/>
            <a:chExt cx="4298950" cy="347890"/>
          </a:xfrm>
        </p:grpSpPr>
        <p:cxnSp>
          <p:nvCxnSpPr>
            <p:cNvPr id="76" name="直接箭头连接符 40"/>
            <p:cNvCxnSpPr>
              <a:cxnSpLocks/>
            </p:cNvCxnSpPr>
            <p:nvPr/>
          </p:nvCxnSpPr>
          <p:spPr>
            <a:xfrm>
              <a:off x="935410" y="935832"/>
              <a:ext cx="4298950" cy="1587"/>
            </a:xfrm>
            <a:prstGeom prst="straightConnector1">
              <a:avLst/>
            </a:prstGeom>
            <a:noFill/>
            <a:ln w="9525" cap="flat" cmpd="sng" algn="ctr">
              <a:solidFill>
                <a:srgbClr val="000000">
                  <a:shade val="95000"/>
                  <a:satMod val="105000"/>
                </a:srgbClr>
              </a:solidFill>
              <a:prstDash val="solid"/>
              <a:headEnd type="arrow"/>
              <a:tailEnd type="arrow"/>
            </a:ln>
            <a:effectLst/>
          </p:spPr>
        </p:cxnSp>
        <p:sp>
          <p:nvSpPr>
            <p:cNvPr id="77" name="TextBox 42"/>
            <p:cNvSpPr txBox="1">
              <a:spLocks noChangeArrowheads="1"/>
            </p:cNvSpPr>
            <p:nvPr/>
          </p:nvSpPr>
          <p:spPr bwMode="auto">
            <a:xfrm>
              <a:off x="2286372" y="589529"/>
              <a:ext cx="1309688" cy="338554"/>
            </a:xfrm>
            <a:prstGeom prst="rect">
              <a:avLst/>
            </a:prstGeom>
            <a:noFill/>
            <a:ln>
              <a:noFill/>
            </a:ln>
          </p:spPr>
          <p:txBody>
            <a:bodyPr>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00B050"/>
                  </a:solidFill>
                  <a:effectLst/>
                  <a:uLnTx/>
                  <a:uFillTx/>
                  <a:latin typeface="微软雅黑" panose="020B0503020204020204" pitchFamily="34" charset="-122"/>
                  <a:ea typeface="微软雅黑" panose="020B0503020204020204" pitchFamily="34" charset="-122"/>
                </a:rPr>
                <a:t>有限寿命</a:t>
              </a:r>
            </a:p>
          </p:txBody>
        </p:sp>
      </p:grpSp>
      <p:grpSp>
        <p:nvGrpSpPr>
          <p:cNvPr id="78" name="组合 5"/>
          <p:cNvGrpSpPr/>
          <p:nvPr/>
        </p:nvGrpSpPr>
        <p:grpSpPr>
          <a:xfrm>
            <a:off x="647378" y="3385771"/>
            <a:ext cx="972294" cy="330755"/>
            <a:chOff x="935410" y="1873603"/>
            <a:chExt cx="972294" cy="330755"/>
          </a:xfrm>
        </p:grpSpPr>
        <p:cxnSp>
          <p:nvCxnSpPr>
            <p:cNvPr id="79" name="直接箭头连接符 19"/>
            <p:cNvCxnSpPr>
              <a:cxnSpLocks/>
            </p:cNvCxnSpPr>
            <p:nvPr/>
          </p:nvCxnSpPr>
          <p:spPr>
            <a:xfrm>
              <a:off x="1043608" y="2202771"/>
              <a:ext cx="836364" cy="1587"/>
            </a:xfrm>
            <a:prstGeom prst="straightConnector1">
              <a:avLst/>
            </a:prstGeom>
            <a:noFill/>
            <a:ln w="12700" cap="flat" cmpd="sng" algn="ctr">
              <a:solidFill>
                <a:srgbClr val="FF0000"/>
              </a:solidFill>
              <a:prstDash val="solid"/>
              <a:headEnd type="arrow" w="med" len="med"/>
              <a:tailEnd type="none" w="med" len="med"/>
            </a:ln>
            <a:effectLst/>
          </p:spPr>
        </p:cxnSp>
        <p:sp>
          <p:nvSpPr>
            <p:cNvPr id="80" name="TextBox 25"/>
            <p:cNvSpPr txBox="1">
              <a:spLocks noChangeArrowheads="1"/>
            </p:cNvSpPr>
            <p:nvPr/>
          </p:nvSpPr>
          <p:spPr bwMode="auto">
            <a:xfrm>
              <a:off x="935410" y="1873603"/>
              <a:ext cx="972294" cy="307777"/>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pPr>
              <a:r>
                <a:rPr kumimoji="0" lang="zh-CN" altLang="en-US" sz="1400" b="0" i="0" u="none" strike="noStrike" kern="0" cap="none" spc="0" normalizeH="0" baseline="0" noProof="0" dirty="0" smtClean="0">
                  <a:ln>
                    <a:noFill/>
                  </a:ln>
                  <a:solidFill>
                    <a:srgbClr val="FF0000"/>
                  </a:solidFill>
                  <a:effectLst/>
                  <a:uLnTx/>
                  <a:uFillTx/>
                  <a:latin typeface="+mn-ea"/>
                  <a:ea typeface="+mn-ea"/>
                </a:rPr>
                <a:t>低周疲劳</a:t>
              </a:r>
            </a:p>
          </p:txBody>
        </p:sp>
      </p:grpSp>
      <p:grpSp>
        <p:nvGrpSpPr>
          <p:cNvPr id="81" name="组合 6"/>
          <p:cNvGrpSpPr/>
          <p:nvPr/>
        </p:nvGrpSpPr>
        <p:grpSpPr>
          <a:xfrm>
            <a:off x="1591940" y="3394563"/>
            <a:ext cx="3844156" cy="320376"/>
            <a:chOff x="1879972" y="1882395"/>
            <a:chExt cx="3844156" cy="320376"/>
          </a:xfrm>
        </p:grpSpPr>
        <p:cxnSp>
          <p:nvCxnSpPr>
            <p:cNvPr id="82" name="直接箭头连接符 23"/>
            <p:cNvCxnSpPr>
              <a:cxnSpLocks/>
            </p:cNvCxnSpPr>
            <p:nvPr/>
          </p:nvCxnSpPr>
          <p:spPr>
            <a:xfrm flipH="1">
              <a:off x="1879972" y="2202771"/>
              <a:ext cx="3844156" cy="0"/>
            </a:xfrm>
            <a:prstGeom prst="straightConnector1">
              <a:avLst/>
            </a:prstGeom>
            <a:noFill/>
            <a:ln w="12700" cap="flat" cmpd="sng" algn="ctr">
              <a:solidFill>
                <a:srgbClr val="0000FF"/>
              </a:solidFill>
              <a:prstDash val="solid"/>
              <a:headEnd type="arrow" w="med" len="med"/>
              <a:tailEnd type="none" w="med" len="med"/>
            </a:ln>
            <a:effectLst/>
          </p:spPr>
        </p:cxnSp>
        <p:sp>
          <p:nvSpPr>
            <p:cNvPr id="83" name="TextBox 26"/>
            <p:cNvSpPr txBox="1">
              <a:spLocks noChangeArrowheads="1"/>
            </p:cNvSpPr>
            <p:nvPr/>
          </p:nvSpPr>
          <p:spPr bwMode="auto">
            <a:xfrm>
              <a:off x="3311674" y="1882395"/>
              <a:ext cx="972294" cy="307777"/>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pPr>
              <a:r>
                <a:rPr kumimoji="0" lang="zh-CN" altLang="en-US" sz="1400" b="0" i="0" u="none" strike="noStrike" kern="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rPr>
                <a:t>高周疲劳</a:t>
              </a:r>
            </a:p>
          </p:txBody>
        </p:sp>
      </p:grpSp>
      <p:grpSp>
        <p:nvGrpSpPr>
          <p:cNvPr id="93" name="组合 92"/>
          <p:cNvGrpSpPr/>
          <p:nvPr/>
        </p:nvGrpSpPr>
        <p:grpSpPr>
          <a:xfrm>
            <a:off x="4913479" y="2098833"/>
            <a:ext cx="1098681" cy="351920"/>
            <a:chOff x="4918496" y="592704"/>
            <a:chExt cx="1098681" cy="351920"/>
          </a:xfrm>
        </p:grpSpPr>
        <p:cxnSp>
          <p:nvCxnSpPr>
            <p:cNvPr id="94" name="直接箭头连接符 41"/>
            <p:cNvCxnSpPr>
              <a:cxnSpLocks/>
            </p:cNvCxnSpPr>
            <p:nvPr/>
          </p:nvCxnSpPr>
          <p:spPr>
            <a:xfrm flipV="1">
              <a:off x="4951091" y="941871"/>
              <a:ext cx="1066086" cy="2753"/>
            </a:xfrm>
            <a:prstGeom prst="straightConnector1">
              <a:avLst/>
            </a:prstGeom>
            <a:noFill/>
            <a:ln w="9525" cap="flat" cmpd="sng" algn="ctr">
              <a:solidFill>
                <a:srgbClr val="000000">
                  <a:shade val="95000"/>
                  <a:satMod val="105000"/>
                </a:srgbClr>
              </a:solidFill>
              <a:prstDash val="solid"/>
              <a:tailEnd type="arrow"/>
            </a:ln>
            <a:effectLst/>
          </p:spPr>
        </p:cxnSp>
        <p:sp>
          <p:nvSpPr>
            <p:cNvPr id="95" name="TextBox 43"/>
            <p:cNvSpPr txBox="1">
              <a:spLocks noChangeArrowheads="1"/>
            </p:cNvSpPr>
            <p:nvPr/>
          </p:nvSpPr>
          <p:spPr bwMode="auto">
            <a:xfrm>
              <a:off x="4918496" y="592704"/>
              <a:ext cx="1098681"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FF6600"/>
                  </a:solidFill>
                  <a:effectLst/>
                  <a:uLnTx/>
                  <a:uFillTx/>
                  <a:latin typeface="+mn-ea"/>
                  <a:ea typeface="+mn-ea"/>
                </a:rPr>
                <a:t>无限寿命</a:t>
              </a:r>
            </a:p>
          </p:txBody>
        </p:sp>
      </p:grpSp>
      <p:cxnSp>
        <p:nvCxnSpPr>
          <p:cNvPr id="6" name="直接连接符 5"/>
          <p:cNvCxnSpPr/>
          <p:nvPr/>
        </p:nvCxnSpPr>
        <p:spPr>
          <a:xfrm flipV="1">
            <a:off x="3023642" y="4225652"/>
            <a:ext cx="0" cy="10801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10"/>
          <a:stretch>
            <a:fillRect/>
          </a:stretch>
        </p:blipFill>
        <p:spPr>
          <a:xfrm>
            <a:off x="2908559" y="5309219"/>
            <a:ext cx="252000" cy="241043"/>
          </a:xfrm>
          <a:prstGeom prst="rect">
            <a:avLst/>
          </a:prstGeom>
        </p:spPr>
      </p:pic>
      <p:cxnSp>
        <p:nvCxnSpPr>
          <p:cNvPr id="39" name="直接连接符 38"/>
          <p:cNvCxnSpPr/>
          <p:nvPr/>
        </p:nvCxnSpPr>
        <p:spPr>
          <a:xfrm>
            <a:off x="647378" y="4225652"/>
            <a:ext cx="23762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椭圆 38"/>
          <p:cNvSpPr/>
          <p:nvPr/>
        </p:nvSpPr>
        <p:spPr>
          <a:xfrm>
            <a:off x="595394" y="4172182"/>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43" name="Text Box 8"/>
              <p:cNvSpPr txBox="1">
                <a:spLocks noChangeArrowheads="1"/>
              </p:cNvSpPr>
              <p:nvPr/>
            </p:nvSpPr>
            <p:spPr bwMode="auto">
              <a:xfrm>
                <a:off x="20758" y="3904516"/>
                <a:ext cx="648072" cy="492443"/>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622300" marR="0" lvl="0" indent="-622300" defTabSz="914400" eaLnBrk="1" fontAlgn="auto" latinLnBrk="0" hangingPunct="1">
                  <a:lnSpc>
                    <a:spcPct val="130000"/>
                  </a:lnSpc>
                  <a:spcBef>
                    <a:spcPts val="0"/>
                  </a:spcBef>
                  <a:spcAft>
                    <a:spcPts val="0"/>
                  </a:spcAft>
                  <a:buClrTx/>
                  <a:buSzTx/>
                  <a:buFontTx/>
                  <a:buNone/>
                </a:pPr>
                <a14:m>
                  <m:oMathPara xmlns:m="http://schemas.openxmlformats.org/officeDocument/2006/math">
                    <m:oMathParaPr>
                      <m:jc m:val="centerGroup"/>
                    </m:oMathParaPr>
                    <m:oMath xmlns:m="http://schemas.openxmlformats.org/officeDocument/2006/math">
                      <m:sSub>
                        <m:sSubPr>
                          <m:ctrlPr>
                            <a:rPr kumimoji="0" lang="en-US" altLang="zh-CN" sz="2000" b="1"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zh-CN" altLang="en-US" sz="2000" b="1" i="1" u="none" strike="noStrike" kern="0" cap="none" spc="0" normalizeH="0" baseline="0" noProof="0" smtClean="0">
                              <a:ln>
                                <a:noFill/>
                              </a:ln>
                              <a:solidFill>
                                <a:srgbClr val="FF0000"/>
                              </a:solidFill>
                              <a:effectLst/>
                              <a:uLnTx/>
                              <a:uFillTx/>
                              <a:latin typeface="Cambria Math" panose="02040503050406030204" pitchFamily="18" charset="0"/>
                            </a:rPr>
                            <m:t>𝝈</m:t>
                          </m:r>
                        </m:e>
                        <m:sub>
                          <m:r>
                            <a:rPr kumimoji="0" lang="en-US" altLang="zh-CN" sz="2000" b="1" i="1" u="none" strike="noStrike" kern="0" cap="none" spc="0" normalizeH="0" baseline="0" noProof="0" smtClean="0">
                              <a:ln>
                                <a:noFill/>
                              </a:ln>
                              <a:solidFill>
                                <a:srgbClr val="FF0000"/>
                              </a:solidFill>
                              <a:effectLst/>
                              <a:uLnTx/>
                              <a:uFillTx/>
                              <a:latin typeface="Cambria Math" panose="02040503050406030204" pitchFamily="18" charset="0"/>
                            </a:rPr>
                            <m:t>𝒓𝑵</m:t>
                          </m:r>
                        </m:sub>
                      </m:sSub>
                    </m:oMath>
                  </m:oMathPara>
                </a14:m>
                <a:endParaRPr kumimoji="0" lang="en-US" altLang="zh-CN" sz="2000" b="1" i="0" u="none" strike="noStrike" kern="0" cap="none" spc="0" normalizeH="0" baseline="0" noProof="0" dirty="0" smtClean="0">
                  <a:ln>
                    <a:noFill/>
                  </a:ln>
                  <a:solidFill>
                    <a:srgbClr val="FF0000"/>
                  </a:solidFill>
                  <a:effectLst/>
                  <a:uLnTx/>
                  <a:uFillTx/>
                </a:endParaRPr>
              </a:p>
            </p:txBody>
          </p:sp>
        </mc:Choice>
        <mc:Fallback xmlns="">
          <p:sp>
            <p:nvSpPr>
              <p:cNvPr id="43" name="Text Box 8"/>
              <p:cNvSpPr txBox="1">
                <a:spLocks noRot="1" noChangeAspect="1" noMove="1" noResize="1" noEditPoints="1" noAdjustHandles="1" noChangeArrowheads="1" noChangeShapeType="1" noTextEdit="1"/>
              </p:cNvSpPr>
              <p:nvPr/>
            </p:nvSpPr>
            <p:spPr bwMode="auto">
              <a:xfrm>
                <a:off x="20758" y="3904516"/>
                <a:ext cx="648072" cy="492443"/>
              </a:xfrm>
              <a:prstGeom prst="rect">
                <a:avLst/>
              </a:prstGeom>
              <a:blipFill rotWithShape="0">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6084168" y="2615881"/>
                <a:ext cx="2945806" cy="10926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𝜎</m:t>
                          </m:r>
                        </m:e>
                        <m:sub>
                          <m:r>
                            <a:rPr lang="en-US" altLang="zh-CN" sz="2200" b="0" i="1" smtClean="0">
                              <a:latin typeface="Cambria Math" panose="02040503050406030204" pitchFamily="18" charset="0"/>
                            </a:rPr>
                            <m:t>𝑟𝑁</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zh-CN" altLang="en-US" sz="2200" b="0" i="1" smtClean="0">
                              <a:latin typeface="Cambria Math" panose="02040503050406030204" pitchFamily="18" charset="0"/>
                            </a:rPr>
                            <m:t>𝜎</m:t>
                          </m:r>
                        </m:e>
                        <m:sub>
                          <m:r>
                            <a:rPr lang="en-US" altLang="zh-CN" sz="2200" b="0" i="1" smtClean="0">
                              <a:latin typeface="Cambria Math" panose="02040503050406030204" pitchFamily="18" charset="0"/>
                            </a:rPr>
                            <m:t>𝑟</m:t>
                          </m:r>
                        </m:sub>
                      </m:sSub>
                      <m:rad>
                        <m:radPr>
                          <m:ctrlPr>
                            <a:rPr lang="en-US" altLang="zh-CN" sz="2200" b="0" i="1" smtClean="0">
                              <a:latin typeface="Cambria Math" panose="02040503050406030204" pitchFamily="18" charset="0"/>
                            </a:rPr>
                          </m:ctrlPr>
                        </m:radPr>
                        <m:deg>
                          <m:r>
                            <m:rPr>
                              <m:brk m:alnAt="7"/>
                            </m:rPr>
                            <a:rPr lang="en-US" altLang="zh-CN" sz="2200" b="0" i="1" smtClean="0">
                              <a:latin typeface="Cambria Math" panose="02040503050406030204" pitchFamily="18" charset="0"/>
                            </a:rPr>
                            <m:t>𝑚</m:t>
                          </m:r>
                        </m:deg>
                        <m:e>
                          <m:f>
                            <m:fPr>
                              <m:ctrlPr>
                                <a:rPr lang="en-US" altLang="zh-CN" sz="2200" b="0" i="1" smtClean="0">
                                  <a:latin typeface="Cambria Math" panose="02040503050406030204" pitchFamily="18" charset="0"/>
                                </a:rPr>
                              </m:ctrlPr>
                            </m:fPr>
                            <m:num>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𝑁</m:t>
                                  </m:r>
                                </m:e>
                                <m:sub>
                                  <m:r>
                                    <a:rPr lang="en-US" altLang="zh-CN" sz="2200" b="0" i="1" smtClean="0">
                                      <a:latin typeface="Cambria Math" panose="02040503050406030204" pitchFamily="18" charset="0"/>
                                    </a:rPr>
                                    <m:t>0</m:t>
                                  </m:r>
                                </m:sub>
                              </m:sSub>
                            </m:num>
                            <m:den>
                              <m:r>
                                <a:rPr lang="en-US" altLang="zh-CN" sz="2200" b="0" i="1" smtClean="0">
                                  <a:latin typeface="Cambria Math" panose="02040503050406030204" pitchFamily="18" charset="0"/>
                                </a:rPr>
                                <m:t>𝑁</m:t>
                              </m:r>
                            </m:den>
                          </m:f>
                        </m:e>
                      </m:rad>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𝐾</m:t>
                          </m:r>
                        </m:e>
                        <m:sub>
                          <m:r>
                            <a:rPr lang="en-US" altLang="zh-CN" sz="2200" b="0" i="1" smtClean="0">
                              <a:latin typeface="Cambria Math" panose="02040503050406030204" pitchFamily="18" charset="0"/>
                            </a:rPr>
                            <m:t>𝑁</m:t>
                          </m:r>
                        </m:sub>
                      </m:sSub>
                      <m:sSub>
                        <m:sSubPr>
                          <m:ctrlPr>
                            <a:rPr lang="en-US" altLang="zh-CN" sz="2200" b="0" i="1" smtClean="0">
                              <a:latin typeface="Cambria Math" panose="02040503050406030204" pitchFamily="18" charset="0"/>
                            </a:rPr>
                          </m:ctrlPr>
                        </m:sSubPr>
                        <m:e>
                          <m:r>
                            <a:rPr lang="zh-CN" altLang="en-US" sz="2200" b="0" i="1" smtClean="0">
                              <a:latin typeface="Cambria Math" panose="02040503050406030204" pitchFamily="18" charset="0"/>
                            </a:rPr>
                            <m:t>𝜎</m:t>
                          </m:r>
                        </m:e>
                        <m:sub>
                          <m:r>
                            <a:rPr lang="en-US" altLang="zh-CN" sz="2200" b="0" i="1" smtClean="0">
                              <a:latin typeface="Cambria Math" panose="02040503050406030204" pitchFamily="18" charset="0"/>
                            </a:rPr>
                            <m:t>𝑟</m:t>
                          </m:r>
                        </m:sub>
                      </m:sSub>
                    </m:oMath>
                  </m:oMathPara>
                </a14:m>
                <a:endParaRPr lang="zh-CN" altLang="en-US" sz="22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6084168" y="2615881"/>
                <a:ext cx="2945806" cy="1092671"/>
              </a:xfrm>
              <a:prstGeom prst="rect">
                <a:avLst/>
              </a:prstGeom>
              <a:blipFill rotWithShape="0">
                <a:blip r:embed="rId12"/>
                <a:stretch>
                  <a:fillRect/>
                </a:stretch>
              </a:blipFill>
            </p:spPr>
            <p:txBody>
              <a:bodyPr/>
              <a:lstStyle/>
              <a:p>
                <a:r>
                  <a:rPr lang="zh-CN" altLang="en-US">
                    <a:noFill/>
                  </a:rPr>
                  <a:t> </a:t>
                </a:r>
              </a:p>
            </p:txBody>
          </p:sp>
        </mc:Fallback>
      </mc:AlternateContent>
      <p:sp>
        <p:nvSpPr>
          <p:cNvPr id="11" name="文本框 10"/>
          <p:cNvSpPr txBox="1"/>
          <p:nvPr/>
        </p:nvSpPr>
        <p:spPr>
          <a:xfrm>
            <a:off x="6215422" y="2109999"/>
            <a:ext cx="2954655" cy="369332"/>
          </a:xfrm>
          <a:prstGeom prst="rect">
            <a:avLst/>
          </a:prstGeom>
          <a:noFill/>
        </p:spPr>
        <p:txBody>
          <a:bodyPr wrap="none" rtlCol="0">
            <a:spAutoFit/>
          </a:bodyPr>
          <a:lstStyle/>
          <a:p>
            <a:r>
              <a:rPr lang="zh-CN" altLang="en-US" dirty="0" smtClean="0">
                <a:solidFill>
                  <a:srgbClr val="0000FF"/>
                </a:solidFill>
                <a:latin typeface="+mn-ea"/>
                <a:ea typeface="+mn-ea"/>
              </a:rPr>
              <a:t>有限寿命区内的疲劳极限：</a:t>
            </a:r>
            <a:endParaRPr lang="zh-CN" altLang="en-US" dirty="0">
              <a:solidFill>
                <a:srgbClr val="0000FF"/>
              </a:solidFill>
              <a:latin typeface="+mn-ea"/>
              <a:ea typeface="+mn-ea"/>
            </a:endParaRPr>
          </a:p>
        </p:txBody>
      </p:sp>
      <p:grpSp>
        <p:nvGrpSpPr>
          <p:cNvPr id="13" name="组合 12"/>
          <p:cNvGrpSpPr/>
          <p:nvPr/>
        </p:nvGrpSpPr>
        <p:grpSpPr>
          <a:xfrm>
            <a:off x="6453517" y="3823574"/>
            <a:ext cx="2595286" cy="1792001"/>
            <a:chOff x="6453517" y="3823574"/>
            <a:chExt cx="2595286" cy="1792001"/>
          </a:xfrm>
        </p:grpSpPr>
        <mc:AlternateContent xmlns:mc="http://schemas.openxmlformats.org/markup-compatibility/2006" xmlns:a14="http://schemas.microsoft.com/office/drawing/2010/main">
          <mc:Choice Requires="a14">
            <p:sp>
              <p:nvSpPr>
                <p:cNvPr id="87" name="Text Box 8"/>
                <p:cNvSpPr txBox="1">
                  <a:spLocks noChangeArrowheads="1"/>
                </p:cNvSpPr>
                <p:nvPr/>
              </p:nvSpPr>
              <p:spPr bwMode="auto">
                <a:xfrm>
                  <a:off x="6453517" y="3823574"/>
                  <a:ext cx="2595285" cy="412421"/>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622300" marR="0" lvl="0" indent="-622300" defTabSz="914400" eaLnBrk="1" fontAlgn="auto" latinLnBrk="0" hangingPunct="1">
                    <a:lnSpc>
                      <a:spcPct val="130000"/>
                    </a:lnSpc>
                    <a:spcBef>
                      <a:spcPts val="0"/>
                    </a:spcBef>
                    <a:spcAft>
                      <a:spcPts val="0"/>
                    </a:spcAft>
                    <a:buClrTx/>
                    <a:buSzTx/>
                    <a:buFontTx/>
                    <a:buNone/>
                  </a:pPr>
                  <a14:m>
                    <m:oMath xmlns:m="http://schemas.openxmlformats.org/officeDocument/2006/math">
                      <m:sSub>
                        <m:sSubPr>
                          <m:ctrlPr>
                            <a:rPr kumimoji="0" lang="en-US" altLang="zh-CN" sz="1600" b="0" i="1" u="none" strike="noStrike" kern="0" cap="none" spc="0" normalizeH="0" baseline="0" noProof="0" smtClean="0">
                              <a:ln>
                                <a:noFill/>
                              </a:ln>
                              <a:solidFill>
                                <a:srgbClr val="000000"/>
                              </a:solidFill>
                              <a:effectLst/>
                              <a:uLnTx/>
                              <a:uFillTx/>
                              <a:latin typeface="Cambria Math" panose="02040503050406030204" pitchFamily="18" charset="0"/>
                              <a:ea typeface="黑体" pitchFamily="2" charset="-122"/>
                            </a:rPr>
                          </m:ctrlPr>
                        </m:sSubPr>
                        <m:e>
                          <m:r>
                            <a:rPr kumimoji="0" lang="zh-CN" altLang="en-US" sz="1600" b="0" i="1" u="none" strike="noStrike" kern="0" cap="none" spc="0" normalizeH="0" baseline="0" noProof="0" smtClean="0">
                              <a:ln>
                                <a:noFill/>
                              </a:ln>
                              <a:solidFill>
                                <a:srgbClr val="000000"/>
                              </a:solidFill>
                              <a:effectLst/>
                              <a:uLnTx/>
                              <a:uFillTx/>
                              <a:latin typeface="Cambria Math" panose="02040503050406030204" pitchFamily="18" charset="0"/>
                            </a:rPr>
                            <m:t>𝜎</m:t>
                          </m:r>
                        </m:e>
                        <m:sub>
                          <m:r>
                            <a:rPr kumimoji="0" lang="en-US" altLang="zh-CN" sz="1600" b="0" i="1" u="none" strike="noStrike" kern="0" cap="none" spc="0" normalizeH="0" baseline="0" noProof="0" smtClean="0">
                              <a:ln>
                                <a:noFill/>
                              </a:ln>
                              <a:solidFill>
                                <a:srgbClr val="000000"/>
                              </a:solidFill>
                              <a:effectLst/>
                              <a:uLnTx/>
                              <a:uFillTx/>
                              <a:latin typeface="Cambria Math" panose="02040503050406030204" pitchFamily="18" charset="0"/>
                              <a:ea typeface="黑体" pitchFamily="2" charset="-122"/>
                            </a:rPr>
                            <m:t>𝑟𝑁</m:t>
                          </m:r>
                        </m:sub>
                      </m:sSub>
                    </m:oMath>
                  </a14:m>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rPr>
                    <a:t>——</a:t>
                  </a:r>
                  <a:r>
                    <a:rPr kumimoji="0" lang="zh-CN" altLang="en-US" sz="1600" b="0" i="0" u="none" strike="noStrike" kern="0" cap="none" spc="0" normalizeH="0" baseline="0" noProof="0" dirty="0" smtClean="0">
                      <a:ln>
                        <a:noFill/>
                      </a:ln>
                      <a:solidFill>
                        <a:srgbClr val="0000FF"/>
                      </a:solidFill>
                      <a:effectLst/>
                      <a:uLnTx/>
                      <a:uFillTx/>
                      <a:latin typeface="Arial" charset="0"/>
                      <a:ea typeface="黑体" pitchFamily="2" charset="-122"/>
                    </a:rPr>
                    <a:t>有限寿命疲劳极限</a:t>
                  </a:r>
                  <a:endPar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endParaRPr>
                </a:p>
              </p:txBody>
            </p:sp>
          </mc:Choice>
          <mc:Fallback xmlns="">
            <p:sp>
              <p:nvSpPr>
                <p:cNvPr id="87" name="Text Box 8"/>
                <p:cNvSpPr txBox="1">
                  <a:spLocks noRot="1" noChangeAspect="1" noMove="1" noResize="1" noEditPoints="1" noAdjustHandles="1" noChangeArrowheads="1" noChangeShapeType="1" noTextEdit="1"/>
                </p:cNvSpPr>
                <p:nvPr/>
              </p:nvSpPr>
              <p:spPr bwMode="auto">
                <a:xfrm>
                  <a:off x="6453517" y="3823574"/>
                  <a:ext cx="2595285" cy="412421"/>
                </a:xfrm>
                <a:prstGeom prst="rect">
                  <a:avLst/>
                </a:prstGeom>
                <a:blipFill rotWithShape="0">
                  <a:blip r:embed="rId13"/>
                  <a:stretch>
                    <a:fillRect b="-10294"/>
                  </a:stretch>
                </a:blipFill>
                <a:ln>
                  <a:noFill/>
                </a:ln>
              </p:spPr>
              <p:txBody>
                <a:bodyPr/>
                <a:lstStyle/>
                <a:p>
                  <a:r>
                    <a:rPr lang="zh-CN" altLang="en-US">
                      <a:noFill/>
                    </a:rPr>
                    <a:t> </a:t>
                  </a:r>
                </a:p>
              </p:txBody>
            </p:sp>
          </mc:Fallback>
        </mc:AlternateContent>
        <p:sp>
          <p:nvSpPr>
            <p:cNvPr id="88" name="Text Box 8"/>
            <p:cNvSpPr txBox="1">
              <a:spLocks noChangeArrowheads="1"/>
            </p:cNvSpPr>
            <p:nvPr/>
          </p:nvSpPr>
          <p:spPr bwMode="auto">
            <a:xfrm>
              <a:off x="6571733" y="4517632"/>
              <a:ext cx="2477070" cy="412421"/>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fontAlgn="auto" hangingPunct="1">
                <a:lnSpc>
                  <a:spcPct val="130000"/>
                </a:lnSpc>
                <a:spcBef>
                  <a:spcPts val="0"/>
                </a:spcBef>
                <a:spcAft>
                  <a:spcPts val="0"/>
                </a:spcAft>
              </a:pPr>
              <a:r>
                <a:rPr lang="en-US" altLang="zh-CN" sz="1600" i="1" kern="0" dirty="0" smtClean="0">
                  <a:solidFill>
                    <a:srgbClr val="000000"/>
                  </a:solidFill>
                </a:rPr>
                <a:t>N ——</a:t>
              </a:r>
              <a:r>
                <a:rPr lang="zh-CN" altLang="en-US" sz="1600" kern="0" dirty="0">
                  <a:solidFill>
                    <a:srgbClr val="000000"/>
                  </a:solidFill>
                </a:rPr>
                <a:t>应力循环</a:t>
              </a:r>
              <a:r>
                <a:rPr lang="zh-CN" altLang="en-US" sz="1600" kern="0" dirty="0" smtClean="0">
                  <a:solidFill>
                    <a:srgbClr val="000000"/>
                  </a:solidFill>
                </a:rPr>
                <a:t>次数</a:t>
              </a:r>
              <a:endParaRPr kumimoji="0" lang="en-US" altLang="zh-CN" sz="1600" b="0" i="0" u="none" strike="noStrike" kern="0" cap="none" spc="0" normalizeH="0" baseline="0" noProof="0" dirty="0" smtClean="0">
                <a:ln>
                  <a:noFill/>
                </a:ln>
                <a:solidFill>
                  <a:srgbClr val="000000"/>
                </a:solidFill>
                <a:effectLst/>
                <a:uLnTx/>
                <a:uFillTx/>
              </a:endParaRPr>
            </a:p>
          </p:txBody>
        </p:sp>
        <p:sp>
          <p:nvSpPr>
            <p:cNvPr id="89" name="Text Box 8"/>
            <p:cNvSpPr txBox="1">
              <a:spLocks noChangeArrowheads="1"/>
            </p:cNvSpPr>
            <p:nvPr/>
          </p:nvSpPr>
          <p:spPr bwMode="auto">
            <a:xfrm>
              <a:off x="6555286" y="5203154"/>
              <a:ext cx="2493516" cy="412421"/>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622300" marR="0" lvl="0" indent="-622300" defTabSz="914400" eaLnBrk="1" fontAlgn="auto" latinLnBrk="0" hangingPunct="1">
                <a:lnSpc>
                  <a:spcPct val="130000"/>
                </a:lnSpc>
                <a:spcBef>
                  <a:spcPts val="0"/>
                </a:spcBef>
                <a:spcAft>
                  <a:spcPts val="0"/>
                </a:spcAft>
                <a:buClrTx/>
                <a:buSzTx/>
                <a:buFontTx/>
                <a:buNone/>
              </a:pPr>
              <a:r>
                <a:rPr kumimoji="0" lang="en-US" altLang="zh-CN" sz="1600" b="0" i="1" u="none" strike="noStrike" kern="0" cap="none" spc="0" normalizeH="0" baseline="0" noProof="0" dirty="0" smtClean="0">
                  <a:ln>
                    <a:noFill/>
                  </a:ln>
                  <a:solidFill>
                    <a:srgbClr val="000000"/>
                  </a:solidFill>
                  <a:effectLst/>
                  <a:uLnTx/>
                  <a:uFillTx/>
                </a:rPr>
                <a:t>m</a:t>
              </a:r>
              <a:r>
                <a:rPr kumimoji="0" lang="en-US" altLang="zh-CN" sz="1600" b="0" i="0" u="none" strike="noStrike" kern="0" cap="none" spc="0" normalizeH="0" baseline="0" noProof="0" dirty="0" smtClean="0">
                  <a:ln>
                    <a:noFill/>
                  </a:ln>
                  <a:solidFill>
                    <a:srgbClr val="000000"/>
                  </a:solidFill>
                  <a:effectLst/>
                  <a:uLnTx/>
                  <a:uFillTx/>
                </a:rPr>
                <a:t> ——</a:t>
              </a:r>
              <a:r>
                <a:rPr kumimoji="0" lang="zh-CN" altLang="en-US" sz="1600" b="0" i="0" u="none" strike="noStrike" kern="0" cap="none" spc="0" normalizeH="0" baseline="0" noProof="0" dirty="0" smtClean="0">
                  <a:ln>
                    <a:noFill/>
                  </a:ln>
                  <a:solidFill>
                    <a:srgbClr val="000000"/>
                  </a:solidFill>
                  <a:effectLst/>
                  <a:uLnTx/>
                  <a:uFillTx/>
                </a:rPr>
                <a:t>寿命指数</a:t>
              </a:r>
              <a:endParaRPr kumimoji="0" lang="en-US" altLang="zh-CN" sz="1600" b="0" i="0" u="none" strike="noStrike" kern="0" cap="none" spc="0" normalizeH="0" baseline="0" noProof="0" dirty="0" smtClean="0">
                <a:ln>
                  <a:noFill/>
                </a:ln>
                <a:solidFill>
                  <a:srgbClr val="000000"/>
                </a:solidFill>
                <a:effectLst/>
                <a:uLnTx/>
                <a:uFillTx/>
              </a:endParaRPr>
            </a:p>
          </p:txBody>
        </p:sp>
        <p:sp>
          <p:nvSpPr>
            <p:cNvPr id="90" name="Text Box 8"/>
            <p:cNvSpPr txBox="1">
              <a:spLocks noChangeArrowheads="1"/>
            </p:cNvSpPr>
            <p:nvPr/>
          </p:nvSpPr>
          <p:spPr bwMode="auto">
            <a:xfrm>
              <a:off x="6574469" y="4860393"/>
              <a:ext cx="2474333" cy="412421"/>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fontAlgn="auto" hangingPunct="1">
                <a:lnSpc>
                  <a:spcPct val="130000"/>
                </a:lnSpc>
                <a:spcBef>
                  <a:spcPts val="0"/>
                </a:spcBef>
                <a:spcAft>
                  <a:spcPts val="0"/>
                </a:spcAft>
              </a:pPr>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rPr>
                <a:t>C ——</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材料常数</a:t>
              </a:r>
              <a:endPar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endParaRPr>
            </a:p>
          </p:txBody>
        </p:sp>
        <p:sp>
          <p:nvSpPr>
            <p:cNvPr id="47" name="Text Box 8"/>
            <p:cNvSpPr txBox="1">
              <a:spLocks noChangeArrowheads="1"/>
            </p:cNvSpPr>
            <p:nvPr/>
          </p:nvSpPr>
          <p:spPr bwMode="auto">
            <a:xfrm>
              <a:off x="6487188" y="4176052"/>
              <a:ext cx="2477070" cy="412421"/>
            </a:xfrm>
            <a:prstGeom prst="rect">
              <a:avLst/>
            </a:prstGeom>
            <a:noFill/>
            <a:ln>
              <a:noFill/>
            </a:ln>
          </p:spPr>
          <p:txBody>
            <a:bodyPr wrap="square">
              <a:spAutoFit/>
            </a:bodyPr>
            <a:lstStyle>
              <a:lvl1pPr marL="622300" indent="-622300"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fontAlgn="auto" hangingPunct="1">
                <a:lnSpc>
                  <a:spcPct val="130000"/>
                </a:lnSpc>
                <a:spcBef>
                  <a:spcPts val="0"/>
                </a:spcBef>
                <a:spcAft>
                  <a:spcPts val="0"/>
                </a:spcAft>
              </a:pPr>
              <a:r>
                <a:rPr lang="en-US" altLang="zh-CN" sz="1600" i="1" kern="0" dirty="0" smtClean="0">
                  <a:solidFill>
                    <a:srgbClr val="000000"/>
                  </a:solidFill>
                </a:rPr>
                <a:t>N</a:t>
              </a:r>
              <a:r>
                <a:rPr lang="en-US" altLang="zh-CN" sz="1600" kern="0" baseline="-25000" dirty="0" smtClean="0">
                  <a:solidFill>
                    <a:srgbClr val="000000"/>
                  </a:solidFill>
                </a:rPr>
                <a:t>0</a:t>
              </a:r>
              <a:r>
                <a:rPr lang="en-US" altLang="zh-CN" sz="1600" i="1" kern="0" dirty="0" smtClean="0">
                  <a:solidFill>
                    <a:srgbClr val="000000"/>
                  </a:solidFill>
                </a:rPr>
                <a:t> ——</a:t>
              </a:r>
              <a:r>
                <a:rPr lang="zh-CN" altLang="en-US" sz="1600" kern="0" dirty="0" smtClean="0">
                  <a:solidFill>
                    <a:srgbClr val="000000"/>
                  </a:solidFill>
                </a:rPr>
                <a:t>循环基数</a:t>
              </a:r>
              <a:endParaRPr kumimoji="0" lang="en-US" altLang="zh-CN" sz="1600" b="0" i="0" u="none" strike="noStrike" kern="0" cap="none" spc="0" normalizeH="0" baseline="0" noProof="0" dirty="0" smtClean="0">
                <a:ln>
                  <a:noFill/>
                </a:ln>
                <a:solidFill>
                  <a:srgbClr val="000000"/>
                </a:solidFill>
                <a:effectLst/>
                <a:uLnTx/>
                <a:uFillTx/>
              </a:endParaRPr>
            </a:p>
          </p:txBody>
        </p:sp>
      </p:grpSp>
    </p:spTree>
    <p:extLst>
      <p:ext uri="{BB962C8B-B14F-4D97-AF65-F5344CB8AC3E}">
        <p14:creationId xmlns:p14="http://schemas.microsoft.com/office/powerpoint/2010/main" val="153591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left)">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wipe(left)">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wipe(right)">
                                      <p:cBhvr>
                                        <p:cTn id="26" dur="500"/>
                                        <p:tgtEl>
                                          <p:spTgt spid="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wipe(left)">
                                      <p:cBhvr>
                                        <p:cTn id="31" dur="750"/>
                                        <p:tgtEl>
                                          <p:spTgt spid="81"/>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73"/>
                                        </p:tgtEl>
                                        <p:attrNameLst>
                                          <p:attrName>style.visibility</p:attrName>
                                        </p:attrNameLst>
                                      </p:cBhvr>
                                      <p:to>
                                        <p:strVal val="visible"/>
                                      </p:to>
                                    </p:set>
                                    <p:anim calcmode="lin" valueType="num">
                                      <p:cBhvr>
                                        <p:cTn id="36" dur="500" fill="hold"/>
                                        <p:tgtEl>
                                          <p:spTgt spid="73"/>
                                        </p:tgtEl>
                                        <p:attrNameLst>
                                          <p:attrName>ppt_w</p:attrName>
                                        </p:attrNameLst>
                                      </p:cBhvr>
                                      <p:tavLst>
                                        <p:tav tm="0">
                                          <p:val>
                                            <p:fltVal val="0"/>
                                          </p:val>
                                        </p:tav>
                                        <p:tav tm="100000">
                                          <p:val>
                                            <p:strVal val="#ppt_w"/>
                                          </p:val>
                                        </p:tav>
                                      </p:tavLst>
                                    </p:anim>
                                    <p:anim calcmode="lin" valueType="num">
                                      <p:cBhvr>
                                        <p:cTn id="37" dur="500" fill="hold"/>
                                        <p:tgtEl>
                                          <p:spTgt spid="73"/>
                                        </p:tgtEl>
                                        <p:attrNameLst>
                                          <p:attrName>ppt_h</p:attrName>
                                        </p:attrNameLst>
                                      </p:cBhvr>
                                      <p:tavLst>
                                        <p:tav tm="0">
                                          <p:val>
                                            <p:fltVal val="0"/>
                                          </p:val>
                                        </p:tav>
                                        <p:tav tm="100000">
                                          <p:val>
                                            <p:strVal val="#ppt_h"/>
                                          </p:val>
                                        </p:tav>
                                      </p:tavLst>
                                    </p:anim>
                                    <p:animEffect transition="in" filter="fade">
                                      <p:cBhvr>
                                        <p:cTn id="38" dur="500"/>
                                        <p:tgtEl>
                                          <p:spTgt spid="7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wipe(down)">
                                      <p:cBhvr>
                                        <p:cTn id="43" dur="500"/>
                                        <p:tgtEl>
                                          <p:spTgt spid="7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wipe(right)">
                                      <p:cBhvr>
                                        <p:cTn id="48" dur="750"/>
                                        <p:tgtEl>
                                          <p:spTgt spid="7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93"/>
                                        </p:tgtEl>
                                        <p:attrNameLst>
                                          <p:attrName>style.visibility</p:attrName>
                                        </p:attrNameLst>
                                      </p:cBhvr>
                                      <p:to>
                                        <p:strVal val="visible"/>
                                      </p:to>
                                    </p:set>
                                    <p:animEffect transition="in" filter="wipe(left)">
                                      <p:cBhvr>
                                        <p:cTn id="53" dur="500"/>
                                        <p:tgtEl>
                                          <p:spTgt spid="9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wipe(up)">
                                      <p:cBhvr>
                                        <p:cTn id="58" dur="500"/>
                                        <p:tgtEl>
                                          <p:spTgt spid="69"/>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p:cTn id="63" dur="500" fill="hold"/>
                                        <p:tgtEl>
                                          <p:spTgt spid="7"/>
                                        </p:tgtEl>
                                        <p:attrNameLst>
                                          <p:attrName>ppt_w</p:attrName>
                                        </p:attrNameLst>
                                      </p:cBhvr>
                                      <p:tavLst>
                                        <p:tav tm="0">
                                          <p:val>
                                            <p:fltVal val="0"/>
                                          </p:val>
                                        </p:tav>
                                        <p:tav tm="100000">
                                          <p:val>
                                            <p:strVal val="#ppt_w"/>
                                          </p:val>
                                        </p:tav>
                                      </p:tavLst>
                                    </p:anim>
                                    <p:anim calcmode="lin" valueType="num">
                                      <p:cBhvr>
                                        <p:cTn id="64" dur="500" fill="hold"/>
                                        <p:tgtEl>
                                          <p:spTgt spid="7"/>
                                        </p:tgtEl>
                                        <p:attrNameLst>
                                          <p:attrName>ppt_h</p:attrName>
                                        </p:attrNameLst>
                                      </p:cBhvr>
                                      <p:tavLst>
                                        <p:tav tm="0">
                                          <p:val>
                                            <p:fltVal val="0"/>
                                          </p:val>
                                        </p:tav>
                                        <p:tav tm="100000">
                                          <p:val>
                                            <p:strVal val="#ppt_h"/>
                                          </p:val>
                                        </p:tav>
                                      </p:tavLst>
                                    </p:anim>
                                    <p:animEffect transition="in" filter="fade">
                                      <p:cBhvr>
                                        <p:cTn id="65" dur="500"/>
                                        <p:tgtEl>
                                          <p:spTgt spid="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wipe(down)">
                                      <p:cBhvr>
                                        <p:cTn id="70" dur="500"/>
                                        <p:tgtEl>
                                          <p:spTgt spid="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right)">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42"/>
                                        </p:tgtEl>
                                        <p:attrNameLst>
                                          <p:attrName>style.visibility</p:attrName>
                                        </p:attrNameLst>
                                      </p:cBhvr>
                                      <p:to>
                                        <p:strVal val="visible"/>
                                      </p:to>
                                    </p:set>
                                    <p:anim calcmode="lin" valueType="num">
                                      <p:cBhvr>
                                        <p:cTn id="80" dur="500" fill="hold"/>
                                        <p:tgtEl>
                                          <p:spTgt spid="42"/>
                                        </p:tgtEl>
                                        <p:attrNameLst>
                                          <p:attrName>ppt_w</p:attrName>
                                        </p:attrNameLst>
                                      </p:cBhvr>
                                      <p:tavLst>
                                        <p:tav tm="0">
                                          <p:val>
                                            <p:fltVal val="0"/>
                                          </p:val>
                                        </p:tav>
                                        <p:tav tm="100000">
                                          <p:val>
                                            <p:strVal val="#ppt_w"/>
                                          </p:val>
                                        </p:tav>
                                      </p:tavLst>
                                    </p:anim>
                                    <p:anim calcmode="lin" valueType="num">
                                      <p:cBhvr>
                                        <p:cTn id="81" dur="500" fill="hold"/>
                                        <p:tgtEl>
                                          <p:spTgt spid="42"/>
                                        </p:tgtEl>
                                        <p:attrNameLst>
                                          <p:attrName>ppt_h</p:attrName>
                                        </p:attrNameLst>
                                      </p:cBhvr>
                                      <p:tavLst>
                                        <p:tav tm="0">
                                          <p:val>
                                            <p:fltVal val="0"/>
                                          </p:val>
                                        </p:tav>
                                        <p:tav tm="100000">
                                          <p:val>
                                            <p:strVal val="#ppt_h"/>
                                          </p:val>
                                        </p:tav>
                                      </p:tavLst>
                                    </p:anim>
                                    <p:animEffect transition="in" filter="fade">
                                      <p:cBhvr>
                                        <p:cTn id="82" dur="500"/>
                                        <p:tgtEl>
                                          <p:spTgt spid="42"/>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43"/>
                                        </p:tgtEl>
                                        <p:attrNameLst>
                                          <p:attrName>style.visibility</p:attrName>
                                        </p:attrNameLst>
                                      </p:cBhvr>
                                      <p:to>
                                        <p:strVal val="visible"/>
                                      </p:to>
                                    </p:set>
                                    <p:anim calcmode="lin" valueType="num">
                                      <p:cBhvr>
                                        <p:cTn id="87" dur="500" fill="hold"/>
                                        <p:tgtEl>
                                          <p:spTgt spid="43"/>
                                        </p:tgtEl>
                                        <p:attrNameLst>
                                          <p:attrName>ppt_w</p:attrName>
                                        </p:attrNameLst>
                                      </p:cBhvr>
                                      <p:tavLst>
                                        <p:tav tm="0">
                                          <p:val>
                                            <p:fltVal val="0"/>
                                          </p:val>
                                        </p:tav>
                                        <p:tav tm="100000">
                                          <p:val>
                                            <p:strVal val="#ppt_w"/>
                                          </p:val>
                                        </p:tav>
                                      </p:tavLst>
                                    </p:anim>
                                    <p:anim calcmode="lin" valueType="num">
                                      <p:cBhvr>
                                        <p:cTn id="88" dur="500" fill="hold"/>
                                        <p:tgtEl>
                                          <p:spTgt spid="43"/>
                                        </p:tgtEl>
                                        <p:attrNameLst>
                                          <p:attrName>ppt_h</p:attrName>
                                        </p:attrNameLst>
                                      </p:cBhvr>
                                      <p:tavLst>
                                        <p:tav tm="0">
                                          <p:val>
                                            <p:fltVal val="0"/>
                                          </p:val>
                                        </p:tav>
                                        <p:tav tm="100000">
                                          <p:val>
                                            <p:strVal val="#ppt_h"/>
                                          </p:val>
                                        </p:tav>
                                      </p:tavLst>
                                    </p:anim>
                                    <p:animEffect transition="in" filter="fade">
                                      <p:cBhvr>
                                        <p:cTn id="89" dur="500"/>
                                        <p:tgtEl>
                                          <p:spTgt spid="4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wipe(left)">
                                      <p:cBhvr>
                                        <p:cTn id="94" dur="500"/>
                                        <p:tgtEl>
                                          <p:spTgt spid="1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1"/>
                                        </p:tgtEl>
                                        <p:attrNameLst>
                                          <p:attrName>style.visibility</p:attrName>
                                        </p:attrNameLst>
                                      </p:cBhvr>
                                      <p:to>
                                        <p:strVal val="visible"/>
                                      </p:to>
                                    </p:set>
                                    <p:animEffect transition="in" filter="wipe(left)">
                                      <p:cBhvr>
                                        <p:cTn id="99" dur="500"/>
                                        <p:tgtEl>
                                          <p:spTgt spid="1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0"/>
                                        </p:tgtEl>
                                        <p:attrNameLst>
                                          <p:attrName>style.visibility</p:attrName>
                                        </p:attrNameLst>
                                      </p:cBhvr>
                                      <p:to>
                                        <p:strVal val="visible"/>
                                      </p:to>
                                    </p:set>
                                    <p:animEffect transition="in" filter="wipe(left)">
                                      <p:cBhvr>
                                        <p:cTn id="10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73" grpId="0" animBg="1"/>
      <p:bldP spid="42" grpId="0" animBg="1"/>
      <p:bldP spid="43"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Box 3">
                <a:extLst>
                  <a:ext uri="{FF2B5EF4-FFF2-40B4-BE49-F238E27FC236}">
                    <a16:creationId xmlns="" xmlns:a16="http://schemas.microsoft.com/office/drawing/2014/main" id="{5D7F92A6-81B9-48B7-8897-11500C3FB078}"/>
                  </a:ext>
                </a:extLst>
              </p:cNvPr>
              <p:cNvSpPr txBox="1">
                <a:spLocks noChangeArrowheads="1"/>
              </p:cNvSpPr>
              <p:nvPr/>
            </p:nvSpPr>
            <p:spPr bwMode="auto">
              <a:xfrm>
                <a:off x="183143" y="514335"/>
                <a:ext cx="8853353" cy="1204561"/>
              </a:xfrm>
              <a:prstGeom prst="rect">
                <a:avLst/>
              </a:prstGeom>
              <a:solidFill>
                <a:srgbClr val="E0E0E0"/>
              </a:solidFill>
              <a:ln>
                <a:noFill/>
              </a:ln>
              <a:extLst/>
            </p:spPr>
            <p:txBody>
              <a:bodyPr wrap="square">
                <a:spAutoFit/>
              </a:bodyPr>
              <a:lstStyle>
                <a:lvl1pPr>
                  <a:defRPr kumimoji="1" sz="2400">
                    <a:solidFill>
                      <a:srgbClr val="990000"/>
                    </a:solidFill>
                    <a:latin typeface="华文中宋" panose="02010600040101010101" pitchFamily="2" charset="-122"/>
                    <a:ea typeface="华文中宋" panose="02010600040101010101" pitchFamily="2" charset="-122"/>
                  </a:defRPr>
                </a:lvl1pPr>
                <a:lvl2pPr marL="742950" indent="-285750">
                  <a:defRPr kumimoji="1" sz="2400">
                    <a:solidFill>
                      <a:srgbClr val="990000"/>
                    </a:solidFill>
                    <a:latin typeface="华文中宋" panose="02010600040101010101" pitchFamily="2" charset="-122"/>
                    <a:ea typeface="华文中宋" panose="02010600040101010101" pitchFamily="2" charset="-122"/>
                  </a:defRPr>
                </a:lvl2pPr>
                <a:lvl3pPr marL="1143000" indent="-228600">
                  <a:defRPr kumimoji="1" sz="2400">
                    <a:solidFill>
                      <a:srgbClr val="990000"/>
                    </a:solidFill>
                    <a:latin typeface="华文中宋" panose="02010600040101010101" pitchFamily="2" charset="-122"/>
                    <a:ea typeface="华文中宋" panose="02010600040101010101" pitchFamily="2" charset="-122"/>
                  </a:defRPr>
                </a:lvl3pPr>
                <a:lvl4pPr marL="1600200" indent="-228600">
                  <a:defRPr kumimoji="1" sz="2400">
                    <a:solidFill>
                      <a:srgbClr val="990000"/>
                    </a:solidFill>
                    <a:latin typeface="华文中宋" panose="02010600040101010101" pitchFamily="2" charset="-122"/>
                    <a:ea typeface="华文中宋" panose="02010600040101010101" pitchFamily="2" charset="-122"/>
                  </a:defRPr>
                </a:lvl4pPr>
                <a:lvl5pPr marL="2057400" indent="-228600">
                  <a:defRPr kumimoji="1" sz="2400">
                    <a:solidFill>
                      <a:srgbClr val="990000"/>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9pPr>
              </a:lstStyle>
              <a:p>
                <a:pPr algn="just">
                  <a:lnSpc>
                    <a:spcPct val="125000"/>
                  </a:lnSpc>
                </a:pPr>
                <a:r>
                  <a:rPr lang="zh-CN" altLang="en-US" sz="2000" b="1" dirty="0" smtClean="0">
                    <a:solidFill>
                      <a:srgbClr val="C00000"/>
                    </a:solidFill>
                    <a:latin typeface="+mn-ea"/>
                    <a:ea typeface="+mn-ea"/>
                  </a:rPr>
                  <a:t>例</a:t>
                </a:r>
                <a:r>
                  <a:rPr lang="en-US" altLang="zh-CN" sz="2000" b="1" dirty="0" smtClean="0">
                    <a:solidFill>
                      <a:srgbClr val="C00000"/>
                    </a:solidFill>
                    <a:latin typeface="+mn-ea"/>
                    <a:ea typeface="+mn-ea"/>
                  </a:rPr>
                  <a:t>1</a:t>
                </a:r>
                <a:r>
                  <a:rPr lang="zh-CN" altLang="en-US" sz="2000" b="1" dirty="0" smtClean="0">
                    <a:solidFill>
                      <a:srgbClr val="C00000"/>
                    </a:solidFill>
                    <a:latin typeface="+mn-ea"/>
                    <a:ea typeface="+mn-ea"/>
                  </a:rPr>
                  <a:t>：</a:t>
                </a:r>
                <a:r>
                  <a:rPr lang="zh-CN" altLang="en-US" sz="2000" dirty="0" smtClean="0">
                    <a:solidFill>
                      <a:srgbClr val="000000"/>
                    </a:solidFill>
                    <a:latin typeface="+mn-ea"/>
                    <a:ea typeface="+mn-ea"/>
                  </a:rPr>
                  <a:t>某钢材的对称循环弯曲疲劳极限</a:t>
                </a:r>
                <a14:m>
                  <m:oMath xmlns:m="http://schemas.openxmlformats.org/officeDocument/2006/math">
                    <m:sSub>
                      <m:sSubPr>
                        <m:ctrlPr>
                          <a:rPr lang="en-US" altLang="zh-CN" sz="2000" i="1" smtClean="0">
                            <a:solidFill>
                              <a:srgbClr val="000000"/>
                            </a:solidFill>
                            <a:latin typeface="Cambria Math" panose="02040503050406030204" pitchFamily="18" charset="0"/>
                            <a:ea typeface="+mn-ea"/>
                          </a:rPr>
                        </m:ctrlPr>
                      </m:sSubPr>
                      <m:e>
                        <m:r>
                          <a:rPr lang="zh-CN" altLang="en-US" sz="2000" i="1" smtClean="0">
                            <a:solidFill>
                              <a:srgbClr val="000000"/>
                            </a:solidFill>
                            <a:latin typeface="Cambria Math" panose="02040503050406030204" pitchFamily="18" charset="0"/>
                            <a:ea typeface="+mn-ea"/>
                          </a:rPr>
                          <m:t>𝜎</m:t>
                        </m:r>
                      </m:e>
                      <m:sub>
                        <m:r>
                          <a:rPr lang="en-US" altLang="zh-CN" sz="2000" i="1">
                            <a:solidFill>
                              <a:srgbClr val="000000"/>
                            </a:solidFill>
                            <a:latin typeface="Cambria Math" panose="02040503050406030204" pitchFamily="18" charset="0"/>
                            <a:ea typeface="+mn-ea"/>
                          </a:rPr>
                          <m:t>−</m:t>
                        </m:r>
                        <m:r>
                          <a:rPr lang="en-US" altLang="zh-CN" sz="2000" b="0" i="1" smtClean="0">
                            <a:solidFill>
                              <a:srgbClr val="000000"/>
                            </a:solidFill>
                            <a:latin typeface="Cambria Math" panose="02040503050406030204" pitchFamily="18" charset="0"/>
                            <a:ea typeface="+mn-ea"/>
                          </a:rPr>
                          <m:t>1</m:t>
                        </m:r>
                      </m:sub>
                    </m:sSub>
                    <m:r>
                      <a:rPr lang="en-US" altLang="zh-CN" sz="2000" b="0" i="1" smtClean="0">
                        <a:solidFill>
                          <a:srgbClr val="000000"/>
                        </a:solidFill>
                        <a:latin typeface="Cambria Math" panose="02040503050406030204" pitchFamily="18" charset="0"/>
                        <a:ea typeface="+mn-ea"/>
                      </a:rPr>
                      <m:t>=275</m:t>
                    </m:r>
                    <m:r>
                      <a:rPr lang="en-US" altLang="zh-CN" sz="2000" b="0" i="1" smtClean="0">
                        <a:solidFill>
                          <a:srgbClr val="000000"/>
                        </a:solidFill>
                        <a:latin typeface="Cambria Math" panose="02040503050406030204" pitchFamily="18" charset="0"/>
                        <a:ea typeface="+mn-ea"/>
                      </a:rPr>
                      <m:t>𝑀𝑃𝑎</m:t>
                    </m:r>
                  </m:oMath>
                </a14:m>
                <a:r>
                  <a:rPr lang="zh-CN" altLang="en-US" sz="2000" dirty="0" smtClean="0">
                    <a:solidFill>
                      <a:srgbClr val="000000"/>
                    </a:solidFill>
                    <a:latin typeface="+mn-ea"/>
                    <a:ea typeface="+mn-ea"/>
                  </a:rPr>
                  <a:t>，屈服极限</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𝜎</m:t>
                        </m:r>
                      </m:e>
                      <m:sub>
                        <m:r>
                          <a:rPr lang="en-US" altLang="zh-CN" sz="2000" b="0" i="1" smtClean="0">
                            <a:solidFill>
                              <a:srgbClr val="000000"/>
                            </a:solidFill>
                            <a:latin typeface="Cambria Math" panose="02040503050406030204" pitchFamily="18" charset="0"/>
                          </a:rPr>
                          <m:t>𝑠</m:t>
                        </m:r>
                      </m:sub>
                    </m:sSub>
                    <m:r>
                      <a:rPr lang="en-US" altLang="zh-CN" sz="2000" i="1">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35</m:t>
                    </m:r>
                    <m:r>
                      <a:rPr lang="en-US" altLang="zh-CN" sz="2000" i="1">
                        <a:solidFill>
                          <a:srgbClr val="000000"/>
                        </a:solidFill>
                        <a:latin typeface="Cambria Math" panose="02040503050406030204" pitchFamily="18" charset="0"/>
                      </a:rPr>
                      <m:t>5</m:t>
                    </m:r>
                    <m:r>
                      <a:rPr lang="en-US" altLang="zh-CN" sz="2000" i="1">
                        <a:solidFill>
                          <a:srgbClr val="000000"/>
                        </a:solidFill>
                        <a:latin typeface="Cambria Math" panose="02040503050406030204" pitchFamily="18" charset="0"/>
                      </a:rPr>
                      <m:t>𝑀𝑃𝑎</m:t>
                    </m:r>
                  </m:oMath>
                </a14:m>
                <a:r>
                  <a:rPr lang="zh-CN" altLang="en-US" sz="2000" dirty="0" smtClean="0">
                    <a:solidFill>
                      <a:srgbClr val="000000"/>
                    </a:solidFill>
                    <a:latin typeface="+mn-ea"/>
                    <a:ea typeface="+mn-ea"/>
                  </a:rPr>
                  <a:t>，取循环基数</a:t>
                </a:r>
                <a14:m>
                  <m:oMath xmlns:m="http://schemas.openxmlformats.org/officeDocument/2006/math">
                    <m:sSub>
                      <m:sSubPr>
                        <m:ctrlPr>
                          <a:rPr lang="en-US" altLang="zh-CN" sz="2000" i="1">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𝑁</m:t>
                        </m:r>
                      </m:e>
                      <m:sub>
                        <m:r>
                          <a:rPr lang="en-US" altLang="zh-CN" sz="2000" b="0" i="1" smtClean="0">
                            <a:solidFill>
                              <a:srgbClr val="000000"/>
                            </a:solidFill>
                            <a:latin typeface="Cambria Math" panose="02040503050406030204" pitchFamily="18" charset="0"/>
                          </a:rPr>
                          <m:t>0</m:t>
                        </m:r>
                      </m:sub>
                    </m:sSub>
                    <m:r>
                      <a:rPr lang="en-US" altLang="zh-CN" sz="2000" i="1">
                        <a:solidFill>
                          <a:srgbClr val="000000"/>
                        </a:solidFill>
                        <a:latin typeface="Cambria Math" panose="02040503050406030204" pitchFamily="18" charset="0"/>
                      </a:rPr>
                      <m:t>=</m:t>
                    </m:r>
                    <m:sSup>
                      <m:sSupPr>
                        <m:ctrlPr>
                          <a:rPr lang="en-US" altLang="zh-CN" sz="200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10</m:t>
                        </m:r>
                      </m:e>
                      <m:sup>
                        <m:r>
                          <a:rPr lang="en-US" altLang="zh-CN" sz="2000" b="0" i="1" smtClean="0">
                            <a:solidFill>
                              <a:srgbClr val="000000"/>
                            </a:solidFill>
                            <a:latin typeface="Cambria Math" panose="02040503050406030204" pitchFamily="18" charset="0"/>
                          </a:rPr>
                          <m:t>7</m:t>
                        </m:r>
                      </m:sup>
                    </m:sSup>
                  </m:oMath>
                </a14:m>
                <a:r>
                  <a:rPr lang="zh-CN" altLang="en-US" sz="2000" dirty="0" smtClean="0">
                    <a:solidFill>
                      <a:srgbClr val="000000"/>
                    </a:solidFill>
                    <a:latin typeface="+mn-ea"/>
                    <a:ea typeface="+mn-ea"/>
                  </a:rPr>
                  <a:t>，寿命指数</a:t>
                </a:r>
                <a14:m>
                  <m:oMath xmlns:m="http://schemas.openxmlformats.org/officeDocument/2006/math">
                    <m:r>
                      <a:rPr lang="en-US" altLang="zh-CN" sz="2000" b="0" i="1" smtClean="0">
                        <a:solidFill>
                          <a:srgbClr val="000000"/>
                        </a:solidFill>
                        <a:latin typeface="Cambria Math" panose="02040503050406030204" pitchFamily="18" charset="0"/>
                      </a:rPr>
                      <m:t>𝑚</m:t>
                    </m:r>
                    <m:r>
                      <a:rPr lang="en-US" altLang="zh-CN" sz="2000" i="1">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9</m:t>
                    </m:r>
                  </m:oMath>
                </a14:m>
                <a:r>
                  <a:rPr lang="zh-CN" altLang="en-US" sz="2000" dirty="0" smtClean="0">
                    <a:solidFill>
                      <a:srgbClr val="000000"/>
                    </a:solidFill>
                    <a:latin typeface="+mn-ea"/>
                    <a:ea typeface="+mn-ea"/>
                  </a:rPr>
                  <a:t>，试求循环次数</a:t>
                </a:r>
                <a14:m>
                  <m:oMath xmlns:m="http://schemas.openxmlformats.org/officeDocument/2006/math">
                    <m:r>
                      <a:rPr lang="en-US" altLang="zh-CN" sz="2000" b="0" i="1" smtClean="0">
                        <a:solidFill>
                          <a:srgbClr val="000000"/>
                        </a:solidFill>
                        <a:latin typeface="Cambria Math" panose="02040503050406030204" pitchFamily="18" charset="0"/>
                        <a:ea typeface="+mn-ea"/>
                      </a:rPr>
                      <m:t>𝑁</m:t>
                    </m:r>
                  </m:oMath>
                </a14:m>
                <a:r>
                  <a:rPr lang="zh-CN" altLang="en-US" sz="2000" dirty="0" smtClean="0">
                    <a:solidFill>
                      <a:srgbClr val="000000"/>
                    </a:solidFill>
                    <a:latin typeface="+mn-ea"/>
                    <a:ea typeface="+mn-ea"/>
                  </a:rPr>
                  <a:t>分别为</a:t>
                </a:r>
                <a14:m>
                  <m:oMath xmlns:m="http://schemas.openxmlformats.org/officeDocument/2006/math">
                    <m:sSup>
                      <m:sSupPr>
                        <m:ctrlPr>
                          <a:rPr lang="en-US" altLang="zh-CN" sz="2000" i="1">
                            <a:solidFill>
                              <a:srgbClr val="000000"/>
                            </a:solidFill>
                            <a:latin typeface="Cambria Math" panose="02040503050406030204" pitchFamily="18" charset="0"/>
                          </a:rPr>
                        </m:ctrlPr>
                      </m:sSupPr>
                      <m:e>
                        <m:r>
                          <a:rPr lang="en-US" altLang="zh-CN" sz="2000" i="1">
                            <a:solidFill>
                              <a:srgbClr val="000000"/>
                            </a:solidFill>
                            <a:latin typeface="Cambria Math" panose="02040503050406030204" pitchFamily="18" charset="0"/>
                          </a:rPr>
                          <m:t>10</m:t>
                        </m:r>
                      </m:e>
                      <m:sup>
                        <m:r>
                          <a:rPr lang="en-US" altLang="zh-CN" sz="2000" b="0" i="1" smtClean="0">
                            <a:solidFill>
                              <a:srgbClr val="000000"/>
                            </a:solidFill>
                            <a:latin typeface="Cambria Math" panose="02040503050406030204" pitchFamily="18" charset="0"/>
                          </a:rPr>
                          <m:t>5</m:t>
                        </m:r>
                      </m:sup>
                    </m:sSup>
                  </m:oMath>
                </a14:m>
                <a:r>
                  <a:rPr lang="zh-CN" altLang="en-US" sz="2000" dirty="0" smtClean="0">
                    <a:solidFill>
                      <a:srgbClr val="000000"/>
                    </a:solidFill>
                    <a:latin typeface="+mn-ea"/>
                  </a:rPr>
                  <a:t>，</a:t>
                </a:r>
                <a14:m>
                  <m:oMath xmlns:m="http://schemas.openxmlformats.org/officeDocument/2006/math">
                    <m:r>
                      <a:rPr lang="en-US" altLang="zh-CN" sz="2000" b="0" i="0" smtClean="0">
                        <a:solidFill>
                          <a:srgbClr val="000000"/>
                        </a:solidFill>
                        <a:latin typeface="Cambria Math" panose="02040503050406030204" pitchFamily="18" charset="0"/>
                      </a:rPr>
                      <m:t>5</m:t>
                    </m:r>
                    <m:r>
                      <a:rPr lang="en-US" altLang="zh-CN" sz="2000" b="0" i="1" smtClean="0">
                        <a:solidFill>
                          <a:srgbClr val="000000"/>
                        </a:solidFill>
                        <a:latin typeface="Cambria Math" panose="02040503050406030204" pitchFamily="18" charset="0"/>
                        <a:ea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r>
                          <a:rPr lang="en-US" altLang="zh-CN" sz="2000" i="1">
                            <a:solidFill>
                              <a:srgbClr val="000000"/>
                            </a:solidFill>
                            <a:latin typeface="Cambria Math" panose="02040503050406030204" pitchFamily="18" charset="0"/>
                          </a:rPr>
                          <m:t>10</m:t>
                        </m:r>
                      </m:e>
                      <m:sup>
                        <m:r>
                          <a:rPr lang="en-US" altLang="zh-CN" sz="2000" b="0" i="1" smtClean="0">
                            <a:solidFill>
                              <a:srgbClr val="000000"/>
                            </a:solidFill>
                            <a:latin typeface="Cambria Math" panose="02040503050406030204" pitchFamily="18" charset="0"/>
                          </a:rPr>
                          <m:t>6</m:t>
                        </m:r>
                      </m:sup>
                    </m:sSup>
                  </m:oMath>
                </a14:m>
                <a:r>
                  <a:rPr lang="zh-CN" altLang="en-US" sz="2000" dirty="0" smtClean="0">
                    <a:solidFill>
                      <a:srgbClr val="000000"/>
                    </a:solidFill>
                    <a:latin typeface="+mn-ea"/>
                    <a:ea typeface="+mn-ea"/>
                  </a:rPr>
                  <a:t>，</a:t>
                </a:r>
                <a14:m>
                  <m:oMath xmlns:m="http://schemas.openxmlformats.org/officeDocument/2006/math">
                    <m:sSup>
                      <m:sSupPr>
                        <m:ctrlPr>
                          <a:rPr lang="en-US" altLang="zh-CN" sz="2000" i="1">
                            <a:solidFill>
                              <a:srgbClr val="000000"/>
                            </a:solidFill>
                            <a:latin typeface="Cambria Math" panose="02040503050406030204" pitchFamily="18" charset="0"/>
                          </a:rPr>
                        </m:ctrlPr>
                      </m:sSupPr>
                      <m:e>
                        <m:r>
                          <a:rPr lang="en-US" altLang="zh-CN" sz="2000" i="1">
                            <a:solidFill>
                              <a:srgbClr val="000000"/>
                            </a:solidFill>
                            <a:latin typeface="Cambria Math" panose="02040503050406030204" pitchFamily="18" charset="0"/>
                          </a:rPr>
                          <m:t>10</m:t>
                        </m:r>
                      </m:e>
                      <m:sup>
                        <m:r>
                          <a:rPr lang="en-US" altLang="zh-CN" sz="2000" b="0" i="1" smtClean="0">
                            <a:solidFill>
                              <a:srgbClr val="000000"/>
                            </a:solidFill>
                            <a:latin typeface="Cambria Math" panose="02040503050406030204" pitchFamily="18" charset="0"/>
                          </a:rPr>
                          <m:t>8</m:t>
                        </m:r>
                      </m:sup>
                    </m:sSup>
                  </m:oMath>
                </a14:m>
                <a:r>
                  <a:rPr lang="zh-CN" altLang="en-US" sz="2000" dirty="0" smtClean="0">
                    <a:solidFill>
                      <a:srgbClr val="000000"/>
                    </a:solidFill>
                    <a:latin typeface="+mn-ea"/>
                  </a:rPr>
                  <a:t>次时相应的寿命系数</a:t>
                </a:r>
                <a14:m>
                  <m:oMath xmlns:m="http://schemas.openxmlformats.org/officeDocument/2006/math">
                    <m:sSub>
                      <m:sSubPr>
                        <m:ctrlPr>
                          <a:rPr lang="en-US" altLang="zh-CN" sz="2000" i="1" smtClean="0">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𝐾</m:t>
                        </m:r>
                      </m:e>
                      <m:sub>
                        <m:r>
                          <a:rPr lang="en-US" altLang="zh-CN" sz="2000" b="0" i="1" smtClean="0">
                            <a:solidFill>
                              <a:srgbClr val="000000"/>
                            </a:solidFill>
                            <a:latin typeface="Cambria Math" panose="02040503050406030204" pitchFamily="18" charset="0"/>
                          </a:rPr>
                          <m:t>𝑁</m:t>
                        </m:r>
                      </m:sub>
                    </m:sSub>
                  </m:oMath>
                </a14:m>
                <a:r>
                  <a:rPr lang="zh-CN" altLang="en-US" sz="2000" dirty="0" smtClean="0">
                    <a:solidFill>
                      <a:srgbClr val="000000"/>
                    </a:solidFill>
                    <a:latin typeface="+mn-ea"/>
                  </a:rPr>
                  <a:t>和疲劳极限</a:t>
                </a:r>
                <a14:m>
                  <m:oMath xmlns:m="http://schemas.openxmlformats.org/officeDocument/2006/math">
                    <m:sSub>
                      <m:sSubPr>
                        <m:ctrlPr>
                          <a:rPr lang="en-US" altLang="zh-CN" sz="2000" i="1" smtClean="0">
                            <a:solidFill>
                              <a:srgbClr val="000000"/>
                            </a:solidFill>
                            <a:latin typeface="Cambria Math" panose="02040503050406030204" pitchFamily="18" charset="0"/>
                          </a:rPr>
                        </m:ctrlPr>
                      </m:sSubPr>
                      <m:e>
                        <m:r>
                          <a:rPr lang="zh-CN" altLang="en-US" sz="2000" i="1" smtClean="0">
                            <a:solidFill>
                              <a:srgbClr val="000000"/>
                            </a:solidFill>
                            <a:latin typeface="Cambria Math" panose="02040503050406030204" pitchFamily="18" charset="0"/>
                          </a:rPr>
                          <m:t>𝜎</m:t>
                        </m:r>
                      </m:e>
                      <m:sub>
                        <m:r>
                          <a:rPr lang="en-US" altLang="zh-CN" sz="2000" i="1">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1</m:t>
                        </m:r>
                        <m:r>
                          <a:rPr lang="en-US" altLang="zh-CN" sz="2000" b="0" i="1" smtClean="0">
                            <a:solidFill>
                              <a:srgbClr val="000000"/>
                            </a:solidFill>
                            <a:latin typeface="Cambria Math" panose="02040503050406030204" pitchFamily="18" charset="0"/>
                          </a:rPr>
                          <m:t>𝑁</m:t>
                        </m:r>
                      </m:sub>
                    </m:sSub>
                  </m:oMath>
                </a14:m>
                <a:r>
                  <a:rPr lang="zh-CN" altLang="en-US" sz="2000" dirty="0" smtClean="0">
                    <a:solidFill>
                      <a:srgbClr val="000000"/>
                    </a:solidFill>
                    <a:latin typeface="+mn-ea"/>
                  </a:rPr>
                  <a:t>。</a:t>
                </a:r>
                <a:endParaRPr lang="zh-CN" altLang="en-US" sz="2000" dirty="0">
                  <a:solidFill>
                    <a:srgbClr val="000000"/>
                  </a:solidFill>
                  <a:latin typeface="+mn-ea"/>
                  <a:ea typeface="+mn-ea"/>
                </a:endParaRPr>
              </a:p>
            </p:txBody>
          </p:sp>
        </mc:Choice>
        <mc:Fallback xmlns="">
          <p:sp>
            <p:nvSpPr>
              <p:cNvPr id="4" name="Text Box 3">
                <a:extLst>
                  <a:ext uri="{FF2B5EF4-FFF2-40B4-BE49-F238E27FC236}">
                    <a16:creationId xmlns:a16="http://schemas.microsoft.com/office/drawing/2014/main" xmlns="" xmlns:a14="http://schemas.microsoft.com/office/drawing/2010/main" id="{5D7F92A6-81B9-48B7-8897-11500C3FB078}"/>
                  </a:ext>
                </a:extLst>
              </p:cNvPr>
              <p:cNvSpPr txBox="1">
                <a:spLocks noRot="1" noChangeAspect="1" noMove="1" noResize="1" noEditPoints="1" noAdjustHandles="1" noChangeArrowheads="1" noChangeShapeType="1" noTextEdit="1"/>
              </p:cNvSpPr>
              <p:nvPr/>
            </p:nvSpPr>
            <p:spPr bwMode="auto">
              <a:xfrm>
                <a:off x="183143" y="514335"/>
                <a:ext cx="8853353" cy="1204561"/>
              </a:xfrm>
              <a:prstGeom prst="rect">
                <a:avLst/>
              </a:prstGeom>
              <a:blipFill rotWithShape="0">
                <a:blip r:embed="rId3"/>
                <a:stretch>
                  <a:fillRect l="-689" r="-3650" b="-9091"/>
                </a:stretch>
              </a:blipFill>
              <a:ln>
                <a:noFill/>
              </a:ln>
              <a:extLst/>
            </p:spPr>
            <p:txBody>
              <a:bodyPr/>
              <a:lstStyle/>
              <a:p>
                <a:r>
                  <a:rPr lang="zh-CN" altLang="en-US">
                    <a:noFill/>
                  </a:rPr>
                  <a:t> </a:t>
                </a:r>
              </a:p>
            </p:txBody>
          </p:sp>
        </mc:Fallback>
      </mc:AlternateContent>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材料的疲劳曲线</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83143" y="1867235"/>
            <a:ext cx="860465" cy="369332"/>
          </a:xfrm>
          <a:prstGeom prst="rect">
            <a:avLst/>
          </a:prstGeom>
          <a:noFill/>
        </p:spPr>
        <p:txBody>
          <a:bodyPr wrap="square" rtlCol="0">
            <a:spAutoFit/>
          </a:bodyPr>
          <a:lstStyle/>
          <a:p>
            <a:r>
              <a:rPr lang="zh-CN" altLang="en-US" b="1" dirty="0" smtClean="0">
                <a:solidFill>
                  <a:srgbClr val="C00000"/>
                </a:solidFill>
              </a:rPr>
              <a:t>解：</a:t>
            </a:r>
            <a:endParaRPr lang="zh-CN" altLang="en-US" b="1" dirty="0"/>
          </a:p>
        </p:txBody>
      </p:sp>
      <mc:AlternateContent xmlns:mc="http://schemas.openxmlformats.org/markup-compatibility/2006" xmlns:a14="http://schemas.microsoft.com/office/drawing/2010/main">
        <mc:Choice Requires="a14">
          <p:sp>
            <p:nvSpPr>
              <p:cNvPr id="10" name="文本框 9"/>
              <p:cNvSpPr txBox="1"/>
              <p:nvPr/>
            </p:nvSpPr>
            <p:spPr>
              <a:xfrm>
                <a:off x="683568" y="1913060"/>
                <a:ext cx="1349024" cy="9106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𝑁</m:t>
                          </m:r>
                        </m:sub>
                      </m:sSub>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𝑚</m:t>
                          </m:r>
                        </m:deg>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0</m:t>
                                  </m:r>
                                </m:sub>
                              </m:sSub>
                            </m:num>
                            <m:den>
                              <m:r>
                                <a:rPr lang="en-US" altLang="zh-CN" b="0" i="1" smtClean="0">
                                  <a:latin typeface="Cambria Math" panose="02040503050406030204" pitchFamily="18" charset="0"/>
                                </a:rPr>
                                <m:t>𝑁</m:t>
                              </m:r>
                            </m:den>
                          </m:f>
                        </m:e>
                      </m:rad>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683568" y="1913060"/>
                <a:ext cx="1349024" cy="910699"/>
              </a:xfrm>
              <a:prstGeom prst="rect">
                <a:avLst/>
              </a:prstGeom>
              <a:blipFill rotWithShape="0">
                <a:blip r:embed="rId4"/>
                <a:stretch>
                  <a:fillRect/>
                </a:stretch>
              </a:blipFill>
            </p:spPr>
            <p:txBody>
              <a:bodyPr/>
              <a:lstStyle/>
              <a:p>
                <a:r>
                  <a:rPr lang="zh-CN" altLang="en-US">
                    <a:noFill/>
                  </a:rPr>
                  <a:t> </a:t>
                </a:r>
              </a:p>
            </p:txBody>
          </p:sp>
        </mc:Fallback>
      </mc:AlternateContent>
      <p:grpSp>
        <p:nvGrpSpPr>
          <p:cNvPr id="20" name="组合 19"/>
          <p:cNvGrpSpPr/>
          <p:nvPr/>
        </p:nvGrpSpPr>
        <p:grpSpPr>
          <a:xfrm>
            <a:off x="2152938" y="1913060"/>
            <a:ext cx="3534599" cy="943592"/>
            <a:chOff x="2152938" y="1913060"/>
            <a:chExt cx="3534599" cy="943592"/>
          </a:xfrm>
        </p:grpSpPr>
        <mc:AlternateContent xmlns:mc="http://schemas.openxmlformats.org/markup-compatibility/2006" xmlns:a14="http://schemas.microsoft.com/office/drawing/2010/main">
          <mc:Choice Requires="a14">
            <p:sp>
              <p:nvSpPr>
                <p:cNvPr id="8" name="文本框 7"/>
                <p:cNvSpPr txBox="1"/>
                <p:nvPr/>
              </p:nvSpPr>
              <p:spPr>
                <a:xfrm>
                  <a:off x="2644140" y="1913060"/>
                  <a:ext cx="3043397" cy="9435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𝑚</m:t>
                            </m:r>
                          </m:deg>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0</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den>
                            </m:f>
                          </m:e>
                        </m:rad>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9</m:t>
                            </m:r>
                          </m:deg>
                          <m:e>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7</m:t>
                                    </m:r>
                                  </m:sup>
                                </m:sSup>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den>
                            </m:f>
                          </m:e>
                        </m:rad>
                        <m:r>
                          <a:rPr lang="en-US" altLang="zh-CN" b="0" i="1" smtClean="0">
                            <a:latin typeface="Cambria Math" panose="02040503050406030204" pitchFamily="18" charset="0"/>
                          </a:rPr>
                          <m:t>=1.67</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2644140" y="1913060"/>
                  <a:ext cx="3043397" cy="943592"/>
                </a:xfrm>
                <a:prstGeom prst="rect">
                  <a:avLst/>
                </a:prstGeom>
                <a:blipFill rotWithShape="0">
                  <a:blip r:embed="rId5"/>
                  <a:stretch>
                    <a:fillRect/>
                  </a:stretch>
                </a:blipFill>
              </p:spPr>
              <p:txBody>
                <a:bodyPr/>
                <a:lstStyle/>
                <a:p>
                  <a:r>
                    <a:rPr lang="zh-CN" altLang="en-US">
                      <a:noFill/>
                    </a:rPr>
                    <a:t> </a:t>
                  </a:r>
                </a:p>
              </p:txBody>
            </p:sp>
          </mc:Fallback>
        </mc:AlternateContent>
        <p:sp>
          <p:nvSpPr>
            <p:cNvPr id="11" name="右箭头 10"/>
            <p:cNvSpPr/>
            <p:nvPr/>
          </p:nvSpPr>
          <p:spPr>
            <a:xfrm>
              <a:off x="2152938" y="2292574"/>
              <a:ext cx="360040" cy="184563"/>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2" name="文本框 11"/>
              <p:cNvSpPr txBox="1"/>
              <p:nvPr/>
            </p:nvSpPr>
            <p:spPr>
              <a:xfrm>
                <a:off x="251520" y="2956671"/>
                <a:ext cx="43944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=1.67</m:t>
                      </m:r>
                      <m:r>
                        <a:rPr lang="en-US" altLang="zh-CN" b="0" i="1" smtClean="0">
                          <a:latin typeface="Cambria Math" panose="02040503050406030204" pitchFamily="18" charset="0"/>
                          <a:ea typeface="Cambria Math" panose="02040503050406030204" pitchFamily="18" charset="0"/>
                        </a:rPr>
                        <m:t>×275=459</m:t>
                      </m:r>
                      <m:r>
                        <a:rPr lang="en-US" altLang="zh-CN" b="0" i="1" smtClean="0">
                          <a:latin typeface="Cambria Math" panose="02040503050406030204" pitchFamily="18" charset="0"/>
                          <a:ea typeface="Cambria Math" panose="02040503050406030204" pitchFamily="18" charset="0"/>
                        </a:rPr>
                        <m:t>𝑀𝑃𝑎</m:t>
                      </m:r>
                    </m:oMath>
                  </m:oMathPara>
                </a14:m>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251520" y="2956671"/>
                <a:ext cx="4394472" cy="369332"/>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251520" y="3374758"/>
                <a:ext cx="7224029" cy="369332"/>
              </a:xfrm>
              <a:prstGeom prst="rect">
                <a:avLst/>
              </a:prstGeom>
              <a:noFill/>
            </p:spPr>
            <p:txBody>
              <a:bodyPr wrap="square" rtlCol="0">
                <a:spAutoFit/>
              </a:bodyPr>
              <a:lstStyle/>
              <a:p>
                <a:r>
                  <a:rPr lang="zh-CN" altLang="en-US" dirty="0" smtClean="0"/>
                  <a:t>由于</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=459</m:t>
                    </m:r>
                    <m:r>
                      <a:rPr lang="en-US" altLang="zh-CN" b="0" i="1" smtClean="0">
                        <a:latin typeface="Cambria Math" panose="02040503050406030204" pitchFamily="18" charset="0"/>
                      </a:rPr>
                      <m:t>𝑀𝑃𝑎</m:t>
                    </m:r>
                    <m:r>
                      <a:rPr lang="en-US" altLang="zh-CN" b="0" i="1" smtClean="0">
                        <a:latin typeface="Cambria Math" panose="02040503050406030204" pitchFamily="18" charset="0"/>
                        <a:ea typeface="Cambria Math" panose="02040503050406030204" pitchFamily="18" charset="0"/>
                      </a:rPr>
                      <m:t>&gt;355</m:t>
                    </m:r>
                    <m:r>
                      <a:rPr lang="en-US" altLang="zh-CN" b="0" i="1" smtClean="0">
                        <a:latin typeface="Cambria Math" panose="02040503050406030204" pitchFamily="18" charset="0"/>
                        <a:ea typeface="Cambria Math" panose="02040503050406030204" pitchFamily="18" charset="0"/>
                      </a:rPr>
                      <m:t>𝑀𝑃𝑎</m:t>
                    </m:r>
                    <m:r>
                      <a:rPr lang="en-US" altLang="zh-CN" i="1">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zh-CN" altLang="en-US"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𝑠</m:t>
                        </m:r>
                      </m:sub>
                    </m:sSub>
                    <m:r>
                      <a:rPr lang="zh-CN" altLang="en-US" i="1">
                        <a:latin typeface="Cambria Math" panose="02040503050406030204" pitchFamily="18" charset="0"/>
                        <a:ea typeface="Cambria Math" panose="02040503050406030204" pitchFamily="18" charset="0"/>
                      </a:rPr>
                      <m:t>，</m:t>
                    </m:r>
                    <m:r>
                      <a:rPr lang="zh-CN" altLang="en-US" i="1" smtClean="0">
                        <a:latin typeface="Cambria Math" panose="02040503050406030204" pitchFamily="18" charset="0"/>
                        <a:ea typeface="Cambria Math" panose="02040503050406030204" pitchFamily="18" charset="0"/>
                      </a:rPr>
                      <m:t>所以</m:t>
                    </m:r>
                    <m:r>
                      <a:rPr lang="zh-CN" altLang="en-US" i="1">
                        <a:latin typeface="Cambria Math" panose="02040503050406030204" pitchFamily="18" charset="0"/>
                        <a:ea typeface="Cambria Math" panose="02040503050406030204" pitchFamily="18" charset="0"/>
                      </a:rPr>
                      <m:t>取</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=355</m:t>
                    </m:r>
                    <m:r>
                      <a:rPr lang="en-US" altLang="zh-CN" b="0" i="1" smtClean="0">
                        <a:latin typeface="Cambria Math" panose="02040503050406030204" pitchFamily="18" charset="0"/>
                        <a:ea typeface="Cambria Math" panose="02040503050406030204" pitchFamily="18" charset="0"/>
                      </a:rPr>
                      <m:t>𝑀𝑃𝑎</m:t>
                    </m:r>
                  </m:oMath>
                </a14:m>
                <a:endParaRPr lang="zh-CN" altLang="en-US" dirty="0"/>
              </a:p>
            </p:txBody>
          </p:sp>
        </mc:Choice>
        <mc:Fallback xmlns="">
          <p:sp>
            <p:nvSpPr>
              <p:cNvPr id="13" name="文本框 12"/>
              <p:cNvSpPr txBox="1">
                <a:spLocks noRot="1" noChangeAspect="1" noMove="1" noResize="1" noEditPoints="1" noAdjustHandles="1" noChangeArrowheads="1" noChangeShapeType="1" noTextEdit="1"/>
              </p:cNvSpPr>
              <p:nvPr/>
            </p:nvSpPr>
            <p:spPr>
              <a:xfrm>
                <a:off x="251520" y="3374758"/>
                <a:ext cx="7224029" cy="369332"/>
              </a:xfrm>
              <a:prstGeom prst="rect">
                <a:avLst/>
              </a:prstGeom>
              <a:blipFill rotWithShape="0">
                <a:blip r:embed="rId7"/>
                <a:stretch>
                  <a:fillRect l="-675"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251520" y="3821254"/>
                <a:ext cx="3439339" cy="9435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𝑁</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𝑚</m:t>
                          </m:r>
                        </m:deg>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0</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2</m:t>
                                  </m:r>
                                </m:sub>
                              </m:sSub>
                            </m:den>
                          </m:f>
                        </m:e>
                      </m:rad>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9</m:t>
                          </m:r>
                        </m:deg>
                        <m:e>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7</m:t>
                                  </m:r>
                                </m:sup>
                              </m:sSup>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5</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10</m:t>
                                  </m:r>
                                </m:e>
                                <m:sup>
                                  <m:r>
                                    <a:rPr lang="en-US" altLang="zh-CN" b="0" i="1" smtClean="0">
                                      <a:latin typeface="Cambria Math" panose="02040503050406030204" pitchFamily="18" charset="0"/>
                                    </a:rPr>
                                    <m:t>6</m:t>
                                  </m:r>
                                </m:sup>
                              </m:sSup>
                            </m:den>
                          </m:f>
                        </m:e>
                      </m:rad>
                      <m:r>
                        <a:rPr lang="en-US" altLang="zh-CN" b="0" i="1" smtClean="0">
                          <a:latin typeface="Cambria Math" panose="02040503050406030204" pitchFamily="18" charset="0"/>
                        </a:rPr>
                        <m:t>=1.08</m:t>
                      </m:r>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251520" y="3821254"/>
                <a:ext cx="3439339" cy="943592"/>
              </a:xfrm>
              <a:prstGeom prst="rect">
                <a:avLst/>
              </a:prstGeom>
              <a:blipFill rotWithShape="0">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4259059" y="4140283"/>
                <a:ext cx="43944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𝐾</m:t>
                          </m:r>
                        </m:e>
                        <m:sub>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2</m:t>
                          </m:r>
                        </m:sub>
                      </m:sSub>
                      <m:sSub>
                        <m:sSubPr>
                          <m:ctrlPr>
                            <a:rPr lang="en-US" altLang="zh-CN" i="1" smtClean="0">
                              <a:latin typeface="Cambria Math" panose="02040503050406030204" pitchFamily="18" charset="0"/>
                              <a:ea typeface="Cambria Math" panose="02040503050406030204" pitchFamily="18" charset="0"/>
                            </a:rPr>
                          </m:ctrlPr>
                        </m:sSubPr>
                        <m:e>
                          <m:r>
                            <a:rPr lang="zh-CN" altLang="en-US"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=1.08×275=297</m:t>
                      </m:r>
                      <m:r>
                        <a:rPr lang="en-US" altLang="zh-CN" b="0" i="1" smtClean="0">
                          <a:latin typeface="Cambria Math" panose="02040503050406030204" pitchFamily="18" charset="0"/>
                          <a:ea typeface="Cambria Math" panose="02040503050406030204" pitchFamily="18" charset="0"/>
                        </a:rPr>
                        <m:t>𝑀𝑃𝑎</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4259059" y="4140283"/>
                <a:ext cx="4394472" cy="369332"/>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251520" y="4759948"/>
                <a:ext cx="2808312" cy="9442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𝑁</m:t>
                          </m:r>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𝑚</m:t>
                          </m:r>
                        </m:deg>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0</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3</m:t>
                                  </m:r>
                                </m:sub>
                              </m:sSub>
                            </m:den>
                          </m:f>
                        </m:e>
                      </m:rad>
                      <m:r>
                        <a:rPr lang="en-US" altLang="zh-CN" b="0" i="1" smtClean="0">
                          <a:latin typeface="Cambria Math" panose="02040503050406030204" pitchFamily="18" charset="0"/>
                        </a:rPr>
                        <m:t>=</m:t>
                      </m:r>
                      <m:rad>
                        <m:radPr>
                          <m:ctrlPr>
                            <a:rPr lang="en-US" altLang="zh-CN" b="0" i="1" smtClean="0">
                              <a:latin typeface="Cambria Math" panose="02040503050406030204" pitchFamily="18" charset="0"/>
                            </a:rPr>
                          </m:ctrlPr>
                        </m:radPr>
                        <m:deg>
                          <m:r>
                            <m:rPr>
                              <m:brk m:alnAt="7"/>
                            </m:rPr>
                            <a:rPr lang="en-US" altLang="zh-CN" b="0" i="1" smtClean="0">
                              <a:latin typeface="Cambria Math" panose="02040503050406030204" pitchFamily="18" charset="0"/>
                            </a:rPr>
                            <m:t>9</m:t>
                          </m:r>
                        </m:deg>
                        <m:e>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7</m:t>
                                  </m:r>
                                </m:sup>
                              </m:sSup>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7</m:t>
                                  </m:r>
                                </m:sup>
                              </m:sSup>
                            </m:den>
                          </m:f>
                        </m:e>
                      </m:rad>
                      <m:r>
                        <a:rPr lang="en-US" altLang="zh-CN" b="0" i="1" smtClean="0">
                          <a:latin typeface="Cambria Math" panose="02040503050406030204" pitchFamily="18" charset="0"/>
                        </a:rPr>
                        <m:t>=1</m:t>
                      </m:r>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251520" y="4759948"/>
                <a:ext cx="2808312" cy="944297"/>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195455" y="2107805"/>
                <a:ext cx="2560188" cy="369332"/>
              </a:xfrm>
              <a:prstGeom prst="rect">
                <a:avLst/>
              </a:prstGeom>
              <a:noFill/>
            </p:spPr>
            <p:txBody>
              <a:bodyPr wrap="none" rtlCol="0">
                <a:spAutoFit/>
              </a:bodyPr>
              <a:lstStyle/>
              <a:p>
                <a:r>
                  <a:rPr lang="zh-CN" altLang="en-US" dirty="0" smtClean="0"/>
                  <a:t>因</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8</m:t>
                        </m:r>
                      </m:sup>
                    </m:sSup>
                    <m:r>
                      <a:rPr lang="en-US" altLang="zh-CN" b="0" i="1" smtClean="0">
                        <a:latin typeface="Cambria Math" panose="02040503050406030204" pitchFamily="18" charset="0"/>
                        <a:ea typeface="Cambria Math" panose="02040503050406030204" pitchFamily="18" charset="0"/>
                      </a:rPr>
                      <m:t>&gt;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7</m:t>
                        </m:r>
                      </m:sup>
                    </m:sSup>
                  </m:oMath>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6195455" y="2107805"/>
                <a:ext cx="2560188" cy="369332"/>
              </a:xfrm>
              <a:prstGeom prst="rect">
                <a:avLst/>
              </a:prstGeom>
              <a:blipFill rotWithShape="0">
                <a:blip r:embed="rId11"/>
                <a:stretch>
                  <a:fillRect l="-1905"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6195455" y="2570018"/>
                <a:ext cx="1798826" cy="369332"/>
              </a:xfrm>
              <a:prstGeom prst="rect">
                <a:avLst/>
              </a:prstGeom>
              <a:noFill/>
            </p:spPr>
            <p:txBody>
              <a:bodyPr wrap="none" rtlCol="0">
                <a:spAutoFit/>
              </a:bodyPr>
              <a:lstStyle/>
              <a:p>
                <a:r>
                  <a:rPr lang="zh-CN" altLang="en-US" dirty="0" smtClean="0"/>
                  <a:t>故应取</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7</m:t>
                        </m:r>
                      </m:sup>
                    </m:sSup>
                  </m:oMath>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6195455" y="2570018"/>
                <a:ext cx="1798826" cy="369332"/>
              </a:xfrm>
              <a:prstGeom prst="rect">
                <a:avLst/>
              </a:prstGeom>
              <a:blipFill rotWithShape="0">
                <a:blip r:embed="rId12"/>
                <a:stretch>
                  <a:fillRect l="-2712"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4259059" y="5044024"/>
                <a:ext cx="40899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𝐾</m:t>
                          </m:r>
                        </m:e>
                        <m:sub>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3</m:t>
                          </m:r>
                        </m:sub>
                      </m:sSub>
                      <m:sSub>
                        <m:sSubPr>
                          <m:ctrlPr>
                            <a:rPr lang="en-US" altLang="zh-CN" i="1" smtClean="0">
                              <a:latin typeface="Cambria Math" panose="02040503050406030204" pitchFamily="18" charset="0"/>
                              <a:ea typeface="Cambria Math" panose="02040503050406030204" pitchFamily="18" charset="0"/>
                            </a:rPr>
                          </m:ctrlPr>
                        </m:sSubPr>
                        <m:e>
                          <m:r>
                            <a:rPr lang="zh-CN" altLang="en-US"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=1×275=275</m:t>
                      </m:r>
                      <m:r>
                        <a:rPr lang="en-US" altLang="zh-CN" b="0" i="1" smtClean="0">
                          <a:latin typeface="Cambria Math" panose="02040503050406030204" pitchFamily="18" charset="0"/>
                          <a:ea typeface="Cambria Math" panose="02040503050406030204" pitchFamily="18" charset="0"/>
                        </a:rPr>
                        <m:t>𝑀𝑃𝑎</m:t>
                      </m:r>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4259059" y="5044024"/>
                <a:ext cx="4089902" cy="369332"/>
              </a:xfrm>
              <a:prstGeom prst="rect">
                <a:avLst/>
              </a:prstGeom>
              <a:blipFill rotWithShape="0">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833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2" grpId="0"/>
      <p:bldP spid="13" grpId="0"/>
      <p:bldP spid="14" grpId="0"/>
      <p:bldP spid="15" grpId="0"/>
      <p:bldP spid="16" grpId="0"/>
      <p:bldP spid="17" grpId="0"/>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1"/>
          <p:cNvGrpSpPr/>
          <p:nvPr/>
        </p:nvGrpSpPr>
        <p:grpSpPr>
          <a:xfrm>
            <a:off x="323528" y="553244"/>
            <a:ext cx="7560840" cy="523220"/>
            <a:chOff x="323528" y="553244"/>
            <a:chExt cx="7560840" cy="523220"/>
          </a:xfrm>
        </p:grpSpPr>
        <p:sp>
          <p:nvSpPr>
            <p:cNvPr id="11" name="Text Box 5"/>
            <p:cNvSpPr txBox="1">
              <a:spLocks noChangeArrowheads="1"/>
            </p:cNvSpPr>
            <p:nvPr/>
          </p:nvSpPr>
          <p:spPr bwMode="auto">
            <a:xfrm>
              <a:off x="683568" y="553244"/>
              <a:ext cx="7200800" cy="523220"/>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b="1" dirty="0" smtClean="0">
                  <a:solidFill>
                    <a:srgbClr val="000099"/>
                  </a:solidFill>
                  <a:latin typeface="黑体" pitchFamily="49" charset="-122"/>
                </a:rPr>
                <a:t>零件的极限应力线图（等寿命疲劳曲线）</a:t>
              </a:r>
              <a:endParaRPr lang="zh-CN" altLang="en-US" b="1" dirty="0">
                <a:solidFill>
                  <a:srgbClr val="000099"/>
                </a:solidFill>
                <a:effectLst/>
                <a:latin typeface="黑体" pitchFamily="49" charset="-122"/>
              </a:endParaRPr>
            </a:p>
          </p:txBody>
        </p:sp>
        <p:pic>
          <p:nvPicPr>
            <p:cNvPr id="12" name="Picture 15" descr="AR1031"/>
            <p:cNvPicPr>
              <a:picLocks noChangeAspect="1" noChangeArrowheads="1"/>
            </p:cNvPicPr>
            <p:nvPr/>
          </p:nvPicPr>
          <p:blipFill>
            <a:blip r:embed="rId3">
              <a:duotone>
                <a:prstClr val="black"/>
                <a:srgbClr val="00CC00">
                  <a:tint val="45000"/>
                  <a:satMod val="400000"/>
                </a:srgbClr>
              </a:duotone>
              <a:lum bright="-36000" contrast="100000"/>
            </a:blip>
            <a:srcRect/>
            <a:stretch>
              <a:fillRect/>
            </a:stretch>
          </p:blipFill>
          <p:spPr bwMode="auto">
            <a:xfrm rot="5400000">
              <a:off x="372720" y="648069"/>
              <a:ext cx="280840" cy="379223"/>
            </a:xfrm>
            <a:prstGeom prst="rect">
              <a:avLst/>
            </a:prstGeom>
            <a:noFill/>
            <a:ln w="9525">
              <a:solidFill>
                <a:schemeClr val="bg1"/>
              </a:solidFill>
              <a:miter lim="800000"/>
              <a:headEnd/>
              <a:tailEnd/>
            </a:ln>
          </p:spPr>
        </p:pic>
      </p:grpSp>
      <mc:AlternateContent xmlns:mc="http://schemas.openxmlformats.org/markup-compatibility/2006" xmlns:a14="http://schemas.microsoft.com/office/drawing/2010/main">
        <mc:Choice Requires="a14">
          <p:sp>
            <p:nvSpPr>
              <p:cNvPr id="13" name="Text Box 5"/>
              <p:cNvSpPr txBox="1">
                <a:spLocks noChangeArrowheads="1"/>
              </p:cNvSpPr>
              <p:nvPr/>
            </p:nvSpPr>
            <p:spPr bwMode="auto">
              <a:xfrm>
                <a:off x="323528" y="1166754"/>
                <a:ext cx="8676968" cy="904863"/>
              </a:xfrm>
              <a:prstGeom prst="rect">
                <a:avLst/>
              </a:prstGeom>
              <a:noFill/>
              <a:ln w="9525" algn="ctr">
                <a:noFill/>
                <a:miter lim="800000"/>
              </a:ln>
              <a:effectLst/>
            </p:spPr>
            <p:txBody>
              <a:bodyPr wrap="square">
                <a:spAutoFit/>
              </a:bodyPr>
              <a:lstStyle/>
              <a:p>
                <a:pPr marL="342900" indent="-342900">
                  <a:lnSpc>
                    <a:spcPct val="120000"/>
                  </a:lnSpc>
                  <a:spcBef>
                    <a:spcPct val="50000"/>
                  </a:spcBef>
                  <a:buClr>
                    <a:srgbClr val="C00000"/>
                  </a:buClr>
                  <a:buFont typeface="Wingdings" panose="05000000000000000000" pitchFamily="2" charset="2"/>
                  <a:buChar char="l"/>
                </a:pPr>
                <a:r>
                  <a:rPr lang="zh-CN" altLang="en-US" sz="2200" kern="0" dirty="0" smtClean="0">
                    <a:solidFill>
                      <a:schemeClr val="tx1"/>
                    </a:solidFill>
                    <a:latin typeface="黑体" pitchFamily="2" charset="-122"/>
                    <a:ea typeface="黑体" pitchFamily="2" charset="-122"/>
                  </a:rPr>
                  <a:t>同一材料在不同的循环特性</a:t>
                </a:r>
                <a14:m>
                  <m:oMath xmlns:m="http://schemas.openxmlformats.org/officeDocument/2006/math">
                    <m:r>
                      <a:rPr lang="en-US" altLang="zh-CN" sz="2200" b="0" i="1" kern="0" smtClean="0">
                        <a:solidFill>
                          <a:schemeClr val="tx1"/>
                        </a:solidFill>
                        <a:latin typeface="Cambria Math" panose="02040503050406030204" pitchFamily="18" charset="0"/>
                        <a:ea typeface="黑体" pitchFamily="2" charset="-122"/>
                      </a:rPr>
                      <m:t>𝑟</m:t>
                    </m:r>
                  </m:oMath>
                </a14:m>
                <a:r>
                  <a:rPr lang="zh-CN" altLang="en-US" sz="2200" kern="0" dirty="0" smtClean="0">
                    <a:solidFill>
                      <a:schemeClr val="tx1"/>
                    </a:solidFill>
                    <a:latin typeface="黑体" pitchFamily="2" charset="-122"/>
                    <a:ea typeface="黑体" pitchFamily="2" charset="-122"/>
                  </a:rPr>
                  <a:t>下，有不同的疲劳极限</a:t>
                </a:r>
                <a14:m>
                  <m:oMath xmlns:m="http://schemas.openxmlformats.org/officeDocument/2006/math">
                    <m:sSub>
                      <m:sSubPr>
                        <m:ctrlPr>
                          <a:rPr lang="en-US" altLang="zh-CN" sz="2200" i="1" kern="0" smtClean="0">
                            <a:solidFill>
                              <a:schemeClr val="tx1"/>
                            </a:solidFill>
                            <a:latin typeface="Cambria Math" panose="02040503050406030204" pitchFamily="18" charset="0"/>
                            <a:ea typeface="黑体" pitchFamily="2" charset="-122"/>
                          </a:rPr>
                        </m:ctrlPr>
                      </m:sSubPr>
                      <m:e>
                        <m:r>
                          <a:rPr lang="zh-CN" altLang="en-US" sz="2200" i="1" kern="0" smtClean="0">
                            <a:solidFill>
                              <a:schemeClr val="tx1"/>
                            </a:solidFill>
                            <a:latin typeface="Cambria Math" panose="02040503050406030204" pitchFamily="18" charset="0"/>
                            <a:ea typeface="黑体" pitchFamily="2" charset="-122"/>
                          </a:rPr>
                          <m:t>𝜎</m:t>
                        </m:r>
                      </m:e>
                      <m:sub>
                        <m:r>
                          <a:rPr lang="en-US" altLang="zh-CN" sz="2200" b="0" i="1" kern="0" smtClean="0">
                            <a:solidFill>
                              <a:schemeClr val="tx1"/>
                            </a:solidFill>
                            <a:latin typeface="Cambria Math" panose="02040503050406030204" pitchFamily="18" charset="0"/>
                            <a:ea typeface="黑体" pitchFamily="2" charset="-122"/>
                          </a:rPr>
                          <m:t>𝑟𝑁</m:t>
                        </m:r>
                      </m:sub>
                    </m:sSub>
                  </m:oMath>
                </a14:m>
                <a:r>
                  <a:rPr lang="zh-CN" altLang="en-US" sz="2200" kern="0" dirty="0" smtClean="0">
                    <a:solidFill>
                      <a:schemeClr val="tx1"/>
                    </a:solidFill>
                    <a:latin typeface="黑体" pitchFamily="2" charset="-122"/>
                    <a:ea typeface="黑体" pitchFamily="2" charset="-122"/>
                  </a:rPr>
                  <a:t>，它们之间的关系可用极限应力线图来表示。</a:t>
                </a:r>
                <a:endParaRPr lang="zh-CN" altLang="en-US" sz="2200" dirty="0">
                  <a:latin typeface="华文细黑" panose="02010600040101010101" pitchFamily="2" charset="-122"/>
                  <a:ea typeface="华文细黑" panose="02010600040101010101" pitchFamily="2" charset="-122"/>
                </a:endParaRPr>
              </a:p>
            </p:txBody>
          </p:sp>
        </mc:Choice>
        <mc:Fallback xmlns="">
          <p:sp>
            <p:nvSpPr>
              <p:cNvPr id="13" name="Text Box 5"/>
              <p:cNvSpPr txBox="1">
                <a:spLocks noRot="1" noChangeAspect="1" noMove="1" noResize="1" noEditPoints="1" noAdjustHandles="1" noChangeArrowheads="1" noChangeShapeType="1" noTextEdit="1"/>
              </p:cNvSpPr>
              <p:nvPr/>
            </p:nvSpPr>
            <p:spPr bwMode="auto">
              <a:xfrm>
                <a:off x="323528" y="1166754"/>
                <a:ext cx="8676968" cy="904863"/>
              </a:xfrm>
              <a:prstGeom prst="rect">
                <a:avLst/>
              </a:prstGeom>
              <a:blipFill rotWithShape="0">
                <a:blip r:embed="rId4"/>
                <a:stretch>
                  <a:fillRect l="-773" t="-2685" r="-351" b="-6711"/>
                </a:stretch>
              </a:blipFill>
              <a:ln w="9525" algn="ctr">
                <a:noFill/>
                <a:miter lim="800000"/>
              </a:ln>
              <a:effectLst/>
            </p:spPr>
            <p:txBody>
              <a:bodyPr/>
              <a:lstStyle/>
              <a:p>
                <a:r>
                  <a:rPr lang="zh-CN" altLang="en-US">
                    <a:noFill/>
                  </a:rPr>
                  <a:t> </a:t>
                </a:r>
              </a:p>
            </p:txBody>
          </p:sp>
        </mc:Fallback>
      </mc:AlternateContent>
      <p:grpSp>
        <p:nvGrpSpPr>
          <p:cNvPr id="17" name="Group 103"/>
          <p:cNvGrpSpPr/>
          <p:nvPr/>
        </p:nvGrpSpPr>
        <p:grpSpPr bwMode="auto">
          <a:xfrm>
            <a:off x="539552" y="2194914"/>
            <a:ext cx="4613275" cy="2894464"/>
            <a:chOff x="1374" y="2368"/>
            <a:chExt cx="2543" cy="1595"/>
          </a:xfrm>
        </p:grpSpPr>
        <p:grpSp>
          <p:nvGrpSpPr>
            <p:cNvPr id="18" name="Group 54"/>
            <p:cNvGrpSpPr/>
            <p:nvPr/>
          </p:nvGrpSpPr>
          <p:grpSpPr bwMode="auto">
            <a:xfrm>
              <a:off x="1416" y="2368"/>
              <a:ext cx="2501" cy="1595"/>
              <a:chOff x="3151" y="600"/>
              <a:chExt cx="2501" cy="1595"/>
            </a:xfrm>
          </p:grpSpPr>
          <p:sp>
            <p:nvSpPr>
              <p:cNvPr id="26" name="Line 55"/>
              <p:cNvSpPr>
                <a:spLocks noChangeShapeType="1"/>
              </p:cNvSpPr>
              <p:nvPr/>
            </p:nvSpPr>
            <p:spPr bwMode="auto">
              <a:xfrm flipV="1">
                <a:off x="3416" y="2024"/>
                <a:ext cx="2236" cy="0"/>
              </a:xfrm>
              <a:prstGeom prst="line">
                <a:avLst/>
              </a:prstGeom>
              <a:noFill/>
              <a:ln w="19050">
                <a:solidFill>
                  <a:srgbClr val="000000"/>
                </a:solidFill>
                <a:round/>
                <a:headEnd/>
                <a:tailEnd type="triangle" w="sm" len="lg"/>
              </a:ln>
            </p:spPr>
            <p:txBody>
              <a:bodyPr wrap="none" lIns="0" tIns="0" rIns="0">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7" name="Line 56"/>
              <p:cNvSpPr>
                <a:spLocks noChangeShapeType="1"/>
              </p:cNvSpPr>
              <p:nvPr/>
            </p:nvSpPr>
            <p:spPr bwMode="auto">
              <a:xfrm flipH="1" flipV="1">
                <a:off x="3423" y="683"/>
                <a:ext cx="2" cy="1338"/>
              </a:xfrm>
              <a:prstGeom prst="line">
                <a:avLst/>
              </a:prstGeom>
              <a:noFill/>
              <a:ln w="19050">
                <a:solidFill>
                  <a:srgbClr val="000000"/>
                </a:solidFill>
                <a:round/>
                <a:headEnd/>
                <a:tailEnd type="triangle" w="sm" len="lg"/>
              </a:ln>
            </p:spPr>
            <p:txBody>
              <a:bodyPr wrap="none" lIns="0" tIns="0" rIns="0">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8" name="Rectangle 57"/>
              <p:cNvSpPr>
                <a:spLocks noChangeArrowheads="1"/>
              </p:cNvSpPr>
              <p:nvPr/>
            </p:nvSpPr>
            <p:spPr bwMode="auto">
              <a:xfrm>
                <a:off x="3151" y="600"/>
                <a:ext cx="169" cy="196"/>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2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2400" b="1" i="0" u="none" strike="noStrike" kern="0" cap="none" spc="0" normalizeH="0" baseline="-25000" noProof="0" dirty="0" smtClean="0">
                    <a:ln>
                      <a:noFill/>
                    </a:ln>
                    <a:solidFill>
                      <a:srgbClr val="000099"/>
                    </a:solidFill>
                    <a:effectLst/>
                    <a:uLnTx/>
                    <a:uFillTx/>
                    <a:latin typeface="Times New Roman" pitchFamily="18" charset="0"/>
                    <a:ea typeface="宋体" charset="-122"/>
                  </a:rPr>
                  <a:t>a</a:t>
                </a:r>
              </a:p>
            </p:txBody>
          </p:sp>
          <p:sp>
            <p:nvSpPr>
              <p:cNvPr id="29" name="Rectangle 58"/>
              <p:cNvSpPr>
                <a:spLocks noChangeArrowheads="1"/>
              </p:cNvSpPr>
              <p:nvPr/>
            </p:nvSpPr>
            <p:spPr bwMode="auto">
              <a:xfrm>
                <a:off x="5328" y="1999"/>
                <a:ext cx="204" cy="196"/>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2400" b="1" i="1" u="none" strike="noStrike" kern="0" cap="none" spc="0" normalizeH="0" baseline="0" noProof="0" smtClean="0">
                    <a:ln>
                      <a:noFill/>
                    </a:ln>
                    <a:solidFill>
                      <a:srgbClr val="000099"/>
                    </a:solidFill>
                    <a:effectLst/>
                    <a:uLnTx/>
                    <a:uFillTx/>
                    <a:latin typeface="Verdana" pitchFamily="34" charset="0"/>
                    <a:ea typeface="楷体_GB2312" pitchFamily="49" charset="-122"/>
                  </a:rPr>
                  <a:t>σ</a:t>
                </a:r>
                <a:r>
                  <a:rPr kumimoji="1" lang="en-US" altLang="zh-CN" sz="2400" b="1" i="0" u="none" strike="noStrike" kern="0" cap="none" spc="0" normalizeH="0" baseline="-25000" noProof="0" smtClean="0">
                    <a:ln>
                      <a:noFill/>
                    </a:ln>
                    <a:solidFill>
                      <a:srgbClr val="000099"/>
                    </a:solidFill>
                    <a:effectLst/>
                    <a:uLnTx/>
                    <a:uFillTx/>
                    <a:latin typeface="Times New Roman" pitchFamily="18" charset="0"/>
                    <a:ea typeface="宋体" charset="-122"/>
                  </a:rPr>
                  <a:t>m</a:t>
                </a:r>
              </a:p>
            </p:txBody>
          </p:sp>
        </p:grpSp>
        <p:sp>
          <p:nvSpPr>
            <p:cNvPr id="19" name="Freeform 88"/>
            <p:cNvSpPr/>
            <p:nvPr/>
          </p:nvSpPr>
          <p:spPr bwMode="auto">
            <a:xfrm>
              <a:off x="1697" y="3124"/>
              <a:ext cx="1260" cy="672"/>
            </a:xfrm>
            <a:custGeom>
              <a:avLst/>
              <a:gdLst>
                <a:gd name="T0" fmla="*/ 0 w 1260"/>
                <a:gd name="T1" fmla="*/ 0 h 672"/>
                <a:gd name="T2" fmla="*/ 240 w 1260"/>
                <a:gd name="T3" fmla="*/ 12 h 672"/>
                <a:gd name="T4" fmla="*/ 459 w 1260"/>
                <a:gd name="T5" fmla="*/ 48 h 672"/>
                <a:gd name="T6" fmla="*/ 663 w 1260"/>
                <a:gd name="T7" fmla="*/ 126 h 672"/>
                <a:gd name="T8" fmla="*/ 900 w 1260"/>
                <a:gd name="T9" fmla="*/ 276 h 672"/>
                <a:gd name="T10" fmla="*/ 1122 w 1260"/>
                <a:gd name="T11" fmla="*/ 495 h 672"/>
                <a:gd name="T12" fmla="*/ 1260 w 1260"/>
                <a:gd name="T13" fmla="*/ 672 h 672"/>
                <a:gd name="T14" fmla="*/ 0 60000 65536"/>
                <a:gd name="T15" fmla="*/ 0 60000 65536"/>
                <a:gd name="T16" fmla="*/ 0 60000 65536"/>
                <a:gd name="T17" fmla="*/ 0 60000 65536"/>
                <a:gd name="T18" fmla="*/ 0 60000 65536"/>
                <a:gd name="T19" fmla="*/ 0 60000 65536"/>
                <a:gd name="T20" fmla="*/ 0 60000 65536"/>
                <a:gd name="T21" fmla="*/ 0 w 1260"/>
                <a:gd name="T22" fmla="*/ 0 h 672"/>
                <a:gd name="T23" fmla="*/ 1260 w 1260"/>
                <a:gd name="T24" fmla="*/ 672 h 6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0" h="672">
                  <a:moveTo>
                    <a:pt x="0" y="0"/>
                  </a:moveTo>
                  <a:cubicBezTo>
                    <a:pt x="80" y="1"/>
                    <a:pt x="164" y="4"/>
                    <a:pt x="240" y="12"/>
                  </a:cubicBezTo>
                  <a:cubicBezTo>
                    <a:pt x="316" y="20"/>
                    <a:pt x="389" y="29"/>
                    <a:pt x="459" y="48"/>
                  </a:cubicBezTo>
                  <a:cubicBezTo>
                    <a:pt x="529" y="67"/>
                    <a:pt x="590" y="88"/>
                    <a:pt x="663" y="126"/>
                  </a:cubicBezTo>
                  <a:cubicBezTo>
                    <a:pt x="736" y="164"/>
                    <a:pt x="824" y="214"/>
                    <a:pt x="900" y="276"/>
                  </a:cubicBezTo>
                  <a:cubicBezTo>
                    <a:pt x="976" y="338"/>
                    <a:pt x="1062" y="429"/>
                    <a:pt x="1122" y="495"/>
                  </a:cubicBezTo>
                  <a:cubicBezTo>
                    <a:pt x="1182" y="561"/>
                    <a:pt x="1231" y="635"/>
                    <a:pt x="1260" y="672"/>
                  </a:cubicBezTo>
                </a:path>
              </a:pathLst>
            </a:custGeom>
            <a:noFill/>
            <a:ln w="38100">
              <a:solidFill>
                <a:srgbClr val="000099"/>
              </a:solidFill>
              <a:round/>
              <a:headEnd type="none" w="sm" len="lg"/>
              <a:tailEnd type="none" w="sm" len="lg"/>
            </a:ln>
          </p:spPr>
          <p:txBody>
            <a:bodyPr wrap="none" lIns="0" tIns="0" rIns="0">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nvGrpSpPr>
            <p:cNvPr id="20" name="Group 94"/>
            <p:cNvGrpSpPr/>
            <p:nvPr/>
          </p:nvGrpSpPr>
          <p:grpSpPr bwMode="auto">
            <a:xfrm>
              <a:off x="2859" y="3760"/>
              <a:ext cx="176" cy="196"/>
              <a:chOff x="4594" y="1992"/>
              <a:chExt cx="176" cy="196"/>
            </a:xfrm>
          </p:grpSpPr>
          <p:sp>
            <p:nvSpPr>
              <p:cNvPr id="24" name="Rectangle 95"/>
              <p:cNvSpPr>
                <a:spLocks noChangeArrowheads="1"/>
              </p:cNvSpPr>
              <p:nvPr/>
            </p:nvSpPr>
            <p:spPr bwMode="auto">
              <a:xfrm>
                <a:off x="4594" y="1992"/>
                <a:ext cx="176" cy="196"/>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2400" b="1" i="1" u="none" strike="noStrike" kern="0" cap="none" spc="0" normalizeH="0" baseline="0" noProof="0" smtClean="0">
                    <a:ln>
                      <a:noFill/>
                    </a:ln>
                    <a:solidFill>
                      <a:srgbClr val="000099"/>
                    </a:solidFill>
                    <a:effectLst/>
                    <a:uLnTx/>
                    <a:uFillTx/>
                    <a:latin typeface="Verdana" pitchFamily="34" charset="0"/>
                    <a:ea typeface="楷体_GB2312" pitchFamily="49" charset="-122"/>
                  </a:rPr>
                  <a:t>σ</a:t>
                </a:r>
                <a:r>
                  <a:rPr kumimoji="1" lang="en-US" altLang="zh-CN" sz="2400" b="1" i="0" u="none" strike="noStrike" kern="0" cap="none" spc="0" normalizeH="0" baseline="-25000" noProof="0" smtClean="0">
                    <a:ln>
                      <a:noFill/>
                    </a:ln>
                    <a:solidFill>
                      <a:srgbClr val="000099"/>
                    </a:solidFill>
                    <a:effectLst/>
                    <a:uLnTx/>
                    <a:uFillTx/>
                    <a:latin typeface="Times New Roman" pitchFamily="18" charset="0"/>
                    <a:ea typeface="宋体" charset="-122"/>
                  </a:rPr>
                  <a:t>S</a:t>
                </a:r>
              </a:p>
            </p:txBody>
          </p:sp>
          <p:sp>
            <p:nvSpPr>
              <p:cNvPr id="25" name="Oval 96"/>
              <p:cNvSpPr>
                <a:spLocks noChangeArrowheads="1"/>
              </p:cNvSpPr>
              <p:nvPr/>
            </p:nvSpPr>
            <p:spPr bwMode="auto">
              <a:xfrm>
                <a:off x="4652" y="1997"/>
                <a:ext cx="56" cy="56"/>
              </a:xfrm>
              <a:prstGeom prst="ellipse">
                <a:avLst/>
              </a:prstGeom>
              <a:solidFill>
                <a:srgbClr val="000099"/>
              </a:solidFill>
              <a:ln w="19050">
                <a:solidFill>
                  <a:srgbClr val="FFFF00"/>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nvGrpSpPr>
            <p:cNvPr id="21" name="Group 97"/>
            <p:cNvGrpSpPr/>
            <p:nvPr/>
          </p:nvGrpSpPr>
          <p:grpSpPr bwMode="auto">
            <a:xfrm>
              <a:off x="1374" y="2956"/>
              <a:ext cx="339" cy="196"/>
              <a:chOff x="3109" y="1188"/>
              <a:chExt cx="339" cy="196"/>
            </a:xfrm>
          </p:grpSpPr>
          <p:sp>
            <p:nvSpPr>
              <p:cNvPr id="22" name="Rectangle 98"/>
              <p:cNvSpPr>
                <a:spLocks noChangeArrowheads="1"/>
              </p:cNvSpPr>
              <p:nvPr/>
            </p:nvSpPr>
            <p:spPr bwMode="auto">
              <a:xfrm>
                <a:off x="3109" y="1188"/>
                <a:ext cx="211" cy="196"/>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2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2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sp>
            <p:nvSpPr>
              <p:cNvPr id="23" name="Oval 99"/>
              <p:cNvSpPr>
                <a:spLocks noChangeArrowheads="1"/>
              </p:cNvSpPr>
              <p:nvPr/>
            </p:nvSpPr>
            <p:spPr bwMode="auto">
              <a:xfrm>
                <a:off x="3392" y="1325"/>
                <a:ext cx="56" cy="56"/>
              </a:xfrm>
              <a:prstGeom prst="ellipse">
                <a:avLst/>
              </a:prstGeom>
              <a:solidFill>
                <a:srgbClr val="000099"/>
              </a:solidFill>
              <a:ln w="19050">
                <a:solidFill>
                  <a:srgbClr val="FFFF00"/>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sp>
        <p:nvSpPr>
          <p:cNvPr id="30" name="Text Box 104"/>
          <p:cNvSpPr txBox="1">
            <a:spLocks noChangeArrowheads="1"/>
          </p:cNvSpPr>
          <p:nvPr/>
        </p:nvSpPr>
        <p:spPr bwMode="auto">
          <a:xfrm>
            <a:off x="4803611" y="2235124"/>
            <a:ext cx="4016861" cy="463846"/>
          </a:xfrm>
          <a:prstGeom prst="rect">
            <a:avLst/>
          </a:prstGeom>
          <a:noFill/>
          <a:ln>
            <a:noFill/>
          </a:ln>
        </p:spPr>
        <p:txBody>
          <a:bodyPr wrap="square"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kumimoji="1" lang="zh-CN" altLang="en-US" sz="2400" dirty="0">
                <a:latin typeface="Tahoma" pitchFamily="34" charset="0"/>
              </a:rPr>
              <a:t>工程应用</a:t>
            </a:r>
            <a:r>
              <a:rPr kumimoji="1" lang="zh-CN" altLang="en-US" sz="2400" dirty="0" smtClean="0">
                <a:latin typeface="Tahoma" pitchFamily="34" charset="0"/>
              </a:rPr>
              <a:t>中：寻求</a:t>
            </a:r>
            <a:r>
              <a:rPr kumimoji="1" lang="zh-CN" altLang="en-US" sz="2400" dirty="0">
                <a:latin typeface="Tahoma" pitchFamily="34" charset="0"/>
              </a:rPr>
              <a:t>近似方法</a:t>
            </a:r>
            <a:endParaRPr kumimoji="1" lang="en-US" altLang="zh-CN" sz="2400" dirty="0">
              <a:latin typeface="Tahoma" pitchFamily="34" charset="0"/>
            </a:endParaRPr>
          </a:p>
        </p:txBody>
      </p:sp>
      <p:grpSp>
        <p:nvGrpSpPr>
          <p:cNvPr id="31" name="Group 110"/>
          <p:cNvGrpSpPr/>
          <p:nvPr/>
        </p:nvGrpSpPr>
        <p:grpSpPr bwMode="auto">
          <a:xfrm>
            <a:off x="5148064" y="2987002"/>
            <a:ext cx="3467100" cy="623887"/>
            <a:chOff x="3304" y="3117"/>
            <a:chExt cx="2184" cy="393"/>
          </a:xfrm>
        </p:grpSpPr>
        <p:sp>
          <p:nvSpPr>
            <p:cNvPr id="32" name="Text Box 105"/>
            <p:cNvSpPr txBox="1">
              <a:spLocks noChangeArrowheads="1"/>
            </p:cNvSpPr>
            <p:nvPr/>
          </p:nvSpPr>
          <p:spPr bwMode="auto">
            <a:xfrm>
              <a:off x="3304" y="3180"/>
              <a:ext cx="1021" cy="330"/>
            </a:xfrm>
            <a:prstGeom prst="rect">
              <a:avLst/>
            </a:prstGeom>
            <a:solidFill>
              <a:srgbClr val="01E59E"/>
            </a:solidFill>
            <a:ln>
              <a:noFill/>
            </a:ln>
          </p:spPr>
          <p:txBody>
            <a:bodyPr wrap="non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2800" b="0" i="0" u="none" strike="noStrike" kern="0" cap="none" spc="0" normalizeH="0" baseline="0" noProof="0" dirty="0" smtClean="0">
                  <a:ln>
                    <a:noFill/>
                  </a:ln>
                  <a:solidFill>
                    <a:srgbClr val="000000"/>
                  </a:solidFill>
                  <a:effectLst/>
                  <a:uLnTx/>
                  <a:uFillTx/>
                  <a:latin typeface="Arial" charset="0"/>
                  <a:ea typeface="黑体" pitchFamily="2" charset="-122"/>
                </a:rPr>
                <a:t>二次曲线</a:t>
              </a:r>
            </a:p>
          </p:txBody>
        </p:sp>
        <p:sp>
          <p:nvSpPr>
            <p:cNvPr id="33" name="Text Box 106"/>
            <p:cNvSpPr txBox="1">
              <a:spLocks noChangeArrowheads="1"/>
            </p:cNvSpPr>
            <p:nvPr/>
          </p:nvSpPr>
          <p:spPr bwMode="auto">
            <a:xfrm>
              <a:off x="4924" y="3181"/>
              <a:ext cx="564" cy="327"/>
            </a:xfrm>
            <a:prstGeom prst="rect">
              <a:avLst/>
            </a:prstGeom>
            <a:solidFill>
              <a:srgbClr val="01E59E"/>
            </a:solidFill>
            <a:ln>
              <a:noFill/>
            </a:ln>
          </p:spPr>
          <p:txBody>
            <a:bodyPr wrap="non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2800" b="0" i="0" u="none" strike="noStrike" kern="0" cap="none" spc="0" normalizeH="0" baseline="0" noProof="0" smtClean="0">
                  <a:ln>
                    <a:noFill/>
                  </a:ln>
                  <a:solidFill>
                    <a:srgbClr val="000000"/>
                  </a:solidFill>
                  <a:effectLst/>
                  <a:uLnTx/>
                  <a:uFillTx/>
                  <a:latin typeface="Arial" charset="0"/>
                  <a:ea typeface="黑体" pitchFamily="2" charset="-122"/>
                </a:rPr>
                <a:t>直线</a:t>
              </a:r>
            </a:p>
          </p:txBody>
        </p:sp>
        <p:sp>
          <p:nvSpPr>
            <p:cNvPr id="34" name="AutoShape 107"/>
            <p:cNvSpPr>
              <a:spLocks noChangeArrowheads="1"/>
            </p:cNvSpPr>
            <p:nvPr/>
          </p:nvSpPr>
          <p:spPr bwMode="auto">
            <a:xfrm>
              <a:off x="4350" y="3355"/>
              <a:ext cx="552" cy="92"/>
            </a:xfrm>
            <a:prstGeom prst="rightArrow">
              <a:avLst>
                <a:gd name="adj1" fmla="val 50000"/>
                <a:gd name="adj2" fmla="val 150000"/>
              </a:avLst>
            </a:prstGeom>
            <a:noFill/>
            <a:ln w="19050">
              <a:solidFill>
                <a:srgbClr val="FF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5" name="Text Box 109"/>
            <p:cNvSpPr txBox="1">
              <a:spLocks noChangeArrowheads="1"/>
            </p:cNvSpPr>
            <p:nvPr/>
          </p:nvSpPr>
          <p:spPr bwMode="auto">
            <a:xfrm>
              <a:off x="4376" y="3117"/>
              <a:ext cx="438" cy="250"/>
            </a:xfrm>
            <a:prstGeom prst="rect">
              <a:avLst/>
            </a:prstGeom>
            <a:noFill/>
            <a:ln>
              <a:noFill/>
            </a:ln>
          </p:spPr>
          <p:txBody>
            <a:bodyPr wrap="non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2000" b="1" i="0" u="none" strike="noStrike" kern="0" cap="none" spc="0" normalizeH="0" baseline="0" noProof="0" smtClean="0">
                  <a:ln>
                    <a:noFill/>
                  </a:ln>
                  <a:solidFill>
                    <a:srgbClr val="000000"/>
                  </a:solidFill>
                  <a:effectLst/>
                  <a:uLnTx/>
                  <a:uFillTx/>
                  <a:latin typeface="Arial" charset="0"/>
                  <a:ea typeface="黑体" pitchFamily="2" charset="-122"/>
                </a:rPr>
                <a:t>近似</a:t>
              </a:r>
            </a:p>
          </p:txBody>
        </p:sp>
      </p:grpSp>
      <p:sp>
        <p:nvSpPr>
          <p:cNvPr id="36" name="下箭头 47"/>
          <p:cNvSpPr/>
          <p:nvPr/>
        </p:nvSpPr>
        <p:spPr>
          <a:xfrm>
            <a:off x="6869771" y="3798507"/>
            <a:ext cx="258763" cy="1065213"/>
          </a:xfrm>
          <a:prstGeom prst="downArrow">
            <a:avLst/>
          </a:prstGeom>
          <a:solidFill>
            <a:schemeClr val="bg2">
              <a:lumMod val="90000"/>
            </a:schemeClr>
          </a:solidFill>
          <a:ln w="12700" cap="flat" cmpd="sng" algn="ctr">
            <a:solidFill>
              <a:schemeClr val="tx1"/>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37" name="Text Box 104"/>
          <p:cNvSpPr txBox="1">
            <a:spLocks noChangeArrowheads="1"/>
          </p:cNvSpPr>
          <p:nvPr/>
        </p:nvSpPr>
        <p:spPr bwMode="auto">
          <a:xfrm>
            <a:off x="5519602" y="4945732"/>
            <a:ext cx="2959100" cy="525463"/>
          </a:xfrm>
          <a:prstGeom prst="rect">
            <a:avLst/>
          </a:prstGeom>
          <a:noFill/>
          <a:ln>
            <a:noFill/>
          </a:ln>
        </p:spPr>
        <p:txBody>
          <a:bodyPr lIns="90000" tIns="46800" rIns="90000" bIns="46800">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algn="ctr" eaLnBrk="1" hangingPunct="1"/>
            <a:r>
              <a:rPr kumimoji="1" lang="zh-CN" altLang="en-US" dirty="0">
                <a:solidFill>
                  <a:srgbClr val="FF0000"/>
                </a:solidFill>
                <a:latin typeface="Tahoma" pitchFamily="34" charset="0"/>
              </a:rPr>
              <a:t>简化等寿命曲线</a:t>
            </a:r>
            <a:endParaRPr kumimoji="1" lang="en-US" altLang="zh-CN" dirty="0">
              <a:solidFill>
                <a:srgbClr val="FF0000"/>
              </a:solidFill>
              <a:latin typeface="Tahoma" pitchFamily="34" charset="0"/>
            </a:endParaRPr>
          </a:p>
        </p:txBody>
      </p:sp>
      <p:sp>
        <p:nvSpPr>
          <p:cNvPr id="38" name="TextBox 49"/>
          <p:cNvSpPr txBox="1">
            <a:spLocks noChangeArrowheads="1"/>
          </p:cNvSpPr>
          <p:nvPr/>
        </p:nvSpPr>
        <p:spPr bwMode="auto">
          <a:xfrm>
            <a:off x="795140" y="4604739"/>
            <a:ext cx="381000" cy="522288"/>
          </a:xfrm>
          <a:prstGeom prst="rect">
            <a:avLst/>
          </a:prstGeom>
          <a:noFill/>
          <a:ln>
            <a:noFill/>
          </a:ln>
        </p:spPr>
        <p:txBody>
          <a:bodyPr>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en-US" altLang="zh-CN" sz="2800" b="0" i="0" u="none" strike="noStrike" kern="0" cap="none" spc="0" normalizeH="0" baseline="0" noProof="0" smtClean="0">
                <a:ln>
                  <a:noFill/>
                </a:ln>
                <a:solidFill>
                  <a:srgbClr val="000000"/>
                </a:solidFill>
                <a:effectLst/>
                <a:uLnTx/>
                <a:uFillTx/>
                <a:latin typeface="Arial" charset="0"/>
                <a:ea typeface="黑体" pitchFamily="2" charset="-122"/>
              </a:rPr>
              <a:t>o</a:t>
            </a:r>
            <a:endParaRPr kumimoji="0" lang="zh-CN" altLang="en-US" sz="2800" b="0" i="0" u="none" strike="noStrike" kern="0" cap="none" spc="0" normalizeH="0" baseline="0" noProof="0" smtClean="0">
              <a:ln>
                <a:noFill/>
              </a:ln>
              <a:solidFill>
                <a:srgbClr val="000000"/>
              </a:solidFill>
              <a:effectLst/>
              <a:uLnTx/>
              <a:uFillTx/>
              <a:latin typeface="Arial" charset="0"/>
              <a:ea typeface="黑体" pitchFamily="2" charset="-122"/>
            </a:endParaRPr>
          </a:p>
        </p:txBody>
      </p:sp>
      <p:sp>
        <p:nvSpPr>
          <p:cNvPr id="39" name="TextBox 50"/>
          <p:cNvSpPr txBox="1">
            <a:spLocks noChangeArrowheads="1"/>
          </p:cNvSpPr>
          <p:nvPr/>
        </p:nvSpPr>
        <p:spPr bwMode="auto">
          <a:xfrm>
            <a:off x="1400497" y="5179180"/>
            <a:ext cx="2811463" cy="400110"/>
          </a:xfrm>
          <a:prstGeom prst="rect">
            <a:avLst/>
          </a:prstGeom>
          <a:noFill/>
          <a:ln>
            <a:noFill/>
          </a:ln>
        </p:spPr>
        <p:txBody>
          <a:bodyPr>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sz="2000" b="0" i="0" u="none" strike="noStrike" kern="0" cap="none" spc="0" normalizeH="0" baseline="0" noProof="0" dirty="0" smtClean="0">
                <a:ln>
                  <a:noFill/>
                </a:ln>
                <a:solidFill>
                  <a:srgbClr val="000000"/>
                </a:solidFill>
                <a:effectLst/>
                <a:uLnTx/>
                <a:uFillTx/>
                <a:latin typeface="Arial" charset="0"/>
                <a:ea typeface="黑体" pitchFamily="2" charset="-122"/>
              </a:rPr>
              <a:t>等寿命曲线</a:t>
            </a:r>
            <a:endParaRPr kumimoji="0" lang="zh-CN" altLang="en-US" sz="2000" b="0" i="0" u="none" strike="noStrike" kern="0" cap="none" spc="0" normalizeH="0" baseline="0" noProof="0" dirty="0" smtClean="0">
              <a:ln>
                <a:noFill/>
              </a:ln>
              <a:solidFill>
                <a:srgbClr val="000000"/>
              </a:solidFill>
              <a:effectLst/>
              <a:uLnTx/>
              <a:uFillTx/>
              <a:latin typeface="Arial" charset="0"/>
              <a:ea typeface="黑体" pitchFamily="2" charset="-122"/>
            </a:endParaRPr>
          </a:p>
        </p:txBody>
      </p:sp>
      <p:sp>
        <p:nvSpPr>
          <p:cNvPr id="40" name="单圆角矩形 39"/>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材料的等寿命疲劳曲线</a:t>
            </a:r>
            <a:endParaRPr lang="zh-CN" altLang="en-US" sz="1500" dirty="0">
              <a:solidFill>
                <a:srgbClr val="FF6600"/>
              </a:solidFill>
            </a:endParaRPr>
          </a:p>
        </p:txBody>
      </p:sp>
      <p:sp>
        <p:nvSpPr>
          <p:cNvPr id="41" name="直角三角形 40"/>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slide(fromBottom)">
                                      <p:cBhvr>
                                        <p:cTn id="16" dur="500"/>
                                        <p:tgtEl>
                                          <p:spTgt spid="1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slide(fromBottom)">
                                      <p:cBhvr>
                                        <p:cTn id="19" dur="500"/>
                                        <p:tgtEl>
                                          <p:spTgt spid="3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slide(fromBottom)">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left)">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slide(fromBottom)">
                                      <p:cBhvr>
                                        <p:cTn id="36" dur="500"/>
                                        <p:tgtEl>
                                          <p:spTgt spid="36"/>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slide(fromBottom)">
                                      <p:cBhvr>
                                        <p:cTn id="3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0" grpId="0" autoUpdateAnimBg="0"/>
      <p:bldP spid="36" grpId="0" animBg="1"/>
      <p:bldP spid="37" grpId="0"/>
      <p:bldP spid="38"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零件的等寿命疲劳曲线</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744511" y="2004968"/>
            <a:ext cx="553998" cy="2735723"/>
            <a:chOff x="797021" y="985873"/>
            <a:chExt cx="553998" cy="2735723"/>
          </a:xfrm>
        </p:grpSpPr>
        <p:cxnSp>
          <p:nvCxnSpPr>
            <p:cNvPr id="8" name="直接箭头连接符 7"/>
            <p:cNvCxnSpPr/>
            <p:nvPr/>
          </p:nvCxnSpPr>
          <p:spPr>
            <a:xfrm flipV="1">
              <a:off x="1074020" y="1417340"/>
              <a:ext cx="0" cy="23042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p:cNvSpPr txBox="1"/>
                <p:nvPr/>
              </p:nvSpPr>
              <p:spPr>
                <a:xfrm>
                  <a:off x="797021" y="985873"/>
                  <a:ext cx="553998"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𝜎</m:t>
                            </m:r>
                          </m:e>
                          <m:sub>
                            <m:r>
                              <a:rPr lang="en-US" altLang="zh-CN" sz="2200" b="0" i="1" smtClean="0">
                                <a:latin typeface="Cambria Math" panose="02040503050406030204" pitchFamily="18" charset="0"/>
                              </a:rPr>
                              <m:t>𝑎</m:t>
                            </m:r>
                          </m:sub>
                        </m:sSub>
                      </m:oMath>
                    </m:oMathPara>
                  </a14:m>
                  <a:endParaRPr lang="zh-CN" altLang="en-US" sz="22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797021" y="985873"/>
                  <a:ext cx="553998" cy="430887"/>
                </a:xfrm>
                <a:prstGeom prst="rect">
                  <a:avLst/>
                </a:prstGeom>
                <a:blipFill rotWithShape="0">
                  <a:blip r:embed="rId3"/>
                  <a:stretch>
                    <a:fillRect/>
                  </a:stretch>
                </a:blipFill>
              </p:spPr>
              <p:txBody>
                <a:bodyPr/>
                <a:lstStyle/>
                <a:p>
                  <a:r>
                    <a:rPr lang="zh-CN" altLang="en-US">
                      <a:noFill/>
                    </a:rPr>
                    <a:t> </a:t>
                  </a:r>
                </a:p>
              </p:txBody>
            </p:sp>
          </mc:Fallback>
        </mc:AlternateContent>
      </p:grpSp>
      <p:grpSp>
        <p:nvGrpSpPr>
          <p:cNvPr id="24" name="组合 23"/>
          <p:cNvGrpSpPr/>
          <p:nvPr/>
        </p:nvGrpSpPr>
        <p:grpSpPr>
          <a:xfrm>
            <a:off x="1021510" y="4525247"/>
            <a:ext cx="5081139" cy="430887"/>
            <a:chOff x="1074020" y="3506152"/>
            <a:chExt cx="5081139" cy="430887"/>
          </a:xfrm>
        </p:grpSpPr>
        <p:cxnSp>
          <p:nvCxnSpPr>
            <p:cNvPr id="7" name="直接箭头连接符 6"/>
            <p:cNvCxnSpPr>
              <a:endCxn id="14" idx="1"/>
            </p:cNvCxnSpPr>
            <p:nvPr/>
          </p:nvCxnSpPr>
          <p:spPr>
            <a:xfrm>
              <a:off x="1074020" y="3721596"/>
              <a:ext cx="446449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p:cNvSpPr txBox="1"/>
                <p:nvPr/>
              </p:nvSpPr>
              <p:spPr>
                <a:xfrm>
                  <a:off x="5538516" y="3506152"/>
                  <a:ext cx="616643"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𝜎</m:t>
                            </m:r>
                          </m:e>
                          <m:sub>
                            <m:r>
                              <a:rPr lang="en-US" altLang="zh-CN" sz="2200" b="0" i="1" smtClean="0">
                                <a:latin typeface="Cambria Math" panose="02040503050406030204" pitchFamily="18" charset="0"/>
                              </a:rPr>
                              <m:t>𝑚</m:t>
                            </m:r>
                          </m:sub>
                        </m:sSub>
                      </m:oMath>
                    </m:oMathPara>
                  </a14:m>
                  <a:endParaRPr lang="zh-CN" altLang="en-US" sz="22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5538516" y="3506152"/>
                  <a:ext cx="616643" cy="430887"/>
                </a:xfrm>
                <a:prstGeom prst="rect">
                  <a:avLst/>
                </a:prstGeom>
                <a:blipFill rotWithShape="0">
                  <a:blip r:embed="rId4"/>
                  <a:stretch>
                    <a:fillRect/>
                  </a:stretch>
                </a:blipFill>
              </p:spPr>
              <p:txBody>
                <a:bodyPr/>
                <a:lstStyle/>
                <a:p>
                  <a:r>
                    <a:rPr lang="zh-CN" altLang="en-US">
                      <a:noFill/>
                    </a:rPr>
                    <a:t> </a:t>
                  </a:r>
                </a:p>
              </p:txBody>
            </p:sp>
          </mc:Fallback>
        </mc:AlternateContent>
      </p:grpSp>
      <p:cxnSp>
        <p:nvCxnSpPr>
          <p:cNvPr id="17" name="直接连接符 16"/>
          <p:cNvCxnSpPr/>
          <p:nvPr/>
        </p:nvCxnSpPr>
        <p:spPr>
          <a:xfrm flipV="1">
            <a:off x="1021510" y="3030768"/>
            <a:ext cx="1772102" cy="170992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1021510" y="2803955"/>
            <a:ext cx="2880320" cy="402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6" idx="1"/>
          </p:cNvCxnSpPr>
          <p:nvPr/>
        </p:nvCxnSpPr>
        <p:spPr>
          <a:xfrm flipH="1" flipV="1">
            <a:off x="3901830" y="3206391"/>
            <a:ext cx="1093139" cy="15028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p:cNvSpPr txBox="1"/>
              <p:nvPr/>
            </p:nvSpPr>
            <p:spPr>
              <a:xfrm>
                <a:off x="969803" y="2477386"/>
                <a:ext cx="453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oMath>
                  </m:oMathPara>
                </a14:m>
                <a:endParaRPr lang="zh-CN" altLang="en-US" dirty="0"/>
              </a:p>
            </p:txBody>
          </p:sp>
        </mc:Choice>
        <mc:Fallback xmlns="">
          <p:sp>
            <p:nvSpPr>
              <p:cNvPr id="31" name="文本框 30"/>
              <p:cNvSpPr txBox="1">
                <a:spLocks noRot="1" noChangeAspect="1" noMove="1" noResize="1" noEditPoints="1" noAdjustHandles="1" noChangeArrowheads="1" noChangeShapeType="1" noTextEdit="1"/>
              </p:cNvSpPr>
              <p:nvPr/>
            </p:nvSpPr>
            <p:spPr>
              <a:xfrm>
                <a:off x="969803" y="2477386"/>
                <a:ext cx="453970" cy="369332"/>
              </a:xfrm>
              <a:prstGeom prst="rect">
                <a:avLst/>
              </a:prstGeom>
              <a:blipFill rotWithShape="0">
                <a:blip r:embed="rId5"/>
                <a:stretch>
                  <a:fillRect/>
                </a:stretch>
              </a:blipFill>
            </p:spPr>
            <p:txBody>
              <a:bodyPr/>
              <a:lstStyle/>
              <a:p>
                <a:r>
                  <a:rPr lang="zh-CN" altLang="en-US">
                    <a:noFill/>
                  </a:rPr>
                  <a:t> </a:t>
                </a:r>
              </a:p>
            </p:txBody>
          </p:sp>
        </mc:Fallback>
      </mc:AlternateContent>
      <p:grpSp>
        <p:nvGrpSpPr>
          <p:cNvPr id="29" name="组合 28"/>
          <p:cNvGrpSpPr/>
          <p:nvPr/>
        </p:nvGrpSpPr>
        <p:grpSpPr>
          <a:xfrm>
            <a:off x="1248423" y="1799151"/>
            <a:ext cx="1545189" cy="842519"/>
            <a:chOff x="1300933" y="780056"/>
            <a:chExt cx="1545189" cy="842519"/>
          </a:xfrm>
        </p:grpSpPr>
        <p:pic>
          <p:nvPicPr>
            <p:cNvPr id="15" name="图片 14"/>
            <p:cNvPicPr>
              <a:picLocks noChangeAspect="1"/>
            </p:cNvPicPr>
            <p:nvPr/>
          </p:nvPicPr>
          <p:blipFill>
            <a:blip r:embed="rId6"/>
            <a:stretch>
              <a:fillRect/>
            </a:stretch>
          </p:blipFill>
          <p:spPr>
            <a:xfrm>
              <a:off x="1395469" y="780056"/>
              <a:ext cx="1450653" cy="842519"/>
            </a:xfrm>
            <a:prstGeom prst="rect">
              <a:avLst/>
            </a:prstGeom>
          </p:spPr>
        </p:pic>
        <p:cxnSp>
          <p:nvCxnSpPr>
            <p:cNvPr id="33" name="直接连接符 32"/>
            <p:cNvCxnSpPr/>
            <p:nvPr/>
          </p:nvCxnSpPr>
          <p:spPr>
            <a:xfrm flipV="1">
              <a:off x="1300933" y="1286576"/>
              <a:ext cx="227057" cy="195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2530414" y="2645720"/>
            <a:ext cx="468397" cy="452325"/>
            <a:chOff x="2582924" y="1626625"/>
            <a:chExt cx="468397" cy="452325"/>
          </a:xfrm>
        </p:grpSpPr>
        <p:sp>
          <p:nvSpPr>
            <p:cNvPr id="19" name="椭圆 38"/>
            <p:cNvSpPr/>
            <p:nvPr/>
          </p:nvSpPr>
          <p:spPr>
            <a:xfrm>
              <a:off x="2765459" y="1990050"/>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37" name="文本框 36"/>
                <p:cNvSpPr txBox="1"/>
                <p:nvPr/>
              </p:nvSpPr>
              <p:spPr>
                <a:xfrm>
                  <a:off x="2582924" y="1626625"/>
                  <a:ext cx="4683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m:t>
                        </m:r>
                        <m:r>
                          <a:rPr lang="en-US" altLang="zh-CN" b="0" i="1" smtClean="0">
                            <a:latin typeface="Cambria Math" panose="02040503050406030204" pitchFamily="18" charset="0"/>
                          </a:rPr>
                          <m:t>′</m:t>
                        </m:r>
                      </m:oMath>
                    </m:oMathPara>
                  </a14:m>
                  <a:endParaRPr lang="zh-CN" altLang="en-US" dirty="0"/>
                </a:p>
              </p:txBody>
            </p:sp>
          </mc:Choice>
          <mc:Fallback xmlns="">
            <p:sp>
              <p:nvSpPr>
                <p:cNvPr id="37" name="文本框 36"/>
                <p:cNvSpPr txBox="1">
                  <a:spLocks noRot="1" noChangeAspect="1" noMove="1" noResize="1" noEditPoints="1" noAdjustHandles="1" noChangeArrowheads="1" noChangeShapeType="1" noTextEdit="1"/>
                </p:cNvSpPr>
                <p:nvPr/>
              </p:nvSpPr>
              <p:spPr>
                <a:xfrm>
                  <a:off x="2582924" y="1626625"/>
                  <a:ext cx="468397" cy="369332"/>
                </a:xfrm>
                <a:prstGeom prst="rect">
                  <a:avLst/>
                </a:prstGeom>
                <a:blipFill rotWithShape="0">
                  <a:blip r:embed="rId8"/>
                  <a:stretch>
                    <a:fillRect/>
                  </a:stretch>
                </a:blipFill>
              </p:spPr>
              <p:txBody>
                <a:bodyPr/>
                <a:lstStyle/>
                <a:p>
                  <a:r>
                    <a:rPr lang="zh-CN" altLang="en-US">
                      <a:noFill/>
                    </a:rPr>
                    <a:t> </a:t>
                  </a:r>
                </a:p>
              </p:txBody>
            </p:sp>
          </mc:Fallback>
        </mc:AlternateContent>
      </p:grpSp>
      <p:grpSp>
        <p:nvGrpSpPr>
          <p:cNvPr id="32" name="组合 31"/>
          <p:cNvGrpSpPr/>
          <p:nvPr/>
        </p:nvGrpSpPr>
        <p:grpSpPr>
          <a:xfrm>
            <a:off x="2895484" y="1996365"/>
            <a:ext cx="1552915" cy="778462"/>
            <a:chOff x="2947994" y="977270"/>
            <a:chExt cx="1552915" cy="778462"/>
          </a:xfrm>
        </p:grpSpPr>
        <p:pic>
          <p:nvPicPr>
            <p:cNvPr id="36" name="图片 35"/>
            <p:cNvPicPr>
              <a:picLocks noChangeAspect="1"/>
            </p:cNvPicPr>
            <p:nvPr/>
          </p:nvPicPr>
          <p:blipFill>
            <a:blip r:embed="rId9"/>
            <a:stretch>
              <a:fillRect/>
            </a:stretch>
          </p:blipFill>
          <p:spPr>
            <a:xfrm>
              <a:off x="3093689" y="977270"/>
              <a:ext cx="1407220" cy="778462"/>
            </a:xfrm>
            <a:prstGeom prst="rect">
              <a:avLst/>
            </a:prstGeom>
          </p:spPr>
        </p:pic>
        <p:cxnSp>
          <p:nvCxnSpPr>
            <p:cNvPr id="38" name="直接连接符 37"/>
            <p:cNvCxnSpPr/>
            <p:nvPr/>
          </p:nvCxnSpPr>
          <p:spPr>
            <a:xfrm flipV="1">
              <a:off x="2947994" y="1467685"/>
              <a:ext cx="227057" cy="195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4945215" y="4696240"/>
            <a:ext cx="396775" cy="413783"/>
            <a:chOff x="4997725" y="3677145"/>
            <a:chExt cx="396775" cy="413783"/>
          </a:xfrm>
        </p:grpSpPr>
        <p:sp>
          <p:nvSpPr>
            <p:cNvPr id="26" name="椭圆 38"/>
            <p:cNvSpPr/>
            <p:nvPr/>
          </p:nvSpPr>
          <p:spPr>
            <a:xfrm>
              <a:off x="5034460" y="3677145"/>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39" name="文本框 38"/>
                <p:cNvSpPr txBox="1"/>
                <p:nvPr/>
              </p:nvSpPr>
              <p:spPr>
                <a:xfrm>
                  <a:off x="4997725" y="3721596"/>
                  <a:ext cx="396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𝑪</m:t>
                        </m:r>
                      </m:oMath>
                    </m:oMathPara>
                  </a14:m>
                  <a:endParaRPr lang="zh-CN" altLang="en-US" b="1" dirty="0"/>
                </a:p>
              </p:txBody>
            </p:sp>
          </mc:Choice>
          <mc:Fallback xmlns="">
            <p:sp>
              <p:nvSpPr>
                <p:cNvPr id="39" name="文本框 38"/>
                <p:cNvSpPr txBox="1">
                  <a:spLocks noRot="1" noChangeAspect="1" noMove="1" noResize="1" noEditPoints="1" noAdjustHandles="1" noChangeArrowheads="1" noChangeShapeType="1" noTextEdit="1"/>
                </p:cNvSpPr>
                <p:nvPr/>
              </p:nvSpPr>
              <p:spPr>
                <a:xfrm>
                  <a:off x="4997725" y="3721596"/>
                  <a:ext cx="396775" cy="369332"/>
                </a:xfrm>
                <a:prstGeom prst="rect">
                  <a:avLst/>
                </a:prstGeom>
                <a:blipFill rotWithShape="0">
                  <a:blip r:embed="rId10"/>
                  <a:stretch>
                    <a:fillRect/>
                  </a:stretch>
                </a:blipFill>
              </p:spPr>
              <p:txBody>
                <a:bodyPr/>
                <a:lstStyle/>
                <a:p>
                  <a:r>
                    <a:rPr lang="zh-CN" altLang="en-US">
                      <a:noFill/>
                    </a:rPr>
                    <a:t> </a:t>
                  </a:r>
                </a:p>
              </p:txBody>
            </p:sp>
          </mc:Fallback>
        </mc:AlternateContent>
      </p:grpSp>
      <p:grpSp>
        <p:nvGrpSpPr>
          <p:cNvPr id="35" name="组合 34"/>
          <p:cNvGrpSpPr/>
          <p:nvPr/>
        </p:nvGrpSpPr>
        <p:grpSpPr>
          <a:xfrm>
            <a:off x="4867896" y="3627547"/>
            <a:ext cx="1307778" cy="1035976"/>
            <a:chOff x="4920406" y="2608452"/>
            <a:chExt cx="1307778" cy="1035976"/>
          </a:xfrm>
        </p:grpSpPr>
        <p:pic>
          <p:nvPicPr>
            <p:cNvPr id="40" name="图片 39"/>
            <p:cNvPicPr>
              <a:picLocks noChangeAspect="1"/>
            </p:cNvPicPr>
            <p:nvPr/>
          </p:nvPicPr>
          <p:blipFill>
            <a:blip r:embed="rId11"/>
            <a:stretch>
              <a:fillRect/>
            </a:stretch>
          </p:blipFill>
          <p:spPr>
            <a:xfrm>
              <a:off x="4920406" y="2608452"/>
              <a:ext cx="1307778" cy="893758"/>
            </a:xfrm>
            <a:prstGeom prst="rect">
              <a:avLst/>
            </a:prstGeom>
          </p:spPr>
        </p:pic>
        <p:cxnSp>
          <p:nvCxnSpPr>
            <p:cNvPr id="41" name="直接连接符 40"/>
            <p:cNvCxnSpPr/>
            <p:nvPr/>
          </p:nvCxnSpPr>
          <p:spPr>
            <a:xfrm flipV="1">
              <a:off x="5103881" y="3416493"/>
              <a:ext cx="150367" cy="2279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3" name="文本框 42"/>
              <p:cNvSpPr txBox="1"/>
              <p:nvPr/>
            </p:nvSpPr>
            <p:spPr>
              <a:xfrm>
                <a:off x="3850166" y="2958700"/>
                <a:ext cx="453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oMath>
                  </m:oMathPara>
                </a14:m>
                <a:endParaRPr lang="zh-CN" altLang="en-US" dirty="0"/>
              </a:p>
            </p:txBody>
          </p:sp>
        </mc:Choice>
        <mc:Fallback xmlns="">
          <p:sp>
            <p:nvSpPr>
              <p:cNvPr id="43" name="文本框 42"/>
              <p:cNvSpPr txBox="1">
                <a:spLocks noRot="1" noChangeAspect="1" noMove="1" noResize="1" noEditPoints="1" noAdjustHandles="1" noChangeArrowheads="1" noChangeShapeType="1" noTextEdit="1"/>
              </p:cNvSpPr>
              <p:nvPr/>
            </p:nvSpPr>
            <p:spPr>
              <a:xfrm>
                <a:off x="3850166" y="2958700"/>
                <a:ext cx="453970" cy="369332"/>
              </a:xfrm>
              <a:prstGeom prst="rect">
                <a:avLst/>
              </a:prstGeom>
              <a:blipFill rotWithShape="0">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p:cNvSpPr txBox="1"/>
              <p:nvPr/>
            </p:nvSpPr>
            <p:spPr>
              <a:xfrm>
                <a:off x="658044" y="4751622"/>
                <a:ext cx="4099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𝑂</m:t>
                      </m:r>
                    </m:oMath>
                  </m:oMathPara>
                </a14:m>
                <a:endParaRPr lang="zh-CN" altLang="en-US" dirty="0"/>
              </a:p>
            </p:txBody>
          </p:sp>
        </mc:Choice>
        <mc:Fallback xmlns="">
          <p:sp>
            <p:nvSpPr>
              <p:cNvPr id="44" name="文本框 43"/>
              <p:cNvSpPr txBox="1">
                <a:spLocks noRot="1" noChangeAspect="1" noMove="1" noResize="1" noEditPoints="1" noAdjustHandles="1" noChangeArrowheads="1" noChangeShapeType="1" noTextEdit="1"/>
              </p:cNvSpPr>
              <p:nvPr/>
            </p:nvSpPr>
            <p:spPr>
              <a:xfrm>
                <a:off x="658044" y="4751622"/>
                <a:ext cx="409919" cy="369332"/>
              </a:xfrm>
              <a:prstGeom prst="rect">
                <a:avLst/>
              </a:prstGeom>
              <a:blipFill rotWithShape="0">
                <a:blip r:embed="rId13"/>
                <a:stretch>
                  <a:fillRect/>
                </a:stretch>
              </a:blipFill>
            </p:spPr>
            <p:txBody>
              <a:bodyPr/>
              <a:lstStyle/>
              <a:p>
                <a:r>
                  <a:rPr lang="zh-CN" altLang="en-US">
                    <a:noFill/>
                  </a:rPr>
                  <a:t> </a:t>
                </a:r>
              </a:p>
            </p:txBody>
          </p:sp>
        </mc:Fallback>
      </mc:AlternateContent>
      <p:grpSp>
        <p:nvGrpSpPr>
          <p:cNvPr id="71" name="组合 70"/>
          <p:cNvGrpSpPr/>
          <p:nvPr/>
        </p:nvGrpSpPr>
        <p:grpSpPr>
          <a:xfrm>
            <a:off x="1032132" y="4371665"/>
            <a:ext cx="939441" cy="580031"/>
            <a:chOff x="1084642" y="3352570"/>
            <a:chExt cx="939441" cy="580031"/>
          </a:xfrm>
        </p:grpSpPr>
        <p:sp>
          <p:nvSpPr>
            <p:cNvPr id="45" name="弧形 44"/>
            <p:cNvSpPr/>
            <p:nvPr/>
          </p:nvSpPr>
          <p:spPr>
            <a:xfrm rot="788753">
              <a:off x="1084642" y="3419327"/>
              <a:ext cx="483788" cy="513274"/>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6" name="文本框 45"/>
                <p:cNvSpPr txBox="1"/>
                <p:nvPr/>
              </p:nvSpPr>
              <p:spPr>
                <a:xfrm>
                  <a:off x="1477138" y="3352570"/>
                  <a:ext cx="54694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45</m:t>
                        </m:r>
                        <m:r>
                          <a:rPr lang="en-US" altLang="zh-CN" sz="1600" b="0" i="1" smtClean="0">
                            <a:latin typeface="Cambria Math" panose="02040503050406030204" pitchFamily="18" charset="0"/>
                            <a:ea typeface="Cambria Math" panose="02040503050406030204" pitchFamily="18" charset="0"/>
                          </a:rPr>
                          <m:t>°</m:t>
                        </m:r>
                      </m:oMath>
                    </m:oMathPara>
                  </a14:m>
                  <a:endParaRPr lang="zh-CN" altLang="en-US" sz="1600" dirty="0"/>
                </a:p>
              </p:txBody>
            </p:sp>
          </mc:Choice>
          <mc:Fallback xmlns="">
            <p:sp>
              <p:nvSpPr>
                <p:cNvPr id="46" name="文本框 45"/>
                <p:cNvSpPr txBox="1">
                  <a:spLocks noRot="1" noChangeAspect="1" noMove="1" noResize="1" noEditPoints="1" noAdjustHandles="1" noChangeArrowheads="1" noChangeShapeType="1" noTextEdit="1"/>
                </p:cNvSpPr>
                <p:nvPr/>
              </p:nvSpPr>
              <p:spPr>
                <a:xfrm>
                  <a:off x="1477138" y="3352570"/>
                  <a:ext cx="546945" cy="338554"/>
                </a:xfrm>
                <a:prstGeom prst="rect">
                  <a:avLst/>
                </a:prstGeom>
                <a:blipFill rotWithShape="0">
                  <a:blip r:embed="rId14"/>
                  <a:stretch>
                    <a:fillRect/>
                  </a:stretch>
                </a:blipFill>
              </p:spPr>
              <p:txBody>
                <a:bodyPr/>
                <a:lstStyle/>
                <a:p>
                  <a:r>
                    <a:rPr lang="zh-CN" altLang="en-US">
                      <a:noFill/>
                    </a:rPr>
                    <a:t> </a:t>
                  </a:r>
                </a:p>
              </p:txBody>
            </p:sp>
          </mc:Fallback>
        </mc:AlternateContent>
      </p:grpSp>
      <p:grpSp>
        <p:nvGrpSpPr>
          <p:cNvPr id="72" name="组合 71"/>
          <p:cNvGrpSpPr/>
          <p:nvPr/>
        </p:nvGrpSpPr>
        <p:grpSpPr>
          <a:xfrm>
            <a:off x="4179192" y="4352028"/>
            <a:ext cx="958076" cy="523481"/>
            <a:chOff x="4231702" y="3332933"/>
            <a:chExt cx="958076" cy="523481"/>
          </a:xfrm>
        </p:grpSpPr>
        <p:sp>
          <p:nvSpPr>
            <p:cNvPr id="47" name="弧形 46"/>
            <p:cNvSpPr/>
            <p:nvPr/>
          </p:nvSpPr>
          <p:spPr>
            <a:xfrm rot="14830186">
              <a:off x="4691247" y="3357883"/>
              <a:ext cx="483788" cy="513274"/>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8" name="文本框 47"/>
                <p:cNvSpPr txBox="1"/>
                <p:nvPr/>
              </p:nvSpPr>
              <p:spPr>
                <a:xfrm>
                  <a:off x="4231702" y="3332933"/>
                  <a:ext cx="54694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45</m:t>
                        </m:r>
                        <m:r>
                          <a:rPr lang="en-US" altLang="zh-CN" sz="1600" b="0" i="1" smtClean="0">
                            <a:latin typeface="Cambria Math" panose="02040503050406030204" pitchFamily="18" charset="0"/>
                            <a:ea typeface="Cambria Math" panose="02040503050406030204" pitchFamily="18" charset="0"/>
                          </a:rPr>
                          <m:t>°</m:t>
                        </m:r>
                      </m:oMath>
                    </m:oMathPara>
                  </a14:m>
                  <a:endParaRPr lang="zh-CN" altLang="en-US" sz="1600" dirty="0"/>
                </a:p>
              </p:txBody>
            </p:sp>
          </mc:Choice>
          <mc:Fallback xmlns="">
            <p:sp>
              <p:nvSpPr>
                <p:cNvPr id="48" name="文本框 47"/>
                <p:cNvSpPr txBox="1">
                  <a:spLocks noRot="1" noChangeAspect="1" noMove="1" noResize="1" noEditPoints="1" noAdjustHandles="1" noChangeArrowheads="1" noChangeShapeType="1" noTextEdit="1"/>
                </p:cNvSpPr>
                <p:nvPr/>
              </p:nvSpPr>
              <p:spPr>
                <a:xfrm>
                  <a:off x="4231702" y="3332933"/>
                  <a:ext cx="546945" cy="338554"/>
                </a:xfrm>
                <a:prstGeom prst="rect">
                  <a:avLst/>
                </a:prstGeom>
                <a:blipFill rotWithShape="0">
                  <a:blip r:embed="rId15"/>
                  <a:stretch>
                    <a:fillRect/>
                  </a:stretch>
                </a:blipFill>
              </p:spPr>
              <p:txBody>
                <a:bodyPr/>
                <a:lstStyle/>
                <a:p>
                  <a:r>
                    <a:rPr lang="zh-CN" altLang="en-US">
                      <a:noFill/>
                    </a:rPr>
                    <a:t> </a:t>
                  </a:r>
                </a:p>
              </p:txBody>
            </p:sp>
          </mc:Fallback>
        </mc:AlternateContent>
      </p:grpSp>
      <p:cxnSp>
        <p:nvCxnSpPr>
          <p:cNvPr id="51" name="直接连接符 50"/>
          <p:cNvCxnSpPr/>
          <p:nvPr/>
        </p:nvCxnSpPr>
        <p:spPr>
          <a:xfrm flipH="1">
            <a:off x="640766" y="3362216"/>
            <a:ext cx="3799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01430" y="3053595"/>
            <a:ext cx="23844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9" idx="4"/>
          </p:cNvCxnSpPr>
          <p:nvPr/>
        </p:nvCxnSpPr>
        <p:spPr>
          <a:xfrm>
            <a:off x="2757399" y="3098045"/>
            <a:ext cx="0" cy="2059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301430" y="4740690"/>
            <a:ext cx="678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020698" y="4765900"/>
            <a:ext cx="0" cy="6948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026400" y="4740691"/>
            <a:ext cx="0" cy="720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510152" y="2571024"/>
            <a:ext cx="552652" cy="338554"/>
            <a:chOff x="562662" y="1551929"/>
            <a:chExt cx="552652" cy="338554"/>
          </a:xfrm>
        </p:grpSpPr>
        <p:sp>
          <p:nvSpPr>
            <p:cNvPr id="12" name="椭圆 38"/>
            <p:cNvSpPr/>
            <p:nvPr/>
          </p:nvSpPr>
          <p:spPr>
            <a:xfrm>
              <a:off x="1022313" y="1738717"/>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89" name="文本框 88"/>
                <p:cNvSpPr txBox="1"/>
                <p:nvPr/>
              </p:nvSpPr>
              <p:spPr>
                <a:xfrm>
                  <a:off x="562662" y="1551929"/>
                  <a:ext cx="55265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sub>
                        </m:sSub>
                      </m:oMath>
                    </m:oMathPara>
                  </a14:m>
                  <a:endParaRPr lang="zh-CN" altLang="en-US" sz="1600" dirty="0"/>
                </a:p>
              </p:txBody>
            </p:sp>
          </mc:Choice>
          <mc:Fallback xmlns="">
            <p:sp>
              <p:nvSpPr>
                <p:cNvPr id="89" name="文本框 88"/>
                <p:cNvSpPr txBox="1">
                  <a:spLocks noRot="1" noChangeAspect="1" noMove="1" noResize="1" noEditPoints="1" noAdjustHandles="1" noChangeArrowheads="1" noChangeShapeType="1" noTextEdit="1"/>
                </p:cNvSpPr>
                <p:nvPr/>
              </p:nvSpPr>
              <p:spPr>
                <a:xfrm>
                  <a:off x="562662" y="1551929"/>
                  <a:ext cx="552652" cy="338554"/>
                </a:xfrm>
                <a:prstGeom prst="rect">
                  <a:avLst/>
                </a:prstGeom>
                <a:blipFill rotWithShape="0">
                  <a:blip r:embed="rId16"/>
                  <a:stretch>
                    <a:fillRect/>
                  </a:stretch>
                </a:blipFill>
              </p:spPr>
              <p:txBody>
                <a:bodyPr/>
                <a:lstStyle/>
                <a:p>
                  <a:r>
                    <a:rPr lang="zh-CN" altLang="en-US">
                      <a:noFill/>
                    </a:rPr>
                    <a:t> </a:t>
                  </a:r>
                </a:p>
              </p:txBody>
            </p:sp>
          </mc:Fallback>
        </mc:AlternateContent>
      </p:grpSp>
      <p:grpSp>
        <p:nvGrpSpPr>
          <p:cNvPr id="73" name="组合 72"/>
          <p:cNvGrpSpPr/>
          <p:nvPr/>
        </p:nvGrpSpPr>
        <p:grpSpPr>
          <a:xfrm>
            <a:off x="1020698" y="5229301"/>
            <a:ext cx="4005702" cy="318924"/>
            <a:chOff x="1073208" y="4210206"/>
            <a:chExt cx="4005702" cy="318924"/>
          </a:xfrm>
        </p:grpSpPr>
        <p:cxnSp>
          <p:nvCxnSpPr>
            <p:cNvPr id="85" name="直接连接符 84"/>
            <p:cNvCxnSpPr/>
            <p:nvPr/>
          </p:nvCxnSpPr>
          <p:spPr>
            <a:xfrm>
              <a:off x="1073208" y="4369668"/>
              <a:ext cx="4005702" cy="0"/>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文本框 89"/>
                <p:cNvSpPr txBox="1"/>
                <p:nvPr/>
              </p:nvSpPr>
              <p:spPr>
                <a:xfrm>
                  <a:off x="2949439" y="4210206"/>
                  <a:ext cx="320335" cy="318924"/>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b="0" i="1" smtClean="0">
                                <a:latin typeface="Cambria Math" panose="02040503050406030204" pitchFamily="18" charset="0"/>
                              </a:rPr>
                              <m:t>𝑠</m:t>
                            </m:r>
                          </m:sub>
                        </m:sSub>
                      </m:oMath>
                    </m:oMathPara>
                  </a14:m>
                  <a:endParaRPr lang="zh-CN" altLang="en-US" sz="1600" dirty="0"/>
                </a:p>
              </p:txBody>
            </p:sp>
          </mc:Choice>
          <mc:Fallback xmlns="">
            <p:sp>
              <p:nvSpPr>
                <p:cNvPr id="90" name="文本框 89"/>
                <p:cNvSpPr txBox="1">
                  <a:spLocks noRot="1" noChangeAspect="1" noMove="1" noResize="1" noEditPoints="1" noAdjustHandles="1" noChangeArrowheads="1" noChangeShapeType="1" noTextEdit="1"/>
                </p:cNvSpPr>
                <p:nvPr/>
              </p:nvSpPr>
              <p:spPr>
                <a:xfrm>
                  <a:off x="2949439" y="4210206"/>
                  <a:ext cx="320335" cy="318924"/>
                </a:xfrm>
                <a:prstGeom prst="rect">
                  <a:avLst/>
                </a:prstGeom>
                <a:blipFill rotWithShape="0">
                  <a:blip r:embed="rId17"/>
                  <a:stretch>
                    <a:fillRect/>
                  </a:stretch>
                </a:blipFill>
              </p:spPr>
              <p:txBody>
                <a:bodyPr/>
                <a:lstStyle/>
                <a:p>
                  <a:r>
                    <a:rPr lang="zh-CN" altLang="en-US">
                      <a:noFill/>
                    </a:rPr>
                    <a:t> </a:t>
                  </a:r>
                </a:p>
              </p:txBody>
            </p:sp>
          </mc:Fallback>
        </mc:AlternateContent>
      </p:grpSp>
      <p:cxnSp>
        <p:nvCxnSpPr>
          <p:cNvPr id="49" name="直接连接符 48"/>
          <p:cNvCxnSpPr/>
          <p:nvPr/>
        </p:nvCxnSpPr>
        <p:spPr>
          <a:xfrm flipH="1" flipV="1">
            <a:off x="1021510" y="3362216"/>
            <a:ext cx="3353964" cy="444728"/>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81" name="组合 80"/>
          <p:cNvGrpSpPr/>
          <p:nvPr/>
        </p:nvGrpSpPr>
        <p:grpSpPr>
          <a:xfrm>
            <a:off x="539414" y="3364334"/>
            <a:ext cx="440689" cy="1401566"/>
            <a:chOff x="591924" y="3364334"/>
            <a:chExt cx="440689" cy="1401566"/>
          </a:xfrm>
        </p:grpSpPr>
        <p:cxnSp>
          <p:nvCxnSpPr>
            <p:cNvPr id="52" name="直接连接符 51"/>
            <p:cNvCxnSpPr/>
            <p:nvPr/>
          </p:nvCxnSpPr>
          <p:spPr>
            <a:xfrm>
              <a:off x="796004" y="3364334"/>
              <a:ext cx="0" cy="1401566"/>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本框 52"/>
                <p:cNvSpPr txBox="1"/>
                <p:nvPr/>
              </p:nvSpPr>
              <p:spPr>
                <a:xfrm>
                  <a:off x="591924" y="3779730"/>
                  <a:ext cx="440689" cy="553934"/>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i="1" smtClean="0">
                                    <a:latin typeface="Cambria Math" panose="02040503050406030204" pitchFamily="18" charset="0"/>
                                  </a:rPr>
                                  <m:t>𝜎</m:t>
                                </m:r>
                              </m:sub>
                            </m:sSub>
                          </m:den>
                        </m:f>
                      </m:oMath>
                    </m:oMathPara>
                  </a14:m>
                  <a:endParaRPr lang="zh-CN" altLang="en-US" sz="1600" dirty="0"/>
                </a:p>
              </p:txBody>
            </p:sp>
          </mc:Choice>
          <mc:Fallback xmlns="">
            <p:sp>
              <p:nvSpPr>
                <p:cNvPr id="53" name="文本框 52"/>
                <p:cNvSpPr txBox="1">
                  <a:spLocks noRot="1" noChangeAspect="1" noMove="1" noResize="1" noEditPoints="1" noAdjustHandles="1" noChangeArrowheads="1" noChangeShapeType="1" noTextEdit="1"/>
                </p:cNvSpPr>
                <p:nvPr/>
              </p:nvSpPr>
              <p:spPr>
                <a:xfrm>
                  <a:off x="591924" y="3779730"/>
                  <a:ext cx="440689" cy="553934"/>
                </a:xfrm>
                <a:prstGeom prst="rect">
                  <a:avLst/>
                </a:prstGeom>
                <a:blipFill rotWithShape="0">
                  <a:blip r:embed="rId18"/>
                  <a:stretch>
                    <a:fillRect/>
                  </a:stretch>
                </a:blipFill>
              </p:spPr>
              <p:txBody>
                <a:bodyPr/>
                <a:lstStyle/>
                <a:p>
                  <a:r>
                    <a:rPr lang="zh-CN" altLang="en-US">
                      <a:noFill/>
                    </a:rPr>
                    <a:t> </a:t>
                  </a:r>
                </a:p>
              </p:txBody>
            </p:sp>
          </mc:Fallback>
        </mc:AlternateContent>
      </p:grpSp>
      <p:grpSp>
        <p:nvGrpSpPr>
          <p:cNvPr id="60" name="组合 59"/>
          <p:cNvGrpSpPr/>
          <p:nvPr/>
        </p:nvGrpSpPr>
        <p:grpSpPr>
          <a:xfrm>
            <a:off x="179512" y="3053595"/>
            <a:ext cx="331684" cy="1698027"/>
            <a:chOff x="232022" y="2034500"/>
            <a:chExt cx="331684" cy="1698027"/>
          </a:xfrm>
        </p:grpSpPr>
        <p:cxnSp>
          <p:nvCxnSpPr>
            <p:cNvPr id="76" name="直接连接符 75"/>
            <p:cNvCxnSpPr/>
            <p:nvPr/>
          </p:nvCxnSpPr>
          <p:spPr>
            <a:xfrm flipH="1">
              <a:off x="424634" y="2034500"/>
              <a:ext cx="1256" cy="1698027"/>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p:cNvSpPr txBox="1"/>
                <p:nvPr/>
              </p:nvSpPr>
              <p:spPr>
                <a:xfrm>
                  <a:off x="232022" y="2608452"/>
                  <a:ext cx="331684" cy="491151"/>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2</m:t>
                            </m:r>
                          </m:den>
                        </m:f>
                      </m:oMath>
                    </m:oMathPara>
                  </a14:m>
                  <a:endParaRPr lang="zh-CN" altLang="en-US" sz="1600" dirty="0"/>
                </a:p>
              </p:txBody>
            </p:sp>
          </mc:Choice>
          <mc:Fallback xmlns="">
            <p:sp>
              <p:nvSpPr>
                <p:cNvPr id="54" name="文本框 53"/>
                <p:cNvSpPr txBox="1">
                  <a:spLocks noRot="1" noChangeAspect="1" noMove="1" noResize="1" noEditPoints="1" noAdjustHandles="1" noChangeArrowheads="1" noChangeShapeType="1" noTextEdit="1"/>
                </p:cNvSpPr>
                <p:nvPr/>
              </p:nvSpPr>
              <p:spPr>
                <a:xfrm>
                  <a:off x="232022" y="2608452"/>
                  <a:ext cx="331684" cy="491151"/>
                </a:xfrm>
                <a:prstGeom prst="rect">
                  <a:avLst/>
                </a:prstGeom>
                <a:blipFill rotWithShape="0">
                  <a:blip r:embed="rId19"/>
                  <a:stretch>
                    <a:fillRect b="-4938"/>
                  </a:stretch>
                </a:blipFill>
              </p:spPr>
              <p:txBody>
                <a:bodyPr/>
                <a:lstStyle/>
                <a:p>
                  <a:r>
                    <a:rPr lang="zh-CN" altLang="en-US">
                      <a:noFill/>
                    </a:rPr>
                    <a:t> </a:t>
                  </a:r>
                </a:p>
              </p:txBody>
            </p:sp>
          </mc:Fallback>
        </mc:AlternateContent>
      </p:grpSp>
      <p:grpSp>
        <p:nvGrpSpPr>
          <p:cNvPr id="42" name="组合 41"/>
          <p:cNvGrpSpPr/>
          <p:nvPr/>
        </p:nvGrpSpPr>
        <p:grpSpPr>
          <a:xfrm>
            <a:off x="1020698" y="4801352"/>
            <a:ext cx="1743914" cy="491151"/>
            <a:chOff x="1073208" y="3782257"/>
            <a:chExt cx="1743914" cy="491151"/>
          </a:xfrm>
        </p:grpSpPr>
        <p:cxnSp>
          <p:nvCxnSpPr>
            <p:cNvPr id="75" name="直接连接符 74"/>
            <p:cNvCxnSpPr/>
            <p:nvPr/>
          </p:nvCxnSpPr>
          <p:spPr>
            <a:xfrm>
              <a:off x="1073208" y="4052608"/>
              <a:ext cx="1743914" cy="0"/>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文本框 54"/>
                <p:cNvSpPr txBox="1"/>
                <p:nvPr/>
              </p:nvSpPr>
              <p:spPr>
                <a:xfrm>
                  <a:off x="1794229" y="3782257"/>
                  <a:ext cx="331684" cy="491151"/>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2</m:t>
                            </m:r>
                          </m:den>
                        </m:f>
                      </m:oMath>
                    </m:oMathPara>
                  </a14:m>
                  <a:endParaRPr lang="zh-CN" altLang="en-US" sz="1600" dirty="0"/>
                </a:p>
              </p:txBody>
            </p:sp>
          </mc:Choice>
          <mc:Fallback xmlns="">
            <p:sp>
              <p:nvSpPr>
                <p:cNvPr id="55" name="文本框 54"/>
                <p:cNvSpPr txBox="1">
                  <a:spLocks noRot="1" noChangeAspect="1" noMove="1" noResize="1" noEditPoints="1" noAdjustHandles="1" noChangeArrowheads="1" noChangeShapeType="1" noTextEdit="1"/>
                </p:cNvSpPr>
                <p:nvPr/>
              </p:nvSpPr>
              <p:spPr>
                <a:xfrm>
                  <a:off x="1794229" y="3782257"/>
                  <a:ext cx="331684" cy="491151"/>
                </a:xfrm>
                <a:prstGeom prst="rect">
                  <a:avLst/>
                </a:prstGeom>
                <a:blipFill rotWithShape="0">
                  <a:blip r:embed="rId20"/>
                  <a:stretch>
                    <a:fillRect b="-6250"/>
                  </a:stretch>
                </a:blipFill>
              </p:spPr>
              <p:txBody>
                <a:bodyPr/>
                <a:lstStyle/>
                <a:p>
                  <a:r>
                    <a:rPr lang="zh-CN" altLang="en-US">
                      <a:noFill/>
                    </a:rPr>
                    <a:t> </a:t>
                  </a:r>
                </a:p>
              </p:txBody>
            </p:sp>
          </mc:Fallback>
        </mc:AlternateContent>
      </p:grpSp>
      <p:cxnSp>
        <p:nvCxnSpPr>
          <p:cNvPr id="57" name="直接连接符 56"/>
          <p:cNvCxnSpPr/>
          <p:nvPr/>
        </p:nvCxnSpPr>
        <p:spPr>
          <a:xfrm flipH="1">
            <a:off x="2341235" y="3605776"/>
            <a:ext cx="4160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2179511" y="3584580"/>
            <a:ext cx="481533" cy="1167042"/>
            <a:chOff x="2232021" y="3584580"/>
            <a:chExt cx="481533" cy="1167042"/>
          </a:xfrm>
        </p:grpSpPr>
        <p:cxnSp>
          <p:nvCxnSpPr>
            <p:cNvPr id="59" name="直接连接符 58"/>
            <p:cNvCxnSpPr/>
            <p:nvPr/>
          </p:nvCxnSpPr>
          <p:spPr>
            <a:xfrm flipH="1">
              <a:off x="2463295" y="3584580"/>
              <a:ext cx="8022" cy="1167042"/>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本框 60"/>
                <p:cNvSpPr txBox="1"/>
                <p:nvPr/>
              </p:nvSpPr>
              <p:spPr>
                <a:xfrm>
                  <a:off x="2232021" y="3888370"/>
                  <a:ext cx="481533" cy="534304"/>
                </a:xfrm>
                <a:prstGeom prst="rect">
                  <a:avLst/>
                </a:prstGeom>
                <a:solidFill>
                  <a:schemeClr val="bg1"/>
                </a:solidFill>
              </p:spPr>
              <p:txBody>
                <a:bodyPr wrap="none" lIns="36000" tIns="36000" rIns="36000" bIns="36000"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den>
                        </m:f>
                      </m:oMath>
                    </m:oMathPara>
                  </a14:m>
                  <a:endParaRPr lang="zh-CN" altLang="en-US" sz="1600" dirty="0"/>
                </a:p>
              </p:txBody>
            </p:sp>
          </mc:Choice>
          <mc:Fallback xmlns="">
            <p:sp>
              <p:nvSpPr>
                <p:cNvPr id="61" name="文本框 60"/>
                <p:cNvSpPr txBox="1">
                  <a:spLocks noRot="1" noChangeAspect="1" noMove="1" noResize="1" noEditPoints="1" noAdjustHandles="1" noChangeArrowheads="1" noChangeShapeType="1" noTextEdit="1"/>
                </p:cNvSpPr>
                <p:nvPr/>
              </p:nvSpPr>
              <p:spPr>
                <a:xfrm>
                  <a:off x="2232021" y="3888370"/>
                  <a:ext cx="481533" cy="534304"/>
                </a:xfrm>
                <a:prstGeom prst="rect">
                  <a:avLst/>
                </a:prstGeom>
                <a:blipFill rotWithShape="0">
                  <a:blip r:embed="rId21"/>
                  <a:stretch>
                    <a:fillRect l="-1266"/>
                  </a:stretch>
                </a:blipFill>
              </p:spPr>
              <p:txBody>
                <a:bodyPr/>
                <a:lstStyle/>
                <a:p>
                  <a:r>
                    <a:rPr lang="zh-CN" altLang="en-US">
                      <a:noFill/>
                    </a:rPr>
                    <a:t> </a:t>
                  </a:r>
                </a:p>
              </p:txBody>
            </p:sp>
          </mc:Fallback>
        </mc:AlternateContent>
      </p:grpSp>
      <p:grpSp>
        <p:nvGrpSpPr>
          <p:cNvPr id="80" name="组合 79"/>
          <p:cNvGrpSpPr/>
          <p:nvPr/>
        </p:nvGrpSpPr>
        <p:grpSpPr>
          <a:xfrm>
            <a:off x="961381" y="3037441"/>
            <a:ext cx="401071" cy="369332"/>
            <a:chOff x="1013891" y="3037441"/>
            <a:chExt cx="401071" cy="369332"/>
          </a:xfrm>
        </p:grpSpPr>
        <mc:AlternateContent xmlns:mc="http://schemas.openxmlformats.org/markup-compatibility/2006" xmlns:a14="http://schemas.microsoft.com/office/drawing/2010/main">
          <mc:Choice Requires="a14">
            <p:sp>
              <p:nvSpPr>
                <p:cNvPr id="62" name="文本框 61"/>
                <p:cNvSpPr txBox="1"/>
                <p:nvPr/>
              </p:nvSpPr>
              <p:spPr>
                <a:xfrm>
                  <a:off x="1013891" y="3037441"/>
                  <a:ext cx="4010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tx1"/>
                            </a:solidFill>
                            <a:latin typeface="Cambria Math" panose="02040503050406030204" pitchFamily="18" charset="0"/>
                          </a:rPr>
                          <m:t>𝑨</m:t>
                        </m:r>
                      </m:oMath>
                    </m:oMathPara>
                  </a14:m>
                  <a:endParaRPr lang="zh-CN" altLang="en-US" b="1" dirty="0">
                    <a:solidFill>
                      <a:schemeClr val="tx1"/>
                    </a:solidFill>
                  </a:endParaRPr>
                </a:p>
              </p:txBody>
            </p:sp>
          </mc:Choice>
          <mc:Fallback xmlns="">
            <p:sp>
              <p:nvSpPr>
                <p:cNvPr id="62" name="文本框 61"/>
                <p:cNvSpPr txBox="1">
                  <a:spLocks noRot="1" noChangeAspect="1" noMove="1" noResize="1" noEditPoints="1" noAdjustHandles="1" noChangeArrowheads="1" noChangeShapeType="1" noTextEdit="1"/>
                </p:cNvSpPr>
                <p:nvPr/>
              </p:nvSpPr>
              <p:spPr>
                <a:xfrm>
                  <a:off x="1013891" y="3037441"/>
                  <a:ext cx="401071" cy="369332"/>
                </a:xfrm>
                <a:prstGeom prst="rect">
                  <a:avLst/>
                </a:prstGeom>
                <a:blipFill rotWithShape="0">
                  <a:blip r:embed="rId22"/>
                  <a:stretch>
                    <a:fillRect/>
                  </a:stretch>
                </a:blipFill>
              </p:spPr>
              <p:txBody>
                <a:bodyPr/>
                <a:lstStyle/>
                <a:p>
                  <a:r>
                    <a:rPr lang="zh-CN" altLang="en-US">
                      <a:noFill/>
                    </a:rPr>
                    <a:t> </a:t>
                  </a:r>
                </a:p>
              </p:txBody>
            </p:sp>
          </mc:Fallback>
        </mc:AlternateContent>
        <p:sp>
          <p:nvSpPr>
            <p:cNvPr id="64" name="椭圆 38"/>
            <p:cNvSpPr/>
            <p:nvPr/>
          </p:nvSpPr>
          <p:spPr>
            <a:xfrm>
              <a:off x="1036547" y="3314136"/>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83" name="组合 82"/>
          <p:cNvGrpSpPr/>
          <p:nvPr/>
        </p:nvGrpSpPr>
        <p:grpSpPr>
          <a:xfrm>
            <a:off x="2699235" y="3248259"/>
            <a:ext cx="421910" cy="386569"/>
            <a:chOff x="2751745" y="3248259"/>
            <a:chExt cx="421910" cy="386569"/>
          </a:xfrm>
        </p:grpSpPr>
        <mc:AlternateContent xmlns:mc="http://schemas.openxmlformats.org/markup-compatibility/2006" xmlns:a14="http://schemas.microsoft.com/office/drawing/2010/main">
          <mc:Choice Requires="a14">
            <p:sp>
              <p:nvSpPr>
                <p:cNvPr id="63" name="文本框 62"/>
                <p:cNvSpPr txBox="1"/>
                <p:nvPr/>
              </p:nvSpPr>
              <p:spPr>
                <a:xfrm>
                  <a:off x="2751745" y="3248259"/>
                  <a:ext cx="4219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b="1" dirty="0"/>
                </a:p>
              </p:txBody>
            </p:sp>
          </mc:Choice>
          <mc:Fallback xmlns="">
            <p:sp>
              <p:nvSpPr>
                <p:cNvPr id="63" name="文本框 62"/>
                <p:cNvSpPr txBox="1">
                  <a:spLocks noRot="1" noChangeAspect="1" noMove="1" noResize="1" noEditPoints="1" noAdjustHandles="1" noChangeArrowheads="1" noChangeShapeType="1" noTextEdit="1"/>
                </p:cNvSpPr>
                <p:nvPr/>
              </p:nvSpPr>
              <p:spPr>
                <a:xfrm>
                  <a:off x="2751745" y="3248259"/>
                  <a:ext cx="421910" cy="369332"/>
                </a:xfrm>
                <a:prstGeom prst="rect">
                  <a:avLst/>
                </a:prstGeom>
                <a:blipFill rotWithShape="0">
                  <a:blip r:embed="rId23"/>
                  <a:stretch>
                    <a:fillRect/>
                  </a:stretch>
                </a:blipFill>
              </p:spPr>
              <p:txBody>
                <a:bodyPr/>
                <a:lstStyle/>
                <a:p>
                  <a:r>
                    <a:rPr lang="zh-CN" altLang="en-US">
                      <a:noFill/>
                    </a:rPr>
                    <a:t> </a:t>
                  </a:r>
                </a:p>
              </p:txBody>
            </p:sp>
          </mc:Fallback>
        </mc:AlternateContent>
        <p:sp>
          <p:nvSpPr>
            <p:cNvPr id="65" name="椭圆 38"/>
            <p:cNvSpPr/>
            <p:nvPr/>
          </p:nvSpPr>
          <p:spPr>
            <a:xfrm>
              <a:off x="2765459" y="3545928"/>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91" name="组合 90"/>
          <p:cNvGrpSpPr/>
          <p:nvPr/>
        </p:nvGrpSpPr>
        <p:grpSpPr>
          <a:xfrm>
            <a:off x="4233659" y="3437613"/>
            <a:ext cx="404791" cy="409090"/>
            <a:chOff x="4286169" y="3437613"/>
            <a:chExt cx="404791" cy="409090"/>
          </a:xfrm>
        </p:grpSpPr>
        <p:sp>
          <p:nvSpPr>
            <p:cNvPr id="66" name="椭圆 38"/>
            <p:cNvSpPr/>
            <p:nvPr/>
          </p:nvSpPr>
          <p:spPr>
            <a:xfrm>
              <a:off x="4359685" y="3757803"/>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67" name="文本框 66"/>
                <p:cNvSpPr txBox="1"/>
                <p:nvPr/>
              </p:nvSpPr>
              <p:spPr>
                <a:xfrm>
                  <a:off x="4286169" y="3437613"/>
                  <a:ext cx="40479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𝑮</m:t>
                        </m:r>
                      </m:oMath>
                    </m:oMathPara>
                  </a14:m>
                  <a:endParaRPr lang="zh-CN" altLang="en-US" b="1" dirty="0"/>
                </a:p>
              </p:txBody>
            </p:sp>
          </mc:Choice>
          <mc:Fallback xmlns="">
            <p:sp>
              <p:nvSpPr>
                <p:cNvPr id="67" name="文本框 66"/>
                <p:cNvSpPr txBox="1">
                  <a:spLocks noRot="1" noChangeAspect="1" noMove="1" noResize="1" noEditPoints="1" noAdjustHandles="1" noChangeArrowheads="1" noChangeShapeType="1" noTextEdit="1"/>
                </p:cNvSpPr>
                <p:nvPr/>
              </p:nvSpPr>
              <p:spPr>
                <a:xfrm>
                  <a:off x="4286169" y="3437613"/>
                  <a:ext cx="404791" cy="369332"/>
                </a:xfrm>
                <a:prstGeom prst="rect">
                  <a:avLst/>
                </a:prstGeom>
                <a:blipFill rotWithShape="0">
                  <a:blip r:embed="rId2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8" name="文本框 67"/>
              <p:cNvSpPr txBox="1"/>
              <p:nvPr/>
            </p:nvSpPr>
            <p:spPr>
              <a:xfrm>
                <a:off x="475835" y="3019892"/>
                <a:ext cx="63895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𝑒</m:t>
                          </m:r>
                        </m:sub>
                      </m:sSub>
                    </m:oMath>
                  </m:oMathPara>
                </a14:m>
                <a:endParaRPr lang="zh-CN" altLang="en-US" sz="1600" dirty="0"/>
              </a:p>
            </p:txBody>
          </p:sp>
        </mc:Choice>
        <mc:Fallback xmlns="">
          <p:sp>
            <p:nvSpPr>
              <p:cNvPr id="68" name="文本框 67"/>
              <p:cNvSpPr txBox="1">
                <a:spLocks noRot="1" noChangeAspect="1" noMove="1" noResize="1" noEditPoints="1" noAdjustHandles="1" noChangeArrowheads="1" noChangeShapeType="1" noTextEdit="1"/>
              </p:cNvSpPr>
              <p:nvPr/>
            </p:nvSpPr>
            <p:spPr>
              <a:xfrm>
                <a:off x="475835" y="3019892"/>
                <a:ext cx="638957" cy="338554"/>
              </a:xfrm>
              <a:prstGeom prst="rect">
                <a:avLst/>
              </a:prstGeom>
              <a:blipFill rotWithShape="0">
                <a:blip r:embed="rId25"/>
                <a:stretch>
                  <a:fillRect/>
                </a:stretch>
              </a:blipFill>
            </p:spPr>
            <p:txBody>
              <a:bodyPr/>
              <a:lstStyle/>
              <a:p>
                <a:r>
                  <a:rPr lang="zh-CN" altLang="en-US">
                    <a:noFill/>
                  </a:rPr>
                  <a:t> </a:t>
                </a:r>
              </a:p>
            </p:txBody>
          </p:sp>
        </mc:Fallback>
      </mc:AlternateContent>
      <p:sp>
        <p:nvSpPr>
          <p:cNvPr id="23" name="文本框 22"/>
          <p:cNvSpPr txBox="1"/>
          <p:nvPr/>
        </p:nvSpPr>
        <p:spPr>
          <a:xfrm>
            <a:off x="224548" y="559943"/>
            <a:ext cx="4493538" cy="461665"/>
          </a:xfrm>
          <a:prstGeom prst="rect">
            <a:avLst/>
          </a:prstGeom>
          <a:noFill/>
        </p:spPr>
        <p:txBody>
          <a:bodyPr wrap="none" rtlCol="0">
            <a:spAutoFit/>
          </a:bodyPr>
          <a:lstStyle/>
          <a:p>
            <a:r>
              <a:rPr lang="zh-CN" altLang="en-US" sz="2400" dirty="0" smtClean="0">
                <a:latin typeface="+mn-ea"/>
                <a:ea typeface="+mn-ea"/>
              </a:rPr>
              <a:t>塑性材料的疲劳极限应力简化图</a:t>
            </a:r>
            <a:endParaRPr lang="zh-CN" altLang="en-US" sz="2400" dirty="0">
              <a:latin typeface="+mn-ea"/>
              <a:ea typeface="+mn-ea"/>
            </a:endParaRPr>
          </a:p>
        </p:txBody>
      </p:sp>
      <p:pic>
        <p:nvPicPr>
          <p:cNvPr id="74" name="图片 73"/>
          <p:cNvPicPr>
            <a:picLocks noChangeAspect="1"/>
          </p:cNvPicPr>
          <p:nvPr/>
        </p:nvPicPr>
        <p:blipFill>
          <a:blip r:embed="rId26"/>
          <a:stretch>
            <a:fillRect/>
          </a:stretch>
        </p:blipFill>
        <p:spPr>
          <a:xfrm>
            <a:off x="5294292" y="502001"/>
            <a:ext cx="3653840" cy="1684826"/>
          </a:xfrm>
          <a:prstGeom prst="rect">
            <a:avLst/>
          </a:prstGeom>
        </p:spPr>
      </p:pic>
      <p:pic>
        <p:nvPicPr>
          <p:cNvPr id="77" name="图片 76"/>
          <p:cNvPicPr>
            <a:picLocks noChangeAspect="1"/>
          </p:cNvPicPr>
          <p:nvPr/>
        </p:nvPicPr>
        <p:blipFill>
          <a:blip r:embed="rId27"/>
          <a:stretch>
            <a:fillRect/>
          </a:stretch>
        </p:blipFill>
        <p:spPr>
          <a:xfrm>
            <a:off x="5434673" y="2226775"/>
            <a:ext cx="3373079" cy="412928"/>
          </a:xfrm>
          <a:prstGeom prst="rect">
            <a:avLst/>
          </a:prstGeom>
        </p:spPr>
      </p:pic>
      <p:pic>
        <p:nvPicPr>
          <p:cNvPr id="78" name="图片 77"/>
          <p:cNvPicPr>
            <a:picLocks noChangeAspect="1"/>
          </p:cNvPicPr>
          <p:nvPr/>
        </p:nvPicPr>
        <p:blipFill>
          <a:blip r:embed="rId28"/>
          <a:stretch>
            <a:fillRect/>
          </a:stretch>
        </p:blipFill>
        <p:spPr>
          <a:xfrm>
            <a:off x="5549226" y="2684151"/>
            <a:ext cx="2657896" cy="413894"/>
          </a:xfrm>
          <a:prstGeom prst="rect">
            <a:avLst/>
          </a:prstGeom>
        </p:spPr>
      </p:pic>
      <p:sp>
        <p:nvSpPr>
          <p:cNvPr id="86" name="文本框 85"/>
          <p:cNvSpPr txBox="1"/>
          <p:nvPr/>
        </p:nvSpPr>
        <p:spPr>
          <a:xfrm>
            <a:off x="232022" y="1126064"/>
            <a:ext cx="4846888" cy="461665"/>
          </a:xfrm>
          <a:prstGeom prst="rect">
            <a:avLst/>
          </a:prstGeom>
          <a:noFill/>
        </p:spPr>
        <p:txBody>
          <a:bodyPr wrap="square" rtlCol="0">
            <a:spAutoFit/>
          </a:bodyPr>
          <a:lstStyle/>
          <a:p>
            <a:r>
              <a:rPr lang="zh-CN" altLang="en-US" sz="2400" dirty="0" smtClean="0">
                <a:solidFill>
                  <a:srgbClr val="FF0000"/>
                </a:solidFill>
                <a:latin typeface="+mn-ea"/>
                <a:ea typeface="+mn-ea"/>
              </a:rPr>
              <a:t>零件的疲劳极限应力简化图</a:t>
            </a:r>
            <a:r>
              <a:rPr lang="en-US" altLang="zh-CN" sz="2400" dirty="0" smtClean="0">
                <a:solidFill>
                  <a:srgbClr val="FF0000"/>
                </a:solidFill>
                <a:latin typeface="+mn-ea"/>
                <a:ea typeface="+mn-ea"/>
              </a:rPr>
              <a:t>ADGC</a:t>
            </a:r>
            <a:endParaRPr lang="zh-CN" altLang="en-US" sz="2400" dirty="0">
              <a:solidFill>
                <a:srgbClr val="FF0000"/>
              </a:solidFill>
              <a:latin typeface="+mn-ea"/>
              <a:ea typeface="+mn-ea"/>
            </a:endParaRPr>
          </a:p>
        </p:txBody>
      </p:sp>
      <p:sp>
        <p:nvSpPr>
          <p:cNvPr id="92" name="文本框 91"/>
          <p:cNvSpPr txBox="1"/>
          <p:nvPr/>
        </p:nvSpPr>
        <p:spPr>
          <a:xfrm>
            <a:off x="5512339" y="3179300"/>
            <a:ext cx="3331489" cy="353943"/>
          </a:xfrm>
          <a:prstGeom prst="rect">
            <a:avLst/>
          </a:prstGeom>
          <a:noFill/>
        </p:spPr>
        <p:txBody>
          <a:bodyPr wrap="none" rtlCol="0">
            <a:spAutoFit/>
          </a:bodyPr>
          <a:lstStyle/>
          <a:p>
            <a:r>
              <a:rPr lang="zh-CN" altLang="en-US" sz="1700" dirty="0" smtClean="0">
                <a:solidFill>
                  <a:srgbClr val="0000FF"/>
                </a:solidFill>
                <a:latin typeface="+mn-ea"/>
                <a:ea typeface="+mn-ea"/>
              </a:rPr>
              <a:t>零件的疲劳强度极限线</a:t>
            </a:r>
            <a:r>
              <a:rPr lang="en-US" altLang="zh-CN" sz="1700" dirty="0" smtClean="0">
                <a:solidFill>
                  <a:srgbClr val="0000FF"/>
                </a:solidFill>
                <a:latin typeface="+mn-ea"/>
                <a:ea typeface="+mn-ea"/>
              </a:rPr>
              <a:t>AG</a:t>
            </a:r>
            <a:r>
              <a:rPr lang="zh-CN" altLang="en-US" sz="1700" dirty="0" smtClean="0">
                <a:solidFill>
                  <a:srgbClr val="0000FF"/>
                </a:solidFill>
                <a:latin typeface="+mn-ea"/>
                <a:ea typeface="+mn-ea"/>
              </a:rPr>
              <a:t>的方程</a:t>
            </a:r>
            <a:endParaRPr lang="zh-CN" altLang="en-US" sz="1700" dirty="0">
              <a:solidFill>
                <a:srgbClr val="0000FF"/>
              </a:solidFill>
              <a:latin typeface="+mn-ea"/>
              <a:ea typeface="+mn-ea"/>
            </a:endParaRPr>
          </a:p>
        </p:txBody>
      </p:sp>
      <mc:AlternateContent xmlns:mc="http://schemas.openxmlformats.org/markup-compatibility/2006" xmlns:a14="http://schemas.microsoft.com/office/drawing/2010/main">
        <mc:Choice Requires="a14">
          <p:sp>
            <p:nvSpPr>
              <p:cNvPr id="93" name="文本框 92"/>
              <p:cNvSpPr txBox="1"/>
              <p:nvPr/>
            </p:nvSpPr>
            <p:spPr>
              <a:xfrm>
                <a:off x="6418999" y="3758477"/>
                <a:ext cx="23787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i="1">
                              <a:latin typeface="Cambria Math" panose="02040503050406030204" pitchFamily="18" charset="0"/>
                            </a:rPr>
                            <m:t>−</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𝐾</m:t>
                          </m:r>
                        </m:e>
                        <m:sub>
                          <m:r>
                            <a:rPr lang="zh-CN" altLang="en-US" i="1" smtClean="0">
                              <a:latin typeface="Cambria Math" panose="02040503050406030204" pitchFamily="18" charset="0"/>
                            </a:rPr>
                            <m:t>𝜎</m:t>
                          </m:r>
                        </m:sub>
                      </m:sSub>
                      <m:sSubSup>
                        <m:sSubSupPr>
                          <m:ctrlPr>
                            <a:rPr lang="en-US" altLang="zh-CN" i="1" smtClean="0">
                              <a:latin typeface="Cambria Math" panose="02040503050406030204" pitchFamily="18" charset="0"/>
                            </a:rPr>
                          </m:ctrlPr>
                        </m:sSubSup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𝑎𝑒</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rPr>
                            <m:t>ψ</m:t>
                          </m:r>
                        </m:e>
                        <m:sub>
                          <m:r>
                            <a:rPr lang="zh-CN" altLang="en-US" b="0" i="1" smtClean="0">
                              <a:latin typeface="Cambria Math" panose="02040503050406030204" pitchFamily="18" charset="0"/>
                            </a:rPr>
                            <m:t>𝜎</m:t>
                          </m:r>
                        </m:sub>
                      </m:sSub>
                      <m:sSubSup>
                        <m:sSubSupPr>
                          <m:ctrlPr>
                            <a:rPr lang="en-US" altLang="zh-CN" b="0" i="1" smtClean="0">
                              <a:latin typeface="Cambria Math" panose="02040503050406030204" pitchFamily="18" charset="0"/>
                            </a:rPr>
                          </m:ctrlPr>
                        </m:sSubSup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𝑚𝑒</m:t>
                          </m:r>
                        </m:sub>
                        <m:sup>
                          <m:r>
                            <a:rPr lang="en-US" altLang="zh-CN" b="0" i="1" smtClean="0">
                              <a:latin typeface="Cambria Math" panose="02040503050406030204" pitchFamily="18" charset="0"/>
                            </a:rPr>
                            <m:t>′</m:t>
                          </m:r>
                        </m:sup>
                      </m:sSubSup>
                    </m:oMath>
                  </m:oMathPara>
                </a14:m>
                <a:endParaRPr lang="zh-CN" altLang="en-US" dirty="0"/>
              </a:p>
            </p:txBody>
          </p:sp>
        </mc:Choice>
        <mc:Fallback xmlns="">
          <p:sp>
            <p:nvSpPr>
              <p:cNvPr id="93" name="文本框 92"/>
              <p:cNvSpPr txBox="1">
                <a:spLocks noRot="1" noChangeAspect="1" noMove="1" noResize="1" noEditPoints="1" noAdjustHandles="1" noChangeArrowheads="1" noChangeShapeType="1" noTextEdit="1"/>
              </p:cNvSpPr>
              <p:nvPr/>
            </p:nvSpPr>
            <p:spPr>
              <a:xfrm>
                <a:off x="6418999" y="3758477"/>
                <a:ext cx="2378728" cy="369332"/>
              </a:xfrm>
              <a:prstGeom prst="rect">
                <a:avLst/>
              </a:prstGeom>
              <a:blipFill rotWithShape="0">
                <a:blip r:embed="rId29"/>
                <a:stretch>
                  <a:fillRect b="-15000"/>
                </a:stretch>
              </a:blipFill>
            </p:spPr>
            <p:txBody>
              <a:bodyPr/>
              <a:lstStyle/>
              <a:p>
                <a:r>
                  <a:rPr lang="zh-CN" altLang="en-US">
                    <a:noFill/>
                  </a:rPr>
                  <a:t> </a:t>
                </a:r>
              </a:p>
            </p:txBody>
          </p:sp>
        </mc:Fallback>
      </mc:AlternateContent>
      <p:grpSp>
        <p:nvGrpSpPr>
          <p:cNvPr id="97" name="组合 96"/>
          <p:cNvGrpSpPr/>
          <p:nvPr/>
        </p:nvGrpSpPr>
        <p:grpSpPr>
          <a:xfrm>
            <a:off x="6063561" y="4491567"/>
            <a:ext cx="3086834" cy="1039595"/>
            <a:chOff x="6063561" y="4491567"/>
            <a:chExt cx="3086834" cy="1039595"/>
          </a:xfrm>
        </p:grpSpPr>
        <p:sp>
          <p:nvSpPr>
            <p:cNvPr id="94" name="Rectangle 16"/>
            <p:cNvSpPr>
              <a:spLocks noChangeArrowheads="1"/>
            </p:cNvSpPr>
            <p:nvPr/>
          </p:nvSpPr>
          <p:spPr bwMode="auto">
            <a:xfrm>
              <a:off x="6063561" y="4491567"/>
              <a:ext cx="2796256" cy="261610"/>
            </a:xfrm>
            <a:prstGeom prst="rect">
              <a:avLst/>
            </a:prstGeom>
            <a:noFill/>
            <a:ln>
              <a:noFill/>
            </a:ln>
          </p:spPr>
          <p:txBody>
            <a:bodyPr wrap="none" lIns="90000" tIns="0" rIns="90000" bIns="0">
              <a:spAutoFit/>
            </a:bodyPr>
            <a:lstStyle/>
            <a:p>
              <a:r>
                <a:rPr kumimoji="1" lang="el-GR" altLang="zh-CN" sz="1700" i="1" dirty="0">
                  <a:latin typeface="黑体" pitchFamily="2" charset="-122"/>
                  <a:ea typeface="黑体" pitchFamily="2" charset="-122"/>
                </a:rPr>
                <a:t>σ</a:t>
              </a:r>
              <a:r>
                <a:rPr kumimoji="1" lang="en-US" altLang="zh-CN" sz="1700" dirty="0">
                  <a:latin typeface="Times New Roman" panose="02020603050405020304" pitchFamily="18" charset="0"/>
                  <a:ea typeface="黑体" pitchFamily="2" charset="-122"/>
                  <a:cs typeface="Times New Roman" panose="02020603050405020304" pitchFamily="18" charset="0"/>
                </a:rPr>
                <a:t>’</a:t>
              </a:r>
              <a:r>
                <a:rPr kumimoji="1" lang="en-US" altLang="zh-CN" sz="1700" baseline="-25000" dirty="0">
                  <a:latin typeface="黑体" pitchFamily="2" charset="-122"/>
                  <a:ea typeface="黑体" pitchFamily="2" charset="-122"/>
                </a:rPr>
                <a:t>ae</a:t>
              </a:r>
              <a:r>
                <a:rPr kumimoji="1" lang="en-US" altLang="zh-CN" sz="1700" dirty="0" smtClean="0">
                  <a:latin typeface="黑体" pitchFamily="2" charset="-122"/>
                  <a:ea typeface="黑体" pitchFamily="2" charset="-122"/>
                </a:rPr>
                <a:t>—</a:t>
              </a:r>
              <a:r>
                <a:rPr kumimoji="1" lang="zh-CN" altLang="en-US" sz="1700" dirty="0" smtClean="0">
                  <a:solidFill>
                    <a:srgbClr val="0000FF"/>
                  </a:solidFill>
                  <a:latin typeface="黑体" pitchFamily="2" charset="-122"/>
                  <a:ea typeface="黑体" pitchFamily="2" charset="-122"/>
                </a:rPr>
                <a:t>零件</a:t>
              </a:r>
              <a:r>
                <a:rPr kumimoji="1" lang="zh-CN" altLang="en-US" sz="1700" dirty="0">
                  <a:latin typeface="黑体" pitchFamily="2" charset="-122"/>
                  <a:ea typeface="黑体" pitchFamily="2" charset="-122"/>
                </a:rPr>
                <a:t>所受</a:t>
              </a:r>
              <a:r>
                <a:rPr kumimoji="1" lang="zh-CN" altLang="en-US" sz="1700" dirty="0">
                  <a:solidFill>
                    <a:srgbClr val="0000FF"/>
                  </a:solidFill>
                  <a:latin typeface="黑体" pitchFamily="2" charset="-122"/>
                  <a:ea typeface="黑体" pitchFamily="2" charset="-122"/>
                </a:rPr>
                <a:t>极限应力</a:t>
              </a:r>
              <a:r>
                <a:rPr kumimoji="1" lang="zh-CN" altLang="en-US" sz="1700" dirty="0" smtClean="0">
                  <a:solidFill>
                    <a:srgbClr val="0000FF"/>
                  </a:solidFill>
                  <a:latin typeface="黑体" pitchFamily="2" charset="-122"/>
                  <a:ea typeface="黑体" pitchFamily="2" charset="-122"/>
                </a:rPr>
                <a:t>幅</a:t>
              </a:r>
              <a:endParaRPr kumimoji="1" lang="zh-CN" altLang="en-US" sz="1700" dirty="0">
                <a:solidFill>
                  <a:srgbClr val="0000FF"/>
                </a:solidFill>
                <a:latin typeface="黑体" pitchFamily="2" charset="-122"/>
                <a:ea typeface="黑体" pitchFamily="2" charset="-122"/>
              </a:endParaRPr>
            </a:p>
          </p:txBody>
        </p:sp>
        <p:sp>
          <p:nvSpPr>
            <p:cNvPr id="95" name="Rectangle 17"/>
            <p:cNvSpPr>
              <a:spLocks noChangeArrowheads="1"/>
            </p:cNvSpPr>
            <p:nvPr/>
          </p:nvSpPr>
          <p:spPr bwMode="auto">
            <a:xfrm>
              <a:off x="6063561" y="4895964"/>
              <a:ext cx="3014264" cy="261610"/>
            </a:xfrm>
            <a:prstGeom prst="rect">
              <a:avLst/>
            </a:prstGeom>
            <a:noFill/>
            <a:ln>
              <a:noFill/>
            </a:ln>
          </p:spPr>
          <p:txBody>
            <a:bodyPr wrap="none" lIns="90000" tIns="0" rIns="90000" bIns="0">
              <a:spAutoFit/>
            </a:bodyPr>
            <a:lstStyle/>
            <a:p>
              <a:r>
                <a:rPr kumimoji="1" lang="en-US" altLang="zh-CN" sz="1700" i="1" dirty="0">
                  <a:latin typeface="黑体" pitchFamily="2" charset="-122"/>
                  <a:ea typeface="黑体" pitchFamily="2" charset="-122"/>
                </a:rPr>
                <a:t>σ</a:t>
              </a:r>
              <a:r>
                <a:rPr kumimoji="1" lang="en-US" altLang="zh-CN" sz="1700" i="1" dirty="0">
                  <a:latin typeface="Times New Roman" panose="02020603050405020304" pitchFamily="18" charset="0"/>
                  <a:ea typeface="黑体" pitchFamily="2" charset="-122"/>
                  <a:cs typeface="Times New Roman" panose="02020603050405020304" pitchFamily="18" charset="0"/>
                </a:rPr>
                <a:t>’</a:t>
              </a:r>
              <a:r>
                <a:rPr kumimoji="1" lang="en-US" altLang="zh-CN" sz="1700" baseline="-25000" dirty="0">
                  <a:latin typeface="黑体" pitchFamily="2" charset="-122"/>
                  <a:ea typeface="黑体" pitchFamily="2" charset="-122"/>
                </a:rPr>
                <a:t>me</a:t>
              </a:r>
              <a:r>
                <a:rPr kumimoji="1" lang="en-US" altLang="zh-CN" sz="1700" dirty="0" smtClean="0">
                  <a:latin typeface="黑体" pitchFamily="2" charset="-122"/>
                  <a:ea typeface="黑体" pitchFamily="2" charset="-122"/>
                </a:rPr>
                <a:t>—</a:t>
              </a:r>
              <a:r>
                <a:rPr kumimoji="1" lang="zh-CN" altLang="en-US" sz="1700" dirty="0" smtClean="0">
                  <a:solidFill>
                    <a:srgbClr val="0000FF"/>
                  </a:solidFill>
                  <a:latin typeface="黑体" pitchFamily="2" charset="-122"/>
                  <a:ea typeface="黑体" pitchFamily="2" charset="-122"/>
                </a:rPr>
                <a:t>零件</a:t>
              </a:r>
              <a:r>
                <a:rPr kumimoji="1" lang="zh-CN" altLang="en-US" sz="1700" dirty="0">
                  <a:latin typeface="黑体" pitchFamily="2" charset="-122"/>
                  <a:ea typeface="黑体" pitchFamily="2" charset="-122"/>
                </a:rPr>
                <a:t>所受</a:t>
              </a:r>
              <a:r>
                <a:rPr kumimoji="1" lang="zh-CN" altLang="en-US" sz="1700" dirty="0">
                  <a:solidFill>
                    <a:srgbClr val="0000FF"/>
                  </a:solidFill>
                  <a:latin typeface="黑体" pitchFamily="2" charset="-122"/>
                  <a:ea typeface="黑体" pitchFamily="2" charset="-122"/>
                </a:rPr>
                <a:t>极限</a:t>
              </a:r>
              <a:r>
                <a:rPr kumimoji="1" lang="zh-CN" altLang="en-US" sz="1700" dirty="0" smtClean="0">
                  <a:solidFill>
                    <a:srgbClr val="0000FF"/>
                  </a:solidFill>
                  <a:latin typeface="黑体" pitchFamily="2" charset="-122"/>
                  <a:ea typeface="黑体" pitchFamily="2" charset="-122"/>
                </a:rPr>
                <a:t>平均应力</a:t>
              </a:r>
              <a:endParaRPr kumimoji="1" lang="zh-CN" altLang="en-US" sz="1700" dirty="0">
                <a:solidFill>
                  <a:srgbClr val="0000FF"/>
                </a:solidFill>
                <a:latin typeface="黑体" pitchFamily="2" charset="-122"/>
                <a:ea typeface="黑体" pitchFamily="2" charset="-122"/>
              </a:endParaRPr>
            </a:p>
          </p:txBody>
        </p:sp>
        <p:sp>
          <p:nvSpPr>
            <p:cNvPr id="96" name="Rectangle 18"/>
            <p:cNvSpPr>
              <a:spLocks noChangeArrowheads="1"/>
            </p:cNvSpPr>
            <p:nvPr/>
          </p:nvSpPr>
          <p:spPr bwMode="auto">
            <a:xfrm>
              <a:off x="6211472" y="5269552"/>
              <a:ext cx="2938923" cy="261610"/>
            </a:xfrm>
            <a:prstGeom prst="rect">
              <a:avLst/>
            </a:prstGeom>
            <a:noFill/>
            <a:ln>
              <a:noFill/>
            </a:ln>
          </p:spPr>
          <p:txBody>
            <a:bodyPr wrap="none" lIns="90000" tIns="0" rIns="90000" bIns="0">
              <a:spAutoFit/>
            </a:body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700" b="0" i="1"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sym typeface="Symbol" pitchFamily="18" charset="2"/>
                </a:rPr>
                <a:t></a:t>
              </a:r>
              <a:r>
                <a:rPr kumimoji="1" lang="en-US" altLang="zh-CN" sz="1700" b="0" i="0" u="none" strike="noStrike" kern="0" cap="none" spc="0" normalizeH="0" baseline="-25000" noProof="0" dirty="0" smtClean="0">
                  <a:ln>
                    <a:noFill/>
                  </a:ln>
                  <a:solidFill>
                    <a:sysClr val="windowText" lastClr="000000"/>
                  </a:solidFill>
                  <a:effectLst/>
                  <a:uLnTx/>
                  <a:uFillTx/>
                  <a:latin typeface="黑体" pitchFamily="2" charset="-122"/>
                  <a:ea typeface="黑体" pitchFamily="2" charset="-122"/>
                </a:rPr>
                <a:t> </a:t>
              </a:r>
              <a:r>
                <a:rPr kumimoji="1" lang="el-GR" altLang="zh-CN" sz="1700" b="0" i="0" u="none" strike="noStrike" kern="0" cap="none" spc="0" normalizeH="0" baseline="-25000" noProof="0" dirty="0" smtClean="0">
                  <a:ln>
                    <a:noFill/>
                  </a:ln>
                  <a:solidFill>
                    <a:sysClr val="windowText" lastClr="000000"/>
                  </a:solidFill>
                  <a:effectLst/>
                  <a:uLnTx/>
                  <a:uFillTx/>
                  <a:latin typeface="华文中宋" pitchFamily="2" charset="-122"/>
                  <a:ea typeface="黑体" pitchFamily="2" charset="-122"/>
                </a:rPr>
                <a:t>σ</a:t>
              </a:r>
              <a:r>
                <a:rPr kumimoji="1" lang="en-US" altLang="zh-CN" sz="17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a:t>
              </a:r>
              <a:r>
                <a:rPr kumimoji="1" lang="zh-CN" altLang="en-US" sz="17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零件受弯曲的</a:t>
              </a:r>
              <a:r>
                <a:rPr kumimoji="1" lang="zh-CN" altLang="en-US" sz="1700" b="0" i="0" u="none" strike="noStrike" kern="0" cap="none" spc="0" normalizeH="0" baseline="0" noProof="0" dirty="0" smtClean="0">
                  <a:ln>
                    <a:noFill/>
                  </a:ln>
                  <a:solidFill>
                    <a:srgbClr val="FF0000"/>
                  </a:solidFill>
                  <a:effectLst/>
                  <a:uLnTx/>
                  <a:uFillTx/>
                  <a:latin typeface="黑体" pitchFamily="2" charset="-122"/>
                  <a:ea typeface="黑体" pitchFamily="2" charset="-122"/>
                </a:rPr>
                <a:t>材料常数</a:t>
              </a:r>
              <a:endParaRPr kumimoji="1" lang="zh-CN" altLang="en-US" sz="17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endParaRPr>
            </a:p>
          </p:txBody>
        </p:sp>
      </p:grpSp>
    </p:spTree>
    <p:extLst>
      <p:ext uri="{BB962C8B-B14F-4D97-AF65-F5344CB8AC3E}">
        <p14:creationId xmlns:p14="http://schemas.microsoft.com/office/powerpoint/2010/main" val="248777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75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wipe(up)">
                                      <p:cBhvr>
                                        <p:cTn id="42" dur="500"/>
                                        <p:tgtEl>
                                          <p:spTgt spid="7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8"/>
                                        </p:tgtEl>
                                        <p:attrNameLst>
                                          <p:attrName>style.visibility</p:attrName>
                                        </p:attrNameLst>
                                      </p:cBhvr>
                                      <p:to>
                                        <p:strVal val="visible"/>
                                      </p:to>
                                    </p:set>
                                    <p:animEffect transition="in" filter="wipe(up)">
                                      <p:cBhvr>
                                        <p:cTn id="57" dur="500"/>
                                        <p:tgtEl>
                                          <p:spTgt spid="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70"/>
                                        </p:tgtEl>
                                        <p:attrNameLst>
                                          <p:attrName>style.visibility</p:attrName>
                                        </p:attrNameLst>
                                      </p:cBhvr>
                                      <p:to>
                                        <p:strVal val="visible"/>
                                      </p:to>
                                    </p:set>
                                    <p:animEffect transition="in" filter="wipe(up)">
                                      <p:cBhvr>
                                        <p:cTn id="62" dur="500"/>
                                        <p:tgtEl>
                                          <p:spTgt spid="70"/>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37"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arn(outVertical)">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wipe(right)">
                                      <p:cBhvr>
                                        <p:cTn id="72" dur="500"/>
                                        <p:tgtEl>
                                          <p:spTgt spid="5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69"/>
                                        </p:tgtEl>
                                        <p:attrNameLst>
                                          <p:attrName>style.visibility</p:attrName>
                                        </p:attrNameLst>
                                      </p:cBhvr>
                                      <p:to>
                                        <p:strVal val="visible"/>
                                      </p:to>
                                    </p:set>
                                    <p:animEffect transition="in" filter="wipe(right)">
                                      <p:cBhvr>
                                        <p:cTn id="77" dur="500"/>
                                        <p:tgtEl>
                                          <p:spTgt spid="69"/>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nodeType="click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barn(outHorizontal)">
                                      <p:cBhvr>
                                        <p:cTn id="82" dur="500"/>
                                        <p:tgtEl>
                                          <p:spTgt spid="6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wipe(left)">
                                      <p:cBhvr>
                                        <p:cTn id="97" dur="500"/>
                                        <p:tgtEl>
                                          <p:spTgt spid="3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82"/>
                                        </p:tgtEl>
                                        <p:attrNameLst>
                                          <p:attrName>style.visibility</p:attrName>
                                        </p:attrNameLst>
                                      </p:cBhvr>
                                      <p:to>
                                        <p:strVal val="visible"/>
                                      </p:to>
                                    </p:set>
                                    <p:animEffect transition="in" filter="wipe(up)">
                                      <p:cBhvr>
                                        <p:cTn id="102" dur="500"/>
                                        <p:tgtEl>
                                          <p:spTgt spid="82"/>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37" fill="hold" nodeType="clickEffect">
                                  <p:stCondLst>
                                    <p:cond delay="0"/>
                                  </p:stCondLst>
                                  <p:childTnLst>
                                    <p:set>
                                      <p:cBhvr>
                                        <p:cTn id="106" dur="1" fill="hold">
                                          <p:stCondLst>
                                            <p:cond delay="0"/>
                                          </p:stCondLst>
                                        </p:cTn>
                                        <p:tgtEl>
                                          <p:spTgt spid="73"/>
                                        </p:tgtEl>
                                        <p:attrNameLst>
                                          <p:attrName>style.visibility</p:attrName>
                                        </p:attrNameLst>
                                      </p:cBhvr>
                                      <p:to>
                                        <p:strVal val="visible"/>
                                      </p:to>
                                    </p:set>
                                    <p:animEffect transition="in" filter="barn(outVertical)">
                                      <p:cBhvr>
                                        <p:cTn id="107" dur="500"/>
                                        <p:tgtEl>
                                          <p:spTgt spid="7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wipe(down)">
                                      <p:cBhvr>
                                        <p:cTn id="112" dur="500"/>
                                        <p:tgtEl>
                                          <p:spTgt spid="2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72"/>
                                        </p:tgtEl>
                                        <p:attrNameLst>
                                          <p:attrName>style.visibility</p:attrName>
                                        </p:attrNameLst>
                                      </p:cBhvr>
                                      <p:to>
                                        <p:strVal val="visible"/>
                                      </p:to>
                                    </p:set>
                                    <p:animEffect transition="in" filter="wipe(up)">
                                      <p:cBhvr>
                                        <p:cTn id="117" dur="500"/>
                                        <p:tgtEl>
                                          <p:spTgt spid="72"/>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500"/>
                                        <p:tgtEl>
                                          <p:spTgt spid="43"/>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3"/>
                                        </p:tgtEl>
                                        <p:attrNameLst>
                                          <p:attrName>style.visibility</p:attrName>
                                        </p:attrNameLst>
                                      </p:cBhvr>
                                      <p:to>
                                        <p:strVal val="visible"/>
                                      </p:to>
                                    </p:set>
                                    <p:animEffect transition="in" filter="wipe(left)">
                                      <p:cBhvr>
                                        <p:cTn id="127" dur="500"/>
                                        <p:tgtEl>
                                          <p:spTgt spid="23"/>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74"/>
                                        </p:tgtEl>
                                        <p:attrNameLst>
                                          <p:attrName>style.visibility</p:attrName>
                                        </p:attrNameLst>
                                      </p:cBhvr>
                                      <p:to>
                                        <p:strVal val="visible"/>
                                      </p:to>
                                    </p:set>
                                    <p:animEffect transition="in" filter="wipe(left)">
                                      <p:cBhvr>
                                        <p:cTn id="132" dur="500"/>
                                        <p:tgtEl>
                                          <p:spTgt spid="74"/>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77"/>
                                        </p:tgtEl>
                                        <p:attrNameLst>
                                          <p:attrName>style.visibility</p:attrName>
                                        </p:attrNameLst>
                                      </p:cBhvr>
                                      <p:to>
                                        <p:strVal val="visible"/>
                                      </p:to>
                                    </p:set>
                                    <p:animEffect transition="in" filter="wipe(left)">
                                      <p:cBhvr>
                                        <p:cTn id="137" dur="500"/>
                                        <p:tgtEl>
                                          <p:spTgt spid="77"/>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78"/>
                                        </p:tgtEl>
                                        <p:attrNameLst>
                                          <p:attrName>style.visibility</p:attrName>
                                        </p:attrNameLst>
                                      </p:cBhvr>
                                      <p:to>
                                        <p:strVal val="visible"/>
                                      </p:to>
                                    </p:set>
                                    <p:animEffect transition="in" filter="wipe(left)">
                                      <p:cBhvr>
                                        <p:cTn id="142" dur="500"/>
                                        <p:tgtEl>
                                          <p:spTgt spid="78"/>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nodeType="clickEffect">
                                  <p:stCondLst>
                                    <p:cond delay="0"/>
                                  </p:stCondLst>
                                  <p:childTnLst>
                                    <p:set>
                                      <p:cBhvr>
                                        <p:cTn id="146" dur="1" fill="hold">
                                          <p:stCondLst>
                                            <p:cond delay="0"/>
                                          </p:stCondLst>
                                        </p:cTn>
                                        <p:tgtEl>
                                          <p:spTgt spid="80"/>
                                        </p:tgtEl>
                                        <p:attrNameLst>
                                          <p:attrName>style.visibility</p:attrName>
                                        </p:attrNameLst>
                                      </p:cBhvr>
                                      <p:to>
                                        <p:strVal val="visible"/>
                                      </p:to>
                                    </p:set>
                                    <p:anim calcmode="lin" valueType="num">
                                      <p:cBhvr>
                                        <p:cTn id="147" dur="500" fill="hold"/>
                                        <p:tgtEl>
                                          <p:spTgt spid="80"/>
                                        </p:tgtEl>
                                        <p:attrNameLst>
                                          <p:attrName>ppt_w</p:attrName>
                                        </p:attrNameLst>
                                      </p:cBhvr>
                                      <p:tavLst>
                                        <p:tav tm="0">
                                          <p:val>
                                            <p:fltVal val="0"/>
                                          </p:val>
                                        </p:tav>
                                        <p:tav tm="100000">
                                          <p:val>
                                            <p:strVal val="#ppt_w"/>
                                          </p:val>
                                        </p:tav>
                                      </p:tavLst>
                                    </p:anim>
                                    <p:anim calcmode="lin" valueType="num">
                                      <p:cBhvr>
                                        <p:cTn id="148" dur="500" fill="hold"/>
                                        <p:tgtEl>
                                          <p:spTgt spid="80"/>
                                        </p:tgtEl>
                                        <p:attrNameLst>
                                          <p:attrName>ppt_h</p:attrName>
                                        </p:attrNameLst>
                                      </p:cBhvr>
                                      <p:tavLst>
                                        <p:tav tm="0">
                                          <p:val>
                                            <p:fltVal val="0"/>
                                          </p:val>
                                        </p:tav>
                                        <p:tav tm="100000">
                                          <p:val>
                                            <p:strVal val="#ppt_h"/>
                                          </p:val>
                                        </p:tav>
                                      </p:tavLst>
                                    </p:anim>
                                    <p:animEffect transition="in" filter="fade">
                                      <p:cBhvr>
                                        <p:cTn id="149" dur="500"/>
                                        <p:tgtEl>
                                          <p:spTgt spid="80"/>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2" fill="hold" nodeType="clickEffect">
                                  <p:stCondLst>
                                    <p:cond delay="0"/>
                                  </p:stCondLst>
                                  <p:childTnLst>
                                    <p:set>
                                      <p:cBhvr>
                                        <p:cTn id="153" dur="1" fill="hold">
                                          <p:stCondLst>
                                            <p:cond delay="0"/>
                                          </p:stCondLst>
                                        </p:cTn>
                                        <p:tgtEl>
                                          <p:spTgt spid="51"/>
                                        </p:tgtEl>
                                        <p:attrNameLst>
                                          <p:attrName>style.visibility</p:attrName>
                                        </p:attrNameLst>
                                      </p:cBhvr>
                                      <p:to>
                                        <p:strVal val="visible"/>
                                      </p:to>
                                    </p:set>
                                    <p:animEffect transition="in" filter="wipe(right)">
                                      <p:cBhvr>
                                        <p:cTn id="154" dur="500"/>
                                        <p:tgtEl>
                                          <p:spTgt spid="51"/>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nodeType="clickEffect">
                                  <p:stCondLst>
                                    <p:cond delay="0"/>
                                  </p:stCondLst>
                                  <p:childTnLst>
                                    <p:set>
                                      <p:cBhvr>
                                        <p:cTn id="158" dur="1" fill="hold">
                                          <p:stCondLst>
                                            <p:cond delay="0"/>
                                          </p:stCondLst>
                                        </p:cTn>
                                        <p:tgtEl>
                                          <p:spTgt spid="81"/>
                                        </p:tgtEl>
                                        <p:attrNameLst>
                                          <p:attrName>style.visibility</p:attrName>
                                        </p:attrNameLst>
                                      </p:cBhvr>
                                      <p:to>
                                        <p:strVal val="visible"/>
                                      </p:to>
                                    </p:set>
                                    <p:animEffect transition="in" filter="wipe(up)">
                                      <p:cBhvr>
                                        <p:cTn id="159" dur="500"/>
                                        <p:tgtEl>
                                          <p:spTgt spid="81"/>
                                        </p:tgtEl>
                                      </p:cBhvr>
                                    </p:animEffect>
                                  </p:childTnLst>
                                </p:cTn>
                              </p:par>
                            </p:childTnLst>
                          </p:cTn>
                        </p:par>
                      </p:childTnLst>
                    </p:cTn>
                  </p:par>
                  <p:par>
                    <p:cTn id="160" fill="hold">
                      <p:stCondLst>
                        <p:cond delay="indefinite"/>
                      </p:stCondLst>
                      <p:childTnLst>
                        <p:par>
                          <p:cTn id="161" fill="hold">
                            <p:stCondLst>
                              <p:cond delay="0"/>
                            </p:stCondLst>
                            <p:childTnLst>
                              <p:par>
                                <p:cTn id="162" presetID="53" presetClass="entr" presetSubtype="16" fill="hold" grpId="0" nodeType="clickEffect">
                                  <p:stCondLst>
                                    <p:cond delay="0"/>
                                  </p:stCondLst>
                                  <p:childTnLst>
                                    <p:set>
                                      <p:cBhvr>
                                        <p:cTn id="163" dur="1" fill="hold">
                                          <p:stCondLst>
                                            <p:cond delay="0"/>
                                          </p:stCondLst>
                                        </p:cTn>
                                        <p:tgtEl>
                                          <p:spTgt spid="68"/>
                                        </p:tgtEl>
                                        <p:attrNameLst>
                                          <p:attrName>style.visibility</p:attrName>
                                        </p:attrNameLst>
                                      </p:cBhvr>
                                      <p:to>
                                        <p:strVal val="visible"/>
                                      </p:to>
                                    </p:set>
                                    <p:anim calcmode="lin" valueType="num">
                                      <p:cBhvr>
                                        <p:cTn id="164" dur="500" fill="hold"/>
                                        <p:tgtEl>
                                          <p:spTgt spid="68"/>
                                        </p:tgtEl>
                                        <p:attrNameLst>
                                          <p:attrName>ppt_w</p:attrName>
                                        </p:attrNameLst>
                                      </p:cBhvr>
                                      <p:tavLst>
                                        <p:tav tm="0">
                                          <p:val>
                                            <p:fltVal val="0"/>
                                          </p:val>
                                        </p:tav>
                                        <p:tav tm="100000">
                                          <p:val>
                                            <p:strVal val="#ppt_w"/>
                                          </p:val>
                                        </p:tav>
                                      </p:tavLst>
                                    </p:anim>
                                    <p:anim calcmode="lin" valueType="num">
                                      <p:cBhvr>
                                        <p:cTn id="165" dur="500" fill="hold"/>
                                        <p:tgtEl>
                                          <p:spTgt spid="68"/>
                                        </p:tgtEl>
                                        <p:attrNameLst>
                                          <p:attrName>ppt_h</p:attrName>
                                        </p:attrNameLst>
                                      </p:cBhvr>
                                      <p:tavLst>
                                        <p:tav tm="0">
                                          <p:val>
                                            <p:fltVal val="0"/>
                                          </p:val>
                                        </p:tav>
                                        <p:tav tm="100000">
                                          <p:val>
                                            <p:strVal val="#ppt_h"/>
                                          </p:val>
                                        </p:tav>
                                      </p:tavLst>
                                    </p:anim>
                                    <p:animEffect transition="in" filter="fade">
                                      <p:cBhvr>
                                        <p:cTn id="166" dur="500"/>
                                        <p:tgtEl>
                                          <p:spTgt spid="68"/>
                                        </p:tgtEl>
                                      </p:cBhvr>
                                    </p:animEffect>
                                  </p:childTnLst>
                                </p:cTn>
                              </p:par>
                            </p:childTnLst>
                          </p:cTn>
                        </p:par>
                      </p:childTnLst>
                    </p:cTn>
                  </p:par>
                  <p:par>
                    <p:cTn id="167" fill="hold">
                      <p:stCondLst>
                        <p:cond delay="indefinite"/>
                      </p:stCondLst>
                      <p:childTnLst>
                        <p:par>
                          <p:cTn id="168" fill="hold">
                            <p:stCondLst>
                              <p:cond delay="0"/>
                            </p:stCondLst>
                            <p:childTnLst>
                              <p:par>
                                <p:cTn id="169" presetID="53" presetClass="entr" presetSubtype="16" fill="hold" nodeType="clickEffect">
                                  <p:stCondLst>
                                    <p:cond delay="0"/>
                                  </p:stCondLst>
                                  <p:childTnLst>
                                    <p:set>
                                      <p:cBhvr>
                                        <p:cTn id="170" dur="1" fill="hold">
                                          <p:stCondLst>
                                            <p:cond delay="0"/>
                                          </p:stCondLst>
                                        </p:cTn>
                                        <p:tgtEl>
                                          <p:spTgt spid="83"/>
                                        </p:tgtEl>
                                        <p:attrNameLst>
                                          <p:attrName>style.visibility</p:attrName>
                                        </p:attrNameLst>
                                      </p:cBhvr>
                                      <p:to>
                                        <p:strVal val="visible"/>
                                      </p:to>
                                    </p:set>
                                    <p:anim calcmode="lin" valueType="num">
                                      <p:cBhvr>
                                        <p:cTn id="171" dur="500" fill="hold"/>
                                        <p:tgtEl>
                                          <p:spTgt spid="83"/>
                                        </p:tgtEl>
                                        <p:attrNameLst>
                                          <p:attrName>ppt_w</p:attrName>
                                        </p:attrNameLst>
                                      </p:cBhvr>
                                      <p:tavLst>
                                        <p:tav tm="0">
                                          <p:val>
                                            <p:fltVal val="0"/>
                                          </p:val>
                                        </p:tav>
                                        <p:tav tm="100000">
                                          <p:val>
                                            <p:strVal val="#ppt_w"/>
                                          </p:val>
                                        </p:tav>
                                      </p:tavLst>
                                    </p:anim>
                                    <p:anim calcmode="lin" valueType="num">
                                      <p:cBhvr>
                                        <p:cTn id="172" dur="500" fill="hold"/>
                                        <p:tgtEl>
                                          <p:spTgt spid="83"/>
                                        </p:tgtEl>
                                        <p:attrNameLst>
                                          <p:attrName>ppt_h</p:attrName>
                                        </p:attrNameLst>
                                      </p:cBhvr>
                                      <p:tavLst>
                                        <p:tav tm="0">
                                          <p:val>
                                            <p:fltVal val="0"/>
                                          </p:val>
                                        </p:tav>
                                        <p:tav tm="100000">
                                          <p:val>
                                            <p:strVal val="#ppt_h"/>
                                          </p:val>
                                        </p:tav>
                                      </p:tavLst>
                                    </p:anim>
                                    <p:animEffect transition="in" filter="fade">
                                      <p:cBhvr>
                                        <p:cTn id="173" dur="500"/>
                                        <p:tgtEl>
                                          <p:spTgt spid="83"/>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2" fill="hold" nodeType="clickEffect">
                                  <p:stCondLst>
                                    <p:cond delay="0"/>
                                  </p:stCondLst>
                                  <p:childTnLst>
                                    <p:set>
                                      <p:cBhvr>
                                        <p:cTn id="177" dur="1" fill="hold">
                                          <p:stCondLst>
                                            <p:cond delay="0"/>
                                          </p:stCondLst>
                                        </p:cTn>
                                        <p:tgtEl>
                                          <p:spTgt spid="57"/>
                                        </p:tgtEl>
                                        <p:attrNameLst>
                                          <p:attrName>style.visibility</p:attrName>
                                        </p:attrNameLst>
                                      </p:cBhvr>
                                      <p:to>
                                        <p:strVal val="visible"/>
                                      </p:to>
                                    </p:set>
                                    <p:animEffect transition="in" filter="wipe(right)">
                                      <p:cBhvr>
                                        <p:cTn id="178" dur="500"/>
                                        <p:tgtEl>
                                          <p:spTgt spid="57"/>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nodeType="clickEffect">
                                  <p:stCondLst>
                                    <p:cond delay="0"/>
                                  </p:stCondLst>
                                  <p:childTnLst>
                                    <p:set>
                                      <p:cBhvr>
                                        <p:cTn id="182" dur="1" fill="hold">
                                          <p:stCondLst>
                                            <p:cond delay="0"/>
                                          </p:stCondLst>
                                        </p:cTn>
                                        <p:tgtEl>
                                          <p:spTgt spid="84"/>
                                        </p:tgtEl>
                                        <p:attrNameLst>
                                          <p:attrName>style.visibility</p:attrName>
                                        </p:attrNameLst>
                                      </p:cBhvr>
                                      <p:to>
                                        <p:strVal val="visible"/>
                                      </p:to>
                                    </p:set>
                                    <p:animEffect transition="in" filter="wipe(up)">
                                      <p:cBhvr>
                                        <p:cTn id="183" dur="500"/>
                                        <p:tgtEl>
                                          <p:spTgt spid="84"/>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49"/>
                                        </p:tgtEl>
                                        <p:attrNameLst>
                                          <p:attrName>style.visibility</p:attrName>
                                        </p:attrNameLst>
                                      </p:cBhvr>
                                      <p:to>
                                        <p:strVal val="visible"/>
                                      </p:to>
                                    </p:set>
                                    <p:animEffect transition="in" filter="wipe(left)">
                                      <p:cBhvr>
                                        <p:cTn id="188" dur="500"/>
                                        <p:tgtEl>
                                          <p:spTgt spid="49"/>
                                        </p:tgtEl>
                                      </p:cBhvr>
                                    </p:animEffect>
                                  </p:childTnLst>
                                </p:cTn>
                              </p:par>
                            </p:childTnLst>
                          </p:cTn>
                        </p:par>
                      </p:childTnLst>
                    </p:cTn>
                  </p:par>
                  <p:par>
                    <p:cTn id="189" fill="hold">
                      <p:stCondLst>
                        <p:cond delay="indefinite"/>
                      </p:stCondLst>
                      <p:childTnLst>
                        <p:par>
                          <p:cTn id="190" fill="hold">
                            <p:stCondLst>
                              <p:cond delay="0"/>
                            </p:stCondLst>
                            <p:childTnLst>
                              <p:par>
                                <p:cTn id="191" presetID="53" presetClass="entr" presetSubtype="16" fill="hold" nodeType="clickEffect">
                                  <p:stCondLst>
                                    <p:cond delay="0"/>
                                  </p:stCondLst>
                                  <p:childTnLst>
                                    <p:set>
                                      <p:cBhvr>
                                        <p:cTn id="192" dur="1" fill="hold">
                                          <p:stCondLst>
                                            <p:cond delay="0"/>
                                          </p:stCondLst>
                                        </p:cTn>
                                        <p:tgtEl>
                                          <p:spTgt spid="91"/>
                                        </p:tgtEl>
                                        <p:attrNameLst>
                                          <p:attrName>style.visibility</p:attrName>
                                        </p:attrNameLst>
                                      </p:cBhvr>
                                      <p:to>
                                        <p:strVal val="visible"/>
                                      </p:to>
                                    </p:set>
                                    <p:anim calcmode="lin" valueType="num">
                                      <p:cBhvr>
                                        <p:cTn id="193" dur="500" fill="hold"/>
                                        <p:tgtEl>
                                          <p:spTgt spid="91"/>
                                        </p:tgtEl>
                                        <p:attrNameLst>
                                          <p:attrName>ppt_w</p:attrName>
                                        </p:attrNameLst>
                                      </p:cBhvr>
                                      <p:tavLst>
                                        <p:tav tm="0">
                                          <p:val>
                                            <p:fltVal val="0"/>
                                          </p:val>
                                        </p:tav>
                                        <p:tav tm="100000">
                                          <p:val>
                                            <p:strVal val="#ppt_w"/>
                                          </p:val>
                                        </p:tav>
                                      </p:tavLst>
                                    </p:anim>
                                    <p:anim calcmode="lin" valueType="num">
                                      <p:cBhvr>
                                        <p:cTn id="194" dur="500" fill="hold"/>
                                        <p:tgtEl>
                                          <p:spTgt spid="91"/>
                                        </p:tgtEl>
                                        <p:attrNameLst>
                                          <p:attrName>ppt_h</p:attrName>
                                        </p:attrNameLst>
                                      </p:cBhvr>
                                      <p:tavLst>
                                        <p:tav tm="0">
                                          <p:val>
                                            <p:fltVal val="0"/>
                                          </p:val>
                                        </p:tav>
                                        <p:tav tm="100000">
                                          <p:val>
                                            <p:strVal val="#ppt_h"/>
                                          </p:val>
                                        </p:tav>
                                      </p:tavLst>
                                    </p:anim>
                                    <p:animEffect transition="in" filter="fade">
                                      <p:cBhvr>
                                        <p:cTn id="195" dur="500"/>
                                        <p:tgtEl>
                                          <p:spTgt spid="91"/>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86"/>
                                        </p:tgtEl>
                                        <p:attrNameLst>
                                          <p:attrName>style.visibility</p:attrName>
                                        </p:attrNameLst>
                                      </p:cBhvr>
                                      <p:to>
                                        <p:strVal val="visible"/>
                                      </p:to>
                                    </p:set>
                                    <p:animEffect transition="in" filter="wipe(left)">
                                      <p:cBhvr>
                                        <p:cTn id="200" dur="500"/>
                                        <p:tgtEl>
                                          <p:spTgt spid="86"/>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92"/>
                                        </p:tgtEl>
                                        <p:attrNameLst>
                                          <p:attrName>style.visibility</p:attrName>
                                        </p:attrNameLst>
                                      </p:cBhvr>
                                      <p:to>
                                        <p:strVal val="visible"/>
                                      </p:to>
                                    </p:set>
                                    <p:animEffect transition="in" filter="wipe(left)">
                                      <p:cBhvr>
                                        <p:cTn id="205" dur="500"/>
                                        <p:tgtEl>
                                          <p:spTgt spid="92"/>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8" fill="hold" grpId="0" nodeType="clickEffect">
                                  <p:stCondLst>
                                    <p:cond delay="0"/>
                                  </p:stCondLst>
                                  <p:childTnLst>
                                    <p:set>
                                      <p:cBhvr>
                                        <p:cTn id="209" dur="1" fill="hold">
                                          <p:stCondLst>
                                            <p:cond delay="0"/>
                                          </p:stCondLst>
                                        </p:cTn>
                                        <p:tgtEl>
                                          <p:spTgt spid="93"/>
                                        </p:tgtEl>
                                        <p:attrNameLst>
                                          <p:attrName>style.visibility</p:attrName>
                                        </p:attrNameLst>
                                      </p:cBhvr>
                                      <p:to>
                                        <p:strVal val="visible"/>
                                      </p:to>
                                    </p:set>
                                    <p:animEffect transition="in" filter="wipe(left)">
                                      <p:cBhvr>
                                        <p:cTn id="210" dur="500"/>
                                        <p:tgtEl>
                                          <p:spTgt spid="93"/>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8" fill="hold" nodeType="clickEffect">
                                  <p:stCondLst>
                                    <p:cond delay="0"/>
                                  </p:stCondLst>
                                  <p:childTnLst>
                                    <p:set>
                                      <p:cBhvr>
                                        <p:cTn id="214" dur="1" fill="hold">
                                          <p:stCondLst>
                                            <p:cond delay="0"/>
                                          </p:stCondLst>
                                        </p:cTn>
                                        <p:tgtEl>
                                          <p:spTgt spid="97"/>
                                        </p:tgtEl>
                                        <p:attrNameLst>
                                          <p:attrName>style.visibility</p:attrName>
                                        </p:attrNameLst>
                                      </p:cBhvr>
                                      <p:to>
                                        <p:strVal val="visible"/>
                                      </p:to>
                                    </p:set>
                                    <p:animEffect transition="in" filter="wipe(left)">
                                      <p:cBhvr>
                                        <p:cTn id="215"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3" grpId="0"/>
      <p:bldP spid="44" grpId="0"/>
      <p:bldP spid="68" grpId="0"/>
      <p:bldP spid="23" grpId="0"/>
      <p:bldP spid="86" grpId="0"/>
      <p:bldP spid="92" grpId="0"/>
      <p:bldP spid="9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 name="组合 229"/>
          <p:cNvGrpSpPr/>
          <p:nvPr/>
        </p:nvGrpSpPr>
        <p:grpSpPr>
          <a:xfrm>
            <a:off x="6110311" y="3708187"/>
            <a:ext cx="2976391" cy="1905416"/>
            <a:chOff x="6110311" y="3708187"/>
            <a:chExt cx="2976391" cy="1905416"/>
          </a:xfrm>
        </p:grpSpPr>
        <p:grpSp>
          <p:nvGrpSpPr>
            <p:cNvPr id="119" name="组合 118"/>
            <p:cNvGrpSpPr/>
            <p:nvPr/>
          </p:nvGrpSpPr>
          <p:grpSpPr>
            <a:xfrm>
              <a:off x="6278484" y="4055503"/>
              <a:ext cx="365786" cy="315555"/>
              <a:chOff x="1036547" y="3087481"/>
              <a:chExt cx="365786" cy="315555"/>
            </a:xfrm>
          </p:grpSpPr>
          <p:sp>
            <p:nvSpPr>
              <p:cNvPr id="121" name="椭圆 38"/>
              <p:cNvSpPr/>
              <p:nvPr/>
            </p:nvSpPr>
            <p:spPr>
              <a:xfrm>
                <a:off x="1036547" y="3314136"/>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20" name="文本框 119"/>
                  <p:cNvSpPr txBox="1"/>
                  <p:nvPr/>
                </p:nvSpPr>
                <p:spPr>
                  <a:xfrm>
                    <a:off x="1049351" y="3087481"/>
                    <a:ext cx="35298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tx1"/>
                              </a:solidFill>
                              <a:latin typeface="Cambria Math" panose="02040503050406030204" pitchFamily="18" charset="0"/>
                            </a:rPr>
                            <m:t>𝐴</m:t>
                          </m:r>
                        </m:oMath>
                      </m:oMathPara>
                    </a14:m>
                    <a:endParaRPr lang="zh-CN" altLang="en-US" sz="1400" dirty="0">
                      <a:solidFill>
                        <a:schemeClr val="tx1"/>
                      </a:solidFill>
                    </a:endParaRPr>
                  </a:p>
                </p:txBody>
              </p:sp>
            </mc:Choice>
            <mc:Fallback xmlns="">
              <p:sp>
                <p:nvSpPr>
                  <p:cNvPr id="120" name="文本框 119"/>
                  <p:cNvSpPr txBox="1">
                    <a:spLocks noRot="1" noChangeAspect="1" noMove="1" noResize="1" noEditPoints="1" noAdjustHandles="1" noChangeArrowheads="1" noChangeShapeType="1" noTextEdit="1"/>
                  </p:cNvSpPr>
                  <p:nvPr/>
                </p:nvSpPr>
                <p:spPr>
                  <a:xfrm>
                    <a:off x="1049351" y="3087481"/>
                    <a:ext cx="352982" cy="307777"/>
                  </a:xfrm>
                  <a:prstGeom prst="rect">
                    <a:avLst/>
                  </a:prstGeom>
                  <a:blipFill rotWithShape="0">
                    <a:blip r:embed="rId3"/>
                    <a:stretch>
                      <a:fillRect/>
                    </a:stretch>
                  </a:blipFill>
                </p:spPr>
                <p:txBody>
                  <a:bodyPr/>
                  <a:lstStyle/>
                  <a:p>
                    <a:r>
                      <a:rPr lang="zh-CN" altLang="en-US">
                        <a:noFill/>
                      </a:rPr>
                      <a:t> </a:t>
                    </a:r>
                  </a:p>
                </p:txBody>
              </p:sp>
            </mc:Fallback>
          </mc:AlternateContent>
        </p:grpSp>
        <p:grpSp>
          <p:nvGrpSpPr>
            <p:cNvPr id="122" name="组合 121"/>
            <p:cNvGrpSpPr/>
            <p:nvPr/>
          </p:nvGrpSpPr>
          <p:grpSpPr>
            <a:xfrm>
              <a:off x="7893054" y="4262845"/>
              <a:ext cx="354584" cy="352227"/>
              <a:chOff x="4287211" y="3494476"/>
              <a:chExt cx="354584" cy="352227"/>
            </a:xfrm>
          </p:grpSpPr>
          <p:sp>
            <p:nvSpPr>
              <p:cNvPr id="123" name="椭圆 38"/>
              <p:cNvSpPr/>
              <p:nvPr/>
            </p:nvSpPr>
            <p:spPr>
              <a:xfrm>
                <a:off x="4359685" y="3757803"/>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24" name="文本框 123"/>
                  <p:cNvSpPr txBox="1"/>
                  <p:nvPr/>
                </p:nvSpPr>
                <p:spPr>
                  <a:xfrm>
                    <a:off x="4287211" y="3494476"/>
                    <a:ext cx="35458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𝐺</m:t>
                          </m:r>
                        </m:oMath>
                      </m:oMathPara>
                    </a14:m>
                    <a:endParaRPr lang="zh-CN" altLang="en-US" sz="1400" dirty="0"/>
                  </a:p>
                </p:txBody>
              </p:sp>
            </mc:Choice>
            <mc:Fallback xmlns="">
              <p:sp>
                <p:nvSpPr>
                  <p:cNvPr id="124" name="文本框 123"/>
                  <p:cNvSpPr txBox="1">
                    <a:spLocks noRot="1" noChangeAspect="1" noMove="1" noResize="1" noEditPoints="1" noAdjustHandles="1" noChangeArrowheads="1" noChangeShapeType="1" noTextEdit="1"/>
                  </p:cNvSpPr>
                  <p:nvPr/>
                </p:nvSpPr>
                <p:spPr>
                  <a:xfrm>
                    <a:off x="4287211" y="3494476"/>
                    <a:ext cx="354584" cy="307777"/>
                  </a:xfrm>
                  <a:prstGeom prst="rect">
                    <a:avLst/>
                  </a:prstGeom>
                  <a:blipFill rotWithShape="0">
                    <a:blip r:embed="rId4"/>
                    <a:stretch>
                      <a:fillRect/>
                    </a:stretch>
                  </a:blipFill>
                </p:spPr>
                <p:txBody>
                  <a:bodyPr/>
                  <a:lstStyle/>
                  <a:p>
                    <a:r>
                      <a:rPr lang="zh-CN" altLang="en-US">
                        <a:noFill/>
                      </a:rPr>
                      <a:t> </a:t>
                    </a:r>
                  </a:p>
                </p:txBody>
              </p:sp>
            </mc:Fallback>
          </mc:AlternateContent>
        </p:grpSp>
        <p:grpSp>
          <p:nvGrpSpPr>
            <p:cNvPr id="229" name="组合 228"/>
            <p:cNvGrpSpPr/>
            <p:nvPr/>
          </p:nvGrpSpPr>
          <p:grpSpPr>
            <a:xfrm>
              <a:off x="6110311" y="3708187"/>
              <a:ext cx="2976391" cy="1905416"/>
              <a:chOff x="6110311" y="3708187"/>
              <a:chExt cx="2976391" cy="1905416"/>
            </a:xfrm>
          </p:grpSpPr>
          <p:grpSp>
            <p:nvGrpSpPr>
              <p:cNvPr id="104" name="组合 103"/>
              <p:cNvGrpSpPr/>
              <p:nvPr/>
            </p:nvGrpSpPr>
            <p:grpSpPr>
              <a:xfrm>
                <a:off x="6110311" y="3708187"/>
                <a:ext cx="420307" cy="1627552"/>
                <a:chOff x="858141" y="2094047"/>
                <a:chExt cx="420307" cy="1627552"/>
              </a:xfrm>
            </p:grpSpPr>
            <p:cxnSp>
              <p:nvCxnSpPr>
                <p:cNvPr id="105" name="直接箭头连接符 104"/>
                <p:cNvCxnSpPr/>
                <p:nvPr/>
              </p:nvCxnSpPr>
              <p:spPr>
                <a:xfrm flipH="1" flipV="1">
                  <a:off x="1068295" y="2391074"/>
                  <a:ext cx="5725" cy="13305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文本框 105"/>
                    <p:cNvSpPr txBox="1"/>
                    <p:nvPr/>
                  </p:nvSpPr>
                  <p:spPr>
                    <a:xfrm>
                      <a:off x="858141" y="2094047"/>
                      <a:ext cx="42030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𝑎</m:t>
                                </m:r>
                              </m:sub>
                            </m:sSub>
                          </m:oMath>
                        </m:oMathPara>
                      </a14:m>
                      <a:endParaRPr lang="zh-CN" altLang="en-US" sz="1400" dirty="0"/>
                    </a:p>
                  </p:txBody>
                </p:sp>
              </mc:Choice>
              <mc:Fallback xmlns="">
                <p:sp>
                  <p:nvSpPr>
                    <p:cNvPr id="106" name="文本框 105"/>
                    <p:cNvSpPr txBox="1">
                      <a:spLocks noRot="1" noChangeAspect="1" noMove="1" noResize="1" noEditPoints="1" noAdjustHandles="1" noChangeArrowheads="1" noChangeShapeType="1" noTextEdit="1"/>
                    </p:cNvSpPr>
                    <p:nvPr/>
                  </p:nvSpPr>
                  <p:spPr>
                    <a:xfrm>
                      <a:off x="858141" y="2094047"/>
                      <a:ext cx="420307" cy="307777"/>
                    </a:xfrm>
                    <a:prstGeom prst="rect">
                      <a:avLst/>
                    </a:prstGeom>
                    <a:blipFill rotWithShape="0">
                      <a:blip r:embed="rId5"/>
                      <a:stretch>
                        <a:fillRect/>
                      </a:stretch>
                    </a:blipFill>
                  </p:spPr>
                  <p:txBody>
                    <a:bodyPr/>
                    <a:lstStyle/>
                    <a:p>
                      <a:r>
                        <a:rPr lang="zh-CN" altLang="en-US">
                          <a:noFill/>
                        </a:rPr>
                        <a:t> </a:t>
                      </a:r>
                    </a:p>
                  </p:txBody>
                </p:sp>
              </mc:Fallback>
            </mc:AlternateContent>
          </p:grpSp>
          <p:grpSp>
            <p:nvGrpSpPr>
              <p:cNvPr id="107" name="组合 106"/>
              <p:cNvGrpSpPr/>
              <p:nvPr/>
            </p:nvGrpSpPr>
            <p:grpSpPr>
              <a:xfrm>
                <a:off x="6326190" y="5137109"/>
                <a:ext cx="2760512" cy="307777"/>
                <a:chOff x="1074020" y="3522969"/>
                <a:chExt cx="2760512" cy="307777"/>
              </a:xfrm>
            </p:grpSpPr>
            <p:cxnSp>
              <p:nvCxnSpPr>
                <p:cNvPr id="108" name="直接箭头连接符 107"/>
                <p:cNvCxnSpPr/>
                <p:nvPr/>
              </p:nvCxnSpPr>
              <p:spPr>
                <a:xfrm>
                  <a:off x="1074020" y="3721596"/>
                  <a:ext cx="2376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文本框 108"/>
                    <p:cNvSpPr txBox="1"/>
                    <p:nvPr/>
                  </p:nvSpPr>
                  <p:spPr>
                    <a:xfrm>
                      <a:off x="3375111" y="3522969"/>
                      <a:ext cx="45942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109" name="文本框 108"/>
                    <p:cNvSpPr txBox="1">
                      <a:spLocks noRot="1" noChangeAspect="1" noMove="1" noResize="1" noEditPoints="1" noAdjustHandles="1" noChangeArrowheads="1" noChangeShapeType="1" noTextEdit="1"/>
                    </p:cNvSpPr>
                    <p:nvPr/>
                  </p:nvSpPr>
                  <p:spPr>
                    <a:xfrm>
                      <a:off x="3375111" y="3522969"/>
                      <a:ext cx="459421" cy="307777"/>
                    </a:xfrm>
                    <a:prstGeom prst="rect">
                      <a:avLst/>
                    </a:prstGeom>
                    <a:blipFill rotWithShape="0">
                      <a:blip r:embed="rId6"/>
                      <a:stretch>
                        <a:fillRect/>
                      </a:stretch>
                    </a:blipFill>
                  </p:spPr>
                  <p:txBody>
                    <a:bodyPr/>
                    <a:lstStyle/>
                    <a:p>
                      <a:r>
                        <a:rPr lang="zh-CN" altLang="en-US">
                          <a:noFill/>
                        </a:rPr>
                        <a:t> </a:t>
                      </a:r>
                    </a:p>
                  </p:txBody>
                </p:sp>
              </mc:Fallback>
            </mc:AlternateContent>
          </p:grpSp>
          <p:cxnSp>
            <p:nvCxnSpPr>
              <p:cNvPr id="110" name="直接连接符 109"/>
              <p:cNvCxnSpPr/>
              <p:nvPr/>
            </p:nvCxnSpPr>
            <p:spPr>
              <a:xfrm flipH="1" flipV="1">
                <a:off x="8003172" y="4556988"/>
                <a:ext cx="481776" cy="7756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 name="组合 110"/>
              <p:cNvGrpSpPr/>
              <p:nvPr/>
            </p:nvGrpSpPr>
            <p:grpSpPr>
              <a:xfrm>
                <a:off x="8326968" y="5284160"/>
                <a:ext cx="346570" cy="323768"/>
                <a:chOff x="4934121" y="3677145"/>
                <a:chExt cx="346570" cy="323768"/>
              </a:xfrm>
            </p:grpSpPr>
            <p:sp>
              <p:nvSpPr>
                <p:cNvPr id="112" name="椭圆 38"/>
                <p:cNvSpPr/>
                <p:nvPr/>
              </p:nvSpPr>
              <p:spPr>
                <a:xfrm>
                  <a:off x="5034460" y="3677145"/>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13" name="文本框 112"/>
                    <p:cNvSpPr txBox="1"/>
                    <p:nvPr/>
                  </p:nvSpPr>
                  <p:spPr>
                    <a:xfrm>
                      <a:off x="4934121" y="3693136"/>
                      <a:ext cx="3465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𝐶</m:t>
                            </m:r>
                          </m:oMath>
                        </m:oMathPara>
                      </a14:m>
                      <a:endParaRPr lang="zh-CN" altLang="en-US" sz="1400" dirty="0"/>
                    </a:p>
                  </p:txBody>
                </p:sp>
              </mc:Choice>
              <mc:Fallback xmlns="">
                <p:sp>
                  <p:nvSpPr>
                    <p:cNvPr id="113" name="文本框 112"/>
                    <p:cNvSpPr txBox="1">
                      <a:spLocks noRot="1" noChangeAspect="1" noMove="1" noResize="1" noEditPoints="1" noAdjustHandles="1" noChangeArrowheads="1" noChangeShapeType="1" noTextEdit="1"/>
                    </p:cNvSpPr>
                    <p:nvPr/>
                  </p:nvSpPr>
                  <p:spPr>
                    <a:xfrm>
                      <a:off x="4934121" y="3693136"/>
                      <a:ext cx="346570" cy="307777"/>
                    </a:xfrm>
                    <a:prstGeom prst="rect">
                      <a:avLst/>
                    </a:prstGeom>
                    <a:blipFill rotWithShape="0">
                      <a:blip r:embed="rId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4" name="文本框 113"/>
                  <p:cNvSpPr txBox="1"/>
                  <p:nvPr/>
                </p:nvSpPr>
                <p:spPr>
                  <a:xfrm>
                    <a:off x="6143711" y="5305826"/>
                    <a:ext cx="3605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𝑂</m:t>
                          </m:r>
                        </m:oMath>
                      </m:oMathPara>
                    </a14:m>
                    <a:endParaRPr lang="zh-CN" altLang="en-US" sz="1400" dirty="0"/>
                  </a:p>
                </p:txBody>
              </p:sp>
            </mc:Choice>
            <mc:Fallback xmlns="">
              <p:sp>
                <p:nvSpPr>
                  <p:cNvPr id="114" name="文本框 113"/>
                  <p:cNvSpPr txBox="1">
                    <a:spLocks noRot="1" noChangeAspect="1" noMove="1" noResize="1" noEditPoints="1" noAdjustHandles="1" noChangeArrowheads="1" noChangeShapeType="1" noTextEdit="1"/>
                  </p:cNvSpPr>
                  <p:nvPr/>
                </p:nvSpPr>
                <p:spPr>
                  <a:xfrm>
                    <a:off x="6143711" y="5305826"/>
                    <a:ext cx="360548" cy="307777"/>
                  </a:xfrm>
                  <a:prstGeom prst="rect">
                    <a:avLst/>
                  </a:prstGeom>
                  <a:blipFill rotWithShape="0">
                    <a:blip r:embed="rId8"/>
                    <a:stretch>
                      <a:fillRect/>
                    </a:stretch>
                  </a:blipFill>
                </p:spPr>
                <p:txBody>
                  <a:bodyPr/>
                  <a:lstStyle/>
                  <a:p>
                    <a:r>
                      <a:rPr lang="zh-CN" altLang="en-US">
                        <a:noFill/>
                      </a:rPr>
                      <a:t> </a:t>
                    </a:r>
                  </a:p>
                </p:txBody>
              </p:sp>
            </mc:Fallback>
          </mc:AlternateContent>
          <p:cxnSp>
            <p:nvCxnSpPr>
              <p:cNvPr id="118" name="直接连接符 117"/>
              <p:cNvCxnSpPr/>
              <p:nvPr/>
            </p:nvCxnSpPr>
            <p:spPr>
              <a:xfrm flipH="1" flipV="1">
                <a:off x="6308578" y="4314105"/>
                <a:ext cx="1694594" cy="2482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7" name="组合 226"/>
              <p:cNvGrpSpPr/>
              <p:nvPr/>
            </p:nvGrpSpPr>
            <p:grpSpPr>
              <a:xfrm>
                <a:off x="8010790" y="5112325"/>
                <a:ext cx="623466" cy="391057"/>
                <a:chOff x="8010790" y="5112325"/>
                <a:chExt cx="623466" cy="391057"/>
              </a:xfrm>
            </p:grpSpPr>
            <mc:AlternateContent xmlns:mc="http://schemas.openxmlformats.org/markup-compatibility/2006" xmlns:a14="http://schemas.microsoft.com/office/drawing/2010/main">
              <mc:Choice Requires="a14">
                <p:sp>
                  <p:nvSpPr>
                    <p:cNvPr id="117" name="文本框 116"/>
                    <p:cNvSpPr txBox="1"/>
                    <p:nvPr/>
                  </p:nvSpPr>
                  <p:spPr>
                    <a:xfrm>
                      <a:off x="8010790" y="5112325"/>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117" name="文本框 116"/>
                    <p:cNvSpPr txBox="1">
                      <a:spLocks noRot="1" noChangeAspect="1" noMove="1" noResize="1" noEditPoints="1" noAdjustHandles="1" noChangeArrowheads="1" noChangeShapeType="1" noTextEdit="1"/>
                    </p:cNvSpPr>
                    <p:nvPr/>
                  </p:nvSpPr>
                  <p:spPr>
                    <a:xfrm>
                      <a:off x="8010790" y="5112325"/>
                      <a:ext cx="409086" cy="246221"/>
                    </a:xfrm>
                    <a:prstGeom prst="rect">
                      <a:avLst/>
                    </a:prstGeom>
                    <a:blipFill rotWithShape="0">
                      <a:blip r:embed="rId9"/>
                      <a:stretch>
                        <a:fillRect/>
                      </a:stretch>
                    </a:blipFill>
                  </p:spPr>
                  <p:txBody>
                    <a:bodyPr/>
                    <a:lstStyle/>
                    <a:p>
                      <a:r>
                        <a:rPr lang="zh-CN" altLang="en-US">
                          <a:noFill/>
                        </a:rPr>
                        <a:t> </a:t>
                      </a:r>
                    </a:p>
                  </p:txBody>
                </p:sp>
              </mc:Fallback>
            </mc:AlternateContent>
            <p:sp>
              <p:nvSpPr>
                <p:cNvPr id="218" name="弧形 217"/>
                <p:cNvSpPr/>
                <p:nvPr/>
              </p:nvSpPr>
              <p:spPr>
                <a:xfrm>
                  <a:off x="8296569" y="5164792"/>
                  <a:ext cx="337687" cy="338590"/>
                </a:xfrm>
                <a:prstGeom prst="arc">
                  <a:avLst>
                    <a:gd name="adj1" fmla="val 10925161"/>
                    <a:gd name="adj2" fmla="val 1479037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grpSp>
        <p:nvGrpSpPr>
          <p:cNvPr id="231" name="组合 230"/>
          <p:cNvGrpSpPr/>
          <p:nvPr/>
        </p:nvGrpSpPr>
        <p:grpSpPr>
          <a:xfrm>
            <a:off x="3188713" y="3711794"/>
            <a:ext cx="2967463" cy="1916193"/>
            <a:chOff x="3188713" y="3711794"/>
            <a:chExt cx="2967463" cy="1916193"/>
          </a:xfrm>
        </p:grpSpPr>
        <p:grpSp>
          <p:nvGrpSpPr>
            <p:cNvPr id="98" name="组合 97"/>
            <p:cNvGrpSpPr/>
            <p:nvPr/>
          </p:nvGrpSpPr>
          <p:grpSpPr>
            <a:xfrm>
              <a:off x="3336858" y="4070411"/>
              <a:ext cx="352982" cy="307777"/>
              <a:chOff x="1025447" y="3097063"/>
              <a:chExt cx="352982" cy="307777"/>
            </a:xfrm>
          </p:grpSpPr>
          <p:sp>
            <p:nvSpPr>
              <p:cNvPr id="100" name="椭圆 38"/>
              <p:cNvSpPr/>
              <p:nvPr/>
            </p:nvSpPr>
            <p:spPr>
              <a:xfrm>
                <a:off x="1036547" y="3314136"/>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99" name="文本框 98"/>
                  <p:cNvSpPr txBox="1"/>
                  <p:nvPr/>
                </p:nvSpPr>
                <p:spPr>
                  <a:xfrm>
                    <a:off x="1025447" y="3097063"/>
                    <a:ext cx="35298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tx1"/>
                              </a:solidFill>
                              <a:latin typeface="Cambria Math" panose="02040503050406030204" pitchFamily="18" charset="0"/>
                            </a:rPr>
                            <m:t>𝐴</m:t>
                          </m:r>
                        </m:oMath>
                      </m:oMathPara>
                    </a14:m>
                    <a:endParaRPr lang="zh-CN" altLang="en-US" sz="1400" dirty="0">
                      <a:solidFill>
                        <a:schemeClr val="tx1"/>
                      </a:solidFill>
                    </a:endParaRPr>
                  </a:p>
                </p:txBody>
              </p:sp>
            </mc:Choice>
            <mc:Fallback xmlns="">
              <p:sp>
                <p:nvSpPr>
                  <p:cNvPr id="99" name="文本框 98"/>
                  <p:cNvSpPr txBox="1">
                    <a:spLocks noRot="1" noChangeAspect="1" noMove="1" noResize="1" noEditPoints="1" noAdjustHandles="1" noChangeArrowheads="1" noChangeShapeType="1" noTextEdit="1"/>
                  </p:cNvSpPr>
                  <p:nvPr/>
                </p:nvSpPr>
                <p:spPr>
                  <a:xfrm>
                    <a:off x="1025447" y="3097063"/>
                    <a:ext cx="352982" cy="307777"/>
                  </a:xfrm>
                  <a:prstGeom prst="rect">
                    <a:avLst/>
                  </a:prstGeom>
                  <a:blipFill rotWithShape="0">
                    <a:blip r:embed="rId10"/>
                    <a:stretch>
                      <a:fillRect/>
                    </a:stretch>
                  </a:blipFill>
                </p:spPr>
                <p:txBody>
                  <a:bodyPr/>
                  <a:lstStyle/>
                  <a:p>
                    <a:r>
                      <a:rPr lang="zh-CN" altLang="en-US">
                        <a:noFill/>
                      </a:rPr>
                      <a:t> </a:t>
                    </a:r>
                  </a:p>
                </p:txBody>
              </p:sp>
            </mc:Fallback>
          </mc:AlternateContent>
        </p:grpSp>
        <p:grpSp>
          <p:nvGrpSpPr>
            <p:cNvPr id="101" name="组合 100"/>
            <p:cNvGrpSpPr/>
            <p:nvPr/>
          </p:nvGrpSpPr>
          <p:grpSpPr>
            <a:xfrm>
              <a:off x="4918517" y="4260669"/>
              <a:ext cx="354584" cy="359729"/>
              <a:chOff x="4243200" y="3486974"/>
              <a:chExt cx="354584" cy="359729"/>
            </a:xfrm>
          </p:grpSpPr>
          <p:sp>
            <p:nvSpPr>
              <p:cNvPr id="102" name="椭圆 38"/>
              <p:cNvSpPr/>
              <p:nvPr/>
            </p:nvSpPr>
            <p:spPr>
              <a:xfrm>
                <a:off x="4359685" y="3757803"/>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03" name="文本框 102"/>
                  <p:cNvSpPr txBox="1"/>
                  <p:nvPr/>
                </p:nvSpPr>
                <p:spPr>
                  <a:xfrm>
                    <a:off x="4243200" y="3486974"/>
                    <a:ext cx="35458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𝐺</m:t>
                          </m:r>
                        </m:oMath>
                      </m:oMathPara>
                    </a14:m>
                    <a:endParaRPr lang="zh-CN" altLang="en-US" sz="1400" dirty="0"/>
                  </a:p>
                </p:txBody>
              </p:sp>
            </mc:Choice>
            <mc:Fallback xmlns="">
              <p:sp>
                <p:nvSpPr>
                  <p:cNvPr id="103" name="文本框 102"/>
                  <p:cNvSpPr txBox="1">
                    <a:spLocks noRot="1" noChangeAspect="1" noMove="1" noResize="1" noEditPoints="1" noAdjustHandles="1" noChangeArrowheads="1" noChangeShapeType="1" noTextEdit="1"/>
                  </p:cNvSpPr>
                  <p:nvPr/>
                </p:nvSpPr>
                <p:spPr>
                  <a:xfrm>
                    <a:off x="4243200" y="3486974"/>
                    <a:ext cx="354584" cy="307777"/>
                  </a:xfrm>
                  <a:prstGeom prst="rect">
                    <a:avLst/>
                  </a:prstGeom>
                  <a:blipFill rotWithShape="0">
                    <a:blip r:embed="rId11"/>
                    <a:stretch>
                      <a:fillRect/>
                    </a:stretch>
                  </a:blipFill>
                </p:spPr>
                <p:txBody>
                  <a:bodyPr/>
                  <a:lstStyle/>
                  <a:p>
                    <a:r>
                      <a:rPr lang="zh-CN" altLang="en-US">
                        <a:noFill/>
                      </a:rPr>
                      <a:t> </a:t>
                    </a:r>
                  </a:p>
                </p:txBody>
              </p:sp>
            </mc:Fallback>
          </mc:AlternateContent>
        </p:grpSp>
        <p:grpSp>
          <p:nvGrpSpPr>
            <p:cNvPr id="228" name="组合 227"/>
            <p:cNvGrpSpPr/>
            <p:nvPr/>
          </p:nvGrpSpPr>
          <p:grpSpPr>
            <a:xfrm>
              <a:off x="3188713" y="3711794"/>
              <a:ext cx="2967463" cy="1916193"/>
              <a:chOff x="3188713" y="3711794"/>
              <a:chExt cx="2967463" cy="1916193"/>
            </a:xfrm>
          </p:grpSpPr>
          <p:grpSp>
            <p:nvGrpSpPr>
              <p:cNvPr id="83" name="组合 82"/>
              <p:cNvGrpSpPr/>
              <p:nvPr/>
            </p:nvGrpSpPr>
            <p:grpSpPr>
              <a:xfrm>
                <a:off x="3188713" y="3711794"/>
                <a:ext cx="420307" cy="1629271"/>
                <a:chOff x="867069" y="2092328"/>
                <a:chExt cx="420307" cy="1629271"/>
              </a:xfrm>
            </p:grpSpPr>
            <p:cxnSp>
              <p:nvCxnSpPr>
                <p:cNvPr id="84" name="直接箭头连接符 83"/>
                <p:cNvCxnSpPr/>
                <p:nvPr/>
              </p:nvCxnSpPr>
              <p:spPr>
                <a:xfrm flipH="1" flipV="1">
                  <a:off x="1070656" y="2400107"/>
                  <a:ext cx="3364" cy="13214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文本框 84"/>
                    <p:cNvSpPr txBox="1"/>
                    <p:nvPr/>
                  </p:nvSpPr>
                  <p:spPr>
                    <a:xfrm>
                      <a:off x="867069" y="2092328"/>
                      <a:ext cx="42030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𝑎</m:t>
                                </m:r>
                              </m:sub>
                            </m:sSub>
                          </m:oMath>
                        </m:oMathPara>
                      </a14:m>
                      <a:endParaRPr lang="zh-CN" altLang="en-US" sz="1400" dirty="0"/>
                    </a:p>
                  </p:txBody>
                </p:sp>
              </mc:Choice>
              <mc:Fallback xmlns="">
                <p:sp>
                  <p:nvSpPr>
                    <p:cNvPr id="85" name="文本框 84"/>
                    <p:cNvSpPr txBox="1">
                      <a:spLocks noRot="1" noChangeAspect="1" noMove="1" noResize="1" noEditPoints="1" noAdjustHandles="1" noChangeArrowheads="1" noChangeShapeType="1" noTextEdit="1"/>
                    </p:cNvSpPr>
                    <p:nvPr/>
                  </p:nvSpPr>
                  <p:spPr>
                    <a:xfrm>
                      <a:off x="867069" y="2092328"/>
                      <a:ext cx="420307" cy="307777"/>
                    </a:xfrm>
                    <a:prstGeom prst="rect">
                      <a:avLst/>
                    </a:prstGeom>
                    <a:blipFill rotWithShape="0">
                      <a:blip r:embed="rId12"/>
                      <a:stretch>
                        <a:fillRect/>
                      </a:stretch>
                    </a:blipFill>
                  </p:spPr>
                  <p:txBody>
                    <a:bodyPr/>
                    <a:lstStyle/>
                    <a:p>
                      <a:r>
                        <a:rPr lang="zh-CN" altLang="en-US">
                          <a:noFill/>
                        </a:rPr>
                        <a:t> </a:t>
                      </a:r>
                    </a:p>
                  </p:txBody>
                </p:sp>
              </mc:Fallback>
            </mc:AlternateContent>
          </p:grpSp>
          <p:grpSp>
            <p:nvGrpSpPr>
              <p:cNvPr id="86" name="组合 85"/>
              <p:cNvGrpSpPr/>
              <p:nvPr/>
            </p:nvGrpSpPr>
            <p:grpSpPr>
              <a:xfrm>
                <a:off x="3395664" y="5142435"/>
                <a:ext cx="2760512" cy="307777"/>
                <a:chOff x="1074020" y="3522969"/>
                <a:chExt cx="2760512" cy="307777"/>
              </a:xfrm>
            </p:grpSpPr>
            <p:cxnSp>
              <p:nvCxnSpPr>
                <p:cNvPr id="87" name="直接箭头连接符 86"/>
                <p:cNvCxnSpPr/>
                <p:nvPr/>
              </p:nvCxnSpPr>
              <p:spPr>
                <a:xfrm>
                  <a:off x="1074020" y="3721596"/>
                  <a:ext cx="2376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文本框 87"/>
                    <p:cNvSpPr txBox="1"/>
                    <p:nvPr/>
                  </p:nvSpPr>
                  <p:spPr>
                    <a:xfrm>
                      <a:off x="3375111" y="3522969"/>
                      <a:ext cx="45942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88" name="文本框 87"/>
                    <p:cNvSpPr txBox="1">
                      <a:spLocks noRot="1" noChangeAspect="1" noMove="1" noResize="1" noEditPoints="1" noAdjustHandles="1" noChangeArrowheads="1" noChangeShapeType="1" noTextEdit="1"/>
                    </p:cNvSpPr>
                    <p:nvPr/>
                  </p:nvSpPr>
                  <p:spPr>
                    <a:xfrm>
                      <a:off x="3375111" y="3522969"/>
                      <a:ext cx="459421" cy="307777"/>
                    </a:xfrm>
                    <a:prstGeom prst="rect">
                      <a:avLst/>
                    </a:prstGeom>
                    <a:blipFill rotWithShape="0">
                      <a:blip r:embed="rId13"/>
                      <a:stretch>
                        <a:fillRect/>
                      </a:stretch>
                    </a:blipFill>
                  </p:spPr>
                  <p:txBody>
                    <a:bodyPr/>
                    <a:lstStyle/>
                    <a:p>
                      <a:r>
                        <a:rPr lang="zh-CN" altLang="en-US">
                          <a:noFill/>
                        </a:rPr>
                        <a:t> </a:t>
                      </a:r>
                    </a:p>
                  </p:txBody>
                </p:sp>
              </mc:Fallback>
            </mc:AlternateContent>
          </p:grpSp>
          <p:cxnSp>
            <p:nvCxnSpPr>
              <p:cNvPr id="89" name="直接连接符 88"/>
              <p:cNvCxnSpPr/>
              <p:nvPr/>
            </p:nvCxnSpPr>
            <p:spPr>
              <a:xfrm flipH="1" flipV="1">
                <a:off x="5072646" y="4562314"/>
                <a:ext cx="481776" cy="7756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0" name="组合 89"/>
              <p:cNvGrpSpPr/>
              <p:nvPr/>
            </p:nvGrpSpPr>
            <p:grpSpPr>
              <a:xfrm>
                <a:off x="5410503" y="5289486"/>
                <a:ext cx="346570" cy="338501"/>
                <a:chOff x="4955439" y="3677145"/>
                <a:chExt cx="346570" cy="338501"/>
              </a:xfrm>
            </p:grpSpPr>
            <p:sp>
              <p:nvSpPr>
                <p:cNvPr id="91" name="椭圆 38"/>
                <p:cNvSpPr/>
                <p:nvPr/>
              </p:nvSpPr>
              <p:spPr>
                <a:xfrm>
                  <a:off x="5034460" y="3677145"/>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92" name="文本框 91"/>
                    <p:cNvSpPr txBox="1"/>
                    <p:nvPr/>
                  </p:nvSpPr>
                  <p:spPr>
                    <a:xfrm>
                      <a:off x="4955439" y="3707869"/>
                      <a:ext cx="3465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𝐶</m:t>
                            </m:r>
                          </m:oMath>
                        </m:oMathPara>
                      </a14:m>
                      <a:endParaRPr lang="zh-CN" altLang="en-US" sz="1400" dirty="0"/>
                    </a:p>
                  </p:txBody>
                </p:sp>
              </mc:Choice>
              <mc:Fallback xmlns="">
                <p:sp>
                  <p:nvSpPr>
                    <p:cNvPr id="92" name="文本框 91"/>
                    <p:cNvSpPr txBox="1">
                      <a:spLocks noRot="1" noChangeAspect="1" noMove="1" noResize="1" noEditPoints="1" noAdjustHandles="1" noChangeArrowheads="1" noChangeShapeType="1" noTextEdit="1"/>
                    </p:cNvSpPr>
                    <p:nvPr/>
                  </p:nvSpPr>
                  <p:spPr>
                    <a:xfrm>
                      <a:off x="4955439" y="3707869"/>
                      <a:ext cx="346570" cy="307777"/>
                    </a:xfrm>
                    <a:prstGeom prst="rect">
                      <a:avLst/>
                    </a:prstGeom>
                    <a:blipFill rotWithShape="0">
                      <a:blip r:embed="rId1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3" name="文本框 92"/>
                  <p:cNvSpPr txBox="1"/>
                  <p:nvPr/>
                </p:nvSpPr>
                <p:spPr>
                  <a:xfrm>
                    <a:off x="3205597" y="5305826"/>
                    <a:ext cx="3605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𝑂</m:t>
                          </m:r>
                        </m:oMath>
                      </m:oMathPara>
                    </a14:m>
                    <a:endParaRPr lang="zh-CN" altLang="en-US" sz="1400" dirty="0"/>
                  </a:p>
                </p:txBody>
              </p:sp>
            </mc:Choice>
            <mc:Fallback xmlns="">
              <p:sp>
                <p:nvSpPr>
                  <p:cNvPr id="93" name="文本框 92"/>
                  <p:cNvSpPr txBox="1">
                    <a:spLocks noRot="1" noChangeAspect="1" noMove="1" noResize="1" noEditPoints="1" noAdjustHandles="1" noChangeArrowheads="1" noChangeShapeType="1" noTextEdit="1"/>
                  </p:cNvSpPr>
                  <p:nvPr/>
                </p:nvSpPr>
                <p:spPr>
                  <a:xfrm>
                    <a:off x="3205597" y="5305826"/>
                    <a:ext cx="360548" cy="307777"/>
                  </a:xfrm>
                  <a:prstGeom prst="rect">
                    <a:avLst/>
                  </a:prstGeom>
                  <a:blipFill rotWithShape="0">
                    <a:blip r:embed="rId8"/>
                    <a:stretch>
                      <a:fillRect/>
                    </a:stretch>
                  </a:blipFill>
                </p:spPr>
                <p:txBody>
                  <a:bodyPr/>
                  <a:lstStyle/>
                  <a:p>
                    <a:r>
                      <a:rPr lang="zh-CN" altLang="en-US">
                        <a:noFill/>
                      </a:rPr>
                      <a:t> </a:t>
                    </a:r>
                  </a:p>
                </p:txBody>
              </p:sp>
            </mc:Fallback>
          </mc:AlternateContent>
          <p:cxnSp>
            <p:nvCxnSpPr>
              <p:cNvPr id="97" name="直接连接符 96"/>
              <p:cNvCxnSpPr/>
              <p:nvPr/>
            </p:nvCxnSpPr>
            <p:spPr>
              <a:xfrm flipH="1" flipV="1">
                <a:off x="3378052" y="4319431"/>
                <a:ext cx="1694594" cy="2482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6" name="组合 225"/>
              <p:cNvGrpSpPr/>
              <p:nvPr/>
            </p:nvGrpSpPr>
            <p:grpSpPr>
              <a:xfrm>
                <a:off x="5096743" y="5120340"/>
                <a:ext cx="615337" cy="407501"/>
                <a:chOff x="5096743" y="5120340"/>
                <a:chExt cx="615337" cy="407501"/>
              </a:xfrm>
            </p:grpSpPr>
            <mc:AlternateContent xmlns:mc="http://schemas.openxmlformats.org/markup-compatibility/2006" xmlns:a14="http://schemas.microsoft.com/office/drawing/2010/main">
              <mc:Choice Requires="a14">
                <p:sp>
                  <p:nvSpPr>
                    <p:cNvPr id="96" name="文本框 95"/>
                    <p:cNvSpPr txBox="1"/>
                    <p:nvPr/>
                  </p:nvSpPr>
                  <p:spPr>
                    <a:xfrm>
                      <a:off x="5096743" y="5120340"/>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96" name="文本框 95"/>
                    <p:cNvSpPr txBox="1">
                      <a:spLocks noRot="1" noChangeAspect="1" noMove="1" noResize="1" noEditPoints="1" noAdjustHandles="1" noChangeArrowheads="1" noChangeShapeType="1" noTextEdit="1"/>
                    </p:cNvSpPr>
                    <p:nvPr/>
                  </p:nvSpPr>
                  <p:spPr>
                    <a:xfrm>
                      <a:off x="5096743" y="5120340"/>
                      <a:ext cx="409086" cy="246221"/>
                    </a:xfrm>
                    <a:prstGeom prst="rect">
                      <a:avLst/>
                    </a:prstGeom>
                    <a:blipFill rotWithShape="0">
                      <a:blip r:embed="rId9"/>
                      <a:stretch>
                        <a:fillRect/>
                      </a:stretch>
                    </a:blipFill>
                  </p:spPr>
                  <p:txBody>
                    <a:bodyPr/>
                    <a:lstStyle/>
                    <a:p>
                      <a:r>
                        <a:rPr lang="zh-CN" altLang="en-US">
                          <a:noFill/>
                        </a:rPr>
                        <a:t> </a:t>
                      </a:r>
                    </a:p>
                  </p:txBody>
                </p:sp>
              </mc:Fallback>
            </mc:AlternateContent>
            <p:sp>
              <p:nvSpPr>
                <p:cNvPr id="217" name="弧形 216"/>
                <p:cNvSpPr/>
                <p:nvPr/>
              </p:nvSpPr>
              <p:spPr>
                <a:xfrm>
                  <a:off x="5374393" y="5189251"/>
                  <a:ext cx="337687" cy="338590"/>
                </a:xfrm>
                <a:prstGeom prst="arc">
                  <a:avLst>
                    <a:gd name="adj1" fmla="val 10925161"/>
                    <a:gd name="adj2" fmla="val 1479037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cxnSp>
        <p:nvCxnSpPr>
          <p:cNvPr id="196" name="直接连接符 195"/>
          <p:cNvCxnSpPr/>
          <p:nvPr/>
        </p:nvCxnSpPr>
        <p:spPr>
          <a:xfrm flipV="1">
            <a:off x="7781786" y="4878529"/>
            <a:ext cx="420328" cy="4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flipV="1">
            <a:off x="5068168" y="4589842"/>
            <a:ext cx="5350" cy="7565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462615" y="4574765"/>
            <a:ext cx="1668137" cy="7476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1"/>
          <p:cNvGrpSpPr/>
          <p:nvPr/>
        </p:nvGrpSpPr>
        <p:grpSpPr>
          <a:xfrm>
            <a:off x="323528" y="481236"/>
            <a:ext cx="5385362" cy="492443"/>
            <a:chOff x="323528" y="564857"/>
            <a:chExt cx="5385362" cy="492443"/>
          </a:xfrm>
        </p:grpSpPr>
        <p:sp>
          <p:nvSpPr>
            <p:cNvPr id="5" name="Text Box 5"/>
            <p:cNvSpPr txBox="1">
              <a:spLocks noChangeArrowheads="1"/>
            </p:cNvSpPr>
            <p:nvPr/>
          </p:nvSpPr>
          <p:spPr bwMode="auto">
            <a:xfrm>
              <a:off x="683568" y="564857"/>
              <a:ext cx="5025322"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单向稳定交变应力时的疲劳强度</a:t>
              </a:r>
              <a:endParaRPr lang="zh-CN" altLang="en-US" sz="2600"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15">
              <a:duotone>
                <a:prstClr val="black"/>
                <a:srgbClr val="00CC00">
                  <a:tint val="45000"/>
                  <a:satMod val="400000"/>
                </a:srgbClr>
              </a:duotone>
              <a:lum bright="-36000" contrast="100000"/>
            </a:blip>
            <a:srcRect/>
            <a:stretch>
              <a:fillRect/>
            </a:stretch>
          </p:blipFill>
          <p:spPr bwMode="auto">
            <a:xfrm rot="5400000">
              <a:off x="372720" y="655260"/>
              <a:ext cx="280840" cy="379223"/>
            </a:xfrm>
            <a:prstGeom prst="rect">
              <a:avLst/>
            </a:prstGeom>
            <a:noFill/>
            <a:ln w="9525">
              <a:solidFill>
                <a:schemeClr val="bg1"/>
              </a:solidFill>
              <a:miter lim="800000"/>
              <a:headEnd/>
              <a:tailEnd/>
            </a:ln>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零件的疲劳强度计算</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7" name="组合 246"/>
          <p:cNvGrpSpPr/>
          <p:nvPr/>
        </p:nvGrpSpPr>
        <p:grpSpPr>
          <a:xfrm>
            <a:off x="7066071" y="4574766"/>
            <a:ext cx="925195" cy="987626"/>
            <a:chOff x="7066071" y="4574766"/>
            <a:chExt cx="925195" cy="987626"/>
          </a:xfrm>
        </p:grpSpPr>
        <p:cxnSp>
          <p:nvCxnSpPr>
            <p:cNvPr id="135" name="直接连接符 134"/>
            <p:cNvCxnSpPr/>
            <p:nvPr/>
          </p:nvCxnSpPr>
          <p:spPr>
            <a:xfrm flipV="1">
              <a:off x="7285661" y="4574766"/>
              <a:ext cx="705605" cy="7716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6" name="组合 245"/>
            <p:cNvGrpSpPr/>
            <p:nvPr/>
          </p:nvGrpSpPr>
          <p:grpSpPr>
            <a:xfrm>
              <a:off x="7066071" y="5103242"/>
              <a:ext cx="747043" cy="459150"/>
              <a:chOff x="7066071" y="5103242"/>
              <a:chExt cx="747043" cy="459150"/>
            </a:xfrm>
          </p:grpSpPr>
          <p:sp>
            <p:nvSpPr>
              <p:cNvPr id="138" name="弧形 137"/>
              <p:cNvSpPr/>
              <p:nvPr/>
            </p:nvSpPr>
            <p:spPr>
              <a:xfrm>
                <a:off x="7066071" y="5130344"/>
                <a:ext cx="439179" cy="432048"/>
              </a:xfrm>
              <a:prstGeom prst="arc">
                <a:avLst>
                  <a:gd name="adj1" fmla="val 18919161"/>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9" name="文本框 138"/>
                  <p:cNvSpPr txBox="1"/>
                  <p:nvPr/>
                </p:nvSpPr>
                <p:spPr>
                  <a:xfrm>
                    <a:off x="7404028" y="5103242"/>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139" name="文本框 138"/>
                  <p:cNvSpPr txBox="1">
                    <a:spLocks noRot="1" noChangeAspect="1" noMove="1" noResize="1" noEditPoints="1" noAdjustHandles="1" noChangeArrowheads="1" noChangeShapeType="1" noTextEdit="1"/>
                  </p:cNvSpPr>
                  <p:nvPr/>
                </p:nvSpPr>
                <p:spPr>
                  <a:xfrm>
                    <a:off x="7404028" y="5103242"/>
                    <a:ext cx="409086" cy="246221"/>
                  </a:xfrm>
                  <a:prstGeom prst="rect">
                    <a:avLst/>
                  </a:prstGeom>
                  <a:blipFill rotWithShape="0">
                    <a:blip r:embed="rId16"/>
                    <a:stretch>
                      <a:fillRect/>
                    </a:stretch>
                  </a:blipFill>
                </p:spPr>
                <p:txBody>
                  <a:bodyPr/>
                  <a:lstStyle/>
                  <a:p>
                    <a:r>
                      <a:rPr lang="zh-CN" altLang="en-US">
                        <a:noFill/>
                      </a:rPr>
                      <a:t> </a:t>
                    </a:r>
                  </a:p>
                </p:txBody>
              </p:sp>
            </mc:Fallback>
          </mc:AlternateContent>
        </p:grpSp>
      </p:grpSp>
      <p:grpSp>
        <p:nvGrpSpPr>
          <p:cNvPr id="245" name="组合 244"/>
          <p:cNvGrpSpPr/>
          <p:nvPr/>
        </p:nvGrpSpPr>
        <p:grpSpPr>
          <a:xfrm>
            <a:off x="6108360" y="4438209"/>
            <a:ext cx="1092932" cy="1110306"/>
            <a:chOff x="6108360" y="4438209"/>
            <a:chExt cx="1092932" cy="1110306"/>
          </a:xfrm>
        </p:grpSpPr>
        <p:cxnSp>
          <p:nvCxnSpPr>
            <p:cNvPr id="131" name="直接连接符 130"/>
            <p:cNvCxnSpPr/>
            <p:nvPr/>
          </p:nvCxnSpPr>
          <p:spPr>
            <a:xfrm flipV="1">
              <a:off x="6322934" y="4438209"/>
              <a:ext cx="878358" cy="891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4" name="组合 243"/>
            <p:cNvGrpSpPr/>
            <p:nvPr/>
          </p:nvGrpSpPr>
          <p:grpSpPr>
            <a:xfrm>
              <a:off x="6108360" y="5081651"/>
              <a:ext cx="746728" cy="466864"/>
              <a:chOff x="6108360" y="5081651"/>
              <a:chExt cx="746728" cy="466864"/>
            </a:xfrm>
          </p:grpSpPr>
          <p:sp>
            <p:nvSpPr>
              <p:cNvPr id="137" name="弧形 136"/>
              <p:cNvSpPr/>
              <p:nvPr/>
            </p:nvSpPr>
            <p:spPr>
              <a:xfrm>
                <a:off x="6108360" y="5116467"/>
                <a:ext cx="439179" cy="432048"/>
              </a:xfrm>
              <a:prstGeom prst="arc">
                <a:avLst>
                  <a:gd name="adj1" fmla="val 18919161"/>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0" name="文本框 139"/>
                  <p:cNvSpPr txBox="1"/>
                  <p:nvPr/>
                </p:nvSpPr>
                <p:spPr>
                  <a:xfrm>
                    <a:off x="6446002" y="5081651"/>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140" name="文本框 139"/>
                  <p:cNvSpPr txBox="1">
                    <a:spLocks noRot="1" noChangeAspect="1" noMove="1" noResize="1" noEditPoints="1" noAdjustHandles="1" noChangeArrowheads="1" noChangeShapeType="1" noTextEdit="1"/>
                  </p:cNvSpPr>
                  <p:nvPr/>
                </p:nvSpPr>
                <p:spPr>
                  <a:xfrm>
                    <a:off x="6446002" y="5081651"/>
                    <a:ext cx="409086" cy="246221"/>
                  </a:xfrm>
                  <a:prstGeom prst="rect">
                    <a:avLst/>
                  </a:prstGeom>
                  <a:blipFill rotWithShape="0">
                    <a:blip r:embed="rId17"/>
                    <a:stretch>
                      <a:fillRect/>
                    </a:stretch>
                  </a:blipFill>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141" name="文本框 140"/>
              <p:cNvSpPr txBox="1"/>
              <p:nvPr/>
            </p:nvSpPr>
            <p:spPr>
              <a:xfrm>
                <a:off x="3491880" y="1554048"/>
                <a:ext cx="2071401" cy="6108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𝑆</m:t>
                          </m:r>
                        </m:e>
                        <m:sub>
                          <m:r>
                            <a:rPr lang="en-US" altLang="zh-CN" sz="1600" b="0" i="1" smtClean="0">
                              <a:latin typeface="Cambria Math" panose="02040503050406030204" pitchFamily="18" charset="0"/>
                            </a:rPr>
                            <m:t>𝑐𝑎</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i="1">
                                  <a:latin typeface="Cambria Math" panose="02040503050406030204" pitchFamily="18" charset="0"/>
                                </a:rPr>
                                <m:t>𝑙𝑖𝑚</m:t>
                              </m:r>
                            </m:sub>
                          </m:sSub>
                        </m:num>
                        <m:den>
                          <m:r>
                            <a:rPr lang="zh-CN" altLang="en-US" sz="1600" i="1">
                              <a:latin typeface="Cambria Math" panose="02040503050406030204" pitchFamily="18" charset="0"/>
                            </a:rPr>
                            <m:t>𝜎</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Sup>
                            <m:sSubSupPr>
                              <m:ctrlPr>
                                <a:rPr lang="en-US" altLang="zh-CN" sz="1600" i="1">
                                  <a:latin typeface="Cambria Math" panose="02040503050406030204" pitchFamily="18" charset="0"/>
                                </a:rPr>
                              </m:ctrlPr>
                            </m:sSubSupPr>
                            <m:e>
                              <m:r>
                                <a:rPr lang="zh-CN" altLang="en-US" sz="1600" i="1">
                                  <a:latin typeface="Cambria Math" panose="02040503050406030204" pitchFamily="18" charset="0"/>
                                </a:rPr>
                                <m:t>𝜎</m:t>
                              </m:r>
                            </m:e>
                            <m:sub>
                              <m:r>
                                <a:rPr lang="en-US" altLang="zh-CN" sz="1600" i="1">
                                  <a:latin typeface="Cambria Math" panose="02040503050406030204" pitchFamily="18" charset="0"/>
                                </a:rPr>
                                <m:t>𝑚𝑎𝑥</m:t>
                              </m:r>
                            </m:sub>
                            <m:sup>
                              <m:r>
                                <a:rPr lang="en-US" altLang="zh-CN" sz="1600" i="1">
                                  <a:latin typeface="Cambria Math" panose="02040503050406030204" pitchFamily="18" charset="0"/>
                                </a:rPr>
                                <m:t>′</m:t>
                              </m:r>
                            </m:sup>
                          </m:sSubSup>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𝑚𝑎𝑥</m:t>
                              </m:r>
                            </m:sub>
                          </m:sSub>
                        </m:den>
                      </m:f>
                      <m:r>
                        <a:rPr lang="en-US" altLang="zh-CN" sz="1600" b="0" i="1" smtClean="0">
                          <a:latin typeface="Cambria Math" panose="02040503050406030204" pitchFamily="18" charset="0"/>
                        </a:rPr>
                        <m:t>=</m:t>
                      </m:r>
                    </m:oMath>
                  </m:oMathPara>
                </a14:m>
                <a:endParaRPr lang="zh-CN" altLang="en-US" sz="1600" dirty="0"/>
              </a:p>
            </p:txBody>
          </p:sp>
        </mc:Choice>
        <mc:Fallback xmlns="">
          <p:sp>
            <p:nvSpPr>
              <p:cNvPr id="141" name="文本框 140"/>
              <p:cNvSpPr txBox="1">
                <a:spLocks noRot="1" noChangeAspect="1" noMove="1" noResize="1" noEditPoints="1" noAdjustHandles="1" noChangeArrowheads="1" noChangeShapeType="1" noTextEdit="1"/>
              </p:cNvSpPr>
              <p:nvPr/>
            </p:nvSpPr>
            <p:spPr>
              <a:xfrm>
                <a:off x="3491880" y="1554048"/>
                <a:ext cx="2071401" cy="610808"/>
              </a:xfrm>
              <a:prstGeom prst="rect">
                <a:avLst/>
              </a:prstGeom>
              <a:blipFill rotWithShape="0">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Text Box 5"/>
              <p:cNvSpPr txBox="1">
                <a:spLocks noChangeArrowheads="1"/>
              </p:cNvSpPr>
              <p:nvPr/>
            </p:nvSpPr>
            <p:spPr bwMode="auto">
              <a:xfrm>
                <a:off x="251521" y="1195448"/>
                <a:ext cx="3164224" cy="1006429"/>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kern="0" dirty="0" smtClean="0">
                    <a:latin typeface="黑体" pitchFamily="2" charset="-122"/>
                    <a:ea typeface="黑体" pitchFamily="2" charset="-122"/>
                  </a:rPr>
                  <a:t>根据工作平均应力</a:t>
                </a:r>
                <a14:m>
                  <m:oMath xmlns:m="http://schemas.openxmlformats.org/officeDocument/2006/math">
                    <m:sSub>
                      <m:sSubPr>
                        <m:ctrlPr>
                          <a:rPr lang="en-US" altLang="zh-CN" i="1" kern="0" smtClean="0">
                            <a:latin typeface="Cambria Math" panose="02040503050406030204" pitchFamily="18" charset="0"/>
                            <a:ea typeface="黑体" pitchFamily="2" charset="-122"/>
                          </a:rPr>
                        </m:ctrlPr>
                      </m:sSubPr>
                      <m:e>
                        <m:r>
                          <a:rPr lang="zh-CN" altLang="en-US" i="1" kern="0" smtClean="0">
                            <a:latin typeface="Cambria Math" panose="02040503050406030204" pitchFamily="18" charset="0"/>
                            <a:ea typeface="黑体" pitchFamily="2" charset="-122"/>
                          </a:rPr>
                          <m:t>𝜎</m:t>
                        </m:r>
                      </m:e>
                      <m:sub>
                        <m:r>
                          <a:rPr lang="en-US" altLang="zh-CN" b="0" i="1" kern="0" smtClean="0">
                            <a:latin typeface="Cambria Math" panose="02040503050406030204" pitchFamily="18" charset="0"/>
                            <a:ea typeface="黑体" pitchFamily="2" charset="-122"/>
                          </a:rPr>
                          <m:t>𝑚</m:t>
                        </m:r>
                      </m:sub>
                    </m:sSub>
                  </m:oMath>
                </a14:m>
                <a:r>
                  <a:rPr lang="zh-CN" altLang="en-US" kern="0" dirty="0" smtClean="0">
                    <a:latin typeface="黑体" pitchFamily="2" charset="-122"/>
                    <a:ea typeface="黑体" pitchFamily="2" charset="-122"/>
                  </a:rPr>
                  <a:t>及工作应力幅</a:t>
                </a:r>
                <a14:m>
                  <m:oMath xmlns:m="http://schemas.openxmlformats.org/officeDocument/2006/math">
                    <m:sSub>
                      <m:sSubPr>
                        <m:ctrlPr>
                          <a:rPr lang="en-US" altLang="zh-CN" i="1" kern="0" smtClean="0">
                            <a:latin typeface="Cambria Math" panose="02040503050406030204" pitchFamily="18" charset="0"/>
                            <a:ea typeface="黑体" pitchFamily="2" charset="-122"/>
                          </a:rPr>
                        </m:ctrlPr>
                      </m:sSubPr>
                      <m:e>
                        <m:r>
                          <a:rPr lang="zh-CN" altLang="en-US" i="1" kern="0" smtClean="0">
                            <a:latin typeface="Cambria Math" panose="02040503050406030204" pitchFamily="18" charset="0"/>
                            <a:ea typeface="黑体" pitchFamily="2" charset="-122"/>
                          </a:rPr>
                          <m:t>𝜎</m:t>
                        </m:r>
                      </m:e>
                      <m:sub>
                        <m:r>
                          <a:rPr lang="en-US" altLang="zh-CN" b="0" i="1" kern="0" smtClean="0">
                            <a:latin typeface="Cambria Math" panose="02040503050406030204" pitchFamily="18" charset="0"/>
                            <a:ea typeface="黑体" pitchFamily="2" charset="-122"/>
                          </a:rPr>
                          <m:t>𝑎</m:t>
                        </m:r>
                      </m:sub>
                    </m:sSub>
                  </m:oMath>
                </a14:m>
                <a:r>
                  <a:rPr lang="zh-CN" altLang="en-US" kern="0" dirty="0" smtClean="0">
                    <a:latin typeface="黑体" pitchFamily="2" charset="-122"/>
                    <a:ea typeface="黑体" pitchFamily="2" charset="-122"/>
                  </a:rPr>
                  <a:t>，标出工作应力点</a:t>
                </a:r>
                <a14:m>
                  <m:oMath xmlns:m="http://schemas.openxmlformats.org/officeDocument/2006/math">
                    <m:r>
                      <a:rPr lang="en-US" altLang="zh-CN" b="0" i="1" kern="0" smtClean="0">
                        <a:latin typeface="Cambria Math" panose="02040503050406030204" pitchFamily="18" charset="0"/>
                        <a:ea typeface="黑体" pitchFamily="2" charset="-122"/>
                      </a:rPr>
                      <m:t>𝑀</m:t>
                    </m:r>
                    <m:r>
                      <a:rPr lang="en-US" altLang="zh-CN" b="0" i="1" kern="0" smtClean="0">
                        <a:latin typeface="Cambria Math" panose="02040503050406030204" pitchFamily="18" charset="0"/>
                        <a:ea typeface="黑体" pitchFamily="2" charset="-122"/>
                      </a:rPr>
                      <m:t>(</m:t>
                    </m:r>
                    <m:sSub>
                      <m:sSubPr>
                        <m:ctrlPr>
                          <a:rPr lang="en-US" altLang="zh-CN" i="1" kern="0">
                            <a:latin typeface="Cambria Math" panose="02040503050406030204" pitchFamily="18" charset="0"/>
                            <a:ea typeface="黑体" pitchFamily="2" charset="-122"/>
                          </a:rPr>
                        </m:ctrlPr>
                      </m:sSubPr>
                      <m:e>
                        <m:r>
                          <a:rPr lang="zh-CN" altLang="en-US" i="1" kern="0">
                            <a:latin typeface="Cambria Math" panose="02040503050406030204" pitchFamily="18" charset="0"/>
                            <a:ea typeface="黑体" pitchFamily="2" charset="-122"/>
                          </a:rPr>
                          <m:t>𝜎</m:t>
                        </m:r>
                      </m:e>
                      <m:sub>
                        <m:r>
                          <a:rPr lang="en-US" altLang="zh-CN" i="1" kern="0">
                            <a:latin typeface="Cambria Math" panose="02040503050406030204" pitchFamily="18" charset="0"/>
                            <a:ea typeface="黑体" pitchFamily="2" charset="-122"/>
                          </a:rPr>
                          <m:t>𝑚</m:t>
                        </m:r>
                      </m:sub>
                    </m:sSub>
                    <m:r>
                      <a:rPr lang="en-US" altLang="zh-CN" b="0" i="1" kern="0" smtClean="0">
                        <a:latin typeface="Cambria Math" panose="02040503050406030204" pitchFamily="18" charset="0"/>
                        <a:ea typeface="黑体" pitchFamily="2" charset="-122"/>
                      </a:rPr>
                      <m:t>,</m:t>
                    </m:r>
                    <m:sSub>
                      <m:sSubPr>
                        <m:ctrlPr>
                          <a:rPr lang="en-US" altLang="zh-CN" i="1" kern="0">
                            <a:latin typeface="Cambria Math" panose="02040503050406030204" pitchFamily="18" charset="0"/>
                            <a:ea typeface="黑体" pitchFamily="2" charset="-122"/>
                          </a:rPr>
                        </m:ctrlPr>
                      </m:sSubPr>
                      <m:e>
                        <m:r>
                          <a:rPr lang="zh-CN" altLang="en-US" i="1" kern="0">
                            <a:latin typeface="Cambria Math" panose="02040503050406030204" pitchFamily="18" charset="0"/>
                            <a:ea typeface="黑体" pitchFamily="2" charset="-122"/>
                          </a:rPr>
                          <m:t>𝜎</m:t>
                        </m:r>
                      </m:e>
                      <m:sub>
                        <m:r>
                          <a:rPr lang="en-US" altLang="zh-CN" i="1" kern="0">
                            <a:latin typeface="Cambria Math" panose="02040503050406030204" pitchFamily="18" charset="0"/>
                            <a:ea typeface="黑体" pitchFamily="2" charset="-122"/>
                          </a:rPr>
                          <m:t>𝑎</m:t>
                        </m:r>
                      </m:sub>
                    </m:sSub>
                    <m:r>
                      <a:rPr lang="en-US" altLang="zh-CN" b="0" i="1" kern="0" smtClean="0">
                        <a:latin typeface="Cambria Math" panose="02040503050406030204" pitchFamily="18" charset="0"/>
                        <a:ea typeface="黑体" pitchFamily="2" charset="-122"/>
                      </a:rPr>
                      <m:t>)</m:t>
                    </m:r>
                  </m:oMath>
                </a14:m>
                <a:r>
                  <a:rPr lang="en-US" altLang="zh-CN" kern="0" dirty="0" smtClean="0">
                    <a:latin typeface="黑体" pitchFamily="2" charset="-122"/>
                    <a:ea typeface="黑体" pitchFamily="2" charset="-122"/>
                  </a:rPr>
                  <a:t>(</a:t>
                </a:r>
                <a:r>
                  <a:rPr lang="zh-CN" altLang="en-US" kern="0" dirty="0" smtClean="0">
                    <a:latin typeface="黑体" pitchFamily="2" charset="-122"/>
                    <a:ea typeface="黑体" pitchFamily="2" charset="-122"/>
                  </a:rPr>
                  <a:t>或</a:t>
                </a:r>
                <a14:m>
                  <m:oMath xmlns:m="http://schemas.openxmlformats.org/officeDocument/2006/math">
                    <m:r>
                      <a:rPr lang="en-US" altLang="zh-CN" b="0" i="1" kern="0" dirty="0" smtClean="0">
                        <a:latin typeface="Cambria Math" panose="02040503050406030204" pitchFamily="18" charset="0"/>
                        <a:ea typeface="黑体" pitchFamily="2" charset="-122"/>
                      </a:rPr>
                      <m:t>𝑁</m:t>
                    </m:r>
                  </m:oMath>
                </a14:m>
                <a:r>
                  <a:rPr lang="en-US" altLang="zh-CN" kern="0" dirty="0" smtClean="0">
                    <a:latin typeface="黑体" pitchFamily="2" charset="-122"/>
                    <a:ea typeface="黑体" pitchFamily="2" charset="-122"/>
                  </a:rPr>
                  <a:t>)</a:t>
                </a:r>
                <a:r>
                  <a:rPr lang="zh-CN" altLang="en-US" kern="0" dirty="0" smtClean="0">
                    <a:latin typeface="黑体" pitchFamily="2" charset="-122"/>
                    <a:ea typeface="黑体" pitchFamily="2" charset="-122"/>
                  </a:rPr>
                  <a:t>；</a:t>
                </a:r>
                <a:endParaRPr lang="zh-CN" altLang="en-US" dirty="0">
                  <a:latin typeface="华文细黑" panose="02010600040101010101" pitchFamily="2" charset="-122"/>
                  <a:ea typeface="华文细黑" panose="02010600040101010101" pitchFamily="2" charset="-122"/>
                </a:endParaRPr>
              </a:p>
            </p:txBody>
          </p:sp>
        </mc:Choice>
        <mc:Fallback xmlns="">
          <p:sp>
            <p:nvSpPr>
              <p:cNvPr id="142" name="Text Box 5"/>
              <p:cNvSpPr txBox="1">
                <a:spLocks noRot="1" noChangeAspect="1" noMove="1" noResize="1" noEditPoints="1" noAdjustHandles="1" noChangeArrowheads="1" noChangeShapeType="1" noTextEdit="1"/>
              </p:cNvSpPr>
              <p:nvPr/>
            </p:nvSpPr>
            <p:spPr bwMode="auto">
              <a:xfrm>
                <a:off x="251521" y="1195448"/>
                <a:ext cx="3164224" cy="1006429"/>
              </a:xfrm>
              <a:prstGeom prst="rect">
                <a:avLst/>
              </a:prstGeom>
              <a:blipFill rotWithShape="0">
                <a:blip r:embed="rId19"/>
                <a:stretch>
                  <a:fillRect l="-1156" t="-4242" r="-1734" b="-4848"/>
                </a:stretch>
              </a:blipFill>
              <a:ln w="9525" algn="ctr">
                <a:noFill/>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 name="Text Box 5"/>
              <p:cNvSpPr txBox="1">
                <a:spLocks noChangeArrowheads="1"/>
              </p:cNvSpPr>
              <p:nvPr/>
            </p:nvSpPr>
            <p:spPr bwMode="auto">
              <a:xfrm>
                <a:off x="251520" y="2427135"/>
                <a:ext cx="3164225" cy="1006429"/>
              </a:xfrm>
              <a:prstGeom prst="rect">
                <a:avLst/>
              </a:prstGeom>
              <a:noFill/>
              <a:ln w="9525" algn="ctr">
                <a:noFill/>
                <a:miter lim="800000"/>
              </a:ln>
              <a:effectLst/>
            </p:spPr>
            <p:txBody>
              <a:bodyPr wrap="square">
                <a:spAutoFit/>
              </a:bodyPr>
              <a:lstStyle/>
              <a:p>
                <a:pPr marL="342900" indent="-342900" algn="just">
                  <a:lnSpc>
                    <a:spcPct val="110000"/>
                  </a:lnSpc>
                  <a:spcBef>
                    <a:spcPct val="50000"/>
                  </a:spcBef>
                  <a:buClr>
                    <a:srgbClr val="C00000"/>
                  </a:buClr>
                  <a:buFont typeface="Wingdings" panose="05000000000000000000" pitchFamily="2" charset="2"/>
                  <a:buChar char="l"/>
                </a:pPr>
                <a:r>
                  <a:rPr lang="zh-CN" altLang="en-US" kern="0" dirty="0" smtClean="0">
                    <a:latin typeface="黑体" pitchFamily="2" charset="-122"/>
                    <a:ea typeface="黑体" pitchFamily="2" charset="-122"/>
                  </a:rPr>
                  <a:t>根据零件工作应力变化规律在极限应力线</a:t>
                </a:r>
                <a:r>
                  <a:rPr lang="en-US" altLang="zh-CN" kern="0" dirty="0" smtClean="0">
                    <a:latin typeface="黑体" pitchFamily="2" charset="-122"/>
                    <a:ea typeface="黑体" pitchFamily="2" charset="-122"/>
                  </a:rPr>
                  <a:t>AGC</a:t>
                </a:r>
                <a:r>
                  <a:rPr lang="zh-CN" altLang="en-US" kern="0" dirty="0" smtClean="0">
                    <a:latin typeface="黑体" pitchFamily="2" charset="-122"/>
                    <a:ea typeface="黑体" pitchFamily="2" charset="-122"/>
                  </a:rPr>
                  <a:t>上定出极限应力点</a:t>
                </a:r>
                <a14:m>
                  <m:oMath xmlns:m="http://schemas.openxmlformats.org/officeDocument/2006/math">
                    <m:r>
                      <a:rPr lang="en-US" altLang="zh-CN" b="0" i="1" kern="0" smtClean="0">
                        <a:latin typeface="Cambria Math" panose="02040503050406030204" pitchFamily="18" charset="0"/>
                        <a:ea typeface="黑体" pitchFamily="2" charset="-122"/>
                      </a:rPr>
                      <m:t>𝑀</m:t>
                    </m:r>
                    <m:r>
                      <a:rPr lang="en-US" altLang="zh-CN" b="0" i="1" kern="0" smtClean="0">
                        <a:latin typeface="Cambria Math" panose="02040503050406030204" pitchFamily="18" charset="0"/>
                        <a:ea typeface="黑体" pitchFamily="2" charset="-122"/>
                      </a:rPr>
                      <m:t>′</m:t>
                    </m:r>
                  </m:oMath>
                </a14:m>
                <a:r>
                  <a:rPr lang="zh-CN" altLang="en-US" kern="0" dirty="0" smtClean="0">
                    <a:latin typeface="黑体" pitchFamily="2" charset="-122"/>
                    <a:ea typeface="黑体" pitchFamily="2" charset="-122"/>
                  </a:rPr>
                  <a:t>或</a:t>
                </a:r>
                <a14:m>
                  <m:oMath xmlns:m="http://schemas.openxmlformats.org/officeDocument/2006/math">
                    <m:r>
                      <a:rPr lang="en-US" altLang="zh-CN" b="0" i="1" kern="0" dirty="0" smtClean="0">
                        <a:latin typeface="Cambria Math" panose="02040503050406030204" pitchFamily="18" charset="0"/>
                        <a:ea typeface="黑体" pitchFamily="2" charset="-122"/>
                      </a:rPr>
                      <m:t>𝑁</m:t>
                    </m:r>
                    <m:r>
                      <a:rPr lang="en-US" altLang="zh-CN" b="0" i="1" kern="0" dirty="0" smtClean="0">
                        <a:latin typeface="Cambria Math" panose="02040503050406030204" pitchFamily="18" charset="0"/>
                        <a:ea typeface="黑体" pitchFamily="2" charset="-122"/>
                      </a:rPr>
                      <m:t>′</m:t>
                    </m:r>
                  </m:oMath>
                </a14:m>
                <a:r>
                  <a:rPr lang="zh-CN" altLang="en-US" kern="0" dirty="0" smtClean="0">
                    <a:latin typeface="黑体" pitchFamily="2" charset="-122"/>
                    <a:ea typeface="黑体" pitchFamily="2" charset="-122"/>
                  </a:rPr>
                  <a:t>；</a:t>
                </a:r>
                <a:endParaRPr lang="zh-CN" altLang="en-US" dirty="0">
                  <a:latin typeface="华文细黑" panose="02010600040101010101" pitchFamily="2" charset="-122"/>
                  <a:ea typeface="华文细黑" panose="02010600040101010101" pitchFamily="2" charset="-122"/>
                </a:endParaRPr>
              </a:p>
            </p:txBody>
          </p:sp>
        </mc:Choice>
        <mc:Fallback xmlns="">
          <p:sp>
            <p:nvSpPr>
              <p:cNvPr id="143" name="Text Box 5"/>
              <p:cNvSpPr txBox="1">
                <a:spLocks noRot="1" noChangeAspect="1" noMove="1" noResize="1" noEditPoints="1" noAdjustHandles="1" noChangeArrowheads="1" noChangeShapeType="1" noTextEdit="1"/>
              </p:cNvSpPr>
              <p:nvPr/>
            </p:nvSpPr>
            <p:spPr bwMode="auto">
              <a:xfrm>
                <a:off x="251520" y="2427135"/>
                <a:ext cx="3164225" cy="1006429"/>
              </a:xfrm>
              <a:prstGeom prst="rect">
                <a:avLst/>
              </a:prstGeom>
              <a:blipFill rotWithShape="0">
                <a:blip r:embed="rId20"/>
                <a:stretch>
                  <a:fillRect l="-1156" t="-4242" r="-1734" b="-4848"/>
                </a:stretch>
              </a:blipFill>
              <a:ln w="9525" algn="ctr">
                <a:noFill/>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5" name="文本框 144"/>
              <p:cNvSpPr txBox="1"/>
              <p:nvPr/>
            </p:nvSpPr>
            <p:spPr>
              <a:xfrm>
                <a:off x="5691444" y="1453928"/>
                <a:ext cx="2346219" cy="6050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rPr>
                                <m:t>ψ</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m:t>
                              </m:r>
                            </m:sub>
                          </m:sSub>
                          <m:r>
                            <a:rPr lang="en-US" altLang="zh-CN" sz="1600" b="0" i="1" smtClean="0">
                              <a:latin typeface="Cambria Math" panose="02040503050406030204" pitchFamily="18" charset="0"/>
                            </a:rPr>
                            <m:t>)</m:t>
                          </m:r>
                        </m:den>
                      </m:f>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𝑆</m:t>
                      </m:r>
                    </m:oMath>
                  </m:oMathPara>
                </a14:m>
                <a:endParaRPr lang="zh-CN" altLang="en-US" sz="1600" dirty="0"/>
              </a:p>
            </p:txBody>
          </p:sp>
        </mc:Choice>
        <mc:Fallback xmlns="">
          <p:sp>
            <p:nvSpPr>
              <p:cNvPr id="145" name="文本框 144"/>
              <p:cNvSpPr txBox="1">
                <a:spLocks noRot="1" noChangeAspect="1" noMove="1" noResize="1" noEditPoints="1" noAdjustHandles="1" noChangeArrowheads="1" noChangeShapeType="1" noTextEdit="1"/>
              </p:cNvSpPr>
              <p:nvPr/>
            </p:nvSpPr>
            <p:spPr>
              <a:xfrm>
                <a:off x="5691444" y="1453928"/>
                <a:ext cx="2346219" cy="605037"/>
              </a:xfrm>
              <a:prstGeom prst="rect">
                <a:avLst/>
              </a:prstGeom>
              <a:blipFill rotWithShape="0">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6" name="文本框 145"/>
              <p:cNvSpPr txBox="1"/>
              <p:nvPr/>
            </p:nvSpPr>
            <p:spPr>
              <a:xfrm>
                <a:off x="5644651" y="2273672"/>
                <a:ext cx="2821350" cy="6050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2</m:t>
                              </m:r>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rPr>
                                <m:t>ψ</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𝑚𝑖𝑛</m:t>
                              </m:r>
                            </m:sub>
                          </m:sSub>
                        </m:num>
                        <m:den>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rPr>
                                <m:t>ψ</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r>
                            <a:rPr lang="en-US" altLang="zh-CN" sz="1600" i="1" smtClean="0">
                              <a:latin typeface="Cambria Math" panose="02040503050406030204" pitchFamily="18" charset="0"/>
                            </a:rPr>
                            <m:t> </m:t>
                          </m:r>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𝑚𝑖𝑛</m:t>
                              </m:r>
                            </m:sub>
                          </m:sSub>
                          <m:r>
                            <a:rPr lang="en-US" altLang="zh-CN" sz="1600" b="0" i="1" smtClean="0">
                              <a:latin typeface="Cambria Math" panose="02040503050406030204" pitchFamily="18" charset="0"/>
                            </a:rPr>
                            <m:t>)</m:t>
                          </m:r>
                        </m:den>
                      </m:f>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𝑆</m:t>
                      </m:r>
                    </m:oMath>
                  </m:oMathPara>
                </a14:m>
                <a:endParaRPr lang="zh-CN" altLang="en-US" sz="1600" dirty="0"/>
              </a:p>
            </p:txBody>
          </p:sp>
        </mc:Choice>
        <mc:Fallback xmlns="">
          <p:sp>
            <p:nvSpPr>
              <p:cNvPr id="146" name="文本框 145"/>
              <p:cNvSpPr txBox="1">
                <a:spLocks noRot="1" noChangeAspect="1" noMove="1" noResize="1" noEditPoints="1" noAdjustHandles="1" noChangeArrowheads="1" noChangeShapeType="1" noTextEdit="1"/>
              </p:cNvSpPr>
              <p:nvPr/>
            </p:nvSpPr>
            <p:spPr>
              <a:xfrm>
                <a:off x="5644651" y="2273672"/>
                <a:ext cx="2821350" cy="605037"/>
              </a:xfrm>
              <a:prstGeom prst="rect">
                <a:avLst/>
              </a:prstGeom>
              <a:blipFill rotWithShape="0">
                <a:blip r:embed="rId22"/>
                <a:stretch>
                  <a:fillRect/>
                </a:stretch>
              </a:blipFill>
            </p:spPr>
            <p:txBody>
              <a:bodyPr/>
              <a:lstStyle/>
              <a:p>
                <a:r>
                  <a:rPr lang="zh-CN" altLang="en-US">
                    <a:noFill/>
                  </a:rPr>
                  <a:t> </a:t>
                </a:r>
              </a:p>
            </p:txBody>
          </p:sp>
        </mc:Fallback>
      </mc:AlternateContent>
      <p:grpSp>
        <p:nvGrpSpPr>
          <p:cNvPr id="235" name="组合 234"/>
          <p:cNvGrpSpPr/>
          <p:nvPr/>
        </p:nvGrpSpPr>
        <p:grpSpPr>
          <a:xfrm>
            <a:off x="5527838" y="724004"/>
            <a:ext cx="1998384" cy="2088232"/>
            <a:chOff x="5527838" y="724004"/>
            <a:chExt cx="1998384" cy="2088232"/>
          </a:xfrm>
        </p:grpSpPr>
        <mc:AlternateContent xmlns:mc="http://schemas.openxmlformats.org/markup-compatibility/2006" xmlns:a14="http://schemas.microsoft.com/office/drawing/2010/main">
          <mc:Choice Requires="a14">
            <p:sp>
              <p:nvSpPr>
                <p:cNvPr id="144" name="文本框 143"/>
                <p:cNvSpPr txBox="1"/>
                <p:nvPr/>
              </p:nvSpPr>
              <p:spPr>
                <a:xfrm>
                  <a:off x="5693926" y="724004"/>
                  <a:ext cx="1832296" cy="5539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i="1" smtClean="0">
                                    <a:latin typeface="Cambria Math" panose="02040503050406030204" pitchFamily="18" charset="0"/>
                                  </a:rPr>
                                  <m:t>𝜎</m:t>
                                </m:r>
                              </m:sub>
                            </m:sSub>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rPr>
                                  <m:t>ψ</m:t>
                                </m:r>
                              </m:e>
                              <m:sub>
                                <m:r>
                                  <a:rPr lang="zh-CN" altLang="en-US" sz="1600" b="0" i="1" smtClean="0">
                                    <a:latin typeface="Cambria Math" panose="02040503050406030204" pitchFamily="18" charset="0"/>
                                  </a:rPr>
                                  <m:t>𝜎</m:t>
                                </m:r>
                              </m:sub>
                            </m:sSub>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m:t>
                                </m:r>
                              </m:sub>
                            </m:sSub>
                          </m:den>
                        </m:f>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𝑆</m:t>
                        </m:r>
                      </m:oMath>
                    </m:oMathPara>
                  </a14:m>
                  <a:endParaRPr lang="zh-CN" altLang="en-US" sz="1600" dirty="0"/>
                </a:p>
              </p:txBody>
            </p:sp>
          </mc:Choice>
          <mc:Fallback xmlns="">
            <p:sp>
              <p:nvSpPr>
                <p:cNvPr id="144" name="文本框 143"/>
                <p:cNvSpPr txBox="1">
                  <a:spLocks noRot="1" noChangeAspect="1" noMove="1" noResize="1" noEditPoints="1" noAdjustHandles="1" noChangeArrowheads="1" noChangeShapeType="1" noTextEdit="1"/>
                </p:cNvSpPr>
                <p:nvPr/>
              </p:nvSpPr>
              <p:spPr>
                <a:xfrm>
                  <a:off x="5693926" y="724004"/>
                  <a:ext cx="1832296" cy="553934"/>
                </a:xfrm>
                <a:prstGeom prst="rect">
                  <a:avLst/>
                </a:prstGeom>
                <a:blipFill rotWithShape="0">
                  <a:blip r:embed="rId23"/>
                  <a:stretch>
                    <a:fillRect b="-6593"/>
                  </a:stretch>
                </a:blipFill>
              </p:spPr>
              <p:txBody>
                <a:bodyPr/>
                <a:lstStyle/>
                <a:p>
                  <a:r>
                    <a:rPr lang="zh-CN" altLang="en-US">
                      <a:noFill/>
                    </a:rPr>
                    <a:t> </a:t>
                  </a:r>
                </a:p>
              </p:txBody>
            </p:sp>
          </mc:Fallback>
        </mc:AlternateContent>
        <p:sp>
          <p:nvSpPr>
            <p:cNvPr id="147" name="左大括号 146"/>
            <p:cNvSpPr/>
            <p:nvPr/>
          </p:nvSpPr>
          <p:spPr>
            <a:xfrm>
              <a:off x="5527838" y="917099"/>
              <a:ext cx="211118" cy="189513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49" name="文本框 148"/>
          <p:cNvSpPr txBox="1"/>
          <p:nvPr/>
        </p:nvSpPr>
        <p:spPr>
          <a:xfrm>
            <a:off x="3491880" y="1253600"/>
            <a:ext cx="2026517" cy="338554"/>
          </a:xfrm>
          <a:prstGeom prst="rect">
            <a:avLst/>
          </a:prstGeom>
          <a:noFill/>
        </p:spPr>
        <p:txBody>
          <a:bodyPr wrap="none" rtlCol="0">
            <a:spAutoFit/>
          </a:bodyPr>
          <a:lstStyle/>
          <a:p>
            <a:r>
              <a:rPr lang="en-US" altLang="zh-CN" sz="1600" dirty="0" smtClean="0">
                <a:solidFill>
                  <a:srgbClr val="FF0000"/>
                </a:solidFill>
                <a:latin typeface="+mn-ea"/>
                <a:ea typeface="+mn-ea"/>
              </a:rPr>
              <a:t>M</a:t>
            </a:r>
            <a:r>
              <a:rPr lang="zh-CN" altLang="en-US" sz="1600" dirty="0" smtClean="0">
                <a:solidFill>
                  <a:srgbClr val="FF0000"/>
                </a:solidFill>
                <a:latin typeface="+mn-ea"/>
                <a:ea typeface="+mn-ea"/>
              </a:rPr>
              <a:t>点的疲劳强度计算</a:t>
            </a:r>
            <a:endParaRPr lang="zh-CN" altLang="en-US" sz="1600" dirty="0">
              <a:solidFill>
                <a:srgbClr val="FF0000"/>
              </a:solidFill>
              <a:latin typeface="+mn-ea"/>
              <a:ea typeface="+mn-ea"/>
            </a:endParaRPr>
          </a:p>
        </p:txBody>
      </p:sp>
      <p:sp>
        <p:nvSpPr>
          <p:cNvPr id="150" name="文本框 149"/>
          <p:cNvSpPr txBox="1"/>
          <p:nvPr/>
        </p:nvSpPr>
        <p:spPr>
          <a:xfrm>
            <a:off x="3485432" y="3109988"/>
            <a:ext cx="1787669" cy="338554"/>
          </a:xfrm>
          <a:prstGeom prst="rect">
            <a:avLst/>
          </a:prstGeom>
          <a:noFill/>
        </p:spPr>
        <p:txBody>
          <a:bodyPr wrap="none" rtlCol="0">
            <a:spAutoFit/>
          </a:bodyPr>
          <a:lstStyle/>
          <a:p>
            <a:r>
              <a:rPr lang="en-US" altLang="zh-CN" sz="1600" dirty="0" smtClean="0">
                <a:solidFill>
                  <a:srgbClr val="FF0000"/>
                </a:solidFill>
                <a:latin typeface="+mn-ea"/>
                <a:ea typeface="+mn-ea"/>
              </a:rPr>
              <a:t>N</a:t>
            </a:r>
            <a:r>
              <a:rPr lang="zh-CN" altLang="en-US" sz="1600" dirty="0" smtClean="0">
                <a:solidFill>
                  <a:srgbClr val="FF0000"/>
                </a:solidFill>
                <a:latin typeface="+mn-ea"/>
                <a:ea typeface="+mn-ea"/>
              </a:rPr>
              <a:t>点的静强度计算</a:t>
            </a:r>
            <a:endParaRPr lang="zh-CN" altLang="en-US" sz="1600" dirty="0">
              <a:solidFill>
                <a:srgbClr val="FF0000"/>
              </a:solidFill>
              <a:latin typeface="+mn-ea"/>
              <a:ea typeface="+mn-ea"/>
            </a:endParaRPr>
          </a:p>
        </p:txBody>
      </p:sp>
      <mc:AlternateContent xmlns:mc="http://schemas.openxmlformats.org/markup-compatibility/2006" xmlns:a14="http://schemas.microsoft.com/office/drawing/2010/main">
        <mc:Choice Requires="a14">
          <p:sp>
            <p:nvSpPr>
              <p:cNvPr id="151" name="文本框 150"/>
              <p:cNvSpPr txBox="1"/>
              <p:nvPr/>
            </p:nvSpPr>
            <p:spPr>
              <a:xfrm>
                <a:off x="5323912" y="3016389"/>
                <a:ext cx="3317255" cy="55393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𝑆</m:t>
                          </m:r>
                        </m:e>
                        <m:sub>
                          <m:r>
                            <a:rPr lang="en-US" altLang="zh-CN" sz="1600" b="0" i="1" smtClean="0">
                              <a:latin typeface="Cambria Math" panose="02040503050406030204" pitchFamily="18" charset="0"/>
                            </a:rPr>
                            <m:t>𝑐𝑎</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i="1">
                                  <a:latin typeface="Cambria Math" panose="02040503050406030204" pitchFamily="18" charset="0"/>
                                </a:rPr>
                                <m:t>𝑙𝑖𝑚</m:t>
                              </m:r>
                            </m:sub>
                          </m:sSub>
                        </m:num>
                        <m:den>
                          <m:r>
                            <a:rPr lang="zh-CN" altLang="en-US" sz="1600" i="1">
                              <a:latin typeface="Cambria Math" panose="02040503050406030204" pitchFamily="18" charset="0"/>
                            </a:rPr>
                            <m:t>𝜎</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𝑠</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𝑚𝑎𝑥</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i="1">
                                  <a:latin typeface="Cambria Math" panose="02040503050406030204" pitchFamily="18" charset="0"/>
                                </a:rPr>
                                <m:t>𝑠</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𝑎</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𝑚</m:t>
                              </m:r>
                            </m:sub>
                          </m:sSub>
                        </m:den>
                      </m:f>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𝑆</m:t>
                      </m:r>
                    </m:oMath>
                  </m:oMathPara>
                </a14:m>
                <a:endParaRPr lang="zh-CN" altLang="en-US" sz="1600" dirty="0"/>
              </a:p>
            </p:txBody>
          </p:sp>
        </mc:Choice>
        <mc:Fallback xmlns="">
          <p:sp>
            <p:nvSpPr>
              <p:cNvPr id="151" name="文本框 150"/>
              <p:cNvSpPr txBox="1">
                <a:spLocks noRot="1" noChangeAspect="1" noMove="1" noResize="1" noEditPoints="1" noAdjustHandles="1" noChangeArrowheads="1" noChangeShapeType="1" noTextEdit="1"/>
              </p:cNvSpPr>
              <p:nvPr/>
            </p:nvSpPr>
            <p:spPr>
              <a:xfrm>
                <a:off x="5323912" y="3016389"/>
                <a:ext cx="3317255" cy="553934"/>
              </a:xfrm>
              <a:prstGeom prst="rect">
                <a:avLst/>
              </a:prstGeom>
              <a:blipFill rotWithShape="0">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2" name="文本框 151"/>
              <p:cNvSpPr txBox="1"/>
              <p:nvPr/>
            </p:nvSpPr>
            <p:spPr>
              <a:xfrm>
                <a:off x="7443393" y="832319"/>
                <a:ext cx="88357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𝑟</m:t>
                      </m:r>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𝑐</m:t>
                      </m:r>
                      <m:r>
                        <a:rPr lang="en-US" altLang="zh-CN" sz="1600" b="0" i="1" smtClean="0">
                          <a:solidFill>
                            <a:srgbClr val="FF0000"/>
                          </a:solidFill>
                          <a:latin typeface="Cambria Math" panose="02040503050406030204" pitchFamily="18" charset="0"/>
                        </a:rPr>
                        <m:t>)</m:t>
                      </m:r>
                    </m:oMath>
                  </m:oMathPara>
                </a14:m>
                <a:endParaRPr lang="zh-CN" altLang="en-US" sz="1600" dirty="0">
                  <a:solidFill>
                    <a:srgbClr val="FF0000"/>
                  </a:solidFill>
                </a:endParaRPr>
              </a:p>
            </p:txBody>
          </p:sp>
        </mc:Choice>
        <mc:Fallback xmlns="">
          <p:sp>
            <p:nvSpPr>
              <p:cNvPr id="152" name="文本框 151"/>
              <p:cNvSpPr txBox="1">
                <a:spLocks noRot="1" noChangeAspect="1" noMove="1" noResize="1" noEditPoints="1" noAdjustHandles="1" noChangeArrowheads="1" noChangeShapeType="1" noTextEdit="1"/>
              </p:cNvSpPr>
              <p:nvPr/>
            </p:nvSpPr>
            <p:spPr>
              <a:xfrm>
                <a:off x="7443393" y="832319"/>
                <a:ext cx="883575" cy="338554"/>
              </a:xfrm>
              <a:prstGeom prst="rect">
                <a:avLst/>
              </a:prstGeom>
              <a:blipFill rotWithShape="0">
                <a:blip r:embed="rId25"/>
                <a:stretch>
                  <a:fillRect b="-1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p:cNvSpPr txBox="1"/>
              <p:nvPr/>
            </p:nvSpPr>
            <p:spPr>
              <a:xfrm>
                <a:off x="7966889" y="1584630"/>
                <a:ext cx="103804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FF0000"/>
                          </a:solidFill>
                          <a:latin typeface="Cambria Math" panose="02040503050406030204" pitchFamily="18" charset="0"/>
                        </a:rPr>
                        <m:t>(</m:t>
                      </m:r>
                      <m:sSub>
                        <m:sSubPr>
                          <m:ctrlPr>
                            <a:rPr lang="en-US" altLang="zh-CN" sz="1600" b="0" i="1" smtClean="0">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𝜎</m:t>
                          </m:r>
                        </m:e>
                        <m:sub>
                          <m:r>
                            <a:rPr lang="en-US" altLang="zh-CN" sz="1600" b="0" i="1" smtClean="0">
                              <a:solidFill>
                                <a:srgbClr val="FF0000"/>
                              </a:solidFill>
                              <a:latin typeface="Cambria Math" panose="02040503050406030204" pitchFamily="18" charset="0"/>
                            </a:rPr>
                            <m:t>𝑚</m:t>
                          </m:r>
                        </m:sub>
                      </m:sSub>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𝑐</m:t>
                      </m:r>
                      <m:r>
                        <a:rPr lang="en-US" altLang="zh-CN" sz="1600" b="0" i="1" smtClean="0">
                          <a:solidFill>
                            <a:srgbClr val="FF0000"/>
                          </a:solidFill>
                          <a:latin typeface="Cambria Math" panose="02040503050406030204" pitchFamily="18" charset="0"/>
                        </a:rPr>
                        <m:t>)</m:t>
                      </m:r>
                    </m:oMath>
                  </m:oMathPara>
                </a14:m>
                <a:endParaRPr lang="zh-CN" altLang="en-US" sz="1600" dirty="0">
                  <a:solidFill>
                    <a:srgbClr val="FF0000"/>
                  </a:solidFill>
                </a:endParaRPr>
              </a:p>
            </p:txBody>
          </p:sp>
        </mc:Choice>
        <mc:Fallback xmlns="">
          <p:sp>
            <p:nvSpPr>
              <p:cNvPr id="153" name="文本框 152"/>
              <p:cNvSpPr txBox="1">
                <a:spLocks noRot="1" noChangeAspect="1" noMove="1" noResize="1" noEditPoints="1" noAdjustHandles="1" noChangeArrowheads="1" noChangeShapeType="1" noTextEdit="1"/>
              </p:cNvSpPr>
              <p:nvPr/>
            </p:nvSpPr>
            <p:spPr>
              <a:xfrm>
                <a:off x="7966889" y="1584630"/>
                <a:ext cx="1038040" cy="338554"/>
              </a:xfrm>
              <a:prstGeom prst="rect">
                <a:avLst/>
              </a:prstGeom>
              <a:blipFill rotWithShape="0">
                <a:blip r:embed="rId26"/>
                <a:stretch>
                  <a:fillRect b="-1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4" name="文本框 153"/>
              <p:cNvSpPr txBox="1"/>
              <p:nvPr/>
            </p:nvSpPr>
            <p:spPr>
              <a:xfrm>
                <a:off x="7976218" y="2086467"/>
                <a:ext cx="118872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rgbClr val="FF0000"/>
                          </a:solidFill>
                          <a:latin typeface="Cambria Math" panose="02040503050406030204" pitchFamily="18" charset="0"/>
                        </a:rPr>
                        <m:t>(</m:t>
                      </m:r>
                      <m:sSub>
                        <m:sSubPr>
                          <m:ctrlPr>
                            <a:rPr lang="en-US" altLang="zh-CN" sz="1600" b="0" i="1" smtClean="0">
                              <a:solidFill>
                                <a:srgbClr val="FF0000"/>
                              </a:solidFill>
                              <a:latin typeface="Cambria Math" panose="02040503050406030204" pitchFamily="18" charset="0"/>
                            </a:rPr>
                          </m:ctrlPr>
                        </m:sSubPr>
                        <m:e>
                          <m:r>
                            <a:rPr lang="zh-CN" altLang="en-US" sz="1600" b="0" i="1" smtClean="0">
                              <a:solidFill>
                                <a:srgbClr val="FF0000"/>
                              </a:solidFill>
                              <a:latin typeface="Cambria Math" panose="02040503050406030204" pitchFamily="18" charset="0"/>
                            </a:rPr>
                            <m:t>𝜎</m:t>
                          </m:r>
                        </m:e>
                        <m:sub>
                          <m:r>
                            <a:rPr lang="en-US" altLang="zh-CN" sz="1600" b="0" i="1" smtClean="0">
                              <a:solidFill>
                                <a:srgbClr val="FF0000"/>
                              </a:solidFill>
                              <a:latin typeface="Cambria Math" panose="02040503050406030204" pitchFamily="18" charset="0"/>
                            </a:rPr>
                            <m:t>𝑚𝑖𝑛</m:t>
                          </m:r>
                        </m:sub>
                      </m:sSub>
                      <m:r>
                        <a:rPr lang="en-US" altLang="zh-CN" sz="1600" b="0" i="1" smtClean="0">
                          <a:solidFill>
                            <a:srgbClr val="FF0000"/>
                          </a:solidFill>
                          <a:latin typeface="Cambria Math" panose="02040503050406030204" pitchFamily="18" charset="0"/>
                        </a:rPr>
                        <m:t>=</m:t>
                      </m:r>
                      <m:r>
                        <a:rPr lang="en-US" altLang="zh-CN" sz="1600" b="0" i="1" smtClean="0">
                          <a:solidFill>
                            <a:srgbClr val="FF0000"/>
                          </a:solidFill>
                          <a:latin typeface="Cambria Math" panose="02040503050406030204" pitchFamily="18" charset="0"/>
                        </a:rPr>
                        <m:t>𝑐</m:t>
                      </m:r>
                      <m:r>
                        <a:rPr lang="en-US" altLang="zh-CN" sz="1600" b="0" i="1" smtClean="0">
                          <a:solidFill>
                            <a:srgbClr val="FF0000"/>
                          </a:solidFill>
                          <a:latin typeface="Cambria Math" panose="02040503050406030204" pitchFamily="18" charset="0"/>
                        </a:rPr>
                        <m:t>)</m:t>
                      </m:r>
                    </m:oMath>
                  </m:oMathPara>
                </a14:m>
                <a:endParaRPr lang="zh-CN" altLang="en-US" sz="1600" dirty="0">
                  <a:solidFill>
                    <a:srgbClr val="FF0000"/>
                  </a:solidFill>
                </a:endParaRPr>
              </a:p>
            </p:txBody>
          </p:sp>
        </mc:Choice>
        <mc:Fallback xmlns="">
          <p:sp>
            <p:nvSpPr>
              <p:cNvPr id="154" name="文本框 153"/>
              <p:cNvSpPr txBox="1">
                <a:spLocks noRot="1" noChangeAspect="1" noMove="1" noResize="1" noEditPoints="1" noAdjustHandles="1" noChangeArrowheads="1" noChangeShapeType="1" noTextEdit="1"/>
              </p:cNvSpPr>
              <p:nvPr/>
            </p:nvSpPr>
            <p:spPr>
              <a:xfrm>
                <a:off x="7976218" y="2086467"/>
                <a:ext cx="1188723" cy="338554"/>
              </a:xfrm>
              <a:prstGeom prst="rect">
                <a:avLst/>
              </a:prstGeom>
              <a:blipFill rotWithShape="0">
                <a:blip r:embed="rId27"/>
                <a:stretch>
                  <a:fillRect b="-10714"/>
                </a:stretch>
              </a:blipFill>
            </p:spPr>
            <p:txBody>
              <a:bodyPr/>
              <a:lstStyle/>
              <a:p>
                <a:r>
                  <a:rPr lang="zh-CN" altLang="en-US">
                    <a:noFill/>
                  </a:rPr>
                  <a:t> </a:t>
                </a:r>
              </a:p>
            </p:txBody>
          </p:sp>
        </mc:Fallback>
      </mc:AlternateContent>
      <p:cxnSp>
        <p:nvCxnSpPr>
          <p:cNvPr id="162" name="直接连接符 161"/>
          <p:cNvCxnSpPr/>
          <p:nvPr/>
        </p:nvCxnSpPr>
        <p:spPr>
          <a:xfrm flipV="1">
            <a:off x="461321" y="4378188"/>
            <a:ext cx="434229" cy="9579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V="1">
            <a:off x="462440" y="4982834"/>
            <a:ext cx="1931706" cy="3471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H="1" flipV="1">
            <a:off x="3696646" y="4371058"/>
            <a:ext cx="3380" cy="973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0" name="组合 219"/>
          <p:cNvGrpSpPr/>
          <p:nvPr/>
        </p:nvGrpSpPr>
        <p:grpSpPr>
          <a:xfrm>
            <a:off x="402262" y="4509123"/>
            <a:ext cx="397866" cy="307777"/>
            <a:chOff x="402262" y="4509123"/>
            <a:chExt cx="397866" cy="307777"/>
          </a:xfrm>
        </p:grpSpPr>
        <p:sp>
          <p:nvSpPr>
            <p:cNvPr id="160" name="椭圆 38"/>
            <p:cNvSpPr/>
            <p:nvPr/>
          </p:nvSpPr>
          <p:spPr>
            <a:xfrm>
              <a:off x="697461" y="467978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78" name="文本框 177"/>
                <p:cNvSpPr txBox="1"/>
                <p:nvPr/>
              </p:nvSpPr>
              <p:spPr>
                <a:xfrm>
                  <a:off x="402262" y="4509123"/>
                  <a:ext cx="3978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𝑀</m:t>
                        </m:r>
                      </m:oMath>
                    </m:oMathPara>
                  </a14:m>
                  <a:endParaRPr lang="zh-CN" altLang="en-US" sz="1400" dirty="0"/>
                </a:p>
              </p:txBody>
            </p:sp>
          </mc:Choice>
          <mc:Fallback xmlns="">
            <p:sp>
              <p:nvSpPr>
                <p:cNvPr id="178" name="文本框 177"/>
                <p:cNvSpPr txBox="1">
                  <a:spLocks noRot="1" noChangeAspect="1" noMove="1" noResize="1" noEditPoints="1" noAdjustHandles="1" noChangeArrowheads="1" noChangeShapeType="1" noTextEdit="1"/>
                </p:cNvSpPr>
                <p:nvPr/>
              </p:nvSpPr>
              <p:spPr>
                <a:xfrm>
                  <a:off x="402262" y="4509123"/>
                  <a:ext cx="397866" cy="307777"/>
                </a:xfrm>
                <a:prstGeom prst="rect">
                  <a:avLst/>
                </a:prstGeom>
                <a:blipFill rotWithShape="0">
                  <a:blip r:embed="rId28"/>
                  <a:stretch>
                    <a:fillRect/>
                  </a:stretch>
                </a:blipFill>
              </p:spPr>
              <p:txBody>
                <a:bodyPr/>
                <a:lstStyle/>
                <a:p>
                  <a:r>
                    <a:rPr lang="zh-CN" altLang="en-US">
                      <a:noFill/>
                    </a:rPr>
                    <a:t> </a:t>
                  </a:r>
                </a:p>
              </p:txBody>
            </p:sp>
          </mc:Fallback>
        </mc:AlternateContent>
      </p:grpSp>
      <p:grpSp>
        <p:nvGrpSpPr>
          <p:cNvPr id="237" name="组合 236"/>
          <p:cNvGrpSpPr/>
          <p:nvPr/>
        </p:nvGrpSpPr>
        <p:grpSpPr>
          <a:xfrm>
            <a:off x="3607396" y="4045663"/>
            <a:ext cx="458908" cy="366730"/>
            <a:chOff x="3607396" y="4045663"/>
            <a:chExt cx="458908" cy="366730"/>
          </a:xfrm>
        </p:grpSpPr>
        <p:sp>
          <p:nvSpPr>
            <p:cNvPr id="181" name="椭圆 38"/>
            <p:cNvSpPr/>
            <p:nvPr/>
          </p:nvSpPr>
          <p:spPr>
            <a:xfrm>
              <a:off x="3650653" y="4323493"/>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3" name="文本框 182"/>
                <p:cNvSpPr txBox="1"/>
                <p:nvPr/>
              </p:nvSpPr>
              <p:spPr>
                <a:xfrm>
                  <a:off x="3607396" y="4045663"/>
                  <a:ext cx="4589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𝑀</m:t>
                            </m:r>
                          </m:e>
                          <m:sub>
                            <m:r>
                              <a:rPr lang="en-US" altLang="zh-CN" sz="1400" b="0" i="1" smtClean="0">
                                <a:latin typeface="Cambria Math" panose="02040503050406030204" pitchFamily="18" charset="0"/>
                              </a:rPr>
                              <m:t>2</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183" name="文本框 182"/>
                <p:cNvSpPr txBox="1">
                  <a:spLocks noRot="1" noChangeAspect="1" noMove="1" noResize="1" noEditPoints="1" noAdjustHandles="1" noChangeArrowheads="1" noChangeShapeType="1" noTextEdit="1"/>
                </p:cNvSpPr>
                <p:nvPr/>
              </p:nvSpPr>
              <p:spPr>
                <a:xfrm>
                  <a:off x="3607396" y="4045663"/>
                  <a:ext cx="458908" cy="307777"/>
                </a:xfrm>
                <a:prstGeom prst="rect">
                  <a:avLst/>
                </a:prstGeom>
                <a:blipFill rotWithShape="0">
                  <a:blip r:embed="rId29"/>
                  <a:stretch>
                    <a:fillRect/>
                  </a:stretch>
                </a:blipFill>
              </p:spPr>
              <p:txBody>
                <a:bodyPr/>
                <a:lstStyle/>
                <a:p>
                  <a:r>
                    <a:rPr lang="zh-CN" altLang="en-US">
                      <a:noFill/>
                    </a:rPr>
                    <a:t> </a:t>
                  </a:r>
                </a:p>
              </p:txBody>
            </p:sp>
          </mc:Fallback>
        </mc:AlternateContent>
      </p:grpSp>
      <p:grpSp>
        <p:nvGrpSpPr>
          <p:cNvPr id="241" name="组合 240"/>
          <p:cNvGrpSpPr/>
          <p:nvPr/>
        </p:nvGrpSpPr>
        <p:grpSpPr>
          <a:xfrm>
            <a:off x="7483766" y="4199551"/>
            <a:ext cx="458908" cy="328647"/>
            <a:chOff x="7483766" y="4199551"/>
            <a:chExt cx="458908" cy="328647"/>
          </a:xfrm>
        </p:grpSpPr>
        <p:sp>
          <p:nvSpPr>
            <p:cNvPr id="182" name="椭圆 38"/>
            <p:cNvSpPr/>
            <p:nvPr/>
          </p:nvSpPr>
          <p:spPr>
            <a:xfrm>
              <a:off x="7500179" y="443929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4" name="文本框 183"/>
                <p:cNvSpPr txBox="1"/>
                <p:nvPr/>
              </p:nvSpPr>
              <p:spPr>
                <a:xfrm>
                  <a:off x="7483766" y="4199551"/>
                  <a:ext cx="4589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𝑀</m:t>
                            </m:r>
                          </m:e>
                          <m:sub>
                            <m:r>
                              <a:rPr lang="en-US" altLang="zh-CN" sz="1400" b="0" i="1" smtClean="0">
                                <a:latin typeface="Cambria Math" panose="02040503050406030204" pitchFamily="18" charset="0"/>
                              </a:rPr>
                              <m:t>3</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184" name="文本框 183"/>
                <p:cNvSpPr txBox="1">
                  <a:spLocks noRot="1" noChangeAspect="1" noMove="1" noResize="1" noEditPoints="1" noAdjustHandles="1" noChangeArrowheads="1" noChangeShapeType="1" noTextEdit="1"/>
                </p:cNvSpPr>
                <p:nvPr/>
              </p:nvSpPr>
              <p:spPr>
                <a:xfrm>
                  <a:off x="7483766" y="4199551"/>
                  <a:ext cx="458908" cy="307777"/>
                </a:xfrm>
                <a:prstGeom prst="rect">
                  <a:avLst/>
                </a:prstGeom>
                <a:blipFill rotWithShape="0">
                  <a:blip r:embed="rId30"/>
                  <a:stretch>
                    <a:fillRect/>
                  </a:stretch>
                </a:blipFill>
              </p:spPr>
              <p:txBody>
                <a:bodyPr/>
                <a:lstStyle/>
                <a:p>
                  <a:r>
                    <a:rPr lang="zh-CN" altLang="en-US">
                      <a:noFill/>
                    </a:rPr>
                    <a:t> </a:t>
                  </a:r>
                </a:p>
              </p:txBody>
            </p:sp>
          </mc:Fallback>
        </mc:AlternateContent>
      </p:grpSp>
      <p:grpSp>
        <p:nvGrpSpPr>
          <p:cNvPr id="222" name="组合 221"/>
          <p:cNvGrpSpPr/>
          <p:nvPr/>
        </p:nvGrpSpPr>
        <p:grpSpPr>
          <a:xfrm>
            <a:off x="3363655" y="4509122"/>
            <a:ext cx="397866" cy="307777"/>
            <a:chOff x="3363655" y="4509122"/>
            <a:chExt cx="397866" cy="307777"/>
          </a:xfrm>
        </p:grpSpPr>
        <p:sp>
          <p:nvSpPr>
            <p:cNvPr id="168" name="椭圆 38"/>
            <p:cNvSpPr/>
            <p:nvPr/>
          </p:nvSpPr>
          <p:spPr>
            <a:xfrm>
              <a:off x="3657598" y="467978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5" name="文本框 184"/>
                <p:cNvSpPr txBox="1"/>
                <p:nvPr/>
              </p:nvSpPr>
              <p:spPr>
                <a:xfrm>
                  <a:off x="3363655" y="4509122"/>
                  <a:ext cx="3978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𝑀</m:t>
                        </m:r>
                      </m:oMath>
                    </m:oMathPara>
                  </a14:m>
                  <a:endParaRPr lang="zh-CN" altLang="en-US" sz="1400" dirty="0"/>
                </a:p>
              </p:txBody>
            </p:sp>
          </mc:Choice>
          <mc:Fallback xmlns="">
            <p:sp>
              <p:nvSpPr>
                <p:cNvPr id="185" name="文本框 184"/>
                <p:cNvSpPr txBox="1">
                  <a:spLocks noRot="1" noChangeAspect="1" noMove="1" noResize="1" noEditPoints="1" noAdjustHandles="1" noChangeArrowheads="1" noChangeShapeType="1" noTextEdit="1"/>
                </p:cNvSpPr>
                <p:nvPr/>
              </p:nvSpPr>
              <p:spPr>
                <a:xfrm>
                  <a:off x="3363655" y="4509122"/>
                  <a:ext cx="397866" cy="307777"/>
                </a:xfrm>
                <a:prstGeom prst="rect">
                  <a:avLst/>
                </a:prstGeom>
                <a:blipFill rotWithShape="0">
                  <a:blip r:embed="rId28"/>
                  <a:stretch>
                    <a:fillRect/>
                  </a:stretch>
                </a:blipFill>
              </p:spPr>
              <p:txBody>
                <a:bodyPr/>
                <a:lstStyle/>
                <a:p>
                  <a:r>
                    <a:rPr lang="zh-CN" altLang="en-US">
                      <a:noFill/>
                    </a:rPr>
                    <a:t> </a:t>
                  </a:r>
                </a:p>
              </p:txBody>
            </p:sp>
          </mc:Fallback>
        </mc:AlternateContent>
      </p:grpSp>
      <p:grpSp>
        <p:nvGrpSpPr>
          <p:cNvPr id="224" name="组合 223"/>
          <p:cNvGrpSpPr/>
          <p:nvPr/>
        </p:nvGrpSpPr>
        <p:grpSpPr>
          <a:xfrm>
            <a:off x="6829267" y="4663010"/>
            <a:ext cx="397866" cy="307777"/>
            <a:chOff x="6829267" y="4663010"/>
            <a:chExt cx="397866" cy="307777"/>
          </a:xfrm>
        </p:grpSpPr>
        <p:sp>
          <p:nvSpPr>
            <p:cNvPr id="170" name="椭圆 38"/>
            <p:cNvSpPr/>
            <p:nvPr/>
          </p:nvSpPr>
          <p:spPr>
            <a:xfrm>
              <a:off x="7109256" y="4831747"/>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6" name="文本框 185"/>
                <p:cNvSpPr txBox="1"/>
                <p:nvPr/>
              </p:nvSpPr>
              <p:spPr>
                <a:xfrm>
                  <a:off x="6829267" y="4663010"/>
                  <a:ext cx="3978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𝑀</m:t>
                        </m:r>
                      </m:oMath>
                    </m:oMathPara>
                  </a14:m>
                  <a:endParaRPr lang="zh-CN" altLang="en-US" sz="1400" dirty="0"/>
                </a:p>
              </p:txBody>
            </p:sp>
          </mc:Choice>
          <mc:Fallback xmlns="">
            <p:sp>
              <p:nvSpPr>
                <p:cNvPr id="186" name="文本框 185"/>
                <p:cNvSpPr txBox="1">
                  <a:spLocks noRot="1" noChangeAspect="1" noMove="1" noResize="1" noEditPoints="1" noAdjustHandles="1" noChangeArrowheads="1" noChangeShapeType="1" noTextEdit="1"/>
                </p:cNvSpPr>
                <p:nvPr/>
              </p:nvSpPr>
              <p:spPr>
                <a:xfrm>
                  <a:off x="6829267" y="4663010"/>
                  <a:ext cx="397866" cy="307777"/>
                </a:xfrm>
                <a:prstGeom prst="rect">
                  <a:avLst/>
                </a:prstGeom>
                <a:blipFill rotWithShape="0">
                  <a:blip r:embed="rId31"/>
                  <a:stretch>
                    <a:fillRect/>
                  </a:stretch>
                </a:blipFill>
              </p:spPr>
              <p:txBody>
                <a:bodyPr/>
                <a:lstStyle/>
                <a:p>
                  <a:r>
                    <a:rPr lang="zh-CN" altLang="en-US">
                      <a:noFill/>
                    </a:rPr>
                    <a:t> </a:t>
                  </a:r>
                </a:p>
              </p:txBody>
            </p:sp>
          </mc:Fallback>
        </mc:AlternateContent>
      </p:grpSp>
      <p:grpSp>
        <p:nvGrpSpPr>
          <p:cNvPr id="221" name="组合 220"/>
          <p:cNvGrpSpPr/>
          <p:nvPr/>
        </p:nvGrpSpPr>
        <p:grpSpPr>
          <a:xfrm>
            <a:off x="2003910" y="4727349"/>
            <a:ext cx="370165" cy="338319"/>
            <a:chOff x="2003910" y="4727349"/>
            <a:chExt cx="370165" cy="338319"/>
          </a:xfrm>
        </p:grpSpPr>
        <p:sp>
          <p:nvSpPr>
            <p:cNvPr id="161" name="椭圆 38"/>
            <p:cNvSpPr/>
            <p:nvPr/>
          </p:nvSpPr>
          <p:spPr>
            <a:xfrm>
              <a:off x="2151573" y="497676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7" name="文本框 186"/>
                <p:cNvSpPr txBox="1"/>
                <p:nvPr/>
              </p:nvSpPr>
              <p:spPr>
                <a:xfrm>
                  <a:off x="2003910" y="4727349"/>
                  <a:ext cx="370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𝑁</m:t>
                        </m:r>
                      </m:oMath>
                    </m:oMathPara>
                  </a14:m>
                  <a:endParaRPr lang="zh-CN" altLang="en-US" sz="1400" dirty="0"/>
                </a:p>
              </p:txBody>
            </p:sp>
          </mc:Choice>
          <mc:Fallback xmlns="">
            <p:sp>
              <p:nvSpPr>
                <p:cNvPr id="187" name="文本框 186"/>
                <p:cNvSpPr txBox="1">
                  <a:spLocks noRot="1" noChangeAspect="1" noMove="1" noResize="1" noEditPoints="1" noAdjustHandles="1" noChangeArrowheads="1" noChangeShapeType="1" noTextEdit="1"/>
                </p:cNvSpPr>
                <p:nvPr/>
              </p:nvSpPr>
              <p:spPr>
                <a:xfrm>
                  <a:off x="2003910" y="4727349"/>
                  <a:ext cx="370165" cy="307777"/>
                </a:xfrm>
                <a:prstGeom prst="rect">
                  <a:avLst/>
                </a:prstGeom>
                <a:blipFill rotWithShape="0">
                  <a:blip r:embed="rId32"/>
                  <a:stretch>
                    <a:fillRect/>
                  </a:stretch>
                </a:blipFill>
              </p:spPr>
              <p:txBody>
                <a:bodyPr/>
                <a:lstStyle/>
                <a:p>
                  <a:r>
                    <a:rPr lang="zh-CN" altLang="en-US">
                      <a:noFill/>
                    </a:rPr>
                    <a:t> </a:t>
                  </a:r>
                </a:p>
              </p:txBody>
            </p:sp>
          </mc:Fallback>
        </mc:AlternateContent>
      </p:grpSp>
      <p:cxnSp>
        <p:nvCxnSpPr>
          <p:cNvPr id="190" name="直接连接符 189"/>
          <p:cNvCxnSpPr/>
          <p:nvPr/>
        </p:nvCxnSpPr>
        <p:spPr>
          <a:xfrm flipV="1">
            <a:off x="5151756" y="4679471"/>
            <a:ext cx="5048" cy="673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 name="组合 237"/>
          <p:cNvGrpSpPr/>
          <p:nvPr/>
        </p:nvGrpSpPr>
        <p:grpSpPr>
          <a:xfrm>
            <a:off x="5116275" y="4470787"/>
            <a:ext cx="440109" cy="307777"/>
            <a:chOff x="5116275" y="4470787"/>
            <a:chExt cx="440109" cy="307777"/>
          </a:xfrm>
        </p:grpSpPr>
        <mc:AlternateContent xmlns:mc="http://schemas.openxmlformats.org/markup-compatibility/2006" xmlns:a14="http://schemas.microsoft.com/office/drawing/2010/main">
          <mc:Choice Requires="a14">
            <p:sp>
              <p:nvSpPr>
                <p:cNvPr id="194" name="文本框 193"/>
                <p:cNvSpPr txBox="1"/>
                <p:nvPr/>
              </p:nvSpPr>
              <p:spPr>
                <a:xfrm>
                  <a:off x="5122676" y="4470787"/>
                  <a:ext cx="4337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𝑁</m:t>
                            </m:r>
                          </m:e>
                          <m:sub>
                            <m:r>
                              <a:rPr lang="en-US" altLang="zh-CN" sz="1400" b="0" i="1" smtClean="0">
                                <a:latin typeface="Cambria Math" panose="02040503050406030204" pitchFamily="18" charset="0"/>
                              </a:rPr>
                              <m:t>2</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194" name="文本框 193"/>
                <p:cNvSpPr txBox="1">
                  <a:spLocks noRot="1" noChangeAspect="1" noMove="1" noResize="1" noEditPoints="1" noAdjustHandles="1" noChangeArrowheads="1" noChangeShapeType="1" noTextEdit="1"/>
                </p:cNvSpPr>
                <p:nvPr/>
              </p:nvSpPr>
              <p:spPr>
                <a:xfrm>
                  <a:off x="5122676" y="4470787"/>
                  <a:ext cx="433708" cy="307777"/>
                </a:xfrm>
                <a:prstGeom prst="rect">
                  <a:avLst/>
                </a:prstGeom>
                <a:blipFill rotWithShape="0">
                  <a:blip r:embed="rId33"/>
                  <a:stretch>
                    <a:fillRect/>
                  </a:stretch>
                </a:blipFill>
              </p:spPr>
              <p:txBody>
                <a:bodyPr/>
                <a:lstStyle/>
                <a:p>
                  <a:r>
                    <a:rPr lang="zh-CN" altLang="en-US">
                      <a:noFill/>
                    </a:rPr>
                    <a:t> </a:t>
                  </a:r>
                </a:p>
              </p:txBody>
            </p:sp>
          </mc:Fallback>
        </mc:AlternateContent>
        <p:sp>
          <p:nvSpPr>
            <p:cNvPr id="195" name="椭圆 38"/>
            <p:cNvSpPr/>
            <p:nvPr/>
          </p:nvSpPr>
          <p:spPr>
            <a:xfrm>
              <a:off x="5116275" y="466447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242" name="组合 241"/>
          <p:cNvGrpSpPr/>
          <p:nvPr/>
        </p:nvGrpSpPr>
        <p:grpSpPr>
          <a:xfrm>
            <a:off x="7795298" y="4778721"/>
            <a:ext cx="370165" cy="307777"/>
            <a:chOff x="7795298" y="4778721"/>
            <a:chExt cx="370165" cy="307777"/>
          </a:xfrm>
        </p:grpSpPr>
        <p:sp>
          <p:nvSpPr>
            <p:cNvPr id="171" name="椭圆 38"/>
            <p:cNvSpPr/>
            <p:nvPr/>
          </p:nvSpPr>
          <p:spPr>
            <a:xfrm>
              <a:off x="8031863" y="4976451"/>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89" name="文本框 188"/>
                <p:cNvSpPr txBox="1"/>
                <p:nvPr/>
              </p:nvSpPr>
              <p:spPr>
                <a:xfrm>
                  <a:off x="7795298" y="4778721"/>
                  <a:ext cx="370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𝑁</m:t>
                        </m:r>
                      </m:oMath>
                    </m:oMathPara>
                  </a14:m>
                  <a:endParaRPr lang="zh-CN" altLang="en-US" sz="1400" dirty="0"/>
                </a:p>
              </p:txBody>
            </p:sp>
          </mc:Choice>
          <mc:Fallback xmlns="">
            <p:sp>
              <p:nvSpPr>
                <p:cNvPr id="189" name="文本框 188"/>
                <p:cNvSpPr txBox="1">
                  <a:spLocks noRot="1" noChangeAspect="1" noMove="1" noResize="1" noEditPoints="1" noAdjustHandles="1" noChangeArrowheads="1" noChangeShapeType="1" noTextEdit="1"/>
                </p:cNvSpPr>
                <p:nvPr/>
              </p:nvSpPr>
              <p:spPr>
                <a:xfrm>
                  <a:off x="7795298" y="4778721"/>
                  <a:ext cx="370165" cy="307777"/>
                </a:xfrm>
                <a:prstGeom prst="rect">
                  <a:avLst/>
                </a:prstGeom>
                <a:blipFill rotWithShape="0">
                  <a:blip r:embed="rId34"/>
                  <a:stretch>
                    <a:fillRect/>
                  </a:stretch>
                </a:blipFill>
              </p:spPr>
              <p:txBody>
                <a:bodyPr/>
                <a:lstStyle/>
                <a:p>
                  <a:r>
                    <a:rPr lang="zh-CN" altLang="en-US">
                      <a:noFill/>
                    </a:rPr>
                    <a:t> </a:t>
                  </a:r>
                </a:p>
              </p:txBody>
            </p:sp>
          </mc:Fallback>
        </mc:AlternateContent>
      </p:grpSp>
      <p:grpSp>
        <p:nvGrpSpPr>
          <p:cNvPr id="243" name="组合 242"/>
          <p:cNvGrpSpPr/>
          <p:nvPr/>
        </p:nvGrpSpPr>
        <p:grpSpPr>
          <a:xfrm>
            <a:off x="8156794" y="4622236"/>
            <a:ext cx="433708" cy="307777"/>
            <a:chOff x="8156794" y="4622236"/>
            <a:chExt cx="433708" cy="307777"/>
          </a:xfrm>
        </p:grpSpPr>
        <p:sp>
          <p:nvSpPr>
            <p:cNvPr id="199" name="椭圆 38"/>
            <p:cNvSpPr/>
            <p:nvPr/>
          </p:nvSpPr>
          <p:spPr>
            <a:xfrm>
              <a:off x="8165995" y="4831747"/>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200" name="文本框 199"/>
                <p:cNvSpPr txBox="1"/>
                <p:nvPr/>
              </p:nvSpPr>
              <p:spPr>
                <a:xfrm>
                  <a:off x="8156794" y="4622236"/>
                  <a:ext cx="4337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𝑁</m:t>
                            </m:r>
                          </m:e>
                          <m:sub>
                            <m:r>
                              <a:rPr lang="en-US" altLang="zh-CN" sz="1400" b="0" i="1" smtClean="0">
                                <a:latin typeface="Cambria Math" panose="02040503050406030204" pitchFamily="18" charset="0"/>
                              </a:rPr>
                              <m:t>3</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200" name="文本框 199"/>
                <p:cNvSpPr txBox="1">
                  <a:spLocks noRot="1" noChangeAspect="1" noMove="1" noResize="1" noEditPoints="1" noAdjustHandles="1" noChangeArrowheads="1" noChangeShapeType="1" noTextEdit="1"/>
                </p:cNvSpPr>
                <p:nvPr/>
              </p:nvSpPr>
              <p:spPr>
                <a:xfrm>
                  <a:off x="8156794" y="4622236"/>
                  <a:ext cx="433708" cy="307777"/>
                </a:xfrm>
                <a:prstGeom prst="rect">
                  <a:avLst/>
                </a:prstGeom>
                <a:blipFill rotWithShape="0">
                  <a:blip r:embed="rId35"/>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02" name="文本框 201"/>
              <p:cNvSpPr txBox="1"/>
              <p:nvPr/>
            </p:nvSpPr>
            <p:spPr>
              <a:xfrm>
                <a:off x="4867442" y="5313532"/>
                <a:ext cx="3710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𝐻</m:t>
                      </m:r>
                    </m:oMath>
                  </m:oMathPara>
                </a14:m>
                <a:endParaRPr lang="zh-CN" altLang="en-US" sz="1400" dirty="0"/>
              </a:p>
            </p:txBody>
          </p:sp>
        </mc:Choice>
        <mc:Fallback xmlns="">
          <p:sp>
            <p:nvSpPr>
              <p:cNvPr id="202" name="文本框 201"/>
              <p:cNvSpPr txBox="1">
                <a:spLocks noRot="1" noChangeAspect="1" noMove="1" noResize="1" noEditPoints="1" noAdjustHandles="1" noChangeArrowheads="1" noChangeShapeType="1" noTextEdit="1"/>
              </p:cNvSpPr>
              <p:nvPr/>
            </p:nvSpPr>
            <p:spPr>
              <a:xfrm>
                <a:off x="4867442" y="5313532"/>
                <a:ext cx="371063" cy="307777"/>
              </a:xfrm>
              <a:prstGeom prst="rect">
                <a:avLst/>
              </a:prstGeom>
              <a:blipFill rotWithShape="0">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p:cNvSpPr txBox="1"/>
              <p:nvPr/>
            </p:nvSpPr>
            <p:spPr>
              <a:xfrm>
                <a:off x="7081842" y="5305826"/>
                <a:ext cx="30739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𝐼</m:t>
                      </m:r>
                    </m:oMath>
                  </m:oMathPara>
                </a14:m>
                <a:endParaRPr lang="zh-CN" altLang="en-US" sz="1400" dirty="0"/>
              </a:p>
            </p:txBody>
          </p:sp>
        </mc:Choice>
        <mc:Fallback xmlns="">
          <p:sp>
            <p:nvSpPr>
              <p:cNvPr id="203" name="文本框 202"/>
              <p:cNvSpPr txBox="1">
                <a:spLocks noRot="1" noChangeAspect="1" noMove="1" noResize="1" noEditPoints="1" noAdjustHandles="1" noChangeArrowheads="1" noChangeShapeType="1" noTextEdit="1"/>
              </p:cNvSpPr>
              <p:nvPr/>
            </p:nvSpPr>
            <p:spPr>
              <a:xfrm>
                <a:off x="7081842" y="5305826"/>
                <a:ext cx="307392" cy="307777"/>
              </a:xfrm>
              <a:prstGeom prst="rect">
                <a:avLst/>
              </a:prstGeom>
              <a:blipFill rotWithShape="0">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4" name="文本框 203"/>
              <p:cNvSpPr txBox="1"/>
              <p:nvPr/>
            </p:nvSpPr>
            <p:spPr>
              <a:xfrm>
                <a:off x="7104551" y="4152952"/>
                <a:ext cx="30681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𝐽</m:t>
                      </m:r>
                    </m:oMath>
                  </m:oMathPara>
                </a14:m>
                <a:endParaRPr lang="zh-CN" altLang="en-US" sz="1400" dirty="0"/>
              </a:p>
            </p:txBody>
          </p:sp>
        </mc:Choice>
        <mc:Fallback xmlns="">
          <p:sp>
            <p:nvSpPr>
              <p:cNvPr id="204" name="文本框 203"/>
              <p:cNvSpPr txBox="1">
                <a:spLocks noRot="1" noChangeAspect="1" noMove="1" noResize="1" noEditPoints="1" noAdjustHandles="1" noChangeArrowheads="1" noChangeShapeType="1" noTextEdit="1"/>
              </p:cNvSpPr>
              <p:nvPr/>
            </p:nvSpPr>
            <p:spPr>
              <a:xfrm>
                <a:off x="7104551" y="4152952"/>
                <a:ext cx="306814" cy="307777"/>
              </a:xfrm>
              <a:prstGeom prst="rect">
                <a:avLst/>
              </a:prstGeom>
              <a:blipFill rotWithShape="0">
                <a:blip r:embed="rId38"/>
                <a:stretch>
                  <a:fillRect b="-3922"/>
                </a:stretch>
              </a:blipFill>
            </p:spPr>
            <p:txBody>
              <a:bodyPr/>
              <a:lstStyle/>
              <a:p>
                <a:r>
                  <a:rPr lang="zh-CN" altLang="en-US">
                    <a:noFill/>
                  </a:rPr>
                  <a:t> </a:t>
                </a:r>
              </a:p>
            </p:txBody>
          </p:sp>
        </mc:Fallback>
      </mc:AlternateContent>
      <p:grpSp>
        <p:nvGrpSpPr>
          <p:cNvPr id="233" name="组合 232"/>
          <p:cNvGrpSpPr/>
          <p:nvPr/>
        </p:nvGrpSpPr>
        <p:grpSpPr>
          <a:xfrm>
            <a:off x="659457" y="4385480"/>
            <a:ext cx="531684" cy="1209587"/>
            <a:chOff x="659457" y="4385480"/>
            <a:chExt cx="531684" cy="1209587"/>
          </a:xfrm>
        </p:grpSpPr>
        <p:cxnSp>
          <p:nvCxnSpPr>
            <p:cNvPr id="206" name="直接连接符 205"/>
            <p:cNvCxnSpPr/>
            <p:nvPr/>
          </p:nvCxnSpPr>
          <p:spPr>
            <a:xfrm flipH="1" flipV="1">
              <a:off x="881522" y="4385480"/>
              <a:ext cx="3380" cy="973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0" name="文本框 209"/>
                <p:cNvSpPr txBox="1"/>
                <p:nvPr/>
              </p:nvSpPr>
              <p:spPr>
                <a:xfrm>
                  <a:off x="659457" y="5287290"/>
                  <a:ext cx="53168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𝑚𝑒</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210" name="文本框 209"/>
                <p:cNvSpPr txBox="1">
                  <a:spLocks noRot="1" noChangeAspect="1" noMove="1" noResize="1" noEditPoints="1" noAdjustHandles="1" noChangeArrowheads="1" noChangeShapeType="1" noTextEdit="1"/>
                </p:cNvSpPr>
                <p:nvPr/>
              </p:nvSpPr>
              <p:spPr>
                <a:xfrm>
                  <a:off x="659457" y="5287290"/>
                  <a:ext cx="531684" cy="307777"/>
                </a:xfrm>
                <a:prstGeom prst="rect">
                  <a:avLst/>
                </a:prstGeom>
                <a:blipFill rotWithShape="0">
                  <a:blip r:embed="rId39"/>
                  <a:stretch>
                    <a:fillRect/>
                  </a:stretch>
                </a:blipFill>
              </p:spPr>
              <p:txBody>
                <a:bodyPr/>
                <a:lstStyle/>
                <a:p>
                  <a:r>
                    <a:rPr lang="zh-CN" altLang="en-US">
                      <a:noFill/>
                    </a:rPr>
                    <a:t> </a:t>
                  </a:r>
                </a:p>
              </p:txBody>
            </p:sp>
          </mc:Fallback>
        </mc:AlternateContent>
      </p:grpSp>
      <p:grpSp>
        <p:nvGrpSpPr>
          <p:cNvPr id="234" name="组合 233"/>
          <p:cNvGrpSpPr/>
          <p:nvPr/>
        </p:nvGrpSpPr>
        <p:grpSpPr>
          <a:xfrm>
            <a:off x="83046" y="4279349"/>
            <a:ext cx="752004" cy="307777"/>
            <a:chOff x="83046" y="4279349"/>
            <a:chExt cx="752004" cy="307777"/>
          </a:xfrm>
        </p:grpSpPr>
        <p:cxnSp>
          <p:nvCxnSpPr>
            <p:cNvPr id="207" name="直接连接符 206"/>
            <p:cNvCxnSpPr/>
            <p:nvPr/>
          </p:nvCxnSpPr>
          <p:spPr>
            <a:xfrm>
              <a:off x="445685" y="4391469"/>
              <a:ext cx="38936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1" name="文本框 210"/>
                <p:cNvSpPr txBox="1"/>
                <p:nvPr/>
              </p:nvSpPr>
              <p:spPr>
                <a:xfrm>
                  <a:off x="83046" y="4279349"/>
                  <a:ext cx="4916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𝑎𝑒</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211" name="文本框 210"/>
                <p:cNvSpPr txBox="1">
                  <a:spLocks noRot="1" noChangeAspect="1" noMove="1" noResize="1" noEditPoints="1" noAdjustHandles="1" noChangeArrowheads="1" noChangeShapeType="1" noTextEdit="1"/>
                </p:cNvSpPr>
                <p:nvPr/>
              </p:nvSpPr>
              <p:spPr>
                <a:xfrm>
                  <a:off x="83046" y="4279349"/>
                  <a:ext cx="491608" cy="307777"/>
                </a:xfrm>
                <a:prstGeom prst="rect">
                  <a:avLst/>
                </a:prstGeom>
                <a:blipFill rotWithShape="0">
                  <a:blip r:embed="rId40"/>
                  <a:stretch>
                    <a:fillRect/>
                  </a:stretch>
                </a:blipFill>
              </p:spPr>
              <p:txBody>
                <a:bodyPr/>
                <a:lstStyle/>
                <a:p>
                  <a:r>
                    <a:rPr lang="zh-CN" altLang="en-US">
                      <a:noFill/>
                    </a:rPr>
                    <a:t> </a:t>
                  </a:r>
                </a:p>
              </p:txBody>
            </p:sp>
          </mc:Fallback>
        </mc:AlternateContent>
      </p:grpSp>
      <p:grpSp>
        <p:nvGrpSpPr>
          <p:cNvPr id="223" name="组合 222"/>
          <p:cNvGrpSpPr/>
          <p:nvPr/>
        </p:nvGrpSpPr>
        <p:grpSpPr>
          <a:xfrm>
            <a:off x="4868218" y="4758683"/>
            <a:ext cx="370165" cy="307777"/>
            <a:chOff x="4868218" y="4758683"/>
            <a:chExt cx="370165" cy="307777"/>
          </a:xfrm>
        </p:grpSpPr>
        <mc:AlternateContent xmlns:mc="http://schemas.openxmlformats.org/markup-compatibility/2006" xmlns:a14="http://schemas.microsoft.com/office/drawing/2010/main">
          <mc:Choice Requires="a14">
            <p:sp>
              <p:nvSpPr>
                <p:cNvPr id="188" name="文本框 187"/>
                <p:cNvSpPr txBox="1"/>
                <p:nvPr/>
              </p:nvSpPr>
              <p:spPr>
                <a:xfrm>
                  <a:off x="4868218" y="4758683"/>
                  <a:ext cx="370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𝑁</m:t>
                        </m:r>
                      </m:oMath>
                    </m:oMathPara>
                  </a14:m>
                  <a:endParaRPr lang="zh-CN" altLang="en-US" sz="1400" dirty="0"/>
                </a:p>
              </p:txBody>
            </p:sp>
          </mc:Choice>
          <mc:Fallback xmlns="">
            <p:sp>
              <p:nvSpPr>
                <p:cNvPr id="188" name="文本框 187"/>
                <p:cNvSpPr txBox="1">
                  <a:spLocks noRot="1" noChangeAspect="1" noMove="1" noResize="1" noEditPoints="1" noAdjustHandles="1" noChangeArrowheads="1" noChangeShapeType="1" noTextEdit="1"/>
                </p:cNvSpPr>
                <p:nvPr/>
              </p:nvSpPr>
              <p:spPr>
                <a:xfrm>
                  <a:off x="4868218" y="4758683"/>
                  <a:ext cx="370165" cy="307777"/>
                </a:xfrm>
                <a:prstGeom prst="rect">
                  <a:avLst/>
                </a:prstGeom>
                <a:blipFill rotWithShape="0">
                  <a:blip r:embed="rId34"/>
                  <a:stretch>
                    <a:fillRect/>
                  </a:stretch>
                </a:blipFill>
              </p:spPr>
              <p:txBody>
                <a:bodyPr/>
                <a:lstStyle/>
                <a:p>
                  <a:r>
                    <a:rPr lang="zh-CN" altLang="en-US">
                      <a:noFill/>
                    </a:rPr>
                    <a:t> </a:t>
                  </a:r>
                </a:p>
              </p:txBody>
            </p:sp>
          </mc:Fallback>
        </mc:AlternateContent>
        <p:sp>
          <p:nvSpPr>
            <p:cNvPr id="169" name="椭圆 38"/>
            <p:cNvSpPr/>
            <p:nvPr/>
          </p:nvSpPr>
          <p:spPr>
            <a:xfrm>
              <a:off x="5111710" y="4976768"/>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mc:AlternateContent xmlns:mc="http://schemas.openxmlformats.org/markup-compatibility/2006" xmlns:a14="http://schemas.microsoft.com/office/drawing/2010/main">
        <mc:Choice Requires="a14">
          <p:sp>
            <p:nvSpPr>
              <p:cNvPr id="212" name="文本框 211"/>
              <p:cNvSpPr txBox="1"/>
              <p:nvPr/>
            </p:nvSpPr>
            <p:spPr>
              <a:xfrm>
                <a:off x="1239025" y="3814076"/>
                <a:ext cx="565343" cy="282573"/>
              </a:xfrm>
              <a:prstGeom prst="rect">
                <a:avLst/>
              </a:prstGeom>
              <a:solidFill>
                <a:srgbClr val="FFFF00"/>
              </a:solidFill>
            </p:spPr>
            <p:txBody>
              <a:bodyPr wrap="none" lIns="18000" tIns="18000" rIns="18000" bIns="18000" rtlCol="0">
                <a:spAutoFit/>
              </a:bodyPr>
              <a:lstStyle/>
              <a:p>
                <a:pPr/>
                <a14:m>
                  <m:oMathPara xmlns:m="http://schemas.openxmlformats.org/officeDocument/2006/math">
                    <m:oMathParaPr>
                      <m:jc m:val="centerGroup"/>
                    </m:oMathParaPr>
                    <m:oMath xmlns:m="http://schemas.openxmlformats.org/officeDocument/2006/math">
                      <m:r>
                        <a:rPr lang="en-US" altLang="zh-CN" sz="1600" i="1">
                          <a:solidFill>
                            <a:srgbClr val="FF0000"/>
                          </a:solidFill>
                          <a:latin typeface="Cambria Math" panose="02040503050406030204" pitchFamily="18" charset="0"/>
                        </a:rPr>
                        <m:t>𝑟</m:t>
                      </m:r>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𝑐</m:t>
                      </m:r>
                    </m:oMath>
                  </m:oMathPara>
                </a14:m>
                <a:endParaRPr lang="zh-CN" altLang="en-US" sz="1600" dirty="0">
                  <a:solidFill>
                    <a:srgbClr val="FF0000"/>
                  </a:solidFill>
                </a:endParaRPr>
              </a:p>
            </p:txBody>
          </p:sp>
        </mc:Choice>
        <mc:Fallback xmlns="">
          <p:sp>
            <p:nvSpPr>
              <p:cNvPr id="212" name="文本框 211"/>
              <p:cNvSpPr txBox="1">
                <a:spLocks noRot="1" noChangeAspect="1" noMove="1" noResize="1" noEditPoints="1" noAdjustHandles="1" noChangeArrowheads="1" noChangeShapeType="1" noTextEdit="1"/>
              </p:cNvSpPr>
              <p:nvPr/>
            </p:nvSpPr>
            <p:spPr>
              <a:xfrm>
                <a:off x="1239025" y="3814076"/>
                <a:ext cx="565343" cy="282573"/>
              </a:xfrm>
              <a:prstGeom prst="rect">
                <a:avLst/>
              </a:prstGeom>
              <a:blipFill rotWithShape="0">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3" name="文本框 212"/>
              <p:cNvSpPr txBox="1"/>
              <p:nvPr/>
            </p:nvSpPr>
            <p:spPr>
              <a:xfrm>
                <a:off x="4161088" y="3814075"/>
                <a:ext cx="719807" cy="282573"/>
              </a:xfrm>
              <a:prstGeom prst="rect">
                <a:avLst/>
              </a:prstGeom>
              <a:solidFill>
                <a:srgbClr val="FFFF00"/>
              </a:solidFill>
            </p:spPr>
            <p:txBody>
              <a:bodyPr wrap="none" lIns="18000" tIns="18000" rIns="18000" bIns="1800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solidFill>
                                <a:srgbClr val="FF0000"/>
                              </a:solidFill>
                              <a:latin typeface="Cambria Math" panose="02040503050406030204" pitchFamily="18" charset="0"/>
                            </a:rPr>
                          </m:ctrlPr>
                        </m:sSubPr>
                        <m:e>
                          <m:r>
                            <a:rPr lang="zh-CN" altLang="en-US" sz="1600" i="1">
                              <a:solidFill>
                                <a:srgbClr val="FF0000"/>
                              </a:solidFill>
                              <a:latin typeface="Cambria Math" panose="02040503050406030204" pitchFamily="18" charset="0"/>
                            </a:rPr>
                            <m:t>𝜎</m:t>
                          </m:r>
                        </m:e>
                        <m:sub>
                          <m:r>
                            <a:rPr lang="en-US" altLang="zh-CN" sz="1600" i="1">
                              <a:solidFill>
                                <a:srgbClr val="FF0000"/>
                              </a:solidFill>
                              <a:latin typeface="Cambria Math" panose="02040503050406030204" pitchFamily="18" charset="0"/>
                            </a:rPr>
                            <m:t>𝑚</m:t>
                          </m:r>
                        </m:sub>
                      </m:sSub>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𝑐</m:t>
                      </m:r>
                    </m:oMath>
                  </m:oMathPara>
                </a14:m>
                <a:endParaRPr lang="zh-CN" altLang="en-US" sz="1600" dirty="0">
                  <a:solidFill>
                    <a:srgbClr val="FF0000"/>
                  </a:solidFill>
                </a:endParaRPr>
              </a:p>
            </p:txBody>
          </p:sp>
        </mc:Choice>
        <mc:Fallback xmlns="">
          <p:sp>
            <p:nvSpPr>
              <p:cNvPr id="213" name="文本框 212"/>
              <p:cNvSpPr txBox="1">
                <a:spLocks noRot="1" noChangeAspect="1" noMove="1" noResize="1" noEditPoints="1" noAdjustHandles="1" noChangeArrowheads="1" noChangeShapeType="1" noTextEdit="1"/>
              </p:cNvSpPr>
              <p:nvPr/>
            </p:nvSpPr>
            <p:spPr>
              <a:xfrm>
                <a:off x="4161088" y="3814075"/>
                <a:ext cx="719807" cy="282573"/>
              </a:xfrm>
              <a:prstGeom prst="rect">
                <a:avLst/>
              </a:prstGeom>
              <a:blipFill rotWithShape="0">
                <a:blip r:embed="rId42"/>
                <a:stretch>
                  <a:fillRect l="-847" b="-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4" name="文本框 213"/>
              <p:cNvSpPr txBox="1"/>
              <p:nvPr/>
            </p:nvSpPr>
            <p:spPr>
              <a:xfrm>
                <a:off x="7092280" y="3811937"/>
                <a:ext cx="870490" cy="282573"/>
              </a:xfrm>
              <a:prstGeom prst="rect">
                <a:avLst/>
              </a:prstGeom>
              <a:solidFill>
                <a:srgbClr val="FFFF00"/>
              </a:solidFill>
            </p:spPr>
            <p:txBody>
              <a:bodyPr wrap="none" lIns="18000" tIns="18000" rIns="18000" bIns="1800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a:solidFill>
                                <a:srgbClr val="FF0000"/>
                              </a:solidFill>
                              <a:latin typeface="Cambria Math" panose="02040503050406030204" pitchFamily="18" charset="0"/>
                            </a:rPr>
                          </m:ctrlPr>
                        </m:sSubPr>
                        <m:e>
                          <m:r>
                            <a:rPr lang="zh-CN" altLang="en-US" sz="1600" i="1">
                              <a:solidFill>
                                <a:srgbClr val="FF0000"/>
                              </a:solidFill>
                              <a:latin typeface="Cambria Math" panose="02040503050406030204" pitchFamily="18" charset="0"/>
                            </a:rPr>
                            <m:t>𝜎</m:t>
                          </m:r>
                        </m:e>
                        <m:sub>
                          <m:r>
                            <a:rPr lang="en-US" altLang="zh-CN" sz="1600" i="1">
                              <a:solidFill>
                                <a:srgbClr val="FF0000"/>
                              </a:solidFill>
                              <a:latin typeface="Cambria Math" panose="02040503050406030204" pitchFamily="18" charset="0"/>
                            </a:rPr>
                            <m:t>𝑚𝑖𝑛</m:t>
                          </m:r>
                        </m:sub>
                      </m:sSub>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𝑐</m:t>
                      </m:r>
                    </m:oMath>
                  </m:oMathPara>
                </a14:m>
                <a:endParaRPr lang="zh-CN" altLang="en-US" sz="1600" dirty="0">
                  <a:solidFill>
                    <a:srgbClr val="FF0000"/>
                  </a:solidFill>
                </a:endParaRPr>
              </a:p>
            </p:txBody>
          </p:sp>
        </mc:Choice>
        <mc:Fallback xmlns="">
          <p:sp>
            <p:nvSpPr>
              <p:cNvPr id="214" name="文本框 213"/>
              <p:cNvSpPr txBox="1">
                <a:spLocks noRot="1" noChangeAspect="1" noMove="1" noResize="1" noEditPoints="1" noAdjustHandles="1" noChangeArrowheads="1" noChangeShapeType="1" noTextEdit="1"/>
              </p:cNvSpPr>
              <p:nvPr/>
            </p:nvSpPr>
            <p:spPr>
              <a:xfrm>
                <a:off x="7092280" y="3811937"/>
                <a:ext cx="870490" cy="282573"/>
              </a:xfrm>
              <a:prstGeom prst="rect">
                <a:avLst/>
              </a:prstGeom>
              <a:blipFill rotWithShape="0">
                <a:blip r:embed="rId43"/>
                <a:stretch>
                  <a:fillRect b="-8511"/>
                </a:stretch>
              </a:blipFill>
            </p:spPr>
            <p:txBody>
              <a:bodyPr/>
              <a:lstStyle/>
              <a:p>
                <a:r>
                  <a:rPr lang="zh-CN" altLang="en-US">
                    <a:noFill/>
                  </a:rPr>
                  <a:t> </a:t>
                </a:r>
              </a:p>
            </p:txBody>
          </p:sp>
        </mc:Fallback>
      </mc:AlternateContent>
      <p:grpSp>
        <p:nvGrpSpPr>
          <p:cNvPr id="219" name="组合 218"/>
          <p:cNvGrpSpPr/>
          <p:nvPr/>
        </p:nvGrpSpPr>
        <p:grpSpPr>
          <a:xfrm>
            <a:off x="259753" y="3697437"/>
            <a:ext cx="2956211" cy="1930551"/>
            <a:chOff x="259753" y="3697437"/>
            <a:chExt cx="2956211" cy="1930551"/>
          </a:xfrm>
        </p:grpSpPr>
        <mc:AlternateContent xmlns:mc="http://schemas.openxmlformats.org/markup-compatibility/2006" xmlns:a14="http://schemas.microsoft.com/office/drawing/2010/main">
          <mc:Choice Requires="a14">
            <p:sp>
              <p:nvSpPr>
                <p:cNvPr id="39" name="文本框 38"/>
                <p:cNvSpPr txBox="1"/>
                <p:nvPr/>
              </p:nvSpPr>
              <p:spPr>
                <a:xfrm>
                  <a:off x="2149317" y="5120449"/>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39" name="文本框 38"/>
                <p:cNvSpPr txBox="1">
                  <a:spLocks noRot="1" noChangeAspect="1" noMove="1" noResize="1" noEditPoints="1" noAdjustHandles="1" noChangeArrowheads="1" noChangeShapeType="1" noTextEdit="1"/>
                </p:cNvSpPr>
                <p:nvPr/>
              </p:nvSpPr>
              <p:spPr>
                <a:xfrm>
                  <a:off x="2149317" y="5120449"/>
                  <a:ext cx="409086" cy="246221"/>
                </a:xfrm>
                <a:prstGeom prst="rect">
                  <a:avLst/>
                </a:prstGeom>
                <a:blipFill rotWithShape="0">
                  <a:blip r:embed="rId9"/>
                  <a:stretch>
                    <a:fillRect/>
                  </a:stretch>
                </a:blipFill>
              </p:spPr>
              <p:txBody>
                <a:bodyPr/>
                <a:lstStyle/>
                <a:p>
                  <a:r>
                    <a:rPr lang="zh-CN" altLang="en-US">
                      <a:noFill/>
                    </a:rPr>
                    <a:t> </a:t>
                  </a:r>
                </a:p>
              </p:txBody>
            </p:sp>
          </mc:Fallback>
        </mc:AlternateContent>
        <p:grpSp>
          <p:nvGrpSpPr>
            <p:cNvPr id="215" name="组合 214"/>
            <p:cNvGrpSpPr/>
            <p:nvPr/>
          </p:nvGrpSpPr>
          <p:grpSpPr>
            <a:xfrm>
              <a:off x="259753" y="3697437"/>
              <a:ext cx="2956211" cy="1930551"/>
              <a:chOff x="259753" y="3697437"/>
              <a:chExt cx="2956211" cy="1930551"/>
            </a:xfrm>
          </p:grpSpPr>
          <p:grpSp>
            <p:nvGrpSpPr>
              <p:cNvPr id="10" name="组合 9"/>
              <p:cNvGrpSpPr/>
              <p:nvPr/>
            </p:nvGrpSpPr>
            <p:grpSpPr>
              <a:xfrm>
                <a:off x="259753" y="3697437"/>
                <a:ext cx="420307" cy="1643628"/>
                <a:chOff x="878321" y="2077971"/>
                <a:chExt cx="420307" cy="1643628"/>
              </a:xfrm>
            </p:grpSpPr>
            <p:cxnSp>
              <p:nvCxnSpPr>
                <p:cNvPr id="11" name="直接箭头连接符 10"/>
                <p:cNvCxnSpPr/>
                <p:nvPr/>
              </p:nvCxnSpPr>
              <p:spPr>
                <a:xfrm flipH="1" flipV="1">
                  <a:off x="1074005" y="2385997"/>
                  <a:ext cx="15" cy="133560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p:cNvSpPr txBox="1"/>
                    <p:nvPr/>
                  </p:nvSpPr>
                  <p:spPr>
                    <a:xfrm>
                      <a:off x="878321" y="2077971"/>
                      <a:ext cx="42030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𝑎</m:t>
                                </m:r>
                              </m:sub>
                            </m:sSub>
                          </m:oMath>
                        </m:oMathPara>
                      </a14:m>
                      <a:endParaRPr lang="zh-CN" altLang="en-US" sz="14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878321" y="2077971"/>
                      <a:ext cx="420307" cy="307777"/>
                    </a:xfrm>
                    <a:prstGeom prst="rect">
                      <a:avLst/>
                    </a:prstGeom>
                    <a:blipFill rotWithShape="0">
                      <a:blip r:embed="rId12"/>
                      <a:stretch>
                        <a:fillRect/>
                      </a:stretch>
                    </a:blipFill>
                  </p:spPr>
                  <p:txBody>
                    <a:bodyPr/>
                    <a:lstStyle/>
                    <a:p>
                      <a:r>
                        <a:rPr lang="zh-CN" altLang="en-US">
                          <a:noFill/>
                        </a:rPr>
                        <a:t> </a:t>
                      </a:r>
                    </a:p>
                  </p:txBody>
                </p:sp>
              </mc:Fallback>
            </mc:AlternateContent>
          </p:grpSp>
          <p:grpSp>
            <p:nvGrpSpPr>
              <p:cNvPr id="13" name="组合 12"/>
              <p:cNvGrpSpPr/>
              <p:nvPr/>
            </p:nvGrpSpPr>
            <p:grpSpPr>
              <a:xfrm>
                <a:off x="455452" y="5142435"/>
                <a:ext cx="2760512" cy="307777"/>
                <a:chOff x="1074020" y="3522969"/>
                <a:chExt cx="2760512" cy="307777"/>
              </a:xfrm>
            </p:grpSpPr>
            <p:cxnSp>
              <p:nvCxnSpPr>
                <p:cNvPr id="14" name="直接箭头连接符 13"/>
                <p:cNvCxnSpPr/>
                <p:nvPr/>
              </p:nvCxnSpPr>
              <p:spPr>
                <a:xfrm>
                  <a:off x="1074020" y="3721596"/>
                  <a:ext cx="2376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p:cNvSpPr txBox="1"/>
                    <p:nvPr/>
                  </p:nvSpPr>
                  <p:spPr>
                    <a:xfrm>
                      <a:off x="3375111" y="3522969"/>
                      <a:ext cx="45942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3375111" y="3522969"/>
                      <a:ext cx="459421" cy="307777"/>
                    </a:xfrm>
                    <a:prstGeom prst="rect">
                      <a:avLst/>
                    </a:prstGeom>
                    <a:blipFill rotWithShape="0">
                      <a:blip r:embed="rId6"/>
                      <a:stretch>
                        <a:fillRect/>
                      </a:stretch>
                    </a:blipFill>
                  </p:spPr>
                  <p:txBody>
                    <a:bodyPr/>
                    <a:lstStyle/>
                    <a:p>
                      <a:r>
                        <a:rPr lang="zh-CN" altLang="en-US">
                          <a:noFill/>
                        </a:rPr>
                        <a:t> </a:t>
                      </a:r>
                    </a:p>
                  </p:txBody>
                </p:sp>
              </mc:Fallback>
            </mc:AlternateContent>
          </p:grpSp>
          <p:cxnSp>
            <p:nvCxnSpPr>
              <p:cNvPr id="18" name="直接连接符 17"/>
              <p:cNvCxnSpPr/>
              <p:nvPr/>
            </p:nvCxnSpPr>
            <p:spPr>
              <a:xfrm flipH="1" flipV="1">
                <a:off x="2132434" y="4562314"/>
                <a:ext cx="481776" cy="7756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2475882" y="5289486"/>
                <a:ext cx="346570" cy="338502"/>
                <a:chOff x="4953773" y="3677145"/>
                <a:chExt cx="346570" cy="338502"/>
              </a:xfrm>
            </p:grpSpPr>
            <p:sp>
              <p:nvSpPr>
                <p:cNvPr id="27" name="椭圆 38"/>
                <p:cNvSpPr/>
                <p:nvPr/>
              </p:nvSpPr>
              <p:spPr>
                <a:xfrm>
                  <a:off x="5034460" y="3677145"/>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28" name="文本框 27"/>
                    <p:cNvSpPr txBox="1"/>
                    <p:nvPr/>
                  </p:nvSpPr>
                  <p:spPr>
                    <a:xfrm>
                      <a:off x="4953773" y="3707870"/>
                      <a:ext cx="3465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𝐶</m:t>
                            </m:r>
                          </m:oMath>
                        </m:oMathPara>
                      </a14:m>
                      <a:endParaRPr lang="zh-CN" altLang="en-US" sz="1400" dirty="0"/>
                    </a:p>
                  </p:txBody>
                </p:sp>
              </mc:Choice>
              <mc:Fallback xmlns="">
                <p:sp>
                  <p:nvSpPr>
                    <p:cNvPr id="28" name="文本框 27"/>
                    <p:cNvSpPr txBox="1">
                      <a:spLocks noRot="1" noChangeAspect="1" noMove="1" noResize="1" noEditPoints="1" noAdjustHandles="1" noChangeArrowheads="1" noChangeShapeType="1" noTextEdit="1"/>
                    </p:cNvSpPr>
                    <p:nvPr/>
                  </p:nvSpPr>
                  <p:spPr>
                    <a:xfrm>
                      <a:off x="4953773" y="3707870"/>
                      <a:ext cx="346570" cy="307777"/>
                    </a:xfrm>
                    <a:prstGeom prst="rect">
                      <a:avLst/>
                    </a:prstGeom>
                    <a:blipFill rotWithShape="0">
                      <a:blip r:embed="rId4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3" name="文本框 32"/>
                  <p:cNvSpPr txBox="1"/>
                  <p:nvPr/>
                </p:nvSpPr>
                <p:spPr>
                  <a:xfrm>
                    <a:off x="282334" y="5300151"/>
                    <a:ext cx="3605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𝑂</m:t>
                          </m:r>
                        </m:oMath>
                      </m:oMathPara>
                    </a14:m>
                    <a:endParaRPr lang="zh-CN" altLang="en-US" sz="1400" dirty="0"/>
                  </a:p>
                </p:txBody>
              </p:sp>
            </mc:Choice>
            <mc:Fallback xmlns="">
              <p:sp>
                <p:nvSpPr>
                  <p:cNvPr id="33" name="文本框 32"/>
                  <p:cNvSpPr txBox="1">
                    <a:spLocks noRot="1" noChangeAspect="1" noMove="1" noResize="1" noEditPoints="1" noAdjustHandles="1" noChangeArrowheads="1" noChangeShapeType="1" noTextEdit="1"/>
                  </p:cNvSpPr>
                  <p:nvPr/>
                </p:nvSpPr>
                <p:spPr>
                  <a:xfrm>
                    <a:off x="282334" y="5300151"/>
                    <a:ext cx="360548" cy="307777"/>
                  </a:xfrm>
                  <a:prstGeom prst="rect">
                    <a:avLst/>
                  </a:prstGeom>
                  <a:blipFill rotWithShape="0">
                    <a:blip r:embed="rId8"/>
                    <a:stretch>
                      <a:fillRect/>
                    </a:stretch>
                  </a:blipFill>
                </p:spPr>
                <p:txBody>
                  <a:bodyPr/>
                  <a:lstStyle/>
                  <a:p>
                    <a:r>
                      <a:rPr lang="zh-CN" altLang="en-US">
                        <a:noFill/>
                      </a:rPr>
                      <a:t> </a:t>
                    </a:r>
                  </a:p>
                </p:txBody>
              </p:sp>
            </mc:Fallback>
          </mc:AlternateContent>
          <p:cxnSp>
            <p:nvCxnSpPr>
              <p:cNvPr id="52" name="直接连接符 51"/>
              <p:cNvCxnSpPr/>
              <p:nvPr/>
            </p:nvCxnSpPr>
            <p:spPr>
              <a:xfrm flipH="1" flipV="1">
                <a:off x="437840" y="4319431"/>
                <a:ext cx="1694594" cy="2482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396646" y="4032726"/>
                <a:ext cx="352982" cy="329144"/>
                <a:chOff x="1025447" y="3073892"/>
                <a:chExt cx="352982" cy="329144"/>
              </a:xfrm>
            </p:grpSpPr>
            <mc:AlternateContent xmlns:mc="http://schemas.openxmlformats.org/markup-compatibility/2006" xmlns:a14="http://schemas.microsoft.com/office/drawing/2010/main">
              <mc:Choice Requires="a14">
                <p:sp>
                  <p:nvSpPr>
                    <p:cNvPr id="67" name="文本框 66"/>
                    <p:cNvSpPr txBox="1"/>
                    <p:nvPr/>
                  </p:nvSpPr>
                  <p:spPr>
                    <a:xfrm>
                      <a:off x="1025447" y="3073892"/>
                      <a:ext cx="35298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solidFill>
                                  <a:schemeClr val="tx1"/>
                                </a:solidFill>
                                <a:latin typeface="Cambria Math" panose="02040503050406030204" pitchFamily="18" charset="0"/>
                              </a:rPr>
                              <m:t>𝐴</m:t>
                            </m:r>
                          </m:oMath>
                        </m:oMathPara>
                      </a14:m>
                      <a:endParaRPr lang="zh-CN" altLang="en-US" sz="1400" dirty="0">
                        <a:solidFill>
                          <a:schemeClr val="tx1"/>
                        </a:solidFill>
                      </a:endParaRPr>
                    </a:p>
                  </p:txBody>
                </p:sp>
              </mc:Choice>
              <mc:Fallback xmlns="">
                <p:sp>
                  <p:nvSpPr>
                    <p:cNvPr id="67" name="文本框 66"/>
                    <p:cNvSpPr txBox="1">
                      <a:spLocks noRot="1" noChangeAspect="1" noMove="1" noResize="1" noEditPoints="1" noAdjustHandles="1" noChangeArrowheads="1" noChangeShapeType="1" noTextEdit="1"/>
                    </p:cNvSpPr>
                    <p:nvPr/>
                  </p:nvSpPr>
                  <p:spPr>
                    <a:xfrm>
                      <a:off x="1025447" y="3073892"/>
                      <a:ext cx="352982" cy="307777"/>
                    </a:xfrm>
                    <a:prstGeom prst="rect">
                      <a:avLst/>
                    </a:prstGeom>
                    <a:blipFill rotWithShape="0">
                      <a:blip r:embed="rId10"/>
                      <a:stretch>
                        <a:fillRect/>
                      </a:stretch>
                    </a:blipFill>
                  </p:spPr>
                  <p:txBody>
                    <a:bodyPr/>
                    <a:lstStyle/>
                    <a:p>
                      <a:r>
                        <a:rPr lang="zh-CN" altLang="en-US">
                          <a:noFill/>
                        </a:rPr>
                        <a:t> </a:t>
                      </a:r>
                    </a:p>
                  </p:txBody>
                </p:sp>
              </mc:Fallback>
            </mc:AlternateContent>
            <p:sp>
              <p:nvSpPr>
                <p:cNvPr id="68" name="椭圆 38"/>
                <p:cNvSpPr/>
                <p:nvPr/>
              </p:nvSpPr>
              <p:spPr>
                <a:xfrm>
                  <a:off x="1036547" y="3314136"/>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72" name="组合 71"/>
              <p:cNvGrpSpPr/>
              <p:nvPr/>
            </p:nvGrpSpPr>
            <p:grpSpPr>
              <a:xfrm>
                <a:off x="2036173" y="4295449"/>
                <a:ext cx="354584" cy="323257"/>
                <a:chOff x="4300766" y="3523446"/>
                <a:chExt cx="354584" cy="323257"/>
              </a:xfrm>
            </p:grpSpPr>
            <p:sp>
              <p:nvSpPr>
                <p:cNvPr id="73" name="椭圆 38"/>
                <p:cNvSpPr/>
                <p:nvPr/>
              </p:nvSpPr>
              <p:spPr>
                <a:xfrm>
                  <a:off x="4359685" y="3757803"/>
                  <a:ext cx="889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74" name="文本框 73"/>
                    <p:cNvSpPr txBox="1"/>
                    <p:nvPr/>
                  </p:nvSpPr>
                  <p:spPr>
                    <a:xfrm>
                      <a:off x="4300766" y="3523446"/>
                      <a:ext cx="35458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𝐺</m:t>
                            </m:r>
                          </m:oMath>
                        </m:oMathPara>
                      </a14:m>
                      <a:endParaRPr lang="zh-CN" altLang="en-US" sz="1400" dirty="0"/>
                    </a:p>
                  </p:txBody>
                </p:sp>
              </mc:Choice>
              <mc:Fallback xmlns="">
                <p:sp>
                  <p:nvSpPr>
                    <p:cNvPr id="74" name="文本框 73"/>
                    <p:cNvSpPr txBox="1">
                      <a:spLocks noRot="1" noChangeAspect="1" noMove="1" noResize="1" noEditPoints="1" noAdjustHandles="1" noChangeArrowheads="1" noChangeShapeType="1" noTextEdit="1"/>
                    </p:cNvSpPr>
                    <p:nvPr/>
                  </p:nvSpPr>
                  <p:spPr>
                    <a:xfrm>
                      <a:off x="4300766" y="3523446"/>
                      <a:ext cx="354584" cy="307777"/>
                    </a:xfrm>
                    <a:prstGeom prst="rect">
                      <a:avLst/>
                    </a:prstGeom>
                    <a:blipFill rotWithShape="0">
                      <a:blip r:embed="rId11"/>
                      <a:stretch>
                        <a:fillRect/>
                      </a:stretch>
                    </a:blipFill>
                  </p:spPr>
                  <p:txBody>
                    <a:bodyPr/>
                    <a:lstStyle/>
                    <a:p>
                      <a:r>
                        <a:rPr lang="zh-CN" altLang="en-US">
                          <a:noFill/>
                        </a:rPr>
                        <a:t> </a:t>
                      </a:r>
                    </a:p>
                  </p:txBody>
                </p:sp>
              </mc:Fallback>
            </mc:AlternateContent>
          </p:grpSp>
        </p:grpSp>
        <p:sp>
          <p:nvSpPr>
            <p:cNvPr id="216" name="弧形 215"/>
            <p:cNvSpPr/>
            <p:nvPr/>
          </p:nvSpPr>
          <p:spPr>
            <a:xfrm>
              <a:off x="2428900" y="5197638"/>
              <a:ext cx="337687" cy="338590"/>
            </a:xfrm>
            <a:prstGeom prst="arc">
              <a:avLst>
                <a:gd name="adj1" fmla="val 10925161"/>
                <a:gd name="adj2" fmla="val 1479037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32" name="组合 231"/>
          <p:cNvGrpSpPr/>
          <p:nvPr/>
        </p:nvGrpSpPr>
        <p:grpSpPr>
          <a:xfrm>
            <a:off x="749628" y="4066229"/>
            <a:ext cx="454740" cy="369690"/>
            <a:chOff x="749628" y="4066229"/>
            <a:chExt cx="454740" cy="369690"/>
          </a:xfrm>
        </p:grpSpPr>
        <mc:AlternateContent xmlns:mc="http://schemas.openxmlformats.org/markup-compatibility/2006" xmlns:a14="http://schemas.microsoft.com/office/drawing/2010/main">
          <mc:Choice Requires="a14">
            <p:sp>
              <p:nvSpPr>
                <p:cNvPr id="179" name="文本框 178"/>
                <p:cNvSpPr txBox="1"/>
                <p:nvPr/>
              </p:nvSpPr>
              <p:spPr>
                <a:xfrm>
                  <a:off x="749628" y="4066229"/>
                  <a:ext cx="45474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𝑀</m:t>
                            </m:r>
                          </m:e>
                          <m:sub>
                            <m:r>
                              <a:rPr lang="en-US" altLang="zh-CN" sz="1400" b="0" i="1" smtClean="0">
                                <a:latin typeface="Cambria Math" panose="02040503050406030204" pitchFamily="18" charset="0"/>
                              </a:rPr>
                              <m:t>1</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179" name="文本框 178"/>
                <p:cNvSpPr txBox="1">
                  <a:spLocks noRot="1" noChangeAspect="1" noMove="1" noResize="1" noEditPoints="1" noAdjustHandles="1" noChangeArrowheads="1" noChangeShapeType="1" noTextEdit="1"/>
                </p:cNvSpPr>
                <p:nvPr/>
              </p:nvSpPr>
              <p:spPr>
                <a:xfrm>
                  <a:off x="749628" y="4066229"/>
                  <a:ext cx="454740" cy="307777"/>
                </a:xfrm>
                <a:prstGeom prst="rect">
                  <a:avLst/>
                </a:prstGeom>
                <a:blipFill rotWithShape="0">
                  <a:blip r:embed="rId45"/>
                  <a:stretch>
                    <a:fillRect/>
                  </a:stretch>
                </a:blipFill>
              </p:spPr>
              <p:txBody>
                <a:bodyPr/>
                <a:lstStyle/>
                <a:p>
                  <a:r>
                    <a:rPr lang="zh-CN" altLang="en-US">
                      <a:noFill/>
                    </a:rPr>
                    <a:t> </a:t>
                  </a:r>
                </a:p>
              </p:txBody>
            </p:sp>
          </mc:Fallback>
        </mc:AlternateContent>
        <p:sp>
          <p:nvSpPr>
            <p:cNvPr id="180" name="椭圆 38"/>
            <p:cNvSpPr/>
            <p:nvPr/>
          </p:nvSpPr>
          <p:spPr>
            <a:xfrm>
              <a:off x="836744" y="4347019"/>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236" name="组合 235"/>
          <p:cNvGrpSpPr/>
          <p:nvPr/>
        </p:nvGrpSpPr>
        <p:grpSpPr>
          <a:xfrm>
            <a:off x="2302609" y="4689665"/>
            <a:ext cx="429540" cy="339308"/>
            <a:chOff x="2302609" y="4689665"/>
            <a:chExt cx="429540" cy="339308"/>
          </a:xfrm>
        </p:grpSpPr>
        <mc:AlternateContent xmlns:mc="http://schemas.openxmlformats.org/markup-compatibility/2006" xmlns:a14="http://schemas.microsoft.com/office/drawing/2010/main">
          <mc:Choice Requires="a14">
            <p:sp>
              <p:nvSpPr>
                <p:cNvPr id="193" name="文本框 192"/>
                <p:cNvSpPr txBox="1"/>
                <p:nvPr/>
              </p:nvSpPr>
              <p:spPr>
                <a:xfrm>
                  <a:off x="2302609" y="4689665"/>
                  <a:ext cx="42954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en-US" altLang="zh-CN" sz="1400" b="0" i="1" smtClean="0">
                                <a:latin typeface="Cambria Math" panose="02040503050406030204" pitchFamily="18" charset="0"/>
                              </a:rPr>
                              <m:t>𝑁</m:t>
                            </m:r>
                          </m:e>
                          <m:sub>
                            <m:r>
                              <a:rPr lang="en-US" altLang="zh-CN" sz="1400" b="0" i="1" smtClean="0">
                                <a:latin typeface="Cambria Math" panose="02040503050406030204" pitchFamily="18" charset="0"/>
                              </a:rPr>
                              <m:t>1</m:t>
                            </m:r>
                          </m:sub>
                          <m:sup>
                            <m:r>
                              <a:rPr lang="en-US" altLang="zh-CN" sz="1400" b="0" i="1" smtClean="0">
                                <a:latin typeface="Cambria Math" panose="02040503050406030204" pitchFamily="18" charset="0"/>
                              </a:rPr>
                              <m:t>′</m:t>
                            </m:r>
                          </m:sup>
                        </m:sSubSup>
                      </m:oMath>
                    </m:oMathPara>
                  </a14:m>
                  <a:endParaRPr lang="zh-CN" altLang="en-US" sz="1400" dirty="0"/>
                </a:p>
              </p:txBody>
            </p:sp>
          </mc:Choice>
          <mc:Fallback xmlns="">
            <p:sp>
              <p:nvSpPr>
                <p:cNvPr id="193" name="文本框 192"/>
                <p:cNvSpPr txBox="1">
                  <a:spLocks noRot="1" noChangeAspect="1" noMove="1" noResize="1" noEditPoints="1" noAdjustHandles="1" noChangeArrowheads="1" noChangeShapeType="1" noTextEdit="1"/>
                </p:cNvSpPr>
                <p:nvPr/>
              </p:nvSpPr>
              <p:spPr>
                <a:xfrm>
                  <a:off x="2302609" y="4689665"/>
                  <a:ext cx="429540" cy="307777"/>
                </a:xfrm>
                <a:prstGeom prst="rect">
                  <a:avLst/>
                </a:prstGeom>
                <a:blipFill rotWithShape="0">
                  <a:blip r:embed="rId46"/>
                  <a:stretch>
                    <a:fillRect/>
                  </a:stretch>
                </a:blipFill>
              </p:spPr>
              <p:txBody>
                <a:bodyPr/>
                <a:lstStyle/>
                <a:p>
                  <a:r>
                    <a:rPr lang="zh-CN" altLang="en-US">
                      <a:noFill/>
                    </a:rPr>
                    <a:t> </a:t>
                  </a:r>
                </a:p>
              </p:txBody>
            </p:sp>
          </mc:Fallback>
        </mc:AlternateContent>
        <p:sp>
          <p:nvSpPr>
            <p:cNvPr id="192" name="椭圆 38"/>
            <p:cNvSpPr/>
            <p:nvPr/>
          </p:nvSpPr>
          <p:spPr>
            <a:xfrm>
              <a:off x="2346174" y="4940073"/>
              <a:ext cx="88900" cy="88900"/>
            </a:xfrm>
            <a:prstGeom prst="ellipse">
              <a:avLst/>
            </a:prstGeom>
            <a:solidFill>
              <a:srgbClr val="FF00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grpSp>
        <p:nvGrpSpPr>
          <p:cNvPr id="240" name="组合 239"/>
          <p:cNvGrpSpPr/>
          <p:nvPr/>
        </p:nvGrpSpPr>
        <p:grpSpPr>
          <a:xfrm>
            <a:off x="6690285" y="4495669"/>
            <a:ext cx="828586" cy="866931"/>
            <a:chOff x="6690285" y="4495669"/>
            <a:chExt cx="828586" cy="866931"/>
          </a:xfrm>
        </p:grpSpPr>
        <p:cxnSp>
          <p:nvCxnSpPr>
            <p:cNvPr id="175" name="直接连接符 174"/>
            <p:cNvCxnSpPr/>
            <p:nvPr/>
          </p:nvCxnSpPr>
          <p:spPr>
            <a:xfrm flipV="1">
              <a:off x="6690285" y="4495669"/>
              <a:ext cx="828586" cy="8548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9" name="文本框 238"/>
                <p:cNvSpPr txBox="1"/>
                <p:nvPr/>
              </p:nvSpPr>
              <p:spPr>
                <a:xfrm>
                  <a:off x="6766162" y="5116379"/>
                  <a:ext cx="409086"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45</m:t>
                        </m:r>
                        <m:r>
                          <a:rPr lang="en-US" altLang="zh-CN" sz="1000" b="0" i="1" smtClean="0">
                            <a:latin typeface="Cambria Math" panose="02040503050406030204" pitchFamily="18" charset="0"/>
                            <a:ea typeface="Cambria Math" panose="02040503050406030204" pitchFamily="18" charset="0"/>
                          </a:rPr>
                          <m:t>°</m:t>
                        </m:r>
                      </m:oMath>
                    </m:oMathPara>
                  </a14:m>
                  <a:endParaRPr lang="zh-CN" altLang="en-US" sz="1000" dirty="0"/>
                </a:p>
              </p:txBody>
            </p:sp>
          </mc:Choice>
          <mc:Fallback xmlns="">
            <p:sp>
              <p:nvSpPr>
                <p:cNvPr id="239" name="文本框 238"/>
                <p:cNvSpPr txBox="1">
                  <a:spLocks noRot="1" noChangeAspect="1" noMove="1" noResize="1" noEditPoints="1" noAdjustHandles="1" noChangeArrowheads="1" noChangeShapeType="1" noTextEdit="1"/>
                </p:cNvSpPr>
                <p:nvPr/>
              </p:nvSpPr>
              <p:spPr>
                <a:xfrm>
                  <a:off x="6766162" y="5116379"/>
                  <a:ext cx="409086" cy="246221"/>
                </a:xfrm>
                <a:prstGeom prst="rect">
                  <a:avLst/>
                </a:prstGeom>
                <a:blipFill rotWithShape="0">
                  <a:blip r:embed="rId16"/>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64049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42"/>
                                        </p:tgtEl>
                                        <p:attrNameLst>
                                          <p:attrName>style.visibility</p:attrName>
                                        </p:attrNameLst>
                                      </p:cBhvr>
                                      <p:to>
                                        <p:strVal val="visible"/>
                                      </p:to>
                                    </p:set>
                                    <p:animEffect transition="in" filter="wipe(left)">
                                      <p:cBhvr>
                                        <p:cTn id="11" dur="500"/>
                                        <p:tgtEl>
                                          <p:spTgt spid="1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9"/>
                                        </p:tgtEl>
                                        <p:attrNameLst>
                                          <p:attrName>style.visibility</p:attrName>
                                        </p:attrNameLst>
                                      </p:cBhvr>
                                      <p:to>
                                        <p:strVal val="visible"/>
                                      </p:to>
                                    </p:set>
                                    <p:animEffect transition="in" filter="fade">
                                      <p:cBhvr>
                                        <p:cTn id="21" dur="500"/>
                                        <p:tgtEl>
                                          <p:spTgt spid="21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62"/>
                                        </p:tgtEl>
                                        <p:attrNameLst>
                                          <p:attrName>style.visibility</p:attrName>
                                        </p:attrNameLst>
                                      </p:cBhvr>
                                      <p:to>
                                        <p:strVal val="visible"/>
                                      </p:to>
                                    </p:set>
                                    <p:animEffect transition="in" filter="wipe(down)">
                                      <p:cBhvr>
                                        <p:cTn id="34" dur="500"/>
                                        <p:tgtEl>
                                          <p:spTgt spid="16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2"/>
                                        </p:tgtEl>
                                        <p:attrNameLst>
                                          <p:attrName>style.visibility</p:attrName>
                                        </p:attrNameLst>
                                      </p:cBhvr>
                                      <p:to>
                                        <p:strVal val="visible"/>
                                      </p:to>
                                    </p:set>
                                    <p:animEffect transition="in" filter="fade">
                                      <p:cBhvr>
                                        <p:cTn id="39" dur="750"/>
                                        <p:tgtEl>
                                          <p:spTgt spid="23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33"/>
                                        </p:tgtEl>
                                        <p:attrNameLst>
                                          <p:attrName>style.visibility</p:attrName>
                                        </p:attrNameLst>
                                      </p:cBhvr>
                                      <p:to>
                                        <p:strVal val="visible"/>
                                      </p:to>
                                    </p:set>
                                    <p:animEffect transition="in" filter="wipe(up)">
                                      <p:cBhvr>
                                        <p:cTn id="44" dur="500"/>
                                        <p:tgtEl>
                                          <p:spTgt spid="23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234"/>
                                        </p:tgtEl>
                                        <p:attrNameLst>
                                          <p:attrName>style.visibility</p:attrName>
                                        </p:attrNameLst>
                                      </p:cBhvr>
                                      <p:to>
                                        <p:strVal val="visible"/>
                                      </p:to>
                                    </p:set>
                                    <p:animEffect transition="in" filter="wipe(right)">
                                      <p:cBhvr>
                                        <p:cTn id="49" dur="500"/>
                                        <p:tgtEl>
                                          <p:spTgt spid="23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wipe(left)">
                                      <p:cBhvr>
                                        <p:cTn id="54" dur="500"/>
                                        <p:tgtEl>
                                          <p:spTgt spid="14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1"/>
                                        </p:tgtEl>
                                        <p:attrNameLst>
                                          <p:attrName>style.visibility</p:attrName>
                                        </p:attrNameLst>
                                      </p:cBhvr>
                                      <p:to>
                                        <p:strVal val="visible"/>
                                      </p:to>
                                    </p:set>
                                    <p:animEffect transition="in" filter="wipe(left)">
                                      <p:cBhvr>
                                        <p:cTn id="59" dur="500"/>
                                        <p:tgtEl>
                                          <p:spTgt spid="14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35"/>
                                        </p:tgtEl>
                                        <p:attrNameLst>
                                          <p:attrName>style.visibility</p:attrName>
                                        </p:attrNameLst>
                                      </p:cBhvr>
                                      <p:to>
                                        <p:strVal val="visible"/>
                                      </p:to>
                                    </p:set>
                                    <p:animEffect transition="in" filter="wipe(left)">
                                      <p:cBhvr>
                                        <p:cTn id="64" dur="500"/>
                                        <p:tgtEl>
                                          <p:spTgt spid="23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2"/>
                                        </p:tgtEl>
                                        <p:attrNameLst>
                                          <p:attrName>style.visibility</p:attrName>
                                        </p:attrNameLst>
                                      </p:cBhvr>
                                      <p:to>
                                        <p:strVal val="visible"/>
                                      </p:to>
                                    </p:set>
                                    <p:animEffect transition="in" filter="wipe(left)">
                                      <p:cBhvr>
                                        <p:cTn id="69" dur="500"/>
                                        <p:tgtEl>
                                          <p:spTgt spid="15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21"/>
                                        </p:tgtEl>
                                        <p:attrNameLst>
                                          <p:attrName>style.visibility</p:attrName>
                                        </p:attrNameLst>
                                      </p:cBhvr>
                                      <p:to>
                                        <p:strVal val="visible"/>
                                      </p:to>
                                    </p:set>
                                    <p:animEffect transition="in" filter="fade">
                                      <p:cBhvr>
                                        <p:cTn id="74" dur="750"/>
                                        <p:tgtEl>
                                          <p:spTgt spid="22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64"/>
                                        </p:tgtEl>
                                        <p:attrNameLst>
                                          <p:attrName>style.visibility</p:attrName>
                                        </p:attrNameLst>
                                      </p:cBhvr>
                                      <p:to>
                                        <p:strVal val="visible"/>
                                      </p:to>
                                    </p:set>
                                    <p:animEffect transition="in" filter="wipe(left)">
                                      <p:cBhvr>
                                        <p:cTn id="79" dur="500"/>
                                        <p:tgtEl>
                                          <p:spTgt spid="16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36"/>
                                        </p:tgtEl>
                                        <p:attrNameLst>
                                          <p:attrName>style.visibility</p:attrName>
                                        </p:attrNameLst>
                                      </p:cBhvr>
                                      <p:to>
                                        <p:strVal val="visible"/>
                                      </p:to>
                                    </p:set>
                                    <p:animEffect transition="in" filter="fade">
                                      <p:cBhvr>
                                        <p:cTn id="84" dur="750"/>
                                        <p:tgtEl>
                                          <p:spTgt spid="23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50"/>
                                        </p:tgtEl>
                                        <p:attrNameLst>
                                          <p:attrName>style.visibility</p:attrName>
                                        </p:attrNameLst>
                                      </p:cBhvr>
                                      <p:to>
                                        <p:strVal val="visible"/>
                                      </p:to>
                                    </p:set>
                                    <p:animEffect transition="in" filter="wipe(left)">
                                      <p:cBhvr>
                                        <p:cTn id="89" dur="500"/>
                                        <p:tgtEl>
                                          <p:spTgt spid="15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51"/>
                                        </p:tgtEl>
                                        <p:attrNameLst>
                                          <p:attrName>style.visibility</p:attrName>
                                        </p:attrNameLst>
                                      </p:cBhvr>
                                      <p:to>
                                        <p:strVal val="visible"/>
                                      </p:to>
                                    </p:set>
                                    <p:animEffect transition="in" filter="wipe(left)">
                                      <p:cBhvr>
                                        <p:cTn id="94" dur="750"/>
                                        <p:tgtEl>
                                          <p:spTgt spid="15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126"/>
                                        </p:tgtEl>
                                        <p:attrNameLst>
                                          <p:attrName>style.visibility</p:attrName>
                                        </p:attrNameLst>
                                      </p:cBhvr>
                                      <p:to>
                                        <p:strVal val="visible"/>
                                      </p:to>
                                    </p:set>
                                    <p:animEffect transition="in" filter="wipe(down)">
                                      <p:cBhvr>
                                        <p:cTn id="99" dur="500"/>
                                        <p:tgtEl>
                                          <p:spTgt spid="126"/>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23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fade">
                                      <p:cBhvr>
                                        <p:cTn id="108" dur="750"/>
                                        <p:tgtEl>
                                          <p:spTgt spid="22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13"/>
                                        </p:tgtEl>
                                        <p:attrNameLst>
                                          <p:attrName>style.visibility</p:attrName>
                                        </p:attrNameLst>
                                      </p:cBhvr>
                                      <p:to>
                                        <p:strVal val="visible"/>
                                      </p:to>
                                    </p:set>
                                    <p:animEffect transition="in" filter="wipe(left)">
                                      <p:cBhvr>
                                        <p:cTn id="113" dur="500"/>
                                        <p:tgtEl>
                                          <p:spTgt spid="21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173"/>
                                        </p:tgtEl>
                                        <p:attrNameLst>
                                          <p:attrName>style.visibility</p:attrName>
                                        </p:attrNameLst>
                                      </p:cBhvr>
                                      <p:to>
                                        <p:strVal val="visible"/>
                                      </p:to>
                                    </p:set>
                                    <p:animEffect transition="in" filter="wipe(down)">
                                      <p:cBhvr>
                                        <p:cTn id="118" dur="500"/>
                                        <p:tgtEl>
                                          <p:spTgt spid="173"/>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237"/>
                                        </p:tgtEl>
                                        <p:attrNameLst>
                                          <p:attrName>style.visibility</p:attrName>
                                        </p:attrNameLst>
                                      </p:cBhvr>
                                      <p:to>
                                        <p:strVal val="visible"/>
                                      </p:to>
                                    </p:set>
                                    <p:animEffect transition="in" filter="fade">
                                      <p:cBhvr>
                                        <p:cTn id="123" dur="750"/>
                                        <p:tgtEl>
                                          <p:spTgt spid="237"/>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45"/>
                                        </p:tgtEl>
                                        <p:attrNameLst>
                                          <p:attrName>style.visibility</p:attrName>
                                        </p:attrNameLst>
                                      </p:cBhvr>
                                      <p:to>
                                        <p:strVal val="visible"/>
                                      </p:to>
                                    </p:set>
                                    <p:animEffect transition="in" filter="wipe(left)">
                                      <p:cBhvr>
                                        <p:cTn id="128" dur="500"/>
                                        <p:tgtEl>
                                          <p:spTgt spid="145"/>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53"/>
                                        </p:tgtEl>
                                        <p:attrNameLst>
                                          <p:attrName>style.visibility</p:attrName>
                                        </p:attrNameLst>
                                      </p:cBhvr>
                                      <p:to>
                                        <p:strVal val="visible"/>
                                      </p:to>
                                    </p:set>
                                    <p:animEffect transition="in" filter="wipe(left)">
                                      <p:cBhvr>
                                        <p:cTn id="133" dur="500"/>
                                        <p:tgtEl>
                                          <p:spTgt spid="15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223"/>
                                        </p:tgtEl>
                                        <p:attrNameLst>
                                          <p:attrName>style.visibility</p:attrName>
                                        </p:attrNameLst>
                                      </p:cBhvr>
                                      <p:to>
                                        <p:strVal val="visible"/>
                                      </p:to>
                                    </p:set>
                                    <p:animEffect transition="in" filter="fade">
                                      <p:cBhvr>
                                        <p:cTn id="138" dur="500"/>
                                        <p:tgtEl>
                                          <p:spTgt spid="223"/>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4" fill="hold" nodeType="clickEffect">
                                  <p:stCondLst>
                                    <p:cond delay="0"/>
                                  </p:stCondLst>
                                  <p:childTnLst>
                                    <p:set>
                                      <p:cBhvr>
                                        <p:cTn id="142" dur="1" fill="hold">
                                          <p:stCondLst>
                                            <p:cond delay="0"/>
                                          </p:stCondLst>
                                        </p:cTn>
                                        <p:tgtEl>
                                          <p:spTgt spid="190"/>
                                        </p:tgtEl>
                                        <p:attrNameLst>
                                          <p:attrName>style.visibility</p:attrName>
                                        </p:attrNameLst>
                                      </p:cBhvr>
                                      <p:to>
                                        <p:strVal val="visible"/>
                                      </p:to>
                                    </p:set>
                                    <p:animEffect transition="in" filter="wipe(down)">
                                      <p:cBhvr>
                                        <p:cTn id="143" dur="500"/>
                                        <p:tgtEl>
                                          <p:spTgt spid="190"/>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238"/>
                                        </p:tgtEl>
                                        <p:attrNameLst>
                                          <p:attrName>style.visibility</p:attrName>
                                        </p:attrNameLst>
                                      </p:cBhvr>
                                      <p:to>
                                        <p:strVal val="visible"/>
                                      </p:to>
                                    </p:set>
                                    <p:animEffect transition="in" filter="fade">
                                      <p:cBhvr>
                                        <p:cTn id="148" dur="750"/>
                                        <p:tgtEl>
                                          <p:spTgt spid="238"/>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nodeType="clickEffect">
                                  <p:stCondLst>
                                    <p:cond delay="0"/>
                                  </p:stCondLst>
                                  <p:childTnLst>
                                    <p:set>
                                      <p:cBhvr>
                                        <p:cTn id="152" dur="1" fill="hold">
                                          <p:stCondLst>
                                            <p:cond delay="0"/>
                                          </p:stCondLst>
                                        </p:cTn>
                                        <p:tgtEl>
                                          <p:spTgt spid="129"/>
                                        </p:tgtEl>
                                        <p:attrNameLst>
                                          <p:attrName>style.visibility</p:attrName>
                                        </p:attrNameLst>
                                      </p:cBhvr>
                                      <p:to>
                                        <p:strVal val="visible"/>
                                      </p:to>
                                    </p:set>
                                    <p:animEffect transition="in" filter="wipe(up)">
                                      <p:cBhvr>
                                        <p:cTn id="153" dur="500"/>
                                        <p:tgtEl>
                                          <p:spTgt spid="129"/>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202"/>
                                        </p:tgtEl>
                                        <p:attrNameLst>
                                          <p:attrName>style.visibility</p:attrName>
                                        </p:attrNameLst>
                                      </p:cBhvr>
                                      <p:to>
                                        <p:strVal val="visible"/>
                                      </p:to>
                                    </p:set>
                                    <p:animEffect transition="in" filter="fade">
                                      <p:cBhvr>
                                        <p:cTn id="158" dur="750"/>
                                        <p:tgtEl>
                                          <p:spTgt spid="202"/>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23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224"/>
                                        </p:tgtEl>
                                        <p:attrNameLst>
                                          <p:attrName>style.visibility</p:attrName>
                                        </p:attrNameLst>
                                      </p:cBhvr>
                                      <p:to>
                                        <p:strVal val="visible"/>
                                      </p:to>
                                    </p:set>
                                    <p:animEffect transition="in" filter="fade">
                                      <p:cBhvr>
                                        <p:cTn id="167" dur="750"/>
                                        <p:tgtEl>
                                          <p:spTgt spid="224"/>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214"/>
                                        </p:tgtEl>
                                        <p:attrNameLst>
                                          <p:attrName>style.visibility</p:attrName>
                                        </p:attrNameLst>
                                      </p:cBhvr>
                                      <p:to>
                                        <p:strVal val="visible"/>
                                      </p:to>
                                    </p:set>
                                    <p:animEffect transition="in" filter="wipe(left)">
                                      <p:cBhvr>
                                        <p:cTn id="172" dur="500"/>
                                        <p:tgtEl>
                                          <p:spTgt spid="214"/>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4" fill="hold" nodeType="clickEffect">
                                  <p:stCondLst>
                                    <p:cond delay="0"/>
                                  </p:stCondLst>
                                  <p:childTnLst>
                                    <p:set>
                                      <p:cBhvr>
                                        <p:cTn id="176" dur="1" fill="hold">
                                          <p:stCondLst>
                                            <p:cond delay="0"/>
                                          </p:stCondLst>
                                        </p:cTn>
                                        <p:tgtEl>
                                          <p:spTgt spid="240"/>
                                        </p:tgtEl>
                                        <p:attrNameLst>
                                          <p:attrName>style.visibility</p:attrName>
                                        </p:attrNameLst>
                                      </p:cBhvr>
                                      <p:to>
                                        <p:strVal val="visible"/>
                                      </p:to>
                                    </p:set>
                                    <p:animEffect transition="in" filter="wipe(down)">
                                      <p:cBhvr>
                                        <p:cTn id="177" dur="500"/>
                                        <p:tgtEl>
                                          <p:spTgt spid="240"/>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241"/>
                                        </p:tgtEl>
                                        <p:attrNameLst>
                                          <p:attrName>style.visibility</p:attrName>
                                        </p:attrNameLst>
                                      </p:cBhvr>
                                      <p:to>
                                        <p:strVal val="visible"/>
                                      </p:to>
                                    </p:set>
                                    <p:animEffect transition="in" filter="fade">
                                      <p:cBhvr>
                                        <p:cTn id="182" dur="750"/>
                                        <p:tgtEl>
                                          <p:spTgt spid="241"/>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146"/>
                                        </p:tgtEl>
                                        <p:attrNameLst>
                                          <p:attrName>style.visibility</p:attrName>
                                        </p:attrNameLst>
                                      </p:cBhvr>
                                      <p:to>
                                        <p:strVal val="visible"/>
                                      </p:to>
                                    </p:set>
                                    <p:animEffect transition="in" filter="wipe(left)">
                                      <p:cBhvr>
                                        <p:cTn id="187" dur="750"/>
                                        <p:tgtEl>
                                          <p:spTgt spid="146"/>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childTnLst>
                                    <p:set>
                                      <p:cBhvr>
                                        <p:cTn id="191" dur="1" fill="hold">
                                          <p:stCondLst>
                                            <p:cond delay="0"/>
                                          </p:stCondLst>
                                        </p:cTn>
                                        <p:tgtEl>
                                          <p:spTgt spid="154"/>
                                        </p:tgtEl>
                                        <p:attrNameLst>
                                          <p:attrName>style.visibility</p:attrName>
                                        </p:attrNameLst>
                                      </p:cBhvr>
                                      <p:to>
                                        <p:strVal val="visible"/>
                                      </p:to>
                                    </p:set>
                                    <p:animEffect transition="in" filter="wipe(left)">
                                      <p:cBhvr>
                                        <p:cTn id="192" dur="500"/>
                                        <p:tgtEl>
                                          <p:spTgt spid="154"/>
                                        </p:tgtEl>
                                      </p:cBhvr>
                                    </p:animEffec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242"/>
                                        </p:tgtEl>
                                        <p:attrNameLst>
                                          <p:attrName>style.visibility</p:attrName>
                                        </p:attrNameLst>
                                      </p:cBhvr>
                                      <p:to>
                                        <p:strVal val="visible"/>
                                      </p:to>
                                    </p:set>
                                    <p:animEffect transition="in" filter="fade">
                                      <p:cBhvr>
                                        <p:cTn id="197" dur="500"/>
                                        <p:tgtEl>
                                          <p:spTgt spid="242"/>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4" fill="hold" nodeType="clickEffect">
                                  <p:stCondLst>
                                    <p:cond delay="0"/>
                                  </p:stCondLst>
                                  <p:childTnLst>
                                    <p:set>
                                      <p:cBhvr>
                                        <p:cTn id="201" dur="1" fill="hold">
                                          <p:stCondLst>
                                            <p:cond delay="0"/>
                                          </p:stCondLst>
                                        </p:cTn>
                                        <p:tgtEl>
                                          <p:spTgt spid="196"/>
                                        </p:tgtEl>
                                        <p:attrNameLst>
                                          <p:attrName>style.visibility</p:attrName>
                                        </p:attrNameLst>
                                      </p:cBhvr>
                                      <p:to>
                                        <p:strVal val="visible"/>
                                      </p:to>
                                    </p:set>
                                    <p:animEffect transition="in" filter="wipe(down)">
                                      <p:cBhvr>
                                        <p:cTn id="202" dur="500"/>
                                        <p:tgtEl>
                                          <p:spTgt spid="196"/>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nodeType="clickEffect">
                                  <p:stCondLst>
                                    <p:cond delay="0"/>
                                  </p:stCondLst>
                                  <p:childTnLst>
                                    <p:set>
                                      <p:cBhvr>
                                        <p:cTn id="206" dur="1" fill="hold">
                                          <p:stCondLst>
                                            <p:cond delay="0"/>
                                          </p:stCondLst>
                                        </p:cTn>
                                        <p:tgtEl>
                                          <p:spTgt spid="243"/>
                                        </p:tgtEl>
                                        <p:attrNameLst>
                                          <p:attrName>style.visibility</p:attrName>
                                        </p:attrNameLst>
                                      </p:cBhvr>
                                      <p:to>
                                        <p:strVal val="visible"/>
                                      </p:to>
                                    </p:set>
                                    <p:animEffect transition="in" filter="fade">
                                      <p:cBhvr>
                                        <p:cTn id="207" dur="750"/>
                                        <p:tgtEl>
                                          <p:spTgt spid="243"/>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8" fill="hold" nodeType="clickEffect">
                                  <p:stCondLst>
                                    <p:cond delay="0"/>
                                  </p:stCondLst>
                                  <p:childTnLst>
                                    <p:set>
                                      <p:cBhvr>
                                        <p:cTn id="211" dur="1" fill="hold">
                                          <p:stCondLst>
                                            <p:cond delay="0"/>
                                          </p:stCondLst>
                                        </p:cTn>
                                        <p:tgtEl>
                                          <p:spTgt spid="245"/>
                                        </p:tgtEl>
                                        <p:attrNameLst>
                                          <p:attrName>style.visibility</p:attrName>
                                        </p:attrNameLst>
                                      </p:cBhvr>
                                      <p:to>
                                        <p:strVal val="visible"/>
                                      </p:to>
                                    </p:set>
                                    <p:animEffect transition="in" filter="wipe(left)">
                                      <p:cBhvr>
                                        <p:cTn id="212" dur="500"/>
                                        <p:tgtEl>
                                          <p:spTgt spid="245"/>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204"/>
                                        </p:tgtEl>
                                        <p:attrNameLst>
                                          <p:attrName>style.visibility</p:attrName>
                                        </p:attrNameLst>
                                      </p:cBhvr>
                                      <p:to>
                                        <p:strVal val="visible"/>
                                      </p:to>
                                    </p:set>
                                    <p:animEffect transition="in" filter="fade">
                                      <p:cBhvr>
                                        <p:cTn id="217" dur="500"/>
                                        <p:tgtEl>
                                          <p:spTgt spid="204"/>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1" fill="hold" nodeType="clickEffect">
                                  <p:stCondLst>
                                    <p:cond delay="0"/>
                                  </p:stCondLst>
                                  <p:childTnLst>
                                    <p:set>
                                      <p:cBhvr>
                                        <p:cTn id="221" dur="1" fill="hold">
                                          <p:stCondLst>
                                            <p:cond delay="0"/>
                                          </p:stCondLst>
                                        </p:cTn>
                                        <p:tgtEl>
                                          <p:spTgt spid="247"/>
                                        </p:tgtEl>
                                        <p:attrNameLst>
                                          <p:attrName>style.visibility</p:attrName>
                                        </p:attrNameLst>
                                      </p:cBhvr>
                                      <p:to>
                                        <p:strVal val="visible"/>
                                      </p:to>
                                    </p:set>
                                    <p:animEffect transition="in" filter="wipe(up)">
                                      <p:cBhvr>
                                        <p:cTn id="222" dur="500"/>
                                        <p:tgtEl>
                                          <p:spTgt spid="247"/>
                                        </p:tgtEl>
                                      </p:cBhvr>
                                    </p:animEffect>
                                  </p:childTnLst>
                                </p:cTn>
                              </p:par>
                            </p:childTnLst>
                          </p:cTn>
                        </p:par>
                      </p:childTnLst>
                    </p:cTn>
                  </p:par>
                  <p:par>
                    <p:cTn id="223" fill="hold">
                      <p:stCondLst>
                        <p:cond delay="indefinite"/>
                      </p:stCondLst>
                      <p:childTnLst>
                        <p:par>
                          <p:cTn id="224" fill="hold">
                            <p:stCondLst>
                              <p:cond delay="0"/>
                            </p:stCondLst>
                            <p:childTnLst>
                              <p:par>
                                <p:cTn id="225" presetID="10" presetClass="entr" presetSubtype="0" fill="hold" grpId="0" nodeType="clickEffect">
                                  <p:stCondLst>
                                    <p:cond delay="0"/>
                                  </p:stCondLst>
                                  <p:childTnLst>
                                    <p:set>
                                      <p:cBhvr>
                                        <p:cTn id="226" dur="1" fill="hold">
                                          <p:stCondLst>
                                            <p:cond delay="0"/>
                                          </p:stCondLst>
                                        </p:cTn>
                                        <p:tgtEl>
                                          <p:spTgt spid="203"/>
                                        </p:tgtEl>
                                        <p:attrNameLst>
                                          <p:attrName>style.visibility</p:attrName>
                                        </p:attrNameLst>
                                      </p:cBhvr>
                                      <p:to>
                                        <p:strVal val="visible"/>
                                      </p:to>
                                    </p:set>
                                    <p:animEffect transition="in" filter="fade">
                                      <p:cBhvr>
                                        <p:cTn id="227"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142" grpId="0"/>
      <p:bldP spid="143" grpId="0"/>
      <p:bldP spid="145" grpId="0"/>
      <p:bldP spid="146" grpId="0"/>
      <p:bldP spid="149" grpId="0"/>
      <p:bldP spid="150" grpId="0"/>
      <p:bldP spid="151" grpId="0"/>
      <p:bldP spid="152" grpId="0"/>
      <p:bldP spid="153" grpId="0"/>
      <p:bldP spid="154" grpId="0"/>
      <p:bldP spid="202" grpId="0"/>
      <p:bldP spid="203" grpId="0"/>
      <p:bldP spid="204" grpId="0"/>
      <p:bldP spid="212" grpId="0" animBg="1"/>
      <p:bldP spid="213" grpId="0" animBg="1"/>
      <p:bldP spid="2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23528" y="481236"/>
            <a:ext cx="6480720" cy="492443"/>
            <a:chOff x="323528" y="564857"/>
            <a:chExt cx="6480720" cy="492443"/>
          </a:xfrm>
        </p:grpSpPr>
        <p:sp>
          <p:nvSpPr>
            <p:cNvPr id="3" name="Text Box 5"/>
            <p:cNvSpPr txBox="1">
              <a:spLocks noChangeArrowheads="1"/>
            </p:cNvSpPr>
            <p:nvPr/>
          </p:nvSpPr>
          <p:spPr bwMode="auto">
            <a:xfrm>
              <a:off x="683568" y="564857"/>
              <a:ext cx="6120680"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单向</a:t>
              </a:r>
              <a:r>
                <a:rPr lang="zh-CN" altLang="en-US" sz="2600" b="1" dirty="0">
                  <a:solidFill>
                    <a:srgbClr val="000099"/>
                  </a:solidFill>
                  <a:latin typeface="黑体" pitchFamily="49" charset="-122"/>
                </a:rPr>
                <a:t>不</a:t>
              </a:r>
              <a:r>
                <a:rPr lang="zh-CN" altLang="en-US" sz="2600" b="1" dirty="0" smtClean="0">
                  <a:solidFill>
                    <a:srgbClr val="000099"/>
                  </a:solidFill>
                  <a:effectLst/>
                  <a:latin typeface="黑体" pitchFamily="49" charset="-122"/>
                </a:rPr>
                <a:t>稳定交变应力时的疲劳强度计算</a:t>
              </a:r>
              <a:endParaRPr lang="zh-CN" altLang="en-US" sz="2600" b="1" dirty="0">
                <a:solidFill>
                  <a:srgbClr val="000099"/>
                </a:solidFill>
                <a:effectLst/>
                <a:latin typeface="黑体" pitchFamily="49" charset="-122"/>
              </a:endParaRPr>
            </a:p>
          </p:txBody>
        </p:sp>
        <p:pic>
          <p:nvPicPr>
            <p:cNvPr id="4" name="Picture 15" descr="AR1031"/>
            <p:cNvPicPr>
              <a:picLocks noChangeAspect="1" noChangeArrowheads="1"/>
            </p:cNvPicPr>
            <p:nvPr/>
          </p:nvPicPr>
          <p:blipFill>
            <a:blip r:embed="rId4">
              <a:duotone>
                <a:prstClr val="black"/>
                <a:srgbClr val="00CC00">
                  <a:tint val="45000"/>
                  <a:satMod val="400000"/>
                </a:srgbClr>
              </a:duotone>
              <a:lum bright="-36000" contrast="100000"/>
            </a:blip>
            <a:srcRect/>
            <a:stretch>
              <a:fillRect/>
            </a:stretch>
          </p:blipFill>
          <p:spPr bwMode="auto">
            <a:xfrm rot="5400000">
              <a:off x="372720" y="655260"/>
              <a:ext cx="280840" cy="379223"/>
            </a:xfrm>
            <a:prstGeom prst="rect">
              <a:avLst/>
            </a:prstGeom>
            <a:noFill/>
            <a:ln w="9525">
              <a:solidFill>
                <a:schemeClr val="bg1"/>
              </a:solidFill>
              <a:miter lim="800000"/>
              <a:headEnd/>
              <a:tailEnd/>
            </a:ln>
          </p:spPr>
        </p:pic>
      </p:grpSp>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零件的疲劳强度计算</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5"/>
          <a:stretch>
            <a:fillRect/>
          </a:stretch>
        </p:blipFill>
        <p:spPr>
          <a:xfrm>
            <a:off x="501578" y="1171329"/>
            <a:ext cx="3007618" cy="1169146"/>
          </a:xfrm>
          <a:prstGeom prst="rect">
            <a:avLst/>
          </a:prstGeom>
        </p:spPr>
      </p:pic>
      <p:pic>
        <p:nvPicPr>
          <p:cNvPr id="8" name="图片 7"/>
          <p:cNvPicPr>
            <a:picLocks noChangeAspect="1"/>
          </p:cNvPicPr>
          <p:nvPr/>
        </p:nvPicPr>
        <p:blipFill>
          <a:blip r:embed="rId6"/>
          <a:stretch>
            <a:fillRect/>
          </a:stretch>
        </p:blipFill>
        <p:spPr>
          <a:xfrm>
            <a:off x="4577422" y="1146975"/>
            <a:ext cx="3554804" cy="1272151"/>
          </a:xfrm>
          <a:prstGeom prst="rect">
            <a:avLst/>
          </a:prstGeom>
        </p:spPr>
      </p:pic>
      <p:sp>
        <p:nvSpPr>
          <p:cNvPr id="9" name="Rectangle 11"/>
          <p:cNvSpPr>
            <a:spLocks noChangeArrowheads="1"/>
          </p:cNvSpPr>
          <p:nvPr/>
        </p:nvSpPr>
        <p:spPr bwMode="auto">
          <a:xfrm>
            <a:off x="501578" y="2407641"/>
            <a:ext cx="3182579" cy="371513"/>
          </a:xfrm>
          <a:prstGeom prst="rect">
            <a:avLst/>
          </a:prstGeom>
          <a:noFill/>
          <a:ln>
            <a:noFill/>
          </a:ln>
        </p:spPr>
        <p:txBody>
          <a:bodyPr wrap="none" lIns="90000" tIns="46800" rIns="90000" bIns="46800">
            <a:spAutoFit/>
          </a:bodyPr>
          <a:lstStyle/>
          <a:p>
            <a:pPr marL="0" marR="0" lvl="0" indent="0" defTabSz="914400" eaLnBrk="1" fontAlgn="auto" latinLnBrk="0" hangingPunct="1">
              <a:lnSpc>
                <a:spcPct val="100000"/>
              </a:lnSpc>
              <a:spcBef>
                <a:spcPts val="0"/>
              </a:spcBef>
              <a:spcAft>
                <a:spcPts val="0"/>
              </a:spcAft>
              <a:buClrTx/>
              <a:buSzTx/>
              <a:buFontTx/>
              <a:buNone/>
            </a:pPr>
            <a:r>
              <a:rPr kumimoji="1" lang="zh-CN" altLang="en-US"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用统计方法进行疲劳强度计算</a:t>
            </a:r>
          </a:p>
        </p:txBody>
      </p:sp>
      <p:sp>
        <p:nvSpPr>
          <p:cNvPr id="10" name="Rectangle 20"/>
          <p:cNvSpPr>
            <a:spLocks noChangeArrowheads="1"/>
          </p:cNvSpPr>
          <p:nvPr/>
        </p:nvSpPr>
        <p:spPr bwMode="auto">
          <a:xfrm>
            <a:off x="4331132" y="2408513"/>
            <a:ext cx="4105909" cy="371513"/>
          </a:xfrm>
          <a:prstGeom prst="rect">
            <a:avLst/>
          </a:prstGeom>
          <a:noFill/>
          <a:ln>
            <a:noFill/>
          </a:ln>
        </p:spPr>
        <p:txBody>
          <a:bodyPr wrap="none" lIns="90000" tIns="46800" rIns="90000" bIns="4680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按</a:t>
            </a:r>
            <a:r>
              <a:rPr kumimoji="1" lang="zh-CN" altLang="en-US" b="0" i="0" u="none" strike="noStrike" kern="0" cap="none" spc="0" normalizeH="0" baseline="0" noProof="0" dirty="0" smtClean="0">
                <a:ln>
                  <a:noFill/>
                </a:ln>
                <a:solidFill>
                  <a:srgbClr val="FF0000"/>
                </a:solidFill>
                <a:effectLst/>
                <a:uLnTx/>
                <a:uFillTx/>
                <a:latin typeface="黑体" pitchFamily="2" charset="-122"/>
                <a:ea typeface="黑体" pitchFamily="2" charset="-122"/>
              </a:rPr>
              <a:t>疲劳损伤线性累积假说</a:t>
            </a:r>
            <a:r>
              <a:rPr kumimoji="1" lang="zh-CN" altLang="en-US"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进行强度计算</a:t>
            </a:r>
          </a:p>
        </p:txBody>
      </p:sp>
      <p:grpSp>
        <p:nvGrpSpPr>
          <p:cNvPr id="17" name="组合 16"/>
          <p:cNvGrpSpPr/>
          <p:nvPr/>
        </p:nvGrpSpPr>
        <p:grpSpPr>
          <a:xfrm>
            <a:off x="7398316" y="814228"/>
            <a:ext cx="1422152" cy="1058801"/>
            <a:chOff x="7752934" y="756172"/>
            <a:chExt cx="1422152" cy="1058801"/>
          </a:xfrm>
        </p:grpSpPr>
        <p:sp>
          <p:nvSpPr>
            <p:cNvPr id="11" name="TextBox 96"/>
            <p:cNvSpPr txBox="1">
              <a:spLocks noChangeArrowheads="1"/>
            </p:cNvSpPr>
            <p:nvPr/>
          </p:nvSpPr>
          <p:spPr bwMode="auto">
            <a:xfrm>
              <a:off x="7752934" y="756172"/>
              <a:ext cx="1422152" cy="400110"/>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algn="ctr" eaLnBrk="1" hangingPunct="1"/>
              <a:r>
                <a:rPr lang="en-US" altLang="zh-CN" sz="2000" dirty="0">
                  <a:solidFill>
                    <a:srgbClr val="FF0000"/>
                  </a:solidFill>
                  <a:latin typeface="黑体" pitchFamily="2" charset="-122"/>
                </a:rPr>
                <a:t>Miner</a:t>
              </a:r>
              <a:r>
                <a:rPr lang="zh-CN" altLang="en-US" sz="2000" dirty="0">
                  <a:solidFill>
                    <a:srgbClr val="FF0000"/>
                  </a:solidFill>
                  <a:latin typeface="黑体" pitchFamily="2" charset="-122"/>
                </a:rPr>
                <a:t>法则</a:t>
              </a:r>
            </a:p>
          </p:txBody>
        </p:sp>
        <p:cxnSp>
          <p:nvCxnSpPr>
            <p:cNvPr id="12" name="形状 100"/>
            <p:cNvCxnSpPr>
              <a:cxnSpLocks/>
            </p:cNvCxnSpPr>
            <p:nvPr/>
          </p:nvCxnSpPr>
          <p:spPr>
            <a:xfrm rot="5400000" flipH="1" flipV="1">
              <a:off x="8027683" y="1267951"/>
              <a:ext cx="614308" cy="479735"/>
            </a:xfrm>
            <a:prstGeom prst="curvedConnector3">
              <a:avLst>
                <a:gd name="adj1" fmla="val 50000"/>
              </a:avLst>
            </a:prstGeom>
            <a:noFill/>
            <a:ln w="9525" cap="flat" cmpd="sng" algn="ctr">
              <a:solidFill>
                <a:srgbClr val="000000">
                  <a:shade val="95000"/>
                  <a:satMod val="105000"/>
                </a:srgbClr>
              </a:solidFill>
              <a:prstDash val="solid"/>
              <a:tailEnd type="arrow"/>
            </a:ln>
            <a:effectLst/>
          </p:spPr>
        </p:cxnSp>
      </p:grpSp>
      <p:grpSp>
        <p:nvGrpSpPr>
          <p:cNvPr id="18" name="Group 26"/>
          <p:cNvGrpSpPr/>
          <p:nvPr/>
        </p:nvGrpSpPr>
        <p:grpSpPr bwMode="auto">
          <a:xfrm>
            <a:off x="793002" y="3168446"/>
            <a:ext cx="356117" cy="1565134"/>
            <a:chOff x="797" y="1247"/>
            <a:chExt cx="237" cy="1273"/>
          </a:xfrm>
        </p:grpSpPr>
        <p:sp>
          <p:nvSpPr>
            <p:cNvPr id="19" name="Freeform 27"/>
            <p:cNvSpPr/>
            <p:nvPr/>
          </p:nvSpPr>
          <p:spPr bwMode="auto">
            <a:xfrm>
              <a:off x="797" y="1435"/>
              <a:ext cx="237" cy="840"/>
            </a:xfrm>
            <a:custGeom>
              <a:avLst/>
              <a:gdLst>
                <a:gd name="T0" fmla="*/ 0 w 288"/>
                <a:gd name="T1" fmla="*/ 0 h 840"/>
                <a:gd name="T2" fmla="*/ 288 w 288"/>
                <a:gd name="T3" fmla="*/ 0 h 840"/>
                <a:gd name="T4" fmla="*/ 288 w 288"/>
                <a:gd name="T5" fmla="*/ 840 h 840"/>
                <a:gd name="T6" fmla="*/ 0 60000 65536"/>
                <a:gd name="T7" fmla="*/ 0 60000 65536"/>
                <a:gd name="T8" fmla="*/ 0 60000 65536"/>
                <a:gd name="T9" fmla="*/ 0 w 288"/>
                <a:gd name="T10" fmla="*/ 0 h 840"/>
                <a:gd name="T11" fmla="*/ 288 w 288"/>
                <a:gd name="T12" fmla="*/ 840 h 840"/>
              </a:gdLst>
              <a:ahLst/>
              <a:cxnLst>
                <a:cxn ang="T6">
                  <a:pos x="T0" y="T1"/>
                </a:cxn>
                <a:cxn ang="T7">
                  <a:pos x="T2" y="T3"/>
                </a:cxn>
                <a:cxn ang="T8">
                  <a:pos x="T4" y="T5"/>
                </a:cxn>
              </a:cxnLst>
              <a:rect l="T9" t="T10" r="T11" b="T12"/>
              <a:pathLst>
                <a:path w="288" h="840">
                  <a:moveTo>
                    <a:pt x="0" y="0"/>
                  </a:moveTo>
                  <a:lnTo>
                    <a:pt x="288" y="0"/>
                  </a:lnTo>
                  <a:lnTo>
                    <a:pt x="288" y="840"/>
                  </a:lnTo>
                </a:path>
              </a:pathLst>
            </a:custGeom>
            <a:noFill/>
            <a:ln w="19050">
              <a:solidFill>
                <a:srgbClr val="000099"/>
              </a:solidFill>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0" name="Rectangle 28"/>
            <p:cNvSpPr>
              <a:spLocks noChangeArrowheads="1"/>
            </p:cNvSpPr>
            <p:nvPr/>
          </p:nvSpPr>
          <p:spPr bwMode="auto">
            <a:xfrm>
              <a:off x="877" y="1247"/>
              <a:ext cx="12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grpSp>
          <p:nvGrpSpPr>
            <p:cNvPr id="21" name="Group 29"/>
            <p:cNvGrpSpPr/>
            <p:nvPr/>
          </p:nvGrpSpPr>
          <p:grpSpPr bwMode="auto">
            <a:xfrm>
              <a:off x="797" y="2221"/>
              <a:ext cx="237" cy="299"/>
              <a:chOff x="797" y="2221"/>
              <a:chExt cx="237" cy="299"/>
            </a:xfrm>
          </p:grpSpPr>
          <p:sp>
            <p:nvSpPr>
              <p:cNvPr id="22" name="Line 30"/>
              <p:cNvSpPr>
                <a:spLocks noChangeShapeType="1"/>
              </p:cNvSpPr>
              <p:nvPr/>
            </p:nvSpPr>
            <p:spPr bwMode="auto">
              <a:xfrm flipV="1">
                <a:off x="807" y="2466"/>
                <a:ext cx="221" cy="6"/>
              </a:xfrm>
              <a:prstGeom prst="line">
                <a:avLst/>
              </a:prstGeom>
              <a:noFill/>
              <a:ln w="12700">
                <a:solidFill>
                  <a:srgbClr val="000099"/>
                </a:solidFill>
                <a:round/>
                <a:headEnd type="triangle" w="sm" len="lg"/>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3" name="Line 31"/>
              <p:cNvSpPr>
                <a:spLocks noChangeShapeType="1"/>
              </p:cNvSpPr>
              <p:nvPr/>
            </p:nvSpPr>
            <p:spPr bwMode="auto">
              <a:xfrm>
                <a:off x="797" y="2222"/>
                <a:ext cx="0" cy="298"/>
              </a:xfrm>
              <a:prstGeom prst="line">
                <a:avLst/>
              </a:prstGeom>
              <a:noFill/>
              <a:ln w="12700">
                <a:solidFill>
                  <a:srgbClr val="000099"/>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4" name="Line 32"/>
              <p:cNvSpPr>
                <a:spLocks noChangeShapeType="1"/>
              </p:cNvSpPr>
              <p:nvPr/>
            </p:nvSpPr>
            <p:spPr bwMode="auto">
              <a:xfrm>
                <a:off x="1034" y="2221"/>
                <a:ext cx="0" cy="298"/>
              </a:xfrm>
              <a:prstGeom prst="line">
                <a:avLst/>
              </a:prstGeom>
              <a:noFill/>
              <a:ln w="12700">
                <a:solidFill>
                  <a:srgbClr val="000099"/>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5" name="Rectangle 33"/>
              <p:cNvSpPr>
                <a:spLocks noChangeArrowheads="1"/>
              </p:cNvSpPr>
              <p:nvPr/>
            </p:nvSpPr>
            <p:spPr bwMode="auto">
              <a:xfrm>
                <a:off x="877" y="2253"/>
                <a:ext cx="10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grpSp>
      </p:grpSp>
      <p:grpSp>
        <p:nvGrpSpPr>
          <p:cNvPr id="26" name="Group 34"/>
          <p:cNvGrpSpPr/>
          <p:nvPr/>
        </p:nvGrpSpPr>
        <p:grpSpPr bwMode="auto">
          <a:xfrm>
            <a:off x="1150326" y="3398375"/>
            <a:ext cx="670162" cy="1335219"/>
            <a:chOff x="1085" y="1440"/>
            <a:chExt cx="446" cy="1086"/>
          </a:xfrm>
        </p:grpSpPr>
        <p:sp>
          <p:nvSpPr>
            <p:cNvPr id="27" name="Freeform 35"/>
            <p:cNvSpPr/>
            <p:nvPr/>
          </p:nvSpPr>
          <p:spPr bwMode="auto">
            <a:xfrm>
              <a:off x="1085" y="1637"/>
              <a:ext cx="445" cy="638"/>
            </a:xfrm>
            <a:custGeom>
              <a:avLst/>
              <a:gdLst>
                <a:gd name="T0" fmla="*/ 0 w 513"/>
                <a:gd name="T1" fmla="*/ 0 h 638"/>
                <a:gd name="T2" fmla="*/ 513 w 513"/>
                <a:gd name="T3" fmla="*/ 0 h 638"/>
                <a:gd name="T4" fmla="*/ 513 w 513"/>
                <a:gd name="T5" fmla="*/ 638 h 638"/>
                <a:gd name="T6" fmla="*/ 0 60000 65536"/>
                <a:gd name="T7" fmla="*/ 0 60000 65536"/>
                <a:gd name="T8" fmla="*/ 0 60000 65536"/>
                <a:gd name="T9" fmla="*/ 0 w 513"/>
                <a:gd name="T10" fmla="*/ 0 h 638"/>
                <a:gd name="T11" fmla="*/ 513 w 513"/>
                <a:gd name="T12" fmla="*/ 638 h 638"/>
              </a:gdLst>
              <a:ahLst/>
              <a:cxnLst>
                <a:cxn ang="T6">
                  <a:pos x="T0" y="T1"/>
                </a:cxn>
                <a:cxn ang="T7">
                  <a:pos x="T2" y="T3"/>
                </a:cxn>
                <a:cxn ang="T8">
                  <a:pos x="T4" y="T5"/>
                </a:cxn>
              </a:cxnLst>
              <a:rect l="T9" t="T10" r="T11" b="T12"/>
              <a:pathLst>
                <a:path w="513" h="638">
                  <a:moveTo>
                    <a:pt x="0" y="0"/>
                  </a:moveTo>
                  <a:lnTo>
                    <a:pt x="513" y="0"/>
                  </a:lnTo>
                  <a:lnTo>
                    <a:pt x="513" y="638"/>
                  </a:lnTo>
                </a:path>
              </a:pathLst>
            </a:custGeom>
            <a:noFill/>
            <a:ln w="19050">
              <a:solidFill>
                <a:srgbClr val="000099"/>
              </a:solidFill>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28" name="Rectangle 36"/>
            <p:cNvSpPr>
              <a:spLocks noChangeArrowheads="1"/>
            </p:cNvSpPr>
            <p:nvPr/>
          </p:nvSpPr>
          <p:spPr bwMode="auto">
            <a:xfrm>
              <a:off x="1271" y="1440"/>
              <a:ext cx="12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2</a:t>
              </a:r>
            </a:p>
          </p:txBody>
        </p:sp>
        <p:grpSp>
          <p:nvGrpSpPr>
            <p:cNvPr id="29" name="Group 37"/>
            <p:cNvGrpSpPr/>
            <p:nvPr/>
          </p:nvGrpSpPr>
          <p:grpSpPr bwMode="auto">
            <a:xfrm>
              <a:off x="1090" y="2228"/>
              <a:ext cx="441" cy="298"/>
              <a:chOff x="1090" y="2228"/>
              <a:chExt cx="441" cy="298"/>
            </a:xfrm>
          </p:grpSpPr>
          <p:sp>
            <p:nvSpPr>
              <p:cNvPr id="30" name="Line 38"/>
              <p:cNvSpPr>
                <a:spLocks noChangeShapeType="1"/>
              </p:cNvSpPr>
              <p:nvPr/>
            </p:nvSpPr>
            <p:spPr bwMode="auto">
              <a:xfrm>
                <a:off x="1090" y="2472"/>
                <a:ext cx="435" cy="4"/>
              </a:xfrm>
              <a:prstGeom prst="line">
                <a:avLst/>
              </a:prstGeom>
              <a:noFill/>
              <a:ln w="12700">
                <a:solidFill>
                  <a:srgbClr val="000099"/>
                </a:solidFill>
                <a:round/>
                <a:headEnd type="triangle" w="sm" len="lg"/>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1" name="Line 39"/>
              <p:cNvSpPr>
                <a:spLocks noChangeShapeType="1"/>
              </p:cNvSpPr>
              <p:nvPr/>
            </p:nvSpPr>
            <p:spPr bwMode="auto">
              <a:xfrm>
                <a:off x="1531" y="2228"/>
                <a:ext cx="0" cy="298"/>
              </a:xfrm>
              <a:prstGeom prst="line">
                <a:avLst/>
              </a:prstGeom>
              <a:noFill/>
              <a:ln w="12700">
                <a:solidFill>
                  <a:srgbClr val="000099"/>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2" name="Rectangle 40"/>
              <p:cNvSpPr>
                <a:spLocks noChangeArrowheads="1"/>
              </p:cNvSpPr>
              <p:nvPr/>
            </p:nvSpPr>
            <p:spPr bwMode="auto">
              <a:xfrm>
                <a:off x="1254" y="2250"/>
                <a:ext cx="10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2</a:t>
                </a:r>
              </a:p>
            </p:txBody>
          </p:sp>
        </p:grpSp>
      </p:grpSp>
      <p:grpSp>
        <p:nvGrpSpPr>
          <p:cNvPr id="33" name="Group 41"/>
          <p:cNvGrpSpPr/>
          <p:nvPr/>
        </p:nvGrpSpPr>
        <p:grpSpPr bwMode="auto">
          <a:xfrm>
            <a:off x="1810392" y="3648736"/>
            <a:ext cx="996226" cy="1090552"/>
            <a:chOff x="1598" y="1638"/>
            <a:chExt cx="663" cy="887"/>
          </a:xfrm>
        </p:grpSpPr>
        <p:sp>
          <p:nvSpPr>
            <p:cNvPr id="34" name="Freeform 42"/>
            <p:cNvSpPr/>
            <p:nvPr/>
          </p:nvSpPr>
          <p:spPr bwMode="auto">
            <a:xfrm>
              <a:off x="1598" y="1829"/>
              <a:ext cx="663" cy="446"/>
            </a:xfrm>
            <a:custGeom>
              <a:avLst/>
              <a:gdLst>
                <a:gd name="T0" fmla="*/ 0 w 716"/>
                <a:gd name="T1" fmla="*/ 0 h 446"/>
                <a:gd name="T2" fmla="*/ 716 w 716"/>
                <a:gd name="T3" fmla="*/ 0 h 446"/>
                <a:gd name="T4" fmla="*/ 716 w 716"/>
                <a:gd name="T5" fmla="*/ 446 h 446"/>
                <a:gd name="T6" fmla="*/ 0 60000 65536"/>
                <a:gd name="T7" fmla="*/ 0 60000 65536"/>
                <a:gd name="T8" fmla="*/ 0 60000 65536"/>
                <a:gd name="T9" fmla="*/ 0 w 716"/>
                <a:gd name="T10" fmla="*/ 0 h 446"/>
                <a:gd name="T11" fmla="*/ 716 w 716"/>
                <a:gd name="T12" fmla="*/ 446 h 446"/>
              </a:gdLst>
              <a:ahLst/>
              <a:cxnLst>
                <a:cxn ang="T6">
                  <a:pos x="T0" y="T1"/>
                </a:cxn>
                <a:cxn ang="T7">
                  <a:pos x="T2" y="T3"/>
                </a:cxn>
                <a:cxn ang="T8">
                  <a:pos x="T4" y="T5"/>
                </a:cxn>
              </a:cxnLst>
              <a:rect l="T9" t="T10" r="T11" b="T12"/>
              <a:pathLst>
                <a:path w="716" h="446">
                  <a:moveTo>
                    <a:pt x="0" y="0"/>
                  </a:moveTo>
                  <a:lnTo>
                    <a:pt x="716" y="0"/>
                  </a:lnTo>
                  <a:lnTo>
                    <a:pt x="716" y="446"/>
                  </a:lnTo>
                </a:path>
              </a:pathLst>
            </a:custGeom>
            <a:noFill/>
            <a:ln w="19050">
              <a:solidFill>
                <a:srgbClr val="000099"/>
              </a:solidFill>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5" name="Rectangle 43"/>
            <p:cNvSpPr>
              <a:spLocks noChangeArrowheads="1"/>
            </p:cNvSpPr>
            <p:nvPr/>
          </p:nvSpPr>
          <p:spPr bwMode="auto">
            <a:xfrm>
              <a:off x="1908" y="1638"/>
              <a:ext cx="12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3</a:t>
              </a:r>
            </a:p>
          </p:txBody>
        </p:sp>
        <p:grpSp>
          <p:nvGrpSpPr>
            <p:cNvPr id="36" name="Group 44"/>
            <p:cNvGrpSpPr/>
            <p:nvPr/>
          </p:nvGrpSpPr>
          <p:grpSpPr bwMode="auto">
            <a:xfrm>
              <a:off x="1615" y="2227"/>
              <a:ext cx="646" cy="298"/>
              <a:chOff x="1615" y="2227"/>
              <a:chExt cx="646" cy="298"/>
            </a:xfrm>
          </p:grpSpPr>
          <p:sp>
            <p:nvSpPr>
              <p:cNvPr id="37" name="Line 45"/>
              <p:cNvSpPr>
                <a:spLocks noChangeShapeType="1"/>
              </p:cNvSpPr>
              <p:nvPr/>
            </p:nvSpPr>
            <p:spPr bwMode="auto">
              <a:xfrm>
                <a:off x="1615" y="2469"/>
                <a:ext cx="646" cy="0"/>
              </a:xfrm>
              <a:prstGeom prst="line">
                <a:avLst/>
              </a:prstGeom>
              <a:noFill/>
              <a:ln w="12700">
                <a:solidFill>
                  <a:srgbClr val="000099"/>
                </a:solidFill>
                <a:round/>
                <a:headEnd type="triangle" w="sm" len="lg"/>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8" name="Line 46"/>
              <p:cNvSpPr>
                <a:spLocks noChangeShapeType="1"/>
              </p:cNvSpPr>
              <p:nvPr/>
            </p:nvSpPr>
            <p:spPr bwMode="auto">
              <a:xfrm>
                <a:off x="2261" y="2227"/>
                <a:ext cx="0" cy="298"/>
              </a:xfrm>
              <a:prstGeom prst="line">
                <a:avLst/>
              </a:prstGeom>
              <a:noFill/>
              <a:ln w="12700">
                <a:solidFill>
                  <a:srgbClr val="000099"/>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39" name="Rectangle 47"/>
              <p:cNvSpPr>
                <a:spLocks noChangeArrowheads="1"/>
              </p:cNvSpPr>
              <p:nvPr/>
            </p:nvSpPr>
            <p:spPr bwMode="auto">
              <a:xfrm>
                <a:off x="1884" y="2250"/>
                <a:ext cx="10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3</a:t>
                </a:r>
              </a:p>
            </p:txBody>
          </p:sp>
        </p:grpSp>
      </p:grpSp>
      <p:grpSp>
        <p:nvGrpSpPr>
          <p:cNvPr id="40" name="Group 48"/>
          <p:cNvGrpSpPr/>
          <p:nvPr/>
        </p:nvGrpSpPr>
        <p:grpSpPr bwMode="auto">
          <a:xfrm>
            <a:off x="2808505" y="4080818"/>
            <a:ext cx="763322" cy="656545"/>
            <a:chOff x="2314" y="2005"/>
            <a:chExt cx="508" cy="534"/>
          </a:xfrm>
        </p:grpSpPr>
        <p:sp>
          <p:nvSpPr>
            <p:cNvPr id="41" name="Freeform 49"/>
            <p:cNvSpPr/>
            <p:nvPr/>
          </p:nvSpPr>
          <p:spPr bwMode="auto">
            <a:xfrm>
              <a:off x="2314" y="2131"/>
              <a:ext cx="355" cy="144"/>
            </a:xfrm>
            <a:custGeom>
              <a:avLst/>
              <a:gdLst>
                <a:gd name="T0" fmla="*/ 0 w 355"/>
                <a:gd name="T1" fmla="*/ 0 h 144"/>
                <a:gd name="T2" fmla="*/ 355 w 355"/>
                <a:gd name="T3" fmla="*/ 0 h 144"/>
                <a:gd name="T4" fmla="*/ 355 w 355"/>
                <a:gd name="T5" fmla="*/ 144 h 144"/>
                <a:gd name="T6" fmla="*/ 0 60000 65536"/>
                <a:gd name="T7" fmla="*/ 0 60000 65536"/>
                <a:gd name="T8" fmla="*/ 0 60000 65536"/>
                <a:gd name="T9" fmla="*/ 0 w 355"/>
                <a:gd name="T10" fmla="*/ 0 h 144"/>
                <a:gd name="T11" fmla="*/ 355 w 355"/>
                <a:gd name="T12" fmla="*/ 144 h 144"/>
              </a:gdLst>
              <a:ahLst/>
              <a:cxnLst>
                <a:cxn ang="T6">
                  <a:pos x="T0" y="T1"/>
                </a:cxn>
                <a:cxn ang="T7">
                  <a:pos x="T2" y="T3"/>
                </a:cxn>
                <a:cxn ang="T8">
                  <a:pos x="T4" y="T5"/>
                </a:cxn>
              </a:cxnLst>
              <a:rect l="T9" t="T10" r="T11" b="T12"/>
              <a:pathLst>
                <a:path w="355" h="144">
                  <a:moveTo>
                    <a:pt x="0" y="0"/>
                  </a:moveTo>
                  <a:lnTo>
                    <a:pt x="355" y="0"/>
                  </a:lnTo>
                  <a:lnTo>
                    <a:pt x="355" y="144"/>
                  </a:lnTo>
                </a:path>
              </a:pathLst>
            </a:custGeom>
            <a:noFill/>
            <a:ln w="19050">
              <a:solidFill>
                <a:srgbClr val="000099"/>
              </a:solidFill>
              <a:round/>
              <a:headEnd/>
              <a:tailEnd/>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42" name="Rectangle 50"/>
            <p:cNvSpPr>
              <a:spLocks noChangeArrowheads="1"/>
            </p:cNvSpPr>
            <p:nvPr/>
          </p:nvSpPr>
          <p:spPr bwMode="auto">
            <a:xfrm>
              <a:off x="2696" y="2005"/>
              <a:ext cx="12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4</a:t>
              </a:r>
            </a:p>
          </p:txBody>
        </p:sp>
        <p:grpSp>
          <p:nvGrpSpPr>
            <p:cNvPr id="43" name="Group 51"/>
            <p:cNvGrpSpPr/>
            <p:nvPr/>
          </p:nvGrpSpPr>
          <p:grpSpPr bwMode="auto">
            <a:xfrm>
              <a:off x="2319" y="2241"/>
              <a:ext cx="355" cy="298"/>
              <a:chOff x="2319" y="2241"/>
              <a:chExt cx="355" cy="298"/>
            </a:xfrm>
          </p:grpSpPr>
          <p:sp>
            <p:nvSpPr>
              <p:cNvPr id="44" name="Line 52"/>
              <p:cNvSpPr>
                <a:spLocks noChangeShapeType="1"/>
              </p:cNvSpPr>
              <p:nvPr/>
            </p:nvSpPr>
            <p:spPr bwMode="auto">
              <a:xfrm>
                <a:off x="2319" y="2479"/>
                <a:ext cx="355" cy="0"/>
              </a:xfrm>
              <a:prstGeom prst="line">
                <a:avLst/>
              </a:prstGeom>
              <a:noFill/>
              <a:ln w="12700">
                <a:solidFill>
                  <a:srgbClr val="000099"/>
                </a:solidFill>
                <a:round/>
                <a:headEnd type="triangle" w="sm" len="lg"/>
                <a:tailEnd type="triangle" w="sm" len="lg"/>
              </a:ln>
            </p:spPr>
            <p:txBody>
              <a:bodyPr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45" name="Line 53"/>
              <p:cNvSpPr>
                <a:spLocks noChangeShapeType="1"/>
              </p:cNvSpPr>
              <p:nvPr/>
            </p:nvSpPr>
            <p:spPr bwMode="auto">
              <a:xfrm>
                <a:off x="2669" y="2241"/>
                <a:ext cx="0" cy="298"/>
              </a:xfrm>
              <a:prstGeom prst="line">
                <a:avLst/>
              </a:prstGeom>
              <a:noFill/>
              <a:ln w="12700">
                <a:solidFill>
                  <a:srgbClr val="000099"/>
                </a:solidFill>
                <a:round/>
                <a:headEnd/>
                <a:tailEnd type="non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46" name="Rectangle 54"/>
              <p:cNvSpPr>
                <a:spLocks noChangeArrowheads="1"/>
              </p:cNvSpPr>
              <p:nvPr/>
            </p:nvSpPr>
            <p:spPr bwMode="auto">
              <a:xfrm>
                <a:off x="2450" y="2257"/>
                <a:ext cx="10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4</a:t>
                </a:r>
              </a:p>
            </p:txBody>
          </p:sp>
        </p:grpSp>
      </p:grpSp>
      <p:grpSp>
        <p:nvGrpSpPr>
          <p:cNvPr id="47" name="Group 55"/>
          <p:cNvGrpSpPr/>
          <p:nvPr/>
        </p:nvGrpSpPr>
        <p:grpSpPr bwMode="auto">
          <a:xfrm>
            <a:off x="395536" y="2956612"/>
            <a:ext cx="3718942" cy="1699149"/>
            <a:chOff x="674" y="1458"/>
            <a:chExt cx="2475" cy="1382"/>
          </a:xfrm>
        </p:grpSpPr>
        <p:sp>
          <p:nvSpPr>
            <p:cNvPr id="48" name="Line 56"/>
            <p:cNvSpPr>
              <a:spLocks noChangeShapeType="1"/>
            </p:cNvSpPr>
            <p:nvPr/>
          </p:nvSpPr>
          <p:spPr bwMode="auto">
            <a:xfrm flipH="1" flipV="1">
              <a:off x="936" y="1556"/>
              <a:ext cx="0" cy="1077"/>
            </a:xfrm>
            <a:prstGeom prst="line">
              <a:avLst/>
            </a:prstGeom>
            <a:noFill/>
            <a:ln w="12700">
              <a:solidFill>
                <a:srgbClr val="000099"/>
              </a:solidFill>
              <a:round/>
              <a:headEnd/>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400" b="0" i="0" u="none" strike="noStrike" kern="0" cap="none" spc="0" normalizeH="0" baseline="0" noProof="0" smtClean="0">
                <a:ln>
                  <a:noFill/>
                </a:ln>
                <a:solidFill>
                  <a:sysClr val="windowText" lastClr="000000"/>
                </a:solidFill>
                <a:effectLst/>
                <a:uLnTx/>
                <a:uFillTx/>
              </a:endParaRPr>
            </a:p>
          </p:txBody>
        </p:sp>
        <p:sp>
          <p:nvSpPr>
            <p:cNvPr id="49" name="Line 57"/>
            <p:cNvSpPr>
              <a:spLocks noChangeShapeType="1"/>
            </p:cNvSpPr>
            <p:nvPr/>
          </p:nvSpPr>
          <p:spPr bwMode="auto">
            <a:xfrm>
              <a:off x="936" y="2640"/>
              <a:ext cx="2213" cy="0"/>
            </a:xfrm>
            <a:prstGeom prst="line">
              <a:avLst/>
            </a:prstGeom>
            <a:noFill/>
            <a:ln w="12700">
              <a:solidFill>
                <a:srgbClr val="000099"/>
              </a:solidFill>
              <a:round/>
              <a:headEnd/>
              <a:tailEnd type="triangle" w="sm" len="lg"/>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400" b="0" i="0" u="none" strike="noStrike" kern="0" cap="none" spc="0" normalizeH="0" baseline="0" noProof="0" smtClean="0">
                <a:ln>
                  <a:noFill/>
                </a:ln>
                <a:solidFill>
                  <a:sysClr val="windowText" lastClr="000000"/>
                </a:solidFill>
                <a:effectLst/>
                <a:uLnTx/>
                <a:uFillTx/>
              </a:endParaRPr>
            </a:p>
          </p:txBody>
        </p:sp>
        <p:sp>
          <p:nvSpPr>
            <p:cNvPr id="50" name="Rectangle 58"/>
            <p:cNvSpPr>
              <a:spLocks noChangeArrowheads="1"/>
            </p:cNvSpPr>
            <p:nvPr/>
          </p:nvSpPr>
          <p:spPr bwMode="auto">
            <a:xfrm>
              <a:off x="674" y="1458"/>
              <a:ext cx="231"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max</a:t>
              </a:r>
            </a:p>
          </p:txBody>
        </p:sp>
        <p:sp>
          <p:nvSpPr>
            <p:cNvPr id="51" name="Rectangle 59"/>
            <p:cNvSpPr>
              <a:spLocks noChangeArrowheads="1"/>
            </p:cNvSpPr>
            <p:nvPr/>
          </p:nvSpPr>
          <p:spPr bwMode="auto">
            <a:xfrm>
              <a:off x="3065" y="2627"/>
              <a:ext cx="6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endPar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endParaRPr>
            </a:p>
          </p:txBody>
        </p:sp>
        <p:sp>
          <p:nvSpPr>
            <p:cNvPr id="52" name="Rectangle 60"/>
            <p:cNvSpPr>
              <a:spLocks noChangeArrowheads="1"/>
            </p:cNvSpPr>
            <p:nvPr/>
          </p:nvSpPr>
          <p:spPr bwMode="auto">
            <a:xfrm>
              <a:off x="780" y="2522"/>
              <a:ext cx="86"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smtClean="0">
                  <a:ln>
                    <a:noFill/>
                  </a:ln>
                  <a:solidFill>
                    <a:srgbClr val="000099"/>
                  </a:solidFill>
                  <a:effectLst/>
                  <a:uLnTx/>
                  <a:uFillTx/>
                  <a:latin typeface="Times New Roman" pitchFamily="18" charset="0"/>
                  <a:ea typeface="楷体_GB2312" pitchFamily="49" charset="-122"/>
                </a:rPr>
                <a:t>O</a:t>
              </a:r>
              <a:endParaRPr kumimoji="1" lang="en-US" altLang="zh-CN" sz="1400" b="1" i="0" u="none" strike="noStrike" kern="0" cap="none" spc="0" normalizeH="0" baseline="-25000" noProof="0" smtClean="0">
                <a:ln>
                  <a:noFill/>
                </a:ln>
                <a:solidFill>
                  <a:srgbClr val="000099"/>
                </a:solidFill>
                <a:effectLst/>
                <a:uLnTx/>
                <a:uFillTx/>
                <a:latin typeface="Times New Roman" pitchFamily="18" charset="0"/>
                <a:ea typeface="宋体" charset="-122"/>
              </a:endParaRPr>
            </a:p>
          </p:txBody>
        </p:sp>
      </p:grpSp>
      <p:grpSp>
        <p:nvGrpSpPr>
          <p:cNvPr id="53" name="Group 61"/>
          <p:cNvGrpSpPr/>
          <p:nvPr/>
        </p:nvGrpSpPr>
        <p:grpSpPr bwMode="auto">
          <a:xfrm>
            <a:off x="4696482" y="2951279"/>
            <a:ext cx="3679874" cy="1652567"/>
            <a:chOff x="656" y="1681"/>
            <a:chExt cx="2449" cy="1143"/>
          </a:xfrm>
        </p:grpSpPr>
        <p:sp>
          <p:nvSpPr>
            <p:cNvPr id="54" name="Line 62"/>
            <p:cNvSpPr>
              <a:spLocks noChangeShapeType="1"/>
            </p:cNvSpPr>
            <p:nvPr/>
          </p:nvSpPr>
          <p:spPr bwMode="auto">
            <a:xfrm flipH="1" flipV="1">
              <a:off x="935" y="1732"/>
              <a:ext cx="1" cy="964"/>
            </a:xfrm>
            <a:prstGeom prst="line">
              <a:avLst/>
            </a:prstGeom>
            <a:noFill/>
            <a:ln w="12700">
              <a:solidFill>
                <a:srgbClr val="000099"/>
              </a:solidFill>
              <a:round/>
              <a:headEnd/>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5" name="Line 63"/>
            <p:cNvSpPr>
              <a:spLocks noChangeShapeType="1"/>
            </p:cNvSpPr>
            <p:nvPr/>
          </p:nvSpPr>
          <p:spPr bwMode="auto">
            <a:xfrm flipV="1">
              <a:off x="936" y="2695"/>
              <a:ext cx="2065" cy="0"/>
            </a:xfrm>
            <a:prstGeom prst="line">
              <a:avLst/>
            </a:prstGeom>
            <a:noFill/>
            <a:ln w="12700">
              <a:solidFill>
                <a:srgbClr val="000099"/>
              </a:solidFill>
              <a:round/>
              <a:headEnd/>
              <a:tailEnd type="triangle" w="sm" len="lg"/>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56" name="Rectangle 64"/>
            <p:cNvSpPr>
              <a:spLocks noChangeArrowheads="1"/>
            </p:cNvSpPr>
            <p:nvPr/>
          </p:nvSpPr>
          <p:spPr bwMode="auto">
            <a:xfrm>
              <a:off x="656" y="1681"/>
              <a:ext cx="231"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max</a:t>
              </a:r>
            </a:p>
          </p:txBody>
        </p:sp>
        <p:sp>
          <p:nvSpPr>
            <p:cNvPr id="57" name="Rectangle 65"/>
            <p:cNvSpPr>
              <a:spLocks noChangeArrowheads="1"/>
            </p:cNvSpPr>
            <p:nvPr/>
          </p:nvSpPr>
          <p:spPr bwMode="auto">
            <a:xfrm>
              <a:off x="3019" y="2643"/>
              <a:ext cx="86"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endPar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endParaRPr>
            </a:p>
          </p:txBody>
        </p:sp>
        <p:sp>
          <p:nvSpPr>
            <p:cNvPr id="58" name="Rectangle 66"/>
            <p:cNvSpPr>
              <a:spLocks noChangeArrowheads="1"/>
            </p:cNvSpPr>
            <p:nvPr/>
          </p:nvSpPr>
          <p:spPr bwMode="auto">
            <a:xfrm>
              <a:off x="811" y="2591"/>
              <a:ext cx="86"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O</a:t>
              </a:r>
              <a:endPar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endParaRPr>
            </a:p>
          </p:txBody>
        </p:sp>
      </p:grpSp>
      <p:grpSp>
        <p:nvGrpSpPr>
          <p:cNvPr id="59" name="Group 68"/>
          <p:cNvGrpSpPr/>
          <p:nvPr/>
        </p:nvGrpSpPr>
        <p:grpSpPr bwMode="auto">
          <a:xfrm>
            <a:off x="5115249" y="3106808"/>
            <a:ext cx="1170527" cy="1532541"/>
            <a:chOff x="3216" y="1396"/>
            <a:chExt cx="779" cy="1060"/>
          </a:xfrm>
        </p:grpSpPr>
        <p:grpSp>
          <p:nvGrpSpPr>
            <p:cNvPr id="60" name="Group 69"/>
            <p:cNvGrpSpPr/>
            <p:nvPr/>
          </p:nvGrpSpPr>
          <p:grpSpPr bwMode="auto">
            <a:xfrm>
              <a:off x="3216" y="1396"/>
              <a:ext cx="308" cy="1038"/>
              <a:chOff x="3216" y="1264"/>
              <a:chExt cx="308" cy="1038"/>
            </a:xfrm>
          </p:grpSpPr>
          <p:sp>
            <p:nvSpPr>
              <p:cNvPr id="64" name="Rectangle 70"/>
              <p:cNvSpPr>
                <a:spLocks noChangeArrowheads="1"/>
              </p:cNvSpPr>
              <p:nvPr/>
            </p:nvSpPr>
            <p:spPr bwMode="auto">
              <a:xfrm>
                <a:off x="3294" y="1264"/>
                <a:ext cx="126"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sp>
            <p:nvSpPr>
              <p:cNvPr id="65" name="Rectangle 71"/>
              <p:cNvSpPr>
                <a:spLocks noChangeArrowheads="1"/>
              </p:cNvSpPr>
              <p:nvPr/>
            </p:nvSpPr>
            <p:spPr bwMode="auto">
              <a:xfrm>
                <a:off x="3418" y="2153"/>
                <a:ext cx="106"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sp>
            <p:nvSpPr>
              <p:cNvPr id="66" name="Freeform 72"/>
              <p:cNvSpPr/>
              <p:nvPr/>
            </p:nvSpPr>
            <p:spPr bwMode="auto">
              <a:xfrm>
                <a:off x="3216" y="1434"/>
                <a:ext cx="259" cy="742"/>
              </a:xfrm>
              <a:custGeom>
                <a:avLst/>
                <a:gdLst>
                  <a:gd name="T0" fmla="*/ 0 w 259"/>
                  <a:gd name="T1" fmla="*/ 0 h 691"/>
                  <a:gd name="T2" fmla="*/ 259 w 259"/>
                  <a:gd name="T3" fmla="*/ 0 h 691"/>
                  <a:gd name="T4" fmla="*/ 259 w 259"/>
                  <a:gd name="T5" fmla="*/ 691 h 691"/>
                  <a:gd name="T6" fmla="*/ 0 60000 65536"/>
                  <a:gd name="T7" fmla="*/ 0 60000 65536"/>
                  <a:gd name="T8" fmla="*/ 0 60000 65536"/>
                  <a:gd name="T9" fmla="*/ 0 w 259"/>
                  <a:gd name="T10" fmla="*/ 0 h 691"/>
                  <a:gd name="T11" fmla="*/ 259 w 259"/>
                  <a:gd name="T12" fmla="*/ 691 h 691"/>
                </a:gdLst>
                <a:ahLst/>
                <a:cxnLst>
                  <a:cxn ang="T6">
                    <a:pos x="T0" y="T1"/>
                  </a:cxn>
                  <a:cxn ang="T7">
                    <a:pos x="T2" y="T3"/>
                  </a:cxn>
                  <a:cxn ang="T8">
                    <a:pos x="T4" y="T5"/>
                  </a:cxn>
                </a:cxnLst>
                <a:rect l="T9" t="T10" r="T11" b="T12"/>
                <a:pathLst>
                  <a:path w="259" h="691">
                    <a:moveTo>
                      <a:pt x="0" y="0"/>
                    </a:moveTo>
                    <a:lnTo>
                      <a:pt x="259" y="0"/>
                    </a:lnTo>
                    <a:lnTo>
                      <a:pt x="259" y="691"/>
                    </a:lnTo>
                  </a:path>
                </a:pathLst>
              </a:custGeom>
              <a:noFill/>
              <a:ln w="19050">
                <a:solidFill>
                  <a:srgbClr val="000099"/>
                </a:solidFill>
                <a:round/>
                <a:headEnd/>
                <a:tailEnd/>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nvGrpSpPr>
            <p:cNvPr id="61" name="Group 73"/>
            <p:cNvGrpSpPr/>
            <p:nvPr/>
          </p:nvGrpSpPr>
          <p:grpSpPr bwMode="auto">
            <a:xfrm>
              <a:off x="3504" y="1563"/>
              <a:ext cx="491" cy="893"/>
              <a:chOff x="3504" y="1431"/>
              <a:chExt cx="491" cy="893"/>
            </a:xfrm>
          </p:grpSpPr>
          <p:sp>
            <p:nvSpPr>
              <p:cNvPr id="62" name="Rectangle 74"/>
              <p:cNvSpPr>
                <a:spLocks noChangeArrowheads="1"/>
              </p:cNvSpPr>
              <p:nvPr/>
            </p:nvSpPr>
            <p:spPr bwMode="auto">
              <a:xfrm>
                <a:off x="3869" y="2175"/>
                <a:ext cx="126"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1</a:t>
                </a:r>
              </a:p>
            </p:txBody>
          </p:sp>
          <p:sp>
            <p:nvSpPr>
              <p:cNvPr id="63" name="Freeform 75"/>
              <p:cNvSpPr/>
              <p:nvPr/>
            </p:nvSpPr>
            <p:spPr bwMode="auto">
              <a:xfrm>
                <a:off x="3504" y="1431"/>
                <a:ext cx="403" cy="744"/>
              </a:xfrm>
              <a:custGeom>
                <a:avLst/>
                <a:gdLst>
                  <a:gd name="T0" fmla="*/ 0 w 403"/>
                  <a:gd name="T1" fmla="*/ 0 h 686"/>
                  <a:gd name="T2" fmla="*/ 403 w 403"/>
                  <a:gd name="T3" fmla="*/ 0 h 686"/>
                  <a:gd name="T4" fmla="*/ 403 w 403"/>
                  <a:gd name="T5" fmla="*/ 686 h 686"/>
                  <a:gd name="T6" fmla="*/ 0 60000 65536"/>
                  <a:gd name="T7" fmla="*/ 0 60000 65536"/>
                  <a:gd name="T8" fmla="*/ 0 60000 65536"/>
                  <a:gd name="T9" fmla="*/ 0 w 403"/>
                  <a:gd name="T10" fmla="*/ 0 h 686"/>
                  <a:gd name="T11" fmla="*/ 403 w 403"/>
                  <a:gd name="T12" fmla="*/ 686 h 686"/>
                </a:gdLst>
                <a:ahLst/>
                <a:cxnLst>
                  <a:cxn ang="T6">
                    <a:pos x="T0" y="T1"/>
                  </a:cxn>
                  <a:cxn ang="T7">
                    <a:pos x="T2" y="T3"/>
                  </a:cxn>
                  <a:cxn ang="T8">
                    <a:pos x="T4" y="T5"/>
                  </a:cxn>
                </a:cxnLst>
                <a:rect l="T9" t="T10" r="T11" b="T12"/>
                <a:pathLst>
                  <a:path w="403" h="686">
                    <a:moveTo>
                      <a:pt x="0" y="0"/>
                    </a:moveTo>
                    <a:lnTo>
                      <a:pt x="403" y="0"/>
                    </a:lnTo>
                    <a:lnTo>
                      <a:pt x="403" y="686"/>
                    </a:lnTo>
                  </a:path>
                </a:pathLst>
              </a:custGeom>
              <a:noFill/>
              <a:ln w="12700">
                <a:solidFill>
                  <a:srgbClr val="000099"/>
                </a:solidFill>
                <a:prstDash val="dash"/>
                <a:round/>
                <a:headEnd/>
                <a:tailEnd/>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grpSp>
      <p:grpSp>
        <p:nvGrpSpPr>
          <p:cNvPr id="67" name="Group 76"/>
          <p:cNvGrpSpPr/>
          <p:nvPr/>
        </p:nvGrpSpPr>
        <p:grpSpPr bwMode="auto">
          <a:xfrm>
            <a:off x="5120836" y="3370610"/>
            <a:ext cx="1350838" cy="1265301"/>
            <a:chOff x="3220" y="1576"/>
            <a:chExt cx="899" cy="875"/>
          </a:xfrm>
        </p:grpSpPr>
        <p:grpSp>
          <p:nvGrpSpPr>
            <p:cNvPr id="68" name="Group 77"/>
            <p:cNvGrpSpPr/>
            <p:nvPr/>
          </p:nvGrpSpPr>
          <p:grpSpPr bwMode="auto">
            <a:xfrm>
              <a:off x="3220" y="1576"/>
              <a:ext cx="507" cy="862"/>
              <a:chOff x="3220" y="1444"/>
              <a:chExt cx="507" cy="862"/>
            </a:xfrm>
          </p:grpSpPr>
          <p:sp>
            <p:nvSpPr>
              <p:cNvPr id="72" name="Rectangle 78"/>
              <p:cNvSpPr>
                <a:spLocks noChangeArrowheads="1"/>
              </p:cNvSpPr>
              <p:nvPr/>
            </p:nvSpPr>
            <p:spPr bwMode="auto">
              <a:xfrm>
                <a:off x="3532" y="1444"/>
                <a:ext cx="126"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2</a:t>
                </a:r>
              </a:p>
            </p:txBody>
          </p:sp>
          <p:sp>
            <p:nvSpPr>
              <p:cNvPr id="73" name="Freeform 79"/>
              <p:cNvSpPr/>
              <p:nvPr/>
            </p:nvSpPr>
            <p:spPr bwMode="auto">
              <a:xfrm>
                <a:off x="3220" y="1608"/>
                <a:ext cx="448" cy="567"/>
              </a:xfrm>
              <a:custGeom>
                <a:avLst/>
                <a:gdLst>
                  <a:gd name="T0" fmla="*/ 0 w 495"/>
                  <a:gd name="T1" fmla="*/ 0 h 528"/>
                  <a:gd name="T2" fmla="*/ 172 w 495"/>
                  <a:gd name="T3" fmla="*/ 0 h 528"/>
                  <a:gd name="T4" fmla="*/ 172 w 495"/>
                  <a:gd name="T5" fmla="*/ 528 h 528"/>
                  <a:gd name="T6" fmla="*/ 0 60000 65536"/>
                  <a:gd name="T7" fmla="*/ 0 60000 65536"/>
                  <a:gd name="T8" fmla="*/ 0 60000 65536"/>
                  <a:gd name="T9" fmla="*/ 0 w 495"/>
                  <a:gd name="T10" fmla="*/ 0 h 528"/>
                  <a:gd name="T11" fmla="*/ 495 w 495"/>
                  <a:gd name="T12" fmla="*/ 528 h 528"/>
                </a:gdLst>
                <a:ahLst/>
                <a:cxnLst>
                  <a:cxn ang="T6">
                    <a:pos x="T0" y="T1"/>
                  </a:cxn>
                  <a:cxn ang="T7">
                    <a:pos x="T2" y="T3"/>
                  </a:cxn>
                  <a:cxn ang="T8">
                    <a:pos x="T4" y="T5"/>
                  </a:cxn>
                </a:cxnLst>
                <a:rect l="T9" t="T10" r="T11" b="T12"/>
                <a:pathLst>
                  <a:path w="495" h="528">
                    <a:moveTo>
                      <a:pt x="0" y="0"/>
                    </a:moveTo>
                    <a:lnTo>
                      <a:pt x="495" y="0"/>
                    </a:lnTo>
                    <a:lnTo>
                      <a:pt x="495" y="528"/>
                    </a:lnTo>
                  </a:path>
                </a:pathLst>
              </a:custGeom>
              <a:noFill/>
              <a:ln w="19050">
                <a:solidFill>
                  <a:srgbClr val="000099"/>
                </a:solidFill>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74" name="Rectangle 80"/>
              <p:cNvSpPr>
                <a:spLocks noChangeArrowheads="1"/>
              </p:cNvSpPr>
              <p:nvPr/>
            </p:nvSpPr>
            <p:spPr bwMode="auto">
              <a:xfrm>
                <a:off x="3601" y="2157"/>
                <a:ext cx="126"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 </a:t>
                </a: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2</a:t>
                </a:r>
              </a:p>
            </p:txBody>
          </p:sp>
        </p:grpSp>
        <p:grpSp>
          <p:nvGrpSpPr>
            <p:cNvPr id="69" name="Group 81"/>
            <p:cNvGrpSpPr/>
            <p:nvPr/>
          </p:nvGrpSpPr>
          <p:grpSpPr bwMode="auto">
            <a:xfrm>
              <a:off x="3681" y="1740"/>
              <a:ext cx="438" cy="711"/>
              <a:chOff x="3681" y="1608"/>
              <a:chExt cx="438" cy="711"/>
            </a:xfrm>
          </p:grpSpPr>
          <p:sp>
            <p:nvSpPr>
              <p:cNvPr id="70" name="Freeform 82"/>
              <p:cNvSpPr/>
              <p:nvPr/>
            </p:nvSpPr>
            <p:spPr bwMode="auto">
              <a:xfrm>
                <a:off x="3681" y="1608"/>
                <a:ext cx="343" cy="567"/>
              </a:xfrm>
              <a:custGeom>
                <a:avLst/>
                <a:gdLst>
                  <a:gd name="T0" fmla="*/ 0 w 312"/>
                  <a:gd name="T1" fmla="*/ 0 h 508"/>
                  <a:gd name="T2" fmla="*/ 312 w 312"/>
                  <a:gd name="T3" fmla="*/ 0 h 508"/>
                  <a:gd name="T4" fmla="*/ 312 w 312"/>
                  <a:gd name="T5" fmla="*/ 508 h 508"/>
                  <a:gd name="T6" fmla="*/ 0 60000 65536"/>
                  <a:gd name="T7" fmla="*/ 0 60000 65536"/>
                  <a:gd name="T8" fmla="*/ 0 60000 65536"/>
                  <a:gd name="T9" fmla="*/ 0 w 312"/>
                  <a:gd name="T10" fmla="*/ 0 h 508"/>
                  <a:gd name="T11" fmla="*/ 312 w 312"/>
                  <a:gd name="T12" fmla="*/ 508 h 508"/>
                </a:gdLst>
                <a:ahLst/>
                <a:cxnLst>
                  <a:cxn ang="T6">
                    <a:pos x="T0" y="T1"/>
                  </a:cxn>
                  <a:cxn ang="T7">
                    <a:pos x="T2" y="T3"/>
                  </a:cxn>
                  <a:cxn ang="T8">
                    <a:pos x="T4" y="T5"/>
                  </a:cxn>
                </a:cxnLst>
                <a:rect l="T9" t="T10" r="T11" b="T12"/>
                <a:pathLst>
                  <a:path w="312" h="508">
                    <a:moveTo>
                      <a:pt x="0" y="0"/>
                    </a:moveTo>
                    <a:lnTo>
                      <a:pt x="312" y="0"/>
                    </a:lnTo>
                    <a:lnTo>
                      <a:pt x="312" y="508"/>
                    </a:lnTo>
                  </a:path>
                </a:pathLst>
              </a:custGeom>
              <a:noFill/>
              <a:ln w="12700">
                <a:solidFill>
                  <a:srgbClr val="000099"/>
                </a:solidFill>
                <a:prstDash val="dash"/>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71" name="Rectangle 83"/>
              <p:cNvSpPr>
                <a:spLocks noChangeArrowheads="1"/>
              </p:cNvSpPr>
              <p:nvPr/>
            </p:nvSpPr>
            <p:spPr bwMode="auto">
              <a:xfrm>
                <a:off x="3993" y="2170"/>
                <a:ext cx="126"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2</a:t>
                </a:r>
              </a:p>
            </p:txBody>
          </p:sp>
        </p:grpSp>
      </p:grpSp>
      <p:grpSp>
        <p:nvGrpSpPr>
          <p:cNvPr id="75" name="Group 84"/>
          <p:cNvGrpSpPr/>
          <p:nvPr/>
        </p:nvGrpSpPr>
        <p:grpSpPr bwMode="auto">
          <a:xfrm>
            <a:off x="5115649" y="3600554"/>
            <a:ext cx="1623659" cy="1039342"/>
            <a:chOff x="3217" y="1734"/>
            <a:chExt cx="1047" cy="719"/>
          </a:xfrm>
        </p:grpSpPr>
        <p:grpSp>
          <p:nvGrpSpPr>
            <p:cNvPr id="76" name="Group 85"/>
            <p:cNvGrpSpPr/>
            <p:nvPr/>
          </p:nvGrpSpPr>
          <p:grpSpPr bwMode="auto">
            <a:xfrm>
              <a:off x="3217" y="1734"/>
              <a:ext cx="648" cy="709"/>
              <a:chOff x="3217" y="1602"/>
              <a:chExt cx="648" cy="709"/>
            </a:xfrm>
          </p:grpSpPr>
          <p:sp>
            <p:nvSpPr>
              <p:cNvPr id="80" name="Rectangle 86"/>
              <p:cNvSpPr>
                <a:spLocks noChangeArrowheads="1"/>
              </p:cNvSpPr>
              <p:nvPr/>
            </p:nvSpPr>
            <p:spPr bwMode="auto">
              <a:xfrm>
                <a:off x="3690" y="1602"/>
                <a:ext cx="122" cy="18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3</a:t>
                </a:r>
              </a:p>
            </p:txBody>
          </p:sp>
          <p:sp>
            <p:nvSpPr>
              <p:cNvPr id="81" name="Freeform 87"/>
              <p:cNvSpPr/>
              <p:nvPr/>
            </p:nvSpPr>
            <p:spPr bwMode="auto">
              <a:xfrm>
                <a:off x="3217" y="1775"/>
                <a:ext cx="590" cy="395"/>
              </a:xfrm>
              <a:custGeom>
                <a:avLst/>
                <a:gdLst>
                  <a:gd name="T0" fmla="*/ 0 w 590"/>
                  <a:gd name="T1" fmla="*/ 0 h 351"/>
                  <a:gd name="T2" fmla="*/ 590 w 590"/>
                  <a:gd name="T3" fmla="*/ 0 h 351"/>
                  <a:gd name="T4" fmla="*/ 590 w 590"/>
                  <a:gd name="T5" fmla="*/ 351 h 351"/>
                  <a:gd name="T6" fmla="*/ 0 60000 65536"/>
                  <a:gd name="T7" fmla="*/ 0 60000 65536"/>
                  <a:gd name="T8" fmla="*/ 0 60000 65536"/>
                  <a:gd name="T9" fmla="*/ 0 w 590"/>
                  <a:gd name="T10" fmla="*/ 0 h 351"/>
                  <a:gd name="T11" fmla="*/ 590 w 590"/>
                  <a:gd name="T12" fmla="*/ 351 h 351"/>
                </a:gdLst>
                <a:ahLst/>
                <a:cxnLst>
                  <a:cxn ang="T6">
                    <a:pos x="T0" y="T1"/>
                  </a:cxn>
                  <a:cxn ang="T7">
                    <a:pos x="T2" y="T3"/>
                  </a:cxn>
                  <a:cxn ang="T8">
                    <a:pos x="T4" y="T5"/>
                  </a:cxn>
                </a:cxnLst>
                <a:rect l="T9" t="T10" r="T11" b="T12"/>
                <a:pathLst>
                  <a:path w="590" h="351">
                    <a:moveTo>
                      <a:pt x="0" y="0"/>
                    </a:moveTo>
                    <a:lnTo>
                      <a:pt x="590" y="0"/>
                    </a:lnTo>
                    <a:lnTo>
                      <a:pt x="590" y="351"/>
                    </a:lnTo>
                  </a:path>
                </a:pathLst>
              </a:custGeom>
              <a:noFill/>
              <a:ln w="19050">
                <a:solidFill>
                  <a:srgbClr val="000099"/>
                </a:solidFill>
                <a:round/>
                <a:headEnd/>
                <a:tailEnd/>
              </a:ln>
            </p:spPr>
            <p:txBody>
              <a:bodyPr wrap="non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82" name="Rectangle 88"/>
              <p:cNvSpPr>
                <a:spLocks noChangeArrowheads="1"/>
              </p:cNvSpPr>
              <p:nvPr/>
            </p:nvSpPr>
            <p:spPr bwMode="auto">
              <a:xfrm>
                <a:off x="3723" y="2162"/>
                <a:ext cx="142"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 </a:t>
                </a: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3 </a:t>
                </a:r>
              </a:p>
            </p:txBody>
          </p:sp>
        </p:grpSp>
        <p:grpSp>
          <p:nvGrpSpPr>
            <p:cNvPr id="77" name="Group 89"/>
            <p:cNvGrpSpPr/>
            <p:nvPr/>
          </p:nvGrpSpPr>
          <p:grpSpPr bwMode="auto">
            <a:xfrm>
              <a:off x="3820" y="1914"/>
              <a:ext cx="444" cy="539"/>
              <a:chOff x="3820" y="1782"/>
              <a:chExt cx="444" cy="539"/>
            </a:xfrm>
          </p:grpSpPr>
          <p:sp>
            <p:nvSpPr>
              <p:cNvPr id="78" name="Freeform 90"/>
              <p:cNvSpPr/>
              <p:nvPr/>
            </p:nvSpPr>
            <p:spPr bwMode="auto">
              <a:xfrm>
                <a:off x="3820" y="1782"/>
                <a:ext cx="370" cy="393"/>
              </a:xfrm>
              <a:custGeom>
                <a:avLst/>
                <a:gdLst>
                  <a:gd name="T0" fmla="*/ 0 w 437"/>
                  <a:gd name="T1" fmla="*/ 0 h 355"/>
                  <a:gd name="T2" fmla="*/ 437 w 437"/>
                  <a:gd name="T3" fmla="*/ 0 h 355"/>
                  <a:gd name="T4" fmla="*/ 437 w 437"/>
                  <a:gd name="T5" fmla="*/ 355 h 355"/>
                  <a:gd name="T6" fmla="*/ 0 60000 65536"/>
                  <a:gd name="T7" fmla="*/ 0 60000 65536"/>
                  <a:gd name="T8" fmla="*/ 0 60000 65536"/>
                  <a:gd name="T9" fmla="*/ 0 w 437"/>
                  <a:gd name="T10" fmla="*/ 0 h 355"/>
                  <a:gd name="T11" fmla="*/ 437 w 437"/>
                  <a:gd name="T12" fmla="*/ 355 h 355"/>
                </a:gdLst>
                <a:ahLst/>
                <a:cxnLst>
                  <a:cxn ang="T6">
                    <a:pos x="T0" y="T1"/>
                  </a:cxn>
                  <a:cxn ang="T7">
                    <a:pos x="T2" y="T3"/>
                  </a:cxn>
                  <a:cxn ang="T8">
                    <a:pos x="T4" y="T5"/>
                  </a:cxn>
                </a:cxnLst>
                <a:rect l="T9" t="T10" r="T11" b="T12"/>
                <a:pathLst>
                  <a:path w="437" h="355">
                    <a:moveTo>
                      <a:pt x="0" y="0"/>
                    </a:moveTo>
                    <a:lnTo>
                      <a:pt x="437" y="0"/>
                    </a:lnTo>
                    <a:lnTo>
                      <a:pt x="437" y="355"/>
                    </a:lnTo>
                  </a:path>
                </a:pathLst>
              </a:custGeom>
              <a:noFill/>
              <a:ln w="12700">
                <a:solidFill>
                  <a:srgbClr val="000099"/>
                </a:solidFill>
                <a:prstDash val="dash"/>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79" name="Rectangle 91"/>
              <p:cNvSpPr>
                <a:spLocks noChangeArrowheads="1"/>
              </p:cNvSpPr>
              <p:nvPr/>
            </p:nvSpPr>
            <p:spPr bwMode="auto">
              <a:xfrm>
                <a:off x="4142" y="2172"/>
                <a:ext cx="122" cy="149"/>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3</a:t>
                </a:r>
              </a:p>
            </p:txBody>
          </p:sp>
        </p:grpSp>
      </p:grpSp>
      <p:grpSp>
        <p:nvGrpSpPr>
          <p:cNvPr id="83" name="Group 100"/>
          <p:cNvGrpSpPr/>
          <p:nvPr/>
        </p:nvGrpSpPr>
        <p:grpSpPr bwMode="auto">
          <a:xfrm>
            <a:off x="539552" y="3803835"/>
            <a:ext cx="6892439" cy="826213"/>
            <a:chOff x="753" y="2294"/>
            <a:chExt cx="4587" cy="672"/>
          </a:xfrm>
        </p:grpSpPr>
        <p:sp>
          <p:nvSpPr>
            <p:cNvPr id="84" name="Rectangle 92"/>
            <p:cNvSpPr>
              <a:spLocks noChangeArrowheads="1"/>
            </p:cNvSpPr>
            <p:nvPr/>
          </p:nvSpPr>
          <p:spPr bwMode="auto">
            <a:xfrm>
              <a:off x="753" y="2410"/>
              <a:ext cx="129" cy="221"/>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1" u="none" strike="noStrike" kern="0" cap="none" spc="0" normalizeH="0" baseline="-25000" noProof="0" dirty="0" smtClean="0">
                  <a:ln>
                    <a:noFill/>
                  </a:ln>
                  <a:solidFill>
                    <a:srgbClr val="000099"/>
                  </a:solidFill>
                  <a:effectLst/>
                  <a:uLnTx/>
                  <a:uFillTx/>
                  <a:latin typeface="Verdana" pitchFamily="34" charset="0"/>
                  <a:ea typeface="楷体_GB2312" pitchFamily="49" charset="-122"/>
                </a:rPr>
                <a:t>r</a:t>
              </a:r>
              <a:endPar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endParaRPr>
            </a:p>
          </p:txBody>
        </p:sp>
        <p:grpSp>
          <p:nvGrpSpPr>
            <p:cNvPr id="85" name="Group 93"/>
            <p:cNvGrpSpPr/>
            <p:nvPr/>
          </p:nvGrpSpPr>
          <p:grpSpPr bwMode="auto">
            <a:xfrm>
              <a:off x="922" y="2294"/>
              <a:ext cx="4418" cy="672"/>
              <a:chOff x="802" y="1718"/>
              <a:chExt cx="4418" cy="672"/>
            </a:xfrm>
          </p:grpSpPr>
          <p:sp>
            <p:nvSpPr>
              <p:cNvPr id="86" name="Line 94"/>
              <p:cNvSpPr>
                <a:spLocks noChangeShapeType="1"/>
              </p:cNvSpPr>
              <p:nvPr/>
            </p:nvSpPr>
            <p:spPr bwMode="auto">
              <a:xfrm>
                <a:off x="802" y="1944"/>
                <a:ext cx="4336" cy="6"/>
              </a:xfrm>
              <a:prstGeom prst="line">
                <a:avLst/>
              </a:prstGeom>
              <a:noFill/>
              <a:ln w="12700">
                <a:solidFill>
                  <a:srgbClr val="000099"/>
                </a:solidFill>
                <a:prstDash val="dash"/>
                <a:round/>
                <a:headEnd/>
                <a:tailEnd/>
              </a:ln>
            </p:spPr>
            <p:txBody>
              <a:bodyPr wrap="square"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grpSp>
            <p:nvGrpSpPr>
              <p:cNvPr id="87" name="Group 95"/>
              <p:cNvGrpSpPr/>
              <p:nvPr/>
            </p:nvGrpSpPr>
            <p:grpSpPr bwMode="auto">
              <a:xfrm>
                <a:off x="5053" y="1718"/>
                <a:ext cx="167" cy="672"/>
                <a:chOff x="4869" y="1790"/>
                <a:chExt cx="167" cy="672"/>
              </a:xfrm>
            </p:grpSpPr>
            <p:sp>
              <p:nvSpPr>
                <p:cNvPr id="88" name="Rectangle 96"/>
                <p:cNvSpPr>
                  <a:spLocks noChangeArrowheads="1"/>
                </p:cNvSpPr>
                <p:nvPr/>
              </p:nvSpPr>
              <p:spPr bwMode="auto">
                <a:xfrm>
                  <a:off x="4914" y="1790"/>
                  <a:ext cx="122" cy="213"/>
                </a:xfrm>
                <a:prstGeom prst="rect">
                  <a:avLst/>
                </a:prstGeom>
                <a:noFill/>
                <a:ln>
                  <a:noFill/>
                </a:ln>
              </p:spPr>
              <p:txBody>
                <a:bodyPr wrap="none" lIns="0" tIns="0" r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en-US" altLang="zh-CN" sz="1400" b="1" i="1" u="none" strike="noStrike" kern="0" cap="none" spc="0" normalizeH="0" baseline="0" noProof="0" dirty="0" smtClean="0">
                      <a:ln>
                        <a:noFill/>
                      </a:ln>
                      <a:solidFill>
                        <a:srgbClr val="000099"/>
                      </a:solidFill>
                      <a:effectLst/>
                      <a:uLnTx/>
                      <a:uFillTx/>
                      <a:latin typeface="Verdana" pitchFamily="34" charset="0"/>
                      <a:ea typeface="楷体_GB2312" pitchFamily="49" charset="-122"/>
                    </a:rPr>
                    <a:t>σ</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r</a:t>
                  </a:r>
                </a:p>
              </p:txBody>
            </p:sp>
            <p:sp>
              <p:nvSpPr>
                <p:cNvPr id="89" name="Line 97"/>
                <p:cNvSpPr>
                  <a:spLocks noChangeShapeType="1"/>
                </p:cNvSpPr>
                <p:nvPr/>
              </p:nvSpPr>
              <p:spPr bwMode="auto">
                <a:xfrm>
                  <a:off x="4954" y="2024"/>
                  <a:ext cx="0" cy="277"/>
                </a:xfrm>
                <a:prstGeom prst="line">
                  <a:avLst/>
                </a:prstGeom>
                <a:noFill/>
                <a:ln w="12700">
                  <a:solidFill>
                    <a:srgbClr val="000099"/>
                  </a:solidFill>
                  <a:prstDash val="dash"/>
                  <a:round/>
                  <a:headEnd/>
                  <a:tailEnd/>
                </a:ln>
              </p:spPr>
              <p:txBody>
                <a:bodyPr lIns="0" tIns="0" rIns="0" anchor="ctr">
                  <a:spAutoFit/>
                </a:bodyPr>
                <a:lstStyle/>
                <a:p>
                  <a:pPr marL="0" marR="0" lvl="0" indent="0"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smtClean="0">
                    <a:ln>
                      <a:noFill/>
                    </a:ln>
                    <a:solidFill>
                      <a:sysClr val="windowText" lastClr="000000"/>
                    </a:solidFill>
                    <a:effectLst/>
                    <a:uLnTx/>
                    <a:uFillTx/>
                  </a:endParaRPr>
                </a:p>
              </p:txBody>
            </p:sp>
            <p:sp>
              <p:nvSpPr>
                <p:cNvPr id="90" name="Rectangle 98"/>
                <p:cNvSpPr>
                  <a:spLocks noChangeArrowheads="1"/>
                </p:cNvSpPr>
                <p:nvPr/>
              </p:nvSpPr>
              <p:spPr bwMode="auto">
                <a:xfrm>
                  <a:off x="4869" y="2287"/>
                  <a:ext cx="164" cy="175"/>
                </a:xfrm>
                <a:prstGeom prst="rect">
                  <a:avLst/>
                </a:prstGeom>
                <a:noFill/>
                <a:ln>
                  <a:noFill/>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pPr>
                  <a:r>
                    <a:rPr kumimoji="1" lang="zh-CN" altLang="en-US"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 </a:t>
                  </a:r>
                  <a:r>
                    <a:rPr kumimoji="1" lang="en-US" altLang="zh-CN" sz="1400" b="1" i="1" u="none" strike="noStrike" kern="0" cap="none" spc="0" normalizeH="0" baseline="0" noProof="0" dirty="0" smtClean="0">
                      <a:ln>
                        <a:noFill/>
                      </a:ln>
                      <a:solidFill>
                        <a:srgbClr val="000099"/>
                      </a:solidFill>
                      <a:effectLst/>
                      <a:uLnTx/>
                      <a:uFillTx/>
                      <a:latin typeface="Times New Roman" pitchFamily="18" charset="0"/>
                      <a:ea typeface="楷体_GB2312" pitchFamily="49" charset="-122"/>
                    </a:rPr>
                    <a:t>N</a:t>
                  </a:r>
                  <a:r>
                    <a:rPr kumimoji="1" lang="en-US" altLang="zh-CN" sz="1400" b="1" i="0" u="none" strike="noStrike" kern="0" cap="none" spc="0" normalizeH="0" baseline="-25000" noProof="0" dirty="0" smtClean="0">
                      <a:ln>
                        <a:noFill/>
                      </a:ln>
                      <a:solidFill>
                        <a:srgbClr val="000099"/>
                      </a:solidFill>
                      <a:effectLst/>
                      <a:uLnTx/>
                      <a:uFillTx/>
                      <a:latin typeface="Times New Roman" pitchFamily="18" charset="0"/>
                      <a:ea typeface="宋体" charset="-122"/>
                    </a:rPr>
                    <a:t>D</a:t>
                  </a:r>
                </a:p>
              </p:txBody>
            </p:sp>
          </p:grpSp>
        </p:grpSp>
      </p:grpSp>
      <p:sp>
        <p:nvSpPr>
          <p:cNvPr id="91" name="椭圆 91"/>
          <p:cNvSpPr/>
          <p:nvPr/>
        </p:nvSpPr>
        <p:spPr>
          <a:xfrm>
            <a:off x="6114481" y="3321092"/>
            <a:ext cx="93161" cy="76228"/>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92" name="椭圆 92"/>
          <p:cNvSpPr/>
          <p:nvPr/>
        </p:nvSpPr>
        <p:spPr>
          <a:xfrm>
            <a:off x="6290926" y="3576926"/>
            <a:ext cx="93161" cy="76228"/>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93" name="椭圆 93"/>
          <p:cNvSpPr/>
          <p:nvPr/>
        </p:nvSpPr>
        <p:spPr>
          <a:xfrm>
            <a:off x="6583932" y="3820013"/>
            <a:ext cx="91659" cy="76228"/>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94" name="椭圆 94"/>
          <p:cNvSpPr/>
          <p:nvPr/>
        </p:nvSpPr>
        <p:spPr>
          <a:xfrm>
            <a:off x="7253933" y="4041126"/>
            <a:ext cx="91659" cy="74998"/>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sp>
        <p:nvSpPr>
          <p:cNvPr id="97" name="弧形 90"/>
          <p:cNvSpPr/>
          <p:nvPr/>
        </p:nvSpPr>
        <p:spPr>
          <a:xfrm rot="10800000">
            <a:off x="6026908" y="1576104"/>
            <a:ext cx="2819801" cy="2505377"/>
          </a:xfrm>
          <a:prstGeom prst="arc">
            <a:avLst>
              <a:gd name="adj1" fmla="val 15903258"/>
              <a:gd name="adj2" fmla="val 21181970"/>
            </a:avLst>
          </a:prstGeom>
          <a:noFill/>
          <a:ln w="19050"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1" i="0" u="none" strike="noStrike" kern="0" cap="none" spc="0" normalizeH="0" baseline="0" noProof="0" dirty="0">
              <a:ln>
                <a:noFill/>
              </a:ln>
              <a:solidFill>
                <a:srgbClr val="000000"/>
              </a:solidFill>
              <a:effectLst/>
              <a:uLnTx/>
              <a:uFillTx/>
              <a:latin typeface="Arial"/>
              <a:ea typeface="宋体"/>
              <a:cs typeface="+mn-cs"/>
            </a:endParaRPr>
          </a:p>
        </p:txBody>
      </p:sp>
      <p:graphicFrame>
        <p:nvGraphicFramePr>
          <p:cNvPr id="100" name="Object 80"/>
          <p:cNvGraphicFramePr>
            <a:graphicFrameLocks noChangeAspect="1"/>
          </p:cNvGraphicFramePr>
          <p:nvPr>
            <p:extLst>
              <p:ext uri="{D42A27DB-BD31-4B8C-83A1-F6EECF244321}">
                <p14:modId xmlns:p14="http://schemas.microsoft.com/office/powerpoint/2010/main" val="2483995737"/>
              </p:ext>
            </p:extLst>
          </p:nvPr>
        </p:nvGraphicFramePr>
        <p:xfrm>
          <a:off x="305488" y="4866704"/>
          <a:ext cx="1005079" cy="742212"/>
        </p:xfrm>
        <a:graphic>
          <a:graphicData uri="http://schemas.openxmlformats.org/presentationml/2006/ole">
            <mc:AlternateContent xmlns:mc="http://schemas.openxmlformats.org/markup-compatibility/2006">
              <mc:Choice xmlns:v="urn:schemas-microsoft-com:vml" Requires="v">
                <p:oleObj spid="_x0000_s6039635" name="公式" r:id="rId7" imgW="590474" imgH="438226" progId="Equation.3">
                  <p:embed/>
                </p:oleObj>
              </mc:Choice>
              <mc:Fallback>
                <p:oleObj name="公式" r:id="rId7" imgW="590474" imgH="438226" progId="Equation.3">
                  <p:embed/>
                  <p:pic>
                    <p:nvPicPr>
                      <p:cNvPr id="0" name=""/>
                      <p:cNvPicPr>
                        <a:picLocks noChangeAspect="1" noChangeArrowheads="1"/>
                      </p:cNvPicPr>
                      <p:nvPr/>
                    </p:nvPicPr>
                    <p:blipFill>
                      <a:blip r:embed="rId8"/>
                      <a:srcRect/>
                      <a:stretch>
                        <a:fillRect/>
                      </a:stretch>
                    </p:blipFill>
                    <p:spPr bwMode="auto">
                      <a:xfrm>
                        <a:off x="305488" y="4866704"/>
                        <a:ext cx="1005079" cy="742212"/>
                      </a:xfrm>
                      <a:prstGeom prst="rect">
                        <a:avLst/>
                      </a:prstGeom>
                      <a:noFill/>
                      <a:ln>
                        <a:noFill/>
                      </a:ln>
                      <a:effectLst/>
                    </p:spPr>
                  </p:pic>
                </p:oleObj>
              </mc:Fallback>
            </mc:AlternateContent>
          </a:graphicData>
        </a:graphic>
      </p:graphicFrame>
      <p:graphicFrame>
        <p:nvGraphicFramePr>
          <p:cNvPr id="101" name="Object 95"/>
          <p:cNvGraphicFramePr>
            <a:graphicFrameLocks noChangeAspect="1"/>
          </p:cNvGraphicFramePr>
          <p:nvPr>
            <p:extLst>
              <p:ext uri="{D42A27DB-BD31-4B8C-83A1-F6EECF244321}">
                <p14:modId xmlns:p14="http://schemas.microsoft.com/office/powerpoint/2010/main" val="2003737188"/>
              </p:ext>
            </p:extLst>
          </p:nvPr>
        </p:nvGraphicFramePr>
        <p:xfrm>
          <a:off x="3115792" y="5109291"/>
          <a:ext cx="1600224" cy="353061"/>
        </p:xfrm>
        <a:graphic>
          <a:graphicData uri="http://schemas.openxmlformats.org/presentationml/2006/ole">
            <mc:AlternateContent xmlns:mc="http://schemas.openxmlformats.org/markup-compatibility/2006">
              <mc:Choice xmlns:v="urn:schemas-microsoft-com:vml" Requires="v">
                <p:oleObj spid="_x0000_s6039636" name="Equation" r:id="rId9" imgW="1057161" imgH="209512" progId="Equation.DSMT4">
                  <p:embed/>
                </p:oleObj>
              </mc:Choice>
              <mc:Fallback>
                <p:oleObj name="Equation" r:id="rId9" imgW="1057161" imgH="209512" progId="Equation.DSMT4">
                  <p:embed/>
                  <p:pic>
                    <p:nvPicPr>
                      <p:cNvPr id="0" name=""/>
                      <p:cNvPicPr>
                        <a:picLocks noChangeAspect="1" noChangeArrowheads="1"/>
                      </p:cNvPicPr>
                      <p:nvPr/>
                    </p:nvPicPr>
                    <p:blipFill>
                      <a:blip r:embed="rId10"/>
                      <a:srcRect/>
                      <a:stretch>
                        <a:fillRect/>
                      </a:stretch>
                    </p:blipFill>
                    <p:spPr bwMode="auto">
                      <a:xfrm>
                        <a:off x="3115792" y="5109291"/>
                        <a:ext cx="1600224" cy="353061"/>
                      </a:xfrm>
                      <a:prstGeom prst="rect">
                        <a:avLst/>
                      </a:prstGeom>
                      <a:noFill/>
                      <a:ln>
                        <a:noFill/>
                      </a:ln>
                      <a:effectLst/>
                    </p:spPr>
                  </p:pic>
                </p:oleObj>
              </mc:Fallback>
            </mc:AlternateContent>
          </a:graphicData>
        </a:graphic>
      </p:graphicFrame>
      <p:sp>
        <p:nvSpPr>
          <p:cNvPr id="102" name="Rectangle 97"/>
          <p:cNvSpPr>
            <a:spLocks noChangeArrowheads="1"/>
          </p:cNvSpPr>
          <p:nvPr/>
        </p:nvSpPr>
        <p:spPr bwMode="auto">
          <a:xfrm>
            <a:off x="1753490" y="5139060"/>
            <a:ext cx="1615827" cy="323165"/>
          </a:xfrm>
          <a:prstGeom prst="rect">
            <a:avLst/>
          </a:prstGeom>
          <a:noFill/>
          <a:ln>
            <a:noFill/>
          </a:ln>
        </p:spPr>
        <p:txBody>
          <a:bodyPr wrap="none" lIns="0" tIns="0" rIns="0">
            <a:spAutoFit/>
          </a:bodyPr>
          <a:lstStyle/>
          <a:p>
            <a:pPr marL="0" marR="0" lvl="0" indent="0" defTabSz="914400" eaLnBrk="1" fontAlgn="auto" latinLnBrk="0" hangingPunct="1">
              <a:lnSpc>
                <a:spcPct val="100000"/>
              </a:lnSpc>
              <a:spcBef>
                <a:spcPts val="0"/>
              </a:spcBef>
              <a:spcAft>
                <a:spcPts val="0"/>
              </a:spcAft>
              <a:buClrTx/>
              <a:buSzTx/>
              <a:buFontTx/>
              <a:buNone/>
            </a:pPr>
            <a:r>
              <a:rPr kumimoji="1" lang="zh-CN" altLang="en-US" b="0" i="0" u="none" strike="noStrike" kern="0" cap="none" spc="0" normalizeH="0" baseline="0" noProof="0" dirty="0" smtClean="0">
                <a:ln>
                  <a:noFill/>
                </a:ln>
                <a:solidFill>
                  <a:srgbClr val="FF0000"/>
                </a:solidFill>
                <a:effectLst/>
                <a:uLnTx/>
                <a:uFillTx/>
                <a:latin typeface="黑体" pitchFamily="2" charset="-122"/>
                <a:ea typeface="黑体" pitchFamily="2" charset="-122"/>
              </a:rPr>
              <a:t>强度条件为：　</a:t>
            </a:r>
          </a:p>
        </p:txBody>
      </p:sp>
      <p:graphicFrame>
        <p:nvGraphicFramePr>
          <p:cNvPr id="103" name="Object 94"/>
          <p:cNvGraphicFramePr>
            <a:graphicFrameLocks noChangeAspect="1"/>
          </p:cNvGraphicFramePr>
          <p:nvPr>
            <p:extLst>
              <p:ext uri="{D42A27DB-BD31-4B8C-83A1-F6EECF244321}">
                <p14:modId xmlns:p14="http://schemas.microsoft.com/office/powerpoint/2010/main" val="2065599637"/>
              </p:ext>
            </p:extLst>
          </p:nvPr>
        </p:nvGraphicFramePr>
        <p:xfrm>
          <a:off x="5043583" y="4855780"/>
          <a:ext cx="1918567" cy="776169"/>
        </p:xfrm>
        <a:graphic>
          <a:graphicData uri="http://schemas.openxmlformats.org/presentationml/2006/ole">
            <mc:AlternateContent xmlns:mc="http://schemas.openxmlformats.org/markup-compatibility/2006">
              <mc:Choice xmlns:v="urn:schemas-microsoft-com:vml" Requires="v">
                <p:oleObj spid="_x0000_s6039637" name="Equation" r:id="rId11" imgW="1190549" imgH="476288" progId="Equation.3">
                  <p:embed/>
                </p:oleObj>
              </mc:Choice>
              <mc:Fallback>
                <p:oleObj name="Equation" r:id="rId11" imgW="1190549" imgH="476288" progId="Equation.3">
                  <p:embed/>
                  <p:pic>
                    <p:nvPicPr>
                      <p:cNvPr id="0" name=""/>
                      <p:cNvPicPr>
                        <a:picLocks noChangeAspect="1" noChangeArrowheads="1"/>
                      </p:cNvPicPr>
                      <p:nvPr/>
                    </p:nvPicPr>
                    <p:blipFill>
                      <a:blip r:embed="rId12"/>
                      <a:srcRect/>
                      <a:stretch>
                        <a:fillRect/>
                      </a:stretch>
                    </p:blipFill>
                    <p:spPr bwMode="auto">
                      <a:xfrm>
                        <a:off x="5043583" y="4855780"/>
                        <a:ext cx="1918567" cy="776169"/>
                      </a:xfrm>
                      <a:prstGeom prst="rect">
                        <a:avLst/>
                      </a:prstGeom>
                      <a:noFill/>
                      <a:ln>
                        <a:noFill/>
                      </a:ln>
                      <a:effectLst/>
                    </p:spPr>
                  </p:pic>
                </p:oleObj>
              </mc:Fallback>
            </mc:AlternateContent>
          </a:graphicData>
        </a:graphic>
      </p:graphicFrame>
      <p:grpSp>
        <p:nvGrpSpPr>
          <p:cNvPr id="106" name="组合 105"/>
          <p:cNvGrpSpPr/>
          <p:nvPr/>
        </p:nvGrpSpPr>
        <p:grpSpPr>
          <a:xfrm>
            <a:off x="7164514" y="4993663"/>
            <a:ext cx="1934998" cy="596097"/>
            <a:chOff x="7209002" y="5051803"/>
            <a:chExt cx="1934998" cy="596097"/>
          </a:xfrm>
        </p:grpSpPr>
        <p:pic>
          <p:nvPicPr>
            <p:cNvPr id="104" name="图片 103"/>
            <p:cNvPicPr>
              <a:picLocks noChangeAspect="1"/>
            </p:cNvPicPr>
            <p:nvPr/>
          </p:nvPicPr>
          <p:blipFill rotWithShape="1">
            <a:blip r:embed="rId13"/>
            <a:srcRect t="29850" r="80321" b="26197"/>
            <a:stretch/>
          </p:blipFill>
          <p:spPr>
            <a:xfrm>
              <a:off x="7209002" y="5051803"/>
              <a:ext cx="378627" cy="360041"/>
            </a:xfrm>
            <a:prstGeom prst="rect">
              <a:avLst/>
            </a:prstGeom>
          </p:spPr>
        </p:pic>
        <p:sp>
          <p:nvSpPr>
            <p:cNvPr id="105" name="Rectangle 96"/>
            <p:cNvSpPr>
              <a:spLocks noChangeArrowheads="1"/>
            </p:cNvSpPr>
            <p:nvPr/>
          </p:nvSpPr>
          <p:spPr bwMode="auto">
            <a:xfrm>
              <a:off x="7601697" y="5109291"/>
              <a:ext cx="1542303" cy="538609"/>
            </a:xfrm>
            <a:prstGeom prst="rect">
              <a:avLst/>
            </a:prstGeom>
            <a:noFill/>
            <a:ln>
              <a:noFill/>
            </a:ln>
          </p:spPr>
          <p:txBody>
            <a:bodyPr wrap="square" lIns="0" tIns="0" rIns="0">
              <a:spAutoFit/>
            </a:bodyPr>
            <a:lstStyle/>
            <a:p>
              <a:pPr marL="0" marR="0" lvl="0" indent="0" defTabSz="914400" eaLnBrk="1" fontAlgn="auto" latinLnBrk="0" hangingPunct="1">
                <a:lnSpc>
                  <a:spcPct val="100000"/>
                </a:lnSpc>
                <a:spcBef>
                  <a:spcPts val="0"/>
                </a:spcBef>
                <a:spcAft>
                  <a:spcPts val="0"/>
                </a:spcAft>
                <a:buClrTx/>
                <a:buSzTx/>
                <a:buFontTx/>
                <a:buNone/>
              </a:pPr>
              <a:r>
                <a:rPr kumimoji="1" lang="en-US" altLang="zh-CN" sz="16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a:t>
              </a:r>
              <a:r>
                <a:rPr kumimoji="1" lang="zh-CN" altLang="en-US" sz="1600" b="0" i="0" u="none" strike="noStrike" kern="0" cap="none" spc="0" normalizeH="0" baseline="0" noProof="0" dirty="0" smtClean="0">
                  <a:ln>
                    <a:noFill/>
                  </a:ln>
                  <a:solidFill>
                    <a:sysClr val="windowText" lastClr="000000"/>
                  </a:solidFill>
                  <a:effectLst/>
                  <a:uLnTx/>
                  <a:uFillTx/>
                  <a:latin typeface="黑体" pitchFamily="2" charset="-122"/>
                  <a:ea typeface="黑体" pitchFamily="2" charset="-122"/>
                </a:rPr>
                <a:t>不稳定变应力的</a:t>
              </a:r>
              <a:r>
                <a:rPr kumimoji="1" lang="zh-CN" altLang="en-US" sz="1600" b="0" i="0" u="none" strike="noStrike" kern="0" cap="none" spc="0" normalizeH="0" baseline="0" noProof="0" dirty="0" smtClean="0">
                  <a:ln>
                    <a:noFill/>
                  </a:ln>
                  <a:solidFill>
                    <a:srgbClr val="FF0000"/>
                  </a:solidFill>
                  <a:effectLst/>
                  <a:uLnTx/>
                  <a:uFillTx/>
                  <a:latin typeface="黑体" pitchFamily="2" charset="-122"/>
                  <a:ea typeface="黑体" pitchFamily="2" charset="-122"/>
                </a:rPr>
                <a:t>计算应力</a:t>
              </a:r>
            </a:p>
          </p:txBody>
        </p:sp>
      </p:grpSp>
    </p:spTree>
    <p:extLst>
      <p:ext uri="{BB962C8B-B14F-4D97-AF65-F5344CB8AC3E}">
        <p14:creationId xmlns:p14="http://schemas.microsoft.com/office/powerpoint/2010/main" val="399568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75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dissolve">
                                      <p:cBhvr>
                                        <p:cTn id="36" dur="500"/>
                                        <p:tgtEl>
                                          <p:spTgt spid="4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down)">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down)">
                                      <p:cBhvr>
                                        <p:cTn id="51" dur="500"/>
                                        <p:tgtEl>
                                          <p:spTgt spid="3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down)">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dissolve">
                                      <p:cBhvr>
                                        <p:cTn id="61" dur="500"/>
                                        <p:tgtEl>
                                          <p:spTgt spid="53"/>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97"/>
                                        </p:tgtEl>
                                        <p:attrNameLst>
                                          <p:attrName>style.visibility</p:attrName>
                                        </p:attrNameLst>
                                      </p:cBhvr>
                                      <p:to>
                                        <p:strVal val="visible"/>
                                      </p:to>
                                    </p:set>
                                    <p:animEffect transition="in" filter="randombar(horizontal)">
                                      <p:cBhvr>
                                        <p:cTn id="64" dur="500"/>
                                        <p:tgtEl>
                                          <p:spTgt spid="97"/>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59"/>
                                        </p:tgtEl>
                                        <p:attrNameLst>
                                          <p:attrName>style.visibility</p:attrName>
                                        </p:attrNameLst>
                                      </p:cBhvr>
                                      <p:to>
                                        <p:strVal val="visible"/>
                                      </p:to>
                                    </p:set>
                                  </p:childTnLst>
                                </p:cTn>
                              </p:par>
                              <p:par>
                                <p:cTn id="69" presetID="3" presetClass="entr" presetSubtype="10" fill="hold" grpId="0" nodeType="withEffect">
                                  <p:stCondLst>
                                    <p:cond delay="0"/>
                                  </p:stCondLst>
                                  <p:childTnLst>
                                    <p:set>
                                      <p:cBhvr>
                                        <p:cTn id="70" dur="1" fill="hold">
                                          <p:stCondLst>
                                            <p:cond delay="0"/>
                                          </p:stCondLst>
                                        </p:cTn>
                                        <p:tgtEl>
                                          <p:spTgt spid="91"/>
                                        </p:tgtEl>
                                        <p:attrNameLst>
                                          <p:attrName>style.visibility</p:attrName>
                                        </p:attrNameLst>
                                      </p:cBhvr>
                                      <p:to>
                                        <p:strVal val="visible"/>
                                      </p:to>
                                    </p:set>
                                    <p:animEffect transition="in" filter="blinds(horizontal)">
                                      <p:cBhvr>
                                        <p:cTn id="71" dur="500"/>
                                        <p:tgtEl>
                                          <p:spTgt spid="91"/>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499"/>
                                          </p:stCondLst>
                                        </p:cTn>
                                        <p:tgtEl>
                                          <p:spTgt spid="67"/>
                                        </p:tgtEl>
                                        <p:attrNameLst>
                                          <p:attrName>style.visibility</p:attrName>
                                        </p:attrNameLst>
                                      </p:cBhvr>
                                      <p:to>
                                        <p:strVal val="visible"/>
                                      </p:to>
                                    </p:set>
                                  </p:childTnLst>
                                </p:cTn>
                              </p:par>
                              <p:par>
                                <p:cTn id="76" presetID="3" presetClass="entr" presetSubtype="10" fill="hold" grpId="0" nodeType="withEffect">
                                  <p:stCondLst>
                                    <p:cond delay="0"/>
                                  </p:stCondLst>
                                  <p:childTnLst>
                                    <p:set>
                                      <p:cBhvr>
                                        <p:cTn id="77" dur="1" fill="hold">
                                          <p:stCondLst>
                                            <p:cond delay="0"/>
                                          </p:stCondLst>
                                        </p:cTn>
                                        <p:tgtEl>
                                          <p:spTgt spid="92"/>
                                        </p:tgtEl>
                                        <p:attrNameLst>
                                          <p:attrName>style.visibility</p:attrName>
                                        </p:attrNameLst>
                                      </p:cBhvr>
                                      <p:to>
                                        <p:strVal val="visible"/>
                                      </p:to>
                                    </p:set>
                                    <p:animEffect transition="in" filter="blinds(horizontal)">
                                      <p:cBhvr>
                                        <p:cTn id="78" dur="500"/>
                                        <p:tgtEl>
                                          <p:spTgt spid="9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75"/>
                                        </p:tgtEl>
                                        <p:attrNameLst>
                                          <p:attrName>style.visibility</p:attrName>
                                        </p:attrNameLst>
                                      </p:cBhvr>
                                      <p:to>
                                        <p:strVal val="visible"/>
                                      </p:to>
                                    </p:set>
                                  </p:childTnLst>
                                </p:cTn>
                              </p:par>
                              <p:par>
                                <p:cTn id="83" presetID="3" presetClass="entr" presetSubtype="10" fill="hold" grpId="0" nodeType="withEffect">
                                  <p:stCondLst>
                                    <p:cond delay="0"/>
                                  </p:stCondLst>
                                  <p:childTnLst>
                                    <p:set>
                                      <p:cBhvr>
                                        <p:cTn id="84" dur="1" fill="hold">
                                          <p:stCondLst>
                                            <p:cond delay="0"/>
                                          </p:stCondLst>
                                        </p:cTn>
                                        <p:tgtEl>
                                          <p:spTgt spid="93"/>
                                        </p:tgtEl>
                                        <p:attrNameLst>
                                          <p:attrName>style.visibility</p:attrName>
                                        </p:attrNameLst>
                                      </p:cBhvr>
                                      <p:to>
                                        <p:strVal val="visible"/>
                                      </p:to>
                                    </p:set>
                                    <p:animEffect transition="in" filter="blinds(horizontal)">
                                      <p:cBhvr>
                                        <p:cTn id="85" dur="500"/>
                                        <p:tgtEl>
                                          <p:spTgt spid="9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fill="hold" nodeType="clickEffect">
                                  <p:stCondLst>
                                    <p:cond delay="0"/>
                                  </p:stCondLst>
                                  <p:childTnLst>
                                    <p:set>
                                      <p:cBhvr>
                                        <p:cTn id="89" dur="1" fill="hold">
                                          <p:stCondLst>
                                            <p:cond delay="0"/>
                                          </p:stCondLst>
                                        </p:cTn>
                                        <p:tgtEl>
                                          <p:spTgt spid="83"/>
                                        </p:tgtEl>
                                        <p:attrNameLst>
                                          <p:attrName>style.visibility</p:attrName>
                                        </p:attrNameLst>
                                      </p:cBhvr>
                                      <p:to>
                                        <p:strVal val="visible"/>
                                      </p:to>
                                    </p:set>
                                    <p:animEffect transition="in" filter="wipe(right)">
                                      <p:cBhvr>
                                        <p:cTn id="90" dur="500"/>
                                        <p:tgtEl>
                                          <p:spTgt spid="83"/>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94"/>
                                        </p:tgtEl>
                                        <p:attrNameLst>
                                          <p:attrName>style.visibility</p:attrName>
                                        </p:attrNameLst>
                                      </p:cBhvr>
                                      <p:to>
                                        <p:strVal val="visible"/>
                                      </p:to>
                                    </p:set>
                                    <p:animEffect transition="in" filter="blinds(horizontal)">
                                      <p:cBhvr>
                                        <p:cTn id="93" dur="500"/>
                                        <p:tgtEl>
                                          <p:spTgt spid="9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00"/>
                                        </p:tgtEl>
                                        <p:attrNameLst>
                                          <p:attrName>style.visibility</p:attrName>
                                        </p:attrNameLst>
                                      </p:cBhvr>
                                      <p:to>
                                        <p:strVal val="visible"/>
                                      </p:to>
                                    </p:set>
                                    <p:animEffect transition="in" filter="wipe(left)">
                                      <p:cBhvr>
                                        <p:cTn id="98" dur="500"/>
                                        <p:tgtEl>
                                          <p:spTgt spid="10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2"/>
                                        </p:tgtEl>
                                        <p:attrNameLst>
                                          <p:attrName>style.visibility</p:attrName>
                                        </p:attrNameLst>
                                      </p:cBhvr>
                                      <p:to>
                                        <p:strVal val="visible"/>
                                      </p:to>
                                    </p:set>
                                    <p:animEffect transition="in" filter="wipe(left)">
                                      <p:cBhvr>
                                        <p:cTn id="103" dur="750"/>
                                        <p:tgtEl>
                                          <p:spTgt spid="102"/>
                                        </p:tgtEl>
                                      </p:cBhvr>
                                    </p:animEffect>
                                  </p:childTnLst>
                                </p:cTn>
                              </p:par>
                            </p:childTnLst>
                          </p:cTn>
                        </p:par>
                        <p:par>
                          <p:cTn id="104" fill="hold">
                            <p:stCondLst>
                              <p:cond delay="750"/>
                            </p:stCondLst>
                            <p:childTnLst>
                              <p:par>
                                <p:cTn id="105" presetID="22" presetClass="entr" presetSubtype="8" fill="hold" nodeType="afterEffect">
                                  <p:stCondLst>
                                    <p:cond delay="0"/>
                                  </p:stCondLst>
                                  <p:childTnLst>
                                    <p:set>
                                      <p:cBhvr>
                                        <p:cTn id="106" dur="1" fill="hold">
                                          <p:stCondLst>
                                            <p:cond delay="0"/>
                                          </p:stCondLst>
                                        </p:cTn>
                                        <p:tgtEl>
                                          <p:spTgt spid="101"/>
                                        </p:tgtEl>
                                        <p:attrNameLst>
                                          <p:attrName>style.visibility</p:attrName>
                                        </p:attrNameLst>
                                      </p:cBhvr>
                                      <p:to>
                                        <p:strVal val="visible"/>
                                      </p:to>
                                    </p:set>
                                    <p:animEffect transition="in" filter="wipe(left)">
                                      <p:cBhvr>
                                        <p:cTn id="107" dur="500"/>
                                        <p:tgtEl>
                                          <p:spTgt spid="10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103"/>
                                        </p:tgtEl>
                                        <p:attrNameLst>
                                          <p:attrName>style.visibility</p:attrName>
                                        </p:attrNameLst>
                                      </p:cBhvr>
                                      <p:to>
                                        <p:strVal val="visible"/>
                                      </p:to>
                                    </p:set>
                                    <p:animEffect transition="in" filter="wipe(left)">
                                      <p:cBhvr>
                                        <p:cTn id="112" dur="500"/>
                                        <p:tgtEl>
                                          <p:spTgt spid="10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06"/>
                                        </p:tgtEl>
                                        <p:attrNameLst>
                                          <p:attrName>style.visibility</p:attrName>
                                        </p:attrNameLst>
                                      </p:cBhvr>
                                      <p:to>
                                        <p:strVal val="visible"/>
                                      </p:to>
                                    </p:set>
                                    <p:animEffect transition="in" filter="wipe(left)">
                                      <p:cBhvr>
                                        <p:cTn id="117"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91" grpId="0" animBg="1"/>
      <p:bldP spid="92" grpId="0" animBg="1"/>
      <p:bldP spid="93" grpId="0" animBg="1"/>
      <p:bldP spid="94" grpId="0" animBg="1"/>
      <p:bldP spid="97" grpId="0" animBg="1"/>
      <p:bldP spid="10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零件的疲劳强度计算</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323528" y="503007"/>
            <a:ext cx="6480720" cy="492443"/>
            <a:chOff x="323528" y="564857"/>
            <a:chExt cx="6480720" cy="492443"/>
          </a:xfrm>
        </p:grpSpPr>
        <p:sp>
          <p:nvSpPr>
            <p:cNvPr id="7" name="Text Box 5"/>
            <p:cNvSpPr txBox="1">
              <a:spLocks noChangeArrowheads="1"/>
            </p:cNvSpPr>
            <p:nvPr/>
          </p:nvSpPr>
          <p:spPr bwMode="auto">
            <a:xfrm>
              <a:off x="683568" y="564857"/>
              <a:ext cx="6120680"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双向</a:t>
              </a:r>
              <a:r>
                <a:rPr lang="zh-CN" altLang="en-US" sz="2600" b="1" dirty="0">
                  <a:solidFill>
                    <a:srgbClr val="000099"/>
                  </a:solidFill>
                  <a:latin typeface="黑体" pitchFamily="49" charset="-122"/>
                </a:rPr>
                <a:t>不</a:t>
              </a:r>
              <a:r>
                <a:rPr lang="zh-CN" altLang="en-US" sz="2600" b="1" dirty="0" smtClean="0">
                  <a:solidFill>
                    <a:srgbClr val="000099"/>
                  </a:solidFill>
                  <a:effectLst/>
                  <a:latin typeface="黑体" pitchFamily="49" charset="-122"/>
                </a:rPr>
                <a:t>稳定交变应力时的疲劳强度计算</a:t>
              </a:r>
              <a:endParaRPr lang="zh-CN" altLang="en-US" sz="2600" b="1" dirty="0">
                <a:solidFill>
                  <a:srgbClr val="000099"/>
                </a:solidFill>
                <a:effectLst/>
                <a:latin typeface="黑体" pitchFamily="49" charset="-122"/>
              </a:endParaRPr>
            </a:p>
          </p:txBody>
        </p:sp>
        <p:pic>
          <p:nvPicPr>
            <p:cNvPr id="8" name="Picture 15" descr="AR1031"/>
            <p:cNvPicPr>
              <a:picLocks noChangeAspect="1" noChangeArrowheads="1"/>
            </p:cNvPicPr>
            <p:nvPr/>
          </p:nvPicPr>
          <p:blipFill>
            <a:blip r:embed="rId2">
              <a:duotone>
                <a:prstClr val="black"/>
                <a:srgbClr val="00CC00">
                  <a:tint val="45000"/>
                  <a:satMod val="400000"/>
                </a:srgbClr>
              </a:duotone>
              <a:lum bright="-36000" contrast="100000"/>
            </a:blip>
            <a:srcRect/>
            <a:stretch>
              <a:fillRect/>
            </a:stretch>
          </p:blipFill>
          <p:spPr bwMode="auto">
            <a:xfrm rot="5400000">
              <a:off x="372720" y="655260"/>
              <a:ext cx="280840" cy="379223"/>
            </a:xfrm>
            <a:prstGeom prst="rect">
              <a:avLst/>
            </a:prstGeom>
            <a:noFill/>
            <a:ln w="9525">
              <a:solidFill>
                <a:schemeClr val="bg1"/>
              </a:solidFill>
              <a:miter lim="800000"/>
              <a:headEnd/>
              <a:tailEnd/>
            </a:ln>
          </p:spPr>
        </p:pic>
      </p:grpSp>
      <p:sp>
        <p:nvSpPr>
          <p:cNvPr id="9" name="文本框 8"/>
          <p:cNvSpPr txBox="1"/>
          <p:nvPr/>
        </p:nvSpPr>
        <p:spPr>
          <a:xfrm>
            <a:off x="6795334" y="561139"/>
            <a:ext cx="2031325" cy="461665"/>
          </a:xfrm>
          <a:prstGeom prst="rect">
            <a:avLst/>
          </a:prstGeom>
          <a:noFill/>
        </p:spPr>
        <p:txBody>
          <a:bodyPr wrap="none" rtlCol="0">
            <a:spAutoFit/>
          </a:bodyPr>
          <a:lstStyle/>
          <a:p>
            <a:r>
              <a:rPr lang="zh-CN" altLang="en-US" sz="2400" dirty="0" smtClean="0">
                <a:solidFill>
                  <a:srgbClr val="FF0000"/>
                </a:solidFill>
                <a:latin typeface="+mn-ea"/>
                <a:ea typeface="+mn-ea"/>
              </a:rPr>
              <a:t>弯扭复合受载</a:t>
            </a:r>
            <a:endParaRPr lang="zh-CN" altLang="en-US" sz="2400" dirty="0">
              <a:solidFill>
                <a:srgbClr val="FF0000"/>
              </a:solidFill>
              <a:latin typeface="+mn-ea"/>
              <a:ea typeface="+mn-ea"/>
            </a:endParaRPr>
          </a:p>
        </p:txBody>
      </p:sp>
      <mc:AlternateContent xmlns:mc="http://schemas.openxmlformats.org/markup-compatibility/2006" xmlns:a14="http://schemas.microsoft.com/office/drawing/2010/main">
        <mc:Choice Requires="a14">
          <p:sp>
            <p:nvSpPr>
              <p:cNvPr id="10" name="文本框 9"/>
              <p:cNvSpPr txBox="1"/>
              <p:nvPr/>
            </p:nvSpPr>
            <p:spPr>
              <a:xfrm>
                <a:off x="330902" y="1113433"/>
                <a:ext cx="8568952" cy="830997"/>
              </a:xfrm>
              <a:prstGeom prst="rect">
                <a:avLst/>
              </a:prstGeom>
              <a:noFill/>
            </p:spPr>
            <p:txBody>
              <a:bodyPr wrap="square" rtlCol="0">
                <a:spAutoFit/>
              </a:bodyPr>
              <a:lstStyle/>
              <a:p>
                <a:pPr algn="just">
                  <a:lnSpc>
                    <a:spcPct val="120000"/>
                  </a:lnSpc>
                </a:pPr>
                <a:r>
                  <a:rPr lang="zh-CN" altLang="en-US" sz="2000" dirty="0" smtClean="0">
                    <a:latin typeface="+mn-ea"/>
                    <a:ea typeface="+mn-ea"/>
                  </a:rPr>
                  <a:t>某些零件是在双向变应力下工作的，如转轴就受到弯和扭的联合作用。当零件上同时作用有同周期同相位的法向和切向稳定变应力</a:t>
                </a:r>
                <a14:m>
                  <m:oMath xmlns:m="http://schemas.openxmlformats.org/officeDocument/2006/math">
                    <m:sSub>
                      <m:sSubPr>
                        <m:ctrlPr>
                          <a:rPr lang="en-US" altLang="zh-CN" sz="2000" i="1" smtClean="0">
                            <a:latin typeface="Cambria Math" panose="02040503050406030204" pitchFamily="18" charset="0"/>
                            <a:ea typeface="+mn-ea"/>
                          </a:rPr>
                        </m:ctrlPr>
                      </m:sSubPr>
                      <m:e>
                        <m:r>
                          <a:rPr lang="zh-CN" altLang="en-US" sz="2000" i="1" smtClean="0">
                            <a:latin typeface="Cambria Math" panose="02040503050406030204" pitchFamily="18" charset="0"/>
                            <a:ea typeface="+mn-ea"/>
                          </a:rPr>
                          <m:t>𝜎</m:t>
                        </m:r>
                      </m:e>
                      <m:sub>
                        <m:r>
                          <a:rPr lang="en-US" altLang="zh-CN" sz="2000" b="0" i="1" smtClean="0">
                            <a:latin typeface="Cambria Math" panose="02040503050406030204" pitchFamily="18" charset="0"/>
                            <a:ea typeface="+mn-ea"/>
                          </a:rPr>
                          <m:t>𝑎</m:t>
                        </m:r>
                      </m:sub>
                    </m:sSub>
                  </m:oMath>
                </a14:m>
                <a:r>
                  <a:rPr lang="zh-CN" altLang="en-US" sz="2000" dirty="0" smtClean="0">
                    <a:latin typeface="+mn-ea"/>
                    <a:ea typeface="+mn-ea"/>
                  </a:rPr>
                  <a:t>及</a:t>
                </a:r>
                <a14:m>
                  <m:oMath xmlns:m="http://schemas.openxmlformats.org/officeDocument/2006/math">
                    <m:sSub>
                      <m:sSubPr>
                        <m:ctrlPr>
                          <a:rPr lang="en-US" altLang="zh-CN" sz="2000" i="1" dirty="0" smtClean="0">
                            <a:latin typeface="Cambria Math" panose="02040503050406030204" pitchFamily="18" charset="0"/>
                            <a:ea typeface="+mn-ea"/>
                          </a:rPr>
                        </m:ctrlPr>
                      </m:sSubPr>
                      <m:e>
                        <m:r>
                          <a:rPr lang="zh-CN" altLang="en-US" sz="2000" i="1" dirty="0" smtClean="0">
                            <a:latin typeface="Cambria Math" panose="02040503050406030204" pitchFamily="18" charset="0"/>
                            <a:ea typeface="+mn-ea"/>
                          </a:rPr>
                          <m:t>𝜏</m:t>
                        </m:r>
                      </m:e>
                      <m:sub>
                        <m:r>
                          <a:rPr lang="en-US" altLang="zh-CN" sz="2000" b="0" i="1" dirty="0" smtClean="0">
                            <a:latin typeface="Cambria Math" panose="02040503050406030204" pitchFamily="18" charset="0"/>
                            <a:ea typeface="+mn-ea"/>
                          </a:rPr>
                          <m:t>𝑎</m:t>
                        </m:r>
                      </m:sub>
                    </m:sSub>
                  </m:oMath>
                </a14:m>
                <a:r>
                  <a:rPr lang="zh-CN" altLang="en-US" sz="2000" dirty="0" smtClean="0">
                    <a:latin typeface="+mn-ea"/>
                    <a:ea typeface="+mn-ea"/>
                  </a:rPr>
                  <a:t>时：</a:t>
                </a:r>
                <a:endParaRPr lang="zh-CN" altLang="en-US" sz="2000" dirty="0">
                  <a:latin typeface="+mn-ea"/>
                  <a:ea typeface="+mn-ea"/>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30902" y="1113433"/>
                <a:ext cx="8568952" cy="830997"/>
              </a:xfrm>
              <a:prstGeom prst="rect">
                <a:avLst/>
              </a:prstGeom>
              <a:blipFill rotWithShape="0">
                <a:blip r:embed="rId3"/>
                <a:stretch>
                  <a:fillRect l="-711" t="-735" r="-782" b="-8824"/>
                </a:stretch>
              </a:blipFill>
            </p:spPr>
            <p:txBody>
              <a:bodyPr/>
              <a:lstStyle/>
              <a:p>
                <a:r>
                  <a:rPr lang="zh-CN" altLang="en-US">
                    <a:noFill/>
                  </a:rPr>
                  <a:t> </a:t>
                </a:r>
              </a:p>
            </p:txBody>
          </p:sp>
        </mc:Fallback>
      </mc:AlternateContent>
      <p:grpSp>
        <p:nvGrpSpPr>
          <p:cNvPr id="28" name="组合 27"/>
          <p:cNvGrpSpPr/>
          <p:nvPr/>
        </p:nvGrpSpPr>
        <p:grpSpPr>
          <a:xfrm>
            <a:off x="777347" y="1986523"/>
            <a:ext cx="2460569" cy="3520197"/>
            <a:chOff x="777347" y="1986523"/>
            <a:chExt cx="2460569" cy="3520197"/>
          </a:xfrm>
        </p:grpSpPr>
        <mc:AlternateContent xmlns:mc="http://schemas.openxmlformats.org/markup-compatibility/2006" xmlns:a14="http://schemas.microsoft.com/office/drawing/2010/main">
          <mc:Choice Requires="a14">
            <p:sp>
              <p:nvSpPr>
                <p:cNvPr id="11" name="文本框 10"/>
                <p:cNvSpPr txBox="1"/>
                <p:nvPr/>
              </p:nvSpPr>
              <p:spPr>
                <a:xfrm>
                  <a:off x="1014872" y="1986523"/>
                  <a:ext cx="2223044" cy="7290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𝑐𝑎</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zh-CN" altLang="en-US" b="0" i="1" smtClean="0">
                                    <a:latin typeface="Cambria Math" panose="02040503050406030204" pitchFamily="18" charset="0"/>
                                  </a:rPr>
                                  <m:t>𝜎</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zh-CN" altLang="en-US" b="0" i="1" smtClean="0">
                                    <a:latin typeface="Cambria Math" panose="02040503050406030204" pitchFamily="18" charset="0"/>
                                  </a:rPr>
                                  <m:t>𝜏</m:t>
                                </m:r>
                              </m:sub>
                            </m:sSub>
                          </m:num>
                          <m:den>
                            <m:rad>
                              <m:radPr>
                                <m:degHide m:val="on"/>
                                <m:ctrlPr>
                                  <a:rPr lang="en-US" altLang="zh-CN" b="0" i="1" smtClean="0">
                                    <a:latin typeface="Cambria Math" panose="02040503050406030204" pitchFamily="18" charset="0"/>
                                  </a:rPr>
                                </m:ctrlPr>
                              </m:radPr>
                              <m:deg/>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𝑆</m:t>
                                    </m:r>
                                  </m:e>
                                  <m:sub>
                                    <m:r>
                                      <a:rPr lang="zh-CN" altLang="en-US" b="0" i="1" smtClean="0">
                                        <a:latin typeface="Cambria Math" panose="02040503050406030204" pitchFamily="18" charset="0"/>
                                      </a:rPr>
                                      <m:t>𝜎</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𝑆</m:t>
                                    </m:r>
                                  </m:e>
                                  <m:sub>
                                    <m:r>
                                      <a:rPr lang="zh-CN" altLang="en-US" b="0" i="1" smtClean="0">
                                        <a:latin typeface="Cambria Math" panose="02040503050406030204" pitchFamily="18" charset="0"/>
                                      </a:rPr>
                                      <m:t>𝜏</m:t>
                                    </m:r>
                                  </m:sub>
                                  <m:sup>
                                    <m:r>
                                      <a:rPr lang="en-US" altLang="zh-CN" b="0" i="1" smtClean="0">
                                        <a:latin typeface="Cambria Math" panose="02040503050406030204" pitchFamily="18" charset="0"/>
                                      </a:rPr>
                                      <m:t>2</m:t>
                                    </m:r>
                                  </m:sup>
                                </m:sSubSup>
                              </m:e>
                            </m:rad>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014872" y="1986523"/>
                  <a:ext cx="2223044" cy="729046"/>
                </a:xfrm>
                <a:prstGeom prst="rect">
                  <a:avLst/>
                </a:prstGeom>
                <a:blipFill rotWithShape="0">
                  <a:blip r:embed="rId4"/>
                  <a:stretch>
                    <a:fillRect/>
                  </a:stretch>
                </a:blipFill>
              </p:spPr>
              <p:txBody>
                <a:bodyPr/>
                <a:lstStyle/>
                <a:p>
                  <a:r>
                    <a:rPr lang="zh-CN" altLang="en-US">
                      <a:noFill/>
                    </a:rPr>
                    <a:t> </a:t>
                  </a:r>
                </a:p>
              </p:txBody>
            </p:sp>
          </mc:Fallback>
        </mc:AlternateContent>
        <p:sp>
          <p:nvSpPr>
            <p:cNvPr id="14" name="左大括号 13"/>
            <p:cNvSpPr/>
            <p:nvPr/>
          </p:nvSpPr>
          <p:spPr>
            <a:xfrm>
              <a:off x="777347" y="2133562"/>
              <a:ext cx="259296" cy="337315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9" name="组合 28"/>
          <p:cNvGrpSpPr/>
          <p:nvPr/>
        </p:nvGrpSpPr>
        <p:grpSpPr>
          <a:xfrm>
            <a:off x="1038209" y="2890239"/>
            <a:ext cx="1300604" cy="1312950"/>
            <a:chOff x="1038209" y="2890239"/>
            <a:chExt cx="1300604" cy="1312950"/>
          </a:xfrm>
        </p:grpSpPr>
        <mc:AlternateContent xmlns:mc="http://schemas.openxmlformats.org/markup-compatibility/2006" xmlns:a14="http://schemas.microsoft.com/office/drawing/2010/main">
          <mc:Choice Requires="a14">
            <p:sp>
              <p:nvSpPr>
                <p:cNvPr id="17" name="文本框 16"/>
                <p:cNvSpPr txBox="1"/>
                <p:nvPr/>
              </p:nvSpPr>
              <p:spPr>
                <a:xfrm>
                  <a:off x="1038209" y="2890239"/>
                  <a:ext cx="1300604" cy="611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zh-CN" altLang="en-US" i="1">
                                <a:latin typeface="Cambria Math" panose="02040503050406030204" pitchFamily="18" charset="0"/>
                              </a:rPr>
                              <m:t>𝜎</m:t>
                            </m:r>
                          </m:sub>
                        </m:sSub>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zh-CN" altLang="en-US" b="0" i="1" smtClean="0">
                                    <a:latin typeface="Cambria Math" panose="02040503050406030204" pitchFamily="18" charset="0"/>
                                  </a:rPr>
                                  <m:t>𝜎</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Sub>
                          </m:den>
                        </m:f>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1038209" y="2890239"/>
                  <a:ext cx="1300604" cy="611578"/>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069119" y="3591611"/>
                  <a:ext cx="1226746" cy="611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zh-CN" altLang="en-US" b="0" i="1" smtClean="0">
                                <a:latin typeface="Cambria Math" panose="02040503050406030204" pitchFamily="18" charset="0"/>
                              </a:rPr>
                              <m:t>𝜏</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𝜏</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zh-CN" altLang="en-US" b="0" i="1" smtClean="0">
                                    <a:latin typeface="Cambria Math" panose="02040503050406030204" pitchFamily="18" charset="0"/>
                                  </a:rPr>
                                  <m:t>𝜏</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𝜏</m:t>
                                </m:r>
                              </m:e>
                              <m:sub>
                                <m:r>
                                  <a:rPr lang="en-US" altLang="zh-CN" b="0" i="1" smtClean="0">
                                    <a:latin typeface="Cambria Math" panose="02040503050406030204" pitchFamily="18" charset="0"/>
                                  </a:rPr>
                                  <m:t>𝑎</m:t>
                                </m:r>
                              </m:sub>
                            </m:sSub>
                          </m:den>
                        </m:f>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1069119" y="3591611"/>
                  <a:ext cx="1226746" cy="611578"/>
                </a:xfrm>
                <a:prstGeom prst="rect">
                  <a:avLst/>
                </a:prstGeom>
                <a:blipFill rotWithShape="0">
                  <a:blip r:embed="rId6"/>
                  <a:stretch>
                    <a:fillRect/>
                  </a:stretch>
                </a:blipFill>
              </p:spPr>
              <p:txBody>
                <a:bodyPr/>
                <a:lstStyle/>
                <a:p>
                  <a:r>
                    <a:rPr lang="zh-CN" altLang="en-US">
                      <a:noFill/>
                    </a:rPr>
                    <a:t> </a:t>
                  </a:r>
                </a:p>
              </p:txBody>
            </p:sp>
          </mc:Fallback>
        </mc:AlternateContent>
      </p:grpSp>
      <p:grpSp>
        <p:nvGrpSpPr>
          <p:cNvPr id="31" name="组合 30"/>
          <p:cNvGrpSpPr/>
          <p:nvPr/>
        </p:nvGrpSpPr>
        <p:grpSpPr>
          <a:xfrm>
            <a:off x="1043608" y="4292983"/>
            <a:ext cx="2146100" cy="1312950"/>
            <a:chOff x="1043608" y="4292983"/>
            <a:chExt cx="2146100" cy="1312950"/>
          </a:xfrm>
        </p:grpSpPr>
        <mc:AlternateContent xmlns:mc="http://schemas.openxmlformats.org/markup-compatibility/2006" xmlns:a14="http://schemas.microsoft.com/office/drawing/2010/main">
          <mc:Choice Requires="a14">
            <p:sp>
              <p:nvSpPr>
                <p:cNvPr id="20" name="文本框 19"/>
                <p:cNvSpPr txBox="1"/>
                <p:nvPr/>
              </p:nvSpPr>
              <p:spPr>
                <a:xfrm>
                  <a:off x="1043608" y="4292983"/>
                  <a:ext cx="2146100" cy="611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zh-CN" altLang="en-US" i="1">
                                <a:latin typeface="Cambria Math" panose="02040503050406030204" pitchFamily="18" charset="0"/>
                              </a:rPr>
                              <m:t>𝜎</m:t>
                            </m:r>
                          </m:sub>
                        </m:sSub>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zh-CN" altLang="en-US" b="0" i="1" smtClean="0">
                                    <a:latin typeface="Cambria Math" panose="02040503050406030204" pitchFamily="18" charset="0"/>
                                  </a:rPr>
                                  <m:t>𝜎</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rPr>
                                  <m:t>ψ</m:t>
                                </m:r>
                              </m:e>
                              <m:sub>
                                <m:r>
                                  <a:rPr lang="zh-CN" altLang="en-US" b="0" i="1" smtClean="0">
                                    <a:latin typeface="Cambria Math" panose="02040503050406030204" pitchFamily="18" charset="0"/>
                                  </a:rPr>
                                  <m:t>𝜎</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m:t>
                                </m:r>
                              </m:sub>
                            </m:sSub>
                          </m:den>
                        </m:f>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043608" y="4292983"/>
                  <a:ext cx="2146100" cy="611578"/>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1061862" y="4994355"/>
                  <a:ext cx="2042610" cy="6115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zh-CN" altLang="en-US" i="1">
                                <a:latin typeface="Cambria Math" panose="02040503050406030204" pitchFamily="18" charset="0"/>
                              </a:rPr>
                              <m:t>𝜏</m:t>
                            </m:r>
                          </m:sub>
                        </m:sSub>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𝜏</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zh-CN" altLang="en-US" b="0" i="1" smtClean="0">
                                    <a:latin typeface="Cambria Math" panose="02040503050406030204" pitchFamily="18" charset="0"/>
                                  </a:rPr>
                                  <m:t>𝜏</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𝜏</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rPr>
                                  <m:t>ψ</m:t>
                                </m:r>
                              </m:e>
                              <m:sub>
                                <m:r>
                                  <a:rPr lang="zh-CN" altLang="en-US" b="0" i="1" smtClean="0">
                                    <a:latin typeface="Cambria Math" panose="02040503050406030204" pitchFamily="18" charset="0"/>
                                  </a:rPr>
                                  <m:t>𝜏</m:t>
                                </m:r>
                              </m:sub>
                            </m:sSub>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𝜏</m:t>
                                </m:r>
                              </m:e>
                              <m:sub>
                                <m:r>
                                  <a:rPr lang="en-US" altLang="zh-CN" b="0" i="1" smtClean="0">
                                    <a:latin typeface="Cambria Math" panose="02040503050406030204" pitchFamily="18" charset="0"/>
                                  </a:rPr>
                                  <m:t>𝑚</m:t>
                                </m:r>
                              </m:sub>
                            </m:sSub>
                          </m:den>
                        </m:f>
                      </m:oMath>
                    </m:oMathPara>
                  </a14:m>
                  <a:endParaRPr lang="zh-CN" altLang="en-US" dirty="0"/>
                </a:p>
              </p:txBody>
            </p:sp>
          </mc:Choice>
          <mc:Fallback xmlns="">
            <p:sp>
              <p:nvSpPr>
                <p:cNvPr id="23" name="文本框 22"/>
                <p:cNvSpPr txBox="1">
                  <a:spLocks noRot="1" noChangeAspect="1" noMove="1" noResize="1" noEditPoints="1" noAdjustHandles="1" noChangeArrowheads="1" noChangeShapeType="1" noTextEdit="1"/>
                </p:cNvSpPr>
                <p:nvPr/>
              </p:nvSpPr>
              <p:spPr>
                <a:xfrm>
                  <a:off x="1061862" y="4994355"/>
                  <a:ext cx="2042610" cy="611578"/>
                </a:xfrm>
                <a:prstGeom prst="rect">
                  <a:avLst/>
                </a:prstGeom>
                <a:blipFill rotWithShape="0">
                  <a:blip r:embed="rId8"/>
                  <a:stretch>
                    <a:fillRect/>
                  </a:stretch>
                </a:blipFill>
              </p:spPr>
              <p:txBody>
                <a:bodyPr/>
                <a:lstStyle/>
                <a:p>
                  <a:r>
                    <a:rPr lang="zh-CN" altLang="en-US">
                      <a:noFill/>
                    </a:rPr>
                    <a:t> </a:t>
                  </a:r>
                </a:p>
              </p:txBody>
            </p:sp>
          </mc:Fallback>
        </mc:AlternateContent>
      </p:grpSp>
      <p:grpSp>
        <p:nvGrpSpPr>
          <p:cNvPr id="30" name="组合 29"/>
          <p:cNvGrpSpPr/>
          <p:nvPr/>
        </p:nvGrpSpPr>
        <p:grpSpPr>
          <a:xfrm>
            <a:off x="2338813" y="3001516"/>
            <a:ext cx="5472184" cy="1080120"/>
            <a:chOff x="2338813" y="3001516"/>
            <a:chExt cx="5472184" cy="1080120"/>
          </a:xfrm>
        </p:grpSpPr>
        <p:sp>
          <p:nvSpPr>
            <p:cNvPr id="15" name="文本框 14"/>
            <p:cNvSpPr txBox="1"/>
            <p:nvPr/>
          </p:nvSpPr>
          <p:spPr>
            <a:xfrm>
              <a:off x="2711524" y="3341521"/>
              <a:ext cx="5099473" cy="400110"/>
            </a:xfrm>
            <a:prstGeom prst="rect">
              <a:avLst/>
            </a:prstGeom>
            <a:noFill/>
          </p:spPr>
          <p:txBody>
            <a:bodyPr wrap="none" rtlCol="0">
              <a:spAutoFit/>
            </a:bodyPr>
            <a:lstStyle/>
            <a:p>
              <a:r>
                <a:rPr lang="en-US" altLang="zh-CN" sz="2000" dirty="0" smtClean="0">
                  <a:latin typeface="+mn-ea"/>
                  <a:ea typeface="+mn-ea"/>
                </a:rPr>
                <a:t>——</a:t>
              </a:r>
              <a:r>
                <a:rPr lang="zh-CN" altLang="en-US" sz="2000" dirty="0" smtClean="0">
                  <a:latin typeface="+mn-ea"/>
                  <a:ea typeface="+mn-ea"/>
                </a:rPr>
                <a:t>两向变应力均为对称循环稳定变应力时</a:t>
              </a:r>
              <a:endParaRPr lang="zh-CN" altLang="en-US" sz="2000" dirty="0">
                <a:latin typeface="+mn-ea"/>
                <a:ea typeface="+mn-ea"/>
              </a:endParaRPr>
            </a:p>
          </p:txBody>
        </p:sp>
        <p:sp>
          <p:nvSpPr>
            <p:cNvPr id="25" name="右大括号 24"/>
            <p:cNvSpPr/>
            <p:nvPr/>
          </p:nvSpPr>
          <p:spPr>
            <a:xfrm>
              <a:off x="2338813" y="3001516"/>
              <a:ext cx="216963" cy="108012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2" name="组合 31"/>
          <p:cNvGrpSpPr/>
          <p:nvPr/>
        </p:nvGrpSpPr>
        <p:grpSpPr>
          <a:xfrm>
            <a:off x="3212146" y="4454295"/>
            <a:ext cx="5709618" cy="1080120"/>
            <a:chOff x="3212146" y="4454295"/>
            <a:chExt cx="5709618" cy="1080120"/>
          </a:xfrm>
        </p:grpSpPr>
        <p:sp>
          <p:nvSpPr>
            <p:cNvPr id="26" name="右大括号 25"/>
            <p:cNvSpPr/>
            <p:nvPr/>
          </p:nvSpPr>
          <p:spPr>
            <a:xfrm>
              <a:off x="3212146" y="4454295"/>
              <a:ext cx="216963" cy="108012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文本框 26"/>
            <p:cNvSpPr txBox="1"/>
            <p:nvPr/>
          </p:nvSpPr>
          <p:spPr>
            <a:xfrm>
              <a:off x="3565811" y="4794300"/>
              <a:ext cx="5355953" cy="400110"/>
            </a:xfrm>
            <a:prstGeom prst="rect">
              <a:avLst/>
            </a:prstGeom>
            <a:noFill/>
          </p:spPr>
          <p:txBody>
            <a:bodyPr wrap="none" rtlCol="0">
              <a:spAutoFit/>
            </a:bodyPr>
            <a:lstStyle/>
            <a:p>
              <a:r>
                <a:rPr lang="en-US" altLang="zh-CN" sz="2000" dirty="0" smtClean="0">
                  <a:latin typeface="+mn-ea"/>
                  <a:ea typeface="+mn-ea"/>
                </a:rPr>
                <a:t>——</a:t>
              </a:r>
              <a:r>
                <a:rPr lang="zh-CN" altLang="en-US" sz="2000" dirty="0" smtClean="0">
                  <a:latin typeface="+mn-ea"/>
                  <a:ea typeface="+mn-ea"/>
                </a:rPr>
                <a:t>两向变应力均为不对称循环稳定变应力时</a:t>
              </a:r>
              <a:endParaRPr lang="zh-CN" altLang="en-US" sz="2000" dirty="0">
                <a:latin typeface="+mn-ea"/>
                <a:ea typeface="+mn-ea"/>
              </a:endParaRPr>
            </a:p>
          </p:txBody>
        </p:sp>
      </p:grpSp>
    </p:spTree>
    <p:extLst>
      <p:ext uri="{BB962C8B-B14F-4D97-AF65-F5344CB8AC3E}">
        <p14:creationId xmlns:p14="http://schemas.microsoft.com/office/powerpoint/2010/main" val="236268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left)">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left)">
                                      <p:cBhvr>
                                        <p:cTn id="30" dur="75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wipe(left)">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7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23528" y="503007"/>
            <a:ext cx="4464496" cy="492443"/>
            <a:chOff x="323528" y="564857"/>
            <a:chExt cx="4464496" cy="492443"/>
          </a:xfrm>
        </p:grpSpPr>
        <p:sp>
          <p:nvSpPr>
            <p:cNvPr id="5" name="Text Box 5"/>
            <p:cNvSpPr txBox="1">
              <a:spLocks noChangeArrowheads="1"/>
            </p:cNvSpPr>
            <p:nvPr/>
          </p:nvSpPr>
          <p:spPr bwMode="auto">
            <a:xfrm>
              <a:off x="683568" y="564857"/>
              <a:ext cx="4104456" cy="492443"/>
            </a:xfrm>
            <a:prstGeom prst="rect">
              <a:avLst/>
            </a:prstGeom>
            <a:noFill/>
            <a:ln>
              <a:noFill/>
            </a:ln>
          </p:spPr>
          <p:txBody>
            <a:bodyPr wrap="square">
              <a:spAutoFit/>
            </a:bodyPr>
            <a:lstStyle>
              <a:lvl1pPr eaLnBrk="0" hangingPunct="0">
                <a:defRPr sz="2800">
                  <a:solidFill>
                    <a:schemeClr val="tx1"/>
                  </a:solidFill>
                  <a:latin typeface="Arial" charset="0"/>
                  <a:ea typeface="黑体" pitchFamily="49" charset="-122"/>
                </a:defRPr>
              </a:lvl1pPr>
              <a:lvl2pPr marL="742950" indent="-285750" eaLnBrk="0" hangingPunct="0">
                <a:defRPr sz="2800">
                  <a:solidFill>
                    <a:schemeClr val="tx1"/>
                  </a:solidFill>
                  <a:latin typeface="Arial" charset="0"/>
                  <a:ea typeface="黑体" pitchFamily="49" charset="-122"/>
                </a:defRPr>
              </a:lvl2pPr>
              <a:lvl3pPr marL="1143000" indent="-228600" eaLnBrk="0" hangingPunct="0">
                <a:defRPr sz="2800">
                  <a:solidFill>
                    <a:schemeClr val="tx1"/>
                  </a:solidFill>
                  <a:latin typeface="Arial" charset="0"/>
                  <a:ea typeface="黑体" pitchFamily="49" charset="-122"/>
                </a:defRPr>
              </a:lvl3pPr>
              <a:lvl4pPr marL="1600200" indent="-228600" eaLnBrk="0" hangingPunct="0">
                <a:defRPr sz="2800">
                  <a:solidFill>
                    <a:schemeClr val="tx1"/>
                  </a:solidFill>
                  <a:latin typeface="Arial" charset="0"/>
                  <a:ea typeface="黑体" pitchFamily="49" charset="-122"/>
                </a:defRPr>
              </a:lvl4pPr>
              <a:lvl5pPr marL="2057400" indent="-228600" eaLnBrk="0" hangingPunct="0">
                <a:defRPr sz="2800">
                  <a:solidFill>
                    <a:schemeClr val="tx1"/>
                  </a:solidFill>
                  <a:latin typeface="Arial" charset="0"/>
                  <a:ea typeface="黑体" pitchFamily="49" charset="-122"/>
                </a:defRPr>
              </a:lvl5pPr>
              <a:lvl6pPr marL="2514600" indent="-228600" eaLnBrk="0" fontAlgn="base" hangingPunct="0">
                <a:spcBef>
                  <a:spcPct val="0"/>
                </a:spcBef>
                <a:spcAft>
                  <a:spcPct val="0"/>
                </a:spcAft>
                <a:defRPr sz="2800">
                  <a:solidFill>
                    <a:schemeClr val="tx1"/>
                  </a:solidFill>
                  <a:latin typeface="Arial" charset="0"/>
                  <a:ea typeface="黑体" pitchFamily="49" charset="-122"/>
                </a:defRPr>
              </a:lvl6pPr>
              <a:lvl7pPr marL="2971800" indent="-228600" eaLnBrk="0" fontAlgn="base" hangingPunct="0">
                <a:spcBef>
                  <a:spcPct val="0"/>
                </a:spcBef>
                <a:spcAft>
                  <a:spcPct val="0"/>
                </a:spcAft>
                <a:defRPr sz="2800">
                  <a:solidFill>
                    <a:schemeClr val="tx1"/>
                  </a:solidFill>
                  <a:latin typeface="Arial" charset="0"/>
                  <a:ea typeface="黑体" pitchFamily="49" charset="-122"/>
                </a:defRPr>
              </a:lvl7pPr>
              <a:lvl8pPr marL="3429000" indent="-228600" eaLnBrk="0" fontAlgn="base" hangingPunct="0">
                <a:spcBef>
                  <a:spcPct val="0"/>
                </a:spcBef>
                <a:spcAft>
                  <a:spcPct val="0"/>
                </a:spcAft>
                <a:defRPr sz="2800">
                  <a:solidFill>
                    <a:schemeClr val="tx1"/>
                  </a:solidFill>
                  <a:latin typeface="Arial" charset="0"/>
                  <a:ea typeface="黑体" pitchFamily="49" charset="-122"/>
                </a:defRPr>
              </a:lvl8pPr>
              <a:lvl9pPr marL="3886200" indent="-228600" eaLnBrk="0" fontAlgn="base" hangingPunct="0">
                <a:spcBef>
                  <a:spcPct val="0"/>
                </a:spcBef>
                <a:spcAft>
                  <a:spcPct val="0"/>
                </a:spcAft>
                <a:defRPr sz="2800">
                  <a:solidFill>
                    <a:schemeClr val="tx1"/>
                  </a:solidFill>
                  <a:latin typeface="Arial" charset="0"/>
                  <a:ea typeface="黑体" pitchFamily="49" charset="-122"/>
                </a:defRPr>
              </a:lvl9pPr>
            </a:lstStyle>
            <a:p>
              <a:pPr eaLnBrk="1" hangingPunct="1"/>
              <a:r>
                <a:rPr lang="zh-CN" altLang="en-US" sz="2600" b="1" dirty="0" smtClean="0">
                  <a:solidFill>
                    <a:srgbClr val="000099"/>
                  </a:solidFill>
                  <a:effectLst/>
                  <a:latin typeface="黑体" pitchFamily="49" charset="-122"/>
                </a:rPr>
                <a:t>机械零件的接触疲劳强度</a:t>
              </a:r>
              <a:endParaRPr lang="zh-CN" altLang="en-US" sz="2600" b="1" dirty="0">
                <a:solidFill>
                  <a:srgbClr val="000099"/>
                </a:solidFill>
                <a:effectLst/>
                <a:latin typeface="黑体" pitchFamily="49" charset="-122"/>
              </a:endParaRPr>
            </a:p>
          </p:txBody>
        </p:sp>
        <p:pic>
          <p:nvPicPr>
            <p:cNvPr id="6" name="Picture 15" descr="AR1031"/>
            <p:cNvPicPr>
              <a:picLocks noChangeAspect="1" noChangeArrowheads="1"/>
            </p:cNvPicPr>
            <p:nvPr/>
          </p:nvPicPr>
          <p:blipFill>
            <a:blip r:embed="rId4">
              <a:duotone>
                <a:prstClr val="black"/>
                <a:srgbClr val="00CC00">
                  <a:tint val="45000"/>
                  <a:satMod val="400000"/>
                </a:srgbClr>
              </a:duotone>
              <a:lum bright="-36000" contrast="100000"/>
            </a:blip>
            <a:srcRect/>
            <a:stretch>
              <a:fillRect/>
            </a:stretch>
          </p:blipFill>
          <p:spPr bwMode="auto">
            <a:xfrm rot="5400000">
              <a:off x="372720" y="655260"/>
              <a:ext cx="280840" cy="379223"/>
            </a:xfrm>
            <a:prstGeom prst="rect">
              <a:avLst/>
            </a:prstGeom>
            <a:noFill/>
            <a:ln w="9525">
              <a:solidFill>
                <a:schemeClr val="bg1"/>
              </a:solidFill>
              <a:miter lim="800000"/>
              <a:headEnd/>
              <a:tailEnd/>
            </a:ln>
          </p:spPr>
        </p:pic>
      </p:grpSp>
      <p:grpSp>
        <p:nvGrpSpPr>
          <p:cNvPr id="37" name="组合 36"/>
          <p:cNvGrpSpPr/>
          <p:nvPr/>
        </p:nvGrpSpPr>
        <p:grpSpPr>
          <a:xfrm>
            <a:off x="4499992" y="2188636"/>
            <a:ext cx="4248472" cy="1766185"/>
            <a:chOff x="4499992" y="2188636"/>
            <a:chExt cx="4248472" cy="1766185"/>
          </a:xfrm>
        </p:grpSpPr>
        <p:sp>
          <p:nvSpPr>
            <p:cNvPr id="10" name="左大括号 16"/>
            <p:cNvSpPr/>
            <p:nvPr/>
          </p:nvSpPr>
          <p:spPr>
            <a:xfrm>
              <a:off x="4499992" y="2314300"/>
              <a:ext cx="306865" cy="1640521"/>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sp>
          <p:nvSpPr>
            <p:cNvPr id="11" name="TextBox 17"/>
            <p:cNvSpPr txBox="1">
              <a:spLocks noChangeArrowheads="1"/>
            </p:cNvSpPr>
            <p:nvPr/>
          </p:nvSpPr>
          <p:spPr bwMode="auto">
            <a:xfrm>
              <a:off x="4790950" y="2188636"/>
              <a:ext cx="3957514" cy="904863"/>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just" defTabSz="914400" eaLnBrk="1" fontAlgn="auto" latinLnBrk="0" hangingPunct="1">
                <a:lnSpc>
                  <a:spcPct val="11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0000FF"/>
                  </a:solidFill>
                  <a:effectLst/>
                  <a:uLnTx/>
                  <a:uFillTx/>
                  <a:latin typeface="Arial" charset="0"/>
                  <a:ea typeface="黑体" pitchFamily="2" charset="-122"/>
                </a:rPr>
                <a:t>体积应力</a:t>
              </a:r>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rPr>
                <a:t>——</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分布于零件各个质点（本体内各纤维）的应力。对应的是体积强度（拉、压、弯、剪、扭）</a:t>
              </a:r>
            </a:p>
          </p:txBody>
        </p:sp>
      </p:grpSp>
      <p:sp>
        <p:nvSpPr>
          <p:cNvPr id="12" name="TextBox 18"/>
          <p:cNvSpPr txBox="1">
            <a:spLocks noChangeArrowheads="1"/>
          </p:cNvSpPr>
          <p:nvPr/>
        </p:nvSpPr>
        <p:spPr bwMode="auto">
          <a:xfrm>
            <a:off x="4790950" y="3176773"/>
            <a:ext cx="3957514" cy="904863"/>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just" defTabSz="914400" eaLnBrk="1" fontAlgn="auto" latinLnBrk="0" hangingPunct="1">
              <a:lnSpc>
                <a:spcPct val="11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0000FF"/>
                </a:solidFill>
                <a:effectLst/>
                <a:uLnTx/>
                <a:uFillTx/>
                <a:latin typeface="Arial" charset="0"/>
                <a:ea typeface="黑体" pitchFamily="2" charset="-122"/>
              </a:rPr>
              <a:t>表面应力</a:t>
            </a:r>
            <a:r>
              <a:rPr kumimoji="0" lang="en-US" altLang="zh-CN" sz="1600" b="0" i="0" u="none" strike="noStrike" kern="0" cap="none" spc="0" normalizeH="0" baseline="0" noProof="0" dirty="0" smtClean="0">
                <a:ln>
                  <a:noFill/>
                </a:ln>
                <a:solidFill>
                  <a:srgbClr val="000000"/>
                </a:solidFill>
                <a:effectLst/>
                <a:uLnTx/>
                <a:uFillTx/>
                <a:latin typeface="Arial" charset="0"/>
                <a:ea typeface="黑体" pitchFamily="2" charset="-122"/>
              </a:rPr>
              <a:t>——</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通过表面接触传递载荷，在接触表面处产生于垂直表面的应力。可分为</a:t>
            </a:r>
            <a:r>
              <a:rPr kumimoji="0" lang="zh-CN" altLang="en-US" sz="1600" b="0" i="0" u="none" strike="noStrike" kern="0" cap="none" spc="0" normalizeH="0" baseline="0" noProof="0" dirty="0" smtClean="0">
                <a:ln>
                  <a:noFill/>
                </a:ln>
                <a:solidFill>
                  <a:srgbClr val="FF0000"/>
                </a:solidFill>
                <a:effectLst/>
                <a:uLnTx/>
                <a:uFillTx/>
                <a:latin typeface="Arial" charset="0"/>
                <a:ea typeface="黑体" pitchFamily="2" charset="-122"/>
              </a:rPr>
              <a:t>挤压应力</a:t>
            </a: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和</a:t>
            </a:r>
            <a:r>
              <a:rPr kumimoji="0" lang="zh-CN" altLang="en-US" sz="1600" b="0" i="0" u="none" strike="noStrike" kern="0" cap="none" spc="0" normalizeH="0" baseline="0" noProof="0" dirty="0" smtClean="0">
                <a:ln>
                  <a:noFill/>
                </a:ln>
                <a:solidFill>
                  <a:srgbClr val="FF0000"/>
                </a:solidFill>
                <a:effectLst/>
                <a:uLnTx/>
                <a:uFillTx/>
                <a:latin typeface="Arial" charset="0"/>
                <a:ea typeface="黑体" pitchFamily="2" charset="-122"/>
              </a:rPr>
              <a:t>接触应力</a:t>
            </a:r>
          </a:p>
        </p:txBody>
      </p:sp>
      <p:grpSp>
        <p:nvGrpSpPr>
          <p:cNvPr id="36" name="组合 35"/>
          <p:cNvGrpSpPr/>
          <p:nvPr/>
        </p:nvGrpSpPr>
        <p:grpSpPr>
          <a:xfrm>
            <a:off x="1259632" y="2933211"/>
            <a:ext cx="3456385" cy="629107"/>
            <a:chOff x="1259632" y="2933211"/>
            <a:chExt cx="3456385" cy="629107"/>
          </a:xfrm>
        </p:grpSpPr>
        <p:sp>
          <p:nvSpPr>
            <p:cNvPr id="9" name="Text Box 5"/>
            <p:cNvSpPr txBox="1">
              <a:spLocks noChangeArrowheads="1"/>
            </p:cNvSpPr>
            <p:nvPr/>
          </p:nvSpPr>
          <p:spPr bwMode="auto">
            <a:xfrm>
              <a:off x="1259632" y="2933211"/>
              <a:ext cx="3456385"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lang="zh-CN" altLang="en-US" sz="1600" dirty="0" smtClean="0">
                  <a:latin typeface="黑体" pitchFamily="2" charset="-122"/>
                </a:rPr>
                <a:t>按应力</a:t>
              </a:r>
              <a:r>
                <a:rPr lang="zh-CN" altLang="en-US" sz="1600" dirty="0">
                  <a:latin typeface="黑体" pitchFamily="2" charset="-122"/>
                </a:rPr>
                <a:t>在零件上的分布情况可分为</a:t>
              </a:r>
            </a:p>
          </p:txBody>
        </p:sp>
        <p:pic>
          <p:nvPicPr>
            <p:cNvPr id="19" name="图片 24" descr="未标题-2.jpg"/>
            <p:cNvPicPr>
              <a:picLocks noChangeAspect="1"/>
            </p:cNvPicPr>
            <p:nvPr/>
          </p:nvPicPr>
          <p:blipFill>
            <a:blip r:embed="rId5" cstate="print"/>
            <a:srcRect/>
            <a:stretch>
              <a:fillRect/>
            </a:stretch>
          </p:blipFill>
          <p:spPr bwMode="auto">
            <a:xfrm>
              <a:off x="2010376" y="3305088"/>
              <a:ext cx="1524413" cy="257230"/>
            </a:xfrm>
            <a:prstGeom prst="rect">
              <a:avLst/>
            </a:prstGeom>
            <a:noFill/>
            <a:ln>
              <a:noFill/>
            </a:ln>
          </p:spPr>
        </p:pic>
      </p:grpSp>
      <p:grpSp>
        <p:nvGrpSpPr>
          <p:cNvPr id="35" name="组合 34"/>
          <p:cNvGrpSpPr/>
          <p:nvPr/>
        </p:nvGrpSpPr>
        <p:grpSpPr>
          <a:xfrm>
            <a:off x="924413" y="1220140"/>
            <a:ext cx="4439675" cy="2342179"/>
            <a:chOff x="924413" y="1220140"/>
            <a:chExt cx="4439675" cy="2342179"/>
          </a:xfrm>
        </p:grpSpPr>
        <p:sp>
          <p:nvSpPr>
            <p:cNvPr id="13" name="Text Box 5"/>
            <p:cNvSpPr txBox="1">
              <a:spLocks noChangeArrowheads="1"/>
            </p:cNvSpPr>
            <p:nvPr/>
          </p:nvSpPr>
          <p:spPr bwMode="auto">
            <a:xfrm>
              <a:off x="1259632" y="1473945"/>
              <a:ext cx="3240360"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eaLnBrk="1" hangingPunct="1"/>
              <a:r>
                <a:rPr lang="zh-CN" altLang="en-US" sz="1600" dirty="0" smtClean="0">
                  <a:latin typeface="黑体" pitchFamily="2" charset="-122"/>
                </a:rPr>
                <a:t>按应力</a:t>
              </a:r>
              <a:r>
                <a:rPr lang="zh-CN" altLang="en-US" sz="1600" dirty="0">
                  <a:latin typeface="黑体" pitchFamily="2" charset="-122"/>
                </a:rPr>
                <a:t>是否随时间变化可分为</a:t>
              </a:r>
            </a:p>
          </p:txBody>
        </p:sp>
        <p:grpSp>
          <p:nvGrpSpPr>
            <p:cNvPr id="14" name="组合 13"/>
            <p:cNvGrpSpPr/>
            <p:nvPr/>
          </p:nvGrpSpPr>
          <p:grpSpPr>
            <a:xfrm>
              <a:off x="4108186" y="1220140"/>
              <a:ext cx="1255902" cy="846164"/>
              <a:chOff x="4345580" y="857200"/>
              <a:chExt cx="1255902" cy="846164"/>
            </a:xfrm>
          </p:grpSpPr>
          <p:sp>
            <p:nvSpPr>
              <p:cNvPr id="15" name="左大括号 20"/>
              <p:cNvSpPr/>
              <p:nvPr/>
            </p:nvSpPr>
            <p:spPr>
              <a:xfrm>
                <a:off x="4345580" y="942427"/>
                <a:ext cx="248725" cy="675711"/>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600" b="0" i="0" u="none" strike="noStrike" kern="0" cap="none" spc="0" normalizeH="0" baseline="0" noProof="0">
                  <a:ln>
                    <a:noFill/>
                  </a:ln>
                  <a:solidFill>
                    <a:srgbClr val="000000"/>
                  </a:solidFill>
                  <a:effectLst/>
                  <a:uLnTx/>
                  <a:uFillTx/>
                  <a:latin typeface="Arial"/>
                  <a:ea typeface="宋体"/>
                  <a:cs typeface="+mn-cs"/>
                </a:endParaRPr>
              </a:p>
            </p:txBody>
          </p:sp>
          <p:sp>
            <p:nvSpPr>
              <p:cNvPr id="16" name="TextBox 21"/>
              <p:cNvSpPr txBox="1">
                <a:spLocks noChangeArrowheads="1"/>
              </p:cNvSpPr>
              <p:nvPr/>
            </p:nvSpPr>
            <p:spPr bwMode="auto">
              <a:xfrm>
                <a:off x="4586097" y="857200"/>
                <a:ext cx="1015385"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静应力</a:t>
                </a:r>
              </a:p>
            </p:txBody>
          </p:sp>
          <p:sp>
            <p:nvSpPr>
              <p:cNvPr id="17" name="TextBox 22"/>
              <p:cNvSpPr txBox="1">
                <a:spLocks noChangeArrowheads="1"/>
              </p:cNvSpPr>
              <p:nvPr/>
            </p:nvSpPr>
            <p:spPr bwMode="auto">
              <a:xfrm>
                <a:off x="4555966" y="1364810"/>
                <a:ext cx="1045516" cy="338554"/>
              </a:xfrm>
              <a:prstGeom prst="rect">
                <a:avLst/>
              </a:prstGeom>
              <a:noFill/>
              <a:ln>
                <a:noFill/>
              </a:ln>
            </p:spPr>
            <p:txBody>
              <a:bodyPr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defTabSz="914400" eaLnBrk="1" fontAlgn="auto" latinLnBrk="0" hangingPunct="1">
                  <a:lnSpc>
                    <a:spcPct val="100000"/>
                  </a:lnSpc>
                  <a:spcBef>
                    <a:spcPts val="0"/>
                  </a:spcBef>
                  <a:spcAft>
                    <a:spcPts val="0"/>
                  </a:spcAft>
                  <a:buClrTx/>
                  <a:buSzTx/>
                  <a:buFontTx/>
                  <a:buNone/>
                </a:pPr>
                <a:r>
                  <a:rPr kumimoji="0" lang="zh-CN" altLang="en-US" sz="1600" b="0" i="0" u="none" strike="noStrike" kern="0" cap="none" spc="0" normalizeH="0" baseline="0" noProof="0" dirty="0" smtClean="0">
                    <a:ln>
                      <a:noFill/>
                    </a:ln>
                    <a:solidFill>
                      <a:srgbClr val="000000"/>
                    </a:solidFill>
                    <a:effectLst/>
                    <a:uLnTx/>
                    <a:uFillTx/>
                    <a:latin typeface="Arial" charset="0"/>
                    <a:ea typeface="黑体" pitchFamily="2" charset="-122"/>
                  </a:rPr>
                  <a:t>变应力</a:t>
                </a:r>
              </a:p>
            </p:txBody>
          </p:sp>
        </p:grpSp>
        <p:pic>
          <p:nvPicPr>
            <p:cNvPr id="18" name="图片 23" descr="未标题-1.jpg"/>
            <p:cNvPicPr>
              <a:picLocks noChangeAspect="1"/>
            </p:cNvPicPr>
            <p:nvPr/>
          </p:nvPicPr>
          <p:blipFill>
            <a:blip r:embed="rId6" cstate="print"/>
            <a:srcRect/>
            <a:stretch>
              <a:fillRect/>
            </a:stretch>
          </p:blipFill>
          <p:spPr bwMode="auto">
            <a:xfrm>
              <a:off x="2029715" y="1852056"/>
              <a:ext cx="1308389" cy="271204"/>
            </a:xfrm>
            <a:prstGeom prst="rect">
              <a:avLst/>
            </a:prstGeom>
            <a:noFill/>
            <a:ln>
              <a:noFill/>
            </a:ln>
          </p:spPr>
        </p:pic>
        <p:sp>
          <p:nvSpPr>
            <p:cNvPr id="20" name="左大括号 25"/>
            <p:cNvSpPr/>
            <p:nvPr/>
          </p:nvSpPr>
          <p:spPr>
            <a:xfrm>
              <a:off x="924413" y="1587861"/>
              <a:ext cx="313506" cy="1974458"/>
            </a:xfrm>
            <a:prstGeom prst="leftBrace">
              <a:avLst/>
            </a:prstGeom>
            <a:noFill/>
            <a:ln w="9525" cap="flat" cmpd="sng" algn="ctr">
              <a:solidFill>
                <a:srgbClr val="000000">
                  <a:shade val="95000"/>
                  <a:satMod val="105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000000"/>
                </a:solidFill>
                <a:effectLst/>
                <a:uLnTx/>
                <a:uFillTx/>
                <a:latin typeface="Arial"/>
                <a:ea typeface="宋体"/>
                <a:cs typeface="+mn-cs"/>
              </a:endParaRPr>
            </a:p>
          </p:txBody>
        </p:sp>
      </p:grpSp>
      <p:sp>
        <p:nvSpPr>
          <p:cNvPr id="21" name="TextBox 15"/>
          <p:cNvSpPr txBox="1">
            <a:spLocks noChangeArrowheads="1"/>
          </p:cNvSpPr>
          <p:nvPr/>
        </p:nvSpPr>
        <p:spPr bwMode="auto">
          <a:xfrm>
            <a:off x="346358" y="1939874"/>
            <a:ext cx="492443" cy="1280794"/>
          </a:xfrm>
          <a:prstGeom prst="rect">
            <a:avLst/>
          </a:prstGeom>
          <a:solidFill>
            <a:srgbClr val="FFFF00"/>
          </a:solidFill>
          <a:ln>
            <a:noFill/>
          </a:ln>
        </p:spPr>
        <p:txBody>
          <a:bodyPr vert="eaVert" wrap="square">
            <a:spAutoFit/>
          </a:bodyPr>
          <a:lstStyle>
            <a:lvl1pPr eaLnBrk="0" hangingPunct="0">
              <a:defRPr sz="2800">
                <a:solidFill>
                  <a:schemeClr val="tx1"/>
                </a:solidFill>
                <a:latin typeface="Arial" charset="0"/>
                <a:ea typeface="黑体" pitchFamily="2" charset="-122"/>
              </a:defRPr>
            </a:lvl1pPr>
            <a:lvl2pPr marL="742950" indent="-285750" eaLnBrk="0" hangingPunct="0">
              <a:defRPr sz="2800">
                <a:solidFill>
                  <a:schemeClr val="tx1"/>
                </a:solidFill>
                <a:latin typeface="Arial" charset="0"/>
                <a:ea typeface="黑体" pitchFamily="2" charset="-122"/>
              </a:defRPr>
            </a:lvl2pPr>
            <a:lvl3pPr marL="1143000" indent="-228600" eaLnBrk="0" hangingPunct="0">
              <a:defRPr sz="2800">
                <a:solidFill>
                  <a:schemeClr val="tx1"/>
                </a:solidFill>
                <a:latin typeface="Arial" charset="0"/>
                <a:ea typeface="黑体" pitchFamily="2" charset="-122"/>
              </a:defRPr>
            </a:lvl3pPr>
            <a:lvl4pPr marL="1600200" indent="-228600" eaLnBrk="0" hangingPunct="0">
              <a:defRPr sz="2800">
                <a:solidFill>
                  <a:schemeClr val="tx1"/>
                </a:solidFill>
                <a:latin typeface="Arial" charset="0"/>
                <a:ea typeface="黑体" pitchFamily="2" charset="-122"/>
              </a:defRPr>
            </a:lvl4pPr>
            <a:lvl5pPr marL="2057400" indent="-228600" eaLnBrk="0" hangingPunct="0">
              <a:defRPr sz="2800">
                <a:solidFill>
                  <a:schemeClr val="tx1"/>
                </a:solidFill>
                <a:latin typeface="Arial" charset="0"/>
                <a:ea typeface="黑体" pitchFamily="2" charset="-122"/>
              </a:defRPr>
            </a:lvl5pPr>
            <a:lvl6pPr marL="2514600" indent="-228600" eaLnBrk="0" fontAlgn="base" hangingPunct="0">
              <a:spcBef>
                <a:spcPct val="0"/>
              </a:spcBef>
              <a:spcAft>
                <a:spcPct val="0"/>
              </a:spcAft>
              <a:defRPr sz="2800">
                <a:solidFill>
                  <a:schemeClr val="tx1"/>
                </a:solidFill>
                <a:latin typeface="Arial" charset="0"/>
                <a:ea typeface="黑体" pitchFamily="2" charset="-122"/>
              </a:defRPr>
            </a:lvl6pPr>
            <a:lvl7pPr marL="2971800" indent="-228600" eaLnBrk="0" fontAlgn="base" hangingPunct="0">
              <a:spcBef>
                <a:spcPct val="0"/>
              </a:spcBef>
              <a:spcAft>
                <a:spcPct val="0"/>
              </a:spcAft>
              <a:defRPr sz="2800">
                <a:solidFill>
                  <a:schemeClr val="tx1"/>
                </a:solidFill>
                <a:latin typeface="Arial" charset="0"/>
                <a:ea typeface="黑体" pitchFamily="2" charset="-122"/>
              </a:defRPr>
            </a:lvl7pPr>
            <a:lvl8pPr marL="3429000" indent="-228600" eaLnBrk="0" fontAlgn="base" hangingPunct="0">
              <a:spcBef>
                <a:spcPct val="0"/>
              </a:spcBef>
              <a:spcAft>
                <a:spcPct val="0"/>
              </a:spcAft>
              <a:defRPr sz="2800">
                <a:solidFill>
                  <a:schemeClr val="tx1"/>
                </a:solidFill>
                <a:latin typeface="Arial" charset="0"/>
                <a:ea typeface="黑体" pitchFamily="2" charset="-122"/>
              </a:defRPr>
            </a:lvl8pPr>
            <a:lvl9pPr marL="3886200" indent="-228600" eaLnBrk="0" fontAlgn="base" hangingPunct="0">
              <a:spcBef>
                <a:spcPct val="0"/>
              </a:spcBef>
              <a:spcAft>
                <a:spcPct val="0"/>
              </a:spcAft>
              <a:defRPr sz="2800">
                <a:solidFill>
                  <a:schemeClr val="tx1"/>
                </a:solidFill>
                <a:latin typeface="Arial" charset="0"/>
                <a:ea typeface="黑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pPr>
            <a:r>
              <a:rPr kumimoji="0" lang="zh-CN" altLang="en-US" sz="2000" b="0" i="0" u="none" strike="noStrike" kern="0" cap="none" spc="0" normalizeH="0" baseline="0" noProof="0" dirty="0" smtClean="0">
                <a:ln>
                  <a:noFill/>
                </a:ln>
                <a:solidFill>
                  <a:srgbClr val="000000"/>
                </a:solidFill>
                <a:effectLst/>
                <a:uLnTx/>
                <a:uFillTx/>
                <a:latin typeface="Arial" charset="0"/>
                <a:ea typeface="黑体" pitchFamily="2" charset="-122"/>
              </a:rPr>
              <a:t>应力细分</a:t>
            </a:r>
          </a:p>
        </p:txBody>
      </p:sp>
      <p:grpSp>
        <p:nvGrpSpPr>
          <p:cNvPr id="30" name="组合 29"/>
          <p:cNvGrpSpPr/>
          <p:nvPr/>
        </p:nvGrpSpPr>
        <p:grpSpPr>
          <a:xfrm>
            <a:off x="279394" y="4116512"/>
            <a:ext cx="4527089" cy="1455776"/>
            <a:chOff x="539551" y="4364163"/>
            <a:chExt cx="4527089" cy="1455776"/>
          </a:xfrm>
        </p:grpSpPr>
        <p:pic>
          <p:nvPicPr>
            <p:cNvPr id="22" name="图片 11" descr="Snap1.jpg"/>
            <p:cNvPicPr>
              <a:picLocks noChangeAspect="1"/>
            </p:cNvPicPr>
            <p:nvPr/>
          </p:nvPicPr>
          <p:blipFill rotWithShape="1">
            <a:blip r:embed="rId7"/>
            <a:srcRect l="2080" r="75337" b="14047"/>
            <a:stretch/>
          </p:blipFill>
          <p:spPr bwMode="auto">
            <a:xfrm>
              <a:off x="539551" y="4364163"/>
              <a:ext cx="882661" cy="1260088"/>
            </a:xfrm>
            <a:prstGeom prst="rect">
              <a:avLst/>
            </a:prstGeom>
            <a:noFill/>
            <a:ln>
              <a:noFill/>
            </a:ln>
          </p:spPr>
        </p:pic>
        <p:pic>
          <p:nvPicPr>
            <p:cNvPr id="23" name="图片 11" descr="Snap1.jpg"/>
            <p:cNvPicPr>
              <a:picLocks noChangeAspect="1"/>
            </p:cNvPicPr>
            <p:nvPr/>
          </p:nvPicPr>
          <p:blipFill rotWithShape="1">
            <a:blip r:embed="rId7"/>
            <a:srcRect l="22323" r="51941" b="14047"/>
            <a:stretch/>
          </p:blipFill>
          <p:spPr bwMode="auto">
            <a:xfrm>
              <a:off x="1619671" y="4364164"/>
              <a:ext cx="1034839" cy="1296372"/>
            </a:xfrm>
            <a:prstGeom prst="rect">
              <a:avLst/>
            </a:prstGeom>
            <a:noFill/>
            <a:ln>
              <a:noFill/>
            </a:ln>
          </p:spPr>
        </p:pic>
        <p:pic>
          <p:nvPicPr>
            <p:cNvPr id="24" name="图片 11" descr="Snap1.jpg"/>
            <p:cNvPicPr>
              <a:picLocks noChangeAspect="1"/>
            </p:cNvPicPr>
            <p:nvPr/>
          </p:nvPicPr>
          <p:blipFill rotWithShape="1">
            <a:blip r:embed="rId7"/>
            <a:srcRect l="48058" r="28546" b="14047"/>
            <a:stretch/>
          </p:blipFill>
          <p:spPr bwMode="auto">
            <a:xfrm>
              <a:off x="2843807" y="4387371"/>
              <a:ext cx="897589" cy="1236879"/>
            </a:xfrm>
            <a:prstGeom prst="rect">
              <a:avLst/>
            </a:prstGeom>
            <a:noFill/>
            <a:ln>
              <a:noFill/>
            </a:ln>
          </p:spPr>
        </p:pic>
        <p:pic>
          <p:nvPicPr>
            <p:cNvPr id="25" name="图片 11" descr="Snap1.jpg"/>
            <p:cNvPicPr>
              <a:picLocks noChangeAspect="1"/>
            </p:cNvPicPr>
            <p:nvPr/>
          </p:nvPicPr>
          <p:blipFill rotWithShape="1">
            <a:blip r:embed="rId7"/>
            <a:srcRect l="73794" b="14047"/>
            <a:stretch/>
          </p:blipFill>
          <p:spPr bwMode="auto">
            <a:xfrm>
              <a:off x="4053457" y="4377805"/>
              <a:ext cx="1013183" cy="1246446"/>
            </a:xfrm>
            <a:prstGeom prst="rect">
              <a:avLst/>
            </a:prstGeom>
            <a:noFill/>
            <a:ln>
              <a:noFill/>
            </a:ln>
          </p:spPr>
        </p:pic>
        <p:sp>
          <p:nvSpPr>
            <p:cNvPr id="26" name="文本框 25"/>
            <p:cNvSpPr txBox="1"/>
            <p:nvPr/>
          </p:nvSpPr>
          <p:spPr>
            <a:xfrm>
              <a:off x="589363" y="5542940"/>
              <a:ext cx="800219" cy="276999"/>
            </a:xfrm>
            <a:prstGeom prst="rect">
              <a:avLst/>
            </a:prstGeom>
            <a:noFill/>
          </p:spPr>
          <p:txBody>
            <a:bodyPr wrap="none" rtlCol="0">
              <a:spAutoFit/>
            </a:bodyPr>
            <a:lstStyle/>
            <a:p>
              <a:pPr algn="ctr"/>
              <a:r>
                <a:rPr lang="zh-CN" altLang="en-US" sz="1200" dirty="0" smtClean="0">
                  <a:latin typeface="+mn-ea"/>
                  <a:ea typeface="+mn-ea"/>
                </a:rPr>
                <a:t>高度密贴</a:t>
              </a:r>
              <a:endParaRPr lang="zh-CN" altLang="en-US" sz="1200" dirty="0">
                <a:latin typeface="+mn-ea"/>
                <a:ea typeface="+mn-ea"/>
              </a:endParaRPr>
            </a:p>
          </p:txBody>
        </p:sp>
        <p:sp>
          <p:nvSpPr>
            <p:cNvPr id="27" name="文本框 26"/>
            <p:cNvSpPr txBox="1"/>
            <p:nvPr/>
          </p:nvSpPr>
          <p:spPr>
            <a:xfrm>
              <a:off x="1728396" y="5542940"/>
              <a:ext cx="800219" cy="276999"/>
            </a:xfrm>
            <a:prstGeom prst="rect">
              <a:avLst/>
            </a:prstGeom>
            <a:noFill/>
          </p:spPr>
          <p:txBody>
            <a:bodyPr wrap="none" rtlCol="0">
              <a:spAutoFit/>
            </a:bodyPr>
            <a:lstStyle/>
            <a:p>
              <a:pPr algn="ctr"/>
              <a:r>
                <a:rPr lang="zh-CN" altLang="en-US" sz="1200" dirty="0" smtClean="0">
                  <a:latin typeface="+mn-ea"/>
                  <a:ea typeface="+mn-ea"/>
                </a:rPr>
                <a:t>共曲接触</a:t>
              </a:r>
              <a:endParaRPr lang="zh-CN" altLang="en-US" sz="1200" dirty="0">
                <a:latin typeface="+mn-ea"/>
                <a:ea typeface="+mn-ea"/>
              </a:endParaRPr>
            </a:p>
          </p:txBody>
        </p:sp>
        <p:sp>
          <p:nvSpPr>
            <p:cNvPr id="28" name="文本框 27"/>
            <p:cNvSpPr txBox="1"/>
            <p:nvPr/>
          </p:nvSpPr>
          <p:spPr>
            <a:xfrm>
              <a:off x="2726074" y="5542940"/>
              <a:ext cx="1107996" cy="276999"/>
            </a:xfrm>
            <a:prstGeom prst="rect">
              <a:avLst/>
            </a:prstGeom>
            <a:noFill/>
          </p:spPr>
          <p:txBody>
            <a:bodyPr wrap="none" rtlCol="0">
              <a:spAutoFit/>
            </a:bodyPr>
            <a:lstStyle/>
            <a:p>
              <a:pPr algn="ctr"/>
              <a:r>
                <a:rPr lang="zh-CN" altLang="en-US" sz="1200" dirty="0" smtClean="0">
                  <a:latin typeface="+mn-ea"/>
                  <a:ea typeface="+mn-ea"/>
                </a:rPr>
                <a:t>圆柱平面接触</a:t>
              </a:r>
              <a:endParaRPr lang="zh-CN" altLang="en-US" sz="1200" dirty="0">
                <a:latin typeface="+mn-ea"/>
                <a:ea typeface="+mn-ea"/>
              </a:endParaRPr>
            </a:p>
          </p:txBody>
        </p:sp>
        <p:sp>
          <p:nvSpPr>
            <p:cNvPr id="29" name="文本框 28"/>
            <p:cNvSpPr txBox="1"/>
            <p:nvPr/>
          </p:nvSpPr>
          <p:spPr>
            <a:xfrm>
              <a:off x="4122405" y="5537683"/>
              <a:ext cx="800219" cy="276999"/>
            </a:xfrm>
            <a:prstGeom prst="rect">
              <a:avLst/>
            </a:prstGeom>
            <a:noFill/>
          </p:spPr>
          <p:txBody>
            <a:bodyPr wrap="none" rtlCol="0">
              <a:spAutoFit/>
            </a:bodyPr>
            <a:lstStyle/>
            <a:p>
              <a:pPr algn="ctr"/>
              <a:r>
                <a:rPr lang="zh-CN" altLang="en-US" sz="1200" dirty="0" smtClean="0">
                  <a:latin typeface="+mn-ea"/>
                  <a:ea typeface="+mn-ea"/>
                </a:rPr>
                <a:t>异曲接触</a:t>
              </a:r>
              <a:endParaRPr lang="zh-CN" altLang="en-US" sz="1200" dirty="0">
                <a:latin typeface="+mn-ea"/>
                <a:ea typeface="+mn-ea"/>
              </a:endParaRPr>
            </a:p>
          </p:txBody>
        </p:sp>
      </p:grpSp>
      <p:grpSp>
        <p:nvGrpSpPr>
          <p:cNvPr id="38" name="组合 37"/>
          <p:cNvGrpSpPr/>
          <p:nvPr/>
        </p:nvGrpSpPr>
        <p:grpSpPr>
          <a:xfrm>
            <a:off x="5292080" y="4086944"/>
            <a:ext cx="3502742" cy="1573263"/>
            <a:chOff x="5292080" y="4086944"/>
            <a:chExt cx="3502742" cy="1573263"/>
          </a:xfrm>
        </p:grpSpPr>
        <p:pic>
          <p:nvPicPr>
            <p:cNvPr id="32" name="图片 31"/>
            <p:cNvPicPr>
              <a:picLocks noChangeAspect="1"/>
            </p:cNvPicPr>
            <p:nvPr/>
          </p:nvPicPr>
          <p:blipFill>
            <a:blip r:embed="rId8"/>
            <a:stretch>
              <a:fillRect/>
            </a:stretch>
          </p:blipFill>
          <p:spPr>
            <a:xfrm>
              <a:off x="5292080" y="4120544"/>
              <a:ext cx="1440160" cy="1539663"/>
            </a:xfrm>
            <a:prstGeom prst="rect">
              <a:avLst/>
            </a:prstGeom>
          </p:spPr>
        </p:pic>
        <p:pic>
          <p:nvPicPr>
            <p:cNvPr id="33" name="图片 32"/>
            <p:cNvPicPr>
              <a:picLocks noChangeAspect="1"/>
            </p:cNvPicPr>
            <p:nvPr/>
          </p:nvPicPr>
          <p:blipFill>
            <a:blip r:embed="rId9"/>
            <a:stretch>
              <a:fillRect/>
            </a:stretch>
          </p:blipFill>
          <p:spPr>
            <a:xfrm>
              <a:off x="6983760" y="4086944"/>
              <a:ext cx="1811062" cy="1505973"/>
            </a:xfrm>
            <a:prstGeom prst="rect">
              <a:avLst/>
            </a:prstGeom>
          </p:spPr>
        </p:pic>
      </p:grpSp>
      <p:sp>
        <p:nvSpPr>
          <p:cNvPr id="7" name="单圆角矩形 6"/>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机械零件的接触疲劳强度</a:t>
            </a:r>
            <a:endParaRPr lang="zh-CN" altLang="en-US" sz="1500" dirty="0">
              <a:solidFill>
                <a:srgbClr val="FF6600"/>
              </a:solidFill>
            </a:endParaRPr>
          </a:p>
        </p:txBody>
      </p:sp>
      <p:sp>
        <p:nvSpPr>
          <p:cNvPr id="8" name="直角三角形 7"/>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5580112" y="636843"/>
            <a:ext cx="3396300" cy="1409475"/>
            <a:chOff x="5580112" y="636843"/>
            <a:chExt cx="3396300" cy="1409475"/>
          </a:xfrm>
        </p:grpSpPr>
        <mc:AlternateContent xmlns:mc="http://schemas.openxmlformats.org/markup-compatibility/2006" xmlns:a14="http://schemas.microsoft.com/office/drawing/2010/main">
          <mc:Choice Requires="a14">
            <p:graphicFrame>
              <p:nvGraphicFramePr>
                <p:cNvPr id="34" name="Object 121"/>
                <p:cNvGraphicFramePr>
                  <a:graphicFrameLocks noChangeAspect="1"/>
                </p:cNvGraphicFramePr>
                <p:nvPr>
                  <p:extLst>
                    <p:ext uri="{D42A27DB-BD31-4B8C-83A1-F6EECF244321}">
                      <p14:modId xmlns:p14="http://schemas.microsoft.com/office/powerpoint/2010/main" val="3018977658"/>
                    </p:ext>
                  </p:extLst>
                </p:nvPr>
              </p:nvGraphicFramePr>
              <p:xfrm>
                <a:off x="5580112" y="636843"/>
                <a:ext cx="2564319" cy="1409475"/>
              </p:xfrm>
              <a:graphic>
                <a:graphicData uri="http://schemas.openxmlformats.org/presentationml/2006/ole">
                  <mc:AlternateContent>
                    <mc:Choice xmlns:v="urn:schemas-microsoft-com:vml" Requires="v">
                      <p:oleObj spid="_x0000_s6040598" name="Equation" r:id="rId10" imgW="1663700" imgH="977900" progId="Equation.DSMT4">
                        <p:embed/>
                      </p:oleObj>
                    </mc:Choice>
                    <mc:Fallback>
                      <p:oleObj name="Equation" r:id="rId10" imgW="1663700" imgH="977900" progId="Equation.DSMT4">
                        <p:embed/>
                        <p:pic>
                          <p:nvPicPr>
                            <p:cNvPr id="0" name=""/>
                            <p:cNvPicPr>
                              <a:picLocks noChangeAspect="1" noChangeArrowheads="1"/>
                            </p:cNvPicPr>
                            <p:nvPr/>
                          </p:nvPicPr>
                          <p:blipFill>
                            <a:blip r:embed="rId11"/>
                            <a:srcRect/>
                            <a:stretch>
                              <a:fillRect/>
                            </a:stretch>
                          </p:blipFill>
                          <p:spPr bwMode="auto">
                            <a:xfrm>
                              <a:off x="5580112" y="636843"/>
                              <a:ext cx="2564319" cy="1409475"/>
                            </a:xfrm>
                            <a:prstGeom prst="rect">
                              <a:avLst/>
                            </a:prstGeom>
                            <a:noFill/>
                            <a:ln>
                              <a:noFill/>
                            </a:ln>
                          </p:spPr>
                        </p:pic>
                      </p:oleObj>
                    </mc:Fallback>
                  </mc:AlternateContent>
                </a:graphicData>
              </a:graphic>
            </p:graphicFrame>
          </mc:Choice>
          <mc:Fallback xmlns="">
            <p:graphicFrame>
              <p:nvGraphicFramePr>
                <p:cNvPr id="34" name="Object 121"/>
                <p:cNvGraphicFramePr>
                  <a:graphicFrameLocks noChangeAspect="1"/>
                </p:cNvGraphicFramePr>
                <p:nvPr>
                  <p:extLst>
                    <p:ext uri="{D42A27DB-BD31-4B8C-83A1-F6EECF244321}">
                      <p14:modId xmlns:p14="http://schemas.microsoft.com/office/powerpoint/2010/main" val="3018977658"/>
                    </p:ext>
                  </p:extLst>
                </p:nvPr>
              </p:nvGraphicFramePr>
              <p:xfrm>
                <a:off x="5580112" y="636843"/>
                <a:ext cx="2564319" cy="1409475"/>
              </p:xfrm>
              <a:graphic>
                <a:graphicData uri="http://schemas.openxmlformats.org/presentationml/2006/ole">
                  <mc:AlternateContent>
                    <mc:Choice xmlns:v="urn:schemas-microsoft-com:vml" Requires="v">
                      <p:oleObj spid="_x0000_s6040587" name="Equation" r:id="rId12" imgW="1663700" imgH="977900" progId="Equation.DSMT4">
                        <p:embed/>
                      </p:oleObj>
                    </mc:Choice>
                    <mc:Fallback>
                      <p:oleObj name="Equation" r:id="rId12" imgW="1663700" imgH="977900" progId="Equation.DSMT4">
                        <p:embed/>
                        <p:pic>
                          <p:nvPicPr>
                            <p:cNvPr id="0" name=""/>
                            <p:cNvPicPr>
                              <a:picLocks noChangeAspect="1" noChangeArrowheads="1"/>
                            </p:cNvPicPr>
                            <p:nvPr/>
                          </p:nvPicPr>
                          <p:blipFill>
                            <a:blip r:embed="rId13"/>
                            <a:srcRect/>
                            <a:stretch>
                              <a:fillRect/>
                            </a:stretch>
                          </p:blipFill>
                          <p:spPr bwMode="auto">
                            <a:xfrm>
                              <a:off x="5580112" y="636843"/>
                              <a:ext cx="2564319" cy="1409475"/>
                            </a:xfrm>
                            <a:prstGeom prst="rect">
                              <a:avLst/>
                            </a:prstGeom>
                            <a:noFill/>
                            <a:ln>
                              <a:noFill/>
                            </a:ln>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39" name="文本框 38"/>
                <p:cNvSpPr txBox="1"/>
                <p:nvPr/>
              </p:nvSpPr>
              <p:spPr>
                <a:xfrm>
                  <a:off x="8088284" y="1135481"/>
                  <a:ext cx="888128" cy="36163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1750" i="1" smtClean="0">
                            <a:latin typeface="Cambria Math" panose="02040503050406030204" pitchFamily="18" charset="0"/>
                          </a:rPr>
                          <m:t>≤</m:t>
                        </m:r>
                        <m:d>
                          <m:dPr>
                            <m:begChr m:val="["/>
                            <m:endChr m:val="]"/>
                            <m:ctrlPr>
                              <a:rPr lang="en-US" altLang="zh-CN" sz="1750" i="1" smtClean="0">
                                <a:latin typeface="Cambria Math" panose="02040503050406030204" pitchFamily="18" charset="0"/>
                              </a:rPr>
                            </m:ctrlPr>
                          </m:dPr>
                          <m:e>
                            <m:sSub>
                              <m:sSubPr>
                                <m:ctrlPr>
                                  <a:rPr lang="en-US" altLang="zh-CN" sz="1750" i="1" smtClean="0">
                                    <a:latin typeface="Cambria Math" panose="02040503050406030204" pitchFamily="18" charset="0"/>
                                  </a:rPr>
                                </m:ctrlPr>
                              </m:sSubPr>
                              <m:e>
                                <m:r>
                                  <a:rPr lang="zh-CN" altLang="en-US" sz="1750" i="1" smtClean="0">
                                    <a:latin typeface="Cambria Math" panose="02040503050406030204" pitchFamily="18" charset="0"/>
                                  </a:rPr>
                                  <m:t>𝜎</m:t>
                                </m:r>
                              </m:e>
                              <m:sub>
                                <m:r>
                                  <a:rPr lang="en-US" altLang="zh-CN" sz="1750" b="0" i="1" smtClean="0">
                                    <a:latin typeface="Cambria Math" panose="02040503050406030204" pitchFamily="18" charset="0"/>
                                  </a:rPr>
                                  <m:t>𝐻</m:t>
                                </m:r>
                              </m:sub>
                            </m:sSub>
                          </m:e>
                        </m:d>
                      </m:oMath>
                    </m:oMathPara>
                  </a14:m>
                  <a:endParaRPr lang="zh-CN" altLang="en-US" sz="1750" dirty="0"/>
                </a:p>
              </p:txBody>
            </p:sp>
          </mc:Choice>
          <mc:Fallback xmlns="">
            <p:sp>
              <p:nvSpPr>
                <p:cNvPr id="39" name="文本框 38"/>
                <p:cNvSpPr txBox="1">
                  <a:spLocks noRot="1" noChangeAspect="1" noMove="1" noResize="1" noEditPoints="1" noAdjustHandles="1" noChangeArrowheads="1" noChangeShapeType="1" noTextEdit="1"/>
                </p:cNvSpPr>
                <p:nvPr/>
              </p:nvSpPr>
              <p:spPr>
                <a:xfrm>
                  <a:off x="8088284" y="1135481"/>
                  <a:ext cx="888128" cy="361637"/>
                </a:xfrm>
                <a:prstGeom prst="rect">
                  <a:avLst/>
                </a:prstGeom>
                <a:blipFill rotWithShape="0">
                  <a:blip r:embed="rId14"/>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12248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75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750"/>
                                        <p:tgtEl>
                                          <p:spTgt spid="3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例题讲解与讨论</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Text Box 3">
                <a:extLst>
                  <a:ext uri="{FF2B5EF4-FFF2-40B4-BE49-F238E27FC236}">
                    <a16:creationId xmlns="" xmlns:a16="http://schemas.microsoft.com/office/drawing/2014/main" id="{5D7F92A6-81B9-48B7-8897-11500C3FB078}"/>
                  </a:ext>
                </a:extLst>
              </p:cNvPr>
              <p:cNvSpPr txBox="1">
                <a:spLocks noChangeArrowheads="1"/>
              </p:cNvSpPr>
              <p:nvPr/>
            </p:nvSpPr>
            <p:spPr bwMode="auto">
              <a:xfrm>
                <a:off x="183143" y="514335"/>
                <a:ext cx="8853353" cy="1813510"/>
              </a:xfrm>
              <a:prstGeom prst="rect">
                <a:avLst/>
              </a:prstGeom>
              <a:solidFill>
                <a:srgbClr val="E0E0E0"/>
              </a:solidFill>
              <a:ln>
                <a:noFill/>
              </a:ln>
              <a:extLst/>
            </p:spPr>
            <p:txBody>
              <a:bodyPr wrap="square">
                <a:spAutoFit/>
              </a:bodyPr>
              <a:lstStyle>
                <a:lvl1pPr>
                  <a:defRPr kumimoji="1" sz="2400">
                    <a:solidFill>
                      <a:srgbClr val="990000"/>
                    </a:solidFill>
                    <a:latin typeface="华文中宋" panose="02010600040101010101" pitchFamily="2" charset="-122"/>
                    <a:ea typeface="华文中宋" panose="02010600040101010101" pitchFamily="2" charset="-122"/>
                  </a:defRPr>
                </a:lvl1pPr>
                <a:lvl2pPr marL="742950" indent="-285750">
                  <a:defRPr kumimoji="1" sz="2400">
                    <a:solidFill>
                      <a:srgbClr val="990000"/>
                    </a:solidFill>
                    <a:latin typeface="华文中宋" panose="02010600040101010101" pitchFamily="2" charset="-122"/>
                    <a:ea typeface="华文中宋" panose="02010600040101010101" pitchFamily="2" charset="-122"/>
                  </a:defRPr>
                </a:lvl2pPr>
                <a:lvl3pPr marL="1143000" indent="-228600">
                  <a:defRPr kumimoji="1" sz="2400">
                    <a:solidFill>
                      <a:srgbClr val="990000"/>
                    </a:solidFill>
                    <a:latin typeface="华文中宋" panose="02010600040101010101" pitchFamily="2" charset="-122"/>
                    <a:ea typeface="华文中宋" panose="02010600040101010101" pitchFamily="2" charset="-122"/>
                  </a:defRPr>
                </a:lvl3pPr>
                <a:lvl4pPr marL="1600200" indent="-228600">
                  <a:defRPr kumimoji="1" sz="2400">
                    <a:solidFill>
                      <a:srgbClr val="990000"/>
                    </a:solidFill>
                    <a:latin typeface="华文中宋" panose="02010600040101010101" pitchFamily="2" charset="-122"/>
                    <a:ea typeface="华文中宋" panose="02010600040101010101" pitchFamily="2" charset="-122"/>
                  </a:defRPr>
                </a:lvl4pPr>
                <a:lvl5pPr marL="2057400" indent="-228600">
                  <a:defRPr kumimoji="1" sz="2400">
                    <a:solidFill>
                      <a:srgbClr val="990000"/>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9pPr>
              </a:lstStyle>
              <a:p>
                <a:pPr algn="just">
                  <a:lnSpc>
                    <a:spcPct val="125000"/>
                  </a:lnSpc>
                </a:pPr>
                <a:r>
                  <a:rPr lang="zh-CN" altLang="en-US" sz="1800" b="1" dirty="0" smtClean="0">
                    <a:solidFill>
                      <a:srgbClr val="C00000"/>
                    </a:solidFill>
                    <a:latin typeface="+mn-ea"/>
                    <a:ea typeface="+mn-ea"/>
                  </a:rPr>
                  <a:t>例</a:t>
                </a:r>
                <a:r>
                  <a:rPr lang="en-US" altLang="zh-CN" sz="1800" b="1" dirty="0" smtClean="0">
                    <a:solidFill>
                      <a:srgbClr val="C00000"/>
                    </a:solidFill>
                    <a:latin typeface="+mn-ea"/>
                    <a:ea typeface="+mn-ea"/>
                  </a:rPr>
                  <a:t>2</a:t>
                </a:r>
                <a:r>
                  <a:rPr lang="zh-CN" altLang="en-US" sz="1800" b="1" dirty="0" smtClean="0">
                    <a:solidFill>
                      <a:srgbClr val="C00000"/>
                    </a:solidFill>
                    <a:latin typeface="+mn-ea"/>
                    <a:ea typeface="+mn-ea"/>
                  </a:rPr>
                  <a:t>：</a:t>
                </a:r>
                <a:r>
                  <a:rPr lang="zh-CN" altLang="en-US" sz="1800" dirty="0" smtClean="0">
                    <a:solidFill>
                      <a:srgbClr val="000000"/>
                    </a:solidFill>
                    <a:latin typeface="+mn-ea"/>
                    <a:ea typeface="+mn-ea"/>
                  </a:rPr>
                  <a:t>某钢制零件材料性能为：</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i="1">
                            <a:solidFill>
                              <a:srgbClr val="000000"/>
                            </a:solidFill>
                            <a:latin typeface="Cambria Math" panose="02040503050406030204" pitchFamily="18" charset="0"/>
                          </a:rPr>
                          <m:t>−1</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4</m:t>
                    </m:r>
                    <m:r>
                      <a:rPr lang="en-US" altLang="zh-CN" sz="1800" i="1">
                        <a:solidFill>
                          <a:srgbClr val="000000"/>
                        </a:solidFill>
                        <a:latin typeface="Cambria Math" panose="02040503050406030204" pitchFamily="18" charset="0"/>
                      </a:rPr>
                      <m:t>00</m:t>
                    </m:r>
                    <m:r>
                      <a:rPr lang="en-US" altLang="zh-CN" sz="1800" i="1">
                        <a:solidFill>
                          <a:srgbClr val="000000"/>
                        </a:solidFill>
                        <a:latin typeface="Cambria Math" panose="02040503050406030204" pitchFamily="18" charset="0"/>
                      </a:rPr>
                      <m:t>𝑀𝑃𝑎</m:t>
                    </m:r>
                  </m:oMath>
                </a14:m>
                <a:r>
                  <a:rPr lang="zh-CN" altLang="en-US" sz="1800" dirty="0">
                    <a:solidFill>
                      <a:srgbClr val="000000"/>
                    </a:solidFill>
                    <a:latin typeface="+mn-ea"/>
                  </a:rPr>
                  <a:t>，</a:t>
                </a:r>
                <a14:m>
                  <m:oMath xmlns:m="http://schemas.openxmlformats.org/officeDocument/2006/math">
                    <m:sSub>
                      <m:sSubPr>
                        <m:ctrlPr>
                          <a:rPr lang="en-US" altLang="zh-CN" sz="1800" i="1">
                            <a:solidFill>
                              <a:srgbClr val="000000"/>
                            </a:solidFill>
                            <a:latin typeface="Cambria Math" panose="02040503050406030204" pitchFamily="18" charset="0"/>
                          </a:rPr>
                        </m:ctrlPr>
                      </m:sSubPr>
                      <m:e>
                        <m:r>
                          <m:rPr>
                            <m:sty m:val="p"/>
                          </m:rPr>
                          <a:rPr lang="el-GR" altLang="zh-CN" sz="1800" i="1" smtClean="0">
                            <a:solidFill>
                              <a:srgbClr val="000000"/>
                            </a:solidFill>
                            <a:latin typeface="Cambria Math" panose="02040503050406030204" pitchFamily="18" charset="0"/>
                          </a:rPr>
                          <m:t>ψ</m:t>
                        </m:r>
                      </m:e>
                      <m:sub>
                        <m:r>
                          <a:rPr lang="zh-CN" altLang="en-US" sz="1800" i="1" smtClean="0">
                            <a:solidFill>
                              <a:srgbClr val="000000"/>
                            </a:solidFill>
                            <a:latin typeface="Cambria Math" panose="02040503050406030204" pitchFamily="18" charset="0"/>
                          </a:rPr>
                          <m:t>𝜎</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0.2</m:t>
                    </m:r>
                  </m:oMath>
                </a14:m>
                <a:r>
                  <a:rPr lang="zh-CN" altLang="en-US" sz="1800" dirty="0">
                    <a:solidFill>
                      <a:srgbClr val="000000"/>
                    </a:solidFill>
                    <a:latin typeface="+mn-ea"/>
                  </a:rPr>
                  <a:t>，</a:t>
                </a:r>
                <a14:m>
                  <m:oMath xmlns:m="http://schemas.openxmlformats.org/officeDocument/2006/math">
                    <m:sSub>
                      <m:sSubPr>
                        <m:ctrlPr>
                          <a:rPr lang="en-US" altLang="zh-CN" sz="1800" i="1">
                            <a:solidFill>
                              <a:srgbClr val="000000"/>
                            </a:solidFill>
                            <a:latin typeface="Cambria Math" panose="02040503050406030204" pitchFamily="18" charset="0"/>
                            <a:ea typeface="+mn-ea"/>
                          </a:rPr>
                        </m:ctrlPr>
                      </m:sSubPr>
                      <m:e>
                        <m:r>
                          <a:rPr lang="zh-CN" altLang="en-US" sz="1800" i="1">
                            <a:solidFill>
                              <a:srgbClr val="000000"/>
                            </a:solidFill>
                            <a:latin typeface="Cambria Math" panose="02040503050406030204" pitchFamily="18" charset="0"/>
                            <a:ea typeface="+mn-ea"/>
                          </a:rPr>
                          <m:t>𝜎</m:t>
                        </m:r>
                      </m:e>
                      <m:sub>
                        <m:r>
                          <a:rPr lang="en-US" altLang="zh-CN" sz="1800" b="0" i="1" smtClean="0">
                            <a:solidFill>
                              <a:srgbClr val="000000"/>
                            </a:solidFill>
                            <a:latin typeface="Cambria Math" panose="02040503050406030204" pitchFamily="18" charset="0"/>
                            <a:ea typeface="+mn-ea"/>
                          </a:rPr>
                          <m:t>𝑠</m:t>
                        </m:r>
                      </m:sub>
                    </m:sSub>
                    <m:r>
                      <a:rPr lang="en-US" altLang="zh-CN" sz="1800" i="1">
                        <a:solidFill>
                          <a:srgbClr val="000000"/>
                        </a:solidFill>
                        <a:latin typeface="Cambria Math" panose="02040503050406030204" pitchFamily="18" charset="0"/>
                        <a:ea typeface="+mn-ea"/>
                      </a:rPr>
                      <m:t>=</m:t>
                    </m:r>
                    <m:r>
                      <a:rPr lang="en-US" altLang="zh-CN" sz="1800" b="0" i="1" smtClean="0">
                        <a:solidFill>
                          <a:srgbClr val="000000"/>
                        </a:solidFill>
                        <a:latin typeface="Cambria Math" panose="02040503050406030204" pitchFamily="18" charset="0"/>
                        <a:ea typeface="+mn-ea"/>
                      </a:rPr>
                      <m:t>780</m:t>
                    </m:r>
                    <m:r>
                      <a:rPr lang="en-US" altLang="zh-CN" sz="1800" i="1">
                        <a:solidFill>
                          <a:srgbClr val="000000"/>
                        </a:solidFill>
                        <a:latin typeface="Cambria Math" panose="02040503050406030204" pitchFamily="18" charset="0"/>
                        <a:ea typeface="+mn-ea"/>
                      </a:rPr>
                      <m:t>𝑀𝑃𝑎</m:t>
                    </m:r>
                  </m:oMath>
                </a14:m>
                <a:r>
                  <a:rPr lang="zh-CN" altLang="en-US" sz="1800" dirty="0" smtClean="0">
                    <a:solidFill>
                      <a:srgbClr val="000000"/>
                    </a:solidFill>
                    <a:latin typeface="+mn-ea"/>
                    <a:ea typeface="+mn-ea"/>
                  </a:rPr>
                  <a:t>，受单向稳定变应力作用，危险剖面的综合影响系数</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𝐾</m:t>
                        </m:r>
                      </m:e>
                      <m:sub>
                        <m:r>
                          <a:rPr lang="zh-CN" altLang="en-US" sz="1800" i="1" smtClean="0">
                            <a:solidFill>
                              <a:srgbClr val="000000"/>
                            </a:solidFill>
                            <a:latin typeface="Cambria Math" panose="02040503050406030204" pitchFamily="18" charset="0"/>
                          </a:rPr>
                          <m:t>𝜎</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1.6</m:t>
                    </m:r>
                  </m:oMath>
                </a14:m>
                <a:r>
                  <a:rPr lang="zh-CN" altLang="en-US" sz="1800" dirty="0" smtClean="0">
                    <a:solidFill>
                      <a:srgbClr val="000000"/>
                    </a:solidFill>
                    <a:latin typeface="+mn-ea"/>
                    <a:ea typeface="+mn-ea"/>
                  </a:rPr>
                  <a:t>，试</a:t>
                </a:r>
                <a:r>
                  <a:rPr lang="en-US" altLang="zh-CN" sz="1800" dirty="0" smtClean="0">
                    <a:solidFill>
                      <a:srgbClr val="000000"/>
                    </a:solidFill>
                    <a:latin typeface="+mn-ea"/>
                    <a:ea typeface="+mn-ea"/>
                  </a:rPr>
                  <a:t>1</a:t>
                </a:r>
                <a:r>
                  <a:rPr lang="zh-CN" altLang="en-US" sz="1800" dirty="0" smtClean="0">
                    <a:solidFill>
                      <a:srgbClr val="000000"/>
                    </a:solidFill>
                    <a:latin typeface="+mn-ea"/>
                    <a:ea typeface="+mn-ea"/>
                  </a:rPr>
                  <a:t>）</a:t>
                </a:r>
                <a:r>
                  <a:rPr lang="zh-CN" altLang="en-US" sz="1800" dirty="0">
                    <a:solidFill>
                      <a:srgbClr val="000000"/>
                    </a:solidFill>
                    <a:latin typeface="+mn-ea"/>
                    <a:ea typeface="+mn-ea"/>
                  </a:rPr>
                  <a:t>绘制</a:t>
                </a:r>
                <a:r>
                  <a:rPr lang="zh-CN" altLang="en-US" sz="1800" dirty="0" smtClean="0">
                    <a:solidFill>
                      <a:srgbClr val="000000"/>
                    </a:solidFill>
                    <a:latin typeface="+mn-ea"/>
                    <a:ea typeface="+mn-ea"/>
                  </a:rPr>
                  <a:t>零件的简化极限应力图；</a:t>
                </a:r>
                <a:r>
                  <a:rPr lang="en-US" altLang="zh-CN" sz="1800" dirty="0" smtClean="0">
                    <a:solidFill>
                      <a:srgbClr val="000000"/>
                    </a:solidFill>
                    <a:latin typeface="+mn-ea"/>
                    <a:ea typeface="+mn-ea"/>
                  </a:rPr>
                  <a:t>2</a:t>
                </a:r>
                <a:r>
                  <a:rPr lang="zh-CN" altLang="en-US" sz="1800" dirty="0" smtClean="0">
                    <a:solidFill>
                      <a:srgbClr val="000000"/>
                    </a:solidFill>
                    <a:latin typeface="+mn-ea"/>
                    <a:ea typeface="+mn-ea"/>
                  </a:rPr>
                  <a:t>）若工作应力按</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b="0" i="1" smtClean="0">
                            <a:solidFill>
                              <a:srgbClr val="000000"/>
                            </a:solidFill>
                            <a:latin typeface="Cambria Math" panose="02040503050406030204" pitchFamily="18" charset="0"/>
                          </a:rPr>
                          <m:t>𝑚</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650</m:t>
                    </m:r>
                    <m:r>
                      <a:rPr lang="en-US" altLang="zh-CN" sz="1800" i="1">
                        <a:solidFill>
                          <a:srgbClr val="000000"/>
                        </a:solidFill>
                        <a:latin typeface="Cambria Math" panose="02040503050406030204" pitchFamily="18" charset="0"/>
                      </a:rPr>
                      <m:t>𝑀𝑃𝑎</m:t>
                    </m:r>
                    <m:r>
                      <a:rPr lang="en-US" altLang="zh-CN" sz="1800" i="1">
                        <a:solidFill>
                          <a:srgbClr val="000000"/>
                        </a:solidFill>
                        <a:latin typeface="Cambria Math" panose="02040503050406030204" pitchFamily="18" charset="0"/>
                      </a:rPr>
                      <m:t>=</m:t>
                    </m:r>
                  </m:oMath>
                </a14:m>
                <a:r>
                  <a:rPr lang="zh-CN" altLang="en-US" sz="1800" dirty="0" smtClean="0">
                    <a:solidFill>
                      <a:srgbClr val="000000"/>
                    </a:solidFill>
                    <a:latin typeface="+mn-ea"/>
                    <a:ea typeface="+mn-ea"/>
                  </a:rPr>
                  <a:t>常数的规律变化，问该零件首先发生疲劳破坏还是塑性变形？</a:t>
                </a:r>
                <a:r>
                  <a:rPr lang="en-US" altLang="zh-CN" sz="1800" dirty="0" smtClean="0">
                    <a:solidFill>
                      <a:srgbClr val="000000"/>
                    </a:solidFill>
                    <a:latin typeface="+mn-ea"/>
                    <a:ea typeface="+mn-ea"/>
                  </a:rPr>
                  <a:t>3</a:t>
                </a:r>
                <a:r>
                  <a:rPr lang="zh-CN" altLang="en-US" sz="1800" dirty="0" smtClean="0">
                    <a:solidFill>
                      <a:srgbClr val="000000"/>
                    </a:solidFill>
                    <a:latin typeface="+mn-ea"/>
                    <a:ea typeface="+mn-ea"/>
                  </a:rPr>
                  <a:t>）若工作应力按</a:t>
                </a:r>
                <a14:m>
                  <m:oMath xmlns:m="http://schemas.openxmlformats.org/officeDocument/2006/math">
                    <m:r>
                      <a:rPr lang="en-US" altLang="zh-CN" sz="1800" b="0" i="1" smtClean="0">
                        <a:solidFill>
                          <a:srgbClr val="000000"/>
                        </a:solidFill>
                        <a:latin typeface="Cambria Math" panose="02040503050406030204" pitchFamily="18" charset="0"/>
                        <a:ea typeface="+mn-ea"/>
                      </a:rPr>
                      <m:t>𝑟</m:t>
                    </m:r>
                    <m:r>
                      <a:rPr lang="en-US" altLang="zh-CN" sz="1800" b="0" i="1" smtClean="0">
                        <a:solidFill>
                          <a:srgbClr val="000000"/>
                        </a:solidFill>
                        <a:latin typeface="Cambria Math" panose="02040503050406030204" pitchFamily="18" charset="0"/>
                        <a:ea typeface="+mn-ea"/>
                      </a:rPr>
                      <m:t>=</m:t>
                    </m:r>
                  </m:oMath>
                </a14:m>
                <a:r>
                  <a:rPr lang="zh-CN" altLang="en-US" sz="1800" dirty="0" smtClean="0">
                    <a:solidFill>
                      <a:srgbClr val="000000"/>
                    </a:solidFill>
                    <a:latin typeface="+mn-ea"/>
                    <a:ea typeface="+mn-ea"/>
                  </a:rPr>
                  <a:t>常数的规律变化，问</a:t>
                </a:r>
                <a14:m>
                  <m:oMath xmlns:m="http://schemas.openxmlformats.org/officeDocument/2006/math">
                    <m:r>
                      <a:rPr lang="en-US" altLang="zh-CN" sz="1800" b="0" i="1" smtClean="0">
                        <a:solidFill>
                          <a:srgbClr val="000000"/>
                        </a:solidFill>
                        <a:latin typeface="Cambria Math" panose="02040503050406030204" pitchFamily="18" charset="0"/>
                        <a:ea typeface="+mn-ea"/>
                      </a:rPr>
                      <m:t>𝑟</m:t>
                    </m:r>
                  </m:oMath>
                </a14:m>
                <a:r>
                  <a:rPr lang="zh-CN" altLang="en-US" sz="1800" dirty="0" smtClean="0">
                    <a:solidFill>
                      <a:srgbClr val="000000"/>
                    </a:solidFill>
                    <a:latin typeface="+mn-ea"/>
                    <a:ea typeface="+mn-ea"/>
                  </a:rPr>
                  <a:t>在什么范围内，零件首先发生疲劳破坏？</a:t>
                </a:r>
                <a:r>
                  <a:rPr lang="en-US" altLang="zh-CN" sz="1800" dirty="0" smtClean="0">
                    <a:solidFill>
                      <a:srgbClr val="000000"/>
                    </a:solidFill>
                    <a:latin typeface="+mn-ea"/>
                    <a:ea typeface="+mn-ea"/>
                  </a:rPr>
                  <a:t>4</a:t>
                </a:r>
                <a:r>
                  <a:rPr lang="zh-CN" altLang="en-US" sz="1800" dirty="0" smtClean="0">
                    <a:solidFill>
                      <a:srgbClr val="000000"/>
                    </a:solidFill>
                    <a:latin typeface="+mn-ea"/>
                    <a:ea typeface="+mn-ea"/>
                  </a:rPr>
                  <a:t>）求</a:t>
                </a:r>
                <a14:m>
                  <m:oMath xmlns:m="http://schemas.openxmlformats.org/officeDocument/2006/math">
                    <m:r>
                      <a:rPr lang="en-US" altLang="zh-CN" sz="1800" b="0" i="1" smtClean="0">
                        <a:solidFill>
                          <a:srgbClr val="000000"/>
                        </a:solidFill>
                        <a:latin typeface="Cambria Math" panose="02040503050406030204" pitchFamily="18" charset="0"/>
                        <a:ea typeface="+mn-ea"/>
                      </a:rPr>
                      <m:t>𝑟</m:t>
                    </m:r>
                    <m:r>
                      <a:rPr lang="en-US" altLang="zh-CN" sz="1800" b="0" i="1" smtClean="0">
                        <a:solidFill>
                          <a:srgbClr val="000000"/>
                        </a:solidFill>
                        <a:latin typeface="Cambria Math" panose="02040503050406030204" pitchFamily="18" charset="0"/>
                        <a:ea typeface="+mn-ea"/>
                      </a:rPr>
                      <m:t>=0.5</m:t>
                    </m:r>
                  </m:oMath>
                </a14:m>
                <a:r>
                  <a:rPr lang="zh-CN" altLang="en-US" sz="1800" dirty="0" smtClean="0">
                    <a:solidFill>
                      <a:srgbClr val="000000"/>
                    </a:solidFill>
                    <a:latin typeface="+mn-ea"/>
                    <a:ea typeface="+mn-ea"/>
                  </a:rPr>
                  <a:t>时的</a:t>
                </a:r>
                <a14:m>
                  <m:oMath xmlns:m="http://schemas.openxmlformats.org/officeDocument/2006/math">
                    <m:sSubSup>
                      <m:sSubSupPr>
                        <m:ctrlPr>
                          <a:rPr lang="en-US" altLang="zh-CN" sz="1800" i="1" smtClean="0">
                            <a:solidFill>
                              <a:srgbClr val="000000"/>
                            </a:solidFill>
                            <a:latin typeface="Cambria Math" panose="02040503050406030204" pitchFamily="18" charset="0"/>
                            <a:ea typeface="+mn-ea"/>
                          </a:rPr>
                        </m:ctrlPr>
                      </m:sSubSupPr>
                      <m:e>
                        <m:r>
                          <a:rPr lang="zh-CN" altLang="en-US" sz="1800" i="1" smtClean="0">
                            <a:solidFill>
                              <a:srgbClr val="000000"/>
                            </a:solidFill>
                            <a:latin typeface="Cambria Math" panose="02040503050406030204" pitchFamily="18" charset="0"/>
                            <a:ea typeface="+mn-ea"/>
                          </a:rPr>
                          <m:t>𝜎</m:t>
                        </m:r>
                      </m:e>
                      <m:sub>
                        <m:r>
                          <a:rPr lang="en-US" altLang="zh-CN" sz="1800" b="0" i="1" smtClean="0">
                            <a:solidFill>
                              <a:srgbClr val="000000"/>
                            </a:solidFill>
                            <a:latin typeface="Cambria Math" panose="02040503050406030204" pitchFamily="18" charset="0"/>
                            <a:ea typeface="+mn-ea"/>
                          </a:rPr>
                          <m:t>𝑎𝑒</m:t>
                        </m:r>
                      </m:sub>
                      <m:sup>
                        <m:r>
                          <a:rPr lang="en-US" altLang="zh-CN" sz="1800" b="0" i="1" smtClean="0">
                            <a:solidFill>
                              <a:srgbClr val="000000"/>
                            </a:solidFill>
                            <a:latin typeface="Cambria Math" panose="02040503050406030204" pitchFamily="18" charset="0"/>
                            <a:ea typeface="+mn-ea"/>
                          </a:rPr>
                          <m:t>′</m:t>
                        </m:r>
                      </m:sup>
                    </m:sSubSup>
                  </m:oMath>
                </a14:m>
                <a:r>
                  <a:rPr lang="zh-CN" altLang="en-US" sz="1800" dirty="0" smtClean="0">
                    <a:solidFill>
                      <a:srgbClr val="000000"/>
                    </a:solidFill>
                    <a:latin typeface="+mn-ea"/>
                    <a:ea typeface="+mn-ea"/>
                  </a:rPr>
                  <a:t>、</a:t>
                </a:r>
                <a14:m>
                  <m:oMath xmlns:m="http://schemas.openxmlformats.org/officeDocument/2006/math">
                    <m:sSubSup>
                      <m:sSubSupPr>
                        <m:ctrlPr>
                          <a:rPr lang="en-US" altLang="zh-CN" sz="1800" i="1">
                            <a:solidFill>
                              <a:srgbClr val="000000"/>
                            </a:solidFill>
                            <a:latin typeface="Cambria Math" panose="02040503050406030204" pitchFamily="18" charset="0"/>
                          </a:rPr>
                        </m:ctrlPr>
                      </m:sSubSupPr>
                      <m:e>
                        <m:r>
                          <a:rPr lang="zh-CN" altLang="en-US" sz="1800" i="1">
                            <a:solidFill>
                              <a:srgbClr val="000000"/>
                            </a:solidFill>
                            <a:latin typeface="Cambria Math" panose="02040503050406030204" pitchFamily="18" charset="0"/>
                          </a:rPr>
                          <m:t>𝜎</m:t>
                        </m:r>
                      </m:e>
                      <m:sub>
                        <m:r>
                          <a:rPr lang="en-US" altLang="zh-CN" sz="1800" b="0" i="1" smtClean="0">
                            <a:solidFill>
                              <a:srgbClr val="000000"/>
                            </a:solidFill>
                            <a:latin typeface="Cambria Math" panose="02040503050406030204" pitchFamily="18" charset="0"/>
                          </a:rPr>
                          <m:t>𝑚𝑒</m:t>
                        </m:r>
                      </m:sub>
                      <m:sup>
                        <m:r>
                          <a:rPr lang="en-US" altLang="zh-CN" sz="1800" i="1">
                            <a:solidFill>
                              <a:srgbClr val="000000"/>
                            </a:solidFill>
                            <a:latin typeface="Cambria Math" panose="02040503050406030204" pitchFamily="18" charset="0"/>
                          </a:rPr>
                          <m:t>′</m:t>
                        </m:r>
                      </m:sup>
                    </m:sSubSup>
                  </m:oMath>
                </a14:m>
                <a:r>
                  <a:rPr lang="zh-CN" altLang="en-US" sz="1800" dirty="0" smtClean="0">
                    <a:solidFill>
                      <a:srgbClr val="000000"/>
                    </a:solidFill>
                    <a:latin typeface="+mn-ea"/>
                    <a:ea typeface="+mn-ea"/>
                  </a:rPr>
                  <a:t>的值。</a:t>
                </a:r>
                <a:endParaRPr lang="zh-CN" altLang="en-US" sz="1800" dirty="0">
                  <a:solidFill>
                    <a:srgbClr val="000000"/>
                  </a:solidFill>
                  <a:latin typeface="+mn-ea"/>
                  <a:ea typeface="+mn-ea"/>
                </a:endParaRPr>
              </a:p>
            </p:txBody>
          </p:sp>
        </mc:Choice>
        <mc:Fallback xmlns="">
          <p:sp>
            <p:nvSpPr>
              <p:cNvPr id="6" name="Text Box 3">
                <a:extLst>
                  <a:ext uri="{FF2B5EF4-FFF2-40B4-BE49-F238E27FC236}">
                    <a16:creationId xmlns:a16="http://schemas.microsoft.com/office/drawing/2014/main" xmlns="" xmlns:a14="http://schemas.microsoft.com/office/drawing/2010/main" id="{5D7F92A6-81B9-48B7-8897-11500C3FB078}"/>
                  </a:ext>
                </a:extLst>
              </p:cNvPr>
              <p:cNvSpPr txBox="1">
                <a:spLocks noRot="1" noChangeAspect="1" noMove="1" noResize="1" noEditPoints="1" noAdjustHandles="1" noChangeArrowheads="1" noChangeShapeType="1" noTextEdit="1"/>
              </p:cNvSpPr>
              <p:nvPr/>
            </p:nvSpPr>
            <p:spPr bwMode="auto">
              <a:xfrm>
                <a:off x="183143" y="514335"/>
                <a:ext cx="8853353" cy="1813510"/>
              </a:xfrm>
              <a:prstGeom prst="rect">
                <a:avLst/>
              </a:prstGeom>
              <a:blipFill rotWithShape="0">
                <a:blip r:embed="rId2"/>
                <a:stretch>
                  <a:fillRect l="-551" r="-3168" b="-3020"/>
                </a:stretch>
              </a:blipFill>
              <a:ln>
                <a:noFill/>
              </a:ln>
              <a:extLst/>
            </p:spPr>
            <p:txBody>
              <a:bodyPr/>
              <a:lstStyle/>
              <a:p>
                <a:r>
                  <a:rPr lang="zh-CN" altLang="en-US">
                    <a:noFill/>
                  </a:rPr>
                  <a:t> </a:t>
                </a:r>
              </a:p>
            </p:txBody>
          </p:sp>
        </mc:Fallback>
      </mc:AlternateContent>
      <p:sp>
        <p:nvSpPr>
          <p:cNvPr id="7" name="文本框 6"/>
          <p:cNvSpPr txBox="1"/>
          <p:nvPr/>
        </p:nvSpPr>
        <p:spPr>
          <a:xfrm>
            <a:off x="183143" y="2497460"/>
            <a:ext cx="3308737" cy="369332"/>
          </a:xfrm>
          <a:prstGeom prst="rect">
            <a:avLst/>
          </a:prstGeom>
          <a:noFill/>
        </p:spPr>
        <p:txBody>
          <a:bodyPr wrap="square" rtlCol="0">
            <a:spAutoFit/>
          </a:bodyPr>
          <a:lstStyle/>
          <a:p>
            <a:r>
              <a:rPr lang="zh-CN" altLang="en-US" b="1" dirty="0" smtClean="0">
                <a:solidFill>
                  <a:srgbClr val="C00000"/>
                </a:solidFill>
                <a:latin typeface="宋体" panose="02010600030101010101" pitchFamily="2" charset="-122"/>
              </a:rPr>
              <a:t>解：</a:t>
            </a:r>
            <a:r>
              <a:rPr lang="en-US" altLang="zh-CN" b="1" dirty="0" smtClean="0">
                <a:latin typeface="宋体" panose="02010600030101010101" pitchFamily="2" charset="-122"/>
              </a:rPr>
              <a:t>1</a:t>
            </a:r>
            <a:r>
              <a:rPr lang="zh-CN" altLang="en-US" b="1" dirty="0" smtClean="0">
                <a:latin typeface="宋体" panose="02010600030101010101" pitchFamily="2" charset="-122"/>
              </a:rPr>
              <a:t>）零件的简化极限应力图</a:t>
            </a:r>
            <a:endParaRPr lang="zh-CN" altLang="en-US" b="1"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8" name="文本框 7"/>
              <p:cNvSpPr txBox="1"/>
              <p:nvPr/>
            </p:nvSpPr>
            <p:spPr>
              <a:xfrm>
                <a:off x="183143" y="3036407"/>
                <a:ext cx="2176430" cy="59676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m:rPr>
                              <m:sty m:val="p"/>
                            </m:rPr>
                            <a:rPr lang="el-GR" altLang="zh-CN" sz="1600" i="1" smtClean="0">
                              <a:latin typeface="Cambria Math" panose="02040503050406030204" pitchFamily="18" charset="0"/>
                            </a:rPr>
                            <m:t>ψ</m:t>
                          </m:r>
                        </m:e>
                        <m:sub>
                          <m:r>
                            <a:rPr lang="zh-CN" altLang="en-US" sz="1600" b="0" i="1" smtClean="0">
                              <a:latin typeface="Cambria Math" panose="02040503050406030204" pitchFamily="18" charset="0"/>
                            </a:rPr>
                            <m:t>𝜎</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0</m:t>
                              </m:r>
                            </m:sub>
                          </m:sSub>
                        </m:den>
                      </m:f>
                      <m:r>
                        <a:rPr lang="en-US" altLang="zh-CN" sz="1600" b="0" i="1" smtClean="0">
                          <a:latin typeface="Cambria Math" panose="02040503050406030204" pitchFamily="18" charset="0"/>
                        </a:rPr>
                        <m:t>=0.2</m:t>
                      </m:r>
                    </m:oMath>
                  </m:oMathPara>
                </a14:m>
                <a:endParaRPr lang="zh-CN" altLang="en-US" sz="16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83143" y="3036407"/>
                <a:ext cx="2176430" cy="596766"/>
              </a:xfrm>
              <a:prstGeom prst="rect">
                <a:avLst/>
              </a:prstGeom>
              <a:blipFill rotWithShape="0">
                <a:blip r:embed="rId3"/>
                <a:stretch>
                  <a:fillRect/>
                </a:stretch>
              </a:blipFill>
            </p:spPr>
            <p:txBody>
              <a:bodyPr/>
              <a:lstStyle/>
              <a:p>
                <a:r>
                  <a:rPr lang="zh-CN" altLang="en-US">
                    <a:noFill/>
                  </a:rPr>
                  <a:t> </a:t>
                </a:r>
              </a:p>
            </p:txBody>
          </p:sp>
        </mc:Fallback>
      </mc:AlternateContent>
      <p:grpSp>
        <p:nvGrpSpPr>
          <p:cNvPr id="66" name="组合 65"/>
          <p:cNvGrpSpPr/>
          <p:nvPr/>
        </p:nvGrpSpPr>
        <p:grpSpPr>
          <a:xfrm>
            <a:off x="2339752" y="3036407"/>
            <a:ext cx="2605461" cy="553357"/>
            <a:chOff x="2339752" y="3036407"/>
            <a:chExt cx="2605461" cy="553357"/>
          </a:xfrm>
        </p:grpSpPr>
        <p:sp>
          <p:nvSpPr>
            <p:cNvPr id="9" name="右箭头 8"/>
            <p:cNvSpPr/>
            <p:nvPr/>
          </p:nvSpPr>
          <p:spPr>
            <a:xfrm>
              <a:off x="2339752" y="3229995"/>
              <a:ext cx="248033"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文本框 9"/>
                <p:cNvSpPr txBox="1"/>
                <p:nvPr/>
              </p:nvSpPr>
              <p:spPr>
                <a:xfrm>
                  <a:off x="2627784" y="3036407"/>
                  <a:ext cx="2317429" cy="553357"/>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0</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r>
                              <a:rPr lang="en-US" altLang="zh-CN" sz="1600" b="0" i="1" smtClean="0">
                                <a:latin typeface="Cambria Math" panose="02040503050406030204" pitchFamily="18" charset="0"/>
                              </a:rPr>
                              <m:t>1.2</m:t>
                            </m:r>
                          </m:den>
                        </m:f>
                        <m:r>
                          <a:rPr lang="en-US" altLang="zh-CN" sz="1600" b="0" i="1" smtClean="0">
                            <a:latin typeface="Cambria Math" panose="02040503050406030204" pitchFamily="18" charset="0"/>
                            <a:ea typeface="Cambria Math" panose="02040503050406030204" pitchFamily="18" charset="0"/>
                          </a:rPr>
                          <m:t>≈666.7</m:t>
                        </m:r>
                        <m:r>
                          <a:rPr lang="en-US" altLang="zh-CN" sz="1600" b="0" i="1" smtClean="0">
                            <a:latin typeface="Cambria Math" panose="02040503050406030204" pitchFamily="18" charset="0"/>
                            <a:ea typeface="Cambria Math" panose="02040503050406030204" pitchFamily="18" charset="0"/>
                          </a:rPr>
                          <m:t>𝑀𝑃𝑎</m:t>
                        </m:r>
                      </m:oMath>
                    </m:oMathPara>
                  </a14:m>
                  <a:endParaRPr lang="zh-CN" altLang="en-US" sz="16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2627784" y="3036407"/>
                  <a:ext cx="2317429" cy="553357"/>
                </a:xfrm>
                <a:prstGeom prst="rect">
                  <a:avLst/>
                </a:prstGeom>
                <a:blipFill rotWithShape="0">
                  <a:blip r:embed="rId4"/>
                  <a:stretch>
                    <a:fillRect/>
                  </a:stretch>
                </a:blipFill>
              </p:spPr>
              <p:txBody>
                <a:bodyPr/>
                <a:lstStyle/>
                <a:p>
                  <a:r>
                    <a:rPr lang="zh-CN" altLang="en-US">
                      <a:noFill/>
                    </a:rPr>
                    <a:t> </a:t>
                  </a:r>
                </a:p>
              </p:txBody>
            </p:sp>
          </mc:Fallback>
        </mc:AlternateContent>
      </p:grpSp>
      <p:grpSp>
        <p:nvGrpSpPr>
          <p:cNvPr id="69" name="组合 68"/>
          <p:cNvGrpSpPr/>
          <p:nvPr/>
        </p:nvGrpSpPr>
        <p:grpSpPr>
          <a:xfrm>
            <a:off x="5092547" y="2929508"/>
            <a:ext cx="3943949" cy="2486518"/>
            <a:chOff x="5040033" y="3076508"/>
            <a:chExt cx="3943949" cy="2486518"/>
          </a:xfrm>
        </p:grpSpPr>
        <p:cxnSp>
          <p:nvCxnSpPr>
            <p:cNvPr id="12" name="直接箭头连接符 11"/>
            <p:cNvCxnSpPr/>
            <p:nvPr/>
          </p:nvCxnSpPr>
          <p:spPr>
            <a:xfrm>
              <a:off x="5329729" y="5282052"/>
              <a:ext cx="32337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5329729" y="3481852"/>
              <a:ext cx="0" cy="1800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p:cNvSpPr txBox="1"/>
                <p:nvPr/>
              </p:nvSpPr>
              <p:spPr>
                <a:xfrm>
                  <a:off x="8484871" y="5042000"/>
                  <a:ext cx="4991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𝑚</m:t>
                            </m:r>
                          </m:sub>
                        </m:sSub>
                      </m:oMath>
                    </m:oMathPara>
                  </a14:m>
                  <a:endParaRPr lang="zh-CN" altLang="en-US" sz="16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8484871" y="5042000"/>
                  <a:ext cx="499111" cy="338554"/>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5040033" y="3076508"/>
                  <a:ext cx="45371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𝑎</m:t>
                            </m:r>
                          </m:sub>
                        </m:sSub>
                      </m:oMath>
                    </m:oMathPara>
                  </a14:m>
                  <a:endParaRPr lang="zh-CN" altLang="en-US" sz="1600" dirty="0"/>
                </a:p>
              </p:txBody>
            </p:sp>
          </mc:Choice>
          <mc:Fallback xmlns="">
            <p:sp>
              <p:nvSpPr>
                <p:cNvPr id="18" name="文本框 17"/>
                <p:cNvSpPr txBox="1">
                  <a:spLocks noRot="1" noChangeAspect="1" noMove="1" noResize="1" noEditPoints="1" noAdjustHandles="1" noChangeArrowheads="1" noChangeShapeType="1" noTextEdit="1"/>
                </p:cNvSpPr>
                <p:nvPr/>
              </p:nvSpPr>
              <p:spPr>
                <a:xfrm>
                  <a:off x="5040033" y="3076508"/>
                  <a:ext cx="453714" cy="338554"/>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5040033" y="5224472"/>
                  <a:ext cx="38683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𝑂</m:t>
                        </m:r>
                      </m:oMath>
                    </m:oMathPara>
                  </a14:m>
                  <a:endParaRPr lang="zh-CN" altLang="en-US" sz="1600" dirty="0"/>
                </a:p>
              </p:txBody>
            </p:sp>
          </mc:Choice>
          <mc:Fallback xmlns="">
            <p:sp>
              <p:nvSpPr>
                <p:cNvPr id="19" name="文本框 18"/>
                <p:cNvSpPr txBox="1">
                  <a:spLocks noRot="1" noChangeAspect="1" noMove="1" noResize="1" noEditPoints="1" noAdjustHandles="1" noChangeArrowheads="1" noChangeShapeType="1" noTextEdit="1"/>
                </p:cNvSpPr>
                <p:nvPr/>
              </p:nvSpPr>
              <p:spPr>
                <a:xfrm>
                  <a:off x="5040033" y="5224472"/>
                  <a:ext cx="386836" cy="338554"/>
                </a:xfrm>
                <a:prstGeom prst="rect">
                  <a:avLst/>
                </a:prstGeom>
                <a:blipFill rotWithShape="0">
                  <a:blip r:embed="rId7"/>
                  <a:stretch>
                    <a:fillRect/>
                  </a:stretch>
                </a:blipFill>
              </p:spPr>
              <p:txBody>
                <a:bodyPr/>
                <a:lstStyle/>
                <a:p>
                  <a:r>
                    <a:rPr lang="zh-CN" altLang="en-US">
                      <a:noFill/>
                    </a:rPr>
                    <a:t> </a:t>
                  </a:r>
                </a:p>
              </p:txBody>
            </p:sp>
          </mc:Fallback>
        </mc:AlternateContent>
      </p:grpSp>
      <p:cxnSp>
        <p:nvCxnSpPr>
          <p:cNvPr id="22" name="直接连接符 21"/>
          <p:cNvCxnSpPr/>
          <p:nvPr/>
        </p:nvCxnSpPr>
        <p:spPr>
          <a:xfrm flipH="1" flipV="1">
            <a:off x="5382243" y="3668891"/>
            <a:ext cx="2044583" cy="4290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885924" y="3497015"/>
            <a:ext cx="453970" cy="307777"/>
          </a:xfrm>
          <a:prstGeom prst="rect">
            <a:avLst/>
          </a:prstGeom>
          <a:noFill/>
        </p:spPr>
        <p:txBody>
          <a:bodyPr wrap="none" rtlCol="0">
            <a:spAutoFit/>
          </a:bodyPr>
          <a:lstStyle/>
          <a:p>
            <a:r>
              <a:rPr lang="en-US" altLang="zh-CN" sz="1400" dirty="0" smtClean="0">
                <a:latin typeface="宋体" panose="02010600030101010101" pitchFamily="2" charset="-122"/>
              </a:rPr>
              <a:t>400</a:t>
            </a:r>
            <a:endParaRPr lang="zh-CN" altLang="en-US" sz="1400" dirty="0">
              <a:latin typeface="宋体" panose="02010600030101010101" pitchFamily="2" charset="-122"/>
            </a:endParaRPr>
          </a:p>
        </p:txBody>
      </p:sp>
      <p:grpSp>
        <p:nvGrpSpPr>
          <p:cNvPr id="67" name="组合 66"/>
          <p:cNvGrpSpPr/>
          <p:nvPr/>
        </p:nvGrpSpPr>
        <p:grpSpPr>
          <a:xfrm>
            <a:off x="395536" y="3757039"/>
            <a:ext cx="2664296" cy="510781"/>
            <a:chOff x="323528" y="3757039"/>
            <a:chExt cx="2664296" cy="510781"/>
          </a:xfrm>
        </p:grpSpPr>
        <p:sp>
          <p:nvSpPr>
            <p:cNvPr id="40" name="右箭头 39"/>
            <p:cNvSpPr/>
            <p:nvPr/>
          </p:nvSpPr>
          <p:spPr>
            <a:xfrm>
              <a:off x="323528" y="3876180"/>
              <a:ext cx="792088"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1" name="文本框 40"/>
                <p:cNvSpPr txBox="1"/>
                <p:nvPr/>
              </p:nvSpPr>
              <p:spPr>
                <a:xfrm>
                  <a:off x="1245359" y="3757039"/>
                  <a:ext cx="1742465" cy="510781"/>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2</m:t>
                            </m:r>
                          </m:den>
                        </m:f>
                        <m:r>
                          <a:rPr lang="en-US" altLang="zh-CN" sz="1600" b="0" i="1" smtClean="0">
                            <a:latin typeface="Cambria Math" panose="02040503050406030204" pitchFamily="18" charset="0"/>
                          </a:rPr>
                          <m:t>=333.35</m:t>
                        </m:r>
                        <m:r>
                          <a:rPr lang="en-US" altLang="zh-CN" sz="1600" b="0" i="1" smtClean="0">
                            <a:latin typeface="Cambria Math" panose="02040503050406030204" pitchFamily="18" charset="0"/>
                            <a:ea typeface="Cambria Math" panose="02040503050406030204" pitchFamily="18" charset="0"/>
                          </a:rPr>
                          <m:t>𝑀𝑃𝑎</m:t>
                        </m:r>
                      </m:oMath>
                    </m:oMathPara>
                  </a14:m>
                  <a:endParaRPr lang="zh-CN" altLang="en-US" sz="1600" dirty="0"/>
                </a:p>
              </p:txBody>
            </p:sp>
          </mc:Choice>
          <mc:Fallback xmlns="">
            <p:sp>
              <p:nvSpPr>
                <p:cNvPr id="41" name="文本框 40"/>
                <p:cNvSpPr txBox="1">
                  <a:spLocks noRot="1" noChangeAspect="1" noMove="1" noResize="1" noEditPoints="1" noAdjustHandles="1" noChangeArrowheads="1" noChangeShapeType="1" noTextEdit="1"/>
                </p:cNvSpPr>
                <p:nvPr/>
              </p:nvSpPr>
              <p:spPr>
                <a:xfrm>
                  <a:off x="1245359" y="3757039"/>
                  <a:ext cx="1742465" cy="510781"/>
                </a:xfrm>
                <a:prstGeom prst="rect">
                  <a:avLst/>
                </a:prstGeom>
                <a:blipFill rotWithShape="0">
                  <a:blip r:embed="rId8"/>
                  <a:stretch>
                    <a:fillRect b="-3571"/>
                  </a:stretch>
                </a:blipFill>
              </p:spPr>
              <p:txBody>
                <a:bodyPr/>
                <a:lstStyle/>
                <a:p>
                  <a:r>
                    <a:rPr lang="zh-CN" altLang="en-US">
                      <a:noFill/>
                    </a:rPr>
                    <a:t> </a:t>
                  </a:r>
                </a:p>
              </p:txBody>
            </p:sp>
          </mc:Fallback>
        </mc:AlternateContent>
      </p:grpSp>
      <p:grpSp>
        <p:nvGrpSpPr>
          <p:cNvPr id="70" name="组合 69"/>
          <p:cNvGrpSpPr/>
          <p:nvPr/>
        </p:nvGrpSpPr>
        <p:grpSpPr>
          <a:xfrm>
            <a:off x="6255732" y="3918692"/>
            <a:ext cx="723275" cy="1497335"/>
            <a:chOff x="6203218" y="4065692"/>
            <a:chExt cx="723275" cy="1497335"/>
          </a:xfrm>
        </p:grpSpPr>
        <p:cxnSp>
          <p:nvCxnSpPr>
            <p:cNvPr id="32" name="直接连接符 31"/>
            <p:cNvCxnSpPr/>
            <p:nvPr/>
          </p:nvCxnSpPr>
          <p:spPr>
            <a:xfrm flipV="1">
              <a:off x="6551891" y="4065692"/>
              <a:ext cx="8621" cy="12163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6203218" y="5255250"/>
              <a:ext cx="723275" cy="307777"/>
            </a:xfrm>
            <a:prstGeom prst="rect">
              <a:avLst/>
            </a:prstGeom>
            <a:noFill/>
          </p:spPr>
          <p:txBody>
            <a:bodyPr wrap="none" rtlCol="0">
              <a:spAutoFit/>
            </a:bodyPr>
            <a:lstStyle/>
            <a:p>
              <a:r>
                <a:rPr lang="en-US" altLang="zh-CN" sz="1400" dirty="0" smtClean="0">
                  <a:latin typeface="宋体" panose="02010600030101010101" pitchFamily="2" charset="-122"/>
                </a:rPr>
                <a:t>333.35</a:t>
              </a:r>
              <a:endParaRPr lang="zh-CN" altLang="en-US" sz="1400" dirty="0">
                <a:latin typeface="宋体" panose="02010600030101010101" pitchFamily="2" charset="-122"/>
              </a:endParaRPr>
            </a:p>
          </p:txBody>
        </p:sp>
      </p:grpSp>
      <p:grpSp>
        <p:nvGrpSpPr>
          <p:cNvPr id="71" name="组合 70"/>
          <p:cNvGrpSpPr/>
          <p:nvPr/>
        </p:nvGrpSpPr>
        <p:grpSpPr>
          <a:xfrm>
            <a:off x="4634225" y="3765057"/>
            <a:ext cx="1970179" cy="307777"/>
            <a:chOff x="4581711" y="3912057"/>
            <a:chExt cx="1970179" cy="307777"/>
          </a:xfrm>
        </p:grpSpPr>
        <p:cxnSp>
          <p:nvCxnSpPr>
            <p:cNvPr id="37" name="直接连接符 36"/>
            <p:cNvCxnSpPr/>
            <p:nvPr/>
          </p:nvCxnSpPr>
          <p:spPr>
            <a:xfrm>
              <a:off x="5329728" y="4065691"/>
              <a:ext cx="12221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581711" y="3912057"/>
              <a:ext cx="723275" cy="307777"/>
            </a:xfrm>
            <a:prstGeom prst="rect">
              <a:avLst/>
            </a:prstGeom>
            <a:noFill/>
          </p:spPr>
          <p:txBody>
            <a:bodyPr wrap="none" rtlCol="0">
              <a:spAutoFit/>
            </a:bodyPr>
            <a:lstStyle/>
            <a:p>
              <a:r>
                <a:rPr lang="en-US" altLang="zh-CN" sz="1400" dirty="0" smtClean="0">
                  <a:latin typeface="宋体" panose="02010600030101010101" pitchFamily="2" charset="-122"/>
                </a:rPr>
                <a:t>333.35</a:t>
              </a:r>
              <a:endParaRPr lang="zh-CN" altLang="en-US" sz="1400" dirty="0">
                <a:latin typeface="宋体" panose="02010600030101010101" pitchFamily="2" charset="-122"/>
              </a:endParaRPr>
            </a:p>
          </p:txBody>
        </p:sp>
      </p:grpSp>
      <p:grpSp>
        <p:nvGrpSpPr>
          <p:cNvPr id="68" name="组合 67"/>
          <p:cNvGrpSpPr/>
          <p:nvPr/>
        </p:nvGrpSpPr>
        <p:grpSpPr>
          <a:xfrm>
            <a:off x="5316839" y="3350864"/>
            <a:ext cx="425116" cy="368811"/>
            <a:chOff x="5264325" y="3497864"/>
            <a:chExt cx="425116" cy="368811"/>
          </a:xfrm>
        </p:grpSpPr>
        <p:sp>
          <p:nvSpPr>
            <p:cNvPr id="52" name="椭圆 91"/>
            <p:cNvSpPr/>
            <p:nvPr/>
          </p:nvSpPr>
          <p:spPr>
            <a:xfrm>
              <a:off x="5290888" y="3776675"/>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57" name="文本框 56"/>
                <p:cNvSpPr txBox="1"/>
                <p:nvPr/>
              </p:nvSpPr>
              <p:spPr>
                <a:xfrm>
                  <a:off x="5264325" y="3497864"/>
                  <a:ext cx="4251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57" name="文本框 56"/>
                <p:cNvSpPr txBox="1">
                  <a:spLocks noRot="1" noChangeAspect="1" noMove="1" noResize="1" noEditPoints="1" noAdjustHandles="1" noChangeArrowheads="1" noChangeShapeType="1" noTextEdit="1"/>
                </p:cNvSpPr>
                <p:nvPr/>
              </p:nvSpPr>
              <p:spPr>
                <a:xfrm>
                  <a:off x="5264325" y="3497864"/>
                  <a:ext cx="425116" cy="338554"/>
                </a:xfrm>
                <a:prstGeom prst="rect">
                  <a:avLst/>
                </a:prstGeom>
                <a:blipFill rotWithShape="0">
                  <a:blip r:embed="rId9"/>
                  <a:stretch>
                    <a:fillRect/>
                  </a:stretch>
                </a:blipFill>
              </p:spPr>
              <p:txBody>
                <a:bodyPr/>
                <a:lstStyle/>
                <a:p>
                  <a:r>
                    <a:rPr lang="zh-CN" altLang="en-US">
                      <a:noFill/>
                    </a:rPr>
                    <a:t> </a:t>
                  </a:r>
                </a:p>
              </p:txBody>
            </p:sp>
          </mc:Fallback>
        </mc:AlternateContent>
      </p:grpSp>
      <p:grpSp>
        <p:nvGrpSpPr>
          <p:cNvPr id="72" name="组合 71"/>
          <p:cNvGrpSpPr/>
          <p:nvPr/>
        </p:nvGrpSpPr>
        <p:grpSpPr>
          <a:xfrm>
            <a:off x="6512331" y="3613879"/>
            <a:ext cx="437940" cy="363129"/>
            <a:chOff x="6459817" y="3760879"/>
            <a:chExt cx="437940" cy="363129"/>
          </a:xfrm>
        </p:grpSpPr>
        <p:sp>
          <p:nvSpPr>
            <p:cNvPr id="53" name="椭圆 91"/>
            <p:cNvSpPr/>
            <p:nvPr/>
          </p:nvSpPr>
          <p:spPr>
            <a:xfrm>
              <a:off x="6514257" y="4034008"/>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60" name="文本框 59"/>
                <p:cNvSpPr txBox="1"/>
                <p:nvPr/>
              </p:nvSpPr>
              <p:spPr>
                <a:xfrm>
                  <a:off x="6459817" y="3760879"/>
                  <a:ext cx="43794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𝐷</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60" name="文本框 59"/>
                <p:cNvSpPr txBox="1">
                  <a:spLocks noRot="1" noChangeAspect="1" noMove="1" noResize="1" noEditPoints="1" noAdjustHandles="1" noChangeArrowheads="1" noChangeShapeType="1" noTextEdit="1"/>
                </p:cNvSpPr>
                <p:nvPr/>
              </p:nvSpPr>
              <p:spPr>
                <a:xfrm>
                  <a:off x="6459817" y="3760879"/>
                  <a:ext cx="437940" cy="338554"/>
                </a:xfrm>
                <a:prstGeom prst="rect">
                  <a:avLst/>
                </a:prstGeom>
                <a:blipFill rotWithShape="0">
                  <a:blip r:embed="rId10"/>
                  <a:stretch>
                    <a:fillRect/>
                  </a:stretch>
                </a:blipFill>
              </p:spPr>
              <p:txBody>
                <a:bodyPr/>
                <a:lstStyle/>
                <a:p>
                  <a:r>
                    <a:rPr lang="zh-CN" altLang="en-US">
                      <a:noFill/>
                    </a:rPr>
                    <a:t> </a:t>
                  </a:r>
                </a:p>
              </p:txBody>
            </p:sp>
          </mc:Fallback>
        </mc:AlternateContent>
      </p:grpSp>
      <p:grpSp>
        <p:nvGrpSpPr>
          <p:cNvPr id="73" name="组合 72"/>
          <p:cNvGrpSpPr/>
          <p:nvPr/>
        </p:nvGrpSpPr>
        <p:grpSpPr>
          <a:xfrm>
            <a:off x="8212904" y="4791920"/>
            <a:ext cx="370614" cy="383004"/>
            <a:chOff x="8160390" y="4938920"/>
            <a:chExt cx="370614" cy="383004"/>
          </a:xfrm>
        </p:grpSpPr>
        <p:sp>
          <p:nvSpPr>
            <p:cNvPr id="62" name="椭圆 38"/>
            <p:cNvSpPr/>
            <p:nvPr/>
          </p:nvSpPr>
          <p:spPr>
            <a:xfrm>
              <a:off x="8212422" y="5233024"/>
              <a:ext cx="900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6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63" name="文本框 62"/>
                <p:cNvSpPr txBox="1"/>
                <p:nvPr/>
              </p:nvSpPr>
              <p:spPr>
                <a:xfrm>
                  <a:off x="8160390" y="4938920"/>
                  <a:ext cx="37061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𝑪</m:t>
                        </m:r>
                      </m:oMath>
                    </m:oMathPara>
                  </a14:m>
                  <a:endParaRPr lang="zh-CN" altLang="en-US" sz="1600" b="1" dirty="0"/>
                </a:p>
              </p:txBody>
            </p:sp>
          </mc:Choice>
          <mc:Fallback xmlns="">
            <p:sp>
              <p:nvSpPr>
                <p:cNvPr id="63" name="文本框 62"/>
                <p:cNvSpPr txBox="1">
                  <a:spLocks noRot="1" noChangeAspect="1" noMove="1" noResize="1" noEditPoints="1" noAdjustHandles="1" noChangeArrowheads="1" noChangeShapeType="1" noTextEdit="1"/>
                </p:cNvSpPr>
                <p:nvPr/>
              </p:nvSpPr>
              <p:spPr>
                <a:xfrm>
                  <a:off x="8160390" y="4938920"/>
                  <a:ext cx="370614" cy="338554"/>
                </a:xfrm>
                <a:prstGeom prst="rect">
                  <a:avLst/>
                </a:prstGeom>
                <a:blipFill rotWithShape="0">
                  <a:blip r:embed="rId11"/>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4" name="文本框 63"/>
              <p:cNvSpPr txBox="1"/>
              <p:nvPr/>
            </p:nvSpPr>
            <p:spPr>
              <a:xfrm>
                <a:off x="7311615" y="3798597"/>
                <a:ext cx="4251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𝐺</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64" name="文本框 63"/>
              <p:cNvSpPr txBox="1">
                <a:spLocks noRot="1" noChangeAspect="1" noMove="1" noResize="1" noEditPoints="1" noAdjustHandles="1" noChangeArrowheads="1" noChangeShapeType="1" noTextEdit="1"/>
              </p:cNvSpPr>
              <p:nvPr/>
            </p:nvSpPr>
            <p:spPr>
              <a:xfrm>
                <a:off x="7311615" y="3798597"/>
                <a:ext cx="425116" cy="338554"/>
              </a:xfrm>
              <a:prstGeom prst="rect">
                <a:avLst/>
              </a:prstGeom>
              <a:blipFill rotWithShape="0">
                <a:blip r:embed="rId12"/>
                <a:stretch>
                  <a:fillRect/>
                </a:stretch>
              </a:blipFill>
            </p:spPr>
            <p:txBody>
              <a:bodyPr/>
              <a:lstStyle/>
              <a:p>
                <a:r>
                  <a:rPr lang="zh-CN" altLang="en-US">
                    <a:noFill/>
                  </a:rPr>
                  <a:t> </a:t>
                </a:r>
              </a:p>
            </p:txBody>
          </p:sp>
        </mc:Fallback>
      </mc:AlternateContent>
      <p:sp>
        <p:nvSpPr>
          <p:cNvPr id="65" name="文本框 64"/>
          <p:cNvSpPr txBox="1"/>
          <p:nvPr/>
        </p:nvSpPr>
        <p:spPr>
          <a:xfrm>
            <a:off x="8051542" y="5108250"/>
            <a:ext cx="453970" cy="307777"/>
          </a:xfrm>
          <a:prstGeom prst="rect">
            <a:avLst/>
          </a:prstGeom>
          <a:noFill/>
        </p:spPr>
        <p:txBody>
          <a:bodyPr wrap="none" rtlCol="0">
            <a:spAutoFit/>
          </a:bodyPr>
          <a:lstStyle/>
          <a:p>
            <a:r>
              <a:rPr lang="en-US" altLang="zh-CN" sz="1400" dirty="0" smtClean="0">
                <a:latin typeface="宋体" panose="02010600030101010101" pitchFamily="2" charset="-122"/>
              </a:rPr>
              <a:t>780</a:t>
            </a:r>
            <a:endParaRPr lang="zh-CN" altLang="en-US" sz="1400" dirty="0">
              <a:latin typeface="宋体" panose="02010600030101010101" pitchFamily="2" charset="-122"/>
            </a:endParaRPr>
          </a:p>
        </p:txBody>
      </p:sp>
      <p:grpSp>
        <p:nvGrpSpPr>
          <p:cNvPr id="76" name="组合 75"/>
          <p:cNvGrpSpPr/>
          <p:nvPr/>
        </p:nvGrpSpPr>
        <p:grpSpPr>
          <a:xfrm>
            <a:off x="7426826" y="4097936"/>
            <a:ext cx="944890" cy="1207810"/>
            <a:chOff x="7374312" y="4244936"/>
            <a:chExt cx="944890" cy="1207810"/>
          </a:xfrm>
        </p:grpSpPr>
        <p:cxnSp>
          <p:nvCxnSpPr>
            <p:cNvPr id="21" name="直接连接符 20"/>
            <p:cNvCxnSpPr/>
            <p:nvPr/>
          </p:nvCxnSpPr>
          <p:spPr>
            <a:xfrm flipH="1" flipV="1">
              <a:off x="7374312" y="4244936"/>
              <a:ext cx="901135" cy="10371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弧形 73"/>
            <p:cNvSpPr/>
            <p:nvPr/>
          </p:nvSpPr>
          <p:spPr>
            <a:xfrm>
              <a:off x="7991148" y="5092706"/>
              <a:ext cx="328054" cy="360040"/>
            </a:xfrm>
            <a:prstGeom prst="arc">
              <a:avLst>
                <a:gd name="adj1" fmla="val 10764897"/>
                <a:gd name="adj2" fmla="val 1562396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文本框 74"/>
            <p:cNvSpPr txBox="1"/>
            <p:nvPr/>
          </p:nvSpPr>
          <p:spPr>
            <a:xfrm>
              <a:off x="7665205" y="4975205"/>
              <a:ext cx="453970" cy="307777"/>
            </a:xfrm>
            <a:prstGeom prst="rect">
              <a:avLst/>
            </a:prstGeom>
            <a:noFill/>
          </p:spPr>
          <p:txBody>
            <a:bodyPr wrap="none" rtlCol="0">
              <a:spAutoFit/>
            </a:bodyPr>
            <a:lstStyle/>
            <a:p>
              <a:r>
                <a:rPr lang="en-US" altLang="zh-CN" sz="1400" dirty="0" smtClean="0">
                  <a:latin typeface="宋体" panose="02010600030101010101" pitchFamily="2" charset="-122"/>
                </a:rPr>
                <a:t>45º</a:t>
              </a:r>
              <a:endParaRPr lang="zh-CN" altLang="en-US" sz="1400" dirty="0">
                <a:latin typeface="宋体" panose="02010600030101010101" pitchFamily="2" charset="-122"/>
              </a:endParaRPr>
            </a:p>
          </p:txBody>
        </p:sp>
      </p:grpSp>
      <p:grpSp>
        <p:nvGrpSpPr>
          <p:cNvPr id="91" name="组合 90"/>
          <p:cNvGrpSpPr/>
          <p:nvPr/>
        </p:nvGrpSpPr>
        <p:grpSpPr>
          <a:xfrm>
            <a:off x="5316839" y="3880588"/>
            <a:ext cx="374205" cy="360058"/>
            <a:chOff x="5264325" y="4027588"/>
            <a:chExt cx="374205" cy="360058"/>
          </a:xfrm>
        </p:grpSpPr>
        <p:sp>
          <p:nvSpPr>
            <p:cNvPr id="82" name="椭圆 91"/>
            <p:cNvSpPr/>
            <p:nvPr/>
          </p:nvSpPr>
          <p:spPr>
            <a:xfrm>
              <a:off x="5279997" y="4297646"/>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83" name="文本框 82"/>
                <p:cNvSpPr txBox="1"/>
                <p:nvPr/>
              </p:nvSpPr>
              <p:spPr>
                <a:xfrm>
                  <a:off x="5264325" y="4027588"/>
                  <a:ext cx="37420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𝐴</m:t>
                        </m:r>
                      </m:oMath>
                    </m:oMathPara>
                  </a14:m>
                  <a:endParaRPr lang="zh-CN" altLang="en-US" sz="1600" dirty="0"/>
                </a:p>
              </p:txBody>
            </p:sp>
          </mc:Choice>
          <mc:Fallback xmlns="">
            <p:sp>
              <p:nvSpPr>
                <p:cNvPr id="83" name="文本框 82"/>
                <p:cNvSpPr txBox="1">
                  <a:spLocks noRot="1" noChangeAspect="1" noMove="1" noResize="1" noEditPoints="1" noAdjustHandles="1" noChangeArrowheads="1" noChangeShapeType="1" noTextEdit="1"/>
                </p:cNvSpPr>
                <p:nvPr/>
              </p:nvSpPr>
              <p:spPr>
                <a:xfrm>
                  <a:off x="5264325" y="4027588"/>
                  <a:ext cx="374205" cy="338554"/>
                </a:xfrm>
                <a:prstGeom prst="rect">
                  <a:avLst/>
                </a:prstGeom>
                <a:blipFill rotWithShape="0">
                  <a:blip r:embed="rId13"/>
                  <a:stretch>
                    <a:fillRect/>
                  </a:stretch>
                </a:blipFill>
              </p:spPr>
              <p:txBody>
                <a:bodyPr/>
                <a:lstStyle/>
                <a:p>
                  <a:r>
                    <a:rPr lang="zh-CN" altLang="en-US">
                      <a:noFill/>
                    </a:rPr>
                    <a:t> </a:t>
                  </a:r>
                </a:p>
              </p:txBody>
            </p:sp>
          </mc:Fallback>
        </mc:AlternateContent>
      </p:grpSp>
      <p:grpSp>
        <p:nvGrpSpPr>
          <p:cNvPr id="92" name="组合 91"/>
          <p:cNvGrpSpPr/>
          <p:nvPr/>
        </p:nvGrpSpPr>
        <p:grpSpPr>
          <a:xfrm>
            <a:off x="395536" y="4391686"/>
            <a:ext cx="3168352" cy="553934"/>
            <a:chOff x="323528" y="4391686"/>
            <a:chExt cx="3168352" cy="553934"/>
          </a:xfrm>
        </p:grpSpPr>
        <mc:AlternateContent xmlns:mc="http://schemas.openxmlformats.org/markup-compatibility/2006" xmlns:a14="http://schemas.microsoft.com/office/drawing/2010/main">
          <mc:Choice Requires="a14">
            <p:sp>
              <p:nvSpPr>
                <p:cNvPr id="77" name="文本框 76"/>
                <p:cNvSpPr txBox="1"/>
                <p:nvPr/>
              </p:nvSpPr>
              <p:spPr>
                <a:xfrm>
                  <a:off x="1245239" y="4391686"/>
                  <a:ext cx="2246641" cy="55393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𝑒</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den>
                        </m:f>
                        <m:r>
                          <a:rPr lang="en-US" altLang="zh-CN" sz="1600" b="0" i="1" smtClean="0">
                            <a:latin typeface="Cambria Math" panose="02040503050406030204" pitchFamily="18" charset="0"/>
                            <a:ea typeface="Cambria Math" panose="02040503050406030204" pitchFamily="18" charset="0"/>
                          </a:rPr>
                          <m:t>=250</m:t>
                        </m:r>
                        <m:r>
                          <a:rPr lang="en-US" altLang="zh-CN" sz="1600" b="0" i="1" smtClean="0">
                            <a:latin typeface="Cambria Math" panose="02040503050406030204" pitchFamily="18" charset="0"/>
                            <a:ea typeface="Cambria Math" panose="02040503050406030204" pitchFamily="18" charset="0"/>
                          </a:rPr>
                          <m:t>𝑀𝑃𝑎</m:t>
                        </m:r>
                      </m:oMath>
                    </m:oMathPara>
                  </a14:m>
                  <a:endParaRPr lang="zh-CN" altLang="en-US" sz="1600" dirty="0"/>
                </a:p>
              </p:txBody>
            </p:sp>
          </mc:Choice>
          <mc:Fallback xmlns="">
            <p:sp>
              <p:nvSpPr>
                <p:cNvPr id="77" name="文本框 76"/>
                <p:cNvSpPr txBox="1">
                  <a:spLocks noRot="1" noChangeAspect="1" noMove="1" noResize="1" noEditPoints="1" noAdjustHandles="1" noChangeArrowheads="1" noChangeShapeType="1" noTextEdit="1"/>
                </p:cNvSpPr>
                <p:nvPr/>
              </p:nvSpPr>
              <p:spPr>
                <a:xfrm>
                  <a:off x="1245239" y="4391686"/>
                  <a:ext cx="2246641" cy="553934"/>
                </a:xfrm>
                <a:prstGeom prst="rect">
                  <a:avLst/>
                </a:prstGeom>
                <a:blipFill rotWithShape="0">
                  <a:blip r:embed="rId14"/>
                  <a:stretch>
                    <a:fillRect/>
                  </a:stretch>
                </a:blipFill>
              </p:spPr>
              <p:txBody>
                <a:bodyPr/>
                <a:lstStyle/>
                <a:p>
                  <a:r>
                    <a:rPr lang="zh-CN" altLang="en-US">
                      <a:noFill/>
                    </a:rPr>
                    <a:t> </a:t>
                  </a:r>
                </a:p>
              </p:txBody>
            </p:sp>
          </mc:Fallback>
        </mc:AlternateContent>
        <p:sp>
          <p:nvSpPr>
            <p:cNvPr id="85" name="右箭头 84"/>
            <p:cNvSpPr/>
            <p:nvPr/>
          </p:nvSpPr>
          <p:spPr>
            <a:xfrm>
              <a:off x="323528" y="4563858"/>
              <a:ext cx="792088"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4" name="组合 93"/>
          <p:cNvGrpSpPr/>
          <p:nvPr/>
        </p:nvGrpSpPr>
        <p:grpSpPr>
          <a:xfrm>
            <a:off x="404756" y="5066533"/>
            <a:ext cx="2561297" cy="553934"/>
            <a:chOff x="332748" y="5066533"/>
            <a:chExt cx="2561297" cy="553934"/>
          </a:xfrm>
        </p:grpSpPr>
        <mc:AlternateContent xmlns:mc="http://schemas.openxmlformats.org/markup-compatibility/2006" xmlns:a14="http://schemas.microsoft.com/office/drawing/2010/main">
          <mc:Choice Requires="a14">
            <p:sp>
              <p:nvSpPr>
                <p:cNvPr id="84" name="文本框 83"/>
                <p:cNvSpPr txBox="1"/>
                <p:nvPr/>
              </p:nvSpPr>
              <p:spPr>
                <a:xfrm>
                  <a:off x="1274243" y="5066533"/>
                  <a:ext cx="1619802" cy="55393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zh-CN" altLang="en-US" sz="1600" b="0" i="1" smtClean="0">
                                    <a:latin typeface="Cambria Math" panose="02040503050406030204" pitchFamily="18" charset="0"/>
                                  </a:rPr>
                                  <m:t>𝜎</m:t>
                                </m:r>
                              </m:sub>
                            </m:sSub>
                          </m:den>
                        </m:f>
                        <m:r>
                          <a:rPr lang="en-US" altLang="zh-CN" sz="1600" b="0" i="1" smtClean="0">
                            <a:latin typeface="Cambria Math" panose="02040503050406030204" pitchFamily="18" charset="0"/>
                            <a:ea typeface="Cambria Math" panose="02040503050406030204" pitchFamily="18" charset="0"/>
                          </a:rPr>
                          <m:t>≈208</m:t>
                        </m:r>
                        <m:r>
                          <a:rPr lang="en-US" altLang="zh-CN" sz="1600" b="0" i="1" smtClean="0">
                            <a:latin typeface="Cambria Math" panose="02040503050406030204" pitchFamily="18" charset="0"/>
                            <a:ea typeface="Cambria Math" panose="02040503050406030204" pitchFamily="18" charset="0"/>
                          </a:rPr>
                          <m:t>𝑀𝑃𝑎</m:t>
                        </m:r>
                      </m:oMath>
                    </m:oMathPara>
                  </a14:m>
                  <a:endParaRPr lang="zh-CN" altLang="en-US" sz="1600" dirty="0"/>
                </a:p>
              </p:txBody>
            </p:sp>
          </mc:Choice>
          <mc:Fallback xmlns="">
            <p:sp>
              <p:nvSpPr>
                <p:cNvPr id="84" name="文本框 83"/>
                <p:cNvSpPr txBox="1">
                  <a:spLocks noRot="1" noChangeAspect="1" noMove="1" noResize="1" noEditPoints="1" noAdjustHandles="1" noChangeArrowheads="1" noChangeShapeType="1" noTextEdit="1"/>
                </p:cNvSpPr>
                <p:nvPr/>
              </p:nvSpPr>
              <p:spPr>
                <a:xfrm>
                  <a:off x="1274243" y="5066533"/>
                  <a:ext cx="1619802" cy="553934"/>
                </a:xfrm>
                <a:prstGeom prst="rect">
                  <a:avLst/>
                </a:prstGeom>
                <a:blipFill rotWithShape="0">
                  <a:blip r:embed="rId15"/>
                  <a:stretch>
                    <a:fillRect/>
                  </a:stretch>
                </a:blipFill>
              </p:spPr>
              <p:txBody>
                <a:bodyPr/>
                <a:lstStyle/>
                <a:p>
                  <a:r>
                    <a:rPr lang="zh-CN" altLang="en-US">
                      <a:noFill/>
                    </a:rPr>
                    <a:t> </a:t>
                  </a:r>
                </a:p>
              </p:txBody>
            </p:sp>
          </mc:Fallback>
        </mc:AlternateContent>
        <p:sp>
          <p:nvSpPr>
            <p:cNvPr id="86" name="右箭头 85"/>
            <p:cNvSpPr/>
            <p:nvPr/>
          </p:nvSpPr>
          <p:spPr>
            <a:xfrm>
              <a:off x="332748" y="5233024"/>
              <a:ext cx="782868"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5" name="组合 94"/>
          <p:cNvGrpSpPr/>
          <p:nvPr/>
        </p:nvGrpSpPr>
        <p:grpSpPr>
          <a:xfrm>
            <a:off x="6561178" y="4021476"/>
            <a:ext cx="391069" cy="359097"/>
            <a:chOff x="6508664" y="4168476"/>
            <a:chExt cx="391069" cy="359097"/>
          </a:xfrm>
        </p:grpSpPr>
        <p:sp>
          <p:nvSpPr>
            <p:cNvPr id="89" name="椭圆 91"/>
            <p:cNvSpPr/>
            <p:nvPr/>
          </p:nvSpPr>
          <p:spPr>
            <a:xfrm>
              <a:off x="6519995" y="4437573"/>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90" name="文本框 89"/>
                <p:cNvSpPr txBox="1"/>
                <p:nvPr/>
              </p:nvSpPr>
              <p:spPr>
                <a:xfrm>
                  <a:off x="6508664" y="4168476"/>
                  <a:ext cx="39106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𝐷</m:t>
                        </m:r>
                      </m:oMath>
                    </m:oMathPara>
                  </a14:m>
                  <a:endParaRPr lang="zh-CN" altLang="en-US" sz="1600" dirty="0"/>
                </a:p>
              </p:txBody>
            </p:sp>
          </mc:Choice>
          <mc:Fallback xmlns="">
            <p:sp>
              <p:nvSpPr>
                <p:cNvPr id="90" name="文本框 89"/>
                <p:cNvSpPr txBox="1">
                  <a:spLocks noRot="1" noChangeAspect="1" noMove="1" noResize="1" noEditPoints="1" noAdjustHandles="1" noChangeArrowheads="1" noChangeShapeType="1" noTextEdit="1"/>
                </p:cNvSpPr>
                <p:nvPr/>
              </p:nvSpPr>
              <p:spPr>
                <a:xfrm>
                  <a:off x="6508664" y="4168476"/>
                  <a:ext cx="391069" cy="338554"/>
                </a:xfrm>
                <a:prstGeom prst="rect">
                  <a:avLst/>
                </a:prstGeom>
                <a:blipFill rotWithShape="0">
                  <a:blip r:embed="rId16"/>
                  <a:stretch>
                    <a:fillRect/>
                  </a:stretch>
                </a:blipFill>
              </p:spPr>
              <p:txBody>
                <a:bodyPr/>
                <a:lstStyle/>
                <a:p>
                  <a:r>
                    <a:rPr lang="zh-CN" altLang="en-US">
                      <a:noFill/>
                    </a:rPr>
                    <a:t> </a:t>
                  </a:r>
                </a:p>
              </p:txBody>
            </p:sp>
          </mc:Fallback>
        </mc:AlternateContent>
      </p:grpSp>
      <p:sp>
        <p:nvSpPr>
          <p:cNvPr id="93" name="文本框 92"/>
          <p:cNvSpPr txBox="1"/>
          <p:nvPr/>
        </p:nvSpPr>
        <p:spPr>
          <a:xfrm>
            <a:off x="4895131" y="4019052"/>
            <a:ext cx="453970" cy="307777"/>
          </a:xfrm>
          <a:prstGeom prst="rect">
            <a:avLst/>
          </a:prstGeom>
          <a:noFill/>
        </p:spPr>
        <p:txBody>
          <a:bodyPr wrap="none" rtlCol="0">
            <a:spAutoFit/>
          </a:bodyPr>
          <a:lstStyle/>
          <a:p>
            <a:r>
              <a:rPr lang="en-US" altLang="zh-CN" sz="1400" dirty="0" smtClean="0">
                <a:latin typeface="宋体" panose="02010600030101010101" pitchFamily="2" charset="-122"/>
              </a:rPr>
              <a:t>250</a:t>
            </a:r>
            <a:endParaRPr lang="zh-CN" altLang="en-US" sz="1400" dirty="0">
              <a:latin typeface="宋体" panose="02010600030101010101" pitchFamily="2" charset="-122"/>
            </a:endParaRPr>
          </a:p>
        </p:txBody>
      </p:sp>
      <p:grpSp>
        <p:nvGrpSpPr>
          <p:cNvPr id="104" name="组合 103"/>
          <p:cNvGrpSpPr/>
          <p:nvPr/>
        </p:nvGrpSpPr>
        <p:grpSpPr>
          <a:xfrm>
            <a:off x="4889854" y="4180784"/>
            <a:ext cx="1702821" cy="307777"/>
            <a:chOff x="4837340" y="4327784"/>
            <a:chExt cx="1702821" cy="307777"/>
          </a:xfrm>
        </p:grpSpPr>
        <p:cxnSp>
          <p:nvCxnSpPr>
            <p:cNvPr id="102" name="直接连接符 101"/>
            <p:cNvCxnSpPr/>
            <p:nvPr/>
          </p:nvCxnSpPr>
          <p:spPr>
            <a:xfrm>
              <a:off x="5317999" y="4478464"/>
              <a:ext cx="122216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3" name="文本框 102"/>
            <p:cNvSpPr txBox="1"/>
            <p:nvPr/>
          </p:nvSpPr>
          <p:spPr>
            <a:xfrm>
              <a:off x="4837340" y="4327784"/>
              <a:ext cx="453970" cy="307777"/>
            </a:xfrm>
            <a:prstGeom prst="rect">
              <a:avLst/>
            </a:prstGeom>
            <a:noFill/>
          </p:spPr>
          <p:txBody>
            <a:bodyPr wrap="none" rtlCol="0">
              <a:spAutoFit/>
            </a:bodyPr>
            <a:lstStyle/>
            <a:p>
              <a:r>
                <a:rPr lang="en-US" altLang="zh-CN" sz="1400" dirty="0" smtClean="0">
                  <a:latin typeface="宋体" panose="02010600030101010101" pitchFamily="2" charset="-122"/>
                </a:rPr>
                <a:t>208</a:t>
              </a:r>
              <a:endParaRPr lang="zh-CN" altLang="en-US" sz="1400" dirty="0">
                <a:latin typeface="宋体" panose="02010600030101010101" pitchFamily="2" charset="-122"/>
              </a:endParaRPr>
            </a:p>
          </p:txBody>
        </p:sp>
      </p:grpSp>
      <p:cxnSp>
        <p:nvCxnSpPr>
          <p:cNvPr id="105" name="直接连接符 104"/>
          <p:cNvCxnSpPr/>
          <p:nvPr/>
        </p:nvCxnSpPr>
        <p:spPr>
          <a:xfrm flipH="1" flipV="1">
            <a:off x="5418387" y="4197404"/>
            <a:ext cx="2318344" cy="253692"/>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文本框 106"/>
              <p:cNvSpPr txBox="1"/>
              <p:nvPr/>
            </p:nvSpPr>
            <p:spPr>
              <a:xfrm>
                <a:off x="7644558" y="4183099"/>
                <a:ext cx="38125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𝐺</m:t>
                      </m:r>
                    </m:oMath>
                  </m:oMathPara>
                </a14:m>
                <a:endParaRPr lang="zh-CN" altLang="en-US" sz="1600" dirty="0"/>
              </a:p>
            </p:txBody>
          </p:sp>
        </mc:Choice>
        <mc:Fallback xmlns="">
          <p:sp>
            <p:nvSpPr>
              <p:cNvPr id="107" name="文本框 106"/>
              <p:cNvSpPr txBox="1">
                <a:spLocks noRot="1" noChangeAspect="1" noMove="1" noResize="1" noEditPoints="1" noAdjustHandles="1" noChangeArrowheads="1" noChangeShapeType="1" noTextEdit="1"/>
              </p:cNvSpPr>
              <p:nvPr/>
            </p:nvSpPr>
            <p:spPr>
              <a:xfrm>
                <a:off x="7644558" y="4183099"/>
                <a:ext cx="381258" cy="338554"/>
              </a:xfrm>
              <a:prstGeom prst="rect">
                <a:avLst/>
              </a:prstGeom>
              <a:blipFill rotWithShape="0">
                <a:blip r:embed="rId1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422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left)">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wipe(left)">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500"/>
                                        <p:tgtEl>
                                          <p:spTgt spid="6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fade">
                                      <p:cBhvr>
                                        <p:cTn id="31" dur="500"/>
                                        <p:tgtEl>
                                          <p:spTgt spid="6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left)">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wipe(down)">
                                      <p:cBhvr>
                                        <p:cTn id="41" dur="500"/>
                                        <p:tgtEl>
                                          <p:spTgt spid="7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wipe(left)">
                                      <p:cBhvr>
                                        <p:cTn id="46" dur="500"/>
                                        <p:tgtEl>
                                          <p:spTgt spid="7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fade">
                                      <p:cBhvr>
                                        <p:cTn id="51" dur="750"/>
                                        <p:tgtEl>
                                          <p:spTgt spid="7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73"/>
                                        </p:tgtEl>
                                        <p:attrNameLst>
                                          <p:attrName>style.visibility</p:attrName>
                                        </p:attrNameLst>
                                      </p:cBhvr>
                                      <p:to>
                                        <p:strVal val="visible"/>
                                      </p:to>
                                    </p:set>
                                    <p:animEffect transition="in" filter="fade">
                                      <p:cBhvr>
                                        <p:cTn id="56" dur="750"/>
                                        <p:tgtEl>
                                          <p:spTgt spid="7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left)">
                                      <p:cBhvr>
                                        <p:cTn id="61" dur="500"/>
                                        <p:tgtEl>
                                          <p:spTgt spid="6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76"/>
                                        </p:tgtEl>
                                        <p:attrNameLst>
                                          <p:attrName>style.visibility</p:attrName>
                                        </p:attrNameLst>
                                      </p:cBhvr>
                                      <p:to>
                                        <p:strVal val="visible"/>
                                      </p:to>
                                    </p:set>
                                    <p:animEffect transition="in" filter="wipe(down)">
                                      <p:cBhvr>
                                        <p:cTn id="66" dur="500"/>
                                        <p:tgtEl>
                                          <p:spTgt spid="7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left)">
                                      <p:cBhvr>
                                        <p:cTn id="71" dur="500"/>
                                        <p:tgtEl>
                                          <p:spTgt spid="2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fade">
                                      <p:cBhvr>
                                        <p:cTn id="76" dur="750"/>
                                        <p:tgtEl>
                                          <p:spTgt spid="6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92"/>
                                        </p:tgtEl>
                                        <p:attrNameLst>
                                          <p:attrName>style.visibility</p:attrName>
                                        </p:attrNameLst>
                                      </p:cBhvr>
                                      <p:to>
                                        <p:strVal val="visible"/>
                                      </p:to>
                                    </p:set>
                                    <p:animEffect transition="in" filter="wipe(left)">
                                      <p:cBhvr>
                                        <p:cTn id="81" dur="500"/>
                                        <p:tgtEl>
                                          <p:spTgt spid="9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91"/>
                                        </p:tgtEl>
                                        <p:attrNameLst>
                                          <p:attrName>style.visibility</p:attrName>
                                        </p:attrNameLst>
                                      </p:cBhvr>
                                      <p:to>
                                        <p:strVal val="visible"/>
                                      </p:to>
                                    </p:set>
                                    <p:animEffect transition="in" filter="fade">
                                      <p:cBhvr>
                                        <p:cTn id="86" dur="750"/>
                                        <p:tgtEl>
                                          <p:spTgt spid="9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93"/>
                                        </p:tgtEl>
                                        <p:attrNameLst>
                                          <p:attrName>style.visibility</p:attrName>
                                        </p:attrNameLst>
                                      </p:cBhvr>
                                      <p:to>
                                        <p:strVal val="visible"/>
                                      </p:to>
                                    </p:set>
                                    <p:animEffect transition="in" filter="wipe(left)">
                                      <p:cBhvr>
                                        <p:cTn id="91" dur="500"/>
                                        <p:tgtEl>
                                          <p:spTgt spid="9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94"/>
                                        </p:tgtEl>
                                        <p:attrNameLst>
                                          <p:attrName>style.visibility</p:attrName>
                                        </p:attrNameLst>
                                      </p:cBhvr>
                                      <p:to>
                                        <p:strVal val="visible"/>
                                      </p:to>
                                    </p:set>
                                    <p:animEffect transition="in" filter="wipe(left)">
                                      <p:cBhvr>
                                        <p:cTn id="96" dur="500"/>
                                        <p:tgtEl>
                                          <p:spTgt spid="94"/>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95"/>
                                        </p:tgtEl>
                                        <p:attrNameLst>
                                          <p:attrName>style.visibility</p:attrName>
                                        </p:attrNameLst>
                                      </p:cBhvr>
                                      <p:to>
                                        <p:strVal val="visible"/>
                                      </p:to>
                                    </p:set>
                                    <p:animEffect transition="in" filter="fade">
                                      <p:cBhvr>
                                        <p:cTn id="101" dur="750"/>
                                        <p:tgtEl>
                                          <p:spTgt spid="95"/>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2" fill="hold" nodeType="clickEffect">
                                  <p:stCondLst>
                                    <p:cond delay="0"/>
                                  </p:stCondLst>
                                  <p:childTnLst>
                                    <p:set>
                                      <p:cBhvr>
                                        <p:cTn id="105" dur="1" fill="hold">
                                          <p:stCondLst>
                                            <p:cond delay="0"/>
                                          </p:stCondLst>
                                        </p:cTn>
                                        <p:tgtEl>
                                          <p:spTgt spid="104"/>
                                        </p:tgtEl>
                                        <p:attrNameLst>
                                          <p:attrName>style.visibility</p:attrName>
                                        </p:attrNameLst>
                                      </p:cBhvr>
                                      <p:to>
                                        <p:strVal val="visible"/>
                                      </p:to>
                                    </p:set>
                                    <p:animEffect transition="in" filter="wipe(right)">
                                      <p:cBhvr>
                                        <p:cTn id="106" dur="500"/>
                                        <p:tgtEl>
                                          <p:spTgt spid="10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05"/>
                                        </p:tgtEl>
                                        <p:attrNameLst>
                                          <p:attrName>style.visibility</p:attrName>
                                        </p:attrNameLst>
                                      </p:cBhvr>
                                      <p:to>
                                        <p:strVal val="visible"/>
                                      </p:to>
                                    </p:set>
                                    <p:animEffect transition="in" filter="wipe(left)">
                                      <p:cBhvr>
                                        <p:cTn id="111" dur="500"/>
                                        <p:tgtEl>
                                          <p:spTgt spid="105"/>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07"/>
                                        </p:tgtEl>
                                        <p:attrNameLst>
                                          <p:attrName>style.visibility</p:attrName>
                                        </p:attrNameLst>
                                      </p:cBhvr>
                                      <p:to>
                                        <p:strVal val="visible"/>
                                      </p:to>
                                    </p:set>
                                    <p:animEffect transition="in" filter="fade">
                                      <p:cBhvr>
                                        <p:cTn id="116" dur="75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6" grpId="0"/>
      <p:bldP spid="64" grpId="0"/>
      <p:bldP spid="65" grpId="0"/>
      <p:bldP spid="93" grpId="0"/>
      <p:bldP spid="10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例题讲解与讨论</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5" name="文本框 74"/>
              <p:cNvSpPr txBox="1"/>
              <p:nvPr/>
            </p:nvSpPr>
            <p:spPr>
              <a:xfrm>
                <a:off x="225421" y="553244"/>
                <a:ext cx="5426175" cy="369332"/>
              </a:xfrm>
              <a:prstGeom prst="rect">
                <a:avLst/>
              </a:prstGeom>
              <a:noFill/>
            </p:spPr>
            <p:txBody>
              <a:bodyPr wrap="square" rtlCol="0">
                <a:spAutoFit/>
              </a:bodyPr>
              <a:lstStyle/>
              <a:p>
                <a:r>
                  <a:rPr lang="en-US" altLang="zh-CN" dirty="0" smtClean="0">
                    <a:latin typeface="宋体" panose="02010600030101010101" pitchFamily="2" charset="-122"/>
                  </a:rPr>
                  <a:t>2</a:t>
                </a:r>
                <a:r>
                  <a:rPr lang="zh-CN" altLang="en-US" dirty="0" smtClean="0">
                    <a:latin typeface="宋体" panose="02010600030101010101" pitchFamily="2" charset="-122"/>
                  </a:rPr>
                  <a:t>）</a:t>
                </a:r>
                <a:r>
                  <a:rPr lang="zh-CN" altLang="en-US" dirty="0">
                    <a:solidFill>
                      <a:srgbClr val="000000"/>
                    </a:solidFill>
                    <a:latin typeface="宋体" panose="02010600030101010101" pitchFamily="2" charset="-122"/>
                  </a:rPr>
                  <a:t>若工作应力按</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𝜎</m:t>
                        </m:r>
                      </m:e>
                      <m:sub>
                        <m:r>
                          <a:rPr lang="en-US" altLang="zh-CN" b="0" i="1">
                            <a:solidFill>
                              <a:srgbClr val="000000"/>
                            </a:solidFill>
                            <a:latin typeface="Cambria Math" panose="02040503050406030204" pitchFamily="18" charset="0"/>
                          </a:rPr>
                          <m:t>𝑚</m:t>
                        </m:r>
                      </m:sub>
                    </m:sSub>
                    <m:r>
                      <a:rPr lang="en-US" altLang="zh-CN" b="0" i="1">
                        <a:solidFill>
                          <a:srgbClr val="000000"/>
                        </a:solidFill>
                        <a:latin typeface="Cambria Math" panose="02040503050406030204" pitchFamily="18" charset="0"/>
                      </a:rPr>
                      <m:t>=650</m:t>
                    </m:r>
                    <m:r>
                      <a:rPr lang="en-US" altLang="zh-CN" b="0" i="1">
                        <a:solidFill>
                          <a:srgbClr val="000000"/>
                        </a:solidFill>
                        <a:latin typeface="Cambria Math" panose="02040503050406030204" pitchFamily="18" charset="0"/>
                      </a:rPr>
                      <m:t>𝑀𝑃𝑎</m:t>
                    </m:r>
                    <m:r>
                      <a:rPr lang="en-US" altLang="zh-CN" b="0" i="1">
                        <a:solidFill>
                          <a:srgbClr val="000000"/>
                        </a:solidFill>
                        <a:latin typeface="Cambria Math" panose="02040503050406030204" pitchFamily="18" charset="0"/>
                      </a:rPr>
                      <m:t>=</m:t>
                    </m:r>
                  </m:oMath>
                </a14:m>
                <a:r>
                  <a:rPr lang="zh-CN" altLang="en-US" dirty="0">
                    <a:solidFill>
                      <a:srgbClr val="000000"/>
                    </a:solidFill>
                    <a:latin typeface="宋体" panose="02010600030101010101" pitchFamily="2" charset="-122"/>
                  </a:rPr>
                  <a:t>常数的规律变化</a:t>
                </a:r>
                <a:endParaRPr lang="zh-CN" altLang="en-US" dirty="0">
                  <a:latin typeface="宋体" panose="02010600030101010101" pitchFamily="2" charset="-122"/>
                </a:endParaRPr>
              </a:p>
            </p:txBody>
          </p:sp>
        </mc:Choice>
        <mc:Fallback xmlns="">
          <p:sp>
            <p:nvSpPr>
              <p:cNvPr id="75" name="文本框 74"/>
              <p:cNvSpPr txBox="1">
                <a:spLocks noRot="1" noChangeAspect="1" noMove="1" noResize="1" noEditPoints="1" noAdjustHandles="1" noChangeArrowheads="1" noChangeShapeType="1" noTextEdit="1"/>
              </p:cNvSpPr>
              <p:nvPr/>
            </p:nvSpPr>
            <p:spPr>
              <a:xfrm>
                <a:off x="225421" y="553244"/>
                <a:ext cx="5426175" cy="369332"/>
              </a:xfrm>
              <a:prstGeom prst="rect">
                <a:avLst/>
              </a:prstGeom>
              <a:blipFill rotWithShape="0">
                <a:blip r:embed="rId2"/>
                <a:stretch>
                  <a:fillRect l="-1011" t="-13333" b="-23333"/>
                </a:stretch>
              </a:blipFill>
            </p:spPr>
            <p:txBody>
              <a:bodyPr/>
              <a:lstStyle/>
              <a:p>
                <a:r>
                  <a:rPr lang="zh-CN" altLang="en-US">
                    <a:noFill/>
                  </a:rPr>
                  <a:t> </a:t>
                </a:r>
              </a:p>
            </p:txBody>
          </p:sp>
        </mc:Fallback>
      </mc:AlternateContent>
      <p:sp>
        <p:nvSpPr>
          <p:cNvPr id="77" name="文本框 76"/>
          <p:cNvSpPr txBox="1"/>
          <p:nvPr/>
        </p:nvSpPr>
        <p:spPr>
          <a:xfrm>
            <a:off x="222308" y="982235"/>
            <a:ext cx="6409137" cy="369332"/>
          </a:xfrm>
          <a:prstGeom prst="rect">
            <a:avLst/>
          </a:prstGeom>
          <a:noFill/>
        </p:spPr>
        <p:txBody>
          <a:bodyPr wrap="square" rtlCol="0">
            <a:spAutoFit/>
          </a:bodyPr>
          <a:lstStyle/>
          <a:p>
            <a:r>
              <a:rPr lang="zh-CN" altLang="en-US" dirty="0" smtClean="0">
                <a:solidFill>
                  <a:srgbClr val="000000"/>
                </a:solidFill>
                <a:latin typeface="+mn-ea"/>
              </a:rPr>
              <a:t>对应的极限应力点落在</a:t>
            </a:r>
            <a:r>
              <a:rPr lang="en-US" altLang="zh-CN" dirty="0" smtClean="0">
                <a:solidFill>
                  <a:srgbClr val="000000"/>
                </a:solidFill>
                <a:latin typeface="+mn-ea"/>
              </a:rPr>
              <a:t>CG</a:t>
            </a:r>
            <a:r>
              <a:rPr lang="zh-CN" altLang="en-US" dirty="0" smtClean="0">
                <a:solidFill>
                  <a:srgbClr val="000000"/>
                </a:solidFill>
                <a:latin typeface="+mn-ea"/>
              </a:rPr>
              <a:t>上，所以零件首先发生塑性变形。</a:t>
            </a:r>
            <a:endParaRPr lang="zh-CN" altLang="en-US" b="1"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80" name="文本框 79"/>
              <p:cNvSpPr txBox="1"/>
              <p:nvPr/>
            </p:nvSpPr>
            <p:spPr>
              <a:xfrm>
                <a:off x="225421" y="1409147"/>
                <a:ext cx="4490596" cy="923330"/>
              </a:xfrm>
              <a:prstGeom prst="rect">
                <a:avLst/>
              </a:prstGeom>
              <a:noFill/>
            </p:spPr>
            <p:txBody>
              <a:bodyPr wrap="square" rtlCol="0">
                <a:spAutoFit/>
              </a:bodyPr>
              <a:lstStyle/>
              <a:p>
                <a:pPr algn="just"/>
                <a:r>
                  <a:rPr lang="en-US" altLang="zh-CN" b="1" dirty="0" smtClean="0">
                    <a:latin typeface="宋体" panose="02010600030101010101" pitchFamily="2" charset="-122"/>
                  </a:rPr>
                  <a:t>3</a:t>
                </a:r>
                <a:r>
                  <a:rPr lang="zh-CN" altLang="en-US" b="1" dirty="0" smtClean="0">
                    <a:latin typeface="宋体" panose="02010600030101010101" pitchFamily="2" charset="-122"/>
                  </a:rPr>
                  <a:t>）</a:t>
                </a:r>
                <a14:m>
                  <m:oMath xmlns:m="http://schemas.openxmlformats.org/officeDocument/2006/math">
                    <m:r>
                      <a:rPr lang="en-US" altLang="zh-CN" b="0" i="1" smtClean="0">
                        <a:solidFill>
                          <a:srgbClr val="000000"/>
                        </a:solidFill>
                        <a:latin typeface="Cambria Math" panose="02040503050406030204" pitchFamily="18" charset="0"/>
                      </a:rPr>
                      <m:t>𝑟</m:t>
                    </m:r>
                    <m:r>
                      <a:rPr lang="en-US" altLang="zh-CN" i="1">
                        <a:solidFill>
                          <a:srgbClr val="000000"/>
                        </a:solidFill>
                        <a:latin typeface="Cambria Math" panose="02040503050406030204" pitchFamily="18" charset="0"/>
                      </a:rPr>
                      <m:t>=</m:t>
                    </m:r>
                  </m:oMath>
                </a14:m>
                <a:r>
                  <a:rPr lang="zh-CN" altLang="en-US" dirty="0" smtClean="0">
                    <a:solidFill>
                      <a:srgbClr val="000000"/>
                    </a:solidFill>
                    <a:latin typeface="宋体" panose="02010600030101010101" pitchFamily="2" charset="-122"/>
                  </a:rPr>
                  <a:t>常数时，发生疲劳破坏的工作应力点应在</a:t>
                </a:r>
                <a:r>
                  <a:rPr lang="en-US" altLang="zh-CN" dirty="0" smtClean="0">
                    <a:solidFill>
                      <a:srgbClr val="000000"/>
                    </a:solidFill>
                    <a:latin typeface="宋体" panose="02010600030101010101" pitchFamily="2" charset="-122"/>
                  </a:rPr>
                  <a:t>OGA</a:t>
                </a:r>
                <a:r>
                  <a:rPr lang="zh-CN" altLang="en-US" dirty="0" smtClean="0">
                    <a:solidFill>
                      <a:srgbClr val="000000"/>
                    </a:solidFill>
                    <a:latin typeface="宋体" panose="02010600030101010101" pitchFamily="2" charset="-122"/>
                  </a:rPr>
                  <a:t>范围内，量取</a:t>
                </a:r>
                <a:r>
                  <a:rPr lang="en-US" altLang="zh-CN" dirty="0" smtClean="0">
                    <a:solidFill>
                      <a:srgbClr val="000000"/>
                    </a:solidFill>
                    <a:latin typeface="宋体" panose="02010600030101010101" pitchFamily="2" charset="-122"/>
                  </a:rPr>
                  <a:t>G</a:t>
                </a:r>
                <a:r>
                  <a:rPr lang="zh-CN" altLang="en-US" dirty="0" smtClean="0">
                    <a:solidFill>
                      <a:srgbClr val="000000"/>
                    </a:solidFill>
                    <a:latin typeface="宋体" panose="02010600030101010101" pitchFamily="2" charset="-122"/>
                  </a:rPr>
                  <a:t>点的纵横坐标值，可求得：</a:t>
                </a:r>
                <a:endParaRPr lang="zh-CN" altLang="en-US" b="1" dirty="0">
                  <a:latin typeface="宋体" panose="02010600030101010101" pitchFamily="2" charset="-122"/>
                </a:endParaRPr>
              </a:p>
            </p:txBody>
          </p:sp>
        </mc:Choice>
        <mc:Fallback xmlns="">
          <p:sp>
            <p:nvSpPr>
              <p:cNvPr id="80" name="文本框 79"/>
              <p:cNvSpPr txBox="1">
                <a:spLocks noRot="1" noChangeAspect="1" noMove="1" noResize="1" noEditPoints="1" noAdjustHandles="1" noChangeArrowheads="1" noChangeShapeType="1" noTextEdit="1"/>
              </p:cNvSpPr>
              <p:nvPr/>
            </p:nvSpPr>
            <p:spPr>
              <a:xfrm>
                <a:off x="225421" y="1409147"/>
                <a:ext cx="4490596" cy="923330"/>
              </a:xfrm>
              <a:prstGeom prst="rect">
                <a:avLst/>
              </a:prstGeom>
              <a:blipFill rotWithShape="0">
                <a:blip r:embed="rId3"/>
                <a:stretch>
                  <a:fillRect l="-1221" t="-4605" r="-6106" b="-92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文本框 80"/>
              <p:cNvSpPr txBox="1"/>
              <p:nvPr/>
            </p:nvSpPr>
            <p:spPr>
              <a:xfrm>
                <a:off x="315678" y="2425452"/>
                <a:ext cx="3126305" cy="65954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Sub>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r>
                            <a:rPr lang="en-US" altLang="zh-CN" b="0" i="1" smtClean="0">
                              <a:latin typeface="Cambria Math" panose="02040503050406030204" pitchFamily="18" charset="0"/>
                            </a:rPr>
                            <m:t>𝑟</m:t>
                          </m:r>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𝑟</m:t>
                          </m:r>
                        </m:den>
                      </m:f>
                      <m:r>
                        <a:rPr lang="en-US" altLang="zh-CN" i="1">
                          <a:latin typeface="Cambria Math" panose="02040503050406030204" pitchFamily="18" charset="0"/>
                          <a:ea typeface="Cambria Math" panose="02040503050406030204" pitchFamily="18" charset="0"/>
                        </a:rPr>
                        <m:t>≈</m:t>
                      </m:r>
                      <m:f>
                        <m:fPr>
                          <m:ctrlPr>
                            <a:rPr lang="en-US" altLang="zh-CN"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173.6</m:t>
                          </m:r>
                        </m:num>
                        <m:den>
                          <m:r>
                            <a:rPr lang="en-US" altLang="zh-CN" b="0" i="1" smtClean="0">
                              <a:latin typeface="Cambria Math" panose="02040503050406030204" pitchFamily="18" charset="0"/>
                              <a:ea typeface="Cambria Math" panose="02040503050406030204" pitchFamily="18" charset="0"/>
                            </a:rPr>
                            <m:t>606.4</m:t>
                          </m:r>
                        </m:den>
                      </m:f>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0.286</m:t>
                      </m:r>
                    </m:oMath>
                  </m:oMathPara>
                </a14:m>
                <a:endParaRPr lang="zh-CN" altLang="en-US" dirty="0">
                  <a:latin typeface="宋体" panose="02010600030101010101" pitchFamily="2" charset="-122"/>
                </a:endParaRPr>
              </a:p>
            </p:txBody>
          </p:sp>
        </mc:Choice>
        <mc:Fallback>
          <p:sp>
            <p:nvSpPr>
              <p:cNvPr id="81" name="文本框 80"/>
              <p:cNvSpPr txBox="1">
                <a:spLocks noRot="1" noChangeAspect="1" noMove="1" noResize="1" noEditPoints="1" noAdjustHandles="1" noChangeArrowheads="1" noChangeShapeType="1" noTextEdit="1"/>
              </p:cNvSpPr>
              <p:nvPr/>
            </p:nvSpPr>
            <p:spPr>
              <a:xfrm>
                <a:off x="315678" y="2425452"/>
                <a:ext cx="3126305" cy="659540"/>
              </a:xfrm>
              <a:prstGeom prst="rect">
                <a:avLst/>
              </a:prstGeom>
              <a:blipFill rotWithShape="0">
                <a:blip r:embed="rId4"/>
                <a:stretch>
                  <a:fillRect/>
                </a:stretch>
              </a:blipFill>
            </p:spPr>
            <p:txBody>
              <a:bodyPr/>
              <a:lstStyle/>
              <a:p>
                <a:r>
                  <a:rPr lang="zh-CN" altLang="en-US">
                    <a:noFill/>
                  </a:rPr>
                  <a:t> </a:t>
                </a:r>
              </a:p>
            </p:txBody>
          </p:sp>
        </mc:Fallback>
      </mc:AlternateContent>
      <p:grpSp>
        <p:nvGrpSpPr>
          <p:cNvPr id="147" name="组合 146"/>
          <p:cNvGrpSpPr/>
          <p:nvPr/>
        </p:nvGrpSpPr>
        <p:grpSpPr>
          <a:xfrm>
            <a:off x="3364549" y="2549947"/>
            <a:ext cx="1508161" cy="369332"/>
            <a:chOff x="3364549" y="2549947"/>
            <a:chExt cx="1508161" cy="369332"/>
          </a:xfrm>
        </p:grpSpPr>
        <p:sp>
          <p:nvSpPr>
            <p:cNvPr id="82" name="右箭头 81"/>
            <p:cNvSpPr/>
            <p:nvPr/>
          </p:nvSpPr>
          <p:spPr>
            <a:xfrm>
              <a:off x="3364549" y="2650427"/>
              <a:ext cx="304104"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3" name="文本框 82"/>
                <p:cNvSpPr txBox="1"/>
                <p:nvPr/>
              </p:nvSpPr>
              <p:spPr>
                <a:xfrm>
                  <a:off x="3650644" y="2549947"/>
                  <a:ext cx="12220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𝑟</m:t>
                        </m:r>
                        <m:r>
                          <a:rPr lang="en-US" altLang="zh-CN" b="0" i="1" smtClean="0">
                            <a:latin typeface="Cambria Math" panose="02040503050406030204" pitchFamily="18" charset="0"/>
                            <a:ea typeface="Cambria Math" panose="02040503050406030204" pitchFamily="18" charset="0"/>
                          </a:rPr>
                          <m:t>≈0.556</m:t>
                        </m:r>
                      </m:oMath>
                    </m:oMathPara>
                  </a14:m>
                  <a:endParaRPr lang="zh-CN" altLang="en-US" dirty="0"/>
                </a:p>
              </p:txBody>
            </p:sp>
          </mc:Choice>
          <mc:Fallback xmlns="">
            <p:sp>
              <p:nvSpPr>
                <p:cNvPr id="83" name="文本框 82"/>
                <p:cNvSpPr txBox="1">
                  <a:spLocks noRot="1" noChangeAspect="1" noMove="1" noResize="1" noEditPoints="1" noAdjustHandles="1" noChangeArrowheads="1" noChangeShapeType="1" noTextEdit="1"/>
                </p:cNvSpPr>
                <p:nvPr/>
              </p:nvSpPr>
              <p:spPr>
                <a:xfrm>
                  <a:off x="3650644" y="2549947"/>
                  <a:ext cx="1222066" cy="369332"/>
                </a:xfrm>
                <a:prstGeom prst="rect">
                  <a:avLst/>
                </a:prstGeom>
                <a:blipFill rotWithShape="0">
                  <a:blip r:embed="rId5"/>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4" name="文本框 83"/>
              <p:cNvSpPr txBox="1"/>
              <p:nvPr/>
            </p:nvSpPr>
            <p:spPr>
              <a:xfrm>
                <a:off x="225421" y="3184025"/>
                <a:ext cx="4490596" cy="369332"/>
              </a:xfrm>
              <a:prstGeom prst="rect">
                <a:avLst/>
              </a:prstGeom>
              <a:noFill/>
            </p:spPr>
            <p:txBody>
              <a:bodyPr wrap="square" rtlCol="0">
                <a:spAutoFit/>
              </a:bodyPr>
              <a:lstStyle/>
              <a:p>
                <a:pPr algn="just"/>
                <a:r>
                  <a:rPr lang="en-US" altLang="zh-CN" b="1" dirty="0" smtClean="0">
                    <a:latin typeface="宋体" panose="02010600030101010101" pitchFamily="2" charset="-122"/>
                  </a:rPr>
                  <a:t>∴</a:t>
                </a:r>
                <a:r>
                  <a:rPr lang="zh-CN" altLang="en-US" b="1" dirty="0" smtClean="0">
                    <a:latin typeface="宋体" panose="02010600030101010101" pitchFamily="2" charset="-122"/>
                  </a:rPr>
                  <a:t>当</a:t>
                </a:r>
                <a14:m>
                  <m:oMath xmlns:m="http://schemas.openxmlformats.org/officeDocument/2006/math">
                    <m:r>
                      <a:rPr lang="en-US" altLang="zh-CN" b="0" i="1" smtClean="0">
                        <a:solidFill>
                          <a:srgbClr val="000000"/>
                        </a:solidFill>
                        <a:latin typeface="Cambria Math" panose="02040503050406030204" pitchFamily="18" charset="0"/>
                      </a:rPr>
                      <m:t>𝑟</m:t>
                    </m:r>
                    <m:r>
                      <a:rPr lang="en-US" altLang="zh-CN" b="0" i="1" smtClean="0">
                        <a:solidFill>
                          <a:srgbClr val="000000"/>
                        </a:solidFill>
                        <a:latin typeface="Cambria Math" panose="02040503050406030204" pitchFamily="18" charset="0"/>
                        <a:ea typeface="Cambria Math" panose="02040503050406030204" pitchFamily="18" charset="0"/>
                      </a:rPr>
                      <m:t>&lt;0.556</m:t>
                    </m:r>
                  </m:oMath>
                </a14:m>
                <a:r>
                  <a:rPr lang="zh-CN" altLang="en-US" dirty="0" smtClean="0">
                    <a:solidFill>
                      <a:srgbClr val="000000"/>
                    </a:solidFill>
                    <a:latin typeface="宋体" panose="02010600030101010101" pitchFamily="2" charset="-122"/>
                  </a:rPr>
                  <a:t>时，首先发生疲劳破坏。</a:t>
                </a:r>
                <a:endParaRPr lang="zh-CN" altLang="en-US" b="1" dirty="0">
                  <a:latin typeface="宋体" panose="02010600030101010101" pitchFamily="2" charset="-122"/>
                </a:endParaRPr>
              </a:p>
            </p:txBody>
          </p:sp>
        </mc:Choice>
        <mc:Fallback xmlns="">
          <p:sp>
            <p:nvSpPr>
              <p:cNvPr id="84" name="文本框 83"/>
              <p:cNvSpPr txBox="1">
                <a:spLocks noRot="1" noChangeAspect="1" noMove="1" noResize="1" noEditPoints="1" noAdjustHandles="1" noChangeArrowheads="1" noChangeShapeType="1" noTextEdit="1"/>
              </p:cNvSpPr>
              <p:nvPr/>
            </p:nvSpPr>
            <p:spPr>
              <a:xfrm>
                <a:off x="225421" y="3184025"/>
                <a:ext cx="4490596" cy="369332"/>
              </a:xfrm>
              <a:prstGeom prst="rect">
                <a:avLst/>
              </a:prstGeom>
              <a:blipFill rotWithShape="0">
                <a:blip r:embed="rId6"/>
                <a:stretch>
                  <a:fillRect l="-1221" t="-11475"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p:cNvSpPr txBox="1"/>
              <p:nvPr/>
            </p:nvSpPr>
            <p:spPr>
              <a:xfrm>
                <a:off x="225421" y="3648755"/>
                <a:ext cx="1970315" cy="369332"/>
              </a:xfrm>
              <a:prstGeom prst="rect">
                <a:avLst/>
              </a:prstGeom>
              <a:noFill/>
            </p:spPr>
            <p:txBody>
              <a:bodyPr wrap="square" rtlCol="0">
                <a:spAutoFit/>
              </a:bodyPr>
              <a:lstStyle/>
              <a:p>
                <a:pPr algn="just"/>
                <a:r>
                  <a:rPr lang="en-US" altLang="zh-CN" b="1" dirty="0" smtClean="0">
                    <a:latin typeface="宋体" panose="02010600030101010101" pitchFamily="2" charset="-122"/>
                  </a:rPr>
                  <a:t>4</a:t>
                </a:r>
                <a:r>
                  <a:rPr lang="zh-CN" altLang="en-US" b="1" dirty="0" smtClean="0">
                    <a:latin typeface="宋体" panose="02010600030101010101" pitchFamily="2" charset="-122"/>
                  </a:rPr>
                  <a:t>）</a:t>
                </a:r>
                <a14:m>
                  <m:oMath xmlns:m="http://schemas.openxmlformats.org/officeDocument/2006/math">
                    <m:r>
                      <a:rPr lang="en-US" altLang="zh-CN" b="0" i="1" smtClean="0">
                        <a:solidFill>
                          <a:srgbClr val="000000"/>
                        </a:solidFill>
                        <a:latin typeface="Cambria Math" panose="02040503050406030204" pitchFamily="18" charset="0"/>
                      </a:rPr>
                      <m:t>𝑟</m:t>
                    </m:r>
                    <m:r>
                      <a:rPr lang="en-US" altLang="zh-CN" i="1">
                        <a:solidFill>
                          <a:srgbClr val="000000"/>
                        </a:solidFill>
                        <a:latin typeface="Cambria Math" panose="02040503050406030204" pitchFamily="18" charset="0"/>
                      </a:rPr>
                      <m:t>=</m:t>
                    </m:r>
                  </m:oMath>
                </a14:m>
                <a:r>
                  <a:rPr lang="en-US" altLang="zh-CN" dirty="0" smtClean="0">
                    <a:solidFill>
                      <a:srgbClr val="000000"/>
                    </a:solidFill>
                    <a:latin typeface="宋体" panose="02010600030101010101" pitchFamily="2" charset="-122"/>
                  </a:rPr>
                  <a:t>0.5</a:t>
                </a:r>
                <a:r>
                  <a:rPr lang="zh-CN" altLang="en-US" dirty="0" smtClean="0">
                    <a:solidFill>
                      <a:srgbClr val="000000"/>
                    </a:solidFill>
                    <a:latin typeface="宋体" panose="02010600030101010101" pitchFamily="2" charset="-122"/>
                  </a:rPr>
                  <a:t>时</a:t>
                </a:r>
                <a:endParaRPr lang="zh-CN" altLang="en-US" b="1" dirty="0">
                  <a:latin typeface="宋体" panose="02010600030101010101" pitchFamily="2" charset="-122"/>
                </a:endParaRPr>
              </a:p>
            </p:txBody>
          </p:sp>
        </mc:Choice>
        <mc:Fallback xmlns="">
          <p:sp>
            <p:nvSpPr>
              <p:cNvPr id="85" name="文本框 84"/>
              <p:cNvSpPr txBox="1">
                <a:spLocks noRot="1" noChangeAspect="1" noMove="1" noResize="1" noEditPoints="1" noAdjustHandles="1" noChangeArrowheads="1" noChangeShapeType="1" noTextEdit="1"/>
              </p:cNvSpPr>
              <p:nvPr/>
            </p:nvSpPr>
            <p:spPr>
              <a:xfrm>
                <a:off x="225421" y="3648755"/>
                <a:ext cx="1970315" cy="369332"/>
              </a:xfrm>
              <a:prstGeom prst="rect">
                <a:avLst/>
              </a:prstGeom>
              <a:blipFill rotWithShape="0">
                <a:blip r:embed="rId7"/>
                <a:stretch>
                  <a:fillRect l="-2786"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p:cNvSpPr txBox="1"/>
              <p:nvPr/>
            </p:nvSpPr>
            <p:spPr>
              <a:xfrm>
                <a:off x="222308" y="4150355"/>
                <a:ext cx="1765355" cy="61157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𝑟</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𝑚𝑖𝑛</m:t>
                              </m:r>
                            </m:sub>
                          </m:sSub>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𝑚𝑎𝑥</m:t>
                              </m:r>
                            </m:sub>
                          </m:sSub>
                        </m:den>
                      </m:f>
                      <m:r>
                        <a:rPr lang="en-US" altLang="zh-CN" b="0" i="1" smtClean="0">
                          <a:latin typeface="Cambria Math" panose="02040503050406030204" pitchFamily="18" charset="0"/>
                        </a:rPr>
                        <m:t>=0.5</m:t>
                      </m:r>
                    </m:oMath>
                  </m:oMathPara>
                </a14:m>
                <a:endParaRPr lang="zh-CN" altLang="en-US" dirty="0"/>
              </a:p>
            </p:txBody>
          </p:sp>
        </mc:Choice>
        <mc:Fallback xmlns="">
          <p:sp>
            <p:nvSpPr>
              <p:cNvPr id="86" name="文本框 85"/>
              <p:cNvSpPr txBox="1">
                <a:spLocks noRot="1" noChangeAspect="1" noMove="1" noResize="1" noEditPoints="1" noAdjustHandles="1" noChangeArrowheads="1" noChangeShapeType="1" noTextEdit="1"/>
              </p:cNvSpPr>
              <p:nvPr/>
            </p:nvSpPr>
            <p:spPr>
              <a:xfrm>
                <a:off x="222308" y="4150355"/>
                <a:ext cx="1765355" cy="611578"/>
              </a:xfrm>
              <a:prstGeom prst="rect">
                <a:avLst/>
              </a:prstGeom>
              <a:blipFill rotWithShape="0">
                <a:blip r:embed="rId8"/>
                <a:stretch>
                  <a:fillRect/>
                </a:stretch>
              </a:blipFill>
            </p:spPr>
            <p:txBody>
              <a:bodyPr/>
              <a:lstStyle/>
              <a:p>
                <a:r>
                  <a:rPr lang="zh-CN" altLang="en-US">
                    <a:noFill/>
                  </a:rPr>
                  <a:t> </a:t>
                </a:r>
              </a:p>
            </p:txBody>
          </p:sp>
        </mc:Fallback>
      </mc:AlternateContent>
      <p:grpSp>
        <p:nvGrpSpPr>
          <p:cNvPr id="148" name="组合 147"/>
          <p:cNvGrpSpPr/>
          <p:nvPr/>
        </p:nvGrpSpPr>
        <p:grpSpPr>
          <a:xfrm>
            <a:off x="1987662" y="4271478"/>
            <a:ext cx="2152290" cy="369332"/>
            <a:chOff x="1987662" y="4271478"/>
            <a:chExt cx="2152290" cy="369332"/>
          </a:xfrm>
        </p:grpSpPr>
        <p:sp>
          <p:nvSpPr>
            <p:cNvPr id="87" name="右箭头 86"/>
            <p:cNvSpPr/>
            <p:nvPr/>
          </p:nvSpPr>
          <p:spPr>
            <a:xfrm>
              <a:off x="1987662" y="4351349"/>
              <a:ext cx="496105"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8" name="文本框 87"/>
                <p:cNvSpPr txBox="1"/>
                <p:nvPr/>
              </p:nvSpPr>
              <p:spPr>
                <a:xfrm>
                  <a:off x="2512840" y="4271478"/>
                  <a:ext cx="16271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ea typeface="Cambria Math" panose="02040503050406030204" pitchFamily="18" charset="0"/>
                          </a:rPr>
                          <m:t>≈2</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𝑚𝑖𝑛</m:t>
                            </m:r>
                          </m:sub>
                        </m:sSub>
                      </m:oMath>
                    </m:oMathPara>
                  </a14:m>
                  <a:endParaRPr lang="zh-CN" altLang="en-US" dirty="0"/>
                </a:p>
              </p:txBody>
            </p:sp>
          </mc:Choice>
          <mc:Fallback xmlns="">
            <p:sp>
              <p:nvSpPr>
                <p:cNvPr id="88" name="文本框 87"/>
                <p:cNvSpPr txBox="1">
                  <a:spLocks noRot="1" noChangeAspect="1" noMove="1" noResize="1" noEditPoints="1" noAdjustHandles="1" noChangeArrowheads="1" noChangeShapeType="1" noTextEdit="1"/>
                </p:cNvSpPr>
                <p:nvPr/>
              </p:nvSpPr>
              <p:spPr>
                <a:xfrm>
                  <a:off x="2512840" y="4271478"/>
                  <a:ext cx="1627112" cy="369332"/>
                </a:xfrm>
                <a:prstGeom prst="rect">
                  <a:avLst/>
                </a:prstGeom>
                <a:blipFill rotWithShape="0">
                  <a:blip r:embed="rId9"/>
                  <a:stretch>
                    <a:fillRect b="-3333"/>
                  </a:stretch>
                </a:blipFill>
              </p:spPr>
              <p:txBody>
                <a:bodyPr/>
                <a:lstStyle/>
                <a:p>
                  <a:r>
                    <a:rPr lang="zh-CN" altLang="en-US">
                      <a:noFill/>
                    </a:rPr>
                    <a:t> </a:t>
                  </a:r>
                </a:p>
              </p:txBody>
            </p:sp>
          </mc:Fallback>
        </mc:AlternateContent>
      </p:grpSp>
      <p:grpSp>
        <p:nvGrpSpPr>
          <p:cNvPr id="150" name="组合 149"/>
          <p:cNvGrpSpPr/>
          <p:nvPr/>
        </p:nvGrpSpPr>
        <p:grpSpPr>
          <a:xfrm>
            <a:off x="4278464" y="3788408"/>
            <a:ext cx="3967190" cy="1299330"/>
            <a:chOff x="4278464" y="3788408"/>
            <a:chExt cx="3967190" cy="1299330"/>
          </a:xfrm>
        </p:grpSpPr>
        <p:sp>
          <p:nvSpPr>
            <p:cNvPr id="89" name="右箭头 88"/>
            <p:cNvSpPr/>
            <p:nvPr/>
          </p:nvSpPr>
          <p:spPr>
            <a:xfrm>
              <a:off x="4278464" y="4351349"/>
              <a:ext cx="496105"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9" name="组合 148"/>
            <p:cNvGrpSpPr/>
            <p:nvPr/>
          </p:nvGrpSpPr>
          <p:grpSpPr>
            <a:xfrm>
              <a:off x="4924159" y="3788408"/>
              <a:ext cx="3321495" cy="1299330"/>
              <a:chOff x="4924159" y="3788408"/>
              <a:chExt cx="3321495" cy="1299330"/>
            </a:xfrm>
          </p:grpSpPr>
          <mc:AlternateContent xmlns:mc="http://schemas.openxmlformats.org/markup-compatibility/2006" xmlns:a14="http://schemas.microsoft.com/office/drawing/2010/main">
            <mc:Choice Requires="a14">
              <p:sp>
                <p:nvSpPr>
                  <p:cNvPr id="90" name="文本框 89"/>
                  <p:cNvSpPr txBox="1"/>
                  <p:nvPr/>
                </p:nvSpPr>
                <p:spPr>
                  <a:xfrm>
                    <a:off x="5116784" y="3788408"/>
                    <a:ext cx="3128870" cy="59368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𝑚𝑖𝑛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𝑚𝑎𝑥</m:t>
                                  </m:r>
                                </m:sub>
                              </m:sSub>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=1.5</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𝑚𝑖𝑛</m:t>
                              </m:r>
                            </m:sub>
                          </m:sSub>
                        </m:oMath>
                      </m:oMathPara>
                    </a14:m>
                    <a:endParaRPr lang="zh-CN" altLang="en-US" dirty="0"/>
                  </a:p>
                </p:txBody>
              </p:sp>
            </mc:Choice>
            <mc:Fallback xmlns="">
              <p:sp>
                <p:nvSpPr>
                  <p:cNvPr id="90" name="文本框 89"/>
                  <p:cNvSpPr txBox="1">
                    <a:spLocks noRot="1" noChangeAspect="1" noMove="1" noResize="1" noEditPoints="1" noAdjustHandles="1" noChangeArrowheads="1" noChangeShapeType="1" noTextEdit="1"/>
                  </p:cNvSpPr>
                  <p:nvPr/>
                </p:nvSpPr>
                <p:spPr>
                  <a:xfrm>
                    <a:off x="5116784" y="3788408"/>
                    <a:ext cx="3128870" cy="593689"/>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p:cNvSpPr txBox="1"/>
                  <p:nvPr/>
                </p:nvSpPr>
                <p:spPr>
                  <a:xfrm>
                    <a:off x="5116784" y="4524763"/>
                    <a:ext cx="3078792" cy="562975"/>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𝑚𝑖𝑛</m:t>
                                  </m:r>
                                </m:sub>
                              </m:sSub>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=0.5</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𝑚𝑖𝑛</m:t>
                              </m:r>
                            </m:sub>
                          </m:sSub>
                        </m:oMath>
                      </m:oMathPara>
                    </a14:m>
                    <a:endParaRPr lang="zh-CN" altLang="en-US" dirty="0"/>
                  </a:p>
                </p:txBody>
              </p:sp>
            </mc:Choice>
            <mc:Fallback xmlns="">
              <p:sp>
                <p:nvSpPr>
                  <p:cNvPr id="91" name="文本框 90"/>
                  <p:cNvSpPr txBox="1">
                    <a:spLocks noRot="1" noChangeAspect="1" noMove="1" noResize="1" noEditPoints="1" noAdjustHandles="1" noChangeArrowheads="1" noChangeShapeType="1" noTextEdit="1"/>
                  </p:cNvSpPr>
                  <p:nvPr/>
                </p:nvSpPr>
                <p:spPr>
                  <a:xfrm>
                    <a:off x="5116784" y="4524763"/>
                    <a:ext cx="3078792" cy="562975"/>
                  </a:xfrm>
                  <a:prstGeom prst="rect">
                    <a:avLst/>
                  </a:prstGeom>
                  <a:blipFill rotWithShape="0">
                    <a:blip r:embed="rId11"/>
                    <a:stretch>
                      <a:fillRect/>
                    </a:stretch>
                  </a:blipFill>
                </p:spPr>
                <p:txBody>
                  <a:bodyPr/>
                  <a:lstStyle/>
                  <a:p>
                    <a:r>
                      <a:rPr lang="zh-CN" altLang="en-US">
                        <a:noFill/>
                      </a:rPr>
                      <a:t> </a:t>
                    </a:r>
                  </a:p>
                </p:txBody>
              </p:sp>
            </mc:Fallback>
          </mc:AlternateContent>
          <p:sp>
            <p:nvSpPr>
              <p:cNvPr id="92" name="左大括号 91"/>
              <p:cNvSpPr/>
              <p:nvPr/>
            </p:nvSpPr>
            <p:spPr>
              <a:xfrm>
                <a:off x="4924159" y="3989402"/>
                <a:ext cx="192625" cy="91928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93" name="文本框 92"/>
              <p:cNvSpPr txBox="1"/>
              <p:nvPr/>
            </p:nvSpPr>
            <p:spPr>
              <a:xfrm>
                <a:off x="222308" y="4937355"/>
                <a:ext cx="1556580" cy="676275"/>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up>
                              <m:r>
                                <a:rPr lang="en-US" altLang="zh-CN" b="0" i="1" smtClean="0">
                                  <a:latin typeface="Cambria Math" panose="02040503050406030204" pitchFamily="18" charset="0"/>
                                </a:rPr>
                                <m:t>′</m:t>
                              </m:r>
                            </m:sup>
                          </m:sSubSup>
                        </m:num>
                        <m:den>
                          <m:sSubSup>
                            <m:sSubSupPr>
                              <m:ctrlPr>
                                <a:rPr lang="en-US" altLang="zh-CN" b="0" i="1" smtClean="0">
                                  <a:latin typeface="Cambria Math" panose="02040503050406030204" pitchFamily="18" charset="0"/>
                                </a:rPr>
                              </m:ctrlPr>
                            </m:sSubSup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m:t>
                              </m:r>
                            </m:sup>
                          </m:sSubSup>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m:t>
                              </m:r>
                            </m:sub>
                          </m:sSub>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3</m:t>
                          </m:r>
                        </m:den>
                      </m:f>
                    </m:oMath>
                  </m:oMathPara>
                </a14:m>
                <a:endParaRPr lang="zh-CN" altLang="en-US" dirty="0"/>
              </a:p>
            </p:txBody>
          </p:sp>
        </mc:Choice>
        <mc:Fallback xmlns="">
          <p:sp>
            <p:nvSpPr>
              <p:cNvPr id="93" name="文本框 92"/>
              <p:cNvSpPr txBox="1">
                <a:spLocks noRot="1" noChangeAspect="1" noMove="1" noResize="1" noEditPoints="1" noAdjustHandles="1" noChangeArrowheads="1" noChangeShapeType="1" noTextEdit="1"/>
              </p:cNvSpPr>
              <p:nvPr/>
            </p:nvSpPr>
            <p:spPr>
              <a:xfrm>
                <a:off x="222308" y="4937355"/>
                <a:ext cx="1556580" cy="676275"/>
              </a:xfrm>
              <a:prstGeom prst="rect">
                <a:avLst/>
              </a:prstGeom>
              <a:blipFill rotWithShape="0">
                <a:blip r:embed="rId12"/>
                <a:stretch>
                  <a:fillRect/>
                </a:stretch>
              </a:blipFill>
            </p:spPr>
            <p:txBody>
              <a:bodyPr/>
              <a:lstStyle/>
              <a:p>
                <a:r>
                  <a:rPr lang="zh-CN" altLang="en-US">
                    <a:noFill/>
                  </a:rPr>
                  <a:t> </a:t>
                </a:r>
              </a:p>
            </p:txBody>
          </p:sp>
        </mc:Fallback>
      </mc:AlternateContent>
      <p:grpSp>
        <p:nvGrpSpPr>
          <p:cNvPr id="94" name="组合 93"/>
          <p:cNvGrpSpPr/>
          <p:nvPr/>
        </p:nvGrpSpPr>
        <p:grpSpPr>
          <a:xfrm>
            <a:off x="4663253" y="1232079"/>
            <a:ext cx="4402271" cy="2261503"/>
            <a:chOff x="4581711" y="3301524"/>
            <a:chExt cx="4402271" cy="2261503"/>
          </a:xfrm>
        </p:grpSpPr>
        <p:grpSp>
          <p:nvGrpSpPr>
            <p:cNvPr id="95" name="组合 94"/>
            <p:cNvGrpSpPr/>
            <p:nvPr/>
          </p:nvGrpSpPr>
          <p:grpSpPr>
            <a:xfrm>
              <a:off x="4924640" y="3301524"/>
              <a:ext cx="4059342" cy="2261502"/>
              <a:chOff x="4924640" y="3301524"/>
              <a:chExt cx="4059342" cy="2261502"/>
            </a:xfrm>
          </p:grpSpPr>
          <p:cxnSp>
            <p:nvCxnSpPr>
              <p:cNvPr id="131" name="直接箭头连接符 130"/>
              <p:cNvCxnSpPr/>
              <p:nvPr/>
            </p:nvCxnSpPr>
            <p:spPr>
              <a:xfrm>
                <a:off x="5329729" y="5282052"/>
                <a:ext cx="323375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p:nvPr/>
            </p:nvCxnSpPr>
            <p:spPr>
              <a:xfrm flipV="1">
                <a:off x="5329729" y="3481852"/>
                <a:ext cx="0" cy="1800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 name="文本框 132"/>
                  <p:cNvSpPr txBox="1"/>
                  <p:nvPr/>
                </p:nvSpPr>
                <p:spPr>
                  <a:xfrm>
                    <a:off x="8484871" y="5042000"/>
                    <a:ext cx="49911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𝑚</m:t>
                              </m:r>
                            </m:sub>
                          </m:sSub>
                        </m:oMath>
                      </m:oMathPara>
                    </a14:m>
                    <a:endParaRPr lang="zh-CN" altLang="en-US" sz="1600" dirty="0"/>
                  </a:p>
                </p:txBody>
              </p:sp>
            </mc:Choice>
            <mc:Fallback xmlns="">
              <p:sp>
                <p:nvSpPr>
                  <p:cNvPr id="133" name="文本框 132"/>
                  <p:cNvSpPr txBox="1">
                    <a:spLocks noRot="1" noChangeAspect="1" noMove="1" noResize="1" noEditPoints="1" noAdjustHandles="1" noChangeArrowheads="1" noChangeShapeType="1" noTextEdit="1"/>
                  </p:cNvSpPr>
                  <p:nvPr/>
                </p:nvSpPr>
                <p:spPr>
                  <a:xfrm>
                    <a:off x="8484871" y="5042000"/>
                    <a:ext cx="499111" cy="338554"/>
                  </a:xfrm>
                  <a:prstGeom prst="rect">
                    <a:avLst/>
                  </a:prstGeom>
                  <a:blipFill rotWithShape="0">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文本框 133"/>
                  <p:cNvSpPr txBox="1"/>
                  <p:nvPr/>
                </p:nvSpPr>
                <p:spPr>
                  <a:xfrm>
                    <a:off x="4924640" y="3301524"/>
                    <a:ext cx="45371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𝑎</m:t>
                              </m:r>
                            </m:sub>
                          </m:sSub>
                        </m:oMath>
                      </m:oMathPara>
                    </a14:m>
                    <a:endParaRPr lang="zh-CN" altLang="en-US" sz="1600" dirty="0"/>
                  </a:p>
                </p:txBody>
              </p:sp>
            </mc:Choice>
            <mc:Fallback xmlns="">
              <p:sp>
                <p:nvSpPr>
                  <p:cNvPr id="134" name="文本框 133"/>
                  <p:cNvSpPr txBox="1">
                    <a:spLocks noRot="1" noChangeAspect="1" noMove="1" noResize="1" noEditPoints="1" noAdjustHandles="1" noChangeArrowheads="1" noChangeShapeType="1" noTextEdit="1"/>
                  </p:cNvSpPr>
                  <p:nvPr/>
                </p:nvSpPr>
                <p:spPr>
                  <a:xfrm>
                    <a:off x="4924640" y="3301524"/>
                    <a:ext cx="453714" cy="338554"/>
                  </a:xfrm>
                  <a:prstGeom prst="rect">
                    <a:avLst/>
                  </a:prstGeom>
                  <a:blipFill rotWithShape="0">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文本框 134"/>
                  <p:cNvSpPr txBox="1"/>
                  <p:nvPr/>
                </p:nvSpPr>
                <p:spPr>
                  <a:xfrm>
                    <a:off x="5040033" y="5224472"/>
                    <a:ext cx="38683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𝑂</m:t>
                          </m:r>
                        </m:oMath>
                      </m:oMathPara>
                    </a14:m>
                    <a:endParaRPr lang="zh-CN" altLang="en-US" sz="1600" dirty="0"/>
                  </a:p>
                </p:txBody>
              </p:sp>
            </mc:Choice>
            <mc:Fallback xmlns="">
              <p:sp>
                <p:nvSpPr>
                  <p:cNvPr id="135" name="文本框 134"/>
                  <p:cNvSpPr txBox="1">
                    <a:spLocks noRot="1" noChangeAspect="1" noMove="1" noResize="1" noEditPoints="1" noAdjustHandles="1" noChangeArrowheads="1" noChangeShapeType="1" noTextEdit="1"/>
                  </p:cNvSpPr>
                  <p:nvPr/>
                </p:nvSpPr>
                <p:spPr>
                  <a:xfrm>
                    <a:off x="5040033" y="5224472"/>
                    <a:ext cx="386836" cy="338554"/>
                  </a:xfrm>
                  <a:prstGeom prst="rect">
                    <a:avLst/>
                  </a:prstGeom>
                  <a:blipFill rotWithShape="0">
                    <a:blip r:embed="rId15"/>
                    <a:stretch>
                      <a:fillRect/>
                    </a:stretch>
                  </a:blipFill>
                </p:spPr>
                <p:txBody>
                  <a:bodyPr/>
                  <a:lstStyle/>
                  <a:p>
                    <a:r>
                      <a:rPr lang="zh-CN" altLang="en-US">
                        <a:noFill/>
                      </a:rPr>
                      <a:t> </a:t>
                    </a:r>
                  </a:p>
                </p:txBody>
              </p:sp>
            </mc:Fallback>
          </mc:AlternateContent>
        </p:grpSp>
        <p:cxnSp>
          <p:nvCxnSpPr>
            <p:cNvPr id="96" name="直接连接符 95"/>
            <p:cNvCxnSpPr/>
            <p:nvPr/>
          </p:nvCxnSpPr>
          <p:spPr>
            <a:xfrm flipH="1" flipV="1">
              <a:off x="5329729" y="3815891"/>
              <a:ext cx="2044583" cy="4290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4833410" y="3644015"/>
              <a:ext cx="453970" cy="307777"/>
            </a:xfrm>
            <a:prstGeom prst="rect">
              <a:avLst/>
            </a:prstGeom>
            <a:noFill/>
          </p:spPr>
          <p:txBody>
            <a:bodyPr wrap="none" rtlCol="0">
              <a:spAutoFit/>
            </a:bodyPr>
            <a:lstStyle/>
            <a:p>
              <a:r>
                <a:rPr lang="en-US" altLang="zh-CN" sz="1400" dirty="0" smtClean="0">
                  <a:latin typeface="宋体" panose="02010600030101010101" pitchFamily="2" charset="-122"/>
                </a:rPr>
                <a:t>400</a:t>
              </a:r>
              <a:endParaRPr lang="zh-CN" altLang="en-US" sz="1400" dirty="0">
                <a:latin typeface="宋体" panose="02010600030101010101" pitchFamily="2" charset="-122"/>
              </a:endParaRPr>
            </a:p>
          </p:txBody>
        </p:sp>
        <p:grpSp>
          <p:nvGrpSpPr>
            <p:cNvPr id="98" name="组合 97"/>
            <p:cNvGrpSpPr/>
            <p:nvPr/>
          </p:nvGrpSpPr>
          <p:grpSpPr>
            <a:xfrm>
              <a:off x="6074634" y="4065692"/>
              <a:ext cx="723275" cy="1497335"/>
              <a:chOff x="6074634" y="4065692"/>
              <a:chExt cx="723275" cy="1497335"/>
            </a:xfrm>
          </p:grpSpPr>
          <p:cxnSp>
            <p:nvCxnSpPr>
              <p:cNvPr id="129" name="直接连接符 128"/>
              <p:cNvCxnSpPr/>
              <p:nvPr/>
            </p:nvCxnSpPr>
            <p:spPr>
              <a:xfrm flipV="1">
                <a:off x="6551891" y="4065692"/>
                <a:ext cx="8621" cy="12163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文本框 129"/>
              <p:cNvSpPr txBox="1"/>
              <p:nvPr/>
            </p:nvSpPr>
            <p:spPr>
              <a:xfrm>
                <a:off x="6074634" y="5255250"/>
                <a:ext cx="723275" cy="307777"/>
              </a:xfrm>
              <a:prstGeom prst="rect">
                <a:avLst/>
              </a:prstGeom>
              <a:noFill/>
            </p:spPr>
            <p:txBody>
              <a:bodyPr wrap="none" rtlCol="0">
                <a:spAutoFit/>
              </a:bodyPr>
              <a:lstStyle/>
              <a:p>
                <a:r>
                  <a:rPr lang="en-US" altLang="zh-CN" sz="1400" dirty="0" smtClean="0">
                    <a:latin typeface="宋体" panose="02010600030101010101" pitchFamily="2" charset="-122"/>
                  </a:rPr>
                  <a:t>333.35</a:t>
                </a:r>
                <a:endParaRPr lang="zh-CN" altLang="en-US" sz="1400" dirty="0">
                  <a:latin typeface="宋体" panose="02010600030101010101" pitchFamily="2" charset="-122"/>
                </a:endParaRPr>
              </a:p>
            </p:txBody>
          </p:sp>
        </p:grpSp>
        <p:grpSp>
          <p:nvGrpSpPr>
            <p:cNvPr id="99" name="组合 98"/>
            <p:cNvGrpSpPr/>
            <p:nvPr/>
          </p:nvGrpSpPr>
          <p:grpSpPr>
            <a:xfrm>
              <a:off x="4581711" y="3912057"/>
              <a:ext cx="1970179" cy="307777"/>
              <a:chOff x="4581711" y="3912057"/>
              <a:chExt cx="1970179" cy="307777"/>
            </a:xfrm>
          </p:grpSpPr>
          <p:cxnSp>
            <p:nvCxnSpPr>
              <p:cNvPr id="127" name="直接连接符 126"/>
              <p:cNvCxnSpPr/>
              <p:nvPr/>
            </p:nvCxnSpPr>
            <p:spPr>
              <a:xfrm>
                <a:off x="5329728" y="4065691"/>
                <a:ext cx="12221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文本框 127"/>
              <p:cNvSpPr txBox="1"/>
              <p:nvPr/>
            </p:nvSpPr>
            <p:spPr>
              <a:xfrm>
                <a:off x="4581711" y="3912057"/>
                <a:ext cx="723275" cy="307777"/>
              </a:xfrm>
              <a:prstGeom prst="rect">
                <a:avLst/>
              </a:prstGeom>
              <a:noFill/>
            </p:spPr>
            <p:txBody>
              <a:bodyPr wrap="none" rtlCol="0">
                <a:spAutoFit/>
              </a:bodyPr>
              <a:lstStyle/>
              <a:p>
                <a:r>
                  <a:rPr lang="en-US" altLang="zh-CN" sz="1400" dirty="0" smtClean="0">
                    <a:latin typeface="宋体" panose="02010600030101010101" pitchFamily="2" charset="-122"/>
                  </a:rPr>
                  <a:t>333.35</a:t>
                </a:r>
                <a:endParaRPr lang="zh-CN" altLang="en-US" sz="1400" dirty="0">
                  <a:latin typeface="宋体" panose="02010600030101010101" pitchFamily="2" charset="-122"/>
                </a:endParaRPr>
              </a:p>
            </p:txBody>
          </p:sp>
        </p:grpSp>
        <p:grpSp>
          <p:nvGrpSpPr>
            <p:cNvPr id="100" name="组合 99"/>
            <p:cNvGrpSpPr/>
            <p:nvPr/>
          </p:nvGrpSpPr>
          <p:grpSpPr>
            <a:xfrm>
              <a:off x="5264325" y="3497864"/>
              <a:ext cx="425116" cy="368811"/>
              <a:chOff x="5264325" y="3497864"/>
              <a:chExt cx="425116" cy="368811"/>
            </a:xfrm>
          </p:grpSpPr>
          <p:sp>
            <p:nvSpPr>
              <p:cNvPr id="125" name="椭圆 91"/>
              <p:cNvSpPr/>
              <p:nvPr/>
            </p:nvSpPr>
            <p:spPr>
              <a:xfrm>
                <a:off x="5290888" y="3776675"/>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26" name="文本框 125"/>
                  <p:cNvSpPr txBox="1"/>
                  <p:nvPr/>
                </p:nvSpPr>
                <p:spPr>
                  <a:xfrm>
                    <a:off x="5264325" y="3497864"/>
                    <a:ext cx="4251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126" name="文本框 125"/>
                  <p:cNvSpPr txBox="1">
                    <a:spLocks noRot="1" noChangeAspect="1" noMove="1" noResize="1" noEditPoints="1" noAdjustHandles="1" noChangeArrowheads="1" noChangeShapeType="1" noTextEdit="1"/>
                  </p:cNvSpPr>
                  <p:nvPr/>
                </p:nvSpPr>
                <p:spPr>
                  <a:xfrm>
                    <a:off x="5264325" y="3497864"/>
                    <a:ext cx="425116" cy="338554"/>
                  </a:xfrm>
                  <a:prstGeom prst="rect">
                    <a:avLst/>
                  </a:prstGeom>
                  <a:blipFill rotWithShape="0">
                    <a:blip r:embed="rId16"/>
                    <a:stretch>
                      <a:fillRect/>
                    </a:stretch>
                  </a:blipFill>
                </p:spPr>
                <p:txBody>
                  <a:bodyPr/>
                  <a:lstStyle/>
                  <a:p>
                    <a:r>
                      <a:rPr lang="zh-CN" altLang="en-US">
                        <a:noFill/>
                      </a:rPr>
                      <a:t> </a:t>
                    </a:r>
                  </a:p>
                </p:txBody>
              </p:sp>
            </mc:Fallback>
          </mc:AlternateContent>
        </p:grpSp>
        <p:grpSp>
          <p:nvGrpSpPr>
            <p:cNvPr id="101" name="组合 100"/>
            <p:cNvGrpSpPr/>
            <p:nvPr/>
          </p:nvGrpSpPr>
          <p:grpSpPr>
            <a:xfrm>
              <a:off x="6459817" y="3760879"/>
              <a:ext cx="437940" cy="363129"/>
              <a:chOff x="6459817" y="3760879"/>
              <a:chExt cx="437940" cy="363129"/>
            </a:xfrm>
          </p:grpSpPr>
          <p:sp>
            <p:nvSpPr>
              <p:cNvPr id="123" name="椭圆 91"/>
              <p:cNvSpPr/>
              <p:nvPr/>
            </p:nvSpPr>
            <p:spPr>
              <a:xfrm>
                <a:off x="6514257" y="4034008"/>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24" name="文本框 123"/>
                  <p:cNvSpPr txBox="1"/>
                  <p:nvPr/>
                </p:nvSpPr>
                <p:spPr>
                  <a:xfrm>
                    <a:off x="6459817" y="3760879"/>
                    <a:ext cx="43794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𝐷</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124" name="文本框 123"/>
                  <p:cNvSpPr txBox="1">
                    <a:spLocks noRot="1" noChangeAspect="1" noMove="1" noResize="1" noEditPoints="1" noAdjustHandles="1" noChangeArrowheads="1" noChangeShapeType="1" noTextEdit="1"/>
                  </p:cNvSpPr>
                  <p:nvPr/>
                </p:nvSpPr>
                <p:spPr>
                  <a:xfrm>
                    <a:off x="6459817" y="3760879"/>
                    <a:ext cx="437940" cy="338554"/>
                  </a:xfrm>
                  <a:prstGeom prst="rect">
                    <a:avLst/>
                  </a:prstGeom>
                  <a:blipFill rotWithShape="0">
                    <a:blip r:embed="rId17"/>
                    <a:stretch>
                      <a:fillRect/>
                    </a:stretch>
                  </a:blipFill>
                </p:spPr>
                <p:txBody>
                  <a:bodyPr/>
                  <a:lstStyle/>
                  <a:p>
                    <a:r>
                      <a:rPr lang="zh-CN" altLang="en-US">
                        <a:noFill/>
                      </a:rPr>
                      <a:t> </a:t>
                    </a:r>
                  </a:p>
                </p:txBody>
              </p:sp>
            </mc:Fallback>
          </mc:AlternateContent>
        </p:grpSp>
        <p:grpSp>
          <p:nvGrpSpPr>
            <p:cNvPr id="102" name="组合 101"/>
            <p:cNvGrpSpPr/>
            <p:nvPr/>
          </p:nvGrpSpPr>
          <p:grpSpPr>
            <a:xfrm>
              <a:off x="8160390" y="4938920"/>
              <a:ext cx="370614" cy="383004"/>
              <a:chOff x="8160390" y="4938920"/>
              <a:chExt cx="370614" cy="383004"/>
            </a:xfrm>
          </p:grpSpPr>
          <p:sp>
            <p:nvSpPr>
              <p:cNvPr id="121" name="椭圆 38"/>
              <p:cNvSpPr/>
              <p:nvPr/>
            </p:nvSpPr>
            <p:spPr>
              <a:xfrm>
                <a:off x="8212422" y="5233024"/>
                <a:ext cx="90000" cy="889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600" b="0" i="0" u="none" strike="noStrike" kern="0" cap="none" spc="0" normalizeH="0" baseline="0" noProof="0">
                  <a:ln>
                    <a:noFill/>
                  </a:ln>
                  <a:solidFill>
                    <a:srgbClr val="000000"/>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22" name="文本框 121"/>
                  <p:cNvSpPr txBox="1"/>
                  <p:nvPr/>
                </p:nvSpPr>
                <p:spPr>
                  <a:xfrm>
                    <a:off x="8160390" y="4938920"/>
                    <a:ext cx="37061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𝑪</m:t>
                          </m:r>
                        </m:oMath>
                      </m:oMathPara>
                    </a14:m>
                    <a:endParaRPr lang="zh-CN" altLang="en-US" sz="1600" b="1" dirty="0"/>
                  </a:p>
                </p:txBody>
              </p:sp>
            </mc:Choice>
            <mc:Fallback xmlns="">
              <p:sp>
                <p:nvSpPr>
                  <p:cNvPr id="122" name="文本框 121"/>
                  <p:cNvSpPr txBox="1">
                    <a:spLocks noRot="1" noChangeAspect="1" noMove="1" noResize="1" noEditPoints="1" noAdjustHandles="1" noChangeArrowheads="1" noChangeShapeType="1" noTextEdit="1"/>
                  </p:cNvSpPr>
                  <p:nvPr/>
                </p:nvSpPr>
                <p:spPr>
                  <a:xfrm>
                    <a:off x="8160390" y="4938920"/>
                    <a:ext cx="370614" cy="338554"/>
                  </a:xfrm>
                  <a:prstGeom prst="rect">
                    <a:avLst/>
                  </a:prstGeom>
                  <a:blipFill rotWithShape="0">
                    <a:blip r:embed="rId18"/>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3" name="文本框 102"/>
                <p:cNvSpPr txBox="1"/>
                <p:nvPr/>
              </p:nvSpPr>
              <p:spPr>
                <a:xfrm>
                  <a:off x="7259101" y="3945597"/>
                  <a:ext cx="4251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𝐺</m:t>
                        </m:r>
                        <m:r>
                          <a:rPr lang="en-US" altLang="zh-CN" sz="1600" b="0" i="1" smtClean="0">
                            <a:latin typeface="Cambria Math" panose="02040503050406030204" pitchFamily="18" charset="0"/>
                          </a:rPr>
                          <m:t>′</m:t>
                        </m:r>
                      </m:oMath>
                    </m:oMathPara>
                  </a14:m>
                  <a:endParaRPr lang="zh-CN" altLang="en-US" sz="1600" dirty="0"/>
                </a:p>
              </p:txBody>
            </p:sp>
          </mc:Choice>
          <mc:Fallback xmlns="">
            <p:sp>
              <p:nvSpPr>
                <p:cNvPr id="103" name="文本框 102"/>
                <p:cNvSpPr txBox="1">
                  <a:spLocks noRot="1" noChangeAspect="1" noMove="1" noResize="1" noEditPoints="1" noAdjustHandles="1" noChangeArrowheads="1" noChangeShapeType="1" noTextEdit="1"/>
                </p:cNvSpPr>
                <p:nvPr/>
              </p:nvSpPr>
              <p:spPr>
                <a:xfrm>
                  <a:off x="7259101" y="3945597"/>
                  <a:ext cx="425116" cy="338554"/>
                </a:xfrm>
                <a:prstGeom prst="rect">
                  <a:avLst/>
                </a:prstGeom>
                <a:blipFill rotWithShape="0">
                  <a:blip r:embed="rId19"/>
                  <a:stretch>
                    <a:fillRect/>
                  </a:stretch>
                </a:blipFill>
              </p:spPr>
              <p:txBody>
                <a:bodyPr/>
                <a:lstStyle/>
                <a:p>
                  <a:r>
                    <a:rPr lang="zh-CN" altLang="en-US">
                      <a:noFill/>
                    </a:rPr>
                    <a:t> </a:t>
                  </a:r>
                </a:p>
              </p:txBody>
            </p:sp>
          </mc:Fallback>
        </mc:AlternateContent>
        <p:sp>
          <p:nvSpPr>
            <p:cNvPr id="104" name="文本框 103"/>
            <p:cNvSpPr txBox="1"/>
            <p:nvPr/>
          </p:nvSpPr>
          <p:spPr>
            <a:xfrm>
              <a:off x="7999028" y="5255250"/>
              <a:ext cx="453970" cy="307777"/>
            </a:xfrm>
            <a:prstGeom prst="rect">
              <a:avLst/>
            </a:prstGeom>
            <a:noFill/>
          </p:spPr>
          <p:txBody>
            <a:bodyPr wrap="none" rtlCol="0">
              <a:spAutoFit/>
            </a:bodyPr>
            <a:lstStyle/>
            <a:p>
              <a:r>
                <a:rPr lang="en-US" altLang="zh-CN" sz="1400" dirty="0" smtClean="0">
                  <a:latin typeface="宋体" panose="02010600030101010101" pitchFamily="2" charset="-122"/>
                </a:rPr>
                <a:t>780</a:t>
              </a:r>
              <a:endParaRPr lang="zh-CN" altLang="en-US" sz="1400" dirty="0">
                <a:latin typeface="宋体" panose="02010600030101010101" pitchFamily="2" charset="-122"/>
              </a:endParaRPr>
            </a:p>
          </p:txBody>
        </p:sp>
        <p:grpSp>
          <p:nvGrpSpPr>
            <p:cNvPr id="105" name="组合 104"/>
            <p:cNvGrpSpPr/>
            <p:nvPr/>
          </p:nvGrpSpPr>
          <p:grpSpPr>
            <a:xfrm>
              <a:off x="7374312" y="4244936"/>
              <a:ext cx="944890" cy="1207810"/>
              <a:chOff x="7374312" y="4244936"/>
              <a:chExt cx="944890" cy="1207810"/>
            </a:xfrm>
          </p:grpSpPr>
          <p:cxnSp>
            <p:nvCxnSpPr>
              <p:cNvPr id="118" name="直接连接符 117"/>
              <p:cNvCxnSpPr/>
              <p:nvPr/>
            </p:nvCxnSpPr>
            <p:spPr>
              <a:xfrm flipH="1" flipV="1">
                <a:off x="7374312" y="4244936"/>
                <a:ext cx="901135" cy="10371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弧形 118"/>
              <p:cNvSpPr/>
              <p:nvPr/>
            </p:nvSpPr>
            <p:spPr>
              <a:xfrm>
                <a:off x="7991148" y="5092706"/>
                <a:ext cx="328054" cy="360040"/>
              </a:xfrm>
              <a:prstGeom prst="arc">
                <a:avLst>
                  <a:gd name="adj1" fmla="val 10764897"/>
                  <a:gd name="adj2" fmla="val 15623962"/>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0" name="文本框 119"/>
              <p:cNvSpPr txBox="1"/>
              <p:nvPr/>
            </p:nvSpPr>
            <p:spPr>
              <a:xfrm>
                <a:off x="7665205" y="4975205"/>
                <a:ext cx="453970" cy="307777"/>
              </a:xfrm>
              <a:prstGeom prst="rect">
                <a:avLst/>
              </a:prstGeom>
              <a:noFill/>
            </p:spPr>
            <p:txBody>
              <a:bodyPr wrap="none" rtlCol="0">
                <a:spAutoFit/>
              </a:bodyPr>
              <a:lstStyle/>
              <a:p>
                <a:r>
                  <a:rPr lang="en-US" altLang="zh-CN" sz="1400" dirty="0" smtClean="0">
                    <a:latin typeface="宋体" panose="02010600030101010101" pitchFamily="2" charset="-122"/>
                  </a:rPr>
                  <a:t>45º</a:t>
                </a:r>
                <a:endParaRPr lang="zh-CN" altLang="en-US" sz="1400" dirty="0">
                  <a:latin typeface="宋体" panose="02010600030101010101" pitchFamily="2" charset="-122"/>
                </a:endParaRPr>
              </a:p>
            </p:txBody>
          </p:sp>
        </p:grpSp>
        <p:grpSp>
          <p:nvGrpSpPr>
            <p:cNvPr id="106" name="组合 105"/>
            <p:cNvGrpSpPr/>
            <p:nvPr/>
          </p:nvGrpSpPr>
          <p:grpSpPr>
            <a:xfrm>
              <a:off x="5264325" y="4027588"/>
              <a:ext cx="374205" cy="360058"/>
              <a:chOff x="5264325" y="4027588"/>
              <a:chExt cx="374205" cy="360058"/>
            </a:xfrm>
          </p:grpSpPr>
          <p:sp>
            <p:nvSpPr>
              <p:cNvPr id="116" name="椭圆 91"/>
              <p:cNvSpPr/>
              <p:nvPr/>
            </p:nvSpPr>
            <p:spPr>
              <a:xfrm>
                <a:off x="5279997" y="4297646"/>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17" name="文本框 116"/>
                  <p:cNvSpPr txBox="1"/>
                  <p:nvPr/>
                </p:nvSpPr>
                <p:spPr>
                  <a:xfrm>
                    <a:off x="5264325" y="4027588"/>
                    <a:ext cx="37420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𝐴</m:t>
                          </m:r>
                        </m:oMath>
                      </m:oMathPara>
                    </a14:m>
                    <a:endParaRPr lang="zh-CN" altLang="en-US" sz="1600" dirty="0"/>
                  </a:p>
                </p:txBody>
              </p:sp>
            </mc:Choice>
            <mc:Fallback xmlns="">
              <p:sp>
                <p:nvSpPr>
                  <p:cNvPr id="117" name="文本框 116"/>
                  <p:cNvSpPr txBox="1">
                    <a:spLocks noRot="1" noChangeAspect="1" noMove="1" noResize="1" noEditPoints="1" noAdjustHandles="1" noChangeArrowheads="1" noChangeShapeType="1" noTextEdit="1"/>
                  </p:cNvSpPr>
                  <p:nvPr/>
                </p:nvSpPr>
                <p:spPr>
                  <a:xfrm>
                    <a:off x="5264325" y="4027588"/>
                    <a:ext cx="374205" cy="338554"/>
                  </a:xfrm>
                  <a:prstGeom prst="rect">
                    <a:avLst/>
                  </a:prstGeom>
                  <a:blipFill rotWithShape="0">
                    <a:blip r:embed="rId20"/>
                    <a:stretch>
                      <a:fillRect/>
                    </a:stretch>
                  </a:blipFill>
                </p:spPr>
                <p:txBody>
                  <a:bodyPr/>
                  <a:lstStyle/>
                  <a:p>
                    <a:r>
                      <a:rPr lang="zh-CN" altLang="en-US">
                        <a:noFill/>
                      </a:rPr>
                      <a:t> </a:t>
                    </a:r>
                  </a:p>
                </p:txBody>
              </p:sp>
            </mc:Fallback>
          </mc:AlternateContent>
        </p:grpSp>
        <p:grpSp>
          <p:nvGrpSpPr>
            <p:cNvPr id="107" name="组合 106"/>
            <p:cNvGrpSpPr/>
            <p:nvPr/>
          </p:nvGrpSpPr>
          <p:grpSpPr>
            <a:xfrm>
              <a:off x="6508664" y="4168476"/>
              <a:ext cx="391069" cy="359097"/>
              <a:chOff x="6508664" y="4168476"/>
              <a:chExt cx="391069" cy="359097"/>
            </a:xfrm>
          </p:grpSpPr>
          <p:sp>
            <p:nvSpPr>
              <p:cNvPr id="114" name="椭圆 91"/>
              <p:cNvSpPr/>
              <p:nvPr/>
            </p:nvSpPr>
            <p:spPr>
              <a:xfrm>
                <a:off x="6519995" y="4437573"/>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mc:AlternateContent xmlns:mc="http://schemas.openxmlformats.org/markup-compatibility/2006" xmlns:a14="http://schemas.microsoft.com/office/drawing/2010/main">
            <mc:Choice Requires="a14">
              <p:sp>
                <p:nvSpPr>
                  <p:cNvPr id="115" name="文本框 114"/>
                  <p:cNvSpPr txBox="1"/>
                  <p:nvPr/>
                </p:nvSpPr>
                <p:spPr>
                  <a:xfrm>
                    <a:off x="6508664" y="4168476"/>
                    <a:ext cx="39106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𝐷</m:t>
                          </m:r>
                        </m:oMath>
                      </m:oMathPara>
                    </a14:m>
                    <a:endParaRPr lang="zh-CN" altLang="en-US" sz="1600" dirty="0"/>
                  </a:p>
                </p:txBody>
              </p:sp>
            </mc:Choice>
            <mc:Fallback xmlns="">
              <p:sp>
                <p:nvSpPr>
                  <p:cNvPr id="115" name="文本框 114"/>
                  <p:cNvSpPr txBox="1">
                    <a:spLocks noRot="1" noChangeAspect="1" noMove="1" noResize="1" noEditPoints="1" noAdjustHandles="1" noChangeArrowheads="1" noChangeShapeType="1" noTextEdit="1"/>
                  </p:cNvSpPr>
                  <p:nvPr/>
                </p:nvSpPr>
                <p:spPr>
                  <a:xfrm>
                    <a:off x="6508664" y="4168476"/>
                    <a:ext cx="391069" cy="338554"/>
                  </a:xfrm>
                  <a:prstGeom prst="rect">
                    <a:avLst/>
                  </a:prstGeom>
                  <a:blipFill rotWithShape="0">
                    <a:blip r:embed="rId21"/>
                    <a:stretch>
                      <a:fillRect/>
                    </a:stretch>
                  </a:blipFill>
                </p:spPr>
                <p:txBody>
                  <a:bodyPr/>
                  <a:lstStyle/>
                  <a:p>
                    <a:r>
                      <a:rPr lang="zh-CN" altLang="en-US">
                        <a:noFill/>
                      </a:rPr>
                      <a:t> </a:t>
                    </a:r>
                  </a:p>
                </p:txBody>
              </p:sp>
            </mc:Fallback>
          </mc:AlternateContent>
        </p:grpSp>
        <p:sp>
          <p:nvSpPr>
            <p:cNvPr id="108" name="文本框 107"/>
            <p:cNvSpPr txBox="1"/>
            <p:nvPr/>
          </p:nvSpPr>
          <p:spPr>
            <a:xfrm>
              <a:off x="4842617" y="4166052"/>
              <a:ext cx="453970" cy="307777"/>
            </a:xfrm>
            <a:prstGeom prst="rect">
              <a:avLst/>
            </a:prstGeom>
            <a:noFill/>
          </p:spPr>
          <p:txBody>
            <a:bodyPr wrap="none" rtlCol="0">
              <a:spAutoFit/>
            </a:bodyPr>
            <a:lstStyle/>
            <a:p>
              <a:r>
                <a:rPr lang="en-US" altLang="zh-CN" sz="1400" dirty="0" smtClean="0">
                  <a:latin typeface="宋体" panose="02010600030101010101" pitchFamily="2" charset="-122"/>
                </a:rPr>
                <a:t>250</a:t>
              </a:r>
              <a:endParaRPr lang="zh-CN" altLang="en-US" sz="1400" dirty="0">
                <a:latin typeface="宋体" panose="02010600030101010101" pitchFamily="2" charset="-122"/>
              </a:endParaRPr>
            </a:p>
          </p:txBody>
        </p:sp>
        <p:grpSp>
          <p:nvGrpSpPr>
            <p:cNvPr id="109" name="组合 108"/>
            <p:cNvGrpSpPr/>
            <p:nvPr/>
          </p:nvGrpSpPr>
          <p:grpSpPr>
            <a:xfrm>
              <a:off x="4837340" y="4327784"/>
              <a:ext cx="1702821" cy="307777"/>
              <a:chOff x="4837340" y="4327784"/>
              <a:chExt cx="1702821" cy="307777"/>
            </a:xfrm>
          </p:grpSpPr>
          <p:cxnSp>
            <p:nvCxnSpPr>
              <p:cNvPr id="112" name="直接连接符 111"/>
              <p:cNvCxnSpPr/>
              <p:nvPr/>
            </p:nvCxnSpPr>
            <p:spPr>
              <a:xfrm>
                <a:off x="5317999" y="4478464"/>
                <a:ext cx="122216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4837340" y="4327784"/>
                <a:ext cx="453970" cy="307777"/>
              </a:xfrm>
              <a:prstGeom prst="rect">
                <a:avLst/>
              </a:prstGeom>
              <a:noFill/>
            </p:spPr>
            <p:txBody>
              <a:bodyPr wrap="none" rtlCol="0">
                <a:spAutoFit/>
              </a:bodyPr>
              <a:lstStyle/>
              <a:p>
                <a:r>
                  <a:rPr lang="en-US" altLang="zh-CN" sz="1400" dirty="0" smtClean="0">
                    <a:latin typeface="宋体" panose="02010600030101010101" pitchFamily="2" charset="-122"/>
                  </a:rPr>
                  <a:t>208</a:t>
                </a:r>
                <a:endParaRPr lang="zh-CN" altLang="en-US" sz="1400" dirty="0">
                  <a:latin typeface="宋体" panose="02010600030101010101" pitchFamily="2" charset="-122"/>
                </a:endParaRPr>
              </a:p>
            </p:txBody>
          </p:sp>
        </p:grpSp>
        <p:cxnSp>
          <p:nvCxnSpPr>
            <p:cNvPr id="110" name="直接连接符 109"/>
            <p:cNvCxnSpPr/>
            <p:nvPr/>
          </p:nvCxnSpPr>
          <p:spPr>
            <a:xfrm flipH="1" flipV="1">
              <a:off x="5365873" y="4344404"/>
              <a:ext cx="2318344" cy="253692"/>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文本框 110"/>
                <p:cNvSpPr txBox="1"/>
                <p:nvPr/>
              </p:nvSpPr>
              <p:spPr>
                <a:xfrm>
                  <a:off x="7592044" y="4330099"/>
                  <a:ext cx="38125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𝐺</m:t>
                        </m:r>
                      </m:oMath>
                    </m:oMathPara>
                  </a14:m>
                  <a:endParaRPr lang="zh-CN" altLang="en-US" sz="1600" dirty="0"/>
                </a:p>
              </p:txBody>
            </p:sp>
          </mc:Choice>
          <mc:Fallback xmlns="">
            <p:sp>
              <p:nvSpPr>
                <p:cNvPr id="111" name="文本框 110"/>
                <p:cNvSpPr txBox="1">
                  <a:spLocks noRot="1" noChangeAspect="1" noMove="1" noResize="1" noEditPoints="1" noAdjustHandles="1" noChangeArrowheads="1" noChangeShapeType="1" noTextEdit="1"/>
                </p:cNvSpPr>
                <p:nvPr/>
              </p:nvSpPr>
              <p:spPr>
                <a:xfrm>
                  <a:off x="7592044" y="4330099"/>
                  <a:ext cx="381258" cy="338554"/>
                </a:xfrm>
                <a:prstGeom prst="rect">
                  <a:avLst/>
                </a:prstGeom>
                <a:blipFill rotWithShape="0">
                  <a:blip r:embed="rId22"/>
                  <a:stretch>
                    <a:fillRect/>
                  </a:stretch>
                </a:blipFill>
              </p:spPr>
              <p:txBody>
                <a:bodyPr/>
                <a:lstStyle/>
                <a:p>
                  <a:r>
                    <a:rPr lang="zh-CN" altLang="en-US">
                      <a:noFill/>
                    </a:rPr>
                    <a:t> </a:t>
                  </a:r>
                </a:p>
              </p:txBody>
            </p:sp>
          </mc:Fallback>
        </mc:AlternateContent>
      </p:grpSp>
      <p:sp>
        <p:nvSpPr>
          <p:cNvPr id="136" name="椭圆 91"/>
          <p:cNvSpPr/>
          <p:nvPr/>
        </p:nvSpPr>
        <p:spPr>
          <a:xfrm>
            <a:off x="7816099" y="3174453"/>
            <a:ext cx="90000" cy="90000"/>
          </a:xfrm>
          <a:prstGeom prst="ellipse">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Arial"/>
              <a:ea typeface="宋体"/>
              <a:cs typeface="+mn-cs"/>
            </a:endParaRPr>
          </a:p>
        </p:txBody>
      </p:sp>
      <p:grpSp>
        <p:nvGrpSpPr>
          <p:cNvPr id="137" name="组合 136"/>
          <p:cNvGrpSpPr/>
          <p:nvPr/>
        </p:nvGrpSpPr>
        <p:grpSpPr>
          <a:xfrm>
            <a:off x="5405763" y="3212607"/>
            <a:ext cx="2455337" cy="407648"/>
            <a:chOff x="5346706" y="2708182"/>
            <a:chExt cx="2455337" cy="407648"/>
          </a:xfrm>
        </p:grpSpPr>
        <p:cxnSp>
          <p:nvCxnSpPr>
            <p:cNvPr id="138" name="直接连接符 137"/>
            <p:cNvCxnSpPr/>
            <p:nvPr/>
          </p:nvCxnSpPr>
          <p:spPr>
            <a:xfrm flipH="1" flipV="1">
              <a:off x="7802042" y="2722275"/>
              <a:ext cx="1" cy="3935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H="1" flipV="1">
              <a:off x="5346706" y="2708182"/>
              <a:ext cx="1" cy="3935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H="1">
              <a:off x="5354675" y="3038193"/>
              <a:ext cx="2447367" cy="10673"/>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1" name="文本框 140"/>
            <p:cNvSpPr txBox="1"/>
            <p:nvPr/>
          </p:nvSpPr>
          <p:spPr>
            <a:xfrm>
              <a:off x="6745191" y="2758182"/>
              <a:ext cx="453970" cy="307777"/>
            </a:xfrm>
            <a:prstGeom prst="rect">
              <a:avLst/>
            </a:prstGeom>
            <a:noFill/>
          </p:spPr>
          <p:txBody>
            <a:bodyPr wrap="none" rtlCol="0">
              <a:spAutoFit/>
            </a:bodyPr>
            <a:lstStyle/>
            <a:p>
              <a:r>
                <a:rPr lang="en-US" altLang="zh-CN" sz="1400" dirty="0" smtClean="0">
                  <a:latin typeface="宋体" panose="02010600030101010101" pitchFamily="2" charset="-122"/>
                </a:rPr>
                <a:t>650</a:t>
              </a:r>
              <a:endParaRPr lang="zh-CN" altLang="en-US" sz="1400" dirty="0">
                <a:latin typeface="宋体" panose="02010600030101010101" pitchFamily="2" charset="-122"/>
              </a:endParaRPr>
            </a:p>
          </p:txBody>
        </p:sp>
      </p:grpSp>
      <p:cxnSp>
        <p:nvCxnSpPr>
          <p:cNvPr id="142" name="直接连接符 141"/>
          <p:cNvCxnSpPr/>
          <p:nvPr/>
        </p:nvCxnSpPr>
        <p:spPr>
          <a:xfrm flipH="1" flipV="1">
            <a:off x="7859760" y="2618670"/>
            <a:ext cx="27" cy="550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8" name="组合 167"/>
          <p:cNvGrpSpPr/>
          <p:nvPr/>
        </p:nvGrpSpPr>
        <p:grpSpPr>
          <a:xfrm>
            <a:off x="5149752" y="5147620"/>
            <a:ext cx="3958752" cy="372778"/>
            <a:chOff x="5149752" y="5147620"/>
            <a:chExt cx="3958752" cy="372778"/>
          </a:xfrm>
        </p:grpSpPr>
        <p:sp>
          <p:nvSpPr>
            <p:cNvPr id="144" name="右箭头 143"/>
            <p:cNvSpPr/>
            <p:nvPr/>
          </p:nvSpPr>
          <p:spPr>
            <a:xfrm>
              <a:off x="5149752" y="5246526"/>
              <a:ext cx="423573"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5" name="文本框 144"/>
                <p:cNvSpPr txBox="1"/>
                <p:nvPr/>
              </p:nvSpPr>
              <p:spPr>
                <a:xfrm>
                  <a:off x="5593495" y="5151066"/>
                  <a:ext cx="1739259" cy="36933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Sup>
                          <m:sSubSupPr>
                            <m:ctrlPr>
                              <a:rPr lang="en-US" altLang="zh-CN" b="0" i="1" smtClean="0">
                                <a:latin typeface="Cambria Math" panose="02040503050406030204" pitchFamily="18" charset="0"/>
                              </a:rPr>
                            </m:ctrlPr>
                          </m:sSubSup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𝑎𝑒</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=181</m:t>
                        </m:r>
                        <m:r>
                          <a:rPr lang="en-US" altLang="zh-CN" b="0" i="1" smtClean="0">
                            <a:latin typeface="Cambria Math" panose="02040503050406030204" pitchFamily="18" charset="0"/>
                          </a:rPr>
                          <m:t>𝑀𝑃𝑎</m:t>
                        </m:r>
                      </m:oMath>
                    </m:oMathPara>
                  </a14:m>
                  <a:endParaRPr lang="zh-CN" altLang="en-US" dirty="0"/>
                </a:p>
              </p:txBody>
            </p:sp>
          </mc:Choice>
          <mc:Fallback xmlns="">
            <p:sp>
              <p:nvSpPr>
                <p:cNvPr id="145" name="文本框 144"/>
                <p:cNvSpPr txBox="1">
                  <a:spLocks noRot="1" noChangeAspect="1" noMove="1" noResize="1" noEditPoints="1" noAdjustHandles="1" noChangeArrowheads="1" noChangeShapeType="1" noTextEdit="1"/>
                </p:cNvSpPr>
                <p:nvPr/>
              </p:nvSpPr>
              <p:spPr>
                <a:xfrm>
                  <a:off x="5593495" y="5151066"/>
                  <a:ext cx="1739259" cy="369332"/>
                </a:xfrm>
                <a:prstGeom prst="rect">
                  <a:avLst/>
                </a:prstGeom>
                <a:blipFill rotWithShape="0">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6" name="文本框 145"/>
                <p:cNvSpPr txBox="1"/>
                <p:nvPr/>
              </p:nvSpPr>
              <p:spPr>
                <a:xfrm>
                  <a:off x="7317949" y="5147620"/>
                  <a:ext cx="1790555" cy="36933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Sup>
                          <m:sSubSupPr>
                            <m:ctrlPr>
                              <a:rPr lang="en-US" altLang="zh-CN" b="0" i="1" smtClean="0">
                                <a:latin typeface="Cambria Math" panose="02040503050406030204" pitchFamily="18" charset="0"/>
                              </a:rPr>
                            </m:ctrlPr>
                          </m:sSubSupPr>
                          <m:e>
                            <m:r>
                              <a:rPr lang="zh-CN" altLang="en-US" b="0" i="1" smtClean="0">
                                <a:latin typeface="Cambria Math" panose="02040503050406030204" pitchFamily="18" charset="0"/>
                              </a:rPr>
                              <m:t>𝜎</m:t>
                            </m:r>
                          </m:e>
                          <m:sub>
                            <m:r>
                              <a:rPr lang="en-US" altLang="zh-CN" b="0" i="1" smtClean="0">
                                <a:latin typeface="Cambria Math" panose="02040503050406030204" pitchFamily="18" charset="0"/>
                              </a:rPr>
                              <m:t>𝑚𝑒</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=544</m:t>
                        </m:r>
                        <m:r>
                          <a:rPr lang="en-US" altLang="zh-CN" b="0" i="1" smtClean="0">
                            <a:latin typeface="Cambria Math" panose="02040503050406030204" pitchFamily="18" charset="0"/>
                          </a:rPr>
                          <m:t>𝑀𝑃𝑎</m:t>
                        </m:r>
                      </m:oMath>
                    </m:oMathPara>
                  </a14:m>
                  <a:endParaRPr lang="zh-CN" altLang="en-US" dirty="0"/>
                </a:p>
              </p:txBody>
            </p:sp>
          </mc:Choice>
          <mc:Fallback xmlns="">
            <p:sp>
              <p:nvSpPr>
                <p:cNvPr id="146" name="文本框 145"/>
                <p:cNvSpPr txBox="1">
                  <a:spLocks noRot="1" noChangeAspect="1" noMove="1" noResize="1" noEditPoints="1" noAdjustHandles="1" noChangeArrowheads="1" noChangeShapeType="1" noTextEdit="1"/>
                </p:cNvSpPr>
                <p:nvPr/>
              </p:nvSpPr>
              <p:spPr>
                <a:xfrm>
                  <a:off x="7317949" y="5147620"/>
                  <a:ext cx="1790555" cy="369332"/>
                </a:xfrm>
                <a:prstGeom prst="rect">
                  <a:avLst/>
                </a:prstGeom>
                <a:blipFill rotWithShape="0">
                  <a:blip r:embed="rId24"/>
                  <a:stretch>
                    <a:fillRect/>
                  </a:stretch>
                </a:blipFill>
              </p:spPr>
              <p:txBody>
                <a:bodyPr/>
                <a:lstStyle/>
                <a:p>
                  <a:r>
                    <a:rPr lang="zh-CN" altLang="en-US">
                      <a:noFill/>
                    </a:rPr>
                    <a:t> </a:t>
                  </a:r>
                </a:p>
              </p:txBody>
            </p:sp>
          </mc:Fallback>
        </mc:AlternateContent>
      </p:grpSp>
      <p:grpSp>
        <p:nvGrpSpPr>
          <p:cNvPr id="167" name="组合 166"/>
          <p:cNvGrpSpPr/>
          <p:nvPr/>
        </p:nvGrpSpPr>
        <p:grpSpPr>
          <a:xfrm>
            <a:off x="1781977" y="5100218"/>
            <a:ext cx="3401630" cy="369332"/>
            <a:chOff x="1781977" y="5100218"/>
            <a:chExt cx="3401630" cy="369332"/>
          </a:xfrm>
        </p:grpSpPr>
        <mc:AlternateContent xmlns:mc="http://schemas.openxmlformats.org/markup-compatibility/2006" xmlns:a14="http://schemas.microsoft.com/office/drawing/2010/main">
          <mc:Choice Requires="a14">
            <p:sp>
              <p:nvSpPr>
                <p:cNvPr id="143" name="文本框 142"/>
                <p:cNvSpPr txBox="1"/>
                <p:nvPr/>
              </p:nvSpPr>
              <p:spPr>
                <a:xfrm>
                  <a:off x="2267744" y="5100218"/>
                  <a:ext cx="2915863" cy="36933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zh-CN" altLang="en-US" b="0" i="1" smtClean="0">
                            <a:latin typeface="Cambria Math" panose="02040503050406030204" pitchFamily="18" charset="0"/>
                          </a:rPr>
                          <m:t>𝛼</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𝑡𝑎𝑛</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0.333</m:t>
                        </m:r>
                        <m:r>
                          <a:rPr lang="en-US" altLang="zh-CN" b="0" i="1" smtClean="0">
                            <a:latin typeface="Cambria Math" panose="02040503050406030204" pitchFamily="18" charset="0"/>
                            <a:ea typeface="Cambria Math" panose="02040503050406030204" pitchFamily="18" charset="0"/>
                          </a:rPr>
                          <m:t>≈18.456°</m:t>
                        </m:r>
                      </m:oMath>
                    </m:oMathPara>
                  </a14:m>
                  <a:endParaRPr lang="zh-CN" altLang="en-US" dirty="0"/>
                </a:p>
              </p:txBody>
            </p:sp>
          </mc:Choice>
          <mc:Fallback xmlns="">
            <p:sp>
              <p:nvSpPr>
                <p:cNvPr id="143" name="文本框 142"/>
                <p:cNvSpPr txBox="1">
                  <a:spLocks noRot="1" noChangeAspect="1" noMove="1" noResize="1" noEditPoints="1" noAdjustHandles="1" noChangeArrowheads="1" noChangeShapeType="1" noTextEdit="1"/>
                </p:cNvSpPr>
                <p:nvPr/>
              </p:nvSpPr>
              <p:spPr>
                <a:xfrm>
                  <a:off x="2267744" y="5100218"/>
                  <a:ext cx="2915863" cy="369332"/>
                </a:xfrm>
                <a:prstGeom prst="rect">
                  <a:avLst/>
                </a:prstGeom>
                <a:blipFill rotWithShape="0">
                  <a:blip r:embed="rId25"/>
                  <a:stretch>
                    <a:fillRect/>
                  </a:stretch>
                </a:blipFill>
              </p:spPr>
              <p:txBody>
                <a:bodyPr/>
                <a:lstStyle/>
                <a:p>
                  <a:r>
                    <a:rPr lang="zh-CN" altLang="en-US">
                      <a:noFill/>
                    </a:rPr>
                    <a:t> </a:t>
                  </a:r>
                </a:p>
              </p:txBody>
            </p:sp>
          </mc:Fallback>
        </mc:AlternateContent>
        <p:sp>
          <p:nvSpPr>
            <p:cNvPr id="151" name="右箭头 150"/>
            <p:cNvSpPr/>
            <p:nvPr/>
          </p:nvSpPr>
          <p:spPr>
            <a:xfrm>
              <a:off x="1781977" y="5168792"/>
              <a:ext cx="441351"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6" name="组合 165"/>
          <p:cNvGrpSpPr/>
          <p:nvPr/>
        </p:nvGrpSpPr>
        <p:grpSpPr>
          <a:xfrm>
            <a:off x="5394706" y="2493517"/>
            <a:ext cx="2267113" cy="989219"/>
            <a:chOff x="5394706" y="2493517"/>
            <a:chExt cx="2267113" cy="989219"/>
          </a:xfrm>
        </p:grpSpPr>
        <p:cxnSp>
          <p:nvCxnSpPr>
            <p:cNvPr id="153" name="直接连接符 152"/>
            <p:cNvCxnSpPr/>
            <p:nvPr/>
          </p:nvCxnSpPr>
          <p:spPr>
            <a:xfrm flipV="1">
              <a:off x="5394706" y="2493517"/>
              <a:ext cx="2106828" cy="7168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弧形 154"/>
            <p:cNvSpPr/>
            <p:nvPr/>
          </p:nvSpPr>
          <p:spPr>
            <a:xfrm>
              <a:off x="6272761" y="2736293"/>
              <a:ext cx="643436" cy="746443"/>
            </a:xfrm>
            <a:prstGeom prst="arc">
              <a:avLst>
                <a:gd name="adj1" fmla="val 17413028"/>
                <a:gd name="adj2" fmla="val 108236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6" name="文本框 155"/>
            <p:cNvSpPr txBox="1"/>
            <p:nvPr/>
          </p:nvSpPr>
          <p:spPr>
            <a:xfrm>
              <a:off x="6848776" y="2867298"/>
              <a:ext cx="813043" cy="307777"/>
            </a:xfrm>
            <a:prstGeom prst="rect">
              <a:avLst/>
            </a:prstGeom>
            <a:noFill/>
          </p:spPr>
          <p:txBody>
            <a:bodyPr wrap="none" rtlCol="0">
              <a:spAutoFit/>
            </a:bodyPr>
            <a:lstStyle/>
            <a:p>
              <a:r>
                <a:rPr lang="en-US" altLang="zh-CN" sz="1400" dirty="0" smtClean="0">
                  <a:latin typeface="宋体" panose="02010600030101010101" pitchFamily="2" charset="-122"/>
                </a:rPr>
                <a:t>18.456º</a:t>
              </a:r>
              <a:endParaRPr lang="zh-CN" altLang="en-US" sz="1400" dirty="0">
                <a:latin typeface="宋体" panose="02010600030101010101" pitchFamily="2" charset="-122"/>
              </a:endParaRPr>
            </a:p>
          </p:txBody>
        </p:sp>
      </p:grpSp>
      <p:grpSp>
        <p:nvGrpSpPr>
          <p:cNvPr id="164" name="组合 163"/>
          <p:cNvGrpSpPr/>
          <p:nvPr/>
        </p:nvGrpSpPr>
        <p:grpSpPr>
          <a:xfrm>
            <a:off x="7229096" y="2493517"/>
            <a:ext cx="571760" cy="986469"/>
            <a:chOff x="7229096" y="2493517"/>
            <a:chExt cx="571760" cy="986469"/>
          </a:xfrm>
        </p:grpSpPr>
        <p:cxnSp>
          <p:nvCxnSpPr>
            <p:cNvPr id="159" name="直接连接符 158"/>
            <p:cNvCxnSpPr/>
            <p:nvPr/>
          </p:nvCxnSpPr>
          <p:spPr>
            <a:xfrm flipV="1">
              <a:off x="7509453" y="2493517"/>
              <a:ext cx="0" cy="7269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2" name="文本框 161"/>
                <p:cNvSpPr txBox="1"/>
                <p:nvPr/>
              </p:nvSpPr>
              <p:spPr>
                <a:xfrm>
                  <a:off x="7229096" y="3172209"/>
                  <a:ext cx="57176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𝑚𝑒</m:t>
                            </m:r>
                          </m:sub>
                          <m:sup>
                            <m:r>
                              <a:rPr lang="en-US" altLang="zh-CN" sz="1400" b="0" i="1" smtClean="0">
                                <a:latin typeface="Cambria Math" panose="02040503050406030204" pitchFamily="18" charset="0"/>
                              </a:rPr>
                              <m:t>′</m:t>
                            </m:r>
                          </m:sup>
                        </m:sSubSup>
                      </m:oMath>
                    </m:oMathPara>
                  </a14:m>
                  <a:endParaRPr lang="zh-CN" altLang="en-US" sz="1400" dirty="0">
                    <a:latin typeface="宋体" panose="02010600030101010101" pitchFamily="2" charset="-122"/>
                  </a:endParaRPr>
                </a:p>
              </p:txBody>
            </p:sp>
          </mc:Choice>
          <mc:Fallback xmlns="">
            <p:sp>
              <p:nvSpPr>
                <p:cNvPr id="162" name="文本框 161"/>
                <p:cNvSpPr txBox="1">
                  <a:spLocks noRot="1" noChangeAspect="1" noMove="1" noResize="1" noEditPoints="1" noAdjustHandles="1" noChangeArrowheads="1" noChangeShapeType="1" noTextEdit="1"/>
                </p:cNvSpPr>
                <p:nvPr/>
              </p:nvSpPr>
              <p:spPr>
                <a:xfrm>
                  <a:off x="7229096" y="3172209"/>
                  <a:ext cx="571760" cy="307777"/>
                </a:xfrm>
                <a:prstGeom prst="rect">
                  <a:avLst/>
                </a:prstGeom>
                <a:blipFill rotWithShape="0">
                  <a:blip r:embed="rId26"/>
                  <a:stretch>
                    <a:fillRect/>
                  </a:stretch>
                </a:blipFill>
              </p:spPr>
              <p:txBody>
                <a:bodyPr/>
                <a:lstStyle/>
                <a:p>
                  <a:r>
                    <a:rPr lang="zh-CN" altLang="en-US">
                      <a:noFill/>
                    </a:rPr>
                    <a:t> </a:t>
                  </a:r>
                </a:p>
              </p:txBody>
            </p:sp>
          </mc:Fallback>
        </mc:AlternateContent>
      </p:grpSp>
      <p:grpSp>
        <p:nvGrpSpPr>
          <p:cNvPr id="165" name="组合 164"/>
          <p:cNvGrpSpPr/>
          <p:nvPr/>
        </p:nvGrpSpPr>
        <p:grpSpPr>
          <a:xfrm>
            <a:off x="4875109" y="2431142"/>
            <a:ext cx="2580745" cy="307777"/>
            <a:chOff x="4875109" y="2431142"/>
            <a:chExt cx="2580745" cy="307777"/>
          </a:xfrm>
        </p:grpSpPr>
        <p:cxnSp>
          <p:nvCxnSpPr>
            <p:cNvPr id="157" name="直接连接符 156"/>
            <p:cNvCxnSpPr/>
            <p:nvPr/>
          </p:nvCxnSpPr>
          <p:spPr>
            <a:xfrm>
              <a:off x="5394706" y="2493517"/>
              <a:ext cx="206114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3" name="文本框 162"/>
                <p:cNvSpPr txBox="1"/>
                <p:nvPr/>
              </p:nvSpPr>
              <p:spPr>
                <a:xfrm>
                  <a:off x="4875109" y="2431142"/>
                  <a:ext cx="53168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i="1" smtClean="0">
                                <a:latin typeface="Cambria Math" panose="02040503050406030204" pitchFamily="18" charset="0"/>
                              </a:rPr>
                            </m:ctrlPr>
                          </m:sSubSupPr>
                          <m:e>
                            <m:r>
                              <a:rPr lang="zh-CN" altLang="en-US" sz="1400" i="1" smtClean="0">
                                <a:latin typeface="Cambria Math" panose="02040503050406030204" pitchFamily="18" charset="0"/>
                              </a:rPr>
                              <m:t>𝜎</m:t>
                            </m:r>
                          </m:e>
                          <m:sub>
                            <m:r>
                              <a:rPr lang="en-US" altLang="zh-CN" sz="1400" b="0" i="1" smtClean="0">
                                <a:latin typeface="Cambria Math" panose="02040503050406030204" pitchFamily="18" charset="0"/>
                              </a:rPr>
                              <m:t>𝑎𝑒</m:t>
                            </m:r>
                          </m:sub>
                          <m:sup>
                            <m:r>
                              <a:rPr lang="en-US" altLang="zh-CN" sz="1400" b="0" i="1" smtClean="0">
                                <a:latin typeface="Cambria Math" panose="02040503050406030204" pitchFamily="18" charset="0"/>
                              </a:rPr>
                              <m:t>′</m:t>
                            </m:r>
                          </m:sup>
                        </m:sSubSup>
                      </m:oMath>
                    </m:oMathPara>
                  </a14:m>
                  <a:endParaRPr lang="zh-CN" altLang="en-US" sz="1400" dirty="0">
                    <a:latin typeface="宋体" panose="02010600030101010101" pitchFamily="2" charset="-122"/>
                  </a:endParaRPr>
                </a:p>
              </p:txBody>
            </p:sp>
          </mc:Choice>
          <mc:Fallback xmlns="">
            <p:sp>
              <p:nvSpPr>
                <p:cNvPr id="163" name="文本框 162"/>
                <p:cNvSpPr txBox="1">
                  <a:spLocks noRot="1" noChangeAspect="1" noMove="1" noResize="1" noEditPoints="1" noAdjustHandles="1" noChangeArrowheads="1" noChangeShapeType="1" noTextEdit="1"/>
                </p:cNvSpPr>
                <p:nvPr/>
              </p:nvSpPr>
              <p:spPr>
                <a:xfrm>
                  <a:off x="4875109" y="2431142"/>
                  <a:ext cx="531684" cy="307777"/>
                </a:xfrm>
                <a:prstGeom prst="rect">
                  <a:avLst/>
                </a:prstGeom>
                <a:blipFill rotWithShape="0">
                  <a:blip r:embed="rId27"/>
                  <a:stretch>
                    <a:fillRect/>
                  </a:stretch>
                </a:blipFill>
              </p:spPr>
              <p:txBody>
                <a:bodyPr/>
                <a:lstStyle/>
                <a:p>
                  <a:r>
                    <a:rPr lang="zh-CN" altLang="en-US">
                      <a:noFill/>
                    </a:rPr>
                    <a:t> </a:t>
                  </a:r>
                </a:p>
              </p:txBody>
            </p:sp>
          </mc:Fallback>
        </mc:AlternateContent>
      </p:grpSp>
      <p:cxnSp>
        <p:nvCxnSpPr>
          <p:cNvPr id="169" name="直接连接符 168"/>
          <p:cNvCxnSpPr/>
          <p:nvPr/>
        </p:nvCxnSpPr>
        <p:spPr>
          <a:xfrm flipV="1">
            <a:off x="5416584" y="2525629"/>
            <a:ext cx="2355760" cy="67747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06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37"/>
                                        </p:tgtEl>
                                        <p:attrNameLst>
                                          <p:attrName>style.visibility</p:attrName>
                                        </p:attrNameLst>
                                      </p:cBhvr>
                                      <p:to>
                                        <p:strVal val="visible"/>
                                      </p:to>
                                    </p:set>
                                    <p:animEffect transition="in" filter="wipe(up)">
                                      <p:cBhvr>
                                        <p:cTn id="11" dur="5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6"/>
                                        </p:tgtEl>
                                        <p:attrNameLst>
                                          <p:attrName>style.visibility</p:attrName>
                                        </p:attrNameLst>
                                      </p:cBhvr>
                                      <p:to>
                                        <p:strVal val="visible"/>
                                      </p:to>
                                    </p:set>
                                    <p:animEffect transition="in" filter="fade">
                                      <p:cBhvr>
                                        <p:cTn id="16" dur="750"/>
                                        <p:tgtEl>
                                          <p:spTgt spid="13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42"/>
                                        </p:tgtEl>
                                        <p:attrNameLst>
                                          <p:attrName>style.visibility</p:attrName>
                                        </p:attrNameLst>
                                      </p:cBhvr>
                                      <p:to>
                                        <p:strVal val="visible"/>
                                      </p:to>
                                    </p:set>
                                    <p:animEffect transition="in" filter="wipe(down)">
                                      <p:cBhvr>
                                        <p:cTn id="21" dur="500"/>
                                        <p:tgtEl>
                                          <p:spTgt spid="14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69"/>
                                        </p:tgtEl>
                                        <p:attrNameLst>
                                          <p:attrName>style.visibility</p:attrName>
                                        </p:attrNameLst>
                                      </p:cBhvr>
                                      <p:to>
                                        <p:strVal val="visible"/>
                                      </p:to>
                                    </p:set>
                                    <p:animEffect transition="in" filter="wipe(left)">
                                      <p:cBhvr>
                                        <p:cTn id="34" dur="500"/>
                                        <p:tgtEl>
                                          <p:spTgt spid="16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1"/>
                                        </p:tgtEl>
                                        <p:attrNameLst>
                                          <p:attrName>style.visibility</p:attrName>
                                        </p:attrNameLst>
                                      </p:cBhvr>
                                      <p:to>
                                        <p:strVal val="visible"/>
                                      </p:to>
                                    </p:set>
                                    <p:animEffect transition="in" filter="wipe(left)">
                                      <p:cBhvr>
                                        <p:cTn id="39" dur="500"/>
                                        <p:tgtEl>
                                          <p:spTgt spid="8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47"/>
                                        </p:tgtEl>
                                        <p:attrNameLst>
                                          <p:attrName>style.visibility</p:attrName>
                                        </p:attrNameLst>
                                      </p:cBhvr>
                                      <p:to>
                                        <p:strVal val="visible"/>
                                      </p:to>
                                    </p:set>
                                    <p:animEffect transition="in" filter="wipe(left)">
                                      <p:cBhvr>
                                        <p:cTn id="44" dur="500"/>
                                        <p:tgtEl>
                                          <p:spTgt spid="14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wipe(left)">
                                      <p:cBhvr>
                                        <p:cTn id="57" dur="500"/>
                                        <p:tgtEl>
                                          <p:spTgt spid="8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48"/>
                                        </p:tgtEl>
                                        <p:attrNameLst>
                                          <p:attrName>style.visibility</p:attrName>
                                        </p:attrNameLst>
                                      </p:cBhvr>
                                      <p:to>
                                        <p:strVal val="visible"/>
                                      </p:to>
                                    </p:set>
                                    <p:animEffect transition="in" filter="wipe(left)">
                                      <p:cBhvr>
                                        <p:cTn id="62" dur="500"/>
                                        <p:tgtEl>
                                          <p:spTgt spid="14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0"/>
                                        </p:tgtEl>
                                        <p:attrNameLst>
                                          <p:attrName>style.visibility</p:attrName>
                                        </p:attrNameLst>
                                      </p:cBhvr>
                                      <p:to>
                                        <p:strVal val="visible"/>
                                      </p:to>
                                    </p:set>
                                    <p:animEffect transition="in" filter="wipe(left)">
                                      <p:cBhvr>
                                        <p:cTn id="67" dur="500"/>
                                        <p:tgtEl>
                                          <p:spTgt spid="15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wipe(left)">
                                      <p:cBhvr>
                                        <p:cTn id="72" dur="500"/>
                                        <p:tgtEl>
                                          <p:spTgt spid="9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67"/>
                                        </p:tgtEl>
                                        <p:attrNameLst>
                                          <p:attrName>style.visibility</p:attrName>
                                        </p:attrNameLst>
                                      </p:cBhvr>
                                      <p:to>
                                        <p:strVal val="visible"/>
                                      </p:to>
                                    </p:set>
                                    <p:animEffect transition="in" filter="wipe(left)">
                                      <p:cBhvr>
                                        <p:cTn id="77" dur="500"/>
                                        <p:tgtEl>
                                          <p:spTgt spid="16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66"/>
                                        </p:tgtEl>
                                        <p:attrNameLst>
                                          <p:attrName>style.visibility</p:attrName>
                                        </p:attrNameLst>
                                      </p:cBhvr>
                                      <p:to>
                                        <p:strVal val="visible"/>
                                      </p:to>
                                    </p:set>
                                    <p:animEffect transition="in" filter="wipe(left)">
                                      <p:cBhvr>
                                        <p:cTn id="82" dur="500"/>
                                        <p:tgtEl>
                                          <p:spTgt spid="16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164"/>
                                        </p:tgtEl>
                                        <p:attrNameLst>
                                          <p:attrName>style.visibility</p:attrName>
                                        </p:attrNameLst>
                                      </p:cBhvr>
                                      <p:to>
                                        <p:strVal val="visible"/>
                                      </p:to>
                                    </p:set>
                                    <p:animEffect transition="in" filter="wipe(up)">
                                      <p:cBhvr>
                                        <p:cTn id="87" dur="500"/>
                                        <p:tgtEl>
                                          <p:spTgt spid="16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165"/>
                                        </p:tgtEl>
                                        <p:attrNameLst>
                                          <p:attrName>style.visibility</p:attrName>
                                        </p:attrNameLst>
                                      </p:cBhvr>
                                      <p:to>
                                        <p:strVal val="visible"/>
                                      </p:to>
                                    </p:set>
                                    <p:animEffect transition="in" filter="wipe(right)">
                                      <p:cBhvr>
                                        <p:cTn id="92" dur="500"/>
                                        <p:tgtEl>
                                          <p:spTgt spid="16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68"/>
                                        </p:tgtEl>
                                        <p:attrNameLst>
                                          <p:attrName>style.visibility</p:attrName>
                                        </p:attrNameLst>
                                      </p:cBhvr>
                                      <p:to>
                                        <p:strVal val="visible"/>
                                      </p:to>
                                    </p:set>
                                    <p:animEffect transition="in" filter="wipe(left)">
                                      <p:cBhvr>
                                        <p:cTn id="97"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7" grpId="0"/>
      <p:bldP spid="80" grpId="0"/>
      <p:bldP spid="81" grpId="0"/>
      <p:bldP spid="84" grpId="0"/>
      <p:bldP spid="85" grpId="0"/>
      <p:bldP spid="86" grpId="0"/>
      <p:bldP spid="93" grpId="0"/>
      <p:bldP spid="1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Box 3">
                <a:extLst>
                  <a:ext uri="{FF2B5EF4-FFF2-40B4-BE49-F238E27FC236}">
                    <a16:creationId xmlns="" xmlns:a16="http://schemas.microsoft.com/office/drawing/2014/main" id="{5D7F92A6-81B9-48B7-8897-11500C3FB078}"/>
                  </a:ext>
                </a:extLst>
              </p:cNvPr>
              <p:cNvSpPr txBox="1">
                <a:spLocks noChangeArrowheads="1"/>
              </p:cNvSpPr>
              <p:nvPr/>
            </p:nvSpPr>
            <p:spPr bwMode="auto">
              <a:xfrm>
                <a:off x="183143" y="514335"/>
                <a:ext cx="8853353" cy="1823576"/>
              </a:xfrm>
              <a:prstGeom prst="rect">
                <a:avLst/>
              </a:prstGeom>
              <a:solidFill>
                <a:srgbClr val="E0E0E0"/>
              </a:solidFill>
              <a:ln>
                <a:noFill/>
              </a:ln>
              <a:extLst/>
            </p:spPr>
            <p:txBody>
              <a:bodyPr wrap="square">
                <a:spAutoFit/>
              </a:bodyPr>
              <a:lstStyle>
                <a:lvl1pPr>
                  <a:defRPr kumimoji="1" sz="2400">
                    <a:solidFill>
                      <a:srgbClr val="990000"/>
                    </a:solidFill>
                    <a:latin typeface="华文中宋" panose="02010600040101010101" pitchFamily="2" charset="-122"/>
                    <a:ea typeface="华文中宋" panose="02010600040101010101" pitchFamily="2" charset="-122"/>
                  </a:defRPr>
                </a:lvl1pPr>
                <a:lvl2pPr marL="742950" indent="-285750">
                  <a:defRPr kumimoji="1" sz="2400">
                    <a:solidFill>
                      <a:srgbClr val="990000"/>
                    </a:solidFill>
                    <a:latin typeface="华文中宋" panose="02010600040101010101" pitchFamily="2" charset="-122"/>
                    <a:ea typeface="华文中宋" panose="02010600040101010101" pitchFamily="2" charset="-122"/>
                  </a:defRPr>
                </a:lvl2pPr>
                <a:lvl3pPr marL="1143000" indent="-228600">
                  <a:defRPr kumimoji="1" sz="2400">
                    <a:solidFill>
                      <a:srgbClr val="990000"/>
                    </a:solidFill>
                    <a:latin typeface="华文中宋" panose="02010600040101010101" pitchFamily="2" charset="-122"/>
                    <a:ea typeface="华文中宋" panose="02010600040101010101" pitchFamily="2" charset="-122"/>
                  </a:defRPr>
                </a:lvl3pPr>
                <a:lvl4pPr marL="1600200" indent="-228600">
                  <a:defRPr kumimoji="1" sz="2400">
                    <a:solidFill>
                      <a:srgbClr val="990000"/>
                    </a:solidFill>
                    <a:latin typeface="华文中宋" panose="02010600040101010101" pitchFamily="2" charset="-122"/>
                    <a:ea typeface="华文中宋" panose="02010600040101010101" pitchFamily="2" charset="-122"/>
                  </a:defRPr>
                </a:lvl4pPr>
                <a:lvl5pPr marL="2057400" indent="-228600">
                  <a:defRPr kumimoji="1" sz="2400">
                    <a:solidFill>
                      <a:srgbClr val="990000"/>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kumimoji="1" sz="2400">
                    <a:solidFill>
                      <a:srgbClr val="990000"/>
                    </a:solidFill>
                    <a:latin typeface="华文中宋" panose="02010600040101010101" pitchFamily="2" charset="-122"/>
                    <a:ea typeface="华文中宋" panose="02010600040101010101" pitchFamily="2" charset="-122"/>
                  </a:defRPr>
                </a:lvl9pPr>
              </a:lstStyle>
              <a:p>
                <a:pPr algn="just">
                  <a:lnSpc>
                    <a:spcPct val="125000"/>
                  </a:lnSpc>
                </a:pPr>
                <a:r>
                  <a:rPr lang="zh-CN" altLang="en-US" sz="1800" b="1" dirty="0" smtClean="0">
                    <a:solidFill>
                      <a:srgbClr val="C00000"/>
                    </a:solidFill>
                    <a:latin typeface="+mn-ea"/>
                    <a:ea typeface="+mn-ea"/>
                  </a:rPr>
                  <a:t>例</a:t>
                </a:r>
                <a:r>
                  <a:rPr lang="en-US" altLang="zh-CN" sz="1800" b="1" dirty="0" smtClean="0">
                    <a:solidFill>
                      <a:srgbClr val="C00000"/>
                    </a:solidFill>
                    <a:latin typeface="+mn-ea"/>
                    <a:ea typeface="+mn-ea"/>
                  </a:rPr>
                  <a:t>3</a:t>
                </a:r>
                <a:r>
                  <a:rPr lang="zh-CN" altLang="en-US" sz="1800" b="1" dirty="0" smtClean="0">
                    <a:solidFill>
                      <a:srgbClr val="C00000"/>
                    </a:solidFill>
                    <a:latin typeface="+mn-ea"/>
                    <a:ea typeface="+mn-ea"/>
                  </a:rPr>
                  <a:t>：</a:t>
                </a:r>
                <a:r>
                  <a:rPr lang="zh-CN" altLang="en-US" sz="1800" dirty="0" smtClean="0">
                    <a:solidFill>
                      <a:srgbClr val="000000"/>
                    </a:solidFill>
                    <a:latin typeface="+mn-ea"/>
                    <a:ea typeface="+mn-ea"/>
                  </a:rPr>
                  <a:t>某转轴工作时承受规律性非稳定对称循环变应力，</a:t>
                </a:r>
                <a14:m>
                  <m:oMath xmlns:m="http://schemas.openxmlformats.org/officeDocument/2006/math">
                    <m:sSub>
                      <m:sSubPr>
                        <m:ctrlPr>
                          <a:rPr lang="en-US" altLang="zh-CN" sz="1800" i="1" smtClean="0">
                            <a:solidFill>
                              <a:srgbClr val="000000"/>
                            </a:solidFill>
                            <a:latin typeface="Cambria Math" panose="02040503050406030204" pitchFamily="18" charset="0"/>
                            <a:ea typeface="+mn-ea"/>
                          </a:rPr>
                        </m:ctrlPr>
                      </m:sSubPr>
                      <m:e>
                        <m:r>
                          <a:rPr lang="zh-CN" altLang="en-US" sz="1800" i="1" smtClean="0">
                            <a:solidFill>
                              <a:srgbClr val="000000"/>
                            </a:solidFill>
                            <a:latin typeface="Cambria Math" panose="02040503050406030204" pitchFamily="18" charset="0"/>
                            <a:ea typeface="+mn-ea"/>
                          </a:rPr>
                          <m:t>𝜎</m:t>
                        </m:r>
                      </m:e>
                      <m:sub>
                        <m:r>
                          <a:rPr lang="en-US" altLang="zh-CN" sz="1800" b="0" i="1" smtClean="0">
                            <a:solidFill>
                              <a:srgbClr val="000000"/>
                            </a:solidFill>
                            <a:latin typeface="Cambria Math" panose="02040503050406030204" pitchFamily="18" charset="0"/>
                            <a:ea typeface="+mn-ea"/>
                          </a:rPr>
                          <m:t>1</m:t>
                        </m:r>
                      </m:sub>
                    </m:sSub>
                    <m:r>
                      <a:rPr lang="en-US" altLang="zh-CN" sz="1800" b="0" i="1" smtClean="0">
                        <a:solidFill>
                          <a:srgbClr val="000000"/>
                        </a:solidFill>
                        <a:latin typeface="Cambria Math" panose="02040503050406030204" pitchFamily="18" charset="0"/>
                        <a:ea typeface="+mn-ea"/>
                      </a:rPr>
                      <m:t>=500</m:t>
                    </m:r>
                    <m:r>
                      <a:rPr lang="en-US" altLang="zh-CN" sz="1800" b="0" i="1" smtClean="0">
                        <a:solidFill>
                          <a:srgbClr val="000000"/>
                        </a:solidFill>
                        <a:latin typeface="Cambria Math" panose="02040503050406030204" pitchFamily="18" charset="0"/>
                        <a:ea typeface="+mn-ea"/>
                      </a:rPr>
                      <m:t>𝑀𝑃𝑎</m:t>
                    </m:r>
                  </m:oMath>
                </a14:m>
                <a:r>
                  <a:rPr lang="zh-CN" altLang="en-US" sz="1800" dirty="0" smtClean="0">
                    <a:solidFill>
                      <a:srgbClr val="000000"/>
                    </a:solidFill>
                    <a:latin typeface="+mn-ea"/>
                    <a:ea typeface="+mn-ea"/>
                  </a:rPr>
                  <a:t>，</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b="0" i="1" smtClean="0">
                            <a:solidFill>
                              <a:srgbClr val="000000"/>
                            </a:solidFill>
                            <a:latin typeface="Cambria Math" panose="02040503050406030204" pitchFamily="18" charset="0"/>
                          </a:rPr>
                          <m:t>2</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450</m:t>
                    </m:r>
                    <m:r>
                      <a:rPr lang="en-US" altLang="zh-CN" sz="1800" i="1">
                        <a:solidFill>
                          <a:srgbClr val="000000"/>
                        </a:solidFill>
                        <a:latin typeface="Cambria Math" panose="02040503050406030204" pitchFamily="18" charset="0"/>
                      </a:rPr>
                      <m:t>𝑀𝑃𝑎</m:t>
                    </m:r>
                  </m:oMath>
                </a14:m>
                <a:r>
                  <a:rPr lang="zh-CN" altLang="en-US" sz="1800" dirty="0" smtClean="0">
                    <a:solidFill>
                      <a:srgbClr val="000000"/>
                    </a:solidFill>
                    <a:latin typeface="+mn-ea"/>
                    <a:ea typeface="+mn-ea"/>
                  </a:rPr>
                  <a:t>，</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b="0" i="1" smtClean="0">
                            <a:solidFill>
                              <a:srgbClr val="000000"/>
                            </a:solidFill>
                            <a:latin typeface="Cambria Math" panose="02040503050406030204" pitchFamily="18" charset="0"/>
                          </a:rPr>
                          <m:t>3</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4</m:t>
                    </m:r>
                    <m:r>
                      <a:rPr lang="en-US" altLang="zh-CN" sz="1800" i="1">
                        <a:solidFill>
                          <a:srgbClr val="000000"/>
                        </a:solidFill>
                        <a:latin typeface="Cambria Math" panose="02040503050406030204" pitchFamily="18" charset="0"/>
                      </a:rPr>
                      <m:t>00</m:t>
                    </m:r>
                    <m:r>
                      <a:rPr lang="en-US" altLang="zh-CN" sz="1800" i="1">
                        <a:solidFill>
                          <a:srgbClr val="000000"/>
                        </a:solidFill>
                        <a:latin typeface="Cambria Math" panose="02040503050406030204" pitchFamily="18" charset="0"/>
                      </a:rPr>
                      <m:t>𝑀𝑃𝑎</m:t>
                    </m:r>
                  </m:oMath>
                </a14:m>
                <a:r>
                  <a:rPr lang="zh-CN" altLang="en-US" sz="1800" dirty="0" smtClean="0">
                    <a:solidFill>
                      <a:srgbClr val="000000"/>
                    </a:solidFill>
                    <a:latin typeface="+mn-ea"/>
                  </a:rPr>
                  <a:t>，</a:t>
                </a:r>
                <a:r>
                  <a:rPr lang="zh-CN" altLang="en-US" sz="1800" dirty="0" smtClean="0">
                    <a:solidFill>
                      <a:srgbClr val="000000"/>
                    </a:solidFill>
                    <a:latin typeface="+mn-ea"/>
                    <a:ea typeface="+mn-ea"/>
                  </a:rPr>
                  <a:t>在每一工作周期内各应力均作用一次，已工作</a:t>
                </a:r>
                <a:r>
                  <a:rPr lang="en-US" altLang="zh-CN" sz="1800" dirty="0" smtClean="0">
                    <a:solidFill>
                      <a:srgbClr val="000000"/>
                    </a:solidFill>
                    <a:latin typeface="+mn-ea"/>
                    <a:ea typeface="+mn-ea"/>
                  </a:rPr>
                  <a:t>90000</a:t>
                </a:r>
                <a:r>
                  <a:rPr lang="zh-CN" altLang="en-US" sz="1800" dirty="0" smtClean="0">
                    <a:solidFill>
                      <a:srgbClr val="000000"/>
                    </a:solidFill>
                    <a:latin typeface="+mn-ea"/>
                    <a:ea typeface="+mn-ea"/>
                  </a:rPr>
                  <a:t>个周期，转轴材料的对称循环疲劳极限</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b="0" i="1" smtClean="0">
                            <a:solidFill>
                              <a:srgbClr val="000000"/>
                            </a:solidFill>
                            <a:latin typeface="Cambria Math" panose="02040503050406030204" pitchFamily="18" charset="0"/>
                          </a:rPr>
                          <m:t>−</m:t>
                        </m:r>
                        <m:r>
                          <a:rPr lang="en-US" altLang="zh-CN" sz="1800" i="1">
                            <a:solidFill>
                              <a:srgbClr val="000000"/>
                            </a:solidFill>
                            <a:latin typeface="Cambria Math" panose="02040503050406030204" pitchFamily="18" charset="0"/>
                          </a:rPr>
                          <m:t>1</m:t>
                        </m:r>
                      </m:sub>
                    </m:sSub>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3</m:t>
                    </m:r>
                    <m:r>
                      <a:rPr lang="en-US" altLang="zh-CN" sz="1800" i="1">
                        <a:solidFill>
                          <a:srgbClr val="000000"/>
                        </a:solidFill>
                        <a:latin typeface="Cambria Math" panose="02040503050406030204" pitchFamily="18" charset="0"/>
                      </a:rPr>
                      <m:t>00</m:t>
                    </m:r>
                    <m:r>
                      <a:rPr lang="en-US" altLang="zh-CN" sz="1800" i="1">
                        <a:solidFill>
                          <a:srgbClr val="000000"/>
                        </a:solidFill>
                        <a:latin typeface="Cambria Math" panose="02040503050406030204" pitchFamily="18" charset="0"/>
                      </a:rPr>
                      <m:t>𝑀𝑃𝑎</m:t>
                    </m:r>
                  </m:oMath>
                </a14:m>
                <a:r>
                  <a:rPr lang="zh-CN" altLang="en-US" sz="1800" dirty="0" smtClean="0">
                    <a:solidFill>
                      <a:srgbClr val="000000"/>
                    </a:solidFill>
                    <a:latin typeface="+mn-ea"/>
                  </a:rPr>
                  <a:t>，</a:t>
                </a:r>
                <a:r>
                  <a:rPr lang="zh-CN" altLang="en-US" sz="1800" dirty="0" smtClean="0">
                    <a:solidFill>
                      <a:srgbClr val="000000"/>
                    </a:solidFill>
                    <a:latin typeface="+mn-ea"/>
                    <a:ea typeface="+mn-ea"/>
                  </a:rPr>
                  <a:t>循环基数</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𝑁</m:t>
                        </m:r>
                      </m:e>
                      <m:sub>
                        <m:r>
                          <a:rPr lang="en-US" altLang="zh-CN" sz="1800" b="0" i="1" smtClean="0">
                            <a:solidFill>
                              <a:srgbClr val="000000"/>
                            </a:solidFill>
                            <a:latin typeface="Cambria Math" panose="02040503050406030204" pitchFamily="18" charset="0"/>
                          </a:rPr>
                          <m:t>0</m:t>
                        </m:r>
                      </m:sub>
                    </m:sSub>
                    <m:r>
                      <a:rPr lang="en-US" altLang="zh-CN" sz="1800" i="1">
                        <a:solidFill>
                          <a:srgbClr val="000000"/>
                        </a:solidFill>
                        <a:latin typeface="Cambria Math" panose="02040503050406030204" pitchFamily="18" charset="0"/>
                      </a:rPr>
                      <m:t>=</m:t>
                    </m:r>
                    <m:sSup>
                      <m:sSupPr>
                        <m:ctrlPr>
                          <a:rPr lang="en-US" altLang="zh-CN" sz="1800" i="1" smtClean="0">
                            <a:solidFill>
                              <a:srgbClr val="000000"/>
                            </a:solidFill>
                            <a:latin typeface="Cambria Math" panose="02040503050406030204" pitchFamily="18" charset="0"/>
                          </a:rPr>
                        </m:ctrlPr>
                      </m:sSupPr>
                      <m:e>
                        <m:r>
                          <a:rPr lang="en-US" altLang="zh-CN" sz="1800" b="0" i="1" smtClean="0">
                            <a:solidFill>
                              <a:srgbClr val="000000"/>
                            </a:solidFill>
                            <a:latin typeface="Cambria Math" panose="02040503050406030204" pitchFamily="18" charset="0"/>
                          </a:rPr>
                          <m:t>10</m:t>
                        </m:r>
                      </m:e>
                      <m:sup>
                        <m:r>
                          <a:rPr lang="en-US" altLang="zh-CN" sz="1800" b="0" i="1" smtClean="0">
                            <a:solidFill>
                              <a:srgbClr val="000000"/>
                            </a:solidFill>
                            <a:latin typeface="Cambria Math" panose="02040503050406030204" pitchFamily="18" charset="0"/>
                          </a:rPr>
                          <m:t>7</m:t>
                        </m:r>
                      </m:sup>
                    </m:sSup>
                  </m:oMath>
                </a14:m>
                <a:r>
                  <a:rPr lang="zh-CN" altLang="en-US" sz="1800" dirty="0" smtClean="0">
                    <a:solidFill>
                      <a:srgbClr val="000000"/>
                    </a:solidFill>
                    <a:latin typeface="+mn-ea"/>
                    <a:ea typeface="+mn-ea"/>
                  </a:rPr>
                  <a:t>，寿命指数</a:t>
                </a:r>
                <a14:m>
                  <m:oMath xmlns:m="http://schemas.openxmlformats.org/officeDocument/2006/math">
                    <m:r>
                      <a:rPr lang="en-US" altLang="zh-CN" sz="1800" b="0" i="1" smtClean="0">
                        <a:solidFill>
                          <a:srgbClr val="000000"/>
                        </a:solidFill>
                        <a:latin typeface="Cambria Math" panose="02040503050406030204" pitchFamily="18" charset="0"/>
                      </a:rPr>
                      <m:t>𝑚</m:t>
                    </m:r>
                    <m:r>
                      <a:rPr lang="en-US" altLang="zh-CN" sz="1800" i="1">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9</m:t>
                    </m:r>
                  </m:oMath>
                </a14:m>
                <a:r>
                  <a:rPr lang="zh-CN" altLang="en-US" sz="1800" dirty="0" smtClean="0">
                    <a:solidFill>
                      <a:srgbClr val="000000"/>
                    </a:solidFill>
                    <a:latin typeface="+mn-ea"/>
                    <a:ea typeface="+mn-ea"/>
                  </a:rPr>
                  <a:t>，试求</a:t>
                </a:r>
                <a:r>
                  <a:rPr lang="en-US" altLang="zh-CN" sz="1800" dirty="0" smtClean="0">
                    <a:solidFill>
                      <a:srgbClr val="000000"/>
                    </a:solidFill>
                    <a:latin typeface="+mn-ea"/>
                    <a:ea typeface="+mn-ea"/>
                  </a:rPr>
                  <a:t>1</a:t>
                </a:r>
                <a:r>
                  <a:rPr lang="zh-CN" altLang="en-US" sz="1800" dirty="0" smtClean="0">
                    <a:solidFill>
                      <a:srgbClr val="000000"/>
                    </a:solidFill>
                    <a:latin typeface="+mn-ea"/>
                    <a:ea typeface="+mn-ea"/>
                  </a:rPr>
                  <a:t>）零件在此条件下的计算安全系数</a:t>
                </a:r>
                <a14:m>
                  <m:oMath xmlns:m="http://schemas.openxmlformats.org/officeDocument/2006/math">
                    <m:sSub>
                      <m:sSubPr>
                        <m:ctrlPr>
                          <a:rPr lang="en-US" altLang="zh-CN" sz="1800" i="1" smtClean="0">
                            <a:solidFill>
                              <a:srgbClr val="000000"/>
                            </a:solidFill>
                            <a:latin typeface="Cambria Math" panose="02040503050406030204" pitchFamily="18" charset="0"/>
                            <a:ea typeface="+mn-ea"/>
                          </a:rPr>
                        </m:ctrlPr>
                      </m:sSubPr>
                      <m:e>
                        <m:r>
                          <a:rPr lang="en-US" altLang="zh-CN" sz="1800" b="0" i="1" smtClean="0">
                            <a:solidFill>
                              <a:srgbClr val="000000"/>
                            </a:solidFill>
                            <a:latin typeface="Cambria Math" panose="02040503050406030204" pitchFamily="18" charset="0"/>
                            <a:ea typeface="+mn-ea"/>
                          </a:rPr>
                          <m:t>𝑆</m:t>
                        </m:r>
                      </m:e>
                      <m:sub>
                        <m:r>
                          <a:rPr lang="en-US" altLang="zh-CN" sz="1800" b="0" i="1" smtClean="0">
                            <a:solidFill>
                              <a:srgbClr val="000000"/>
                            </a:solidFill>
                            <a:latin typeface="Cambria Math" panose="02040503050406030204" pitchFamily="18" charset="0"/>
                            <a:ea typeface="+mn-ea"/>
                          </a:rPr>
                          <m:t>𝑐𝑎</m:t>
                        </m:r>
                      </m:sub>
                    </m:sSub>
                  </m:oMath>
                </a14:m>
                <a:r>
                  <a:rPr lang="zh-CN" altLang="en-US" sz="1800" dirty="0" smtClean="0">
                    <a:solidFill>
                      <a:srgbClr val="000000"/>
                    </a:solidFill>
                    <a:latin typeface="+mn-ea"/>
                    <a:ea typeface="+mn-ea"/>
                  </a:rPr>
                  <a:t>；</a:t>
                </a:r>
                <a:r>
                  <a:rPr lang="en-US" altLang="zh-CN" sz="1800" dirty="0" smtClean="0">
                    <a:solidFill>
                      <a:srgbClr val="000000"/>
                    </a:solidFill>
                    <a:latin typeface="+mn-ea"/>
                    <a:ea typeface="+mn-ea"/>
                  </a:rPr>
                  <a:t>2</a:t>
                </a:r>
                <a:r>
                  <a:rPr lang="zh-CN" altLang="en-US" sz="1800" dirty="0" smtClean="0">
                    <a:solidFill>
                      <a:srgbClr val="000000"/>
                    </a:solidFill>
                    <a:latin typeface="+mn-ea"/>
                    <a:ea typeface="+mn-ea"/>
                  </a:rPr>
                  <a:t>）零件的总寿命损伤率；</a:t>
                </a:r>
                <a:r>
                  <a:rPr lang="en-US" altLang="zh-CN" sz="1800" dirty="0" smtClean="0">
                    <a:solidFill>
                      <a:srgbClr val="000000"/>
                    </a:solidFill>
                    <a:latin typeface="+mn-ea"/>
                    <a:ea typeface="+mn-ea"/>
                  </a:rPr>
                  <a:t>3</a:t>
                </a:r>
                <a:r>
                  <a:rPr lang="zh-CN" altLang="en-US" sz="1800" dirty="0" smtClean="0">
                    <a:solidFill>
                      <a:srgbClr val="000000"/>
                    </a:solidFill>
                    <a:latin typeface="+mn-ea"/>
                    <a:ea typeface="+mn-ea"/>
                  </a:rPr>
                  <a:t>）零件剩余寿命还能工作多少个周期？</a:t>
                </a:r>
                <a:r>
                  <a:rPr lang="en-US" altLang="zh-CN" sz="1800" dirty="0" smtClean="0">
                    <a:solidFill>
                      <a:srgbClr val="000000"/>
                    </a:solidFill>
                    <a:latin typeface="+mn-ea"/>
                    <a:ea typeface="+mn-ea"/>
                  </a:rPr>
                  <a:t>4</a:t>
                </a:r>
                <a:r>
                  <a:rPr lang="zh-CN" altLang="en-US" sz="1800" dirty="0" smtClean="0">
                    <a:solidFill>
                      <a:srgbClr val="000000"/>
                    </a:solidFill>
                    <a:latin typeface="+mn-ea"/>
                    <a:ea typeface="+mn-ea"/>
                  </a:rPr>
                  <a:t>）如果</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𝜎</m:t>
                        </m:r>
                      </m:e>
                      <m:sub>
                        <m:r>
                          <a:rPr lang="en-US" altLang="zh-CN" sz="1800" i="1">
                            <a:solidFill>
                              <a:srgbClr val="000000"/>
                            </a:solidFill>
                            <a:latin typeface="Cambria Math" panose="02040503050406030204" pitchFamily="18" charset="0"/>
                          </a:rPr>
                          <m:t>−1</m:t>
                        </m:r>
                      </m:sub>
                    </m:sSub>
                    <m:r>
                      <a:rPr lang="en-US" altLang="zh-CN" sz="1800" i="1">
                        <a:solidFill>
                          <a:srgbClr val="000000"/>
                        </a:solidFill>
                        <a:latin typeface="Cambria Math" panose="02040503050406030204" pitchFamily="18" charset="0"/>
                      </a:rPr>
                      <m:t>=3</m:t>
                    </m:r>
                    <m:r>
                      <a:rPr lang="en-US" altLang="zh-CN" sz="1800" b="0" i="1" smtClean="0">
                        <a:solidFill>
                          <a:srgbClr val="000000"/>
                        </a:solidFill>
                        <a:latin typeface="Cambria Math" panose="02040503050406030204" pitchFamily="18" charset="0"/>
                      </a:rPr>
                      <m:t>2</m:t>
                    </m:r>
                    <m:r>
                      <a:rPr lang="en-US" altLang="zh-CN" sz="1800" i="1">
                        <a:solidFill>
                          <a:srgbClr val="000000"/>
                        </a:solidFill>
                        <a:latin typeface="Cambria Math" panose="02040503050406030204" pitchFamily="18" charset="0"/>
                      </a:rPr>
                      <m:t>0</m:t>
                    </m:r>
                    <m:r>
                      <a:rPr lang="en-US" altLang="zh-CN" sz="1800" i="1">
                        <a:solidFill>
                          <a:srgbClr val="000000"/>
                        </a:solidFill>
                        <a:latin typeface="Cambria Math" panose="02040503050406030204" pitchFamily="18" charset="0"/>
                      </a:rPr>
                      <m:t>𝑀𝑃𝑎</m:t>
                    </m:r>
                  </m:oMath>
                </a14:m>
                <a:r>
                  <a:rPr lang="zh-CN" altLang="en-US" sz="1800" dirty="0" smtClean="0">
                    <a:solidFill>
                      <a:srgbClr val="000000"/>
                    </a:solidFill>
                    <a:latin typeface="+mn-ea"/>
                  </a:rPr>
                  <a:t>，情况又会如何？</a:t>
                </a:r>
                <a:endParaRPr lang="zh-CN" altLang="en-US" sz="1800" dirty="0">
                  <a:solidFill>
                    <a:srgbClr val="000000"/>
                  </a:solidFill>
                  <a:latin typeface="+mn-ea"/>
                  <a:ea typeface="+mn-ea"/>
                </a:endParaRPr>
              </a:p>
            </p:txBody>
          </p:sp>
        </mc:Choice>
        <mc:Fallback xmlns="">
          <p:sp>
            <p:nvSpPr>
              <p:cNvPr id="4" name="Text Box 3">
                <a:extLst>
                  <a:ext uri="{FF2B5EF4-FFF2-40B4-BE49-F238E27FC236}">
                    <a16:creationId xmlns:a16="http://schemas.microsoft.com/office/drawing/2014/main" xmlns="" xmlns:a14="http://schemas.microsoft.com/office/drawing/2010/main" id="{5D7F92A6-81B9-48B7-8897-11500C3FB078}"/>
                  </a:ext>
                </a:extLst>
              </p:cNvPr>
              <p:cNvSpPr txBox="1">
                <a:spLocks noRot="1" noChangeAspect="1" noMove="1" noResize="1" noEditPoints="1" noAdjustHandles="1" noChangeArrowheads="1" noChangeShapeType="1" noTextEdit="1"/>
              </p:cNvSpPr>
              <p:nvPr/>
            </p:nvSpPr>
            <p:spPr bwMode="auto">
              <a:xfrm>
                <a:off x="183143" y="514335"/>
                <a:ext cx="8853353" cy="1823576"/>
              </a:xfrm>
              <a:prstGeom prst="rect">
                <a:avLst/>
              </a:prstGeom>
              <a:blipFill rotWithShape="0">
                <a:blip r:embed="rId2"/>
                <a:stretch>
                  <a:fillRect l="-551" r="-3168" b="-2333"/>
                </a:stretch>
              </a:blipFill>
              <a:ln>
                <a:noFill/>
              </a:ln>
              <a:extLst/>
            </p:spPr>
            <p:txBody>
              <a:bodyPr/>
              <a:lstStyle/>
              <a:p>
                <a:r>
                  <a:rPr lang="zh-CN" altLang="en-US">
                    <a:noFill/>
                  </a:rPr>
                  <a:t> </a:t>
                </a:r>
              </a:p>
            </p:txBody>
          </p:sp>
        </mc:Fallback>
      </mc:AlternateContent>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例题讲解与讨论</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83143" y="2497460"/>
            <a:ext cx="3308737" cy="369332"/>
          </a:xfrm>
          <a:prstGeom prst="rect">
            <a:avLst/>
          </a:prstGeom>
          <a:noFill/>
        </p:spPr>
        <p:txBody>
          <a:bodyPr wrap="square" rtlCol="0">
            <a:spAutoFit/>
          </a:bodyPr>
          <a:lstStyle/>
          <a:p>
            <a:r>
              <a:rPr lang="zh-CN" altLang="en-US" b="1" dirty="0" smtClean="0">
                <a:solidFill>
                  <a:srgbClr val="C00000"/>
                </a:solidFill>
                <a:latin typeface="宋体" panose="02010600030101010101" pitchFamily="2" charset="-122"/>
              </a:rPr>
              <a:t>解：</a:t>
            </a:r>
            <a:r>
              <a:rPr lang="en-US" altLang="zh-CN" b="1" dirty="0" smtClean="0">
                <a:latin typeface="宋体" panose="02010600030101010101" pitchFamily="2" charset="-122"/>
              </a:rPr>
              <a:t>1</a:t>
            </a:r>
            <a:r>
              <a:rPr lang="zh-CN" altLang="en-US" b="1" dirty="0" smtClean="0">
                <a:latin typeface="宋体" panose="02010600030101010101" pitchFamily="2" charset="-122"/>
              </a:rPr>
              <a:t>）零件的计算安全系数：</a:t>
            </a:r>
            <a:endParaRPr lang="zh-CN" altLang="en-US" b="1"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9" name="文本框 8"/>
              <p:cNvSpPr txBox="1"/>
              <p:nvPr/>
            </p:nvSpPr>
            <p:spPr>
              <a:xfrm>
                <a:off x="1860477" y="3021421"/>
                <a:ext cx="6447855" cy="840743"/>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en-US" altLang="zh-CN" sz="1600" b="0" i="1" smtClean="0">
                              <a:latin typeface="Cambria Math" panose="02040503050406030204" pitchFamily="18" charset="0"/>
                            </a:rPr>
                            <m:t>𝑐𝑎</m:t>
                          </m:r>
                        </m:sub>
                      </m:sSub>
                      <m:r>
                        <a:rPr lang="en-US" altLang="zh-CN" sz="1600" b="0" i="1" smtClean="0">
                          <a:latin typeface="Cambria Math" panose="02040503050406030204" pitchFamily="18" charset="0"/>
                        </a:rPr>
                        <m:t>=</m:t>
                      </m:r>
                      <m:rad>
                        <m:radPr>
                          <m:ctrlPr>
                            <a:rPr lang="en-US" altLang="zh-CN" sz="1600" b="0" i="1" smtClean="0">
                              <a:latin typeface="Cambria Math" panose="02040503050406030204" pitchFamily="18" charset="0"/>
                            </a:rPr>
                          </m:ctrlPr>
                        </m:radPr>
                        <m:deg>
                          <m:r>
                            <m:rPr>
                              <m:brk m:alnAt="7"/>
                            </m:rPr>
                            <a:rPr lang="en-US" altLang="zh-CN" sz="1600" b="0" i="1" smtClean="0">
                              <a:latin typeface="Cambria Math" panose="02040503050406030204" pitchFamily="18" charset="0"/>
                            </a:rPr>
                            <m:t>𝑚</m:t>
                          </m:r>
                        </m:deg>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1</m:t>
                              </m:r>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den>
                          </m:f>
                          <m:nary>
                            <m:naryPr>
                              <m:chr m:val="∑"/>
                              <m:limLoc m:val="subSup"/>
                              <m:ctrlPr>
                                <a:rPr lang="en-US" altLang="zh-CN" sz="1600" i="1">
                                  <a:latin typeface="Cambria Math" panose="02040503050406030204" pitchFamily="18" charset="0"/>
                                </a:rPr>
                              </m:ctrlPr>
                            </m:naryPr>
                            <m:sub>
                              <m:r>
                                <m:rPr>
                                  <m:brk m:alnAt="25"/>
                                </m:rP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𝑧</m:t>
                              </m:r>
                            </m:sup>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𝑖</m:t>
                                  </m:r>
                                </m:sub>
                              </m:sSub>
                              <m:sSubSup>
                                <m:sSubSupPr>
                                  <m:ctrlPr>
                                    <a:rPr lang="en-US" altLang="zh-CN" sz="1600" i="1">
                                      <a:latin typeface="Cambria Math" panose="02040503050406030204" pitchFamily="18" charset="0"/>
                                    </a:rPr>
                                  </m:ctrlPr>
                                </m:sSubSupPr>
                                <m:e>
                                  <m:r>
                                    <a:rPr lang="zh-CN" altLang="en-US" sz="1600" i="1">
                                      <a:latin typeface="Cambria Math" panose="02040503050406030204" pitchFamily="18" charset="0"/>
                                    </a:rPr>
                                    <m:t>𝜎</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𝑚</m:t>
                                  </m:r>
                                </m:sup>
                              </m:sSubSup>
                            </m:e>
                          </m:nary>
                        </m:e>
                      </m:rad>
                      <m:r>
                        <a:rPr lang="en-US" altLang="zh-CN" sz="1600" b="0" i="1" smtClean="0">
                          <a:latin typeface="Cambria Math" panose="02040503050406030204" pitchFamily="18" charset="0"/>
                        </a:rPr>
                        <m:t>=</m:t>
                      </m:r>
                      <m:rad>
                        <m:radPr>
                          <m:ctrlPr>
                            <a:rPr lang="en-US" altLang="zh-CN" sz="1600" i="1">
                              <a:latin typeface="Cambria Math" panose="02040503050406030204" pitchFamily="18" charset="0"/>
                            </a:rPr>
                          </m:ctrlPr>
                        </m:radPr>
                        <m:deg>
                          <m:r>
                            <a:rPr lang="en-US" altLang="zh-CN" sz="1600" b="0" i="1" smtClean="0">
                              <a:latin typeface="Cambria Math" panose="02040503050406030204" pitchFamily="18" charset="0"/>
                            </a:rPr>
                            <m:t>9</m:t>
                          </m:r>
                        </m:deg>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90000</m:t>
                              </m:r>
                            </m:num>
                            <m:den>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den>
                          </m:f>
                          <m:d>
                            <m:dPr>
                              <m:begChr m:val="["/>
                              <m:endChr m:val="]"/>
                              <m:ctrlPr>
                                <a:rPr lang="en-US" altLang="zh-CN" sz="1600" i="1">
                                  <a:latin typeface="Cambria Math" panose="02040503050406030204" pitchFamily="18" charset="0"/>
                                </a:rPr>
                              </m:ctrlPr>
                            </m:dPr>
                            <m:e>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500</m:t>
                                  </m:r>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450</m:t>
                                  </m:r>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400</m:t>
                                  </m:r>
                                </m:e>
                                <m:sup>
                                  <m:r>
                                    <a:rPr lang="en-US" altLang="zh-CN" sz="1600" b="0" i="1" smtClean="0">
                                      <a:latin typeface="Cambria Math" panose="02040503050406030204" pitchFamily="18" charset="0"/>
                                    </a:rPr>
                                    <m:t>9</m:t>
                                  </m:r>
                                </m:sup>
                              </m:sSup>
                            </m:e>
                          </m:d>
                        </m:e>
                      </m:rad>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310.4</m:t>
                      </m:r>
                      <m:r>
                        <a:rPr lang="en-US" altLang="zh-CN" sz="1600" b="0" i="1" smtClean="0">
                          <a:latin typeface="Cambria Math" panose="02040503050406030204" pitchFamily="18" charset="0"/>
                          <a:ea typeface="Cambria Math" panose="02040503050406030204" pitchFamily="18" charset="0"/>
                        </a:rPr>
                        <m:t>𝑀𝑃𝑎</m:t>
                      </m:r>
                    </m:oMath>
                  </m:oMathPara>
                </a14:m>
                <a:endParaRPr lang="zh-CN" altLang="en-US" sz="1600" dirty="0"/>
              </a:p>
            </p:txBody>
          </p:sp>
        </mc:Choice>
        <mc:Fallback xmlns="">
          <p:sp>
            <p:nvSpPr>
              <p:cNvPr id="9" name="文本框 8"/>
              <p:cNvSpPr txBox="1">
                <a:spLocks noRot="1" noChangeAspect="1" noMove="1" noResize="1" noEditPoints="1" noAdjustHandles="1" noChangeArrowheads="1" noChangeShapeType="1" noTextEdit="1"/>
              </p:cNvSpPr>
              <p:nvPr/>
            </p:nvSpPr>
            <p:spPr>
              <a:xfrm>
                <a:off x="1860477" y="3021421"/>
                <a:ext cx="6447855" cy="840743"/>
              </a:xfrm>
              <a:prstGeom prst="rect">
                <a:avLst/>
              </a:prstGeom>
              <a:blipFill rotWithShape="0">
                <a:blip r:embed="rId3"/>
                <a:stretch>
                  <a:fillRect/>
                </a:stretch>
              </a:blipFill>
            </p:spPr>
            <p:txBody>
              <a:bodyPr/>
              <a:lstStyle/>
              <a:p>
                <a:r>
                  <a:rPr lang="zh-CN" altLang="en-US">
                    <a:noFill/>
                  </a:rPr>
                  <a:t> </a:t>
                </a:r>
              </a:p>
            </p:txBody>
          </p:sp>
        </mc:Fallback>
      </mc:AlternateContent>
      <p:sp>
        <p:nvSpPr>
          <p:cNvPr id="16" name="文本框 15"/>
          <p:cNvSpPr txBox="1"/>
          <p:nvPr/>
        </p:nvSpPr>
        <p:spPr>
          <a:xfrm>
            <a:off x="183143" y="3257126"/>
            <a:ext cx="1508746" cy="369332"/>
          </a:xfrm>
          <a:prstGeom prst="rect">
            <a:avLst/>
          </a:prstGeom>
          <a:noFill/>
        </p:spPr>
        <p:txBody>
          <a:bodyPr wrap="square" rtlCol="0">
            <a:spAutoFit/>
          </a:bodyPr>
          <a:lstStyle>
            <a:defPPr>
              <a:defRPr lang="zh-CN"/>
            </a:defPPr>
            <a:lvl1pPr>
              <a:defRPr b="1">
                <a:solidFill>
                  <a:srgbClr val="C00000"/>
                </a:solidFill>
              </a:defRPr>
            </a:lvl1pPr>
          </a:lstStyle>
          <a:p>
            <a:r>
              <a:rPr lang="zh-CN" altLang="en-US" dirty="0">
                <a:solidFill>
                  <a:schemeClr val="tx1"/>
                </a:solidFill>
              </a:rPr>
              <a:t>∵计算应力为</a:t>
            </a:r>
          </a:p>
        </p:txBody>
      </p:sp>
      <p:sp>
        <p:nvSpPr>
          <p:cNvPr id="18" name="文本框 17"/>
          <p:cNvSpPr txBox="1"/>
          <p:nvPr/>
        </p:nvSpPr>
        <p:spPr>
          <a:xfrm>
            <a:off x="187222" y="4130382"/>
            <a:ext cx="2876689" cy="369332"/>
          </a:xfrm>
          <a:prstGeom prst="rect">
            <a:avLst/>
          </a:prstGeom>
          <a:noFill/>
        </p:spPr>
        <p:txBody>
          <a:bodyPr wrap="square" rtlCol="0">
            <a:spAutoFit/>
          </a:bodyPr>
          <a:lstStyle>
            <a:defPPr>
              <a:defRPr lang="zh-CN"/>
            </a:defPPr>
            <a:lvl1pPr>
              <a:defRPr b="1"/>
            </a:lvl1pPr>
          </a:lstStyle>
          <a:p>
            <a:r>
              <a:rPr lang="zh-CN" altLang="en-US" dirty="0" smtClean="0"/>
              <a:t>∴零件的计算安全系数为：</a:t>
            </a:r>
            <a:endParaRPr lang="zh-CN" altLang="en-US" dirty="0"/>
          </a:p>
        </p:txBody>
      </p:sp>
      <mc:AlternateContent xmlns:mc="http://schemas.openxmlformats.org/markup-compatibility/2006" xmlns:a14="http://schemas.microsoft.com/office/drawing/2010/main">
        <mc:Choice Requires="a14">
          <p:sp>
            <p:nvSpPr>
              <p:cNvPr id="19" name="文本框 18"/>
              <p:cNvSpPr txBox="1"/>
              <p:nvPr/>
            </p:nvSpPr>
            <p:spPr>
              <a:xfrm>
                <a:off x="3051667" y="4016793"/>
                <a:ext cx="2744469" cy="59651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𝑆</m:t>
                          </m:r>
                        </m:e>
                        <m:sub>
                          <m:r>
                            <a:rPr lang="en-US" altLang="zh-CN" sz="1600" b="0" i="1" smtClean="0">
                              <a:latin typeface="Cambria Math" panose="02040503050406030204" pitchFamily="18" charset="0"/>
                            </a:rPr>
                            <m:t>𝑐𝑎</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𝑐𝑎</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300</m:t>
                          </m:r>
                        </m:num>
                        <m:den>
                          <m:r>
                            <a:rPr lang="en-US" altLang="zh-CN" sz="1600" b="0" i="1" smtClean="0">
                              <a:latin typeface="Cambria Math" panose="02040503050406030204" pitchFamily="18" charset="0"/>
                            </a:rPr>
                            <m:t>310.4</m:t>
                          </m:r>
                        </m:den>
                      </m:f>
                      <m:r>
                        <a:rPr lang="en-US" altLang="zh-CN" sz="1600" b="0" i="1" smtClean="0">
                          <a:latin typeface="Cambria Math" panose="02040503050406030204" pitchFamily="18" charset="0"/>
                        </a:rPr>
                        <m:t>=0.9665</m:t>
                      </m:r>
                    </m:oMath>
                  </m:oMathPara>
                </a14:m>
                <a:endParaRPr lang="zh-CN" altLang="en-US" sz="1600" dirty="0"/>
              </a:p>
            </p:txBody>
          </p:sp>
        </mc:Choice>
        <mc:Fallback xmlns="">
          <p:sp>
            <p:nvSpPr>
              <p:cNvPr id="19" name="文本框 18"/>
              <p:cNvSpPr txBox="1">
                <a:spLocks noRot="1" noChangeAspect="1" noMove="1" noResize="1" noEditPoints="1" noAdjustHandles="1" noChangeArrowheads="1" noChangeShapeType="1" noTextEdit="1"/>
              </p:cNvSpPr>
              <p:nvPr/>
            </p:nvSpPr>
            <p:spPr>
              <a:xfrm>
                <a:off x="3051667" y="4016793"/>
                <a:ext cx="2744469" cy="596510"/>
              </a:xfrm>
              <a:prstGeom prst="rect">
                <a:avLst/>
              </a:prstGeom>
              <a:blipFill rotWithShape="0">
                <a:blip r:embed="rId4"/>
                <a:stretch>
                  <a:fillRect/>
                </a:stretch>
              </a:blipFill>
            </p:spPr>
            <p:txBody>
              <a:bodyPr/>
              <a:lstStyle/>
              <a:p>
                <a:r>
                  <a:rPr lang="zh-CN" altLang="en-US">
                    <a:noFill/>
                  </a:rPr>
                  <a:t> </a:t>
                </a:r>
              </a:p>
            </p:txBody>
          </p:sp>
        </mc:Fallback>
      </mc:AlternateContent>
      <p:sp>
        <p:nvSpPr>
          <p:cNvPr id="20" name="文本框 19"/>
          <p:cNvSpPr txBox="1"/>
          <p:nvPr/>
        </p:nvSpPr>
        <p:spPr>
          <a:xfrm>
            <a:off x="183143" y="4960361"/>
            <a:ext cx="2732673" cy="369332"/>
          </a:xfrm>
          <a:prstGeom prst="rect">
            <a:avLst/>
          </a:prstGeom>
          <a:noFill/>
        </p:spPr>
        <p:txBody>
          <a:bodyPr wrap="square" rtlCol="0">
            <a:spAutoFit/>
          </a:bodyPr>
          <a:lstStyle/>
          <a:p>
            <a:r>
              <a:rPr lang="en-US" altLang="zh-CN" b="1" dirty="0" smtClean="0">
                <a:latin typeface="宋体" panose="02010600030101010101" pitchFamily="2" charset="-122"/>
              </a:rPr>
              <a:t>2</a:t>
            </a:r>
            <a:r>
              <a:rPr lang="zh-CN" altLang="en-US" b="1" dirty="0" smtClean="0">
                <a:latin typeface="宋体" panose="02010600030101010101" pitchFamily="2" charset="-122"/>
              </a:rPr>
              <a:t>）求零件的总损伤率：</a:t>
            </a:r>
            <a:endParaRPr lang="zh-CN" altLang="en-US" b="1"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21" name="文本框 20"/>
              <p:cNvSpPr txBox="1"/>
              <p:nvPr/>
            </p:nvSpPr>
            <p:spPr>
              <a:xfrm>
                <a:off x="2987824" y="4797945"/>
                <a:ext cx="4078745"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300</m:t>
                                  </m:r>
                                </m:num>
                                <m:den>
                                  <m:r>
                                    <a:rPr lang="en-US" altLang="zh-CN" sz="1600" b="0" i="1" smtClean="0">
                                      <a:latin typeface="Cambria Math" panose="02040503050406030204" pitchFamily="18" charset="0"/>
                                    </a:rPr>
                                    <m:t>500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100777</m:t>
                      </m:r>
                    </m:oMath>
                  </m:oMathPara>
                </a14:m>
                <a:endParaRPr lang="zh-CN" altLang="en-US" sz="1600" dirty="0"/>
              </a:p>
            </p:txBody>
          </p:sp>
        </mc:Choice>
        <mc:Fallback xmlns="">
          <p:sp>
            <p:nvSpPr>
              <p:cNvPr id="21" name="文本框 20"/>
              <p:cNvSpPr txBox="1">
                <a:spLocks noRot="1" noChangeAspect="1" noMove="1" noResize="1" noEditPoints="1" noAdjustHandles="1" noChangeArrowheads="1" noChangeShapeType="1" noTextEdit="1"/>
              </p:cNvSpPr>
              <p:nvPr/>
            </p:nvSpPr>
            <p:spPr>
              <a:xfrm>
                <a:off x="2987824" y="4797945"/>
                <a:ext cx="4078745" cy="694164"/>
              </a:xfrm>
              <a:prstGeom prst="rect">
                <a:avLst/>
              </a:prstGeom>
              <a:blipFill rotWithShape="0">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512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9" grpId="0"/>
      <p:bldP spid="20"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单圆角矩形 3"/>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例题讲解与讨论</a:t>
            </a:r>
            <a:endParaRPr lang="zh-CN" altLang="en-US" sz="1500" dirty="0">
              <a:solidFill>
                <a:srgbClr val="FF6600"/>
              </a:solidFill>
            </a:endParaRPr>
          </a:p>
        </p:txBody>
      </p:sp>
      <p:sp>
        <p:nvSpPr>
          <p:cNvPr id="5" name="直角三角形 4"/>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308737" y="697260"/>
                <a:ext cx="4083490"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2</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300</m:t>
                                  </m:r>
                                </m:num>
                                <m:den>
                                  <m:r>
                                    <a:rPr lang="en-US" altLang="zh-CN" sz="1600" b="0" i="1" smtClean="0">
                                      <a:latin typeface="Cambria Math" panose="02040503050406030204" pitchFamily="18" charset="0"/>
                                    </a:rPr>
                                    <m:t>450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260124</m:t>
                      </m:r>
                    </m:oMath>
                  </m:oMathPara>
                </a14:m>
                <a:endParaRPr lang="zh-CN" altLang="en-US" sz="1600" dirty="0"/>
              </a:p>
            </p:txBody>
          </p:sp>
        </mc:Choice>
        <mc:Fallback xmlns="">
          <p:sp>
            <p:nvSpPr>
              <p:cNvPr id="8" name="文本框 7"/>
              <p:cNvSpPr txBox="1">
                <a:spLocks noRot="1" noChangeAspect="1" noMove="1" noResize="1" noEditPoints="1" noAdjustHandles="1" noChangeArrowheads="1" noChangeShapeType="1" noTextEdit="1"/>
              </p:cNvSpPr>
              <p:nvPr/>
            </p:nvSpPr>
            <p:spPr>
              <a:xfrm>
                <a:off x="308737" y="697260"/>
                <a:ext cx="4083490" cy="694164"/>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798944" y="697260"/>
                <a:ext cx="4083490"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3</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300</m:t>
                                  </m:r>
                                </m:num>
                                <m:den>
                                  <m:r>
                                    <a:rPr lang="en-US" altLang="zh-CN" sz="1600" b="0" i="1" smtClean="0">
                                      <a:latin typeface="Cambria Math" panose="02040503050406030204" pitchFamily="18" charset="0"/>
                                    </a:rPr>
                                    <m:t>400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750847</m:t>
                      </m:r>
                    </m:oMath>
                  </m:oMathPara>
                </a14:m>
                <a:endParaRPr lang="zh-CN" altLang="en-US" sz="1600" dirty="0"/>
              </a:p>
            </p:txBody>
          </p:sp>
        </mc:Choice>
        <mc:Fallback xmlns="">
          <p:sp>
            <p:nvSpPr>
              <p:cNvPr id="9" name="文本框 8"/>
              <p:cNvSpPr txBox="1">
                <a:spLocks noRot="1" noChangeAspect="1" noMove="1" noResize="1" noEditPoints="1" noAdjustHandles="1" noChangeArrowheads="1" noChangeShapeType="1" noTextEdit="1"/>
              </p:cNvSpPr>
              <p:nvPr/>
            </p:nvSpPr>
            <p:spPr>
              <a:xfrm>
                <a:off x="4798944" y="697260"/>
                <a:ext cx="4083490" cy="694164"/>
              </a:xfrm>
              <a:prstGeom prst="rect">
                <a:avLst/>
              </a:prstGeom>
              <a:blipFill rotWithShape="0">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13482" y="1513269"/>
                <a:ext cx="6686831" cy="78451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nary>
                        <m:naryPr>
                          <m:chr m:val="∑"/>
                          <m:ctrlPr>
                            <a:rPr lang="en-US" altLang="zh-CN" sz="160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3</m:t>
                          </m:r>
                        </m:sup>
                        <m:e>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1</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𝑖</m:t>
                                  </m:r>
                                </m:sub>
                              </m:sSub>
                            </m:den>
                          </m:f>
                        </m:e>
                      </m:nary>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100777</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260124</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750847</m:t>
                          </m:r>
                        </m:den>
                      </m:f>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0.893+0.346+0.120=1.359</m:t>
                      </m:r>
                    </m:oMath>
                  </m:oMathPara>
                </a14:m>
                <a:endParaRPr lang="zh-CN" altLang="en-US" sz="16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313482" y="1513269"/>
                <a:ext cx="6686831" cy="784510"/>
              </a:xfrm>
              <a:prstGeom prst="rect">
                <a:avLst/>
              </a:prstGeom>
              <a:blipFill rotWithShape="0">
                <a:blip r:embed="rId4"/>
                <a:stretch>
                  <a:fillRect/>
                </a:stretch>
              </a:blipFill>
            </p:spPr>
            <p:txBody>
              <a:bodyPr/>
              <a:lstStyle/>
              <a:p>
                <a:r>
                  <a:rPr lang="zh-CN" altLang="en-US">
                    <a:noFill/>
                  </a:rPr>
                  <a:t> </a:t>
                </a:r>
              </a:p>
            </p:txBody>
          </p:sp>
        </mc:Fallback>
      </mc:AlternateContent>
      <p:sp>
        <p:nvSpPr>
          <p:cNvPr id="11" name="文本框 10"/>
          <p:cNvSpPr txBox="1"/>
          <p:nvPr/>
        </p:nvSpPr>
        <p:spPr>
          <a:xfrm>
            <a:off x="245105" y="2612782"/>
            <a:ext cx="2588658" cy="369332"/>
          </a:xfrm>
          <a:prstGeom prst="rect">
            <a:avLst/>
          </a:prstGeom>
          <a:noFill/>
        </p:spPr>
        <p:txBody>
          <a:bodyPr wrap="square" rtlCol="0">
            <a:spAutoFit/>
          </a:bodyPr>
          <a:lstStyle/>
          <a:p>
            <a:r>
              <a:rPr lang="en-US" altLang="zh-CN" b="1" dirty="0" smtClean="0">
                <a:latin typeface="宋体" panose="02010600030101010101" pitchFamily="2" charset="-122"/>
              </a:rPr>
              <a:t>3</a:t>
            </a:r>
            <a:r>
              <a:rPr lang="zh-CN" altLang="en-US" b="1" dirty="0" smtClean="0">
                <a:latin typeface="宋体" panose="02010600030101010101" pitchFamily="2" charset="-122"/>
              </a:rPr>
              <a:t>）剩余工作周期数数：</a:t>
            </a:r>
            <a:endParaRPr lang="zh-CN" altLang="en-US" b="1" dirty="0">
              <a:latin typeface="宋体" panose="02010600030101010101" pitchFamily="2" charset="-122"/>
            </a:endParaRPr>
          </a:p>
        </p:txBody>
      </p:sp>
      <p:grpSp>
        <p:nvGrpSpPr>
          <p:cNvPr id="12" name="组合 11"/>
          <p:cNvGrpSpPr/>
          <p:nvPr/>
        </p:nvGrpSpPr>
        <p:grpSpPr>
          <a:xfrm>
            <a:off x="2771800" y="2396758"/>
            <a:ext cx="2317942" cy="784510"/>
            <a:chOff x="2915816" y="4873724"/>
            <a:chExt cx="2317942" cy="784510"/>
          </a:xfrm>
        </p:grpSpPr>
        <p:sp>
          <p:nvSpPr>
            <p:cNvPr id="13" name="文本框 12"/>
            <p:cNvSpPr txBox="1"/>
            <p:nvPr/>
          </p:nvSpPr>
          <p:spPr>
            <a:xfrm>
              <a:off x="2915816" y="5089748"/>
              <a:ext cx="415498" cy="369332"/>
            </a:xfrm>
            <a:prstGeom prst="rect">
              <a:avLst/>
            </a:prstGeom>
            <a:noFill/>
          </p:spPr>
          <p:txBody>
            <a:bodyPr wrap="none" rtlCol="0">
              <a:spAutoFit/>
            </a:bodyPr>
            <a:lstStyle/>
            <a:p>
              <a:r>
                <a:rPr lang="zh-CN" altLang="en-US" dirty="0" smtClean="0">
                  <a:latin typeface="宋体" panose="02010600030101010101" pitchFamily="2" charset="-122"/>
                </a:rPr>
                <a:t>∵</a:t>
              </a:r>
              <a:endParaRPr lang="zh-CN" altLang="en-US" dirty="0"/>
            </a:p>
          </p:txBody>
        </p:sp>
        <mc:AlternateContent xmlns:mc="http://schemas.openxmlformats.org/markup-compatibility/2006" xmlns:a14="http://schemas.microsoft.com/office/drawing/2010/main">
          <mc:Choice Requires="a14">
            <p:sp>
              <p:nvSpPr>
                <p:cNvPr id="14" name="文本框 13"/>
                <p:cNvSpPr txBox="1"/>
                <p:nvPr/>
              </p:nvSpPr>
              <p:spPr>
                <a:xfrm>
                  <a:off x="3331314" y="4873724"/>
                  <a:ext cx="1902444" cy="78451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nary>
                          <m:naryPr>
                            <m:chr m:val="∑"/>
                            <m:ctrlPr>
                              <a:rPr lang="en-US" altLang="zh-CN" sz="160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3</m:t>
                            </m:r>
                          </m:sup>
                          <m:e>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1</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𝑖</m:t>
                                    </m:r>
                                  </m:sub>
                                </m:sSub>
                              </m:den>
                            </m:f>
                          </m:e>
                        </m:nary>
                        <m:r>
                          <a:rPr lang="en-US" altLang="zh-CN" sz="1600" b="0" i="1" smtClean="0">
                            <a:latin typeface="Cambria Math" panose="02040503050406030204" pitchFamily="18" charset="0"/>
                          </a:rPr>
                          <m:t>=1.359</m:t>
                        </m:r>
                        <m:r>
                          <a:rPr lang="en-US" altLang="zh-CN" sz="1600" b="0" i="1" smtClean="0">
                            <a:latin typeface="Cambria Math" panose="02040503050406030204" pitchFamily="18" charset="0"/>
                            <a:ea typeface="Cambria Math" panose="02040503050406030204" pitchFamily="18" charset="0"/>
                          </a:rPr>
                          <m:t>&gt;1</m:t>
                        </m:r>
                      </m:oMath>
                    </m:oMathPara>
                  </a14:m>
                  <a:endParaRPr lang="zh-CN" altLang="en-US" sz="16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331314" y="4873724"/>
                  <a:ext cx="1902444" cy="784510"/>
                </a:xfrm>
                <a:prstGeom prst="rect">
                  <a:avLst/>
                </a:prstGeom>
                <a:blipFill rotWithShape="0">
                  <a:blip r:embed="rId7"/>
                  <a:stretch>
                    <a:fillRect/>
                  </a:stretch>
                </a:blipFill>
              </p:spPr>
              <p:txBody>
                <a:bodyPr/>
                <a:lstStyle/>
                <a:p>
                  <a:r>
                    <a:rPr lang="zh-CN" altLang="en-US">
                      <a:noFill/>
                    </a:rPr>
                    <a:t> </a:t>
                  </a:r>
                </a:p>
              </p:txBody>
            </p:sp>
          </mc:Fallback>
        </mc:AlternateContent>
      </p:grpSp>
      <p:sp>
        <p:nvSpPr>
          <p:cNvPr id="15" name="文本框 14"/>
          <p:cNvSpPr txBox="1"/>
          <p:nvPr/>
        </p:nvSpPr>
        <p:spPr>
          <a:xfrm>
            <a:off x="5292080" y="2604347"/>
            <a:ext cx="3531736" cy="369332"/>
          </a:xfrm>
          <a:prstGeom prst="rect">
            <a:avLst/>
          </a:prstGeom>
          <a:noFill/>
        </p:spPr>
        <p:txBody>
          <a:bodyPr wrap="square" rtlCol="0">
            <a:spAutoFit/>
          </a:bodyPr>
          <a:lstStyle>
            <a:defPPr>
              <a:defRPr lang="zh-CN"/>
            </a:defPPr>
            <a:lvl1pPr>
              <a:defRPr b="1"/>
            </a:lvl1pPr>
          </a:lstStyle>
          <a:p>
            <a:r>
              <a:rPr lang="zh-CN" altLang="en-US" dirty="0">
                <a:latin typeface="宋体" panose="02010600030101010101" pitchFamily="2" charset="-122"/>
              </a:rPr>
              <a:t>∴零件剩余寿命还能工作</a:t>
            </a:r>
            <a:r>
              <a:rPr lang="en-US" altLang="zh-CN" dirty="0">
                <a:latin typeface="宋体" panose="02010600030101010101" pitchFamily="2" charset="-122"/>
              </a:rPr>
              <a:t>0</a:t>
            </a:r>
            <a:r>
              <a:rPr lang="zh-CN" altLang="en-US" dirty="0">
                <a:latin typeface="宋体" panose="02010600030101010101" pitchFamily="2" charset="-122"/>
              </a:rPr>
              <a:t>个周期</a:t>
            </a:r>
          </a:p>
        </p:txBody>
      </p:sp>
      <mc:AlternateContent xmlns:mc="http://schemas.openxmlformats.org/markup-compatibility/2006" xmlns:a14="http://schemas.microsoft.com/office/drawing/2010/main">
        <mc:Choice Requires="a14">
          <p:sp>
            <p:nvSpPr>
              <p:cNvPr id="16" name="文本框 15"/>
              <p:cNvSpPr txBox="1"/>
              <p:nvPr/>
            </p:nvSpPr>
            <p:spPr>
              <a:xfrm>
                <a:off x="245105" y="3398044"/>
                <a:ext cx="3606815" cy="369332"/>
              </a:xfrm>
              <a:prstGeom prst="rect">
                <a:avLst/>
              </a:prstGeom>
              <a:noFill/>
            </p:spPr>
            <p:txBody>
              <a:bodyPr wrap="square" rtlCol="0">
                <a:spAutoFit/>
              </a:bodyPr>
              <a:lstStyle/>
              <a:p>
                <a:r>
                  <a:rPr lang="en-US" altLang="zh-CN" b="1" dirty="0" smtClean="0">
                    <a:latin typeface="宋体" panose="02010600030101010101" pitchFamily="2" charset="-122"/>
                  </a:rPr>
                  <a:t>4</a:t>
                </a:r>
                <a:r>
                  <a:rPr lang="zh-CN" altLang="en-US" b="1" dirty="0" smtClean="0">
                    <a:latin typeface="宋体" panose="02010600030101010101" pitchFamily="2" charset="-122"/>
                  </a:rPr>
                  <a:t>）当</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𝜎</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=3</m:t>
                    </m:r>
                    <m:r>
                      <a:rPr lang="en-US" altLang="zh-CN" b="0" i="1" smtClean="0">
                        <a:solidFill>
                          <a:srgbClr val="000000"/>
                        </a:solidFill>
                        <a:latin typeface="Cambria Math" panose="02040503050406030204" pitchFamily="18" charset="0"/>
                      </a:rPr>
                      <m:t>2</m:t>
                    </m:r>
                    <m:r>
                      <a:rPr lang="en-US" altLang="zh-CN" i="1">
                        <a:solidFill>
                          <a:srgbClr val="000000"/>
                        </a:solidFill>
                        <a:latin typeface="Cambria Math" panose="02040503050406030204" pitchFamily="18" charset="0"/>
                      </a:rPr>
                      <m:t>0</m:t>
                    </m:r>
                    <m:r>
                      <a:rPr lang="en-US" altLang="zh-CN" i="1">
                        <a:solidFill>
                          <a:srgbClr val="000000"/>
                        </a:solidFill>
                        <a:latin typeface="Cambria Math" panose="02040503050406030204" pitchFamily="18" charset="0"/>
                      </a:rPr>
                      <m:t>𝑀𝑃𝑎</m:t>
                    </m:r>
                  </m:oMath>
                </a14:m>
                <a:r>
                  <a:rPr lang="zh-CN" altLang="en-US" b="1" dirty="0" smtClean="0">
                    <a:latin typeface="宋体" panose="02010600030101010101" pitchFamily="2" charset="-122"/>
                  </a:rPr>
                  <a:t>时，则：</a:t>
                </a:r>
                <a:endParaRPr lang="zh-CN" altLang="en-US" b="1" dirty="0">
                  <a:latin typeface="宋体" panose="02010600030101010101" pitchFamily="2" charset="-122"/>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245105" y="3398044"/>
                <a:ext cx="3606815" cy="369332"/>
              </a:xfrm>
              <a:prstGeom prst="rect">
                <a:avLst/>
              </a:prstGeom>
              <a:blipFill rotWithShape="0">
                <a:blip r:embed="rId8"/>
                <a:stretch>
                  <a:fillRect l="-1351" t="-11475"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338078" y="3911392"/>
                <a:ext cx="4078745"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320</m:t>
                                  </m:r>
                                </m:num>
                                <m:den>
                                  <m:r>
                                    <a:rPr lang="en-US" altLang="zh-CN" sz="1600" b="0" i="1" smtClean="0">
                                      <a:latin typeface="Cambria Math" panose="02040503050406030204" pitchFamily="18" charset="0"/>
                                    </a:rPr>
                                    <m:t>500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180144</m:t>
                      </m:r>
                    </m:oMath>
                  </m:oMathPara>
                </a14:m>
                <a:endParaRPr lang="zh-CN" altLang="en-US" sz="16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338078" y="3911392"/>
                <a:ext cx="4078745" cy="694164"/>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798944" y="3911392"/>
                <a:ext cx="4083490"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2</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320</m:t>
                                  </m:r>
                                </m:num>
                                <m:den>
                                  <m:r>
                                    <a:rPr lang="en-US" altLang="zh-CN" sz="1600" b="0" i="1" smtClean="0">
                                      <a:latin typeface="Cambria Math" panose="02040503050406030204" pitchFamily="18" charset="0"/>
                                    </a:rPr>
                                    <m:t>450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464983</m:t>
                      </m:r>
                    </m:oMath>
                  </m:oMathPara>
                </a14:m>
                <a:endParaRPr lang="zh-CN" altLang="en-US" sz="1600" dirty="0"/>
              </a:p>
            </p:txBody>
          </p:sp>
        </mc:Choice>
        <mc:Fallback xmlns="">
          <p:sp>
            <p:nvSpPr>
              <p:cNvPr id="18" name="文本框 17"/>
              <p:cNvSpPr txBox="1">
                <a:spLocks noRot="1" noChangeAspect="1" noMove="1" noResize="1" noEditPoints="1" noAdjustHandles="1" noChangeArrowheads="1" noChangeShapeType="1" noTextEdit="1"/>
              </p:cNvSpPr>
              <p:nvPr/>
            </p:nvSpPr>
            <p:spPr>
              <a:xfrm>
                <a:off x="4798944" y="3911392"/>
                <a:ext cx="4083490" cy="694164"/>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338078" y="4755624"/>
                <a:ext cx="4197303" cy="69416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0</m:t>
                          </m:r>
                        </m:sub>
                      </m:sSub>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−1</m:t>
                                      </m:r>
                                    </m:sub>
                                  </m:sSub>
                                </m:num>
                                <m:den>
                                  <m:sSub>
                                    <m:sSubPr>
                                      <m:ctrlPr>
                                        <a:rPr lang="en-US" altLang="zh-CN" sz="1600" b="0" i="1" smtClean="0">
                                          <a:latin typeface="Cambria Math" panose="02040503050406030204" pitchFamily="18" charset="0"/>
                                        </a:rPr>
                                      </m:ctrlPr>
                                    </m:sSubPr>
                                    <m:e>
                                      <m:r>
                                        <a:rPr lang="zh-CN" altLang="en-US" sz="1600" b="0" i="1" smtClean="0">
                                          <a:latin typeface="Cambria Math" panose="02040503050406030204" pitchFamily="18" charset="0"/>
                                        </a:rPr>
                                        <m:t>𝜎</m:t>
                                      </m:r>
                                    </m:e>
                                    <m:sub>
                                      <m:r>
                                        <a:rPr lang="en-US" altLang="zh-CN" sz="1600" b="0" i="1" smtClean="0">
                                          <a:latin typeface="Cambria Math" panose="02040503050406030204" pitchFamily="18" charset="0"/>
                                        </a:rPr>
                                        <m:t>3</m:t>
                                      </m:r>
                                    </m:sub>
                                  </m:sSub>
                                </m:den>
                              </m:f>
                            </m:e>
                          </m:d>
                        </m:e>
                        <m:sup>
                          <m:r>
                            <a:rPr lang="en-US" altLang="zh-CN" sz="1600" b="0" i="1" smtClean="0">
                              <a:latin typeface="Cambria Math" panose="02040503050406030204" pitchFamily="18" charset="0"/>
                            </a:rPr>
                            <m:t>9</m:t>
                          </m:r>
                        </m:sup>
                      </m:sSup>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10</m:t>
                          </m:r>
                        </m:e>
                        <m:sup>
                          <m:r>
                            <a:rPr lang="en-US" altLang="zh-CN" sz="1600" b="0" i="1" smtClean="0">
                              <a:latin typeface="Cambria Math" panose="02040503050406030204" pitchFamily="18" charset="0"/>
                            </a:rPr>
                            <m:t>7</m:t>
                          </m:r>
                        </m:sup>
                      </m:sSup>
                      <m:r>
                        <a:rPr lang="en-US" altLang="zh-CN" sz="1600" b="0" i="1" smtClean="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b="0" i="1" smtClean="0">
                                      <a:latin typeface="Cambria Math" panose="02040503050406030204" pitchFamily="18" charset="0"/>
                                    </a:rPr>
                                    <m:t>320</m:t>
                                  </m:r>
                                </m:num>
                                <m:den>
                                  <m:r>
                                    <a:rPr lang="en-US" altLang="zh-CN" sz="1600" b="0" i="1" smtClean="0">
                                      <a:latin typeface="Cambria Math" panose="02040503050406030204" pitchFamily="18" charset="0"/>
                                    </a:rPr>
                                    <m:t>400</m:t>
                                  </m:r>
                                </m:den>
                              </m:f>
                            </m:e>
                          </m:d>
                        </m:e>
                        <m:sup>
                          <m:r>
                            <a:rPr lang="en-US" altLang="zh-CN" sz="1600" i="1">
                              <a:latin typeface="Cambria Math" panose="02040503050406030204" pitchFamily="18" charset="0"/>
                            </a:rPr>
                            <m:t>9</m:t>
                          </m:r>
                        </m:sup>
                      </m:sSup>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1342177</m:t>
                      </m:r>
                    </m:oMath>
                  </m:oMathPara>
                </a14:m>
                <a:endParaRPr lang="zh-CN" altLang="en-US" sz="1600" dirty="0"/>
              </a:p>
            </p:txBody>
          </p:sp>
        </mc:Choice>
        <mc:Fallback xmlns="">
          <p:sp>
            <p:nvSpPr>
              <p:cNvPr id="19" name="文本框 18"/>
              <p:cNvSpPr txBox="1">
                <a:spLocks noRot="1" noChangeAspect="1" noMove="1" noResize="1" noEditPoints="1" noAdjustHandles="1" noChangeArrowheads="1" noChangeShapeType="1" noTextEdit="1"/>
              </p:cNvSpPr>
              <p:nvPr/>
            </p:nvSpPr>
            <p:spPr>
              <a:xfrm>
                <a:off x="338078" y="4755624"/>
                <a:ext cx="4197303" cy="694164"/>
              </a:xfrm>
              <a:prstGeom prst="rect">
                <a:avLst/>
              </a:prstGeom>
              <a:blipFill rotWithShape="0">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254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7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left)">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5" grpId="0"/>
      <p:bldP spid="16" grpId="0"/>
      <p:bldP spid="17" grpId="0"/>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单圆角矩形 4"/>
          <p:cNvSpPr/>
          <p:nvPr/>
        </p:nvSpPr>
        <p:spPr>
          <a:xfrm>
            <a:off x="5796136" y="113996"/>
            <a:ext cx="3204360" cy="252000"/>
          </a:xfrm>
          <a:prstGeom prst="round1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smtClean="0">
                <a:solidFill>
                  <a:srgbClr val="FF6600"/>
                </a:solidFill>
              </a:rPr>
              <a:t>例题讲解与讨论</a:t>
            </a:r>
            <a:endParaRPr lang="zh-CN" altLang="en-US" sz="1500" dirty="0">
              <a:solidFill>
                <a:srgbClr val="FF6600"/>
              </a:solidFill>
            </a:endParaRPr>
          </a:p>
        </p:txBody>
      </p:sp>
      <p:sp>
        <p:nvSpPr>
          <p:cNvPr id="6" name="直角三角形 5"/>
          <p:cNvSpPr/>
          <p:nvPr/>
        </p:nvSpPr>
        <p:spPr>
          <a:xfrm flipH="1">
            <a:off x="5500831" y="113996"/>
            <a:ext cx="295305" cy="252000"/>
          </a:xfrm>
          <a:prstGeom prst="rtTriangle">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79512" y="1518376"/>
            <a:ext cx="2588658" cy="369332"/>
          </a:xfrm>
          <a:prstGeom prst="rect">
            <a:avLst/>
          </a:prstGeom>
          <a:noFill/>
        </p:spPr>
        <p:txBody>
          <a:bodyPr wrap="square" rtlCol="0">
            <a:spAutoFit/>
          </a:bodyPr>
          <a:lstStyle/>
          <a:p>
            <a:r>
              <a:rPr lang="zh-CN" altLang="en-US" b="1" dirty="0" smtClean="0"/>
              <a:t>剩余工作周期数数：</a:t>
            </a:r>
            <a:endParaRPr lang="zh-CN" altLang="en-US" b="1" dirty="0"/>
          </a:p>
        </p:txBody>
      </p:sp>
      <mc:AlternateContent xmlns:mc="http://schemas.openxmlformats.org/markup-compatibility/2006" xmlns:a14="http://schemas.microsoft.com/office/drawing/2010/main">
        <mc:Choice Requires="a14">
          <p:sp>
            <p:nvSpPr>
              <p:cNvPr id="12" name="文本框 11"/>
              <p:cNvSpPr txBox="1"/>
              <p:nvPr/>
            </p:nvSpPr>
            <p:spPr>
              <a:xfrm>
                <a:off x="179512" y="1992840"/>
                <a:ext cx="3801169" cy="78451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nary>
                        <m:naryPr>
                          <m:chr m:val="∑"/>
                          <m:ctrlPr>
                            <a:rPr lang="en-US" altLang="zh-CN" sz="160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3</m:t>
                          </m:r>
                        </m:sup>
                        <m:e>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𝑖</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𝑖</m:t>
                                  </m:r>
                                </m:sub>
                              </m:sSub>
                            </m:den>
                          </m:f>
                        </m:e>
                      </m:nary>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3</m:t>
                              </m:r>
                            </m:sub>
                          </m:sSub>
                        </m:den>
                      </m:f>
                      <m:r>
                        <a:rPr lang="en-US" altLang="zh-CN" sz="1600" b="0" i="1" smtClean="0">
                          <a:latin typeface="Cambria Math" panose="02040503050406030204" pitchFamily="18" charset="0"/>
                        </a:rPr>
                        <m:t>=1</m:t>
                      </m:r>
                    </m:oMath>
                  </m:oMathPara>
                </a14:m>
                <a:endParaRPr lang="zh-CN" altLang="en-US" sz="16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79512" y="1992840"/>
                <a:ext cx="3801169" cy="784510"/>
              </a:xfrm>
              <a:prstGeom prst="rect">
                <a:avLst/>
              </a:prstGeom>
              <a:blipFill rotWithShape="0">
                <a:blip r:embed="rId2"/>
                <a:stretch>
                  <a:fillRect/>
                </a:stretch>
              </a:blipFill>
            </p:spPr>
            <p:txBody>
              <a:bodyPr/>
              <a:lstStyle/>
              <a:p>
                <a:r>
                  <a:rPr lang="zh-CN" altLang="en-US">
                    <a:noFill/>
                  </a:rPr>
                  <a:t> </a:t>
                </a:r>
              </a:p>
            </p:txBody>
          </p:sp>
        </mc:Fallback>
      </mc:AlternateContent>
      <p:grpSp>
        <p:nvGrpSpPr>
          <p:cNvPr id="2" name="组合 1"/>
          <p:cNvGrpSpPr/>
          <p:nvPr/>
        </p:nvGrpSpPr>
        <p:grpSpPr>
          <a:xfrm>
            <a:off x="3909628" y="2079691"/>
            <a:ext cx="5342893" cy="610808"/>
            <a:chOff x="3909628" y="4218160"/>
            <a:chExt cx="5342893" cy="610808"/>
          </a:xfrm>
        </p:grpSpPr>
        <p:sp>
          <p:nvSpPr>
            <p:cNvPr id="13" name="右箭头 12"/>
            <p:cNvSpPr/>
            <p:nvPr/>
          </p:nvSpPr>
          <p:spPr>
            <a:xfrm>
              <a:off x="3909628" y="4418769"/>
              <a:ext cx="230326" cy="209590"/>
            </a:xfrm>
            <a:prstGeom prst="rightArrow">
              <a:avLst/>
            </a:prstGeom>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4151766" y="4218160"/>
                  <a:ext cx="5100755" cy="61080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f>
                          <m:fPr>
                            <m:ctrlPr>
                              <a:rPr lang="en-US" altLang="zh-CN" sz="1600" b="0" i="1" smtClean="0">
                                <a:latin typeface="Cambria Math" panose="02040503050406030204" pitchFamily="18" charset="0"/>
                              </a:rPr>
                            </m:ctrlPr>
                          </m:fPr>
                          <m:num>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3</m:t>
                                </m:r>
                              </m:sub>
                            </m:sSub>
                          </m:den>
                        </m:f>
                        <m:r>
                          <a:rPr lang="en-US" altLang="zh-CN" sz="1600" b="0" i="1" smtClean="0">
                            <a:latin typeface="Cambria Math" panose="02040503050406030204" pitchFamily="18" charset="0"/>
                          </a:rPr>
                          <m:t>=1−</m:t>
                        </m:r>
                        <m:f>
                          <m:fPr>
                            <m:ctrlPr>
                              <a:rPr lang="en-US" altLang="zh-CN" sz="1600" i="1">
                                <a:latin typeface="Cambria Math" panose="020405030504060302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1</m:t>
                                </m:r>
                              </m:sub>
                            </m:sSub>
                          </m:num>
                          <m:den>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i="1">
                                    <a:latin typeface="Cambria Math" panose="02040503050406030204" pitchFamily="18" charset="0"/>
                                  </a:rPr>
                                  <m:t>1</m:t>
                                </m:r>
                              </m:sub>
                            </m:sSub>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2</m:t>
                                </m:r>
                              </m:sub>
                            </m:sSub>
                          </m:num>
                          <m:den>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i="1">
                                    <a:latin typeface="Cambria Math" panose="02040503050406030204" pitchFamily="18" charset="0"/>
                                  </a:rPr>
                                  <m:t>2</m:t>
                                </m:r>
                              </m:sub>
                            </m:sSub>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3</m:t>
                                </m:r>
                              </m:sub>
                            </m:sSub>
                          </m:num>
                          <m:den>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i="1">
                                    <a:latin typeface="Cambria Math" panose="02040503050406030204" pitchFamily="18" charset="0"/>
                                  </a:rPr>
                                  <m:t>3</m:t>
                                </m:r>
                              </m:sub>
                            </m:sSub>
                          </m:den>
                        </m:f>
                        <m:r>
                          <a:rPr lang="en-US" altLang="zh-CN" sz="1600" b="0" i="1" smtClean="0">
                            <a:latin typeface="Cambria Math" panose="02040503050406030204" pitchFamily="18" charset="0"/>
                          </a:rPr>
                          <m:t>=1−0.761=0.239</m:t>
                        </m:r>
                      </m:oMath>
                    </m:oMathPara>
                  </a14:m>
                  <a:endParaRPr lang="zh-CN" altLang="en-US" sz="16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151766" y="4218160"/>
                  <a:ext cx="5100755" cy="610808"/>
                </a:xfrm>
                <a:prstGeom prst="rect">
                  <a:avLst/>
                </a:prstGeom>
                <a:blipFill rotWithShape="0">
                  <a:blip r:embed="rId8"/>
                  <a:stretch>
                    <a:fillRect/>
                  </a:stretch>
                </a:blipFill>
              </p:spPr>
              <p:txBody>
                <a:bodyPr/>
                <a:lstStyle/>
                <a:p>
                  <a:r>
                    <a:rPr lang="zh-CN" altLang="en-US">
                      <a:noFill/>
                    </a:rPr>
                    <a:t> </a:t>
                  </a:r>
                </a:p>
              </p:txBody>
            </p:sp>
          </mc:Fallback>
        </mc:AlternateContent>
      </p:grpSp>
      <p:grpSp>
        <p:nvGrpSpPr>
          <p:cNvPr id="3" name="组合 2"/>
          <p:cNvGrpSpPr/>
          <p:nvPr/>
        </p:nvGrpSpPr>
        <p:grpSpPr>
          <a:xfrm>
            <a:off x="179512" y="2911469"/>
            <a:ext cx="4748015" cy="594906"/>
            <a:chOff x="179512" y="4989926"/>
            <a:chExt cx="4748015" cy="594906"/>
          </a:xfrm>
        </p:grpSpPr>
        <p:sp>
          <p:nvSpPr>
            <p:cNvPr id="15" name="文本框 14"/>
            <p:cNvSpPr txBox="1"/>
            <p:nvPr/>
          </p:nvSpPr>
          <p:spPr>
            <a:xfrm>
              <a:off x="179512" y="5110664"/>
              <a:ext cx="415498" cy="369332"/>
            </a:xfrm>
            <a:prstGeom prst="rect">
              <a:avLst/>
            </a:prstGeom>
            <a:noFill/>
          </p:spPr>
          <p:txBody>
            <a:bodyPr wrap="none" rtlCol="0">
              <a:spAutoFit/>
            </a:bodyPr>
            <a:lstStyle/>
            <a:p>
              <a:r>
                <a:rPr lang="zh-CN" altLang="en-US" dirty="0" smtClean="0">
                  <a:latin typeface="宋体" panose="02010600030101010101" pitchFamily="2" charset="-122"/>
                </a:rPr>
                <a:t>∴</a:t>
              </a:r>
              <a:endParaRPr lang="zh-CN" altLang="en-US" dirty="0"/>
            </a:p>
          </p:txBody>
        </p:sp>
        <mc:AlternateContent xmlns:mc="http://schemas.openxmlformats.org/markup-compatibility/2006" xmlns:a14="http://schemas.microsoft.com/office/drawing/2010/main">
          <mc:Choice Requires="a14">
            <p:sp>
              <p:nvSpPr>
                <p:cNvPr id="16" name="文本框 15"/>
                <p:cNvSpPr txBox="1"/>
                <p:nvPr/>
              </p:nvSpPr>
              <p:spPr>
                <a:xfrm>
                  <a:off x="660718" y="4989926"/>
                  <a:ext cx="4266809" cy="59490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𝑛</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=0.239</m:t>
                        </m:r>
                        <m:r>
                          <a:rPr lang="en-US" altLang="zh-CN" sz="1600" b="0" i="1" smtClean="0">
                            <a:latin typeface="Cambria Math" panose="02040503050406030204" pitchFamily="18" charset="0"/>
                            <a:ea typeface="Cambria Math" panose="02040503050406030204" pitchFamily="18" charset="0"/>
                          </a:rPr>
                          <m:t>×</m:t>
                        </m:r>
                        <m:f>
                          <m:fPr>
                            <m:ctrlPr>
                              <a:rPr lang="en-US" altLang="zh-CN" sz="1600" b="0" i="1" smtClean="0">
                                <a:latin typeface="Cambria Math" panose="02040503050406030204" pitchFamily="18" charset="0"/>
                              </a:rPr>
                            </m:ctrlPr>
                          </m:fPr>
                          <m:num>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3</m:t>
                                </m:r>
                              </m:sub>
                            </m:sSub>
                          </m:num>
                          <m:den>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1</m:t>
                                </m:r>
                              </m:sub>
                            </m:sSub>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i="1">
                                    <a:latin typeface="Cambria Math" panose="02040503050406030204" pitchFamily="18" charset="0"/>
                                  </a:rPr>
                                  <m:t>1</m:t>
                                </m:r>
                              </m:sub>
                            </m:sSub>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b="0" i="1" smtClean="0">
                                    <a:latin typeface="Cambria Math" panose="02040503050406030204" pitchFamily="18" charset="0"/>
                                  </a:rPr>
                                  <m:t>3</m:t>
                                </m:r>
                              </m:sub>
                            </m:sSub>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i="1">
                                    <a:latin typeface="Cambria Math" panose="02040503050406030204" pitchFamily="18" charset="0"/>
                                  </a:rPr>
                                  <m:t>𝑁</m:t>
                                </m:r>
                              </m:e>
                              <m:sub>
                                <m:r>
                                  <a:rPr lang="en-US" altLang="zh-CN" sz="1600" b="0" i="1" smtClean="0">
                                    <a:latin typeface="Cambria Math" panose="02040503050406030204" pitchFamily="18" charset="0"/>
                                  </a:rPr>
                                  <m:t>3</m:t>
                                </m:r>
                              </m:sub>
                            </m:sSub>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𝑁</m:t>
                                </m:r>
                              </m:e>
                              <m:sub>
                                <m:r>
                                  <a:rPr lang="en-US" altLang="zh-CN" sz="1600" b="0" i="1" smtClean="0">
                                    <a:latin typeface="Cambria Math" panose="02040503050406030204" pitchFamily="18" charset="0"/>
                                  </a:rPr>
                                  <m:t>3</m:t>
                                </m:r>
                              </m:sub>
                            </m:sSub>
                          </m:den>
                        </m:f>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28295</m:t>
                        </m:r>
                      </m:oMath>
                    </m:oMathPara>
                  </a14:m>
                  <a:endParaRPr lang="zh-CN" altLang="en-US" sz="1600" dirty="0"/>
                </a:p>
              </p:txBody>
            </p:sp>
          </mc:Choice>
          <mc:Fallback xmlns="">
            <p:sp>
              <p:nvSpPr>
                <p:cNvPr id="16" name="文本框 15"/>
                <p:cNvSpPr txBox="1">
                  <a:spLocks noRot="1" noChangeAspect="1" noMove="1" noResize="1" noEditPoints="1" noAdjustHandles="1" noChangeArrowheads="1" noChangeShapeType="1" noTextEdit="1"/>
                </p:cNvSpPr>
                <p:nvPr/>
              </p:nvSpPr>
              <p:spPr>
                <a:xfrm>
                  <a:off x="660718" y="4989926"/>
                  <a:ext cx="4266809" cy="594906"/>
                </a:xfrm>
                <a:prstGeom prst="rect">
                  <a:avLst/>
                </a:prstGeom>
                <a:blipFill rotWithShape="0">
                  <a:blip r:embed="rId9"/>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 name="文本框 16"/>
              <p:cNvSpPr txBox="1"/>
              <p:nvPr/>
            </p:nvSpPr>
            <p:spPr>
              <a:xfrm>
                <a:off x="1331640" y="568749"/>
                <a:ext cx="6686831" cy="78451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nary>
                        <m:naryPr>
                          <m:chr m:val="∑"/>
                          <m:ctrlPr>
                            <a:rPr lang="en-US" altLang="zh-CN" sz="160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3</m:t>
                          </m:r>
                        </m:sup>
                        <m:e>
                          <m:f>
                            <m:fPr>
                              <m:ctrlPr>
                                <a:rPr lang="en-US" altLang="zh-CN" sz="1600" i="1" smtClean="0">
                                  <a:latin typeface="Cambria Math" panose="02040503050406030204" pitchFamily="18" charset="0"/>
                                </a:rPr>
                              </m:ctrlPr>
                            </m:fPr>
                            <m:num>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1</m:t>
                                  </m:r>
                                </m:sub>
                              </m:sSub>
                            </m:num>
                            <m:den>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𝑁</m:t>
                                  </m:r>
                                </m:e>
                                <m:sub>
                                  <m:r>
                                    <a:rPr lang="en-US" altLang="zh-CN" sz="1600" b="0" i="1" smtClean="0">
                                      <a:latin typeface="Cambria Math" panose="02040503050406030204" pitchFamily="18" charset="0"/>
                                    </a:rPr>
                                    <m:t>𝑖</m:t>
                                  </m:r>
                                </m:sub>
                              </m:sSub>
                            </m:den>
                          </m:f>
                        </m:e>
                      </m:nary>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180144</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464983</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90000</m:t>
                          </m:r>
                        </m:num>
                        <m:den>
                          <m:r>
                            <a:rPr lang="en-US" altLang="zh-CN" sz="1600" b="0" i="1" smtClean="0">
                              <a:latin typeface="Cambria Math" panose="02040503050406030204" pitchFamily="18" charset="0"/>
                            </a:rPr>
                            <m:t>1342177</m:t>
                          </m:r>
                        </m:den>
                      </m:f>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0.500+0.194+0.067=0.761</m:t>
                      </m:r>
                    </m:oMath>
                  </m:oMathPara>
                </a14:m>
                <a:endParaRPr lang="zh-CN" altLang="en-US" sz="16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1331640" y="568749"/>
                <a:ext cx="6686831" cy="784510"/>
              </a:xfrm>
              <a:prstGeom prst="rect">
                <a:avLst/>
              </a:prstGeom>
              <a:blipFill rotWithShape="0">
                <a:blip r:embed="rId10"/>
                <a:stretch>
                  <a:fillRect/>
                </a:stretch>
              </a:blipFill>
            </p:spPr>
            <p:txBody>
              <a:bodyPr/>
              <a:lstStyle/>
              <a:p>
                <a:r>
                  <a:rPr lang="zh-CN" altLang="en-US">
                    <a:noFill/>
                  </a:rPr>
                  <a:t> </a:t>
                </a:r>
              </a:p>
            </p:txBody>
          </p:sp>
        </mc:Fallback>
      </mc:AlternateContent>
      <p:sp>
        <p:nvSpPr>
          <p:cNvPr id="18" name="文本框 17"/>
          <p:cNvSpPr txBox="1"/>
          <p:nvPr/>
        </p:nvSpPr>
        <p:spPr>
          <a:xfrm>
            <a:off x="179512" y="3683276"/>
            <a:ext cx="4490332" cy="369332"/>
          </a:xfrm>
          <a:prstGeom prst="rect">
            <a:avLst/>
          </a:prstGeom>
          <a:noFill/>
        </p:spPr>
        <p:txBody>
          <a:bodyPr wrap="none" rtlCol="0">
            <a:spAutoFit/>
          </a:bodyPr>
          <a:lstStyle>
            <a:defPPr>
              <a:defRPr lang="zh-CN"/>
            </a:defPPr>
            <a:lvl1pPr>
              <a:defRPr>
                <a:latin typeface="宋体" panose="02010600030101010101" pitchFamily="2" charset="-122"/>
              </a:defRPr>
            </a:lvl1pPr>
          </a:lstStyle>
          <a:p>
            <a:r>
              <a:rPr lang="zh-CN" altLang="en-US" b="1" dirty="0" smtClean="0"/>
              <a:t>∴ 零件</a:t>
            </a:r>
            <a:r>
              <a:rPr lang="zh-CN" altLang="en-US" b="1" dirty="0"/>
              <a:t>剩余寿命还能</a:t>
            </a:r>
            <a:r>
              <a:rPr lang="zh-CN" altLang="en-US" b="1" dirty="0" smtClean="0"/>
              <a:t>工作</a:t>
            </a:r>
            <a:r>
              <a:rPr lang="en-US" altLang="zh-CN" b="1" dirty="0" smtClean="0"/>
              <a:t>28295</a:t>
            </a:r>
            <a:r>
              <a:rPr lang="zh-CN" altLang="en-US" b="1" dirty="0" smtClean="0"/>
              <a:t>个</a:t>
            </a:r>
            <a:r>
              <a:rPr lang="zh-CN" altLang="en-US" b="1" dirty="0" smtClean="0"/>
              <a:t>周期。</a:t>
            </a:r>
            <a:endParaRPr lang="zh-CN" altLang="en-US" b="1" dirty="0"/>
          </a:p>
        </p:txBody>
      </p:sp>
    </p:spTree>
    <p:extLst>
      <p:ext uri="{BB962C8B-B14F-4D97-AF65-F5344CB8AC3E}">
        <p14:creationId xmlns:p14="http://schemas.microsoft.com/office/powerpoint/2010/main" val="20448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7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75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75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矩形 7"/>
          <p:cNvSpPr>
            <a:spLocks noChangeArrowheads="1"/>
          </p:cNvSpPr>
          <p:nvPr/>
        </p:nvSpPr>
        <p:spPr bwMode="auto">
          <a:xfrm>
            <a:off x="280990" y="528639"/>
            <a:ext cx="1081087" cy="230832"/>
          </a:xfrm>
          <a:prstGeom prst="rect">
            <a:avLst/>
          </a:prstGeom>
          <a:noFill/>
          <a:ln w="9525">
            <a:noFill/>
            <a:miter lim="800000"/>
          </a:ln>
        </p:spPr>
        <p:txBody>
          <a:bodyPr>
            <a:spAutoFit/>
          </a:bodyPr>
          <a:lstStyle/>
          <a:p>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模板下载：</a:t>
            </a:r>
            <a:r>
              <a:rPr lang="en-US" altLang="zh-CN" sz="100">
                <a:solidFill>
                  <a:srgbClr val="FFFFFF"/>
                </a:solidFill>
                <a:latin typeface="Calibri" panose="020F0502020204030204" pitchFamily="34" charset="0"/>
              </a:rPr>
              <a:t>www.1ppt.com/moban/     </a:t>
            </a:r>
            <a:r>
              <a:rPr lang="zh-CN" altLang="en-US" sz="100">
                <a:solidFill>
                  <a:srgbClr val="FFFFFF"/>
                </a:solidFill>
                <a:latin typeface="Calibri" panose="020F0502020204030204" pitchFamily="34" charset="0"/>
              </a:rPr>
              <a:t>行业</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a:t>
            </a:r>
            <a:r>
              <a:rPr lang="en-US" altLang="zh-CN" sz="100">
                <a:solidFill>
                  <a:srgbClr val="FFFFFF"/>
                </a:solidFill>
                <a:latin typeface="Calibri" panose="020F0502020204030204" pitchFamily="34" charset="0"/>
              </a:rPr>
              <a:t>www.1ppt.com/hangye/ </a:t>
            </a:r>
          </a:p>
          <a:p>
            <a:r>
              <a:rPr lang="zh-CN" altLang="en-US" sz="100">
                <a:solidFill>
                  <a:srgbClr val="FFFFFF"/>
                </a:solidFill>
                <a:latin typeface="Calibri" panose="020F0502020204030204" pitchFamily="34" charset="0"/>
              </a:rPr>
              <a:t>节日</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模板：</a:t>
            </a:r>
            <a:r>
              <a:rPr lang="en-US" altLang="zh-CN" sz="100">
                <a:solidFill>
                  <a:srgbClr val="FFFFFF"/>
                </a:solidFill>
                <a:latin typeface="Calibri" panose="020F0502020204030204" pitchFamily="34" charset="0"/>
              </a:rPr>
              <a:t>www.1ppt.com/jieri/           PPT</a:t>
            </a:r>
            <a:r>
              <a:rPr lang="zh-CN" altLang="en-US" sz="100">
                <a:solidFill>
                  <a:srgbClr val="FFFFFF"/>
                </a:solidFill>
                <a:latin typeface="Calibri" panose="020F0502020204030204" pitchFamily="34" charset="0"/>
              </a:rPr>
              <a:t>素材下载：</a:t>
            </a:r>
            <a:r>
              <a:rPr lang="en-US" altLang="zh-CN" sz="100">
                <a:solidFill>
                  <a:srgbClr val="FFFFFF"/>
                </a:solidFill>
                <a:latin typeface="Calibri" panose="020F0502020204030204" pitchFamily="34" charset="0"/>
              </a:rPr>
              <a:t>www.1ppt.com/sucai/</a:t>
            </a:r>
          </a:p>
          <a:p>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背景图片：</a:t>
            </a:r>
            <a:r>
              <a:rPr lang="en-US" altLang="zh-CN" sz="100">
                <a:solidFill>
                  <a:srgbClr val="FFFFFF"/>
                </a:solidFill>
                <a:latin typeface="Calibri" panose="020F0502020204030204" pitchFamily="34" charset="0"/>
              </a:rPr>
              <a:t>www.1ppt.com/beijing/      PPT</a:t>
            </a:r>
            <a:r>
              <a:rPr lang="zh-CN" altLang="en-US" sz="100">
                <a:solidFill>
                  <a:srgbClr val="FFFFFF"/>
                </a:solidFill>
                <a:latin typeface="Calibri" panose="020F0502020204030204" pitchFamily="34" charset="0"/>
              </a:rPr>
              <a:t>图表下载：</a:t>
            </a:r>
            <a:r>
              <a:rPr lang="en-US" altLang="zh-CN" sz="100">
                <a:solidFill>
                  <a:srgbClr val="FFFFFF"/>
                </a:solidFill>
                <a:latin typeface="Calibri" panose="020F0502020204030204" pitchFamily="34" charset="0"/>
              </a:rPr>
              <a:t>www.1ppt.com/tubiao/      </a:t>
            </a:r>
          </a:p>
          <a:p>
            <a:r>
              <a:rPr lang="zh-CN" altLang="en-US" sz="100">
                <a:solidFill>
                  <a:srgbClr val="FFFFFF"/>
                </a:solidFill>
                <a:latin typeface="Calibri" panose="020F0502020204030204" pitchFamily="34" charset="0"/>
              </a:rPr>
              <a:t>优秀</a:t>
            </a:r>
            <a:r>
              <a:rPr lang="en-US" altLang="zh-CN" sz="100">
                <a:solidFill>
                  <a:srgbClr val="FFFFFF"/>
                </a:solidFill>
                <a:latin typeface="Calibri" panose="020F0502020204030204" pitchFamily="34" charset="0"/>
              </a:rPr>
              <a:t>PPT</a:t>
            </a:r>
            <a:r>
              <a:rPr lang="zh-CN" altLang="en-US" sz="100">
                <a:solidFill>
                  <a:srgbClr val="FFFFFF"/>
                </a:solidFill>
                <a:latin typeface="Calibri" panose="020F0502020204030204" pitchFamily="34" charset="0"/>
              </a:rPr>
              <a:t>下载：</a:t>
            </a:r>
            <a:r>
              <a:rPr lang="en-US" altLang="zh-CN" sz="100">
                <a:solidFill>
                  <a:srgbClr val="FFFFFF"/>
                </a:solidFill>
                <a:latin typeface="Calibri" panose="020F0502020204030204" pitchFamily="34" charset="0"/>
              </a:rPr>
              <a:t>www.1ppt.com/xiazai/        PPT</a:t>
            </a:r>
            <a:r>
              <a:rPr lang="zh-CN" altLang="en-US" sz="100">
                <a:solidFill>
                  <a:srgbClr val="FFFFFF"/>
                </a:solidFill>
                <a:latin typeface="Calibri" panose="020F0502020204030204" pitchFamily="34" charset="0"/>
              </a:rPr>
              <a:t>教程： </a:t>
            </a:r>
            <a:r>
              <a:rPr lang="en-US" altLang="zh-CN" sz="100">
                <a:solidFill>
                  <a:srgbClr val="FFFFFF"/>
                </a:solidFill>
                <a:latin typeface="Calibri" panose="020F0502020204030204" pitchFamily="34" charset="0"/>
              </a:rPr>
              <a:t>www.1ppt.com/powerpoint/      </a:t>
            </a:r>
          </a:p>
          <a:p>
            <a:r>
              <a:rPr lang="en-US" altLang="zh-CN" sz="100">
                <a:solidFill>
                  <a:srgbClr val="FFFFFF"/>
                </a:solidFill>
                <a:latin typeface="Calibri" panose="020F0502020204030204" pitchFamily="34" charset="0"/>
              </a:rPr>
              <a:t>Word</a:t>
            </a:r>
            <a:r>
              <a:rPr lang="zh-CN" altLang="en-US" sz="100">
                <a:solidFill>
                  <a:srgbClr val="FFFFFF"/>
                </a:solidFill>
                <a:latin typeface="Calibri" panose="020F0502020204030204" pitchFamily="34" charset="0"/>
              </a:rPr>
              <a:t>教程： </a:t>
            </a:r>
            <a:r>
              <a:rPr lang="en-US" altLang="zh-CN" sz="100">
                <a:solidFill>
                  <a:srgbClr val="FFFFFF"/>
                </a:solidFill>
                <a:latin typeface="Calibri" panose="020F0502020204030204" pitchFamily="34" charset="0"/>
              </a:rPr>
              <a:t>www.1ppt.com/word/              Excel</a:t>
            </a:r>
            <a:r>
              <a:rPr lang="zh-CN" altLang="en-US" sz="100">
                <a:solidFill>
                  <a:srgbClr val="FFFFFF"/>
                </a:solidFill>
                <a:latin typeface="Calibri" panose="020F0502020204030204" pitchFamily="34" charset="0"/>
              </a:rPr>
              <a:t>教程：</a:t>
            </a:r>
            <a:r>
              <a:rPr lang="en-US" altLang="zh-CN" sz="100">
                <a:solidFill>
                  <a:srgbClr val="FFFFFF"/>
                </a:solidFill>
                <a:latin typeface="Calibri" panose="020F0502020204030204" pitchFamily="34" charset="0"/>
              </a:rPr>
              <a:t>www.1ppt.com/excel/  </a:t>
            </a:r>
          </a:p>
          <a:p>
            <a:r>
              <a:rPr lang="zh-CN" altLang="en-US" sz="100">
                <a:solidFill>
                  <a:srgbClr val="FFFFFF"/>
                </a:solidFill>
                <a:latin typeface="Calibri" panose="020F0502020204030204" pitchFamily="34" charset="0"/>
              </a:rPr>
              <a:t>资料下载：</a:t>
            </a:r>
            <a:r>
              <a:rPr lang="en-US" altLang="zh-CN" sz="100">
                <a:solidFill>
                  <a:srgbClr val="FFFFFF"/>
                </a:solidFill>
                <a:latin typeface="Calibri" panose="020F0502020204030204" pitchFamily="34" charset="0"/>
              </a:rPr>
              <a:t>www.1ppt.com/ziliao/                PPT</a:t>
            </a:r>
            <a:r>
              <a:rPr lang="zh-CN" altLang="en-US" sz="100">
                <a:solidFill>
                  <a:srgbClr val="FFFFFF"/>
                </a:solidFill>
                <a:latin typeface="Calibri" panose="020F0502020204030204" pitchFamily="34" charset="0"/>
              </a:rPr>
              <a:t>课件下载：</a:t>
            </a:r>
            <a:r>
              <a:rPr lang="en-US" altLang="zh-CN" sz="100">
                <a:solidFill>
                  <a:srgbClr val="FFFFFF"/>
                </a:solidFill>
                <a:latin typeface="Calibri" panose="020F0502020204030204" pitchFamily="34" charset="0"/>
              </a:rPr>
              <a:t>www.1ppt.com/kejian/ </a:t>
            </a:r>
          </a:p>
          <a:p>
            <a:r>
              <a:rPr lang="zh-CN" altLang="en-US" sz="100">
                <a:solidFill>
                  <a:srgbClr val="FFFFFF"/>
                </a:solidFill>
                <a:latin typeface="Calibri" panose="020F0502020204030204" pitchFamily="34" charset="0"/>
              </a:rPr>
              <a:t>范文下载：</a:t>
            </a:r>
            <a:r>
              <a:rPr lang="en-US" altLang="zh-CN" sz="100">
                <a:solidFill>
                  <a:srgbClr val="FFFFFF"/>
                </a:solidFill>
                <a:latin typeface="Calibri" panose="020F0502020204030204" pitchFamily="34" charset="0"/>
              </a:rPr>
              <a:t>www.1ppt.com/fanwen/             </a:t>
            </a:r>
            <a:r>
              <a:rPr lang="zh-CN" altLang="en-US" sz="100">
                <a:solidFill>
                  <a:srgbClr val="FFFFFF"/>
                </a:solidFill>
                <a:latin typeface="Calibri" panose="020F0502020204030204" pitchFamily="34" charset="0"/>
              </a:rPr>
              <a:t>试卷下载：</a:t>
            </a:r>
            <a:r>
              <a:rPr lang="en-US" altLang="zh-CN" sz="100">
                <a:solidFill>
                  <a:srgbClr val="FFFFFF"/>
                </a:solidFill>
                <a:latin typeface="Calibri" panose="020F0502020204030204" pitchFamily="34" charset="0"/>
              </a:rPr>
              <a:t>www.1ppt.com/shiti/  </a:t>
            </a:r>
          </a:p>
          <a:p>
            <a:r>
              <a:rPr lang="zh-CN" altLang="en-US" sz="100">
                <a:solidFill>
                  <a:srgbClr val="FFFFFF"/>
                </a:solidFill>
                <a:latin typeface="Calibri" panose="020F0502020204030204" pitchFamily="34" charset="0"/>
              </a:rPr>
              <a:t>教案下载：</a:t>
            </a:r>
            <a:r>
              <a:rPr lang="en-US" altLang="zh-CN" sz="100">
                <a:solidFill>
                  <a:srgbClr val="FFFFFF"/>
                </a:solidFill>
                <a:latin typeface="Calibri" panose="020F0502020204030204" pitchFamily="34" charset="0"/>
              </a:rPr>
              <a:t>www.1ppt.com/jiaoan/  </a:t>
            </a:r>
          </a:p>
          <a:p>
            <a:r>
              <a:rPr lang="en-US" altLang="zh-CN" sz="100">
                <a:solidFill>
                  <a:srgbClr val="FFFFFF"/>
                </a:solidFill>
                <a:latin typeface="Calibri" panose="020F0502020204030204" pitchFamily="34" charset="0"/>
              </a:rPr>
              <a:t> </a:t>
            </a:r>
            <a:endParaRPr lang="zh-CN" altLang="en-US" sz="100">
              <a:solidFill>
                <a:srgbClr val="FFFFFF"/>
              </a:solidFill>
              <a:latin typeface="Calibri" panose="020F0502020204030204" pitchFamily="34" charset="0"/>
            </a:endParaRPr>
          </a:p>
        </p:txBody>
      </p:sp>
      <p:pic>
        <p:nvPicPr>
          <p:cNvPr id="2097152" name="图片 5" descr="background1.jpg"/>
          <p:cNvPicPr>
            <a:picLocks noChangeAspect="1"/>
          </p:cNvPicPr>
          <p:nvPr/>
        </p:nvPicPr>
        <p:blipFill>
          <a:blip r:embed="rId2"/>
          <a:srcRect t="12988"/>
          <a:stretch>
            <a:fillRect/>
          </a:stretch>
        </p:blipFill>
        <p:spPr bwMode="auto">
          <a:xfrm>
            <a:off x="0" y="0"/>
            <a:ext cx="9144000" cy="5715000"/>
          </a:xfrm>
          <a:prstGeom prst="rect">
            <a:avLst/>
          </a:prstGeom>
          <a:noFill/>
          <a:ln w="9525">
            <a:noFill/>
            <a:miter lim="800000"/>
            <a:headEnd/>
            <a:tailEnd/>
          </a:ln>
        </p:spPr>
      </p:pic>
      <p:pic>
        <p:nvPicPr>
          <p:cNvPr id="2097153" name="图片 3" descr="1369025_233359298000_2.jpg"/>
          <p:cNvPicPr>
            <a:picLocks noChangeAspect="1"/>
          </p:cNvPicPr>
          <p:nvPr/>
        </p:nvPicPr>
        <p:blipFill>
          <a:blip r:embed="rId3">
            <a:clrChange>
              <a:clrFrom>
                <a:srgbClr val="FFFFFF"/>
              </a:clrFrom>
              <a:clrTo>
                <a:srgbClr val="FFFFFF">
                  <a:alpha val="0"/>
                </a:srgbClr>
              </a:clrTo>
            </a:clrChange>
          </a:blip>
          <a:srcRect r="12871" b="12666"/>
          <a:stretch>
            <a:fillRect/>
          </a:stretch>
        </p:blipFill>
        <p:spPr bwMode="auto">
          <a:xfrm>
            <a:off x="1692275" y="863600"/>
            <a:ext cx="5422900" cy="4851400"/>
          </a:xfrm>
          <a:prstGeom prst="rect">
            <a:avLst/>
          </a:prstGeom>
          <a:noFill/>
          <a:ln w="9525">
            <a:noFill/>
            <a:miter lim="800000"/>
            <a:headEnd/>
            <a:tailEnd/>
          </a:ln>
        </p:spPr>
      </p:pic>
      <p:sp>
        <p:nvSpPr>
          <p:cNvPr id="1048585" name="Rectangle 10"/>
          <p:cNvSpPr>
            <a:spLocks noGrp="1" noChangeArrowheads="1"/>
          </p:cNvSpPr>
          <p:nvPr>
            <p:ph type="sldNum" sz="quarter" idx="12"/>
          </p:nvPr>
        </p:nvSpPr>
        <p:spPr>
          <a:xfrm>
            <a:off x="412750" y="5297488"/>
            <a:ext cx="4159250" cy="296862"/>
          </a:xfrm>
        </p:spPr>
        <p:txBody>
          <a:bodyPr wrap="square" numCol="1" anchorCtr="0" compatLnSpc="1"/>
          <a:lstStyle/>
          <a:p>
            <a:pPr marL="342900" indent="-342900" algn="l" fontAlgn="base">
              <a:lnSpc>
                <a:spcPct val="110000"/>
              </a:lnSpc>
              <a:spcBef>
                <a:spcPct val="0"/>
              </a:spcBef>
              <a:spcAft>
                <a:spcPct val="0"/>
              </a:spcAft>
            </a:pPr>
            <a:r>
              <a:rPr lang="en-US" altLang="zh-CN" sz="1800" smtClean="0">
                <a:solidFill>
                  <a:srgbClr val="BFBFBF"/>
                </a:solidFill>
                <a:latin typeface="微软雅黑" panose="020B0503020204020204" charset="-122"/>
                <a:cs typeface="微软雅黑" panose="020B0503020204020204" charset="-122"/>
              </a:rPr>
              <a:t>http://www.swjtu.edu.cn</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k3MjA0Y2M0ZGM0MTI2OWFmMTU5NDNjNTM2NzMzNzkifQ=="/>
</p:tagLst>
</file>

<file path=ppt/theme/theme1.xml><?xml version="1.0" encoding="utf-8"?>
<a:theme xmlns:a="http://schemas.openxmlformats.org/drawingml/2006/main" name="藏珠馆 Wholehr.taobao.com 原创商务模板">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1600</TotalTime>
  <Words>1541</Words>
  <Application>Microsoft Office PowerPoint</Application>
  <PresentationFormat>全屏显示(16:10)</PresentationFormat>
  <Paragraphs>343</Paragraphs>
  <Slides>18</Slides>
  <Notes>9</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18</vt:i4>
      </vt:variant>
    </vt:vector>
  </HeadingPairs>
  <TitlesOfParts>
    <vt:vector size="38" baseType="lpstr">
      <vt:lpstr>仿宋_GB2312</vt:lpstr>
      <vt:lpstr>黑体</vt:lpstr>
      <vt:lpstr>华文细黑</vt:lpstr>
      <vt:lpstr>华文中宋</vt:lpstr>
      <vt:lpstr>楷体_GB2312</vt:lpstr>
      <vt:lpstr>隶书</vt:lpstr>
      <vt:lpstr>宋体</vt:lpstr>
      <vt:lpstr>微软雅黑</vt:lpstr>
      <vt:lpstr>Arial</vt:lpstr>
      <vt:lpstr>Calibri</vt:lpstr>
      <vt:lpstr>Cambria Math</vt:lpstr>
      <vt:lpstr>Symbol</vt:lpstr>
      <vt:lpstr>Tahoma</vt:lpstr>
      <vt:lpstr>Times New Roman</vt:lpstr>
      <vt:lpstr>Verdana</vt:lpstr>
      <vt:lpstr>Wingdings</vt:lpstr>
      <vt:lpstr>藏珠馆 Wholehr.taobao.com 原创商务模板</vt:lpstr>
      <vt:lpstr>Image</vt:lpstr>
      <vt:lpstr>Equation</vt:lpstr>
      <vt:lpstr>公式</vt:lpstr>
      <vt:lpstr>PowerPoint 演示文稿</vt:lpstr>
      <vt:lpstr>本章内容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ylmf</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藏珠馆 WholeHR.taobao.com</dc:creator>
  <cp:lastModifiedBy>Microsoft</cp:lastModifiedBy>
  <cp:revision>637</cp:revision>
  <dcterms:created xsi:type="dcterms:W3CDTF">2012-03-17T16:08:00Z</dcterms:created>
  <dcterms:modified xsi:type="dcterms:W3CDTF">2024-09-09T11:04:02Z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449056D2969D4DD0B2116DAC6D8A9ABC_12</vt:lpwstr>
  </property>
  <property fmtid="{D5CDD505-2E9C-101B-9397-08002B2CF9AE}" pid="3" name="KSOProductBuildVer">
    <vt:lpwstr>2052-12.1.0.15990</vt:lpwstr>
  </property>
</Properties>
</file>