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57" r:id="rId2"/>
    <p:sldId id="258" r:id="rId3"/>
    <p:sldId id="492" r:id="rId4"/>
    <p:sldId id="525" r:id="rId5"/>
    <p:sldId id="526" r:id="rId6"/>
    <p:sldId id="527" r:id="rId7"/>
    <p:sldId id="493" r:id="rId8"/>
    <p:sldId id="489" r:id="rId9"/>
    <p:sldId id="528" r:id="rId10"/>
    <p:sldId id="529" r:id="rId11"/>
    <p:sldId id="531" r:id="rId12"/>
    <p:sldId id="530" r:id="rId13"/>
    <p:sldId id="532" r:id="rId14"/>
    <p:sldId id="533" r:id="rId15"/>
    <p:sldId id="534" r:id="rId16"/>
    <p:sldId id="535" r:id="rId17"/>
    <p:sldId id="536" r:id="rId18"/>
    <p:sldId id="537" r:id="rId19"/>
    <p:sldId id="538" r:id="rId20"/>
    <p:sldId id="539" r:id="rId21"/>
    <p:sldId id="412" r:id="rId22"/>
  </p:sldIdLst>
  <p:sldSz cx="9144000" cy="5715000" type="screen16x10"/>
  <p:notesSz cx="6858000" cy="9144000"/>
  <p:custDataLst>
    <p:tags r:id="rId24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800" userDrawn="1">
          <p15:clr>
            <a:srgbClr val="A4A3A4"/>
          </p15:clr>
        </p15:guide>
        <p15:guide id="2" pos="2880" userDrawn="1">
          <p15:clr>
            <a:srgbClr val="A4A3A4"/>
          </p15:clr>
        </p15:guide>
        <p15:guide id="3" pos="5488" userDrawn="1">
          <p15:clr>
            <a:srgbClr val="A4A3A4"/>
          </p15:clr>
        </p15:guide>
        <p15:guide id="4" pos="27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00FF"/>
    <a:srgbClr val="FFD833"/>
    <a:srgbClr val="FFCC00"/>
    <a:srgbClr val="E0E0E0"/>
    <a:srgbClr val="FF9900"/>
    <a:srgbClr val="3366FF"/>
    <a:srgbClr val="D1EDFF"/>
    <a:srgbClr val="FFFF7D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47" autoAdjust="0"/>
    <p:restoredTop sz="95211" autoAdjust="0"/>
  </p:normalViewPr>
  <p:slideViewPr>
    <p:cSldViewPr showGuides="1">
      <p:cViewPr varScale="1">
        <p:scale>
          <a:sx n="133" d="100"/>
          <a:sy n="133" d="100"/>
        </p:scale>
        <p:origin x="990" y="108"/>
      </p:cViewPr>
      <p:guideLst>
        <p:guide orient="horz" pos="1800"/>
        <p:guide pos="2880"/>
        <p:guide pos="5488"/>
        <p:guide pos="27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0" d="100"/>
        <a:sy n="7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drawings/_rels/vmlDrawing3.vml.rels><?xml version="1.0" encoding="UTF-8" standalone="yes"?>
<Relationships xmlns="http://schemas.openxmlformats.org/package/2006/relationships"><Relationship Id="rId2" Type="http://schemas.openxmlformats.org/officeDocument/2006/relationships/image" Target="../media/image25.wmf"/><Relationship Id="rId1" Type="http://schemas.openxmlformats.org/officeDocument/2006/relationships/image" Target="../media/image24.w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image" Target="../media/image29.w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image" Target="../media/image34.wmf"/><Relationship Id="rId1" Type="http://schemas.openxmlformats.org/officeDocument/2006/relationships/image" Target="../media/image33.wmf"/><Relationship Id="rId6" Type="http://schemas.openxmlformats.org/officeDocument/2006/relationships/image" Target="../media/image38.wmf"/><Relationship Id="rId5" Type="http://schemas.openxmlformats.org/officeDocument/2006/relationships/image" Target="../media/image37.wmf"/><Relationship Id="rId4" Type="http://schemas.openxmlformats.org/officeDocument/2006/relationships/image" Target="../media/image36.w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44.wmf"/><Relationship Id="rId1" Type="http://schemas.openxmlformats.org/officeDocument/2006/relationships/image" Target="../media/image43.w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45.wmf"/></Relationships>
</file>

<file path=ppt/drawings/_rels/vmlDrawing8.vml.rels><?xml version="1.0" encoding="UTF-8" standalone="yes"?>
<Relationships xmlns="http://schemas.openxmlformats.org/package/2006/relationships"><Relationship Id="rId2" Type="http://schemas.openxmlformats.org/officeDocument/2006/relationships/image" Target="../media/image47.emf"/><Relationship Id="rId1" Type="http://schemas.openxmlformats.org/officeDocument/2006/relationships/image" Target="../media/image46.emf"/></Relationships>
</file>

<file path=ppt/drawings/_rels/vmlDrawing9.vml.rels><?xml version="1.0" encoding="UTF-8" standalone="yes"?>
<Relationships xmlns="http://schemas.openxmlformats.org/package/2006/relationships"><Relationship Id="rId3" Type="http://schemas.openxmlformats.org/officeDocument/2006/relationships/image" Target="../media/image53.wmf"/><Relationship Id="rId2" Type="http://schemas.openxmlformats.org/officeDocument/2006/relationships/image" Target="../media/image52.wmf"/><Relationship Id="rId1" Type="http://schemas.openxmlformats.org/officeDocument/2006/relationships/image" Target="../media/image51.wmf"/></Relationships>
</file>

<file path=ppt/drawings/_rels/vmlDrawing10.v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image" Target="../media/image59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50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54351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fld id="{F37EA0CE-5915-4F4C-B676-E17D05F042EF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52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1054353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  <a:endParaRPr lang="zh-CN" altLang="en-US" noProof="0"/>
          </a:p>
        </p:txBody>
      </p:sp>
      <p:sp>
        <p:nvSpPr>
          <p:cNvPr id="1054354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54355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fld id="{02F0FA9E-A47E-4458-A8BA-8FCC88CC1B1C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60403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应用：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P</a:t>
            </a:r>
            <a:r>
              <a:rPr lang="en-US" altLang="zh-CN" sz="1200" dirty="0" smtClean="0">
                <a:solidFill>
                  <a:srgbClr val="3C3A9E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  <a:sym typeface="Symbol" panose="05050102010706020507" pitchFamily="18" charset="2"/>
              </a:rPr>
              <a:t>≤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  <a:sym typeface="UniversalMath1 BT" panose="05050102010205020602" pitchFamily="18" charset="2"/>
              </a:rPr>
              <a:t>1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00 kW</a:t>
            </a:r>
            <a:r>
              <a:rPr lang="zh-CN" altLang="en-US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v 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  <a:sym typeface="Symbol" panose="05050102010706020507" pitchFamily="18" charset="2"/>
              </a:rPr>
              <a:t>≤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15 m/s</a:t>
            </a:r>
            <a:r>
              <a:rPr lang="zh-CN" altLang="en-US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 、 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a</a:t>
            </a:r>
            <a:r>
              <a:rPr lang="zh-CN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大</a:t>
            </a:r>
            <a:r>
              <a:rPr lang="zh-CN" altLang="en-US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1200" i="1" dirty="0" smtClean="0">
                <a:solidFill>
                  <a:srgbClr val="000000"/>
                </a:solidFill>
                <a:ea typeface="微软雅黑" panose="020B0503020204020204" pitchFamily="34" charset="-122"/>
                <a:sym typeface="UniversalMath1 BT" panose="05050102010205020602" pitchFamily="18" charset="2"/>
              </a:rPr>
              <a:t>i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  <a:sym typeface="Symbol" panose="05050102010706020507" pitchFamily="18" charset="2"/>
              </a:rPr>
              <a:t>≤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8 (</a:t>
            </a:r>
            <a:r>
              <a:rPr lang="zh-CN" altLang="en-US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常用 </a:t>
            </a:r>
            <a:r>
              <a:rPr lang="en-US" altLang="zh-CN" sz="1200" dirty="0" smtClean="0">
                <a:solidFill>
                  <a:srgbClr val="FF0000"/>
                </a:solidFill>
                <a:ea typeface="微软雅黑" panose="020B0503020204020204" pitchFamily="34" charset="-122"/>
              </a:rPr>
              <a:t>i</a:t>
            </a:r>
            <a:r>
              <a:rPr lang="zh-CN" altLang="en-US" sz="1200" dirty="0" smtClean="0">
                <a:solidFill>
                  <a:srgbClr val="FF0000"/>
                </a:solidFill>
                <a:ea typeface="微软雅黑" panose="020B0503020204020204" pitchFamily="34" charset="-122"/>
              </a:rPr>
              <a:t>＝</a:t>
            </a:r>
            <a:r>
              <a:rPr lang="en-US" altLang="zh-CN" sz="1200" dirty="0" smtClean="0">
                <a:solidFill>
                  <a:srgbClr val="FF0000"/>
                </a:solidFill>
                <a:ea typeface="微软雅黑" panose="020B0503020204020204" pitchFamily="34" charset="-122"/>
              </a:rPr>
              <a:t>2~3.5</a:t>
            </a:r>
            <a:r>
              <a:rPr lang="en-US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)</a:t>
            </a:r>
            <a:r>
              <a:rPr lang="zh-CN" altLang="en-US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1200" i="1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i</a:t>
            </a:r>
            <a:r>
              <a:rPr lang="zh-CN" altLang="en-US" sz="1200" baseline="-250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平均</a:t>
            </a:r>
            <a:r>
              <a:rPr lang="zh-CN" altLang="en-US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恒定、</a:t>
            </a:r>
            <a:r>
              <a:rPr lang="zh-CN" altLang="zh-CN" sz="1200" dirty="0" smtClean="0">
                <a:solidFill>
                  <a:srgbClr val="000000"/>
                </a:solidFill>
                <a:ea typeface="微软雅黑" panose="020B0503020204020204" pitchFamily="34" charset="-122"/>
              </a:rPr>
              <a:t>环境恶劣的场合。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3245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为了便于分析，设链的主动边（紧边）处于水平位置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，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主动链轮以角速度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  <a:sym typeface="Symbol" panose="05050102010706020507" pitchFamily="18" charset="2"/>
              </a:rPr>
              <a:t>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回转，当链节与链轮轮齿在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A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点啮合时，链轮上该点的圆周速度的水平分量即为链节上该点的瞬时速度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v</a:t>
            </a:r>
            <a:r>
              <a:rPr lang="zh-CN" altLang="en-US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；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微软雅黑" panose="020B0503020204020204" pitchFamily="34" charset="-122"/>
              <a:cs typeface="+mn-cs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在从动链轮上，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γ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角的变化范围为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 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，由于链速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v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不等于常数和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γ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角的不断变化，因此从动轮的角速度也是周期性变化的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</a:t>
            </a:r>
            <a:r>
              <a:rPr lang="en-US" altLang="zh-CN" sz="12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链传动是否可实现</a:t>
            </a:r>
            <a:r>
              <a:rPr lang="en-US" altLang="zh-CN" sz="1200" b="1" i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200" baseline="-25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瞬时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=const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？使</a:t>
            </a:r>
            <a:r>
              <a:rPr lang="en-US" altLang="zh-CN" sz="1200" b="1" i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200" baseline="-25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瞬时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=const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的条件：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lang="en-US" altLang="zh-CN" sz="1200" baseline="-25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=z</a:t>
            </a:r>
            <a:r>
              <a:rPr lang="en-US" altLang="zh-CN" sz="1200" baseline="-250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1"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保证 </a:t>
            </a:r>
            <a:r>
              <a:rPr kumimoji="1" lang="zh-CN" altLang="en-US" sz="1200" i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</a:t>
            </a:r>
            <a:r>
              <a:rPr kumimoji="1" lang="en-US" altLang="zh-CN" sz="1200" baseline="-25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max</a:t>
            </a:r>
            <a:r>
              <a:rPr kumimoji="1"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 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＝</a:t>
            </a:r>
            <a:r>
              <a:rPr kumimoji="1" lang="zh-CN" altLang="en-US" sz="1200" i="1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</a:t>
            </a:r>
            <a:r>
              <a:rPr kumimoji="1" lang="en-US" altLang="zh-CN" sz="1200" baseline="-25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max</a:t>
            </a:r>
            <a:r>
              <a:rPr kumimoji="1"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 ) </a:t>
            </a:r>
            <a:r>
              <a:rPr lang="zh-CN" altLang="en-US" sz="1200" baseline="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；</a:t>
            </a:r>
            <a:r>
              <a:rPr kumimoji="1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紧边长度为链节距的整数倍</a:t>
            </a:r>
            <a:r>
              <a:rPr kumimoji="1" lang="en-US" altLang="zh-CN" sz="1200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(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保证</a:t>
            </a:r>
            <a:r>
              <a:rPr kumimoji="1" lang="zh-CN" altLang="en-US" sz="1200" i="1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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与</a:t>
            </a:r>
            <a:r>
              <a:rPr kumimoji="1" lang="zh-CN" altLang="en-US" sz="1200" i="1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</a:t>
            </a:r>
            <a:r>
              <a:rPr kumimoji="1" lang="zh-CN" altLang="en-US" sz="1200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时时对应</a:t>
            </a:r>
            <a:r>
              <a:rPr kumimoji="1" lang="en-US" altLang="zh-CN" sz="1200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  <a:sym typeface="UniversalMath1 BT" panose="05050102010205020602" pitchFamily="18" charset="2"/>
              </a:rPr>
              <a:t>)</a:t>
            </a:r>
            <a:r>
              <a:rPr kumimoji="1" lang="en-US" altLang="zh-CN" sz="1200" dirty="0" smtClean="0">
                <a:solidFill>
                  <a:srgbClr val="000000"/>
                </a:solidFill>
                <a:latin typeface="宋体" panose="02010600030101010101" pitchFamily="2" charset="-122"/>
                <a:ea typeface="宋体" panose="02010600030101010101" pitchFamily="2" charset="-122"/>
                <a:sym typeface="UniversalMath1 BT" panose="05050102010205020602" pitchFamily="18" charset="2"/>
              </a:rPr>
              <a:t>→</a:t>
            </a:r>
            <a:r>
              <a:rPr kumimoji="1" lang="en-US" altLang="zh-CN" sz="1200" b="1" i="1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1200" b="0" i="0" u="none" strike="noStrike" kern="0" cap="none" spc="0" normalizeH="0" baseline="-2500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瞬时</a:t>
            </a:r>
            <a:r>
              <a:rPr kumimoji="1" lang="en-US" altLang="zh-CN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=1</a:t>
            </a:r>
            <a:r>
              <a:rPr kumimoji="1" lang="zh-CN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。</a:t>
            </a:r>
            <a:endParaRPr kumimoji="1" lang="en-US" altLang="zh-CN" sz="1200" b="0" i="0" u="none" strike="noStrike" kern="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思考</a:t>
            </a:r>
            <a:r>
              <a:rPr lang="en-US" altLang="zh-CN" sz="1200" b="1" u="sng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1200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：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当</a:t>
            </a:r>
            <a:r>
              <a:rPr lang="en-US" altLang="zh-CN" sz="1200" b="1" i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zh-CN" altLang="en-US" sz="1200" baseline="-250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瞬时</a:t>
            </a:r>
            <a:r>
              <a:rPr lang="en-US" altLang="zh-CN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=const</a:t>
            </a:r>
            <a:r>
              <a:rPr lang="zh-CN" altLang="en-US" sz="1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时，链传动的运动不均匀性是否已消除？</a:t>
            </a:r>
            <a:endParaRPr lang="zh-CN" altLang="en-US" baseline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40788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链传动工作时，若不考虑动载荷，链条主要受到工作拉力、离心拉力和悬垂拉力作用</a:t>
            </a:r>
            <a:r>
              <a:rPr lang="zh-CN" altLang="en-US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lang="en-US" altLang="zh-CN" sz="1200" kern="1200" dirty="0" smtClean="0">
              <a:solidFill>
                <a:schemeClr val="tx1"/>
              </a:solidFill>
              <a:effectLst/>
              <a:latin typeface="Times New Roman" pitchFamily="18" charset="0"/>
              <a:ea typeface="微软雅黑" panose="020B0503020204020204" pitchFamily="34" charset="-122"/>
              <a:cs typeface="+mn-cs"/>
            </a:endParaRPr>
          </a:p>
          <a:p>
            <a:pPr eaLnBrk="1" hangingPunct="1"/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K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为下垂度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y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=0.02a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时的垂度系数。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K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值与两链轮轴线所在平面与水平面的倾斜角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  <a:sym typeface="Symbol" panose="05050102010706020507" pitchFamily="18" charset="2"/>
              </a:rPr>
              <a:t>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有关。水平布置时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K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=6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，当倾斜布置时，垂度拉力将变小，垂直布置时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K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f</a:t>
            </a:r>
            <a:r>
              <a:rPr lang="en-US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=1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56649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 smtClean="0"/>
              <a:t>由图中可见，链传动的失效是综合性的，首先，在中低速情况下，主要失效形式是链板的疲劳破坏，且链板的疲劳破坏限制了链传动承载的功率；随着小链轮转速的提高，主要失效形式是滚子、套筒的冲击疲劳破坏；当速度再高，在高速情况下，容易导致润滑失效，从而出现胶合。另外，还必须限制链轮的极限转速，不同型号的链条有不同的极限转速限制。</a:t>
            </a:r>
            <a:endParaRPr lang="en-US" altLang="zh-CN" dirty="0" smtClean="0"/>
          </a:p>
          <a:p>
            <a:r>
              <a:rPr lang="zh-CN" altLang="en-US" dirty="0" smtClean="0"/>
              <a:t>因此，链传动的设计，主要是根据小链轮转速及单排链的额定功率，定出链条型号。</a:t>
            </a:r>
            <a:endParaRPr lang="en-US" altLang="zh-CN" dirty="0" smtClean="0"/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额定功率曲线：</a:t>
            </a:r>
            <a:r>
              <a:rPr lang="zh-CN" altLang="en-US" b="0" i="0" dirty="0" smtClean="0">
                <a:solidFill>
                  <a:schemeClr val="tx1"/>
                </a:solidFill>
              </a:rPr>
              <a:t>一定使用寿命及润滑良好条件下，各种失效形式的额定功率</a:t>
            </a:r>
            <a:r>
              <a:rPr lang="en-US" altLang="zh-CN" i="0" dirty="0" smtClean="0">
                <a:solidFill>
                  <a:schemeClr val="tx1"/>
                </a:solidFill>
              </a:rPr>
              <a:t>P</a:t>
            </a:r>
            <a:r>
              <a:rPr lang="en-US" altLang="zh-CN" i="0" baseline="-25000" dirty="0" smtClean="0">
                <a:solidFill>
                  <a:schemeClr val="tx1"/>
                </a:solidFill>
              </a:rPr>
              <a:t>0</a:t>
            </a:r>
            <a:r>
              <a:rPr lang="zh-CN" altLang="en-US" b="0" i="0" dirty="0" smtClean="0">
                <a:solidFill>
                  <a:schemeClr val="tx1"/>
                </a:solidFill>
              </a:rPr>
              <a:t>与</a:t>
            </a:r>
            <a:r>
              <a:rPr lang="en-US" altLang="zh-CN" i="0" dirty="0" smtClean="0">
                <a:solidFill>
                  <a:schemeClr val="tx1"/>
                </a:solidFill>
              </a:rPr>
              <a:t>n</a:t>
            </a:r>
            <a:r>
              <a:rPr lang="en-US" altLang="zh-CN" i="0" baseline="-25000" dirty="0" smtClean="0">
                <a:solidFill>
                  <a:schemeClr val="tx1"/>
                </a:solidFill>
              </a:rPr>
              <a:t>1</a:t>
            </a:r>
            <a:r>
              <a:rPr lang="zh-CN" altLang="en-US" b="0" i="0" dirty="0" smtClean="0">
                <a:solidFill>
                  <a:schemeClr val="tx1"/>
                </a:solidFill>
              </a:rPr>
              <a:t>的关系曲线。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图表明了采用推荐的润滑方式时，链传动所能传递的功率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P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0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、小轮转速</a:t>
            </a:r>
            <a:r>
              <a:rPr lang="en-US" altLang="zh-CN" sz="1200" i="1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n</a:t>
            </a:r>
            <a:r>
              <a:rPr lang="en-US" altLang="zh-CN" sz="1200" kern="1200" baseline="-250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1</a:t>
            </a:r>
            <a:r>
              <a:rPr lang="zh-CN" altLang="zh-CN" sz="1200" kern="1200" dirty="0" smtClean="0">
                <a:solidFill>
                  <a:schemeClr val="tx1"/>
                </a:solidFill>
                <a:effectLst/>
                <a:latin typeface="Times New Roman" pitchFamily="18" charset="0"/>
                <a:ea typeface="微软雅黑" panose="020B0503020204020204" pitchFamily="34" charset="-122"/>
                <a:cs typeface="+mn-cs"/>
              </a:rPr>
              <a:t>和链号三者之间的关系。</a:t>
            </a:r>
            <a:endParaRPr lang="en-US" altLang="zh-CN" b="0" i="0" dirty="0" smtClean="0">
              <a:solidFill>
                <a:schemeClr val="tx1"/>
              </a:solidFill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b="0" i="0" dirty="0" smtClean="0">
                <a:solidFill>
                  <a:schemeClr val="tx1"/>
                </a:solidFill>
              </a:rPr>
              <a:t>由图中可见，</a:t>
            </a:r>
            <a:r>
              <a:rPr lang="zh-CN" altLang="en-US" sz="1200" i="0" dirty="0" smtClean="0">
                <a:ea typeface="微软雅黑" panose="020B0503020204020204" pitchFamily="34" charset="-122"/>
              </a:rPr>
              <a:t>套筒滚子链在特定条件下可能传递的</a:t>
            </a:r>
            <a:r>
              <a:rPr lang="zh-CN" altLang="en-US" sz="1200" b="0" i="0" dirty="0" smtClean="0">
                <a:solidFill>
                  <a:srgbClr val="FF0000"/>
                </a:solidFill>
                <a:ea typeface="微软雅黑" panose="020B0503020204020204" pitchFamily="34" charset="-122"/>
              </a:rPr>
              <a:t>最大功率</a:t>
            </a:r>
            <a:r>
              <a:rPr lang="zh-CN" altLang="en-US" sz="1200" i="0" dirty="0" smtClean="0">
                <a:ea typeface="微软雅黑" panose="020B0503020204020204" pitchFamily="34" charset="-122"/>
              </a:rPr>
              <a:t>与转速</a:t>
            </a:r>
            <a:r>
              <a:rPr lang="en-US" altLang="zh-CN" sz="1200" i="0" dirty="0" smtClean="0">
                <a:ea typeface="微软雅黑" panose="020B0503020204020204" pitchFamily="34" charset="-122"/>
              </a:rPr>
              <a:t>n</a:t>
            </a:r>
            <a:r>
              <a:rPr lang="en-US" altLang="zh-CN" sz="1200" i="0" baseline="-25000" dirty="0" smtClean="0">
                <a:ea typeface="微软雅黑" panose="020B0503020204020204" pitchFamily="34" charset="-122"/>
              </a:rPr>
              <a:t>1</a:t>
            </a:r>
            <a:r>
              <a:rPr lang="zh-CN" altLang="en-US" sz="1200" i="0" dirty="0" smtClean="0">
                <a:ea typeface="微软雅黑" panose="020B0503020204020204" pitchFamily="34" charset="-122"/>
              </a:rPr>
              <a:t>、链号和润滑方式有关。 </a:t>
            </a:r>
            <a:endParaRPr lang="en-US" altLang="zh-CN" sz="1200" i="0" dirty="0" smtClean="0">
              <a:ea typeface="微软雅黑" panose="020B0503020204020204" pitchFamily="34" charset="-122"/>
            </a:endParaRP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0" i="0" dirty="0" smtClean="0">
                <a:ea typeface="微软雅黑" panose="020B0503020204020204" pitchFamily="34" charset="-122"/>
              </a:rPr>
              <a:t>注意：该曲线是在特定的工况条件下通过实验测出的：即</a:t>
            </a:r>
            <a:r>
              <a:rPr lang="en-US" altLang="zh-CN" sz="1200" i="0" dirty="0" smtClean="0">
                <a:latin typeface="+mn-lt"/>
                <a:ea typeface="微软雅黑" panose="020B0503020204020204" pitchFamily="34" charset="-122"/>
              </a:rPr>
              <a:t>z</a:t>
            </a:r>
            <a:r>
              <a:rPr lang="en-US" altLang="zh-CN" sz="1200" i="0" baseline="-25000" dirty="0" smtClean="0">
                <a:latin typeface="+mn-lt"/>
                <a:ea typeface="微软雅黑" panose="020B0503020204020204" pitchFamily="34" charset="-122"/>
              </a:rPr>
              <a:t>1</a:t>
            </a:r>
            <a:r>
              <a:rPr lang="en-US" altLang="zh-CN" sz="1200" i="0" dirty="0" smtClean="0">
                <a:latin typeface="+mn-lt"/>
                <a:ea typeface="微软雅黑" panose="020B0503020204020204" pitchFamily="34" charset="-122"/>
              </a:rPr>
              <a:t>=19</a:t>
            </a:r>
            <a:r>
              <a:rPr lang="zh-CN" altLang="en-US" sz="1200" i="0" dirty="0" smtClean="0">
                <a:latin typeface="+mn-lt"/>
                <a:ea typeface="微软雅黑" panose="020B0503020204020204" pitchFamily="34" charset="-122"/>
              </a:rPr>
              <a:t>，</a:t>
            </a:r>
            <a:r>
              <a:rPr lang="en-US" altLang="zh-CN" sz="1200" i="0" dirty="0" smtClean="0">
                <a:latin typeface="+mn-lt"/>
                <a:ea typeface="微软雅黑" panose="020B0503020204020204" pitchFamily="34" charset="-122"/>
              </a:rPr>
              <a:t>L</a:t>
            </a:r>
            <a:r>
              <a:rPr lang="en-US" altLang="zh-CN" sz="1200" i="0" baseline="-25000" dirty="0" smtClean="0">
                <a:latin typeface="+mn-lt"/>
                <a:ea typeface="微软雅黑" panose="020B0503020204020204" pitchFamily="34" charset="-122"/>
              </a:rPr>
              <a:t>p</a:t>
            </a:r>
            <a:r>
              <a:rPr lang="en-US" altLang="zh-CN" sz="1200" i="0" dirty="0" smtClean="0">
                <a:latin typeface="+mn-lt"/>
                <a:ea typeface="微软雅黑" panose="020B0503020204020204" pitchFamily="34" charset="-122"/>
              </a:rPr>
              <a:t>=120</a:t>
            </a:r>
            <a:r>
              <a:rPr lang="zh-CN" altLang="en-US" sz="1200" i="0" dirty="0" smtClean="0">
                <a:latin typeface="+mn-lt"/>
                <a:ea typeface="微软雅黑" panose="020B0503020204020204" pitchFamily="34" charset="-122"/>
              </a:rPr>
              <a:t>，单排水平布置、载荷平稳、推荐方式润滑</a:t>
            </a:r>
            <a:r>
              <a:rPr lang="en-US" altLang="zh-CN" sz="1200" i="0" dirty="0" smtClean="0">
                <a:latin typeface="+mn-lt"/>
                <a:ea typeface="微软雅黑" panose="020B0503020204020204" pitchFamily="34" charset="-122"/>
              </a:rPr>
              <a:t>; L</a:t>
            </a:r>
            <a:r>
              <a:rPr lang="en-US" altLang="zh-CN" sz="1200" i="0" baseline="-25000" dirty="0" smtClean="0">
                <a:latin typeface="+mn-lt"/>
                <a:ea typeface="微软雅黑" panose="020B0503020204020204" pitchFamily="34" charset="-122"/>
              </a:rPr>
              <a:t>h</a:t>
            </a:r>
            <a:r>
              <a:rPr lang="en-US" altLang="zh-CN" sz="1200" i="0" dirty="0" smtClean="0">
                <a:latin typeface="+mn-lt"/>
                <a:ea typeface="微软雅黑" panose="020B0503020204020204" pitchFamily="34" charset="-122"/>
              </a:rPr>
              <a:t>=15000h, </a:t>
            </a:r>
            <a:r>
              <a:rPr lang="zh-CN" altLang="en-US" sz="1200" i="0" dirty="0" smtClean="0">
                <a:latin typeface="+mn-lt"/>
                <a:ea typeface="微软雅黑" panose="020B0503020204020204" pitchFamily="34" charset="-122"/>
              </a:rPr>
              <a:t>相对伸长量</a:t>
            </a:r>
            <a:r>
              <a:rPr lang="zh-CN" altLang="en-US" sz="1200" i="0" dirty="0" smtClean="0">
                <a:latin typeface="+mn-lt"/>
                <a:ea typeface="微软雅黑" panose="020B0503020204020204" pitchFamily="34" charset="-122"/>
                <a:sym typeface="Symbol" panose="05050102010706020507" pitchFamily="18" charset="2"/>
              </a:rPr>
              <a:t>≤</a:t>
            </a:r>
            <a:r>
              <a:rPr lang="en-US" altLang="zh-CN" sz="1200" i="0" dirty="0" smtClean="0">
                <a:latin typeface="+mn-lt"/>
                <a:ea typeface="微软雅黑" panose="020B0503020204020204" pitchFamily="34" charset="-122"/>
              </a:rPr>
              <a:t>3%</a:t>
            </a:r>
            <a:r>
              <a:rPr lang="zh-CN" altLang="en-US" sz="1200" i="0" dirty="0" smtClean="0">
                <a:latin typeface="+mn-lt"/>
                <a:ea typeface="微软雅黑" panose="020B0503020204020204" pitchFamily="34" charset="-122"/>
              </a:rPr>
              <a:t>等。</a:t>
            </a:r>
            <a:endParaRPr lang="zh-CN" altLang="en-US" b="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6165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Fd——</a:t>
            </a:r>
            <a:r>
              <a:rPr lang="zh-CN" altLang="en-US" dirty="0" smtClean="0"/>
              <a:t>链传动的动载荷。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2F0FA9E-A47E-4458-A8BA-8FCC88CC1B1C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985926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jpeg"/><Relationship Id="rId3" Type="http://schemas.openxmlformats.org/officeDocument/2006/relationships/image" Target="../media/image2.jpeg"/><Relationship Id="rId7" Type="http://schemas.openxmlformats.org/officeDocument/2006/relationships/image" Target="../media/image4.jpeg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jpeg"/><Relationship Id="rId5" Type="http://schemas.openxmlformats.org/officeDocument/2006/relationships/image" Target="../media/image1.png"/><Relationship Id="rId4" Type="http://schemas.openxmlformats.org/officeDocument/2006/relationships/oleObject" Target="../embeddings/oleObject1.bin"/><Relationship Id="rId9" Type="http://schemas.openxmlformats.org/officeDocument/2006/relationships/image" Target="../media/image6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1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3" name="灯片编号占位符 5"/>
          <p:cNvSpPr txBox="1"/>
          <p:nvPr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A0566AA-6162-4D95-AC0C-E78E38CB513D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695" name="AutoShape 11" descr="http://img3.imgtn.bdimg.com/it/u=648473279,3398283694&amp;fm=21&amp;gp=0.jpg"/>
          <p:cNvSpPr>
            <a:spLocks noChangeAspect="1" noChangeArrowheads="1"/>
          </p:cNvSpPr>
          <p:nvPr userDrawn="1"/>
        </p:nvSpPr>
        <p:spPr bwMode="auto">
          <a:xfrm>
            <a:off x="155575" y="-144462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48696" name="AutoShape 13" descr="http://img3.imgtn.bdimg.com/it/u=648473279,3398283694&amp;fm=21&amp;gp=0.jpg"/>
          <p:cNvSpPr>
            <a:spLocks noChangeAspect="1" noChangeArrowheads="1"/>
          </p:cNvSpPr>
          <p:nvPr userDrawn="1"/>
        </p:nvSpPr>
        <p:spPr bwMode="auto">
          <a:xfrm>
            <a:off x="307975" y="7938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sp>
        <p:nvSpPr>
          <p:cNvPr id="1048698" name="灯片编号占位符 5"/>
          <p:cNvSpPr txBox="1"/>
          <p:nvPr userDrawn="1"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2A410C9-B208-4A8D-BBA4-F9BEF18974F4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pic>
        <p:nvPicPr>
          <p:cNvPr id="2097166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14" y="3729"/>
            <a:ext cx="9144000" cy="1749715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2097167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3937620"/>
            <a:ext cx="9144000" cy="177738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4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1789590"/>
            <a:ext cx="9144000" cy="2148030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id="36" name="Picture 13"/>
          <p:cNvPicPr>
            <a:picLocks noChangeAspect="1" noChangeArrowheads="1"/>
          </p:cNvPicPr>
          <p:nvPr userDrawn="1"/>
        </p:nvPicPr>
        <p:blipFill rotWithShape="1">
          <a:blip r:embed="rId3"/>
          <a:srcRect t="64384"/>
          <a:stretch>
            <a:fillRect/>
          </a:stretch>
        </p:blipFill>
        <p:spPr bwMode="auto">
          <a:xfrm>
            <a:off x="-3645" y="603729"/>
            <a:ext cx="9144000" cy="1749715"/>
          </a:xfrm>
          <a:prstGeom prst="rect">
            <a:avLst/>
          </a:prstGeom>
          <a:noFill/>
          <a:ln>
            <a:noFill/>
          </a:ln>
          <a:effectLst/>
        </p:spPr>
      </p:pic>
      <p:grpSp>
        <p:nvGrpSpPr>
          <p:cNvPr id="50" name="组合 38"/>
          <p:cNvGrpSpPr/>
          <p:nvPr userDrawn="1"/>
        </p:nvGrpSpPr>
        <p:grpSpPr>
          <a:xfrm>
            <a:off x="-2193" y="4081636"/>
            <a:ext cx="9144233" cy="360040"/>
            <a:chOff x="-2193" y="3579862"/>
            <a:chExt cx="9144233" cy="360040"/>
          </a:xfrm>
        </p:grpSpPr>
        <p:graphicFrame>
          <p:nvGraphicFramePr>
            <p:cNvPr id="51" name="对象 39"/>
            <p:cNvGraphicFramePr>
              <a:graphicFrameLocks noChangeAspect="1"/>
            </p:cNvGraphicFramePr>
            <p:nvPr/>
          </p:nvGraphicFramePr>
          <p:xfrm>
            <a:off x="-2193" y="3579862"/>
            <a:ext cx="9144000" cy="2952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41925" name="Image" r:id="rId4" imgW="7553325" imgH="704850" progId="">
                    <p:embed/>
                  </p:oleObj>
                </mc:Choice>
                <mc:Fallback>
                  <p:oleObj name="Image" r:id="rId4" imgW="7553325" imgH="704850" progId="">
                    <p:embed/>
                    <p:pic>
                      <p:nvPicPr>
                        <p:cNvPr id="0" name="图片 5941732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 t="16559" r="903"/>
                        <a:stretch>
                          <a:fillRect/>
                        </a:stretch>
                      </p:blipFill>
                      <p:spPr bwMode="auto">
                        <a:xfrm>
                          <a:off x="-2193" y="3579862"/>
                          <a:ext cx="9144000" cy="2952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pic>
          <p:nvPicPr>
            <p:cNvPr id="52" name="Picture 5"/>
            <p:cNvPicPr>
              <a:picLocks noChangeAspect="1" noChangeArrowheads="1"/>
            </p:cNvPicPr>
            <p:nvPr/>
          </p:nvPicPr>
          <p:blipFill rotWithShape="1">
            <a:blip r:embed="rId6"/>
            <a:srcRect t="87967"/>
            <a:stretch>
              <a:fillRect/>
            </a:stretch>
          </p:blipFill>
          <p:spPr bwMode="auto">
            <a:xfrm>
              <a:off x="-1960" y="3816424"/>
              <a:ext cx="9144000" cy="123478"/>
            </a:xfrm>
            <a:prstGeom prst="rect">
              <a:avLst/>
            </a:prstGeom>
            <a:noFill/>
            <a:ln>
              <a:noFill/>
            </a:ln>
            <a:effectLst/>
          </p:spPr>
        </p:pic>
      </p:grpSp>
      <p:sp>
        <p:nvSpPr>
          <p:cNvPr id="53" name="TextBox 51"/>
          <p:cNvSpPr txBox="1"/>
          <p:nvPr userDrawn="1"/>
        </p:nvSpPr>
        <p:spPr>
          <a:xfrm>
            <a:off x="3203848" y="4593298"/>
            <a:ext cx="2864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07</a:t>
            </a:r>
            <a:r>
              <a:rPr lang="zh-CN" altLang="en-US" sz="3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章 链传动</a:t>
            </a:r>
            <a:endParaRPr lang="zh-CN" altLang="en-US" sz="32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30" name="Picture 10" descr="http://img2.imgtn.bdimg.com/it/u=3154056593,3020314375&amp;fm=21&amp;gp=0.jpg"/>
          <p:cNvPicPr>
            <a:picLocks noChangeArrowheads="1"/>
          </p:cNvPicPr>
          <p:nvPr userDrawn="1"/>
        </p:nvPicPr>
        <p:blipFill rotWithShape="1">
          <a:blip r:embed="rId7" cstate="print"/>
          <a:srcRect l="6362" r="14516"/>
          <a:stretch>
            <a:fillRect/>
          </a:stretch>
        </p:blipFill>
        <p:spPr bwMode="auto">
          <a:xfrm>
            <a:off x="3895358" y="944654"/>
            <a:ext cx="1288800" cy="864096"/>
          </a:xfrm>
          <a:prstGeom prst="rect">
            <a:avLst/>
          </a:prstGeom>
          <a:noFill/>
        </p:spPr>
      </p:pic>
      <p:sp>
        <p:nvSpPr>
          <p:cNvPr id="31" name="矩形 42"/>
          <p:cNvSpPr/>
          <p:nvPr userDrawn="1"/>
        </p:nvSpPr>
        <p:spPr>
          <a:xfrm>
            <a:off x="-3645" y="944654"/>
            <a:ext cx="3004121" cy="864096"/>
          </a:xfrm>
          <a:prstGeom prst="rect">
            <a:avLst/>
          </a:prstGeom>
          <a:solidFill>
            <a:srgbClr val="1F497D">
              <a:lumMod val="60000"/>
              <a:lumOff val="4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矩形 43"/>
          <p:cNvSpPr/>
          <p:nvPr userDrawn="1"/>
        </p:nvSpPr>
        <p:spPr>
          <a:xfrm>
            <a:off x="3000477" y="944654"/>
            <a:ext cx="851444" cy="864096"/>
          </a:xfrm>
          <a:prstGeom prst="rect">
            <a:avLst/>
          </a:prstGeom>
          <a:solidFill>
            <a:srgbClr val="92D050"/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矩形 44"/>
          <p:cNvSpPr/>
          <p:nvPr userDrawn="1"/>
        </p:nvSpPr>
        <p:spPr>
          <a:xfrm>
            <a:off x="8134040" y="942295"/>
            <a:ext cx="1008000" cy="864096"/>
          </a:xfrm>
          <a:prstGeom prst="rect">
            <a:avLst/>
          </a:prstGeom>
          <a:solidFill>
            <a:srgbClr val="F79646">
              <a:lumMod val="75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5" name="矩形 45"/>
          <p:cNvSpPr/>
          <p:nvPr userDrawn="1"/>
        </p:nvSpPr>
        <p:spPr>
          <a:xfrm>
            <a:off x="35496" y="1088670"/>
            <a:ext cx="324000" cy="324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4" name="矩形 46"/>
          <p:cNvSpPr/>
          <p:nvPr userDrawn="1"/>
        </p:nvSpPr>
        <p:spPr>
          <a:xfrm>
            <a:off x="683568" y="193204"/>
            <a:ext cx="432048" cy="324000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5" name="矩形 47"/>
          <p:cNvSpPr/>
          <p:nvPr userDrawn="1"/>
        </p:nvSpPr>
        <p:spPr>
          <a:xfrm>
            <a:off x="1115616" y="512584"/>
            <a:ext cx="864096" cy="733412"/>
          </a:xfrm>
          <a:prstGeom prst="rect">
            <a:avLst/>
          </a:prstGeom>
          <a:solidFill>
            <a:srgbClr val="1F497D">
              <a:lumMod val="20000"/>
              <a:lumOff val="80000"/>
            </a:srgbClr>
          </a:solidFill>
          <a:ln w="25400" cap="flat" cmpd="sng" algn="ctr">
            <a:noFill/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6" name="TextBox 48"/>
          <p:cNvSpPr txBox="1"/>
          <p:nvPr userDrawn="1"/>
        </p:nvSpPr>
        <p:spPr>
          <a:xfrm>
            <a:off x="467544" y="1269561"/>
            <a:ext cx="2926080" cy="3200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kumimoji="0" lang="en-US" altLang="zh-CN" sz="15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" lastClr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</a:rPr>
              <a:t>Southwest Jiaotong University</a:t>
            </a:r>
            <a:endParaRPr kumimoji="0" lang="zh-CN" altLang="en-US" sz="1500" b="0" i="0" u="none" strike="noStrike" kern="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</a:endParaRPr>
          </a:p>
        </p:txBody>
      </p:sp>
      <p:pic>
        <p:nvPicPr>
          <p:cNvPr id="57" name="Picture 20" descr="http://www.huanbohainews.com.cn/pic/0/11/39/70/11397032_991616.jpg"/>
          <p:cNvPicPr>
            <a:picLocks noChangeAspect="1" noChangeArrowheads="1"/>
          </p:cNvPicPr>
          <p:nvPr userDrawn="1"/>
        </p:nvPicPr>
        <p:blipFill rotWithShape="1">
          <a:blip r:embed="rId8" cstate="print"/>
          <a:srcRect b="10406"/>
          <a:stretch>
            <a:fillRect/>
          </a:stretch>
        </p:blipFill>
        <p:spPr bwMode="auto">
          <a:xfrm>
            <a:off x="5203995" y="944654"/>
            <a:ext cx="952181" cy="864096"/>
          </a:xfrm>
          <a:prstGeom prst="rect">
            <a:avLst/>
          </a:prstGeom>
          <a:noFill/>
        </p:spPr>
      </p:pic>
      <p:pic>
        <p:nvPicPr>
          <p:cNvPr id="58" name="Picture 24" descr="http://imgbdb3.bendibao.com/bjbdb/20153/24/2015324113029237.jpg"/>
          <p:cNvPicPr>
            <a:picLocks noChangeArrowheads="1"/>
          </p:cNvPicPr>
          <p:nvPr userDrawn="1"/>
        </p:nvPicPr>
        <p:blipFill rotWithShape="1">
          <a:blip r:embed="rId9" cstate="print"/>
          <a:srcRect t="16191" b="16189"/>
          <a:stretch>
            <a:fillRect/>
          </a:stretch>
        </p:blipFill>
        <p:spPr bwMode="auto">
          <a:xfrm>
            <a:off x="6180594" y="944654"/>
            <a:ext cx="1926000" cy="861737"/>
          </a:xfrm>
          <a:prstGeom prst="rect">
            <a:avLst/>
          </a:prstGeom>
          <a:noFill/>
        </p:spPr>
      </p:pic>
      <p:pic>
        <p:nvPicPr>
          <p:cNvPr id="60" name="Picture 11"/>
          <p:cNvPicPr>
            <a:picLocks noChangeAspect="1" noChangeArrowheads="1"/>
          </p:cNvPicPr>
          <p:nvPr userDrawn="1"/>
        </p:nvPicPr>
        <p:blipFill rotWithShape="1">
          <a:blip r:embed="rId3"/>
          <a:srcRect l="5181" t="50052" r="85029" b="35397"/>
          <a:stretch>
            <a:fillRect/>
          </a:stretch>
        </p:blipFill>
        <p:spPr bwMode="auto">
          <a:xfrm>
            <a:off x="359496" y="2256392"/>
            <a:ext cx="1203592" cy="961148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61" name="WordArt 7"/>
          <p:cNvSpPr>
            <a:spLocks noChangeArrowheads="1" noChangeShapeType="1" noTextEdit="1"/>
          </p:cNvSpPr>
          <p:nvPr userDrawn="1"/>
        </p:nvSpPr>
        <p:spPr bwMode="auto">
          <a:xfrm>
            <a:off x="2983309" y="3165435"/>
            <a:ext cx="3276678" cy="492125"/>
          </a:xfrm>
          <a:prstGeom prst="rect">
            <a:avLst/>
          </a:prstGeom>
        </p:spPr>
        <p:txBody>
          <a:bodyPr wrap="none" numCol="1" fromWordArt="1">
            <a:prstTxWarp prst="textPlain">
              <a:avLst>
                <a:gd name="adj" fmla="val 50014"/>
              </a:avLst>
            </a:prstTxWarp>
          </a:bodyPr>
          <a:lstStyle>
            <a:defPPr>
              <a:defRPr lang="zh-CN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  <a:cs typeface="+mn-cs"/>
              </a:defRPr>
            </a:lvl9pPr>
          </a:lstStyle>
          <a:p>
            <a:pPr algn="ctr"/>
            <a:r>
              <a:rPr lang="en-US" altLang="zh-CN" sz="3600" b="1" kern="10" dirty="0" smtClean="0">
                <a:ln w="9525">
                  <a:noFill/>
                  <a:round/>
                </a:ln>
                <a:solidFill>
                  <a:srgbClr val="0066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/>
                <a:cs typeface="Arial" panose="020B0604020202020204"/>
              </a:rPr>
              <a:t>Mechanical Design</a:t>
            </a:r>
            <a:endParaRPr lang="zh-CN" altLang="en-US" sz="3600" b="1" kern="10" dirty="0">
              <a:ln w="9525">
                <a:noFill/>
                <a:round/>
              </a:ln>
              <a:solidFill>
                <a:srgbClr val="0066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/>
              <a:cs typeface="Arial" panose="020B0604020202020204"/>
            </a:endParaRPr>
          </a:p>
        </p:txBody>
      </p:sp>
      <p:sp>
        <p:nvSpPr>
          <p:cNvPr id="59" name="TextBox 53"/>
          <p:cNvSpPr txBox="1"/>
          <p:nvPr userDrawn="1"/>
        </p:nvSpPr>
        <p:spPr>
          <a:xfrm>
            <a:off x="1643906" y="2177053"/>
            <a:ext cx="5955477" cy="7848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45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anose="020B0503020204020204" charset="-122"/>
                <a:ea typeface="微软雅黑" panose="020B0503020204020204" charset="-122"/>
              </a:rPr>
              <a:t>机械设计线下授课讲稿</a:t>
            </a:r>
            <a:endParaRPr lang="zh-CN" altLang="en-US" sz="45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194304" name="Object 9"/>
          <p:cNvGraphicFramePr>
            <a:graphicFrameLocks noChangeAspect="1"/>
          </p:cNvGraphicFramePr>
          <p:nvPr/>
        </p:nvGraphicFramePr>
        <p:xfrm>
          <a:off x="0" y="120650"/>
          <a:ext cx="9144000" cy="29527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42942" name="Image" r:id="rId3" imgW="7553325" imgH="704850" progId="">
                  <p:embed/>
                </p:oleObj>
              </mc:Choice>
              <mc:Fallback>
                <p:oleObj name="Image" r:id="rId3" imgW="7553325" imgH="704850" progId="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 t="16559" r="903"/>
                      <a:stretch>
                        <a:fillRect/>
                      </a:stretch>
                    </p:blipFill>
                    <p:spPr bwMode="auto">
                      <a:xfrm>
                        <a:off x="0" y="120650"/>
                        <a:ext cx="9144000" cy="295276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48586" name="灯片编号占位符 5"/>
          <p:cNvSpPr txBox="1"/>
          <p:nvPr/>
        </p:nvSpPr>
        <p:spPr>
          <a:xfrm>
            <a:off x="107952" y="49214"/>
            <a:ext cx="2087563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2D278751-D899-4D39-AACB-C7527FDC3B9A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587" name="标题 1"/>
          <p:cNvSpPr>
            <a:spLocks noGrp="1"/>
          </p:cNvSpPr>
          <p:nvPr>
            <p:ph type="title"/>
          </p:nvPr>
        </p:nvSpPr>
        <p:spPr>
          <a:xfrm>
            <a:off x="457200" y="546099"/>
            <a:ext cx="8229600" cy="635266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48588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1048589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90" name="灯片编号占位符 5"/>
          <p:cNvSpPr>
            <a:spLocks noGrp="1"/>
          </p:cNvSpPr>
          <p:nvPr>
            <p:ph type="sldNum" sz="quarter" idx="11"/>
          </p:nvPr>
        </p:nvSpPr>
        <p:spPr>
          <a:xfrm>
            <a:off x="709613" y="5297488"/>
            <a:ext cx="2133600" cy="303212"/>
          </a:xfr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fld id="{C13746F3-A129-4F8B-BCBD-7CEBD612C3F9}" type="slidenum">
              <a:rPr lang="zh-CN" altLang="en-US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711" name="图片 5" descr="background1.jpg"/>
          <p:cNvPicPr>
            <a:picLocks noChangeAspect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54338" name="标题 1"/>
          <p:cNvSpPr>
            <a:spLocks noGrp="1"/>
          </p:cNvSpPr>
          <p:nvPr>
            <p:ph type="title"/>
          </p:nvPr>
        </p:nvSpPr>
        <p:spPr>
          <a:xfrm>
            <a:off x="457200" y="546099"/>
            <a:ext cx="8229600" cy="635266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1054339" name="内容占位符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771636"/>
          </a:xfrm>
        </p:spPr>
        <p:txBody>
          <a:bodyPr/>
          <a:lstStyle/>
          <a:p>
            <a:pPr lvl="0"/>
            <a:r>
              <a:rPr lang="zh-CN" altLang="en-US" dirty="0" smtClean="0"/>
              <a:t>单击此处编辑母版文本样式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6" name="Picture 4" descr="Header WM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712" name="灯片编号占位符 5"/>
          <p:cNvSpPr txBox="1"/>
          <p:nvPr userDrawn="1"/>
        </p:nvSpPr>
        <p:spPr>
          <a:xfrm>
            <a:off x="107952" y="49214"/>
            <a:ext cx="2087563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A746368-22F2-4CE1-BBDB-79170F838213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  <p:sp>
        <p:nvSpPr>
          <p:cNvPr id="1048713" name="标题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23900"/>
          </a:xfrm>
        </p:spPr>
        <p:txBody>
          <a:bodyPr>
            <a:normAutofit/>
          </a:bodyPr>
          <a:lstStyle>
            <a:lvl1pPr algn="l">
              <a:defRPr sz="32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48714" name="页脚占位符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04" name="标题 1"/>
          <p:cNvSpPr>
            <a:spLocks noGrp="1"/>
          </p:cNvSpPr>
          <p:nvPr>
            <p:ph type="title"/>
          </p:nvPr>
        </p:nvSpPr>
        <p:spPr>
          <a:xfrm>
            <a:off x="722313" y="3672419"/>
            <a:ext cx="7772400" cy="113506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05" name="文本占位符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06" name="页脚占位符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07" name="灯片编号占位符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4DA930-E1DC-4141-85F8-C700ADDEBB84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0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09" name="内容占位符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0" name="内容占位符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1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78C5DC5A-2331-4171-8002-1B0A299176E0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12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13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9FF386-9097-438A-824F-981E8E8B246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25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26" name="文本占位符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7" name="内容占位符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28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8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9" name="内容占位符 5"/>
          <p:cNvSpPr>
            <a:spLocks noGrp="1"/>
          </p:cNvSpPr>
          <p:nvPr>
            <p:ph sz="quarter" idx="4"/>
          </p:nvPr>
        </p:nvSpPr>
        <p:spPr>
          <a:xfrm>
            <a:off x="4645028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30" name="日期占位符 6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DDD3C521-07BA-4294-8BFC-5C0D5B8FDF41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31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32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D885E0-0E72-45C0-B408-2AF559F9170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46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47" name="日期占位符 2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EDD81565-D0F0-41D1-903E-40E0738778CD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48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49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E32D16-D876-4614-9309-FE3874F8A99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日期占位符 1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CF377711-3629-4DAD-8439-E0560B6BB2E0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48582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48583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174DE4-6CEB-434E-9620-53BDFCC300F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40" name="标题 1"/>
          <p:cNvSpPr>
            <a:spLocks noGrp="1"/>
          </p:cNvSpPr>
          <p:nvPr>
            <p:ph type="title"/>
          </p:nvPr>
        </p:nvSpPr>
        <p:spPr>
          <a:xfrm>
            <a:off x="457203" y="227542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41" name="内容占位符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42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3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43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278B8774-4B2A-4AAE-A808-F725AF2E04CC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44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45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872F262-6D47-49B5-9157-9BD85EDE594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19" name="标题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20" name="图片占位符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1054321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8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1054322" name="日期占位符 4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44062F43-F3FF-4D13-A31D-DC0970594FD8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23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24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A28788-EEA2-4593-A885-3C689F4F41B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15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16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1AC590E2-49AB-44E3-8C36-0D08445AF1E5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17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18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5ECF40-282A-4BCB-BB10-007085F2831F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333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1054334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54335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latin typeface="+mn-lt"/>
                <a:ea typeface="+mn-ea"/>
              </a:defRPr>
            </a:lvl1pPr>
          </a:lstStyle>
          <a:p>
            <a:fld id="{E7AB1051-31EF-44F9-AA2D-865B02C2540B}" type="datetimeFigureOut">
              <a:rPr lang="zh-CN" altLang="en-US"/>
              <a:t>2024-10-02</a:t>
            </a:fld>
            <a:endParaRPr lang="zh-CN" altLang="en-US"/>
          </a:p>
        </p:txBody>
      </p:sp>
      <p:sp>
        <p:nvSpPr>
          <p:cNvPr id="105433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5433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2A011D-D701-4132-A7EE-B708846F7E53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1048578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/>
          </a:p>
        </p:txBody>
      </p:sp>
      <p:sp>
        <p:nvSpPr>
          <p:cNvPr id="1048579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47D988E0-0923-471B-B752-8C491CAF1381}" type="slidenum">
              <a:rPr lang="zh-CN" altLang="en-US"/>
              <a:t>‹#›</a:t>
            </a:fld>
            <a:endParaRPr lang="zh-CN" altLang="en-US"/>
          </a:p>
        </p:txBody>
      </p:sp>
      <p:sp>
        <p:nvSpPr>
          <p:cNvPr id="1048580" name="灯片编号占位符 5"/>
          <p:cNvSpPr txBox="1"/>
          <p:nvPr/>
        </p:nvSpPr>
        <p:spPr>
          <a:xfrm>
            <a:off x="476250" y="5297488"/>
            <a:ext cx="2133600" cy="303212"/>
          </a:xfrm>
          <a:prstGeom prst="rect">
            <a:avLst/>
          </a:prstGeom>
        </p:spPr>
        <p:txBody>
          <a:bodyPr/>
          <a:lstStyle>
            <a:lvl1pPr algn="l">
              <a:defRPr b="1">
                <a:solidFill>
                  <a:srgbClr val="C00000"/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3269193A-965F-43BD-9767-A88894B205C2}" type="slidenum">
              <a:rPr lang="zh-CN" altLang="en-US" smtClean="0">
                <a:latin typeface="+mn-lt"/>
                <a:ea typeface="+mn-ea"/>
              </a:rPr>
              <a:t>‹#›</a:t>
            </a:fld>
            <a:endParaRPr lang="zh-CN" altLang="en-US" dirty="0">
              <a:latin typeface="+mn-lt"/>
              <a:ea typeface="+mn-ea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 kern="1200">
          <a:solidFill>
            <a:schemeClr val="tx1"/>
          </a:solidFill>
          <a:latin typeface="+mj-lt"/>
          <a:ea typeface="+mj-ea"/>
          <a:cs typeface="微软雅黑" panose="020B0503020204020204" charset="-122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  <a:cs typeface="微软雅黑" panose="020B050302020402020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chemeClr val="tx1"/>
          </a:solidFill>
          <a:latin typeface="Verdana" panose="020B0604030504040204" pitchFamily="34" charset="0"/>
          <a:ea typeface="微软雅黑" panose="020B0503020204020204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4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kern="1200">
          <a:solidFill>
            <a:schemeClr val="tx1"/>
          </a:solidFill>
          <a:latin typeface="+mn-lt"/>
          <a:ea typeface="+mn-ea"/>
          <a:cs typeface="微软雅黑" panose="020B0503020204020204" charset="-122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wmf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openxmlformats.org/officeDocument/2006/relationships/image" Target="../media/image20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image" Target="../media/image19.png"/><Relationship Id="rId10" Type="http://schemas.openxmlformats.org/officeDocument/2006/relationships/image" Target="../media/image23.png"/><Relationship Id="rId4" Type="http://schemas.openxmlformats.org/officeDocument/2006/relationships/image" Target="../media/image18.png"/><Relationship Id="rId9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8" Type="http://schemas.openxmlformats.org/officeDocument/2006/relationships/image" Target="../media/image24.wmf"/><Relationship Id="rId3" Type="http://schemas.openxmlformats.org/officeDocument/2006/relationships/notesSlide" Target="../notesSlides/notesSlide2.xml"/><Relationship Id="rId21" Type="http://schemas.openxmlformats.org/officeDocument/2006/relationships/image" Target="../media/image28.png"/><Relationship Id="rId1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7.png"/><Relationship Id="rId20" Type="http://schemas.openxmlformats.org/officeDocument/2006/relationships/image" Target="../media/image25.wmf"/><Relationship Id="rId1" Type="http://schemas.openxmlformats.org/officeDocument/2006/relationships/vmlDrawing" Target="../drawings/vmlDrawing3.vml"/><Relationship Id="rId15" Type="http://schemas.openxmlformats.org/officeDocument/2006/relationships/image" Target="../media/image193.png"/><Relationship Id="rId19" Type="http://schemas.openxmlformats.org/officeDocument/2006/relationships/oleObject" Target="../embeddings/oleObject4.bin"/><Relationship Id="rId4" Type="http://schemas.openxmlformats.org/officeDocument/2006/relationships/image" Target="../media/image26.png"/><Relationship Id="rId22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jpeg"/><Relationship Id="rId3" Type="http://schemas.openxmlformats.org/officeDocument/2006/relationships/oleObject" Target="../embeddings/oleObject5.bin"/><Relationship Id="rId7" Type="http://schemas.openxmlformats.org/officeDocument/2006/relationships/image" Target="../media/image30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6.bin"/><Relationship Id="rId5" Type="http://schemas.openxmlformats.org/officeDocument/2006/relationships/image" Target="../media/image31.jpeg"/><Relationship Id="rId4" Type="http://schemas.openxmlformats.org/officeDocument/2006/relationships/image" Target="../media/image29.wmf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wmf"/><Relationship Id="rId13" Type="http://schemas.openxmlformats.org/officeDocument/2006/relationships/oleObject" Target="../embeddings/oleObject11.bin"/><Relationship Id="rId3" Type="http://schemas.openxmlformats.org/officeDocument/2006/relationships/notesSlide" Target="../notesSlides/notesSlide3.xml"/><Relationship Id="rId7" Type="http://schemas.openxmlformats.org/officeDocument/2006/relationships/oleObject" Target="../embeddings/oleObject8.bin"/><Relationship Id="rId12" Type="http://schemas.openxmlformats.org/officeDocument/2006/relationships/image" Target="../media/image36.wmf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8.wmf"/><Relationship Id="rId1" Type="http://schemas.openxmlformats.org/officeDocument/2006/relationships/vmlDrawing" Target="../drawings/vmlDrawing5.vml"/><Relationship Id="rId6" Type="http://schemas.openxmlformats.org/officeDocument/2006/relationships/image" Target="../media/image33.wmf"/><Relationship Id="rId11" Type="http://schemas.openxmlformats.org/officeDocument/2006/relationships/oleObject" Target="../embeddings/oleObject10.bin"/><Relationship Id="rId5" Type="http://schemas.openxmlformats.org/officeDocument/2006/relationships/oleObject" Target="../embeddings/oleObject7.bin"/><Relationship Id="rId15" Type="http://schemas.openxmlformats.org/officeDocument/2006/relationships/oleObject" Target="../embeddings/oleObject12.bin"/><Relationship Id="rId10" Type="http://schemas.openxmlformats.org/officeDocument/2006/relationships/image" Target="../media/image35.wmf"/><Relationship Id="rId4" Type="http://schemas.openxmlformats.org/officeDocument/2006/relationships/image" Target="../media/image39.png"/><Relationship Id="rId9" Type="http://schemas.openxmlformats.org/officeDocument/2006/relationships/oleObject" Target="../embeddings/oleObject9.bin"/><Relationship Id="rId14" Type="http://schemas.openxmlformats.org/officeDocument/2006/relationships/image" Target="../media/image37.w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wmf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7" Type="http://schemas.openxmlformats.org/officeDocument/2006/relationships/image" Target="../media/image4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14.bin"/><Relationship Id="rId5" Type="http://schemas.openxmlformats.org/officeDocument/2006/relationships/image" Target="../media/image41.png"/><Relationship Id="rId4" Type="http://schemas.openxmlformats.org/officeDocument/2006/relationships/image" Target="../media/image43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7.vml"/><Relationship Id="rId5" Type="http://schemas.openxmlformats.org/officeDocument/2006/relationships/image" Target="../media/image45.wmf"/><Relationship Id="rId4" Type="http://schemas.openxmlformats.org/officeDocument/2006/relationships/oleObject" Target="../embeddings/oleObject15.bin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emf"/><Relationship Id="rId3" Type="http://schemas.openxmlformats.org/officeDocument/2006/relationships/notesSlide" Target="../notesSlides/notesSlide5.xml"/><Relationship Id="rId7" Type="http://schemas.openxmlformats.org/officeDocument/2006/relationships/oleObject" Target="../embeddings/oleObject1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50.png"/><Relationship Id="rId5" Type="http://schemas.openxmlformats.org/officeDocument/2006/relationships/image" Target="../media/image49.png"/><Relationship Id="rId10" Type="http://schemas.openxmlformats.org/officeDocument/2006/relationships/image" Target="../media/image47.emf"/><Relationship Id="rId4" Type="http://schemas.openxmlformats.org/officeDocument/2006/relationships/image" Target="../media/image48.png"/><Relationship Id="rId9" Type="http://schemas.openxmlformats.org/officeDocument/2006/relationships/oleObject" Target="../embeddings/oleObject17.bin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0.bin"/><Relationship Id="rId3" Type="http://schemas.openxmlformats.org/officeDocument/2006/relationships/oleObject" Target="../embeddings/oleObject18.bin"/><Relationship Id="rId7" Type="http://schemas.openxmlformats.org/officeDocument/2006/relationships/image" Target="../media/image54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9.vml"/><Relationship Id="rId6" Type="http://schemas.openxmlformats.org/officeDocument/2006/relationships/image" Target="../media/image52.wmf"/><Relationship Id="rId5" Type="http://schemas.openxmlformats.org/officeDocument/2006/relationships/oleObject" Target="../embeddings/oleObject19.bin"/><Relationship Id="rId10" Type="http://schemas.openxmlformats.org/officeDocument/2006/relationships/image" Target="../media/image55.png"/><Relationship Id="rId4" Type="http://schemas.openxmlformats.org/officeDocument/2006/relationships/image" Target="../media/image51.wmf"/><Relationship Id="rId9" Type="http://schemas.openxmlformats.org/officeDocument/2006/relationships/image" Target="../media/image53.wmf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12.w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19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oleObject" Target="../embeddings/oleObject21.bin"/><Relationship Id="rId7" Type="http://schemas.openxmlformats.org/officeDocument/2006/relationships/image" Target="../media/image61.png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0.vml"/><Relationship Id="rId6" Type="http://schemas.openxmlformats.org/officeDocument/2006/relationships/image" Target="../media/image60.png"/><Relationship Id="rId5" Type="http://schemas.openxmlformats.org/officeDocument/2006/relationships/oleObject" Target="../embeddings/oleObject22.bin"/><Relationship Id="rId10" Type="http://schemas.microsoft.com/office/2007/relationships/hdphoto" Target="../media/hdphoto2.wdp"/><Relationship Id="rId4" Type="http://schemas.openxmlformats.org/officeDocument/2006/relationships/image" Target="../media/image59.png"/><Relationship Id="rId9" Type="http://schemas.openxmlformats.org/officeDocument/2006/relationships/image" Target="../media/image6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jpeg"/><Relationship Id="rId2" Type="http://schemas.openxmlformats.org/officeDocument/2006/relationships/image" Target="../media/image63.jpe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5" name="标题 3"/>
          <p:cNvSpPr>
            <a:spLocks noGrp="1"/>
          </p:cNvSpPr>
          <p:nvPr>
            <p:ph type="title"/>
          </p:nvPr>
        </p:nvSpPr>
        <p:spPr>
          <a:solidFill>
            <a:srgbClr val="FFFFFF"/>
          </a:solidFill>
        </p:spPr>
        <p:txBody>
          <a:bodyPr/>
          <a:lstStyle/>
          <a:p>
            <a:pPr eaLnBrk="1" hangingPunct="1"/>
            <a:r>
              <a:rPr lang="zh-CN" altLang="en-US" sz="2400" b="0" smtClean="0">
                <a:solidFill>
                  <a:srgbClr val="C00000"/>
                </a:solidFill>
                <a:ea typeface="黑体" panose="02010609060101010101" pitchFamily="49" charset="-122"/>
              </a:rPr>
              <a:t>本章内容</a:t>
            </a:r>
          </a:p>
        </p:txBody>
      </p:sp>
      <p:sp>
        <p:nvSpPr>
          <p:cNvPr id="54" name="Rectangle 62"/>
          <p:cNvSpPr>
            <a:spLocks noRot="1" noChangeArrowheads="1"/>
          </p:cNvSpPr>
          <p:nvPr/>
        </p:nvSpPr>
        <p:spPr bwMode="auto">
          <a:xfrm>
            <a:off x="388913" y="1489348"/>
            <a:ext cx="8424936" cy="287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仿宋_GB2312" pitchFamily="49" charset="-122"/>
                <a:cs typeface="微软雅黑" panose="020B0503020204020204" charset="-122"/>
              </a:rPr>
              <a:t>了解链传动的工作原理、特点和应用场合；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55" name="Rectangle 63"/>
          <p:cNvSpPr>
            <a:spLocks noRot="1" noChangeArrowheads="1"/>
          </p:cNvSpPr>
          <p:nvPr/>
        </p:nvSpPr>
        <p:spPr bwMode="auto">
          <a:xfrm>
            <a:off x="390503" y="1922737"/>
            <a:ext cx="8423346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了解滚子链标准、规格及链轮结构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Verdana" panose="020B0604030504040204" pitchFamily="34" charset="0"/>
                <a:ea typeface="仿宋_GB2312" pitchFamily="49" charset="-122"/>
                <a:cs typeface="微软雅黑" panose="020B0503020204020204" charset="-122"/>
              </a:rPr>
              <a:t>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56" name="Rectangle 62"/>
          <p:cNvSpPr>
            <a:spLocks noRot="1" noChangeArrowheads="1"/>
          </p:cNvSpPr>
          <p:nvPr/>
        </p:nvSpPr>
        <p:spPr bwMode="auto">
          <a:xfrm>
            <a:off x="388913" y="2356125"/>
            <a:ext cx="8424936" cy="28733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掌握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链传动的运动特点；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Verdana" panose="020B0604030504040204" pitchFamily="34" charset="0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57" name="Rectangle 63"/>
          <p:cNvSpPr>
            <a:spLocks noRot="1" noChangeArrowheads="1"/>
          </p:cNvSpPr>
          <p:nvPr/>
        </p:nvSpPr>
        <p:spPr bwMode="auto">
          <a:xfrm>
            <a:off x="390503" y="2789513"/>
            <a:ext cx="8423346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熟悉滚子链传动的设计计算方法。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仿宋_GB2312" pitchFamily="49" charset="-122"/>
              <a:cs typeface="微软雅黑" panose="020B0503020204020204" charset="-122"/>
            </a:endParaRPr>
          </a:p>
        </p:txBody>
      </p:sp>
      <p:sp>
        <p:nvSpPr>
          <p:cNvPr id="7" name="Rectangle 63"/>
          <p:cNvSpPr>
            <a:spLocks noRot="1" noChangeArrowheads="1"/>
          </p:cNvSpPr>
          <p:nvPr/>
        </p:nvSpPr>
        <p:spPr bwMode="auto">
          <a:xfrm>
            <a:off x="390503" y="3222900"/>
            <a:ext cx="8423346" cy="287337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marL="342900" indent="-342900" eaLnBrk="0" hangingPunct="0">
              <a:lnSpc>
                <a:spcPct val="80000"/>
              </a:lnSpc>
              <a:spcBef>
                <a:spcPct val="20000"/>
              </a:spcBef>
              <a:buFont typeface="Arial" panose="020B0604020202020204" pitchFamily="34" charset="0"/>
              <a:buNone/>
            </a:pPr>
            <a:r>
              <a:rPr lang="zh-CN" altLang="en-US" sz="2100" b="1" dirty="0">
                <a:solidFill>
                  <a:srgbClr val="CC33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◇ </a:t>
            </a:r>
            <a:r>
              <a:rPr lang="zh-CN" altLang="en-US" sz="2100" b="1" dirty="0" smtClean="0">
                <a:effectLst>
                  <a:outerShdw blurRad="38100" dist="38100" dir="2700000" algn="tl">
                    <a:srgbClr val="C0C0C0"/>
                  </a:outerShdw>
                </a:effectLst>
                <a:latin typeface="宋体" panose="02010600030101010101" pitchFamily="2" charset="-122"/>
                <a:ea typeface="仿宋_GB2312" pitchFamily="49" charset="-122"/>
                <a:cs typeface="微软雅黑" panose="020B0503020204020204" charset="-122"/>
              </a:rPr>
              <a:t>了解齿形链的结构特点以及链传动的布置、张紧和润滑方法</a:t>
            </a:r>
            <a:endParaRPr lang="zh-CN" altLang="en-US" sz="2100" b="1" dirty="0">
              <a:effectLst>
                <a:outerShdw blurRad="38100" dist="38100" dir="2700000" algn="tl">
                  <a:srgbClr val="C0C0C0"/>
                </a:outerShdw>
              </a:effectLst>
              <a:latin typeface="宋体" panose="02010600030101010101" pitchFamily="2" charset="-122"/>
              <a:ea typeface="仿宋_GB2312" pitchFamily="49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55" grpId="0"/>
      <p:bldP spid="56" grpId="0"/>
      <p:bldP spid="57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链传动概述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07-1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7501343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链传动概述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Text Box 1043">
            <a:extLst>
              <a:ext uri="{FF2B5EF4-FFF2-40B4-BE49-F238E27FC236}">
                <a16:creationId xmlns="" xmlns:a16="http://schemas.microsoft.com/office/drawing/2014/main" id="{ECDD9D52-4B0C-4BB2-8974-57EFDDF19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009" y="1198695"/>
            <a:ext cx="4873047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457200" indent="-457200" algn="just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200" b="1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工作原理</a:t>
            </a:r>
            <a:r>
              <a:rPr lang="zh-CN" altLang="en-US" sz="2200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r>
              <a:rPr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是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在</a:t>
            </a:r>
            <a:r>
              <a:rPr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两链轮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之间用链作为挠性拉曳</a:t>
            </a:r>
            <a:r>
              <a:rPr lang="zh-CN" altLang="en-US" sz="2200" dirty="0" smtClean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元件的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一种</a:t>
            </a:r>
            <a:r>
              <a:rPr lang="zh-CN" altLang="en-US" sz="2200" dirty="0">
                <a:solidFill>
                  <a:srgbClr val="FF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啮合传动</a:t>
            </a:r>
            <a:r>
              <a:rPr lang="zh-CN" altLang="en-US" sz="2200" dirty="0">
                <a:solidFill>
                  <a:srgbClr val="0000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。</a:t>
            </a:r>
          </a:p>
        </p:txBody>
      </p:sp>
      <p:pic>
        <p:nvPicPr>
          <p:cNvPr id="22" name="图片 5">
            <a:extLst>
              <a:ext uri="{FF2B5EF4-FFF2-40B4-BE49-F238E27FC236}">
                <a16:creationId xmlns="" xmlns:a16="http://schemas.microsoft.com/office/drawing/2014/main" id="{6B957D49-1CB5-4682-A1BC-76919DBB313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57"/>
          <a:stretch/>
        </p:blipFill>
        <p:spPr bwMode="auto">
          <a:xfrm>
            <a:off x="5292080" y="564857"/>
            <a:ext cx="3620939" cy="16864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3" name="组合 12"/>
          <p:cNvGrpSpPr/>
          <p:nvPr/>
        </p:nvGrpSpPr>
        <p:grpSpPr>
          <a:xfrm>
            <a:off x="323528" y="564857"/>
            <a:ext cx="3894982" cy="492443"/>
            <a:chOff x="323528" y="564857"/>
            <a:chExt cx="3894982" cy="492443"/>
          </a:xfrm>
        </p:grpSpPr>
        <p:sp>
          <p:nvSpPr>
            <p:cNvPr id="14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3534942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组成、工作原理及类型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19" name="Picture 15" descr="AR1031"/>
            <p:cNvPicPr>
              <a:picLocks noChangeAspect="1" noChangeArrowheads="1"/>
            </p:cNvPicPr>
            <p:nvPr/>
          </p:nvPicPr>
          <p:blipFill>
            <a:blip r:embed="rId4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25" name="Text Box 1043">
            <a:extLst>
              <a:ext uri="{FF2B5EF4-FFF2-40B4-BE49-F238E27FC236}">
                <a16:creationId xmlns="" xmlns:a16="http://schemas.microsoft.com/office/drawing/2014/main" id="{ECDD9D52-4B0C-4BB2-8974-57EFDDF196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3907" y="2103558"/>
            <a:ext cx="1497773" cy="4985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457200" indent="-457200" algn="just">
              <a:lnSpc>
                <a:spcPct val="120000"/>
              </a:lnSpc>
              <a:spcBef>
                <a:spcPct val="50000"/>
              </a:spcBef>
              <a:buFont typeface="Wingdings" panose="05000000000000000000" pitchFamily="2" charset="2"/>
              <a:buChar char="u"/>
              <a:defRPr/>
            </a:pPr>
            <a:r>
              <a:rPr lang="zh-CN" altLang="en-US" sz="2200" b="1" dirty="0" smtClean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类型</a:t>
            </a:r>
            <a:endParaRPr lang="zh-CN" altLang="en-US" sz="2200" dirty="0">
              <a:solidFill>
                <a:srgbClr val="000000"/>
              </a:solidFill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26" name="Text Box 2">
            <a:extLst>
              <a:ext uri="{FF2B5EF4-FFF2-40B4-BE49-F238E27FC236}">
                <a16:creationId xmlns="" xmlns:a16="http://schemas.microsoft.com/office/drawing/2014/main" id="{40DF92A8-4831-4669-A135-9F8D3B21D8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43968" y="2627188"/>
            <a:ext cx="2038203" cy="1785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传动链 </a:t>
            </a:r>
            <a:r>
              <a:rPr kumimoji="1" lang="en-US" altLang="zh-CN" sz="2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(</a:t>
            </a:r>
            <a:r>
              <a:rPr kumimoji="1" lang="zh-CN" altLang="en-US" sz="2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常用</a:t>
            </a:r>
            <a:r>
              <a:rPr kumimoji="1" lang="en-US" altLang="zh-CN" sz="2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) </a:t>
            </a: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起重链 </a:t>
            </a: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曳引链 </a:t>
            </a:r>
          </a:p>
          <a:p>
            <a:pPr marL="0" marR="0" lvl="0" indent="0" defTabSz="914400" eaLnBrk="1" fontAlgn="auto" latinLnBrk="0" hangingPunct="1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黑体" panose="02010609060101010101" pitchFamily="49" charset="-122"/>
                <a:ea typeface="黑体" panose="02010609060101010101" pitchFamily="49" charset="-122"/>
              </a:rPr>
              <a:t>特种链</a:t>
            </a:r>
          </a:p>
        </p:txBody>
      </p:sp>
      <p:grpSp>
        <p:nvGrpSpPr>
          <p:cNvPr id="28" name="组合 27"/>
          <p:cNvGrpSpPr/>
          <p:nvPr/>
        </p:nvGrpSpPr>
        <p:grpSpPr>
          <a:xfrm>
            <a:off x="476622" y="4302995"/>
            <a:ext cx="2383596" cy="1422149"/>
            <a:chOff x="599701" y="3509296"/>
            <a:chExt cx="2383596" cy="1422149"/>
          </a:xfrm>
        </p:grpSpPr>
        <p:sp>
          <p:nvSpPr>
            <p:cNvPr id="29" name="Text Box 76">
              <a:extLst>
                <a:ext uri="{FF2B5EF4-FFF2-40B4-BE49-F238E27FC236}">
                  <a16:creationId xmlns="" xmlns:a16="http://schemas.microsoft.com/office/drawing/2014/main" id="{E81DA6C7-221F-45E0-85BF-360EDAF247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9701" y="3509296"/>
              <a:ext cx="861774" cy="142214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vert="eaVert" wrap="square">
              <a:spAutoFit/>
            </a:bodyPr>
            <a:lstStyle/>
            <a:p>
              <a:pPr algn="ctr" eaLnBrk="0" hangingPunct="0">
                <a:lnSpc>
                  <a:spcPct val="85000"/>
                </a:lnSpc>
                <a:spcBef>
                  <a:spcPct val="50000"/>
                </a:spcBef>
                <a:defRPr/>
              </a:pPr>
              <a:r>
                <a:rPr kumimoji="1" lang="zh-CN" altLang="en-US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按</a:t>
              </a:r>
              <a:r>
                <a:rPr kumimoji="1" lang="zh-CN" altLang="en-US" sz="2000" dirty="0">
                  <a:solidFill>
                    <a:srgbClr val="C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结构</a:t>
              </a:r>
              <a:r>
                <a:rPr kumimoji="1" lang="zh-CN" altLang="en-US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分</a:t>
              </a:r>
            </a:p>
            <a:p>
              <a:pPr algn="ctr" eaLnBrk="0" hangingPunct="0">
                <a:lnSpc>
                  <a:spcPct val="85000"/>
                </a:lnSpc>
                <a:spcBef>
                  <a:spcPct val="50000"/>
                </a:spcBef>
                <a:defRPr/>
              </a:pPr>
              <a:r>
                <a:rPr kumimoji="1" lang="zh-CN" altLang="en-US" sz="2000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（传动链</a:t>
              </a:r>
              <a:r>
                <a:rPr kumimoji="1" lang="zh-CN" altLang="en-US" sz="2000" b="1" dirty="0">
                  <a:solidFill>
                    <a:srgbClr val="000000"/>
                  </a:solidFill>
                  <a:latin typeface="黑体" panose="02010609060101010101" pitchFamily="49" charset="-122"/>
                  <a:ea typeface="黑体" panose="02010609060101010101" pitchFamily="49" charset="-122"/>
                </a:rPr>
                <a:t>）</a:t>
              </a:r>
            </a:p>
          </p:txBody>
        </p:sp>
        <p:grpSp>
          <p:nvGrpSpPr>
            <p:cNvPr id="30" name="Group 81">
              <a:extLst>
                <a:ext uri="{FF2B5EF4-FFF2-40B4-BE49-F238E27FC236}">
                  <a16:creationId xmlns="" xmlns:a16="http://schemas.microsoft.com/office/drawing/2014/main" id="{DCCA5453-23F5-4707-A914-159CE73804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565659" y="3790528"/>
              <a:ext cx="1417638" cy="904876"/>
              <a:chOff x="3836" y="1037"/>
              <a:chExt cx="893" cy="570"/>
            </a:xfrm>
          </p:grpSpPr>
          <p:sp>
            <p:nvSpPr>
              <p:cNvPr id="31" name="Text Box 77">
                <a:extLst>
                  <a:ext uri="{FF2B5EF4-FFF2-40B4-BE49-F238E27FC236}">
                    <a16:creationId xmlns="" xmlns:a16="http://schemas.microsoft.com/office/drawing/2014/main" id="{6482FB74-4195-4DE6-AF32-E5759BE520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3" y="1037"/>
                <a:ext cx="756" cy="5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滚子链</a:t>
                </a:r>
              </a:p>
              <a:p>
                <a:pPr marL="0" marR="0" lvl="0" indent="0" defTabSz="91440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黑体" panose="02010609060101010101" pitchFamily="49" charset="-122"/>
                    <a:ea typeface="黑体" panose="02010609060101010101" pitchFamily="49" charset="-122"/>
                  </a:rPr>
                  <a:t>齿形链</a:t>
                </a:r>
              </a:p>
            </p:txBody>
          </p:sp>
          <p:sp>
            <p:nvSpPr>
              <p:cNvPr id="32" name="AutoShape 79">
                <a:extLst>
                  <a:ext uri="{FF2B5EF4-FFF2-40B4-BE49-F238E27FC236}">
                    <a16:creationId xmlns="" xmlns:a16="http://schemas.microsoft.com/office/drawing/2014/main" id="{E3B7B2FF-342C-4DB3-8B5E-1B9BC3776BEC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836" y="1120"/>
                <a:ext cx="155" cy="395"/>
              </a:xfrm>
              <a:prstGeom prst="rightBrace">
                <a:avLst>
                  <a:gd name="adj1" fmla="val 16178"/>
                  <a:gd name="adj2" fmla="val 43583"/>
                </a:avLst>
              </a:pr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</p:grpSp>
      </p:grpSp>
      <p:grpSp>
        <p:nvGrpSpPr>
          <p:cNvPr id="33" name="Group 4">
            <a:extLst>
              <a:ext uri="{FF2B5EF4-FFF2-40B4-BE49-F238E27FC236}">
                <a16:creationId xmlns="" xmlns:a16="http://schemas.microsoft.com/office/drawing/2014/main" id="{912E92BD-5CA4-4E3D-95E5-260F173F2E5E}"/>
              </a:ext>
            </a:extLst>
          </p:cNvPr>
          <p:cNvGrpSpPr>
            <a:grpSpLocks/>
          </p:cNvGrpSpPr>
          <p:nvPr/>
        </p:nvGrpSpPr>
        <p:grpSpPr bwMode="auto">
          <a:xfrm>
            <a:off x="4014683" y="2865641"/>
            <a:ext cx="2822575" cy="857250"/>
            <a:chOff x="536" y="864"/>
            <a:chExt cx="1778" cy="540"/>
          </a:xfrm>
        </p:grpSpPr>
        <p:pic>
          <p:nvPicPr>
            <p:cNvPr id="34" name="Picture 5" descr="Untitled">
              <a:extLst>
                <a:ext uri="{FF2B5EF4-FFF2-40B4-BE49-F238E27FC236}">
                  <a16:creationId xmlns="" xmlns:a16="http://schemas.microsoft.com/office/drawing/2014/main" id="{70ABD5CA-1039-4358-934D-12FDA17323F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6" y="864"/>
              <a:ext cx="1778" cy="5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Text Box 6">
              <a:extLst>
                <a:ext uri="{FF2B5EF4-FFF2-40B4-BE49-F238E27FC236}">
                  <a16:creationId xmlns="" xmlns:a16="http://schemas.microsoft.com/office/drawing/2014/main" id="{8E048FA7-E188-4D11-8A8A-6084DADDC3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61" y="1015"/>
              <a:ext cx="50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000000"/>
                  </a:solidFill>
                  <a:ea typeface="微软雅黑" panose="020B0503020204020204" pitchFamily="34" charset="-122"/>
                </a:rPr>
                <a:t>传动链</a:t>
              </a:r>
            </a:p>
          </p:txBody>
        </p:sp>
      </p:grpSp>
      <p:grpSp>
        <p:nvGrpSpPr>
          <p:cNvPr id="36" name="Group 9">
            <a:extLst>
              <a:ext uri="{FF2B5EF4-FFF2-40B4-BE49-F238E27FC236}">
                <a16:creationId xmlns="" xmlns:a16="http://schemas.microsoft.com/office/drawing/2014/main" id="{1B3A34D1-B4C2-4926-923A-45823D326A6D}"/>
              </a:ext>
            </a:extLst>
          </p:cNvPr>
          <p:cNvGrpSpPr>
            <a:grpSpLocks/>
          </p:cNvGrpSpPr>
          <p:nvPr/>
        </p:nvGrpSpPr>
        <p:grpSpPr bwMode="auto">
          <a:xfrm>
            <a:off x="7489852" y="2411633"/>
            <a:ext cx="1074738" cy="2136775"/>
            <a:chOff x="2906" y="396"/>
            <a:chExt cx="677" cy="1346"/>
          </a:xfrm>
        </p:grpSpPr>
        <p:pic>
          <p:nvPicPr>
            <p:cNvPr id="37" name="Picture 10" descr="Untitled">
              <a:extLst>
                <a:ext uri="{FF2B5EF4-FFF2-40B4-BE49-F238E27FC236}">
                  <a16:creationId xmlns="" xmlns:a16="http://schemas.microsoft.com/office/drawing/2014/main" id="{E909F1A3-74CC-42F7-8C9F-D645035290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00" y="396"/>
              <a:ext cx="583" cy="13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 Box 11">
              <a:extLst>
                <a:ext uri="{FF2B5EF4-FFF2-40B4-BE49-F238E27FC236}">
                  <a16:creationId xmlns="" xmlns:a16="http://schemas.microsoft.com/office/drawing/2014/main" id="{B6556E70-CBAB-473A-82DD-57C742084E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06" y="1461"/>
              <a:ext cx="504" cy="2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000000"/>
                  </a:solidFill>
                  <a:ea typeface="微软雅黑" panose="020B0503020204020204" pitchFamily="34" charset="-122"/>
                </a:rPr>
                <a:t>起重链</a:t>
              </a:r>
            </a:p>
          </p:txBody>
        </p:sp>
      </p:grpSp>
      <p:grpSp>
        <p:nvGrpSpPr>
          <p:cNvPr id="39" name="Group 14">
            <a:extLst>
              <a:ext uri="{FF2B5EF4-FFF2-40B4-BE49-F238E27FC236}">
                <a16:creationId xmlns="" xmlns:a16="http://schemas.microsoft.com/office/drawing/2014/main" id="{B6424B9D-40B3-489D-B995-682121746742}"/>
              </a:ext>
            </a:extLst>
          </p:cNvPr>
          <p:cNvGrpSpPr>
            <a:grpSpLocks/>
          </p:cNvGrpSpPr>
          <p:nvPr/>
        </p:nvGrpSpPr>
        <p:grpSpPr bwMode="auto">
          <a:xfrm>
            <a:off x="3491880" y="4340524"/>
            <a:ext cx="5162923" cy="1160310"/>
            <a:chOff x="66" y="1599"/>
            <a:chExt cx="3335" cy="805"/>
          </a:xfrm>
        </p:grpSpPr>
        <p:pic>
          <p:nvPicPr>
            <p:cNvPr id="40" name="Picture 15" descr="Untitled">
              <a:extLst>
                <a:ext uri="{FF2B5EF4-FFF2-40B4-BE49-F238E27FC236}">
                  <a16:creationId xmlns="" xmlns:a16="http://schemas.microsoft.com/office/drawing/2014/main" id="{7FE87F92-E734-4635-A0F7-AE20FC27866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" y="1760"/>
              <a:ext cx="3335" cy="6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Text Box 16">
              <a:extLst>
                <a:ext uri="{FF2B5EF4-FFF2-40B4-BE49-F238E27FC236}">
                  <a16:creationId xmlns="" xmlns:a16="http://schemas.microsoft.com/office/drawing/2014/main" id="{5BBBD670-D5F4-4E60-8120-133E83CAB0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6" y="1599"/>
              <a:ext cx="517" cy="23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r>
                <a:rPr lang="zh-CN" altLang="en-US" sz="1600" dirty="0">
                  <a:solidFill>
                    <a:srgbClr val="000000"/>
                  </a:solidFill>
                  <a:ea typeface="微软雅黑" panose="020B0503020204020204" pitchFamily="34" charset="-122"/>
                </a:rPr>
                <a:t>曳引链</a:t>
              </a:r>
            </a:p>
          </p:txBody>
        </p:sp>
      </p:grpSp>
      <p:grpSp>
        <p:nvGrpSpPr>
          <p:cNvPr id="43" name="组合 42"/>
          <p:cNvGrpSpPr/>
          <p:nvPr/>
        </p:nvGrpSpPr>
        <p:grpSpPr>
          <a:xfrm>
            <a:off x="476622" y="2748631"/>
            <a:ext cx="706597" cy="1516942"/>
            <a:chOff x="548351" y="1369703"/>
            <a:chExt cx="706597" cy="1516942"/>
          </a:xfrm>
        </p:grpSpPr>
        <p:sp>
          <p:nvSpPr>
            <p:cNvPr id="44" name="AutoShape 4">
              <a:extLst>
                <a:ext uri="{FF2B5EF4-FFF2-40B4-BE49-F238E27FC236}">
                  <a16:creationId xmlns="" xmlns:a16="http://schemas.microsoft.com/office/drawing/2014/main" id="{8544A657-842E-4231-A9CC-F53FF6576B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211" y="1369703"/>
              <a:ext cx="185737" cy="1516942"/>
            </a:xfrm>
            <a:prstGeom prst="leftBrace">
              <a:avLst>
                <a:gd name="adj1" fmla="val 70014"/>
                <a:gd name="adj2" fmla="val 46134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85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45" name="文本框 44"/>
            <p:cNvSpPr txBox="1"/>
            <p:nvPr/>
          </p:nvSpPr>
          <p:spPr>
            <a:xfrm>
              <a:off x="548351" y="1402674"/>
              <a:ext cx="492443" cy="1374735"/>
            </a:xfrm>
            <a:prstGeom prst="rect">
              <a:avLst/>
            </a:prstGeom>
            <a:noFill/>
          </p:spPr>
          <p:txBody>
            <a:bodyPr vert="eaVert" wrap="none" rtlCol="0">
              <a:spAutoFit/>
            </a:bodyPr>
            <a:lstStyle/>
            <a:p>
              <a:r>
                <a:rPr lang="zh-CN" altLang="en-US" sz="2000" dirty="0" smtClean="0">
                  <a:latin typeface="黑体" panose="02010609060101010101" pitchFamily="49" charset="-122"/>
                  <a:ea typeface="黑体" panose="02010609060101010101" pitchFamily="49" charset="-122"/>
                </a:rPr>
                <a:t>按工作性质</a:t>
              </a:r>
              <a:endParaRPr lang="zh-CN" altLang="en-US" sz="2000" dirty="0">
                <a:latin typeface="黑体" panose="02010609060101010101" pitchFamily="49" charset="-122"/>
                <a:ea typeface="黑体" panose="02010609060101010101" pitchFamily="49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036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750"/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75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7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25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4" descr="小纸屑">
            <a:extLst>
              <a:ext uri="{FF2B5EF4-FFF2-40B4-BE49-F238E27FC236}">
                <a16:creationId xmlns="" xmlns:a16="http://schemas.microsoft.com/office/drawing/2014/main" id="{4DBBAEF2-C478-4680-A12B-5705502BB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057300"/>
            <a:ext cx="4631015" cy="33547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algn="ctr">
              <a:lnSpc>
                <a:spcPct val="85000"/>
              </a:lnSpc>
              <a:spcBef>
                <a:spcPct val="5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 algn="ctr">
              <a:lnSpc>
                <a:spcPct val="85000"/>
              </a:lnSpc>
              <a:spcBef>
                <a:spcPct val="5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 algn="ctr">
              <a:lnSpc>
                <a:spcPct val="85000"/>
              </a:lnSpc>
              <a:spcBef>
                <a:spcPct val="5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 algn="ctr">
              <a:lnSpc>
                <a:spcPct val="85000"/>
              </a:lnSpc>
              <a:spcBef>
                <a:spcPct val="5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 algn="ctr">
              <a:lnSpc>
                <a:spcPct val="85000"/>
              </a:lnSpc>
              <a:spcBef>
                <a:spcPct val="50000"/>
              </a:spcBef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algn="ctr" eaLnBrk="0" fontAlgn="base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algn="ctr" eaLnBrk="0" fontAlgn="base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algn="ctr" eaLnBrk="0" fontAlgn="base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algn="ctr" eaLnBrk="0" fontAlgn="base" hangingPunct="0">
              <a:lnSpc>
                <a:spcPct val="85000"/>
              </a:lnSpc>
              <a:spcBef>
                <a:spcPct val="5000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l">
              <a:lnSpc>
                <a:spcPct val="150000"/>
              </a:lnSpc>
              <a:spcBef>
                <a:spcPts val="0"/>
              </a:spcBef>
              <a:defRPr/>
            </a:pPr>
            <a:r>
              <a:rPr lang="en-US" altLang="zh-CN" sz="1800" b="1" dirty="0">
                <a:solidFill>
                  <a:srgbClr val="FF0000"/>
                </a:solidFill>
                <a:ea typeface="微软雅黑" panose="020B0503020204020204" pitchFamily="34" charset="-122"/>
              </a:rPr>
              <a:t>——</a:t>
            </a:r>
            <a:r>
              <a:rPr lang="zh-CN" altLang="en-US" sz="1800" b="1" dirty="0">
                <a:solidFill>
                  <a:srgbClr val="FF0000"/>
                </a:solidFill>
                <a:ea typeface="微软雅黑" panose="020B0503020204020204" pitchFamily="34" charset="-122"/>
              </a:rPr>
              <a:t>比较带传动</a:t>
            </a:r>
            <a:endParaRPr lang="en-US" altLang="zh-CN" sz="1800" b="1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无滑动，</a:t>
            </a:r>
            <a:r>
              <a:rPr lang="zh-CN" altLang="en-US" sz="1800" b="1" dirty="0">
                <a:solidFill>
                  <a:srgbClr val="FF0000"/>
                </a:solidFill>
                <a:ea typeface="微软雅黑" panose="020B0503020204020204" pitchFamily="34" charset="-122"/>
              </a:rPr>
              <a:t>平均</a:t>
            </a:r>
            <a:r>
              <a:rPr lang="zh-CN" altLang="en-US" sz="18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en-US" altLang="zh-CN" sz="1800" b="1" i="1" dirty="0">
                <a:solidFill>
                  <a:srgbClr val="FF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zh-CN" sz="18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准确，工作可靠，</a:t>
            </a:r>
            <a:r>
              <a:rPr lang="zh-CN" altLang="en-US" sz="1800" b="1" dirty="0">
                <a:solidFill>
                  <a:srgbClr val="000000"/>
                </a:solidFill>
                <a:ea typeface="微软雅黑" panose="020B0503020204020204" pitchFamily="34" charset="-122"/>
                <a:sym typeface="UniversalMath1 BT" panose="05050102010205020602" pitchFamily="18" charset="2"/>
              </a:rPr>
              <a:t></a:t>
            </a: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高；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工况相同时，链传动尺寸小；</a:t>
            </a: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作用在轴上的力较小；</a:t>
            </a:r>
            <a:r>
              <a:rPr lang="en-US" altLang="zh-CN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  </a:t>
            </a:r>
            <a:endParaRPr lang="zh-CN" altLang="en-US" sz="1800" b="1" dirty="0">
              <a:solidFill>
                <a:srgbClr val="7030A0"/>
              </a:solidFill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用于</a:t>
            </a:r>
            <a:r>
              <a:rPr lang="en-US" altLang="zh-CN" sz="1800" b="1" dirty="0">
                <a:solidFill>
                  <a:srgbClr val="000000"/>
                </a:solidFill>
                <a:latin typeface="Arial Unicode MS" pitchFamily="34" charset="-122"/>
                <a:ea typeface="微软雅黑" panose="020B0503020204020204" pitchFamily="34" charset="-122"/>
              </a:rPr>
              <a:t>a </a:t>
            </a: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较大的传动，易安装 ；</a:t>
            </a:r>
            <a:endParaRPr lang="en-US" altLang="zh-CN" sz="1800" dirty="0">
              <a:solidFill>
                <a:srgbClr val="000000"/>
              </a:solidFill>
              <a:ea typeface="微软雅黑" panose="020B0503020204020204" pitchFamily="34" charset="-122"/>
            </a:endParaRPr>
          </a:p>
          <a:p>
            <a:pPr algn="l">
              <a:lnSpc>
                <a:spcPct val="100000"/>
              </a:lnSpc>
              <a:spcBef>
                <a:spcPts val="600"/>
              </a:spcBef>
              <a:defRPr/>
            </a:pPr>
            <a:r>
              <a:rPr lang="en-US" altLang="zh-CN" sz="1800" b="1" dirty="0" smtClean="0">
                <a:solidFill>
                  <a:srgbClr val="FF0000"/>
                </a:solidFill>
                <a:ea typeface="微软雅黑" panose="020B0503020204020204" pitchFamily="34" charset="-122"/>
              </a:rPr>
              <a:t>——</a:t>
            </a:r>
            <a:r>
              <a:rPr lang="zh-CN" altLang="en-US" sz="1800" b="1" dirty="0" smtClean="0">
                <a:solidFill>
                  <a:srgbClr val="FF0000"/>
                </a:solidFill>
                <a:ea typeface="微软雅黑" panose="020B0503020204020204" pitchFamily="34" charset="-122"/>
              </a:rPr>
              <a:t>比较齿轮传动</a:t>
            </a:r>
            <a:endParaRPr lang="zh-CN" altLang="en-US" sz="1800" b="1" dirty="0">
              <a:solidFill>
                <a:srgbClr val="FF0000"/>
              </a:solidFill>
              <a:ea typeface="微软雅黑" panose="020B0503020204020204" pitchFamily="34" charset="-122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  <a:defRPr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适应于恶劣的工作环境。</a:t>
            </a:r>
          </a:p>
          <a:p>
            <a:pPr algn="l">
              <a:lnSpc>
                <a:spcPct val="150000"/>
              </a:lnSpc>
              <a:spcBef>
                <a:spcPts val="0"/>
              </a:spcBef>
              <a:defRPr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   （高温、多尘、湿度大、腐蚀性强）</a:t>
            </a:r>
          </a:p>
        </p:txBody>
      </p:sp>
      <p:sp>
        <p:nvSpPr>
          <p:cNvPr id="7" name="文本框 1">
            <a:extLst>
              <a:ext uri="{FF2B5EF4-FFF2-40B4-BE49-F238E27FC236}">
                <a16:creationId xmlns="" xmlns:a16="http://schemas.microsoft.com/office/drawing/2014/main" id="{AD9D4F4D-E286-4EC6-8E8D-A4235D03B6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553244"/>
            <a:ext cx="302433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0" hangingPunct="0">
              <a:buFont typeface="Wingdings" panose="05000000000000000000" pitchFamily="2" charset="2"/>
              <a:buChar char="u"/>
            </a:pPr>
            <a:r>
              <a:rPr lang="zh-CN" altLang="en-US" sz="2400" b="1" dirty="0">
                <a:solidFill>
                  <a:srgbClr val="C00000"/>
                </a:solidFill>
                <a:ea typeface="微软雅黑" panose="020B0503020204020204" pitchFamily="34" charset="-122"/>
              </a:rPr>
              <a:t>特点</a:t>
            </a:r>
            <a:r>
              <a:rPr lang="zh-CN" altLang="en-US" sz="2400" dirty="0">
                <a:solidFill>
                  <a:srgbClr val="C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r>
              <a:rPr lang="en-US" altLang="zh-CN" sz="24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lang="zh-CN" altLang="en-US" sz="24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）优点</a:t>
            </a:r>
            <a:endParaRPr lang="zh-CN" altLang="en-US" sz="2400" b="1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0" name="Text Box 1026" descr="大网格">
            <a:extLst>
              <a:ext uri="{FF2B5EF4-FFF2-40B4-BE49-F238E27FC236}">
                <a16:creationId xmlns="" xmlns:a16="http://schemas.microsoft.com/office/drawing/2014/main" id="{01540D5A-925B-490A-9CDD-5582D56C13C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76149" y="1057300"/>
            <a:ext cx="4067851" cy="21698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57150" cmpd="thickThin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b="1" dirty="0">
                <a:solidFill>
                  <a:srgbClr val="FF0000"/>
                </a:solidFill>
                <a:ea typeface="微软雅黑" panose="020B0503020204020204" pitchFamily="34" charset="-122"/>
              </a:rPr>
              <a:t>瞬时 </a:t>
            </a:r>
            <a:r>
              <a:rPr lang="en-US" altLang="zh-CN" sz="1800" b="1" i="1" dirty="0">
                <a:solidFill>
                  <a:srgbClr val="FF0000"/>
                </a:solidFill>
                <a:ea typeface="微软雅黑" panose="020B0503020204020204" pitchFamily="34" charset="-122"/>
              </a:rPr>
              <a:t>i</a:t>
            </a:r>
            <a:r>
              <a:rPr lang="en-US" altLang="zh-CN" sz="1800" b="1" dirty="0">
                <a:solidFill>
                  <a:srgbClr val="000000"/>
                </a:solidFill>
                <a:ea typeface="微软雅黑" panose="020B0503020204020204" pitchFamily="34" charset="-122"/>
              </a:rPr>
              <a:t> </a:t>
            </a: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不准确，传动不平稳；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工作时有噪声，不宜在载荷变化大，高速和急促反向传动中应用；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只用于平行轴间传动；</a:t>
            </a:r>
          </a:p>
          <a:p>
            <a:pPr marL="457200" indent="-457200">
              <a:lnSpc>
                <a:spcPct val="15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ea typeface="微软雅黑" panose="020B0503020204020204" pitchFamily="34" charset="-122"/>
              </a:rPr>
              <a:t>成本高。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="" xmlns:a16="http://schemas.microsoft.com/office/drawing/2014/main" id="{B299FAC7-9005-438C-9B17-298C493C1A5B}"/>
              </a:ext>
            </a:extLst>
          </p:cNvPr>
          <p:cNvSpPr txBox="1"/>
          <p:nvPr/>
        </p:nvSpPr>
        <p:spPr>
          <a:xfrm>
            <a:off x="5220072" y="553244"/>
            <a:ext cx="16561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hangingPunct="0"/>
            <a:r>
              <a:rPr kumimoji="1" lang="en-US" altLang="zh-CN" sz="2400" b="1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2</a:t>
            </a:r>
            <a:r>
              <a:rPr kumimoji="1" lang="zh-CN" altLang="en-US" sz="2400" b="1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）缺点：</a:t>
            </a:r>
            <a:endParaRPr kumimoji="1" lang="en-US" altLang="zh-CN" sz="2400" b="1" dirty="0">
              <a:solidFill>
                <a:srgbClr val="000000"/>
              </a:solidFill>
              <a:latin typeface="华文中宋" panose="02010600040101010101" pitchFamily="2" charset="-122"/>
              <a:ea typeface="微软雅黑" panose="020B0503020204020204" pitchFamily="34" charset="-122"/>
            </a:endParaRPr>
          </a:p>
        </p:txBody>
      </p:sp>
      <p:sp>
        <p:nvSpPr>
          <p:cNvPr id="14" name="Text Box 1027">
            <a:extLst>
              <a:ext uri="{FF2B5EF4-FFF2-40B4-BE49-F238E27FC236}">
                <a16:creationId xmlns="" xmlns:a16="http://schemas.microsoft.com/office/drawing/2014/main" id="{E48DFD87-9B3C-42DE-B4D1-E49189E245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80187" y="4549404"/>
            <a:ext cx="4919047" cy="938719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链传动的几何关系近似于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带传动；</a:t>
            </a:r>
            <a:endParaRPr kumimoji="1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marR="0" lvl="0" indent="-45720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链传动属于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啮合传动。</a:t>
            </a:r>
            <a:endParaRPr kumimoji="1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FF66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文本框 1">
            <a:extLst>
              <a:ext uri="{FF2B5EF4-FFF2-40B4-BE49-F238E27FC236}">
                <a16:creationId xmlns="" xmlns:a16="http://schemas.microsoft.com/office/drawing/2014/main" id="{B71596A6-A2C5-424D-A791-AED7187028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576" y="4549404"/>
            <a:ext cx="177769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457200" indent="-4572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0" hangingPunct="0">
              <a:buFont typeface="Wingdings" panose="05000000000000000000" pitchFamily="2" charset="2"/>
              <a:buChar char="u"/>
            </a:pPr>
            <a:r>
              <a:rPr lang="zh-CN" altLang="en-US" sz="2200" b="1" dirty="0">
                <a:solidFill>
                  <a:srgbClr val="C00000"/>
                </a:solidFill>
                <a:ea typeface="微软雅黑" panose="020B0503020204020204" pitchFamily="34" charset="-122"/>
              </a:rPr>
              <a:t>说明</a:t>
            </a:r>
            <a:r>
              <a:rPr lang="zh-CN" altLang="en-US" sz="2200" dirty="0">
                <a:solidFill>
                  <a:srgbClr val="C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：</a:t>
            </a:r>
            <a:endParaRPr lang="zh-CN" altLang="en-US" sz="2200" b="1" dirty="0">
              <a:solidFill>
                <a:srgbClr val="C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16" name="单圆角矩形 15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链传动概述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7" name="直角三角形 16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22569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="" xmlns:a16="http://schemas.microsoft.com/office/drawing/2014/main" id="{138D112A-2B6B-4C19-B94E-E9509973C181}"/>
              </a:ext>
            </a:extLst>
          </p:cNvPr>
          <p:cNvGrpSpPr>
            <a:grpSpLocks/>
          </p:cNvGrpSpPr>
          <p:nvPr/>
        </p:nvGrpSpPr>
        <p:grpSpPr bwMode="auto">
          <a:xfrm>
            <a:off x="5810424" y="534096"/>
            <a:ext cx="3243263" cy="2598737"/>
            <a:chOff x="740405" y="3775463"/>
            <a:chExt cx="3243263" cy="2598738"/>
          </a:xfrm>
        </p:grpSpPr>
        <p:grpSp>
          <p:nvGrpSpPr>
            <p:cNvPr id="5" name="Group 130">
              <a:extLst>
                <a:ext uri="{FF2B5EF4-FFF2-40B4-BE49-F238E27FC236}">
                  <a16:creationId xmlns="" xmlns:a16="http://schemas.microsoft.com/office/drawing/2014/main" id="{D0BD21A4-4825-4A04-9EEE-97D35887F8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4543" y="4175513"/>
              <a:ext cx="2924175" cy="1752600"/>
              <a:chOff x="864" y="2592"/>
              <a:chExt cx="1842" cy="1104"/>
            </a:xfrm>
          </p:grpSpPr>
          <p:sp>
            <p:nvSpPr>
              <p:cNvPr id="17" name="Rectangle 131" descr="深色下对角线">
                <a:extLst>
                  <a:ext uri="{FF2B5EF4-FFF2-40B4-BE49-F238E27FC236}">
                    <a16:creationId xmlns="" xmlns:a16="http://schemas.microsoft.com/office/drawing/2014/main" id="{AB669101-F2D4-4943-96F4-53AF68F29E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1152" y="3456"/>
                <a:ext cx="672" cy="96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8" name="Rectangle 132" descr="深色上对角线">
                <a:extLst>
                  <a:ext uri="{FF2B5EF4-FFF2-40B4-BE49-F238E27FC236}">
                    <a16:creationId xmlns="" xmlns:a16="http://schemas.microsoft.com/office/drawing/2014/main" id="{D5C0721D-6720-4164-8011-0331BA6429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flipV="1">
                <a:off x="912" y="3360"/>
                <a:ext cx="864" cy="9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rot="10800000"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Rectangle 133" descr="深色下对角线">
                <a:extLst>
                  <a:ext uri="{FF2B5EF4-FFF2-40B4-BE49-F238E27FC236}">
                    <a16:creationId xmlns="" xmlns:a16="http://schemas.microsoft.com/office/drawing/2014/main" id="{D2DCA0AA-E93E-48B1-B093-48D862D534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52" y="2688"/>
                <a:ext cx="672" cy="96"/>
              </a:xfrm>
              <a:prstGeom prst="rect">
                <a:avLst/>
              </a:prstGeom>
              <a:blipFill dpi="0" rotWithShape="0">
                <a:blip r:embed="rId2"/>
                <a:srcRect/>
                <a:tile tx="0" ty="0" sx="100000" sy="100000" flip="none" algn="tl"/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Rectangle 134" descr="深色上对角线">
                <a:extLst>
                  <a:ext uri="{FF2B5EF4-FFF2-40B4-BE49-F238E27FC236}">
                    <a16:creationId xmlns="" xmlns:a16="http://schemas.microsoft.com/office/drawing/2014/main" id="{C14DF7AF-69D0-44D6-9717-7F0625F7A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64" y="2784"/>
                <a:ext cx="912" cy="96"/>
              </a:xfrm>
              <a:prstGeom prst="rect">
                <a:avLst/>
              </a:prstGeom>
              <a:blipFill dpi="0" rotWithShape="0">
                <a:blip r:embed="rId3"/>
                <a:srcRect/>
                <a:tile tx="0" ty="0" sx="100000" sy="100000" flip="none" algn="tl"/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zh-CN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1" name="Rectangle 135" descr="深色上对角线">
                <a:extLst>
                  <a:ext uri="{FF2B5EF4-FFF2-40B4-BE49-F238E27FC236}">
                    <a16:creationId xmlns="" xmlns:a16="http://schemas.microsoft.com/office/drawing/2014/main" id="{985C8941-1BAA-4764-A768-8B05A8D79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00" y="2928"/>
                <a:ext cx="384" cy="384"/>
              </a:xfrm>
              <a:prstGeom prst="rect">
                <a:avLst/>
              </a:prstGeom>
              <a:blipFill dpi="0" rotWithShape="0">
                <a:blip r:embed="rId4"/>
                <a:srcRect/>
                <a:tile tx="0" ty="0" sx="100000" sy="100000" flip="none" algn="tl"/>
              </a:blipFill>
              <a:ln w="19050">
                <a:solidFill>
                  <a:srgbClr val="8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2" name="Rectangle 136" descr="深色下对角线">
                <a:extLst>
                  <a:ext uri="{FF2B5EF4-FFF2-40B4-BE49-F238E27FC236}">
                    <a16:creationId xmlns="" xmlns:a16="http://schemas.microsoft.com/office/drawing/2014/main" id="{C6EC4866-0859-434A-9A9A-23D0204C1C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48" y="2784"/>
                <a:ext cx="288" cy="672"/>
              </a:xfrm>
              <a:prstGeom prst="rect">
                <a:avLst/>
              </a:prstGeom>
              <a:blipFill dpi="0" rotWithShape="0">
                <a:blip r:embed="rId5"/>
                <a:srcRect/>
                <a:tile tx="0" ty="0" sx="100000" sy="100000" flip="none" algn="tl"/>
              </a:blip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3" name="Rectangle 137">
                <a:extLst>
                  <a:ext uri="{FF2B5EF4-FFF2-40B4-BE49-F238E27FC236}">
                    <a16:creationId xmlns="" xmlns:a16="http://schemas.microsoft.com/office/drawing/2014/main" id="{7D526C9F-3B4F-4619-BDF1-C31CBD5BC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6" y="2640"/>
                <a:ext cx="192" cy="9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4" name="Rectangle 138">
                <a:extLst>
                  <a:ext uri="{FF2B5EF4-FFF2-40B4-BE49-F238E27FC236}">
                    <a16:creationId xmlns="" xmlns:a16="http://schemas.microsoft.com/office/drawing/2014/main" id="{9C72DA55-AF16-430B-A201-55F08031F5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64" y="2640"/>
                <a:ext cx="192" cy="960"/>
              </a:xfrm>
              <a:prstGeom prst="rect">
                <a:avLst/>
              </a:prstGeom>
              <a:solidFill>
                <a:srgbClr val="868686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5" name="Rectangle 139">
                <a:extLst>
                  <a:ext uri="{FF2B5EF4-FFF2-40B4-BE49-F238E27FC236}">
                    <a16:creationId xmlns="" xmlns:a16="http://schemas.microsoft.com/office/drawing/2014/main" id="{F3FA6AB3-DEFC-46A0-9186-684466E5E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16" y="2832"/>
                <a:ext cx="288" cy="576"/>
              </a:xfrm>
              <a:prstGeom prst="rect">
                <a:avLst/>
              </a:prstGeom>
              <a:solidFill>
                <a:srgbClr val="CBCBCB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6" name="Rectangle 140">
                <a:extLst>
                  <a:ext uri="{FF2B5EF4-FFF2-40B4-BE49-F238E27FC236}">
                    <a16:creationId xmlns="" xmlns:a16="http://schemas.microsoft.com/office/drawing/2014/main" id="{FD9B4865-3615-49F1-8F73-7F6FC9DC0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68" y="2928"/>
                <a:ext cx="384" cy="38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8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7" name="Rectangle 141">
                <a:extLst>
                  <a:ext uri="{FF2B5EF4-FFF2-40B4-BE49-F238E27FC236}">
                    <a16:creationId xmlns="" xmlns:a16="http://schemas.microsoft.com/office/drawing/2014/main" id="{5ABFDE24-C5BA-4D0E-8005-E12CF61E96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2688"/>
                <a:ext cx="624" cy="96"/>
              </a:xfrm>
              <a:prstGeom prst="rect">
                <a:avLst/>
              </a:prstGeom>
              <a:solidFill>
                <a:srgbClr val="33CC33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8" name="Rectangle 142">
                <a:extLst>
                  <a:ext uri="{FF2B5EF4-FFF2-40B4-BE49-F238E27FC236}">
                    <a16:creationId xmlns="" xmlns:a16="http://schemas.microsoft.com/office/drawing/2014/main" id="{78083CDA-39D9-4307-867B-DC6CEFC7C6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24" y="3456"/>
                <a:ext cx="624" cy="96"/>
              </a:xfrm>
              <a:prstGeom prst="rect">
                <a:avLst/>
              </a:prstGeom>
              <a:solidFill>
                <a:srgbClr val="33CC33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29" name="Rectangle 143">
                <a:extLst>
                  <a:ext uri="{FF2B5EF4-FFF2-40B4-BE49-F238E27FC236}">
                    <a16:creationId xmlns="" xmlns:a16="http://schemas.microsoft.com/office/drawing/2014/main" id="{0B797A27-6C45-4D2A-9810-74FBA9041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2784"/>
                <a:ext cx="720" cy="96"/>
              </a:xfrm>
              <a:prstGeom prst="rect">
                <a:avLst/>
              </a:prstGeom>
              <a:solidFill>
                <a:srgbClr val="8000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Rectangle 144">
                <a:extLst>
                  <a:ext uri="{FF2B5EF4-FFF2-40B4-BE49-F238E27FC236}">
                    <a16:creationId xmlns="" xmlns:a16="http://schemas.microsoft.com/office/drawing/2014/main" id="{E8846FD5-6E02-4DC0-A490-BB85CEB23E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872" y="3360"/>
                <a:ext cx="720" cy="96"/>
              </a:xfrm>
              <a:prstGeom prst="rect">
                <a:avLst/>
              </a:prstGeom>
              <a:solidFill>
                <a:srgbClr val="800000"/>
              </a:solidFill>
              <a:ln w="19050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algn="ctr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Line 145">
                <a:extLst>
                  <a:ext uri="{FF2B5EF4-FFF2-40B4-BE49-F238E27FC236}">
                    <a16:creationId xmlns="" xmlns:a16="http://schemas.microsoft.com/office/drawing/2014/main" id="{CCC0B126-4E44-428E-B5FE-B379E28A1E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392" y="2592"/>
                <a:ext cx="0" cy="1056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2" name="Line 146">
                <a:extLst>
                  <a:ext uri="{FF2B5EF4-FFF2-40B4-BE49-F238E27FC236}">
                    <a16:creationId xmlns="" xmlns:a16="http://schemas.microsoft.com/office/drawing/2014/main" id="{1F7E6323-ED05-4B92-8282-3F9D510DF41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2592"/>
                <a:ext cx="0" cy="1104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3" name="Line 147">
                <a:extLst>
                  <a:ext uri="{FF2B5EF4-FFF2-40B4-BE49-F238E27FC236}">
                    <a16:creationId xmlns="" xmlns:a16="http://schemas.microsoft.com/office/drawing/2014/main" id="{1457D2D9-B7F4-40B3-AD63-8EEC676E8C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64" y="3123"/>
                <a:ext cx="1842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prstDash val="lgDashDot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4" name="Line 148">
                <a:extLst>
                  <a:ext uri="{FF2B5EF4-FFF2-40B4-BE49-F238E27FC236}">
                    <a16:creationId xmlns="" xmlns:a16="http://schemas.microsoft.com/office/drawing/2014/main" id="{9EA2B468-427F-481F-9475-8D180925EC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2736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35" name="Line 149">
                <a:extLst>
                  <a:ext uri="{FF2B5EF4-FFF2-40B4-BE49-F238E27FC236}">
                    <a16:creationId xmlns="" xmlns:a16="http://schemas.microsoft.com/office/drawing/2014/main" id="{37644FF7-6A9A-47BA-B07B-82ECD87FF0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4" y="3504"/>
                <a:ext cx="624" cy="0"/>
              </a:xfrm>
              <a:prstGeom prst="line">
                <a:avLst/>
              </a:prstGeom>
              <a:noFill/>
              <a:ln w="1905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grpSp>
          <p:nvGrpSpPr>
            <p:cNvPr id="6" name="Group 150">
              <a:extLst>
                <a:ext uri="{FF2B5EF4-FFF2-40B4-BE49-F238E27FC236}">
                  <a16:creationId xmlns="" xmlns:a16="http://schemas.microsoft.com/office/drawing/2014/main" id="{825D3C11-BFC1-48D3-B43C-AC83144472C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0405" y="3775463"/>
              <a:ext cx="3243263" cy="2598738"/>
              <a:chOff x="249" y="1545"/>
              <a:chExt cx="2043" cy="1637"/>
            </a:xfrm>
          </p:grpSpPr>
          <p:sp>
            <p:nvSpPr>
              <p:cNvPr id="7" name="Line 151">
                <a:extLst>
                  <a:ext uri="{FF2B5EF4-FFF2-40B4-BE49-F238E27FC236}">
                    <a16:creationId xmlns="" xmlns:a16="http://schemas.microsoft.com/office/drawing/2014/main" id="{EC9827D9-2343-4CAF-917F-5F6D19562A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836" y="1744"/>
                <a:ext cx="115" cy="200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8" name="Line 152">
                <a:extLst>
                  <a:ext uri="{FF2B5EF4-FFF2-40B4-BE49-F238E27FC236}">
                    <a16:creationId xmlns="" xmlns:a16="http://schemas.microsoft.com/office/drawing/2014/main" id="{172C084F-060C-4C3C-88A0-2D517D29F6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996" y="1737"/>
                <a:ext cx="380" cy="303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9" name="Line 153">
                <a:extLst>
                  <a:ext uri="{FF2B5EF4-FFF2-40B4-BE49-F238E27FC236}">
                    <a16:creationId xmlns="" xmlns:a16="http://schemas.microsoft.com/office/drawing/2014/main" id="{BE2D7B18-4D57-4E0C-ABBE-1151B05727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567" y="2704"/>
                <a:ext cx="272" cy="272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10" name="Line 154">
                <a:extLst>
                  <a:ext uri="{FF2B5EF4-FFF2-40B4-BE49-F238E27FC236}">
                    <a16:creationId xmlns="" xmlns:a16="http://schemas.microsoft.com/office/drawing/2014/main" id="{4B62C34E-05B6-43F6-A5CB-0A655E25F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020" y="2472"/>
                <a:ext cx="726" cy="504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11" name="Text Box 155">
                <a:extLst>
                  <a:ext uri="{FF2B5EF4-FFF2-40B4-BE49-F238E27FC236}">
                    <a16:creationId xmlns="" xmlns:a16="http://schemas.microsoft.com/office/drawing/2014/main" id="{3A5A4C2F-4210-449E-A599-2297E468F18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61" y="1547"/>
                <a:ext cx="664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内链板</a:t>
                </a:r>
              </a:p>
            </p:txBody>
          </p:sp>
          <p:sp>
            <p:nvSpPr>
              <p:cNvPr id="12" name="Text Box 156">
                <a:extLst>
                  <a:ext uri="{FF2B5EF4-FFF2-40B4-BE49-F238E27FC236}">
                    <a16:creationId xmlns="" xmlns:a16="http://schemas.microsoft.com/office/drawing/2014/main" id="{B4CBE631-13CA-4014-B148-0C569018BCA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660" y="1545"/>
                <a:ext cx="632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外链板</a:t>
                </a:r>
              </a:p>
            </p:txBody>
          </p:sp>
          <p:sp>
            <p:nvSpPr>
              <p:cNvPr id="13" name="Text Box 157">
                <a:extLst>
                  <a:ext uri="{FF2B5EF4-FFF2-40B4-BE49-F238E27FC236}">
                    <a16:creationId xmlns="" xmlns:a16="http://schemas.microsoft.com/office/drawing/2014/main" id="{08C818E8-F246-463E-8633-79CA3615BB5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701" y="2976"/>
                <a:ext cx="488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滚子</a:t>
                </a:r>
              </a:p>
            </p:txBody>
          </p:sp>
          <p:sp>
            <p:nvSpPr>
              <p:cNvPr id="14" name="Text Box 158">
                <a:extLst>
                  <a:ext uri="{FF2B5EF4-FFF2-40B4-BE49-F238E27FC236}">
                    <a16:creationId xmlns="" xmlns:a16="http://schemas.microsoft.com/office/drawing/2014/main" id="{94B67B09-1C74-4096-9E66-DEB3D1601E8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" y="2976"/>
                <a:ext cx="541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销轴</a:t>
                </a:r>
              </a:p>
            </p:txBody>
          </p:sp>
          <p:sp>
            <p:nvSpPr>
              <p:cNvPr id="15" name="Line 159">
                <a:extLst>
                  <a:ext uri="{FF2B5EF4-FFF2-40B4-BE49-F238E27FC236}">
                    <a16:creationId xmlns="" xmlns:a16="http://schemas.microsoft.com/office/drawing/2014/main" id="{BCC693EC-C868-4D58-92A9-2B575C0553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72" y="2616"/>
                <a:ext cx="192" cy="336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 type="oval" w="med" len="med"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4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  <p:sp>
            <p:nvSpPr>
              <p:cNvPr id="16" name="Text Box 160">
                <a:extLst>
                  <a:ext uri="{FF2B5EF4-FFF2-40B4-BE49-F238E27FC236}">
                    <a16:creationId xmlns="" xmlns:a16="http://schemas.microsoft.com/office/drawing/2014/main" id="{C6872525-FFD7-4B5A-8363-F2F203CACC5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020" y="2976"/>
                <a:ext cx="633" cy="2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85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套筒</a:t>
                </a:r>
              </a:p>
            </p:txBody>
          </p:sp>
        </p:grpSp>
      </p:grpSp>
      <p:grpSp>
        <p:nvGrpSpPr>
          <p:cNvPr id="36" name="组合 35"/>
          <p:cNvGrpSpPr/>
          <p:nvPr/>
        </p:nvGrpSpPr>
        <p:grpSpPr>
          <a:xfrm>
            <a:off x="323528" y="564857"/>
            <a:ext cx="4179590" cy="492443"/>
            <a:chOff x="323528" y="564857"/>
            <a:chExt cx="4179590" cy="492443"/>
          </a:xfrm>
        </p:grpSpPr>
        <p:sp>
          <p:nvSpPr>
            <p:cNvPr id="37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3819550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滚子链结构及主要参数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38" name="Picture 15" descr="AR1031"/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41" name="Text Box 163">
            <a:extLst>
              <a:ext uri="{FF2B5EF4-FFF2-40B4-BE49-F238E27FC236}">
                <a16:creationId xmlns="" xmlns:a16="http://schemas.microsoft.com/office/drawing/2014/main" id="{091B3BAC-124F-449C-843F-E1B7C109D1E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05" y="1206652"/>
            <a:ext cx="4464495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</a:t>
            </a:r>
            <a:r>
              <a:rPr kumimoji="1" lang="zh-CN" altLang="en-US" sz="2200" b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链节距  </a:t>
            </a:r>
            <a:r>
              <a:rPr kumimoji="1" lang="en-US" altLang="zh-CN" sz="2200" b="1" i="1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：最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重要参数</a:t>
            </a:r>
            <a:endParaRPr kumimoji="1" lang="zh-CN" altLang="en-US" sz="22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2" name="Text Box 164">
            <a:extLst>
              <a:ext uri="{FF2B5EF4-FFF2-40B4-BE49-F238E27FC236}">
                <a16:creationId xmlns="" xmlns:a16="http://schemas.microsoft.com/office/drawing/2014/main" id="{2E17A5D2-C1E5-4202-BD16-FA99B340EC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7127" y="1206915"/>
            <a:ext cx="1736373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200" i="1" dirty="0">
                <a:solidFill>
                  <a:srgbClr val="000000"/>
                </a:solidFill>
                <a:ea typeface="微软雅黑" panose="020B0503020204020204" pitchFamily="34" charset="-122"/>
              </a:rPr>
              <a:t>p</a:t>
            </a:r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↑——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尺寸↑</a:t>
            </a:r>
          </a:p>
        </p:txBody>
      </p:sp>
      <p:sp>
        <p:nvSpPr>
          <p:cNvPr id="43" name="Text Box 6">
            <a:extLst>
              <a:ext uri="{FF2B5EF4-FFF2-40B4-BE49-F238E27FC236}">
                <a16:creationId xmlns="" xmlns:a16="http://schemas.microsoft.com/office/drawing/2014/main" id="{EBBB74CD-B529-460E-8ECC-049C79EEC6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05" y="1794661"/>
            <a:ext cx="328735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2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）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链节数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（链长） </a:t>
            </a:r>
            <a:r>
              <a:rPr lang="en-US" altLang="zh-CN" sz="2200" b="1" i="1" dirty="0">
                <a:solidFill>
                  <a:srgbClr val="000000"/>
                </a:solidFill>
                <a:ea typeface="微软雅黑" panose="020B0503020204020204" pitchFamily="34" charset="-122"/>
              </a:rPr>
              <a:t>L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</a:rPr>
              <a:t>p</a:t>
            </a:r>
          </a:p>
        </p:txBody>
      </p:sp>
      <p:sp>
        <p:nvSpPr>
          <p:cNvPr id="44" name="Text Box 7">
            <a:extLst>
              <a:ext uri="{FF2B5EF4-FFF2-40B4-BE49-F238E27FC236}">
                <a16:creationId xmlns="" xmlns:a16="http://schemas.microsoft.com/office/drawing/2014/main" id="{742C23A2-4C8E-487D-AE2C-63C8B36F84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79357" y="1793257"/>
            <a:ext cx="2516779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defRPr/>
            </a:pPr>
            <a:r>
              <a:rPr kumimoji="1"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整数，一般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为</a:t>
            </a:r>
            <a:r>
              <a:rPr kumimoji="1" lang="zh-CN" altLang="en-US" sz="22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偶数</a:t>
            </a:r>
            <a:endParaRPr kumimoji="1" lang="zh-CN" altLang="en-US" sz="22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5" name="Text Box 8">
            <a:extLst>
              <a:ext uri="{FF2B5EF4-FFF2-40B4-BE49-F238E27FC236}">
                <a16:creationId xmlns="" xmlns:a16="http://schemas.microsoft.com/office/drawing/2014/main" id="{53539DCD-A73F-4129-A30A-E5970BDC2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05" y="2554921"/>
            <a:ext cx="187220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3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）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排数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 </a:t>
            </a: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z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</a:rPr>
              <a:t>p</a:t>
            </a:r>
          </a:p>
        </p:txBody>
      </p:sp>
      <p:grpSp>
        <p:nvGrpSpPr>
          <p:cNvPr id="46" name="Group 9">
            <a:extLst>
              <a:ext uri="{FF2B5EF4-FFF2-40B4-BE49-F238E27FC236}">
                <a16:creationId xmlns="" xmlns:a16="http://schemas.microsoft.com/office/drawing/2014/main" id="{7BF09275-032E-4E09-8B86-B8051C1D8550}"/>
              </a:ext>
            </a:extLst>
          </p:cNvPr>
          <p:cNvGrpSpPr>
            <a:grpSpLocks/>
          </p:cNvGrpSpPr>
          <p:nvPr/>
        </p:nvGrpSpPr>
        <p:grpSpPr bwMode="auto">
          <a:xfrm>
            <a:off x="1852736" y="2369067"/>
            <a:ext cx="1211263" cy="795338"/>
            <a:chOff x="1581" y="3135"/>
            <a:chExt cx="763" cy="501"/>
          </a:xfrm>
        </p:grpSpPr>
        <p:sp>
          <p:nvSpPr>
            <p:cNvPr id="47" name="AutoShape 10">
              <a:extLst>
                <a:ext uri="{FF2B5EF4-FFF2-40B4-BE49-F238E27FC236}">
                  <a16:creationId xmlns="" xmlns:a16="http://schemas.microsoft.com/office/drawing/2014/main" id="{730FF886-82CB-4835-8BD9-3677853A5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81" y="3213"/>
              <a:ext cx="114" cy="423"/>
            </a:xfrm>
            <a:prstGeom prst="leftBrace">
              <a:avLst>
                <a:gd name="adj1" fmla="val 38004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algn="ctr" defTabSz="914400" eaLnBrk="0" fontAlgn="auto" latinLnBrk="0" hangingPunct="0">
                <a:lnSpc>
                  <a:spcPct val="85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endParaRPr>
            </a:p>
          </p:txBody>
        </p:sp>
        <p:sp>
          <p:nvSpPr>
            <p:cNvPr id="48" name="Text Box 11">
              <a:extLst>
                <a:ext uri="{FF2B5EF4-FFF2-40B4-BE49-F238E27FC236}">
                  <a16:creationId xmlns="" xmlns:a16="http://schemas.microsoft.com/office/drawing/2014/main" id="{9B1717AC-CF65-402C-91B2-82A40E3C4C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695" y="3135"/>
              <a:ext cx="649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单排链</a:t>
              </a:r>
            </a:p>
          </p:txBody>
        </p:sp>
      </p:grpSp>
      <p:sp>
        <p:nvSpPr>
          <p:cNvPr id="49" name="Text Box 14">
            <a:extLst>
              <a:ext uri="{FF2B5EF4-FFF2-40B4-BE49-F238E27FC236}">
                <a16:creationId xmlns="" xmlns:a16="http://schemas.microsoft.com/office/drawing/2014/main" id="{D2D5C047-08B1-4B44-A92E-7C201302BA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871" y="4009628"/>
            <a:ext cx="2648482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defRPr/>
            </a:pPr>
            <a:r>
              <a:rPr kumimoji="1" lang="en-US" altLang="zh-CN" sz="2200" b="1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z</a:t>
            </a:r>
            <a:r>
              <a:rPr kumimoji="1" lang="en-US" altLang="zh-CN" sz="2200" b="1" baseline="-25000" dirty="0" smtClean="0"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p</a:t>
            </a:r>
            <a:r>
              <a:rPr kumimoji="1" lang="en-US" altLang="zh-CN" sz="2200" baseline="-25000" dirty="0" smtClean="0">
                <a:latin typeface="华文中宋" panose="02010600040101010101" pitchFamily="2" charset="-122"/>
                <a:ea typeface="微软雅黑" panose="020B0503020204020204" pitchFamily="34" charset="-122"/>
              </a:rPr>
              <a:t> </a:t>
            </a:r>
            <a:r>
              <a:rPr kumimoji="1"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↑↑ </a:t>
            </a:r>
            <a:r>
              <a:rPr kumimoji="1" lang="en-US" altLang="zh-CN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kumimoji="1" lang="en-US" altLang="zh-CN" sz="2200" dirty="0" smtClean="0">
                <a:latin typeface="Times New Roman"/>
                <a:ea typeface="微软雅黑" panose="020B0503020204020204" pitchFamily="34" charset="-122"/>
              </a:rPr>
              <a:t> </a:t>
            </a:r>
            <a:r>
              <a:rPr kumimoji="1"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承载</a:t>
            </a:r>
            <a:r>
              <a:rPr kumimoji="1" lang="zh-CN" altLang="en-US" sz="2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</a:t>
            </a:r>
            <a:r>
              <a:rPr kumimoji="1" lang="zh-CN" altLang="en-US" sz="2200" dirty="0" smtClean="0">
                <a:latin typeface="微软雅黑" panose="020B0503020204020204" pitchFamily="34" charset="-122"/>
                <a:ea typeface="微软雅黑" panose="020B0503020204020204" pitchFamily="34" charset="-122"/>
              </a:rPr>
              <a:t>均</a:t>
            </a:r>
            <a:endParaRPr kumimoji="1" lang="zh-CN" altLang="en-US" sz="2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1" name="Rectangle 18">
            <a:extLst>
              <a:ext uri="{FF2B5EF4-FFF2-40B4-BE49-F238E27FC236}">
                <a16:creationId xmlns="" xmlns:a16="http://schemas.microsoft.com/office/drawing/2014/main" id="{1A7456E5-E690-4003-8F42-95BB829BA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32948" y="2829956"/>
            <a:ext cx="1031051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zh-CN" altLang="en-US" sz="220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多排链</a:t>
            </a:r>
          </a:p>
        </p:txBody>
      </p:sp>
      <p:sp>
        <p:nvSpPr>
          <p:cNvPr id="52" name="Text Box 12">
            <a:extLst>
              <a:ext uri="{FF2B5EF4-FFF2-40B4-BE49-F238E27FC236}">
                <a16:creationId xmlns="" xmlns:a16="http://schemas.microsoft.com/office/drawing/2014/main" id="{4BE1E795-AE44-4BBA-9CA4-168CF0FF783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093" y="3416211"/>
            <a:ext cx="2069797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z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</a:rPr>
              <a:t>p 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 </a:t>
            </a:r>
            <a:r>
              <a:rPr lang="en-US" altLang="zh-CN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——</a:t>
            </a:r>
            <a:r>
              <a:rPr lang="en-US" altLang="zh-CN" sz="2200" dirty="0" smtClean="0">
                <a:latin typeface="Times New Roman"/>
                <a:ea typeface="微软雅黑" panose="020B0503020204020204" pitchFamily="34" charset="-122"/>
              </a:rPr>
              <a:t> </a:t>
            </a:r>
            <a:r>
              <a:rPr lang="zh-CN" altLang="en-US" sz="2200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承载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</a:p>
        </p:txBody>
      </p:sp>
      <p:grpSp>
        <p:nvGrpSpPr>
          <p:cNvPr id="54" name="组合 53"/>
          <p:cNvGrpSpPr/>
          <p:nvPr/>
        </p:nvGrpSpPr>
        <p:grpSpPr>
          <a:xfrm>
            <a:off x="6747049" y="1529817"/>
            <a:ext cx="1219200" cy="338554"/>
            <a:chOff x="6754193" y="1515529"/>
            <a:chExt cx="1219200" cy="338554"/>
          </a:xfrm>
        </p:grpSpPr>
        <p:cxnSp>
          <p:nvCxnSpPr>
            <p:cNvPr id="40" name="直接连接符 39"/>
            <p:cNvCxnSpPr/>
            <p:nvPr/>
          </p:nvCxnSpPr>
          <p:spPr>
            <a:xfrm>
              <a:off x="6754193" y="1849388"/>
              <a:ext cx="1219200" cy="0"/>
            </a:xfrm>
            <a:prstGeom prst="line">
              <a:avLst/>
            </a:prstGeom>
            <a:ln>
              <a:solidFill>
                <a:srgbClr val="FF0000"/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3" name="文本框 52"/>
                <p:cNvSpPr txBox="1"/>
                <p:nvPr/>
              </p:nvSpPr>
              <p:spPr>
                <a:xfrm>
                  <a:off x="7223382" y="1515529"/>
                  <a:ext cx="369011" cy="338554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CN" sz="16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𝒑</m:t>
                        </m:r>
                      </m:oMath>
                    </m:oMathPara>
                  </a14:m>
                  <a:endParaRPr lang="zh-CN" altLang="en-US" sz="1600" b="1" dirty="0">
                    <a:solidFill>
                      <a:srgbClr val="FF0000"/>
                    </a:solidFill>
                  </a:endParaRPr>
                </a:p>
              </p:txBody>
            </p:sp>
          </mc:Choice>
          <mc:Fallback xmlns="">
            <p:sp>
              <p:nvSpPr>
                <p:cNvPr id="53" name="文本框 52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223382" y="1515529"/>
                  <a:ext cx="369011" cy="338554"/>
                </a:xfrm>
                <a:prstGeom prst="rect">
                  <a:avLst/>
                </a:prstGeom>
                <a:blipFill rotWithShape="0">
                  <a:blip r:embed="rId7"/>
                  <a:stretch>
                    <a:fillRect b="-5455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56" name="Picture 33" descr="gdlj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17568" y="4357326"/>
            <a:ext cx="3102311" cy="11798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9" name="图片 58"/>
          <p:cNvPicPr>
            <a:picLocks noChangeAspect="1"/>
          </p:cNvPicPr>
          <p:nvPr/>
        </p:nvPicPr>
        <p:blipFill rotWithShape="1">
          <a:blip r:embed="rId9"/>
          <a:srcRect r="50583"/>
          <a:stretch/>
        </p:blipFill>
        <p:spPr>
          <a:xfrm>
            <a:off x="6099399" y="3215382"/>
            <a:ext cx="1208905" cy="1031478"/>
          </a:xfrm>
          <a:prstGeom prst="rect">
            <a:avLst/>
          </a:prstGeom>
        </p:spPr>
      </p:pic>
      <p:grpSp>
        <p:nvGrpSpPr>
          <p:cNvPr id="60" name="组合 59">
            <a:extLst>
              <a:ext uri="{FF2B5EF4-FFF2-40B4-BE49-F238E27FC236}">
                <a16:creationId xmlns="" xmlns:a16="http://schemas.microsoft.com/office/drawing/2014/main" id="{2DE8A0ED-3D29-41D5-8332-F1F53F9F54AB}"/>
              </a:ext>
            </a:extLst>
          </p:cNvPr>
          <p:cNvGrpSpPr/>
          <p:nvPr/>
        </p:nvGrpSpPr>
        <p:grpSpPr>
          <a:xfrm>
            <a:off x="6676404" y="3561144"/>
            <a:ext cx="2186385" cy="986151"/>
            <a:chOff x="9662128" y="3966781"/>
            <a:chExt cx="2186385" cy="986151"/>
          </a:xfrm>
        </p:grpSpPr>
        <p:grpSp>
          <p:nvGrpSpPr>
            <p:cNvPr id="61" name="Group 7">
              <a:extLst>
                <a:ext uri="{FF2B5EF4-FFF2-40B4-BE49-F238E27FC236}">
                  <a16:creationId xmlns="" xmlns:a16="http://schemas.microsoft.com/office/drawing/2014/main" id="{FF1698ED-1D1E-4F3E-A94A-8E001055A0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789181" y="3966781"/>
              <a:ext cx="2059332" cy="379357"/>
              <a:chOff x="4469" y="3653"/>
              <a:chExt cx="1297" cy="239"/>
            </a:xfrm>
          </p:grpSpPr>
          <p:sp>
            <p:nvSpPr>
              <p:cNvPr id="63" name="Text Box 5">
                <a:extLst>
                  <a:ext uri="{FF2B5EF4-FFF2-40B4-BE49-F238E27FC236}">
                    <a16:creationId xmlns="" xmlns:a16="http://schemas.microsoft.com/office/drawing/2014/main" id="{D69546F5-9FBD-4B6D-AD81-76FF903099F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78" y="3653"/>
                <a:ext cx="888" cy="239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ctr" eaLnBrk="0" hangingPunct="0">
                  <a:lnSpc>
                    <a:spcPct val="85000"/>
                  </a:lnSpc>
                  <a:spcBef>
                    <a:spcPct val="50000"/>
                  </a:spcBef>
                </a:pPr>
                <a:r>
                  <a:rPr lang="zh-CN" altLang="en-US" sz="2200" b="1" dirty="0">
                    <a:solidFill>
                      <a:srgbClr val="FF0000"/>
                    </a:solidFill>
                    <a:ea typeface="微软雅黑" panose="020B0503020204020204" pitchFamily="34" charset="-122"/>
                  </a:rPr>
                  <a:t>过渡链节</a:t>
                </a:r>
              </a:p>
            </p:txBody>
          </p:sp>
          <p:sp>
            <p:nvSpPr>
              <p:cNvPr id="64" name="Line 6">
                <a:extLst>
                  <a:ext uri="{FF2B5EF4-FFF2-40B4-BE49-F238E27FC236}">
                    <a16:creationId xmlns="" xmlns:a16="http://schemas.microsoft.com/office/drawing/2014/main" id="{85339C1A-1E5F-4B7F-8989-9685A3A9DD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469" y="3761"/>
                <a:ext cx="440" cy="68"/>
              </a:xfrm>
              <a:prstGeom prst="line">
                <a:avLst/>
              </a:prstGeom>
              <a:noFill/>
              <a:ln w="9525">
                <a:solidFill>
                  <a:srgbClr val="FF0000"/>
                </a:solidFill>
                <a:round/>
                <a:headEnd/>
                <a:tailEnd type="oval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eaLnBrk="0" hangingPunct="0"/>
                <a:endParaRPr kumimoji="1" lang="zh-CN" altLang="en-US" sz="2400">
                  <a:solidFill>
                    <a:srgbClr val="336600"/>
                  </a:solidFill>
                  <a:latin typeface="华文中宋" panose="02010600040101010101" pitchFamily="2" charset="-122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62" name="Line 6">
              <a:extLst>
                <a:ext uri="{FF2B5EF4-FFF2-40B4-BE49-F238E27FC236}">
                  <a16:creationId xmlns="" xmlns:a16="http://schemas.microsoft.com/office/drawing/2014/main" id="{F404E6BE-E5C4-4BE1-A480-A7DD9742D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662128" y="4356605"/>
              <a:ext cx="1446213" cy="596327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 type="oval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eaLnBrk="0" hangingPunct="0"/>
              <a:endParaRPr kumimoji="1" lang="zh-CN" altLang="en-US" sz="2400">
                <a:solidFill>
                  <a:srgbClr val="336600"/>
                </a:solidFill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</p:grpSp>
      <p:sp>
        <p:nvSpPr>
          <p:cNvPr id="65" name="单圆角矩形 64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滚子链的基本参数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66" name="直角三角形 65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Text Box 15">
            <a:extLst>
              <a:ext uri="{FF2B5EF4-FFF2-40B4-BE49-F238E27FC236}">
                <a16:creationId xmlns="" xmlns:a16="http://schemas.microsoft.com/office/drawing/2014/main" id="{37FED462-FD48-4D05-93AF-ADE41266E0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05207" y="2403218"/>
            <a:ext cx="1652728" cy="430887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∴  z</a:t>
            </a:r>
            <a:r>
              <a:rPr lang="en-US" altLang="zh-CN" sz="2200" baseline="-25000" dirty="0">
                <a:solidFill>
                  <a:srgbClr val="000000"/>
                </a:solidFill>
                <a:ea typeface="微软雅黑" panose="020B0503020204020204" pitchFamily="34" charset="-122"/>
              </a:rPr>
              <a:t>p</a:t>
            </a:r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≯3~4</a:t>
            </a:r>
          </a:p>
        </p:txBody>
      </p:sp>
      <p:grpSp>
        <p:nvGrpSpPr>
          <p:cNvPr id="73" name="组合 72"/>
          <p:cNvGrpSpPr/>
          <p:nvPr/>
        </p:nvGrpSpPr>
        <p:grpSpPr>
          <a:xfrm>
            <a:off x="3116968" y="2964429"/>
            <a:ext cx="2513152" cy="2621858"/>
            <a:chOff x="2999707" y="2964429"/>
            <a:chExt cx="2513152" cy="2621858"/>
          </a:xfrm>
        </p:grpSpPr>
        <p:grpSp>
          <p:nvGrpSpPr>
            <p:cNvPr id="67" name="组合 66">
              <a:extLst>
                <a:ext uri="{FF2B5EF4-FFF2-40B4-BE49-F238E27FC236}">
                  <a16:creationId xmlns="" xmlns:a16="http://schemas.microsoft.com/office/drawing/2014/main" id="{0817C05E-362E-4D3F-AECB-BC9DF3BDED0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99707" y="2964429"/>
              <a:ext cx="2513152" cy="2621858"/>
              <a:chOff x="6205707" y="2115188"/>
              <a:chExt cx="2513170" cy="2622063"/>
            </a:xfrm>
          </p:grpSpPr>
          <p:pic>
            <p:nvPicPr>
              <p:cNvPr id="68" name="图片 3">
                <a:extLst>
                  <a:ext uri="{FF2B5EF4-FFF2-40B4-BE49-F238E27FC236}">
                    <a16:creationId xmlns="" xmlns:a16="http://schemas.microsoft.com/office/drawing/2014/main" id="{A00A740E-9384-4AEB-A8B7-62C3D3017A9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2843" r="11525" b="8885"/>
              <a:stretch/>
            </p:blipFill>
            <p:spPr bwMode="auto">
              <a:xfrm>
                <a:off x="6205707" y="2115188"/>
                <a:ext cx="2513170" cy="26220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69" name="文本框 4">
                <a:extLst>
                  <a:ext uri="{FF2B5EF4-FFF2-40B4-BE49-F238E27FC236}">
                    <a16:creationId xmlns="" xmlns:a16="http://schemas.microsoft.com/office/drawing/2014/main" id="{F7D05737-42B2-42D4-9236-EF0EBBF14F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591867" y="3698178"/>
                <a:ext cx="878220" cy="338581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16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d</a:t>
                </a:r>
                <a:r>
                  <a:rPr kumimoji="1" lang="en-US" altLang="zh-CN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f</a:t>
                </a:r>
                <a:r>
                  <a:rPr kumimoji="1" lang="en-US" altLang="zh-CN" sz="1600" b="1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</a:t>
                </a:r>
                <a:r>
                  <a:rPr kumimoji="1" lang="en-US" altLang="zh-CN" sz="16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d</a:t>
                </a:r>
                <a:r>
                  <a:rPr kumimoji="1" lang="en-US" altLang="zh-CN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  </a:t>
                </a:r>
                <a:r>
                  <a:rPr kumimoji="1" lang="en-US" altLang="zh-CN" sz="1600" b="1" i="1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d</a:t>
                </a:r>
                <a:r>
                  <a:rPr kumimoji="1" lang="en-US" altLang="zh-CN" sz="1600" b="1" i="0" u="none" strike="noStrike" kern="0" cap="none" spc="0" normalizeH="0" baseline="-2500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a</a:t>
                </a:r>
                <a:endParaRPr kumimoji="1" lang="zh-CN" altLang="en-US" sz="1600" b="1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</a:endParaRPr>
              </a:p>
            </p:txBody>
          </p:sp>
        </p:grpSp>
        <p:sp>
          <p:nvSpPr>
            <p:cNvPr id="72" name="文本框 7">
              <a:extLst>
                <a:ext uri="{FF2B5EF4-FFF2-40B4-BE49-F238E27FC236}">
                  <a16:creationId xmlns="" xmlns:a16="http://schemas.microsoft.com/office/drawing/2014/main" id="{9A3AFAE8-93C5-41E8-BBE1-8110A5CCF6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97291" y="3432054"/>
              <a:ext cx="215568" cy="52322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sp>
        <p:nvSpPr>
          <p:cNvPr id="74" name="文本框 73">
            <a:extLst>
              <a:ext uri="{FF2B5EF4-FFF2-40B4-BE49-F238E27FC236}">
                <a16:creationId xmlns="" xmlns:a16="http://schemas.microsoft.com/office/drawing/2014/main" id="{D00B2CF1-D3E3-4FFB-8D09-89C33C07BCDD}"/>
              </a:ext>
            </a:extLst>
          </p:cNvPr>
          <p:cNvSpPr txBox="1"/>
          <p:nvPr/>
        </p:nvSpPr>
        <p:spPr>
          <a:xfrm>
            <a:off x="316439" y="4616933"/>
            <a:ext cx="3150428" cy="9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defPPr>
              <a:defRPr lang="zh-CN"/>
            </a:defPPr>
            <a:lvl1pPr>
              <a:defRPr kumimoji="1" sz="2200" b="1">
                <a:solidFill>
                  <a:srgbClr val="0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20000"/>
              </a:lnSpc>
            </a:pPr>
            <a:r>
              <a:rPr lang="en-US" altLang="zh-CN" b="0" dirty="0" smtClean="0"/>
              <a:t>4</a:t>
            </a:r>
            <a:r>
              <a:rPr lang="zh-CN" altLang="en-US" b="0" dirty="0" smtClean="0"/>
              <a:t>）</a:t>
            </a:r>
            <a:r>
              <a:rPr lang="zh-CN" altLang="en-US" dirty="0" smtClean="0"/>
              <a:t>链轮分度圆</a:t>
            </a:r>
            <a:r>
              <a:rPr lang="en-US" altLang="zh-CN" i="1" dirty="0" smtClean="0"/>
              <a:t>d</a:t>
            </a:r>
            <a:r>
              <a:rPr lang="zh-CN" altLang="en-US" b="0" dirty="0" smtClean="0"/>
              <a:t>：</a:t>
            </a:r>
            <a:r>
              <a:rPr lang="zh-CN" altLang="zh-CN" b="0" dirty="0"/>
              <a:t>链轮上被链条节距等分的圆</a:t>
            </a:r>
            <a:r>
              <a:rPr lang="zh-CN" altLang="en-US" b="0" dirty="0"/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39550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utoUpdateAnimBg="0"/>
      <p:bldP spid="42" grpId="0" autoUpdateAnimBg="0"/>
      <p:bldP spid="43" grpId="0"/>
      <p:bldP spid="44" grpId="0" autoUpdateAnimBg="0"/>
      <p:bldP spid="45" grpId="0" autoUpdateAnimBg="0"/>
      <p:bldP spid="49" grpId="0"/>
      <p:bldP spid="51" grpId="0"/>
      <p:bldP spid="52" grpId="0"/>
      <p:bldP spid="50" grpId="0" animBg="1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链传动的工况分析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07-2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97978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链传动的运动特性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1" name="组合 30"/>
          <p:cNvGrpSpPr/>
          <p:nvPr/>
        </p:nvGrpSpPr>
        <p:grpSpPr>
          <a:xfrm>
            <a:off x="5423752" y="933684"/>
            <a:ext cx="2855770" cy="2428743"/>
            <a:chOff x="1425710" y="3757599"/>
            <a:chExt cx="2855770" cy="2428743"/>
          </a:xfrm>
        </p:grpSpPr>
        <p:pic>
          <p:nvPicPr>
            <p:cNvPr id="32" name="Picture 10" descr="图形2"/>
            <p:cNvPicPr>
              <a:picLocks noChangeAspect="1" noChangeArrowheads="1"/>
            </p:cNvPicPr>
            <p:nvPr/>
          </p:nvPicPr>
          <p:blipFill rotWithShape="1">
            <a:blip r:embed="rId4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85"/>
            <a:stretch/>
          </p:blipFill>
          <p:spPr bwMode="auto">
            <a:xfrm>
              <a:off x="1425710" y="3829037"/>
              <a:ext cx="2855770" cy="23573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5" name="文本框 23">
              <a:extLst>
                <a:ext uri="{FF2B5EF4-FFF2-40B4-BE49-F238E27FC236}">
                  <a16:creationId xmlns="" xmlns:a16="http://schemas.microsoft.com/office/drawing/2014/main" id="{D0267D23-39D3-4189-A6BE-C74ED65395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310812" y="3757599"/>
              <a:ext cx="360053" cy="369332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18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华文中宋" panose="02010600040101010101" pitchFamily="2" charset="-122"/>
                </a:rPr>
                <a:t>A</a:t>
              </a:r>
              <a:endParaRPr kumimoji="1" lang="zh-CN" altLang="en-US" sz="1800" b="1" i="1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华文中宋" panose="02010600040101010101" pitchFamily="2" charset="-122"/>
              </a:endParaRPr>
            </a:p>
          </p:txBody>
        </p:sp>
      </p:grpSp>
      <p:grpSp>
        <p:nvGrpSpPr>
          <p:cNvPr id="36" name="Group 11"/>
          <p:cNvGrpSpPr>
            <a:grpSpLocks/>
          </p:cNvGrpSpPr>
          <p:nvPr/>
        </p:nvGrpSpPr>
        <p:grpSpPr bwMode="auto">
          <a:xfrm>
            <a:off x="6707633" y="582265"/>
            <a:ext cx="1598613" cy="687388"/>
            <a:chOff x="2964" y="813"/>
            <a:chExt cx="1007" cy="433"/>
          </a:xfrm>
        </p:grpSpPr>
        <p:sp>
          <p:nvSpPr>
            <p:cNvPr id="37" name="Line 12"/>
            <p:cNvSpPr>
              <a:spLocks noChangeShapeType="1"/>
            </p:cNvSpPr>
            <p:nvPr/>
          </p:nvSpPr>
          <p:spPr bwMode="auto">
            <a:xfrm flipV="1">
              <a:off x="2964" y="977"/>
              <a:ext cx="608" cy="269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endParaRPr kumimoji="1" lang="zh-CN" altLang="en-US" sz="2200" i="1">
                <a:solidFill>
                  <a:srgbClr val="336600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38" name="Text Box 13"/>
            <p:cNvSpPr txBox="1">
              <a:spLocks noChangeArrowheads="1"/>
            </p:cNvSpPr>
            <p:nvPr/>
          </p:nvSpPr>
          <p:spPr bwMode="auto">
            <a:xfrm>
              <a:off x="3556" y="813"/>
              <a:ext cx="415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 b="1" i="1" dirty="0">
                  <a:solidFill>
                    <a:srgbClr val="000099"/>
                  </a:solidFill>
                  <a:latin typeface="Times New Roman"/>
                  <a:ea typeface="华文中宋" pitchFamily="2" charset="-122"/>
                </a:rPr>
                <a:t>R</a:t>
              </a:r>
              <a:r>
                <a:rPr lang="en-US" altLang="zh-CN" sz="1800" b="1" i="1" baseline="-25000" dirty="0">
                  <a:solidFill>
                    <a:srgbClr val="000099"/>
                  </a:solidFill>
                  <a:latin typeface="Times New Roman"/>
                  <a:ea typeface="华文中宋" pitchFamily="2" charset="-122"/>
                </a:rPr>
                <a:t>1</a:t>
              </a:r>
              <a:r>
                <a:rPr lang="el-GR" altLang="zh-CN" sz="1800" b="1" i="1" dirty="0">
                  <a:solidFill>
                    <a:srgbClr val="000099"/>
                  </a:solidFill>
                  <a:latin typeface="Times New Roman"/>
                  <a:ea typeface="华文中宋" pitchFamily="2" charset="-122"/>
                </a:rPr>
                <a:t>ω</a:t>
              </a:r>
              <a:r>
                <a:rPr lang="en-US" altLang="zh-CN" sz="1800" b="1" i="1" baseline="-25000" dirty="0">
                  <a:solidFill>
                    <a:srgbClr val="000099"/>
                  </a:solidFill>
                  <a:latin typeface="Times New Roman"/>
                  <a:ea typeface="华文中宋" pitchFamily="2" charset="-122"/>
                </a:rPr>
                <a:t>1</a:t>
              </a:r>
              <a:endParaRPr lang="el-GR" altLang="zh-CN" sz="1800" b="1" i="1" baseline="-25000" dirty="0">
                <a:solidFill>
                  <a:srgbClr val="000099"/>
                </a:solidFill>
                <a:latin typeface="Times New Roman"/>
                <a:ea typeface="华文中宋" pitchFamily="2" charset="-122"/>
              </a:endParaRPr>
            </a:p>
          </p:txBody>
        </p:sp>
      </p:grpSp>
      <p:grpSp>
        <p:nvGrpSpPr>
          <p:cNvPr id="39" name="Group 14"/>
          <p:cNvGrpSpPr>
            <a:grpSpLocks/>
          </p:cNvGrpSpPr>
          <p:nvPr/>
        </p:nvGrpSpPr>
        <p:grpSpPr bwMode="auto">
          <a:xfrm>
            <a:off x="6710806" y="818803"/>
            <a:ext cx="962025" cy="457200"/>
            <a:chOff x="2966" y="962"/>
            <a:chExt cx="606" cy="288"/>
          </a:xfrm>
        </p:grpSpPr>
        <p:sp>
          <p:nvSpPr>
            <p:cNvPr id="40" name="Line 15"/>
            <p:cNvSpPr>
              <a:spLocks noChangeShapeType="1"/>
            </p:cNvSpPr>
            <p:nvPr/>
          </p:nvSpPr>
          <p:spPr bwMode="auto">
            <a:xfrm flipH="1">
              <a:off x="2966" y="962"/>
              <a:ext cx="606" cy="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54" name="Line 16"/>
            <p:cNvSpPr>
              <a:spLocks noChangeShapeType="1"/>
            </p:cNvSpPr>
            <p:nvPr/>
          </p:nvSpPr>
          <p:spPr bwMode="auto">
            <a:xfrm>
              <a:off x="3572" y="964"/>
              <a:ext cx="0" cy="28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</a:endParaRPr>
            </a:p>
          </p:txBody>
        </p:sp>
      </p:grpSp>
      <p:grpSp>
        <p:nvGrpSpPr>
          <p:cNvPr id="55" name="Group 17"/>
          <p:cNvGrpSpPr>
            <a:grpSpLocks/>
          </p:cNvGrpSpPr>
          <p:nvPr/>
        </p:nvGrpSpPr>
        <p:grpSpPr bwMode="auto">
          <a:xfrm>
            <a:off x="6713982" y="1088679"/>
            <a:ext cx="2243138" cy="323851"/>
            <a:chOff x="2968" y="1132"/>
            <a:chExt cx="1413" cy="204"/>
          </a:xfrm>
        </p:grpSpPr>
        <p:sp>
          <p:nvSpPr>
            <p:cNvPr id="56" name="Line 18"/>
            <p:cNvSpPr>
              <a:spLocks noChangeShapeType="1"/>
            </p:cNvSpPr>
            <p:nvPr/>
          </p:nvSpPr>
          <p:spPr bwMode="auto">
            <a:xfrm flipV="1">
              <a:off x="2968" y="1242"/>
              <a:ext cx="604" cy="8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endParaRPr kumimoji="1" lang="zh-CN" altLang="en-US" sz="2200" i="1">
                <a:solidFill>
                  <a:srgbClr val="336600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57" name="Text Box 19"/>
            <p:cNvSpPr txBox="1">
              <a:spLocks noChangeArrowheads="1"/>
            </p:cNvSpPr>
            <p:nvPr/>
          </p:nvSpPr>
          <p:spPr bwMode="auto">
            <a:xfrm>
              <a:off x="3550" y="1132"/>
              <a:ext cx="831" cy="20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 tIns="0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v=R</a:t>
              </a:r>
              <a:r>
                <a:rPr lang="en-US" altLang="zh-CN" sz="1800" b="1" i="1" baseline="-25000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1</a:t>
              </a:r>
              <a:r>
                <a:rPr lang="el-GR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ω</a:t>
              </a:r>
              <a:r>
                <a:rPr lang="en-US" altLang="zh-CN" sz="1800" b="1" i="1" baseline="-25000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1</a:t>
              </a:r>
              <a:r>
                <a:rPr lang="en-US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cos</a:t>
              </a:r>
              <a:r>
                <a:rPr lang="el-GR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β</a:t>
              </a:r>
            </a:p>
          </p:txBody>
        </p:sp>
      </p:grpSp>
      <p:grpSp>
        <p:nvGrpSpPr>
          <p:cNvPr id="58" name="Group 20"/>
          <p:cNvGrpSpPr>
            <a:grpSpLocks/>
          </p:cNvGrpSpPr>
          <p:nvPr/>
        </p:nvGrpSpPr>
        <p:grpSpPr bwMode="auto">
          <a:xfrm>
            <a:off x="5951983" y="409228"/>
            <a:ext cx="1344613" cy="854076"/>
            <a:chOff x="2488" y="704"/>
            <a:chExt cx="847" cy="538"/>
          </a:xfrm>
        </p:grpSpPr>
        <p:sp>
          <p:nvSpPr>
            <p:cNvPr id="59" name="Line 21"/>
            <p:cNvSpPr>
              <a:spLocks noChangeShapeType="1"/>
            </p:cNvSpPr>
            <p:nvPr/>
          </p:nvSpPr>
          <p:spPr bwMode="auto">
            <a:xfrm flipV="1">
              <a:off x="2966" y="962"/>
              <a:ext cx="0" cy="2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eaLnBrk="0" hangingPunct="0"/>
              <a:endParaRPr kumimoji="1" lang="zh-CN" altLang="en-US" sz="2200" i="1">
                <a:solidFill>
                  <a:srgbClr val="336600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0" name="Text Box 22"/>
            <p:cNvSpPr txBox="1">
              <a:spLocks noChangeArrowheads="1"/>
            </p:cNvSpPr>
            <p:nvPr/>
          </p:nvSpPr>
          <p:spPr bwMode="auto">
            <a:xfrm>
              <a:off x="2488" y="704"/>
              <a:ext cx="847" cy="23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v</a:t>
              </a:r>
              <a:r>
                <a:rPr lang="en-US" altLang="zh-CN" sz="1800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′</a:t>
              </a:r>
              <a:r>
                <a:rPr lang="en-US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=R</a:t>
              </a:r>
              <a:r>
                <a:rPr lang="en-US" altLang="zh-CN" sz="1800" b="1" i="1" baseline="-25000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1</a:t>
              </a:r>
              <a:r>
                <a:rPr lang="el-GR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ω</a:t>
              </a:r>
              <a:r>
                <a:rPr lang="en-US" altLang="zh-CN" sz="1800" b="1" i="1" baseline="-25000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1</a:t>
              </a:r>
              <a:r>
                <a:rPr lang="en-US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sin</a:t>
              </a:r>
              <a:r>
                <a:rPr lang="el-GR" altLang="zh-CN" sz="1800" b="1" i="1" dirty="0">
                  <a:solidFill>
                    <a:srgbClr val="FF0000"/>
                  </a:solidFill>
                  <a:latin typeface="Times New Roman"/>
                  <a:ea typeface="华文中宋" pitchFamily="2" charset="-122"/>
                </a:rPr>
                <a:t>β</a:t>
              </a:r>
            </a:p>
          </p:txBody>
        </p:sp>
      </p:grpSp>
      <p:cxnSp>
        <p:nvCxnSpPr>
          <p:cNvPr id="61" name="直接连接符 60"/>
          <p:cNvCxnSpPr/>
          <p:nvPr/>
        </p:nvCxnSpPr>
        <p:spPr>
          <a:xfrm flipV="1">
            <a:off x="7039965" y="1496087"/>
            <a:ext cx="621754" cy="72008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2" name="组合 61"/>
          <p:cNvGrpSpPr/>
          <p:nvPr/>
        </p:nvGrpSpPr>
        <p:grpSpPr>
          <a:xfrm>
            <a:off x="6624182" y="1772539"/>
            <a:ext cx="720080" cy="819725"/>
            <a:chOff x="1552817" y="3286710"/>
            <a:chExt cx="720080" cy="819725"/>
          </a:xfrm>
        </p:grpSpPr>
        <p:sp>
          <p:nvSpPr>
            <p:cNvPr id="63" name="弧形 62"/>
            <p:cNvSpPr/>
            <p:nvPr/>
          </p:nvSpPr>
          <p:spPr>
            <a:xfrm>
              <a:off x="1552817" y="3340464"/>
              <a:ext cx="720080" cy="765971"/>
            </a:xfrm>
            <a:prstGeom prst="arc">
              <a:avLst>
                <a:gd name="adj1" fmla="val 15368004"/>
                <a:gd name="adj2" fmla="val 19108636"/>
              </a:avLst>
            </a:prstGeom>
            <a:ln>
              <a:solidFill>
                <a:schemeClr val="tx1"/>
              </a:solidFill>
              <a:headEnd type="triangle" w="sm" len="lg"/>
              <a:tailEnd type="triangle" w="sm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4" name="文本框 63"/>
                <p:cNvSpPr txBox="1"/>
                <p:nvPr/>
              </p:nvSpPr>
              <p:spPr>
                <a:xfrm>
                  <a:off x="1824995" y="3286710"/>
                  <a:ext cx="41081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zh-CN" altLang="en-US" i="1" smtClean="0">
                            <a:latin typeface="Cambria Math" panose="02040503050406030204" pitchFamily="18" charset="0"/>
                          </a:rPr>
                          <m:t>𝜑</m:t>
                        </m:r>
                      </m:oMath>
                    </m:oMathPara>
                  </a14:m>
                  <a:endParaRPr lang="zh-CN" altLang="en-US" dirty="0"/>
                </a:p>
              </p:txBody>
            </p:sp>
          </mc:Choice>
          <mc:Fallback xmlns="">
            <p:sp>
              <p:nvSpPr>
                <p:cNvPr id="7" name="文本框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824995" y="3286710"/>
                  <a:ext cx="410818" cy="369332"/>
                </a:xfrm>
                <a:prstGeom prst="rect">
                  <a:avLst/>
                </a:prstGeom>
                <a:blipFill rotWithShape="0">
                  <a:blip r:embed="rId15"/>
                  <a:stretch>
                    <a:fillRect b="-8197"/>
                  </a:stretch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66" name="Group 17"/>
          <p:cNvGrpSpPr>
            <a:grpSpLocks/>
          </p:cNvGrpSpPr>
          <p:nvPr/>
        </p:nvGrpSpPr>
        <p:grpSpPr bwMode="auto">
          <a:xfrm>
            <a:off x="2027789" y="1273848"/>
            <a:ext cx="1476376" cy="530226"/>
            <a:chOff x="2482" y="742"/>
            <a:chExt cx="930" cy="334"/>
          </a:xfrm>
        </p:grpSpPr>
        <p:sp>
          <p:nvSpPr>
            <p:cNvPr id="67" name="Line 18"/>
            <p:cNvSpPr>
              <a:spLocks noChangeShapeType="1"/>
            </p:cNvSpPr>
            <p:nvPr/>
          </p:nvSpPr>
          <p:spPr bwMode="auto">
            <a:xfrm>
              <a:off x="2482" y="742"/>
              <a:ext cx="508" cy="16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eaLnBrk="0" hangingPunct="0"/>
              <a:endParaRPr kumimoji="1" lang="zh-CN" altLang="en-US" sz="2400" i="1">
                <a:solidFill>
                  <a:srgbClr val="336600"/>
                </a:solidFill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68" name="Text Box 19"/>
            <p:cNvSpPr txBox="1">
              <a:spLocks noChangeArrowheads="1"/>
            </p:cNvSpPr>
            <p:nvPr/>
          </p:nvSpPr>
          <p:spPr bwMode="auto">
            <a:xfrm>
              <a:off x="2962" y="824"/>
              <a:ext cx="450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000" b="1" i="1" dirty="0">
                  <a:solidFill>
                    <a:srgbClr val="0000B9"/>
                  </a:solidFill>
                  <a:latin typeface="Times New Roman"/>
                  <a:ea typeface="华文中宋" pitchFamily="2" charset="-122"/>
                </a:rPr>
                <a:t>R</a:t>
              </a:r>
              <a:r>
                <a:rPr lang="en-US" altLang="zh-CN" sz="2000" b="1" i="1" baseline="-25000" dirty="0">
                  <a:solidFill>
                    <a:srgbClr val="0000B9"/>
                  </a:solidFill>
                  <a:latin typeface="Times New Roman"/>
                  <a:ea typeface="华文中宋" pitchFamily="2" charset="-122"/>
                </a:rPr>
                <a:t>2</a:t>
              </a:r>
              <a:r>
                <a:rPr lang="el-GR" altLang="zh-CN" sz="2000" b="1" i="1" dirty="0">
                  <a:solidFill>
                    <a:srgbClr val="0000B9"/>
                  </a:solidFill>
                  <a:latin typeface="Times New Roman"/>
                  <a:ea typeface="华文中宋" pitchFamily="2" charset="-122"/>
                </a:rPr>
                <a:t>ω</a:t>
              </a:r>
              <a:r>
                <a:rPr lang="en-US" altLang="zh-CN" sz="2000" b="1" i="1" baseline="-25000" dirty="0">
                  <a:solidFill>
                    <a:srgbClr val="0000B9"/>
                  </a:solidFill>
                  <a:latin typeface="Times New Roman"/>
                  <a:ea typeface="华文中宋" pitchFamily="2" charset="-122"/>
                </a:rPr>
                <a:t>2</a:t>
              </a:r>
              <a:endParaRPr lang="el-GR" altLang="zh-CN" sz="2000" b="1" i="1" baseline="-25000" dirty="0">
                <a:solidFill>
                  <a:srgbClr val="0000B9"/>
                </a:solidFill>
                <a:latin typeface="Times New Roman"/>
                <a:ea typeface="华文中宋" pitchFamily="2" charset="-122"/>
              </a:endParaRPr>
            </a:p>
          </p:txBody>
        </p:sp>
      </p:grpSp>
      <p:grpSp>
        <p:nvGrpSpPr>
          <p:cNvPr id="69" name="Group 20"/>
          <p:cNvGrpSpPr>
            <a:grpSpLocks/>
          </p:cNvGrpSpPr>
          <p:nvPr/>
        </p:nvGrpSpPr>
        <p:grpSpPr bwMode="auto">
          <a:xfrm>
            <a:off x="2109817" y="694409"/>
            <a:ext cx="1433513" cy="839787"/>
            <a:chOff x="2486" y="377"/>
            <a:chExt cx="903" cy="529"/>
          </a:xfrm>
        </p:grpSpPr>
        <p:sp>
          <p:nvSpPr>
            <p:cNvPr id="70" name="Line 21"/>
            <p:cNvSpPr>
              <a:spLocks noChangeShapeType="1"/>
            </p:cNvSpPr>
            <p:nvPr/>
          </p:nvSpPr>
          <p:spPr bwMode="auto">
            <a:xfrm>
              <a:off x="2486" y="736"/>
              <a:ext cx="452" cy="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1" name="Line 22"/>
            <p:cNvSpPr>
              <a:spLocks noChangeShapeType="1"/>
            </p:cNvSpPr>
            <p:nvPr/>
          </p:nvSpPr>
          <p:spPr bwMode="auto">
            <a:xfrm>
              <a:off x="2486" y="730"/>
              <a:ext cx="0" cy="162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2" name="Line 23"/>
            <p:cNvSpPr>
              <a:spLocks noChangeShapeType="1"/>
            </p:cNvSpPr>
            <p:nvPr/>
          </p:nvSpPr>
          <p:spPr bwMode="auto">
            <a:xfrm>
              <a:off x="2490" y="906"/>
              <a:ext cx="452" cy="0"/>
            </a:xfrm>
            <a:prstGeom prst="line">
              <a:avLst/>
            </a:prstGeom>
            <a:noFill/>
            <a:ln w="12700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3" name="Line 24"/>
            <p:cNvSpPr>
              <a:spLocks noChangeShapeType="1"/>
            </p:cNvSpPr>
            <p:nvPr/>
          </p:nvSpPr>
          <p:spPr bwMode="auto">
            <a:xfrm flipV="1">
              <a:off x="2942" y="738"/>
              <a:ext cx="0" cy="15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华文中宋" panose="02010600040101010101" pitchFamily="2" charset="-122"/>
              </a:endParaRPr>
            </a:p>
          </p:txBody>
        </p:sp>
        <p:sp>
          <p:nvSpPr>
            <p:cNvPr id="74" name="Text Box 25"/>
            <p:cNvSpPr txBox="1">
              <a:spLocks noChangeArrowheads="1"/>
            </p:cNvSpPr>
            <p:nvPr/>
          </p:nvSpPr>
          <p:spPr bwMode="auto">
            <a:xfrm>
              <a:off x="2494" y="377"/>
              <a:ext cx="895" cy="2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28575" algn="ctr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63500" dir="19387806" algn="ctr" rotWithShape="0">
                      <a:schemeClr val="bg2">
                        <a:alpha val="50000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v=R</a:t>
              </a:r>
              <a:r>
                <a:rPr kumimoji="1" lang="en-US" altLang="zh-CN" sz="2000" b="1" i="1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2</a:t>
              </a:r>
              <a:r>
                <a:rPr kumimoji="1" lang="el-GR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ω</a:t>
              </a:r>
              <a:r>
                <a:rPr kumimoji="1" lang="en-US" altLang="zh-CN" sz="2000" b="1" i="1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2</a:t>
              </a:r>
              <a:r>
                <a:rPr kumimoji="1" lang="en-US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cos</a:t>
              </a:r>
              <a:r>
                <a:rPr kumimoji="1" lang="el-GR" altLang="zh-CN" sz="2000" b="1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华文中宋" pitchFamily="2" charset="-122"/>
                </a:rPr>
                <a:t>γ</a:t>
              </a:r>
            </a:p>
          </p:txBody>
        </p:sp>
      </p:grpSp>
      <p:grpSp>
        <p:nvGrpSpPr>
          <p:cNvPr id="101" name="组合 100"/>
          <p:cNvGrpSpPr/>
          <p:nvPr/>
        </p:nvGrpSpPr>
        <p:grpSpPr>
          <a:xfrm>
            <a:off x="467544" y="1030959"/>
            <a:ext cx="5060527" cy="2691358"/>
            <a:chOff x="467544" y="1030959"/>
            <a:chExt cx="5060527" cy="2691358"/>
          </a:xfrm>
        </p:grpSpPr>
        <p:pic>
          <p:nvPicPr>
            <p:cNvPr id="65" name="Picture 16" descr="图形5"/>
            <p:cNvPicPr>
              <a:picLocks noChangeAspect="1" noChangeArrowheads="1"/>
            </p:cNvPicPr>
            <p:nvPr/>
          </p:nvPicPr>
          <p:blipFill>
            <a:blip r:embed="rId16" cstate="print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856" t="15504" r="33386"/>
            <a:stretch>
              <a:fillRect/>
            </a:stretch>
          </p:blipFill>
          <p:spPr bwMode="auto">
            <a:xfrm>
              <a:off x="467544" y="1030959"/>
              <a:ext cx="2981057" cy="269135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</p:pic>
        <p:grpSp>
          <p:nvGrpSpPr>
            <p:cNvPr id="99" name="组合 98"/>
            <p:cNvGrpSpPr/>
            <p:nvPr/>
          </p:nvGrpSpPr>
          <p:grpSpPr>
            <a:xfrm>
              <a:off x="3390759" y="1152130"/>
              <a:ext cx="2020293" cy="234000"/>
              <a:chOff x="3390759" y="1152130"/>
              <a:chExt cx="2020293" cy="234000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4849331" y="1273847"/>
                <a:ext cx="561721" cy="2158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8" name="组合 97"/>
              <p:cNvGrpSpPr/>
              <p:nvPr/>
            </p:nvGrpSpPr>
            <p:grpSpPr>
              <a:xfrm>
                <a:off x="3390759" y="1152130"/>
                <a:ext cx="1458572" cy="234000"/>
                <a:chOff x="3390759" y="1152130"/>
                <a:chExt cx="1458572" cy="234000"/>
              </a:xfrm>
            </p:grpSpPr>
            <p:sp>
              <p:nvSpPr>
                <p:cNvPr id="14" name="椭圆 13"/>
                <p:cNvSpPr/>
                <p:nvPr/>
              </p:nvSpPr>
              <p:spPr>
                <a:xfrm>
                  <a:off x="4615331" y="1152130"/>
                  <a:ext cx="234000" cy="2340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5" name="椭圆 74"/>
                <p:cNvSpPr/>
                <p:nvPr/>
              </p:nvSpPr>
              <p:spPr>
                <a:xfrm>
                  <a:off x="4651582" y="1190120"/>
                  <a:ext cx="162000" cy="162000"/>
                </a:xfrm>
                <a:prstGeom prst="ellipse">
                  <a:avLst/>
                </a:prstGeom>
                <a:noFill/>
                <a:ln w="190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cxnSp>
              <p:nvCxnSpPr>
                <p:cNvPr id="76" name="直接连接符 75"/>
                <p:cNvCxnSpPr/>
                <p:nvPr/>
              </p:nvCxnSpPr>
              <p:spPr>
                <a:xfrm>
                  <a:off x="3390759" y="1266228"/>
                  <a:ext cx="1159792" cy="2902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  <a:prstDash val="dash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grpSp>
          <p:nvGrpSpPr>
            <p:cNvPr id="100" name="组合 99"/>
            <p:cNvGrpSpPr/>
            <p:nvPr/>
          </p:nvGrpSpPr>
          <p:grpSpPr>
            <a:xfrm>
              <a:off x="2688187" y="3229275"/>
              <a:ext cx="2839884" cy="455612"/>
              <a:chOff x="2688187" y="3229275"/>
              <a:chExt cx="2839884" cy="455612"/>
            </a:xfrm>
          </p:grpSpPr>
          <p:sp>
            <p:nvSpPr>
              <p:cNvPr id="77" name="椭圆 76"/>
              <p:cNvSpPr/>
              <p:nvPr/>
            </p:nvSpPr>
            <p:spPr>
              <a:xfrm>
                <a:off x="3313225" y="3450887"/>
                <a:ext cx="234000" cy="234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8" name="椭圆 77"/>
              <p:cNvSpPr/>
              <p:nvPr/>
            </p:nvSpPr>
            <p:spPr>
              <a:xfrm>
                <a:off x="3349476" y="3488877"/>
                <a:ext cx="162000" cy="162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椭圆 78"/>
              <p:cNvSpPr/>
              <p:nvPr/>
            </p:nvSpPr>
            <p:spPr>
              <a:xfrm rot="20985380">
                <a:off x="4352300" y="3348739"/>
                <a:ext cx="234000" cy="234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0" name="椭圆 79"/>
              <p:cNvSpPr/>
              <p:nvPr/>
            </p:nvSpPr>
            <p:spPr>
              <a:xfrm rot="20985380">
                <a:off x="4388551" y="3386729"/>
                <a:ext cx="162000" cy="162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cxnSp>
            <p:nvCxnSpPr>
              <p:cNvPr id="81" name="直接连接符 80"/>
              <p:cNvCxnSpPr/>
              <p:nvPr/>
            </p:nvCxnSpPr>
            <p:spPr>
              <a:xfrm flipV="1">
                <a:off x="2688187" y="3577580"/>
                <a:ext cx="625038" cy="33794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直接连接符 81"/>
              <p:cNvCxnSpPr>
                <a:stCxn id="77" idx="6"/>
                <a:endCxn id="80" idx="2"/>
              </p:cNvCxnSpPr>
              <p:nvPr/>
            </p:nvCxnSpPr>
            <p:spPr>
              <a:xfrm flipV="1">
                <a:off x="3547225" y="3482134"/>
                <a:ext cx="842617" cy="8575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直接连接符 82"/>
              <p:cNvCxnSpPr>
                <a:stCxn id="79" idx="6"/>
                <a:endCxn id="86" idx="2"/>
              </p:cNvCxnSpPr>
              <p:nvPr/>
            </p:nvCxnSpPr>
            <p:spPr>
              <a:xfrm flipV="1">
                <a:off x="4584435" y="3348265"/>
                <a:ext cx="745887" cy="96667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85" name="椭圆 84"/>
              <p:cNvSpPr/>
              <p:nvPr/>
            </p:nvSpPr>
            <p:spPr>
              <a:xfrm>
                <a:off x="5294071" y="3229275"/>
                <a:ext cx="234000" cy="234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6" name="椭圆 85"/>
              <p:cNvSpPr/>
              <p:nvPr/>
            </p:nvSpPr>
            <p:spPr>
              <a:xfrm>
                <a:off x="5330322" y="3267265"/>
                <a:ext cx="162000" cy="162000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grpSp>
        <p:nvGrpSpPr>
          <p:cNvPr id="91" name="Group 6"/>
          <p:cNvGrpSpPr>
            <a:grpSpLocks/>
          </p:cNvGrpSpPr>
          <p:nvPr/>
        </p:nvGrpSpPr>
        <p:grpSpPr bwMode="auto">
          <a:xfrm>
            <a:off x="2987824" y="4056161"/>
            <a:ext cx="3184525" cy="817563"/>
            <a:chOff x="3774" y="4140"/>
            <a:chExt cx="2006" cy="515"/>
          </a:xfrm>
        </p:grpSpPr>
        <p:sp>
          <p:nvSpPr>
            <p:cNvPr id="92" name="AutoShape 7"/>
            <p:cNvSpPr>
              <a:spLocks noChangeArrowheads="1"/>
            </p:cNvSpPr>
            <p:nvPr/>
          </p:nvSpPr>
          <p:spPr bwMode="auto">
            <a:xfrm>
              <a:off x="3774" y="4344"/>
              <a:ext cx="384" cy="108"/>
            </a:xfrm>
            <a:prstGeom prst="rightArrow">
              <a:avLst>
                <a:gd name="adj1" fmla="val 50000"/>
                <a:gd name="adj2" fmla="val 11686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  <p:graphicFrame>
          <p:nvGraphicFramePr>
            <p:cNvPr id="93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413964428"/>
                </p:ext>
              </p:extLst>
            </p:nvPr>
          </p:nvGraphicFramePr>
          <p:xfrm>
            <a:off x="4227" y="4140"/>
            <a:ext cx="1553" cy="51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685" name="公式" r:id="rId17" imgW="1333440" imgH="431640" progId="Equation.3">
                    <p:embed/>
                  </p:oleObj>
                </mc:Choice>
                <mc:Fallback>
                  <p:oleObj name="公式" r:id="rId17" imgW="1333440" imgH="43164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27" y="4140"/>
                          <a:ext cx="1553" cy="515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94" name="组合 93"/>
          <p:cNvGrpSpPr/>
          <p:nvPr/>
        </p:nvGrpSpPr>
        <p:grpSpPr>
          <a:xfrm>
            <a:off x="6277602" y="4078033"/>
            <a:ext cx="2579158" cy="773818"/>
            <a:chOff x="6820898" y="4339299"/>
            <a:chExt cx="2579158" cy="773818"/>
          </a:xfrm>
        </p:grpSpPr>
        <p:graphicFrame>
          <p:nvGraphicFramePr>
            <p:cNvPr id="95" name="Object 8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819265228"/>
                </p:ext>
              </p:extLst>
            </p:nvPr>
          </p:nvGraphicFramePr>
          <p:xfrm>
            <a:off x="7511198" y="4339299"/>
            <a:ext cx="1888858" cy="7738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58686" name="Equation" r:id="rId19" imgW="1079280" imgH="431640" progId="Equation.DSMT4">
                    <p:embed/>
                  </p:oleObj>
                </mc:Choice>
                <mc:Fallback>
                  <p:oleObj name="Equation" r:id="rId19" imgW="1079280" imgH="431640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11198" y="4339299"/>
                          <a:ext cx="1888858" cy="773818"/>
                        </a:xfrm>
                        <a:prstGeom prst="rect">
                          <a:avLst/>
                        </a:prstGeom>
                        <a:noFill/>
                        <a:ln w="19050">
                          <a:solidFill>
                            <a:srgbClr val="FF0000"/>
                          </a:solidFill>
                          <a:miter lim="800000"/>
                          <a:headEnd/>
                          <a:tailEnd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96" name="AutoShape 7"/>
            <p:cNvSpPr>
              <a:spLocks noChangeArrowheads="1"/>
            </p:cNvSpPr>
            <p:nvPr/>
          </p:nvSpPr>
          <p:spPr bwMode="auto">
            <a:xfrm>
              <a:off x="6820898" y="4640483"/>
              <a:ext cx="609600" cy="171450"/>
            </a:xfrm>
            <a:prstGeom prst="rightArrow">
              <a:avLst>
                <a:gd name="adj1" fmla="val 50000"/>
                <a:gd name="adj2" fmla="val 11686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</p:grpSp>
      <p:pic>
        <p:nvPicPr>
          <p:cNvPr id="84" name="图片 83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215282" y="4218739"/>
            <a:ext cx="2688535" cy="492406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3" name="Text Box 13">
                <a:extLst>
                  <a:ext uri="{FF2B5EF4-FFF2-40B4-BE49-F238E27FC236}">
                    <a16:creationId xmlns="" xmlns:a16="http://schemas.microsoft.com/office/drawing/2014/main" id="{F091BF2A-618F-4298-9BAB-A7C8C14C510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223" y="5077839"/>
                <a:ext cx="8928718" cy="498598"/>
              </a:xfrm>
              <a:prstGeom prst="rect">
                <a:avLst/>
              </a:prstGeom>
              <a:noFill/>
              <a:ln w="12700">
                <a:noFill/>
                <a:prstDash val="sysDash"/>
                <a:miter lim="800000"/>
                <a:headEnd/>
                <a:tailEnd/>
              </a:ln>
              <a:extLst>
                <a:ext uri="{909E8E84-426E-40DD-AFC4-6F175D3DCCD1}">
                  <a14:hiddenFill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square">
                <a:spAutoFit/>
              </a:bodyPr>
              <a:lstStyle>
                <a:lvl1pPr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algn="just" eaLnBrk="0" hangingPunct="0">
                  <a:lnSpc>
                    <a:spcPct val="120000"/>
                  </a:lnSpc>
                  <a:spcBef>
                    <a:spcPts val="0"/>
                  </a:spcBef>
                </a:pPr>
                <a:r>
                  <a:rPr lang="zh-CN" altLang="en-US" sz="2200" b="1" dirty="0" smtClean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链速</a:t>
                </a:r>
                <a14:m>
                  <m:oMath xmlns:m="http://schemas.openxmlformats.org/officeDocument/2006/math">
                    <m:r>
                      <a:rPr lang="en-US" altLang="zh-CN" sz="2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微软雅黑" panose="020B0503020204020204" pitchFamily="34" charset="-122"/>
                        <a:cs typeface="Times New Roman" panose="02020603050405020304" pitchFamily="18" charset="0"/>
                      </a:rPr>
                      <m:t>𝒗</m:t>
                    </m:r>
                  </m:oMath>
                </a14:m>
                <a:r>
                  <a:rPr lang="zh-CN" altLang="en-US" sz="2200" b="1" dirty="0" smtClean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、</a:t>
                </a:r>
                <a:r>
                  <a:rPr lang="zh-CN" altLang="en-US" sz="2200" b="1" dirty="0" smtClean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从动轮角速度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zh-CN" altLang="en-US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𝝎</m:t>
                        </m:r>
                      </m:e>
                      <m:sub>
                        <m:r>
                          <a:rPr lang="en-US" altLang="zh-CN" sz="2200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微软雅黑" panose="020B0503020204020204" pitchFamily="34" charset="-122"/>
                            <a:cs typeface="Times New Roman" panose="02020603050405020304" pitchFamily="18" charset="0"/>
                          </a:rPr>
                          <m:t>𝟐</m:t>
                        </m:r>
                      </m:sub>
                    </m:sSub>
                  </m:oMath>
                </a14:m>
                <a:r>
                  <a:rPr lang="zh-CN" altLang="en-US" sz="2200" b="1" dirty="0" smtClean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随</a:t>
                </a:r>
                <a:r>
                  <a:rPr lang="zh-CN" altLang="en-US" sz="2200" b="1" i="1" dirty="0" smtClean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</a:t>
                </a:r>
                <a:r>
                  <a:rPr lang="zh-CN" altLang="en-US" sz="2200" b="1" dirty="0" smtClean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:r>
                  <a:rPr lang="zh-CN" altLang="en-US" sz="2200" b="1" dirty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和</a:t>
                </a:r>
                <a:r>
                  <a:rPr lang="en-US" altLang="zh-CN" sz="2200" b="1" i="1" dirty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γ</a:t>
                </a:r>
                <a:r>
                  <a:rPr lang="zh-CN" altLang="en-US" sz="2200" b="1" dirty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的变化呈周期性变化</a:t>
                </a:r>
                <a:r>
                  <a:rPr lang="zh-CN" altLang="en-US" sz="2200" b="1" dirty="0" smtClean="0">
                    <a:solidFill>
                      <a:srgbClr val="00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sz="2200" b="1" i="1" dirty="0" smtClean="0">
                    <a:solidFill>
                      <a:srgbClr val="FF0000"/>
                    </a:solidFill>
                    <a:ea typeface="微软雅黑" panose="020B0503020204020204" pitchFamily="34" charset="-122"/>
                    <a:sym typeface="UniversalMath1 BT" panose="05050102010205020602" pitchFamily="18" charset="2"/>
                  </a:rPr>
                  <a:t>i</a:t>
                </a:r>
                <a:r>
                  <a:rPr lang="zh-CN" altLang="en-US" sz="2000" b="1" baseline="-25000" dirty="0" smtClean="0">
                    <a:solidFill>
                      <a:srgbClr val="FF0000"/>
                    </a:solidFill>
                    <a:ea typeface="微软雅黑" panose="020B0503020204020204" pitchFamily="34" charset="-122"/>
                    <a:sym typeface="UniversalMath1 BT" panose="05050102010205020602" pitchFamily="18" charset="2"/>
                  </a:rPr>
                  <a:t>瞬时</a:t>
                </a:r>
                <a:r>
                  <a:rPr lang="zh-CN" altLang="en-US" sz="2200" b="1" dirty="0" smtClean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也</a:t>
                </a:r>
                <a:r>
                  <a:rPr lang="zh-CN" altLang="en-US" sz="2200" b="1" dirty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是</a:t>
                </a:r>
                <a:r>
                  <a:rPr lang="zh-CN" altLang="en-US" sz="2200" b="1" dirty="0">
                    <a:solidFill>
                      <a:srgbClr val="FF0000"/>
                    </a:solidFill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变化</a:t>
                </a:r>
                <a:r>
                  <a:rPr lang="zh-CN" altLang="en-US" sz="2200" b="1" dirty="0" smtClean="0">
                    <a:ea typeface="微软雅黑" panose="020B0503020204020204" pitchFamily="34" charset="-122"/>
                    <a:cs typeface="Times New Roman" panose="02020603050405020304" pitchFamily="18" charset="0"/>
                  </a:rPr>
                  <a:t>的</a:t>
                </a:r>
                <a:endParaRPr lang="zh-CN" altLang="en-US" sz="2200" b="1" dirty="0">
                  <a:ea typeface="微软雅黑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3" name="Text Box 13">
                <a:extLst>
                  <a:ext uri="{FF2B5EF4-FFF2-40B4-BE49-F238E27FC236}">
                    <a16:creationId xmlns="" xmlns:a16="http://schemas.microsoft.com/office/drawing/2014/main" id="{F091BF2A-618F-4298-9BAB-A7C8C14C51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87223" y="5077839"/>
                <a:ext cx="8928718" cy="498598"/>
              </a:xfrm>
              <a:prstGeom prst="rect">
                <a:avLst/>
              </a:prstGeom>
              <a:blipFill rotWithShape="0">
                <a:blip r:embed="rId22"/>
                <a:stretch>
                  <a:fillRect l="-888" t="-2439" b="-17073"/>
                </a:stretch>
              </a:blipFill>
              <a:ln w="12700">
                <a:noFill/>
                <a:prstDash val="sysDash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" name="Text Box 16"/>
          <p:cNvSpPr txBox="1">
            <a:spLocks noChangeArrowheads="1"/>
          </p:cNvSpPr>
          <p:nvPr/>
        </p:nvSpPr>
        <p:spPr bwMode="auto">
          <a:xfrm>
            <a:off x="1870405" y="3192932"/>
            <a:ext cx="5262834" cy="514738"/>
          </a:xfrm>
          <a:prstGeom prst="rect">
            <a:avLst/>
          </a:prstGeom>
          <a:solidFill>
            <a:schemeClr val="bg1"/>
          </a:solidFill>
          <a:ln w="57150" algn="ctr">
            <a:pattFill prst="sphere">
              <a:fgClr>
                <a:srgbClr val="009999"/>
              </a:fgClr>
              <a:bgClr>
                <a:srgbClr val="FFFFFF"/>
              </a:bgClr>
            </a:pattFill>
            <a:miter lim="800000"/>
            <a:headEnd/>
            <a:tailEnd/>
          </a:ln>
          <a:effectLst/>
          <a:extLst/>
        </p:spPr>
        <p:txBody>
          <a:bodyPr wrap="square" lIns="108000" tIns="72000" rIns="108000" bIns="72000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运动不均匀性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为链传动的</a:t>
            </a:r>
            <a:r>
              <a:rPr kumimoji="1" lang="zh-CN" altLang="en-US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固有特性</a:t>
            </a:r>
            <a:endParaRPr kumimoji="1" lang="zh-CN" altLang="en-US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7" name="Text Box 4">
            <a:extLst>
              <a:ext uri="{FF2B5EF4-FFF2-40B4-BE49-F238E27FC236}">
                <a16:creationId xmlns="" xmlns:a16="http://schemas.microsoft.com/office/drawing/2014/main" id="{78595116-2C8A-462D-8C14-FD9B6BF67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47" y="529998"/>
            <a:ext cx="171112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 sz="2800" b="1" i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1. 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运动特性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3711714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5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10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par>
              <p:cTn id="77"/>
            </p:par>
          </p:childTnLst>
        </p:cTn>
      </p:par>
    </p:tnLst>
    <p:bldLst>
      <p:bldP spid="103" grpId="0"/>
      <p:bldP spid="10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4">
            <a:extLst>
              <a:ext uri="{FF2B5EF4-FFF2-40B4-BE49-F238E27FC236}">
                <a16:creationId xmlns="" xmlns:a16="http://schemas.microsoft.com/office/drawing/2014/main" id="{78595116-2C8A-462D-8C14-FD9B6BF67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46" y="529998"/>
            <a:ext cx="297835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 sz="2800" b="1" i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2. 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链传动的动载荷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sp>
        <p:nvSpPr>
          <p:cNvPr id="5" name="单圆角矩形 4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链传动的动载荷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6" name="直角三角形 5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Group 5"/>
          <p:cNvGrpSpPr>
            <a:grpSpLocks/>
          </p:cNvGrpSpPr>
          <p:nvPr/>
        </p:nvGrpSpPr>
        <p:grpSpPr bwMode="auto">
          <a:xfrm>
            <a:off x="251520" y="1061720"/>
            <a:ext cx="4672013" cy="430212"/>
            <a:chOff x="952" y="795"/>
            <a:chExt cx="2943" cy="271"/>
          </a:xfrm>
        </p:grpSpPr>
        <p:sp>
          <p:nvSpPr>
            <p:cNvPr id="8" name="Text Box 6"/>
            <p:cNvSpPr txBox="1">
              <a:spLocks noChangeArrowheads="1"/>
            </p:cNvSpPr>
            <p:nvPr/>
          </p:nvSpPr>
          <p:spPr bwMode="auto">
            <a:xfrm>
              <a:off x="952" y="795"/>
              <a:ext cx="1641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rPr>
                <a:t>1) </a:t>
              </a:r>
              <a:r>
                <a:rPr kumimoji="1" lang="en-US" altLang="zh-CN" sz="2200" b="0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rPr>
                <a:t>v</a:t>
              </a: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rPr>
                <a:t>、</a:t>
              </a:r>
              <a:r>
                <a:rPr kumimoji="1" lang="en-US" altLang="zh-CN" sz="2200" b="0" i="1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rPr>
                <a:t>ω</a:t>
              </a:r>
              <a:r>
                <a:rPr kumimoji="1" lang="en-US" altLang="zh-CN" sz="2200" b="0" i="0" u="none" strike="noStrike" kern="0" cap="none" spc="0" normalizeH="0" baseline="-2500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rPr>
                <a:t>2</a:t>
              </a: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rPr>
                <a:t>周期性变化</a:t>
              </a:r>
            </a:p>
          </p:txBody>
        </p:sp>
        <p:sp>
          <p:nvSpPr>
            <p:cNvPr id="9" name="Line 7"/>
            <p:cNvSpPr>
              <a:spLocks noChangeShapeType="1"/>
            </p:cNvSpPr>
            <p:nvPr/>
          </p:nvSpPr>
          <p:spPr bwMode="auto">
            <a:xfrm>
              <a:off x="2609" y="927"/>
              <a:ext cx="243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endParaRPr>
            </a:p>
          </p:txBody>
        </p:sp>
        <p:sp>
          <p:nvSpPr>
            <p:cNvPr id="10" name="Text Box 8"/>
            <p:cNvSpPr txBox="1">
              <a:spLocks noChangeArrowheads="1"/>
            </p:cNvSpPr>
            <p:nvPr/>
          </p:nvSpPr>
          <p:spPr bwMode="auto">
            <a:xfrm>
              <a:off x="2890" y="795"/>
              <a:ext cx="1005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rPr>
                <a:t>附加动载荷</a:t>
              </a:r>
            </a:p>
          </p:txBody>
        </p:sp>
      </p:grpSp>
      <p:graphicFrame>
        <p:nvGraphicFramePr>
          <p:cNvPr id="11" name="对象 10"/>
          <p:cNvGraphicFramePr>
            <a:graphicFrameLocks noChangeAspect="1"/>
          </p:cNvGraphicFramePr>
          <p:nvPr>
            <p:extLst/>
          </p:nvPr>
        </p:nvGraphicFramePr>
        <p:xfrm>
          <a:off x="5236233" y="667894"/>
          <a:ext cx="3613178" cy="86099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59696" name="公式" r:id="rId3" imgW="1993680" imgH="457200" progId="Equation.3">
                  <p:embed/>
                </p:oleObj>
              </mc:Choice>
              <mc:Fallback>
                <p:oleObj name="公式" r:id="rId3" imgW="199368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6233" y="667894"/>
                        <a:ext cx="3613178" cy="86099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2" name="Group 15"/>
          <p:cNvGrpSpPr>
            <a:grpSpLocks/>
          </p:cNvGrpSpPr>
          <p:nvPr/>
        </p:nvGrpSpPr>
        <p:grpSpPr bwMode="auto">
          <a:xfrm>
            <a:off x="4454740" y="1657160"/>
            <a:ext cx="1452563" cy="430213"/>
            <a:chOff x="3357" y="3525"/>
            <a:chExt cx="915" cy="271"/>
          </a:xfrm>
        </p:grpSpPr>
        <p:sp>
          <p:nvSpPr>
            <p:cNvPr id="13" name="Line 17"/>
            <p:cNvSpPr>
              <a:spLocks noChangeShapeType="1"/>
            </p:cNvSpPr>
            <p:nvPr/>
          </p:nvSpPr>
          <p:spPr bwMode="auto">
            <a:xfrm>
              <a:off x="3357" y="3661"/>
              <a:ext cx="257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4" name="Text Box 18"/>
            <p:cNvSpPr txBox="1">
              <a:spLocks noChangeArrowheads="1"/>
            </p:cNvSpPr>
            <p:nvPr/>
          </p:nvSpPr>
          <p:spPr bwMode="auto">
            <a:xfrm>
              <a:off x="3655" y="3525"/>
              <a:ext cx="61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en-US" altLang="zh-CN" sz="2200" b="0" i="1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a</a:t>
              </a:r>
              <a:r>
                <a:rPr kumimoji="1" lang="en-US" altLang="zh-CN" sz="2200" b="0" i="0" u="none" strike="noStrike" kern="0" cap="none" spc="0" normalizeH="0" baseline="-2500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max</a:t>
              </a:r>
              <a:r>
                <a:rPr kumimoji="1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↑</a:t>
              </a:r>
            </a:p>
          </p:txBody>
        </p:sp>
      </p:grpSp>
      <p:grpSp>
        <p:nvGrpSpPr>
          <p:cNvPr id="15" name="Group 19"/>
          <p:cNvGrpSpPr>
            <a:grpSpLocks/>
          </p:cNvGrpSpPr>
          <p:nvPr/>
        </p:nvGrpSpPr>
        <p:grpSpPr bwMode="auto">
          <a:xfrm>
            <a:off x="5754606" y="1675947"/>
            <a:ext cx="1566863" cy="430213"/>
            <a:chOff x="4570" y="3685"/>
            <a:chExt cx="987" cy="271"/>
          </a:xfrm>
        </p:grpSpPr>
        <p:sp>
          <p:nvSpPr>
            <p:cNvPr id="16" name="Line 20"/>
            <p:cNvSpPr>
              <a:spLocks noChangeShapeType="1"/>
            </p:cNvSpPr>
            <p:nvPr/>
          </p:nvSpPr>
          <p:spPr bwMode="auto">
            <a:xfrm>
              <a:off x="4570" y="3815"/>
              <a:ext cx="25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17" name="Text Box 21"/>
            <p:cNvSpPr txBox="1">
              <a:spLocks noChangeArrowheads="1"/>
            </p:cNvSpPr>
            <p:nvPr/>
          </p:nvSpPr>
          <p:spPr bwMode="auto">
            <a:xfrm>
              <a:off x="4774" y="3685"/>
              <a:ext cx="78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 动载荷</a:t>
              </a: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↑</a:t>
              </a:r>
            </a:p>
          </p:txBody>
        </p:sp>
      </p:grpSp>
      <p:grpSp>
        <p:nvGrpSpPr>
          <p:cNvPr id="18" name="Group 22"/>
          <p:cNvGrpSpPr>
            <a:grpSpLocks/>
          </p:cNvGrpSpPr>
          <p:nvPr/>
        </p:nvGrpSpPr>
        <p:grpSpPr bwMode="auto">
          <a:xfrm>
            <a:off x="580314" y="1657161"/>
            <a:ext cx="3798888" cy="431800"/>
            <a:chOff x="1586" y="3289"/>
            <a:chExt cx="2393" cy="272"/>
          </a:xfrm>
        </p:grpSpPr>
        <p:sp>
          <p:nvSpPr>
            <p:cNvPr id="19" name="Text Box 23"/>
            <p:cNvSpPr txBox="1">
              <a:spLocks noChangeArrowheads="1"/>
            </p:cNvSpPr>
            <p:nvPr/>
          </p:nvSpPr>
          <p:spPr bwMode="auto">
            <a:xfrm>
              <a:off x="3227" y="3289"/>
              <a:ext cx="472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i="1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p</a:t>
              </a:r>
              <a:r>
                <a:rPr lang="en-US" altLang="zh-CN" sz="22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↑</a:t>
              </a:r>
              <a:r>
                <a:rPr lang="zh-CN" altLang="en-US" sz="22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，</a:t>
              </a:r>
              <a:endParaRPr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  <p:sp>
          <p:nvSpPr>
            <p:cNvPr id="20" name="Text Box 24"/>
            <p:cNvSpPr txBox="1">
              <a:spLocks noChangeArrowheads="1"/>
            </p:cNvSpPr>
            <p:nvPr/>
          </p:nvSpPr>
          <p:spPr bwMode="auto">
            <a:xfrm>
              <a:off x="3646" y="3290"/>
              <a:ext cx="333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i="1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z</a:t>
              </a:r>
              <a:r>
                <a:rPr lang="en-US" altLang="zh-CN" sz="2200" baseline="-250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r>
                <a:rPr lang="en-US" altLang="zh-CN" sz="22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↓</a:t>
              </a:r>
            </a:p>
          </p:txBody>
        </p:sp>
        <p:sp>
          <p:nvSpPr>
            <p:cNvPr id="21" name="Text Box 25"/>
            <p:cNvSpPr txBox="1">
              <a:spLocks noChangeArrowheads="1"/>
            </p:cNvSpPr>
            <p:nvPr/>
          </p:nvSpPr>
          <p:spPr bwMode="auto">
            <a:xfrm>
              <a:off x="1586" y="3289"/>
              <a:ext cx="649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zh-CN" altLang="en-US" sz="220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可见：</a:t>
              </a:r>
            </a:p>
          </p:txBody>
        </p:sp>
        <p:sp>
          <p:nvSpPr>
            <p:cNvPr id="22" name="Text Box 26"/>
            <p:cNvSpPr txBox="1">
              <a:spLocks noChangeArrowheads="1"/>
            </p:cNvSpPr>
            <p:nvPr/>
          </p:nvSpPr>
          <p:spPr bwMode="auto">
            <a:xfrm>
              <a:off x="2234" y="3289"/>
              <a:ext cx="1027" cy="27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eaLnBrk="1" hangingPunct="1"/>
              <a:r>
                <a:rPr lang="en-US" altLang="zh-CN" sz="2200" i="1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n</a:t>
              </a:r>
              <a:r>
                <a:rPr lang="en-US" altLang="zh-CN" sz="2200" baseline="-250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r>
                <a:rPr lang="en-US" altLang="zh-CN" sz="22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↑— </a:t>
              </a:r>
              <a:r>
                <a:rPr lang="en-US" altLang="zh-CN" sz="2200" i="1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ω</a:t>
              </a:r>
              <a:r>
                <a:rPr lang="en-US" altLang="zh-CN" sz="2200" baseline="-250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1</a:t>
              </a:r>
              <a:r>
                <a:rPr lang="en-US" altLang="zh-CN" sz="22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↑</a:t>
              </a:r>
              <a:r>
                <a:rPr lang="zh-CN" altLang="en-US" sz="2200" dirty="0">
                  <a:solidFill>
                    <a:srgbClr val="000000"/>
                  </a:solidFill>
                  <a:latin typeface="Times New Roman"/>
                  <a:ea typeface="微软雅黑" panose="020B0503020204020204" pitchFamily="34" charset="-122"/>
                  <a:cs typeface="Arial" panose="020B0604020202020204" pitchFamily="34" charset="0"/>
                </a:rPr>
                <a:t>，</a:t>
              </a:r>
              <a:endParaRPr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  <a:cs typeface="Arial" panose="020B0604020202020204" pitchFamily="34" charset="0"/>
              </a:endParaRPr>
            </a:p>
          </p:txBody>
        </p:sp>
      </p:grpSp>
      <p:sp>
        <p:nvSpPr>
          <p:cNvPr id="23" name="Text Box 14"/>
          <p:cNvSpPr txBox="1">
            <a:spLocks noChangeArrowheads="1"/>
          </p:cNvSpPr>
          <p:nvPr/>
        </p:nvSpPr>
        <p:spPr bwMode="auto">
          <a:xfrm>
            <a:off x="1259632" y="2184221"/>
            <a:ext cx="6362353" cy="10064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63500" dir="19387806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>
              <a:lnSpc>
                <a:spcPct val="135000"/>
              </a:lnSpc>
            </a:pPr>
            <a:r>
              <a:rPr lang="en-US" altLang="zh-CN" sz="2200" dirty="0" smtClean="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① </a:t>
            </a:r>
            <a:r>
              <a:rPr lang="zh-CN" altLang="en-US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设计</a:t>
            </a:r>
            <a:r>
              <a:rPr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链传动时如何进行参数选择？</a:t>
            </a:r>
          </a:p>
          <a:p>
            <a:pPr eaLnBrk="1" hangingPunct="1">
              <a:lnSpc>
                <a:spcPct val="135000"/>
              </a:lnSpc>
            </a:pPr>
            <a:r>
              <a:rPr lang="en-US" altLang="zh-CN" sz="2200" dirty="0" smtClean="0">
                <a:solidFill>
                  <a:srgbClr val="000000"/>
                </a:solidFill>
                <a:latin typeface="Calibri" panose="020F0502020204030204" pitchFamily="34" charset="0"/>
                <a:ea typeface="微软雅黑" panose="020B0503020204020204" pitchFamily="34" charset="-122"/>
                <a:cs typeface="Calibri" panose="020F0502020204030204" pitchFamily="34" charset="0"/>
              </a:rPr>
              <a:t>② </a:t>
            </a:r>
            <a:r>
              <a:rPr lang="zh-CN" altLang="en-US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在</a:t>
            </a:r>
            <a:r>
              <a:rPr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传动系统中，链传动如何布置？</a:t>
            </a:r>
          </a:p>
        </p:txBody>
      </p:sp>
      <p:sp>
        <p:nvSpPr>
          <p:cNvPr id="24" name="Text Box 12"/>
          <p:cNvSpPr txBox="1">
            <a:spLocks noChangeArrowheads="1"/>
          </p:cNvSpPr>
          <p:nvPr/>
        </p:nvSpPr>
        <p:spPr bwMode="auto">
          <a:xfrm>
            <a:off x="251520" y="3797248"/>
            <a:ext cx="613341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3</a:t>
            </a:r>
            <a:r>
              <a:rPr lang="en-US" altLang="zh-CN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) </a:t>
            </a:r>
            <a:r>
              <a:rPr lang="zh-CN" altLang="en-US" sz="2200" dirty="0" smtClean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非</a:t>
            </a:r>
            <a:r>
              <a:rPr lang="zh-CN" altLang="en-US" sz="2200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共轭</a:t>
            </a:r>
            <a:r>
              <a:rPr lang="zh-CN" altLang="en-US" sz="2200" dirty="0" smtClean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啮合</a:t>
            </a:r>
            <a:r>
              <a:rPr lang="en-US" altLang="zh-CN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——</a:t>
            </a:r>
            <a:r>
              <a:rPr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链条进入链轮瞬间，啮入冲击</a:t>
            </a:r>
          </a:p>
        </p:txBody>
      </p:sp>
      <p:sp>
        <p:nvSpPr>
          <p:cNvPr id="25" name="Rectangle 13"/>
          <p:cNvSpPr>
            <a:spLocks noChangeArrowheads="1"/>
          </p:cNvSpPr>
          <p:nvPr/>
        </p:nvSpPr>
        <p:spPr bwMode="auto">
          <a:xfrm>
            <a:off x="549397" y="4989388"/>
            <a:ext cx="4191190" cy="498598"/>
          </a:xfrm>
          <a:prstGeom prst="rect">
            <a:avLst/>
          </a:prstGeom>
          <a:noFill/>
          <a:ln w="57150" algn="ctr">
            <a:pattFill prst="sphere">
              <a:fgClr>
                <a:srgbClr val="009999"/>
              </a:fgClr>
              <a:bgClr>
                <a:srgbClr val="FFFFFF"/>
              </a:bgClr>
            </a:patt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63500" dir="19387806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动载荷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是链传动的</a:t>
            </a:r>
            <a:r>
              <a:rPr kumimoji="1" lang="zh-CN" altLang="en-US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固有特性</a:t>
            </a:r>
            <a:endParaRPr kumimoji="1" lang="zh-CN" altLang="en-US" sz="22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26" name="Text Box 15"/>
          <p:cNvSpPr txBox="1">
            <a:spLocks noChangeArrowheads="1"/>
          </p:cNvSpPr>
          <p:nvPr/>
        </p:nvSpPr>
        <p:spPr bwMode="auto">
          <a:xfrm>
            <a:off x="251520" y="4324600"/>
            <a:ext cx="1901483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4) </a:t>
            </a:r>
            <a:r>
              <a:rPr lang="zh-CN" altLang="en-US" sz="2200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链张紧不好</a:t>
            </a:r>
          </a:p>
        </p:txBody>
      </p:sp>
      <p:grpSp>
        <p:nvGrpSpPr>
          <p:cNvPr id="27" name="组合 26">
            <a:extLst>
              <a:ext uri="{FF2B5EF4-FFF2-40B4-BE49-F238E27FC236}">
                <a16:creationId xmlns="" xmlns:a16="http://schemas.microsoft.com/office/drawing/2014/main" id="{4F6BE933-6B16-43DC-85C3-95490BBC64EF}"/>
              </a:ext>
            </a:extLst>
          </p:cNvPr>
          <p:cNvGrpSpPr>
            <a:grpSpLocks/>
          </p:cNvGrpSpPr>
          <p:nvPr/>
        </p:nvGrpSpPr>
        <p:grpSpPr bwMode="auto">
          <a:xfrm>
            <a:off x="5105154" y="3190650"/>
            <a:ext cx="3862734" cy="2331529"/>
            <a:chOff x="7342997" y="4068215"/>
            <a:chExt cx="3863107" cy="2331116"/>
          </a:xfrm>
        </p:grpSpPr>
        <p:pic>
          <p:nvPicPr>
            <p:cNvPr id="28" name="Picture 13" descr="图片2">
              <a:extLst>
                <a:ext uri="{FF2B5EF4-FFF2-40B4-BE49-F238E27FC236}">
                  <a16:creationId xmlns="" xmlns:a16="http://schemas.microsoft.com/office/drawing/2014/main" id="{3EC51583-2B31-4F3D-9B07-B50ED08DF15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42997" y="4068215"/>
              <a:ext cx="3863107" cy="233111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11">
              <a:extLst>
                <a:ext uri="{FF2B5EF4-FFF2-40B4-BE49-F238E27FC236}">
                  <a16:creationId xmlns="" xmlns:a16="http://schemas.microsoft.com/office/drawing/2014/main" id="{860F003F-B8E5-4746-8906-C80180E53A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191318" y="4130686"/>
              <a:ext cx="1938517" cy="338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algn="ctr"/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带</a:t>
              </a: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齿轮</a:t>
              </a:r>
              <a:r>
                <a:rPr lang="en-US" altLang="zh-CN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→</a:t>
              </a:r>
              <a:r>
                <a:rPr lang="zh-CN" altLang="en-US" sz="1600" b="1" dirty="0">
                  <a:solidFill>
                    <a:srgbClr val="FFFF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链传动</a:t>
              </a:r>
            </a:p>
          </p:txBody>
        </p:sp>
      </p:grpSp>
      <p:sp>
        <p:nvSpPr>
          <p:cNvPr id="30" name="矩形 29"/>
          <p:cNvSpPr/>
          <p:nvPr/>
        </p:nvSpPr>
        <p:spPr>
          <a:xfrm>
            <a:off x="6012160" y="2201419"/>
            <a:ext cx="1683289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eaLnBrk="0" hangingPunct="0"/>
            <a:r>
              <a:rPr kumimoji="1" lang="zh-CN" altLang="en-US" sz="2200" b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↓</a:t>
            </a:r>
            <a:r>
              <a:rPr kumimoji="1" lang="en-US" altLang="zh-CN" sz="2200" b="1" i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p</a:t>
            </a:r>
            <a:r>
              <a:rPr kumimoji="1" lang="zh-CN" altLang="en-US" sz="2200" b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，↑</a:t>
            </a:r>
            <a:r>
              <a:rPr kumimoji="1" lang="en-US" altLang="zh-CN" sz="2200" b="1" i="1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z</a:t>
            </a:r>
            <a:r>
              <a:rPr kumimoji="1" lang="en-US" altLang="zh-CN" sz="2200" b="1" baseline="-25000" dirty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1</a:t>
            </a:r>
            <a:endParaRPr kumimoji="1" lang="zh-CN" altLang="en-US" sz="2200" b="1" i="1" baseline="-25000" dirty="0">
              <a:solidFill>
                <a:srgbClr val="FF0000"/>
              </a:solidFill>
              <a:latin typeface="Times New Roman"/>
              <a:ea typeface="华文中宋" panose="02010600040101010101" pitchFamily="2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2227479" y="4324900"/>
            <a:ext cx="4481515" cy="430212"/>
            <a:chOff x="2227479" y="4324900"/>
            <a:chExt cx="4481515" cy="430212"/>
          </a:xfrm>
        </p:grpSpPr>
        <p:grpSp>
          <p:nvGrpSpPr>
            <p:cNvPr id="32" name="Group 16"/>
            <p:cNvGrpSpPr>
              <a:grpSpLocks/>
            </p:cNvGrpSpPr>
            <p:nvPr/>
          </p:nvGrpSpPr>
          <p:grpSpPr bwMode="auto">
            <a:xfrm>
              <a:off x="2227479" y="4324900"/>
              <a:ext cx="4481515" cy="430212"/>
              <a:chOff x="3535" y="829"/>
              <a:chExt cx="2823" cy="271"/>
            </a:xfrm>
          </p:grpSpPr>
          <p:sp>
            <p:nvSpPr>
              <p:cNvPr id="34" name="Line 17"/>
              <p:cNvSpPr>
                <a:spLocks noChangeShapeType="1"/>
              </p:cNvSpPr>
              <p:nvPr/>
            </p:nvSpPr>
            <p:spPr bwMode="auto">
              <a:xfrm>
                <a:off x="3535" y="971"/>
                <a:ext cx="216" cy="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sm" len="lg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defTabSz="914400" eaLnBrk="0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CN" altLang="en-US" sz="2200" b="0" i="0" u="none" strike="noStrike" kern="0" cap="none" spc="0" normalizeH="0" baseline="0" noProof="0" smtClean="0">
                  <a:ln>
                    <a:noFill/>
                  </a:ln>
                  <a:solidFill>
                    <a:srgbClr val="336600"/>
                  </a:solidFill>
                  <a:effectLst/>
                  <a:uLnTx/>
                  <a:uFillTx/>
                  <a:latin typeface="Times New Roman"/>
                  <a:ea typeface="微软雅黑" panose="020B0503020204020204" pitchFamily="34" charset="-122"/>
                </a:endParaRPr>
              </a:p>
            </p:txBody>
          </p:sp>
          <p:sp>
            <p:nvSpPr>
              <p:cNvPr id="35" name="Text Box 18"/>
              <p:cNvSpPr txBox="1">
                <a:spLocks noChangeArrowheads="1"/>
              </p:cNvSpPr>
              <p:nvPr/>
            </p:nvSpPr>
            <p:spPr bwMode="auto">
              <a:xfrm>
                <a:off x="3798" y="829"/>
                <a:ext cx="2560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微软雅黑" panose="020B0503020204020204" pitchFamily="34" charset="-122"/>
                  </a:rPr>
                  <a:t>起停、载荷变化</a:t>
                </a:r>
                <a:r>
                  <a:rPr kumimoji="1" lang="zh-CN" altLang="en-US" sz="2200" b="0" i="0" u="none" strike="noStrike" kern="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微软雅黑" panose="020B0503020204020204" pitchFamily="34" charset="-122"/>
                  </a:rPr>
                  <a:t>时       惯性</a:t>
                </a: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微软雅黑" panose="020B0503020204020204" pitchFamily="34" charset="-122"/>
                  </a:rPr>
                  <a:t>冲击</a:t>
                </a:r>
              </a:p>
            </p:txBody>
          </p:sp>
        </p:grpSp>
        <p:sp>
          <p:nvSpPr>
            <p:cNvPr id="33" name="Line 17"/>
            <p:cNvSpPr>
              <a:spLocks noChangeShapeType="1"/>
            </p:cNvSpPr>
            <p:nvPr/>
          </p:nvSpPr>
          <p:spPr bwMode="auto">
            <a:xfrm>
              <a:off x="5045399" y="4540006"/>
              <a:ext cx="342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endParaRPr>
            </a:p>
          </p:txBody>
        </p:sp>
      </p:grpSp>
      <p:grpSp>
        <p:nvGrpSpPr>
          <p:cNvPr id="36" name="组合 35"/>
          <p:cNvGrpSpPr/>
          <p:nvPr/>
        </p:nvGrpSpPr>
        <p:grpSpPr>
          <a:xfrm>
            <a:off x="252209" y="3289082"/>
            <a:ext cx="6407150" cy="434975"/>
            <a:chOff x="252209" y="3289082"/>
            <a:chExt cx="6407150" cy="434975"/>
          </a:xfrm>
        </p:grpSpPr>
        <p:grpSp>
          <p:nvGrpSpPr>
            <p:cNvPr id="37" name="Group 19"/>
            <p:cNvGrpSpPr>
              <a:grpSpLocks/>
            </p:cNvGrpSpPr>
            <p:nvPr/>
          </p:nvGrpSpPr>
          <p:grpSpPr bwMode="auto">
            <a:xfrm>
              <a:off x="252209" y="3289082"/>
              <a:ext cx="6407150" cy="434975"/>
              <a:chOff x="265" y="1585"/>
              <a:chExt cx="4036" cy="274"/>
            </a:xfrm>
          </p:grpSpPr>
          <p:sp>
            <p:nvSpPr>
              <p:cNvPr id="39" name="Text Box 6"/>
              <p:cNvSpPr txBox="1">
                <a:spLocks noChangeArrowheads="1"/>
              </p:cNvSpPr>
              <p:nvPr/>
            </p:nvSpPr>
            <p:spPr bwMode="auto">
              <a:xfrm>
                <a:off x="265" y="1586"/>
                <a:ext cx="1198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en-US" altLang="zh-CN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微软雅黑" panose="020B0503020204020204" pitchFamily="34" charset="-122"/>
                  </a:rPr>
                  <a:t>2) </a:t>
                </a: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微软雅黑" panose="020B0503020204020204" pitchFamily="34" charset="-122"/>
                  </a:rPr>
                  <a:t>垂直分速度</a:t>
                </a:r>
              </a:p>
            </p:txBody>
          </p:sp>
          <p:graphicFrame>
            <p:nvGraphicFramePr>
              <p:cNvPr id="40" name="Object 7"/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1550" y="1603"/>
              <a:ext cx="208" cy="24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59697" name="公式" r:id="rId6" imgW="142799" imgH="171408" progId="Equation.3">
                      <p:embed/>
                    </p:oleObj>
                  </mc:Choice>
                  <mc:Fallback>
                    <p:oleObj name="公式" r:id="rId6" imgW="142799" imgH="171408" progId="Equation.3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1550" y="1603"/>
                            <a:ext cx="208" cy="24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  <a:ex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41" name="Text Box 8"/>
              <p:cNvSpPr txBox="1">
                <a:spLocks noChangeArrowheads="1"/>
              </p:cNvSpPr>
              <p:nvPr/>
            </p:nvSpPr>
            <p:spPr bwMode="auto">
              <a:xfrm>
                <a:off x="1725" y="1585"/>
                <a:ext cx="1005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Times New Roman"/>
                    <a:ea typeface="微软雅黑" panose="020B0503020204020204" pitchFamily="34" charset="-122"/>
                  </a:rPr>
                  <a:t>周期性变化</a:t>
                </a:r>
              </a:p>
            </p:txBody>
          </p:sp>
          <p:sp>
            <p:nvSpPr>
              <p:cNvPr id="42" name="Text Box 11"/>
              <p:cNvSpPr txBox="1">
                <a:spLocks noChangeArrowheads="1"/>
              </p:cNvSpPr>
              <p:nvPr/>
            </p:nvSpPr>
            <p:spPr bwMode="auto">
              <a:xfrm>
                <a:off x="2941" y="1588"/>
                <a:ext cx="1360" cy="27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1pPr>
                <a:lvl2pPr marL="742950" indent="-28575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2pPr>
                <a:lvl3pPr marL="11430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3pPr>
                <a:lvl4pPr marL="16002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4pPr>
                <a:lvl5pPr marL="2057400" indent="-228600" eaLnBrk="0" hangingPunct="0"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charset="-122"/>
                  </a:defRPr>
                </a:lvl9pPr>
              </a:lstStyle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/>
                    <a:ea typeface="微软雅黑" panose="020B0503020204020204" pitchFamily="34" charset="-122"/>
                  </a:rPr>
                  <a:t>链条横向振动。</a:t>
                </a:r>
              </a:p>
            </p:txBody>
          </p:sp>
        </p:grpSp>
        <p:sp>
          <p:nvSpPr>
            <p:cNvPr id="38" name="Line 17"/>
            <p:cNvSpPr>
              <a:spLocks noChangeShapeType="1"/>
            </p:cNvSpPr>
            <p:nvPr/>
          </p:nvSpPr>
          <p:spPr bwMode="auto">
            <a:xfrm>
              <a:off x="4165397" y="3504188"/>
              <a:ext cx="34290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endParaRPr>
            </a:p>
          </p:txBody>
        </p:sp>
      </p:grpSp>
      <p:pic>
        <p:nvPicPr>
          <p:cNvPr id="43" name="Picture 2" descr="https://timgsa.baidu.com/timg?image&amp;quality=80&amp;size=b9999_10000&amp;sec=1490850590512&amp;di=dbc455ef366ee56ae259dd0d48ca246e&amp;imgtype=0&amp;src=http%3A%2F%2Fimg3.redocn.com%2Ftupian%2F20120910%2Fsikaowentidexiaonanhai_1412173_small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225" y="2098530"/>
            <a:ext cx="731392" cy="11185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7684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75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23" grpId="0" build="p"/>
      <p:bldP spid="24" grpId="0" autoUpdateAnimBg="0"/>
      <p:bldP spid="25" grpId="0" animBg="1"/>
      <p:bldP spid="26" grpId="0" autoUpdateAnimBg="0"/>
      <p:bldP spid="30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" name="图片 132"/>
          <p:cNvPicPr>
            <a:picLocks noChangeAspect="1"/>
          </p:cNvPicPr>
          <p:nvPr/>
        </p:nvPicPr>
        <p:blipFill rotWithShape="1">
          <a:blip r:embed="rId4"/>
          <a:srcRect t="58352"/>
          <a:stretch/>
        </p:blipFill>
        <p:spPr>
          <a:xfrm>
            <a:off x="5113346" y="3569494"/>
            <a:ext cx="3851142" cy="1928535"/>
          </a:xfrm>
          <a:prstGeom prst="rect">
            <a:avLst/>
          </a:prstGeom>
        </p:spPr>
      </p:pic>
      <p:pic>
        <p:nvPicPr>
          <p:cNvPr id="132" name="图片 131"/>
          <p:cNvPicPr>
            <a:picLocks noChangeAspect="1"/>
          </p:cNvPicPr>
          <p:nvPr/>
        </p:nvPicPr>
        <p:blipFill rotWithShape="1">
          <a:blip r:embed="rId4"/>
          <a:srcRect b="41648"/>
          <a:stretch/>
        </p:blipFill>
        <p:spPr>
          <a:xfrm>
            <a:off x="5113346" y="790964"/>
            <a:ext cx="3851142" cy="2702004"/>
          </a:xfrm>
          <a:prstGeom prst="rect">
            <a:avLst/>
          </a:prstGeom>
        </p:spPr>
      </p:pic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链传动的工作情况分析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Rectangle 4">
            <a:extLst>
              <a:ext uri="{FF2B5EF4-FFF2-40B4-BE49-F238E27FC236}">
                <a16:creationId xmlns="" xmlns:a16="http://schemas.microsoft.com/office/drawing/2014/main" id="{E94F7193-1E8C-4D1E-86FB-123E57835A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9880" y="188198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0" hangingPunct="0">
              <a:lnSpc>
                <a:spcPct val="85000"/>
              </a:lnSpc>
              <a:spcBef>
                <a:spcPct val="50000"/>
              </a:spcBef>
            </a:pPr>
            <a:endParaRPr lang="zh-CN" altLang="en-US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71" name="Text Box 5">
            <a:extLst>
              <a:ext uri="{FF2B5EF4-FFF2-40B4-BE49-F238E27FC236}">
                <a16:creationId xmlns="" xmlns:a16="http://schemas.microsoft.com/office/drawing/2014/main" id="{968CFFF9-CC56-4E70-BB64-40FAEDBBA91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5539" y="2239899"/>
            <a:ext cx="40322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2) 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从动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（松）边拉力</a:t>
            </a:r>
          </a:p>
        </p:txBody>
      </p:sp>
      <p:sp>
        <p:nvSpPr>
          <p:cNvPr id="72" name="Text Box 6">
            <a:extLst>
              <a:ext uri="{FF2B5EF4-FFF2-40B4-BE49-F238E27FC236}">
                <a16:creationId xmlns="" xmlns:a16="http://schemas.microsoft.com/office/drawing/2014/main" id="{21B13A76-0E15-4371-8D10-5C1B420141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1107590"/>
            <a:ext cx="5544615" cy="4647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10000"/>
              </a:lnSpc>
              <a:spcBef>
                <a:spcPct val="50000"/>
              </a:spcBef>
            </a:pPr>
            <a:r>
              <a:rPr kumimoji="0" lang="zh-CN" altLang="en-US" sz="2200" dirty="0" smtClean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工作</a:t>
            </a:r>
            <a:r>
              <a:rPr kumimoji="0"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时，紧边拉力</a:t>
            </a:r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aseline="-200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kumimoji="0"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和松边拉力</a:t>
            </a:r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F</a:t>
            </a:r>
            <a:r>
              <a:rPr lang="en-US" altLang="zh-CN" sz="2200" baseline="-200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kumimoji="0"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不相等。 </a:t>
            </a:r>
          </a:p>
        </p:txBody>
      </p:sp>
      <p:graphicFrame>
        <p:nvGraphicFramePr>
          <p:cNvPr id="99" name="对象 4">
            <a:extLst>
              <a:ext uri="{FF2B5EF4-FFF2-40B4-BE49-F238E27FC236}">
                <a16:creationId xmlns="" xmlns:a16="http://schemas.microsoft.com/office/drawing/2014/main" id="{769C0738-85E8-4B03-825A-79A5F8A84C66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133063" y="2239899"/>
          <a:ext cx="1511641" cy="458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748" name="Equation" r:id="rId5" imgW="761669" imgH="228501" progId="Equation.DSMT4">
                  <p:embed/>
                </p:oleObj>
              </mc:Choice>
              <mc:Fallback>
                <p:oleObj name="Equation" r:id="rId5" imgW="761669" imgH="228501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33063" y="2239899"/>
                        <a:ext cx="1511641" cy="45889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0" name="对象 99">
            <a:extLst>
              <a:ext uri="{FF2B5EF4-FFF2-40B4-BE49-F238E27FC236}">
                <a16:creationId xmlns="" xmlns:a16="http://schemas.microsoft.com/office/drawing/2014/main" id="{7C4E8E53-AD70-4867-BECB-E153D09043A5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1703281" y="4621341"/>
          <a:ext cx="2185872" cy="4791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0749" name="Equation" r:id="rId7" imgW="1091726" imgH="241195" progId="Equation.DSMT4">
                  <p:embed/>
                </p:oleObj>
              </mc:Choice>
              <mc:Fallback>
                <p:oleObj name="Equation" r:id="rId7" imgW="1091726" imgH="241195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03281" y="4621341"/>
                        <a:ext cx="2185872" cy="47917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1" name="Text Box 5">
            <a:extLst>
              <a:ext uri="{FF2B5EF4-FFF2-40B4-BE49-F238E27FC236}">
                <a16:creationId xmlns="" xmlns:a16="http://schemas.microsoft.com/office/drawing/2014/main" id="{A7664351-0F19-4CFD-921F-B183F52FB1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1656041"/>
            <a:ext cx="308924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cmpd="dbl">
                <a:solidFill>
                  <a:srgbClr val="000000"/>
                </a:solidFill>
                <a:prstDash val="sysDot"/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1) 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主动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（紧）边拉力</a:t>
            </a:r>
          </a:p>
        </p:txBody>
      </p:sp>
      <p:sp>
        <p:nvSpPr>
          <p:cNvPr id="108" name="文本框 107">
            <a:extLst>
              <a:ext uri="{FF2B5EF4-FFF2-40B4-BE49-F238E27FC236}">
                <a16:creationId xmlns="" xmlns:a16="http://schemas.microsoft.com/office/drawing/2014/main" id="{1CEF3F01-84F1-43E2-9D92-17DB119EAE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9" y="4586853"/>
            <a:ext cx="170973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0" hangingPunct="0"/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3) </a:t>
            </a:r>
            <a:r>
              <a:rPr lang="zh-CN" altLang="en-US" sz="2200" b="1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压轴力</a:t>
            </a:r>
          </a:p>
        </p:txBody>
      </p:sp>
      <p:grpSp>
        <p:nvGrpSpPr>
          <p:cNvPr id="109" name="Group 24">
            <a:extLst>
              <a:ext uri="{FF2B5EF4-FFF2-40B4-BE49-F238E27FC236}">
                <a16:creationId xmlns="" xmlns:a16="http://schemas.microsoft.com/office/drawing/2014/main" id="{93436169-8741-438F-AF35-3FEECA104EE2}"/>
              </a:ext>
            </a:extLst>
          </p:cNvPr>
          <p:cNvGrpSpPr>
            <a:grpSpLocks/>
          </p:cNvGrpSpPr>
          <p:nvPr/>
        </p:nvGrpSpPr>
        <p:grpSpPr bwMode="auto">
          <a:xfrm>
            <a:off x="2726453" y="5128698"/>
            <a:ext cx="2970213" cy="430213"/>
            <a:chOff x="2597" y="3319"/>
            <a:chExt cx="1871" cy="271"/>
          </a:xfrm>
        </p:grpSpPr>
        <p:sp>
          <p:nvSpPr>
            <p:cNvPr id="110" name="AutoShape 25">
              <a:extLst>
                <a:ext uri="{FF2B5EF4-FFF2-40B4-BE49-F238E27FC236}">
                  <a16:creationId xmlns="" xmlns:a16="http://schemas.microsoft.com/office/drawing/2014/main" id="{67499B00-9481-4DC1-8808-48A5125B6D0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 flipV="1">
              <a:off x="2710" y="3222"/>
              <a:ext cx="171" cy="397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17694720 60000 65536"/>
                <a:gd name="T13" fmla="*/ 11796480 60000 65536"/>
                <a:gd name="T14" fmla="*/ 11796480 60000 65536"/>
                <a:gd name="T15" fmla="*/ 5898240 60000 65536"/>
                <a:gd name="T16" fmla="*/ 0 60000 65536"/>
                <a:gd name="T17" fmla="*/ 0 60000 65536"/>
                <a:gd name="T18" fmla="*/ 0 w 21600"/>
                <a:gd name="T19" fmla="*/ 17574 h 21600"/>
                <a:gd name="T20" fmla="*/ 17053 w 21600"/>
                <a:gd name="T21" fmla="*/ 2160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15437" y="0"/>
                  </a:moveTo>
                  <a:lnTo>
                    <a:pt x="9273" y="7082"/>
                  </a:lnTo>
                  <a:lnTo>
                    <a:pt x="13852" y="7082"/>
                  </a:lnTo>
                  <a:lnTo>
                    <a:pt x="13852" y="17578"/>
                  </a:lnTo>
                  <a:lnTo>
                    <a:pt x="0" y="17578"/>
                  </a:lnTo>
                  <a:lnTo>
                    <a:pt x="0" y="21600"/>
                  </a:lnTo>
                  <a:lnTo>
                    <a:pt x="17021" y="21600"/>
                  </a:lnTo>
                  <a:lnTo>
                    <a:pt x="17021" y="7082"/>
                  </a:lnTo>
                  <a:lnTo>
                    <a:pt x="21600" y="7082"/>
                  </a:lnTo>
                  <a:lnTo>
                    <a:pt x="15437" y="0"/>
                  </a:lnTo>
                  <a:close/>
                </a:path>
              </a:pathLst>
            </a:custGeom>
            <a:solidFill>
              <a:srgbClr val="CBCBCB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marL="0" marR="0" lvl="0" indent="0" defTabSz="914400" eaLnBrk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0" u="none" strike="noStrike" kern="0" cap="none" spc="0" normalizeH="0" baseline="0" noProof="0" smtClean="0">
                <a:ln>
                  <a:noFill/>
                </a:ln>
                <a:solidFill>
                  <a:srgbClr val="336600"/>
                </a:solidFill>
                <a:effectLst/>
                <a:uLnTx/>
                <a:uFillTx/>
                <a:latin typeface="华文中宋" panose="02010600040101010101" pitchFamily="2" charset="-122"/>
                <a:ea typeface="华文中宋" panose="02010600040101010101" pitchFamily="2" charset="-122"/>
              </a:endParaRPr>
            </a:p>
          </p:txBody>
        </p:sp>
        <p:sp>
          <p:nvSpPr>
            <p:cNvPr id="111" name="Text Box 27">
              <a:extLst>
                <a:ext uri="{FF2B5EF4-FFF2-40B4-BE49-F238E27FC236}">
                  <a16:creationId xmlns="" xmlns:a16="http://schemas.microsoft.com/office/drawing/2014/main" id="{003AEB4C-324F-4EC8-A90A-E6495C330A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35" y="3319"/>
              <a:ext cx="1433" cy="2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1" lang="zh-CN" altLang="en-US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8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rPr>
                <a:t>有冲击时取大值</a:t>
              </a:r>
              <a:endParaRPr kumimoji="0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112" name="Text Box 29">
            <a:extLst>
              <a:ext uri="{FF2B5EF4-FFF2-40B4-BE49-F238E27FC236}">
                <a16:creationId xmlns="" xmlns:a16="http://schemas.microsoft.com/office/drawing/2014/main" id="{51AB7538-B73A-4E87-A7A8-7C44D7C3E5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660651" y="3963124"/>
            <a:ext cx="1440160" cy="51090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 eaLnBrk="0" hangingPunct="0">
              <a:lnSpc>
                <a:spcPct val="85000"/>
              </a:lnSpc>
              <a:spcBef>
                <a:spcPct val="50000"/>
              </a:spcBef>
            </a:pPr>
            <a:r>
              <a:rPr lang="zh-CN" altLang="en-US" sz="1600" dirty="0">
                <a:solidFill>
                  <a:srgbClr val="800000"/>
                </a:solidFill>
                <a:ea typeface="微软雅黑" panose="020B0503020204020204" pitchFamily="34" charset="-122"/>
              </a:rPr>
              <a:t>垂度系数</a:t>
            </a:r>
            <a:r>
              <a:rPr lang="en-US" altLang="zh-CN" sz="1600" i="1" dirty="0">
                <a:solidFill>
                  <a:srgbClr val="800000"/>
                </a:solidFill>
                <a:ea typeface="微软雅黑" panose="020B0503020204020204" pitchFamily="34" charset="-122"/>
              </a:rPr>
              <a:t>K</a:t>
            </a:r>
            <a:r>
              <a:rPr lang="en-US" altLang="zh-CN" sz="1600" baseline="-25000" dirty="0">
                <a:solidFill>
                  <a:srgbClr val="800000"/>
                </a:solidFill>
                <a:ea typeface="微软雅黑" panose="020B0503020204020204" pitchFamily="34" charset="-122"/>
              </a:rPr>
              <a:t>f</a:t>
            </a:r>
            <a:r>
              <a:rPr lang="zh-CN" altLang="en-US" sz="1600" dirty="0">
                <a:solidFill>
                  <a:srgbClr val="000000"/>
                </a:solidFill>
                <a:ea typeface="微软雅黑" panose="020B0503020204020204" pitchFamily="34" charset="-122"/>
              </a:rPr>
              <a:t>与</a:t>
            </a:r>
            <a:r>
              <a:rPr lang="en-US" altLang="zh-CN" sz="1600" i="1" dirty="0">
                <a:solidFill>
                  <a:srgbClr val="000000"/>
                </a:solidFill>
                <a:ea typeface="微软雅黑" panose="020B0503020204020204" pitchFamily="34" charset="-122"/>
              </a:rPr>
              <a:t>a</a:t>
            </a:r>
            <a:r>
              <a:rPr lang="zh-CN" altLang="en-US" sz="1600" dirty="0">
                <a:solidFill>
                  <a:srgbClr val="000000"/>
                </a:solidFill>
                <a:ea typeface="微软雅黑" panose="020B0503020204020204" pitchFamily="34" charset="-122"/>
              </a:rPr>
              <a:t>和</a:t>
            </a:r>
            <a:r>
              <a:rPr lang="en-US" altLang="zh-CN" sz="1600" i="1" dirty="0">
                <a:solidFill>
                  <a:srgbClr val="000000"/>
                </a:solidFill>
                <a:ea typeface="微软雅黑" panose="020B0503020204020204" pitchFamily="34" charset="-122"/>
              </a:rPr>
              <a:t>β</a:t>
            </a:r>
            <a:r>
              <a:rPr lang="zh-CN" altLang="en-US" sz="1600" dirty="0">
                <a:solidFill>
                  <a:srgbClr val="000000"/>
                </a:solidFill>
                <a:ea typeface="微软雅黑" panose="020B0503020204020204" pitchFamily="34" charset="-122"/>
              </a:rPr>
              <a:t>有关</a:t>
            </a:r>
          </a:p>
        </p:txBody>
      </p:sp>
      <p:sp>
        <p:nvSpPr>
          <p:cNvPr id="25" name="Text Box 4">
            <a:extLst>
              <a:ext uri="{FF2B5EF4-FFF2-40B4-BE49-F238E27FC236}">
                <a16:creationId xmlns="" xmlns:a16="http://schemas.microsoft.com/office/drawing/2014/main" id="{78595116-2C8A-462D-8C14-FD9B6BF672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7046" y="529998"/>
            <a:ext cx="3326381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 eaLnBrk="1" hangingPunct="1">
              <a:spcBef>
                <a:spcPct val="50000"/>
              </a:spcBef>
              <a:defRPr sz="2800" b="1" i="0">
                <a:solidFill>
                  <a:srgbClr val="C00000"/>
                </a:solidFill>
                <a:latin typeface="Times New Roman" panose="02020603050405020304" pitchFamily="18" charset="0"/>
                <a:ea typeface="微软雅黑" panose="020B0503020204020204" pitchFamily="34" charset="-122"/>
              </a:defRPr>
            </a:lvl1pPr>
            <a:lvl2pPr marL="742950" indent="-28575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8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3. </a:t>
            </a:r>
            <a:r>
              <a:rPr kumimoji="1" lang="zh-CN" altLang="en-US" sz="24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链传动的</a:t>
            </a:r>
            <a:r>
              <a:rPr kumimoji="1" lang="zh-CN" altLang="en-US" sz="2400" kern="0" dirty="0">
                <a:solidFill>
                  <a:srgbClr val="0000FF"/>
                </a:solidFill>
              </a:rPr>
              <a:t>受</a:t>
            </a:r>
            <a:r>
              <a:rPr kumimoji="1" lang="zh-CN" altLang="en-US" sz="2400" kern="0" dirty="0" smtClean="0">
                <a:solidFill>
                  <a:srgbClr val="0000FF"/>
                </a:solidFill>
              </a:rPr>
              <a:t>力分析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3150158" y="1666138"/>
            <a:ext cx="2105707" cy="475828"/>
            <a:chOff x="3150158" y="1666138"/>
            <a:chExt cx="2105707" cy="475828"/>
          </a:xfrm>
        </p:grpSpPr>
        <p:graphicFrame>
          <p:nvGraphicFramePr>
            <p:cNvPr id="98" name="对象 2">
              <a:extLst>
                <a:ext uri="{FF2B5EF4-FFF2-40B4-BE49-F238E27FC236}">
                  <a16:creationId xmlns="" xmlns:a16="http://schemas.microsoft.com/office/drawing/2014/main" id="{11F9186C-43E9-4310-B74C-BC362EB89D04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03360560"/>
                </p:ext>
              </p:extLst>
            </p:nvPr>
          </p:nvGraphicFramePr>
          <p:xfrm>
            <a:off x="3150158" y="1666138"/>
            <a:ext cx="2105707" cy="47582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0750" name="Equation" r:id="rId9" imgW="1002865" imgH="228501" progId="Equation.DSMT4">
                    <p:embed/>
                  </p:oleObj>
                </mc:Choice>
                <mc:Fallback>
                  <p:oleObj name="Equation" r:id="rId9" imgW="1002865" imgH="228501" progId="Equation.DSMT4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50158" y="1666138"/>
                          <a:ext cx="2105707" cy="47582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" name="文本框 1"/>
            <p:cNvSpPr txBox="1"/>
            <p:nvPr/>
          </p:nvSpPr>
          <p:spPr>
            <a:xfrm>
              <a:off x="3938224" y="1881815"/>
              <a:ext cx="84960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5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466597" y="2775287"/>
            <a:ext cx="3241307" cy="1664630"/>
            <a:chOff x="466597" y="2775287"/>
            <a:chExt cx="3241307" cy="1664630"/>
          </a:xfrm>
        </p:grpSpPr>
        <p:grpSp>
          <p:nvGrpSpPr>
            <p:cNvPr id="102" name="组合 101"/>
            <p:cNvGrpSpPr/>
            <p:nvPr/>
          </p:nvGrpSpPr>
          <p:grpSpPr>
            <a:xfrm>
              <a:off x="466597" y="2775287"/>
              <a:ext cx="3241307" cy="1664630"/>
              <a:chOff x="611526" y="3274555"/>
              <a:chExt cx="3241307" cy="1664630"/>
            </a:xfrm>
          </p:grpSpPr>
          <p:grpSp>
            <p:nvGrpSpPr>
              <p:cNvPr id="103" name="组合 102">
                <a:extLst>
                  <a:ext uri="{FF2B5EF4-FFF2-40B4-BE49-F238E27FC236}">
                    <a16:creationId xmlns="" xmlns:a16="http://schemas.microsoft.com/office/drawing/2014/main" id="{0C5B9045-B0B2-43D8-ACB2-CB4182D589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4953" y="3274555"/>
                <a:ext cx="1537880" cy="1644313"/>
                <a:chOff x="2314583" y="3274647"/>
                <a:chExt cx="1538156" cy="1644560"/>
              </a:xfrm>
            </p:grpSpPr>
            <p:graphicFrame>
              <p:nvGraphicFramePr>
                <p:cNvPr id="105" name="对象 8">
                  <a:extLst>
                    <a:ext uri="{FF2B5EF4-FFF2-40B4-BE49-F238E27FC236}">
                      <a16:creationId xmlns="" xmlns:a16="http://schemas.microsoft.com/office/drawing/2014/main" id="{6C6E578D-92D8-46D6-8F01-FE71CBAF31C5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360957" y="3274647"/>
                <a:ext cx="1491782" cy="79432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960751" name="Equation" r:id="rId11" imgW="736280" imgH="393529" progId="Equation.DSMT4">
                        <p:embed/>
                      </p:oleObj>
                    </mc:Choice>
                    <mc:Fallback>
                      <p:oleObj name="Equation" r:id="rId11" imgW="736280" imgH="393529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2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60957" y="3274647"/>
                              <a:ext cx="1491782" cy="794326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6" name="对象 10">
                  <a:extLst>
                    <a:ext uri="{FF2B5EF4-FFF2-40B4-BE49-F238E27FC236}">
                      <a16:creationId xmlns="" xmlns:a16="http://schemas.microsoft.com/office/drawing/2014/main" id="{CE49BEF9-47C1-4DCE-A917-8A8CAB2C4BDA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351430" y="3970534"/>
                <a:ext cx="1039364" cy="448002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960752" name="Equation" r:id="rId13" imgW="545863" imgH="241195" progId="Equation.DSMT4">
                        <p:embed/>
                      </p:oleObj>
                    </mc:Choice>
                    <mc:Fallback>
                      <p:oleObj name="Equation" r:id="rId13" imgW="545863" imgH="241195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4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51430" y="3970534"/>
                              <a:ext cx="1039364" cy="448002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graphicFrame>
              <p:nvGraphicFramePr>
                <p:cNvPr id="107" name="对象 12">
                  <a:extLst>
                    <a:ext uri="{FF2B5EF4-FFF2-40B4-BE49-F238E27FC236}">
                      <a16:creationId xmlns="" xmlns:a16="http://schemas.microsoft.com/office/drawing/2014/main" id="{A5A6EF1C-95BE-44B2-B644-A4F138B2F921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/>
                </p:nvPr>
              </p:nvGraphicFramePr>
              <p:xfrm>
                <a:off x="2314583" y="4517106"/>
                <a:ext cx="1363648" cy="402101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spid="_x0000_s5960753" name="Equation" r:id="rId15" imgW="736280" imgH="215806" progId="Equation.DSMT4">
                        <p:embed/>
                      </p:oleObj>
                    </mc:Choice>
                    <mc:Fallback>
                      <p:oleObj name="Equation" r:id="rId15" imgW="736280" imgH="215806" progId="Equation.DSMT4">
                        <p:embed/>
                        <p:pic>
                          <p:nvPicPr>
                            <p:cNvPr id="0" name=""/>
                            <p:cNvPicPr>
                              <a:picLocks noChangeAspect="1" noChangeArrowheads="1"/>
                            </p:cNvPicPr>
                            <p:nvPr/>
                          </p:nvPicPr>
                          <p:blipFill>
                            <a:blip r:embed="rId16">
                              <a:extLst>
                                <a:ext uri="{28A0092B-C50C-407E-A947-70E740481C1C}">
                                  <a14:useLocalDpi xmlns:a14="http://schemas.microsoft.com/office/drawing/2010/main" val="0"/>
                                </a:ext>
                              </a:extLst>
                            </a:blip>
                            <a:srcRect/>
                            <a:stretch>
                              <a:fillRect/>
                            </a:stretch>
                          </p:blipFill>
                          <p:spPr bwMode="auto">
                            <a:xfrm>
                              <a:off x="2314583" y="4517106"/>
                              <a:ext cx="1363648" cy="402101"/>
                            </a:xfrm>
                            <a:prstGeom prst="rect">
                              <a:avLst/>
                            </a:prstGeom>
                            <a:noFill/>
                            <a:ln>
                              <a:noFill/>
                            </a:ln>
                            <a:extLst/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</p:grpSp>
          <p:sp>
            <p:nvSpPr>
              <p:cNvPr id="104" name="Text Box 4">
                <a:extLst>
                  <a:ext uri="{FF2B5EF4-FFF2-40B4-BE49-F238E27FC236}">
                    <a16:creationId xmlns="" xmlns:a16="http://schemas.microsoft.com/office/drawing/2014/main" id="{68934D01-130D-4329-9F3F-6A335CACFB4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11526" y="3417230"/>
                <a:ext cx="2430463" cy="152195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cap="sq">
                    <a:solidFill>
                      <a:srgbClr val="000000"/>
                    </a:solidFill>
                    <a:miter lim="800000"/>
                    <a:headEnd type="none" w="sm" len="sm"/>
                    <a:tailEnd type="none" w="sm" len="sm"/>
                  </a14:hiddenLine>
                </a:ext>
              </a:extLst>
            </p:spPr>
            <p:txBody>
              <a:bodyPr>
                <a:spAutoFit/>
              </a:bodyPr>
              <a:lstStyle>
                <a:lvl1pPr marL="342900" indent="-3429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marL="342900" marR="0" lvl="0" indent="-342900" defTabSz="914400" eaLnBrk="1" fontAlgn="auto" latinLnBrk="0" hangingPunct="1">
                  <a:lnSpc>
                    <a:spcPct val="11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工作拉力   </a:t>
                </a:r>
                <a:endParaRPr kumimoji="1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342900" marR="0" lvl="0" indent="-342900" defTabSz="914400" eaLnBrk="1" fontAlgn="auto" latinLnBrk="0" hangingPunct="1">
                  <a:lnSpc>
                    <a:spcPct val="11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离心拉力</a:t>
                </a:r>
                <a:endParaRPr kumimoji="1" lang="en-US" altLang="zh-CN" sz="22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微软雅黑" panose="020B0503020204020204" pitchFamily="34" charset="-122"/>
                </a:endParaRPr>
              </a:p>
              <a:p>
                <a:pPr marL="342900" marR="0" lvl="0" indent="-342900" defTabSz="914400" eaLnBrk="1" fontAlgn="auto" latinLnBrk="0" hangingPunct="1">
                  <a:lnSpc>
                    <a:spcPct val="110000"/>
                  </a:lnSpc>
                  <a:spcBef>
                    <a:spcPct val="50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Char char="•"/>
                  <a:tabLst/>
                  <a:defRPr/>
                </a:pPr>
                <a:r>
                  <a:rPr kumimoji="1" lang="zh-CN" altLang="en-US" sz="22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微软雅黑" panose="020B0503020204020204" pitchFamily="34" charset="-122"/>
                  </a:rPr>
                  <a:t>悬垂拉力</a:t>
                </a:r>
              </a:p>
            </p:txBody>
          </p:sp>
        </p:grpSp>
        <p:sp>
          <p:nvSpPr>
            <p:cNvPr id="27" name="文本框 26"/>
            <p:cNvSpPr txBox="1"/>
            <p:nvPr/>
          </p:nvSpPr>
          <p:spPr>
            <a:xfrm>
              <a:off x="2411760" y="3145388"/>
              <a:ext cx="84960" cy="2308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zh-CN" sz="15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endParaRPr lang="zh-CN" altLang="en-US" sz="15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217512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1" grpId="0"/>
      <p:bldP spid="72" grpId="0" autoUpdateAnimBg="0"/>
      <p:bldP spid="101" grpId="0"/>
      <p:bldP spid="108" grpId="0"/>
      <p:bldP spid="112" grpId="0"/>
      <p:bldP spid="2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滚子链传动的设计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07-3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668409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9512" y="2058057"/>
            <a:ext cx="4308572" cy="25746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353738" y="1052245"/>
            <a:ext cx="3960440" cy="972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针对各种失效形式</a:t>
            </a:r>
          </a:p>
          <a:p>
            <a:pPr>
              <a:lnSpc>
                <a:spcPct val="130000"/>
              </a:lnSpc>
            </a:pPr>
            <a:r>
              <a:rPr lang="en-US" altLang="zh-CN" sz="2200" dirty="0"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额定功率</a:t>
            </a:r>
            <a:r>
              <a:rPr lang="zh-CN" altLang="en-US" sz="2200" dirty="0" smtClean="0">
                <a:latin typeface="微软雅黑"/>
                <a:ea typeface="微软雅黑"/>
                <a:cs typeface="微软雅黑"/>
              </a:rPr>
              <a:t>曲线（</a:t>
            </a:r>
            <a:r>
              <a:rPr lang="zh-CN" altLang="en-US" sz="2200" dirty="0" smtClean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帐篷</a:t>
            </a:r>
            <a:r>
              <a:rPr lang="zh-CN" altLang="en-US" sz="2200" dirty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曲线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）</a:t>
            </a:r>
          </a:p>
        </p:txBody>
      </p:sp>
      <p:pic>
        <p:nvPicPr>
          <p:cNvPr id="9" name="Picture 2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4"/>
          <a:stretch/>
        </p:blipFill>
        <p:spPr bwMode="auto">
          <a:xfrm>
            <a:off x="4632320" y="493660"/>
            <a:ext cx="4368176" cy="428210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左弧形箭头 9"/>
          <p:cNvSpPr/>
          <p:nvPr/>
        </p:nvSpPr>
        <p:spPr>
          <a:xfrm rot="15394648">
            <a:off x="4545782" y="3510259"/>
            <a:ext cx="474089" cy="1652896"/>
          </a:xfrm>
          <a:prstGeom prst="curvedRightArrow">
            <a:avLst/>
          </a:prstGeom>
          <a:ln w="952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pic>
        <p:nvPicPr>
          <p:cNvPr id="11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2194" y="493660"/>
            <a:ext cx="1512168" cy="9799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4" name="组合 13"/>
          <p:cNvGrpSpPr/>
          <p:nvPr/>
        </p:nvGrpSpPr>
        <p:grpSpPr>
          <a:xfrm>
            <a:off x="437843" y="4882394"/>
            <a:ext cx="8166605" cy="729430"/>
            <a:chOff x="437843" y="4910970"/>
            <a:chExt cx="8166605" cy="729430"/>
          </a:xfrm>
        </p:grpSpPr>
        <p:sp>
          <p:nvSpPr>
            <p:cNvPr id="12" name="Text Box 2" descr="75%">
              <a:extLst>
                <a:ext uri="{FF2B5EF4-FFF2-40B4-BE49-F238E27FC236}">
                  <a16:creationId xmlns="" xmlns:a16="http://schemas.microsoft.com/office/drawing/2014/main" id="{0A262762-C1A0-4562-8247-3161FC27FD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43608" y="4910970"/>
              <a:ext cx="7560840" cy="7294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>
                <a:spcBef>
                  <a:spcPct val="30000"/>
                </a:spcBef>
              </a:pPr>
              <a:r>
                <a:rPr lang="en-US" altLang="zh-CN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1</a:t>
              </a:r>
              <a:r>
                <a:rPr lang="zh-CN" altLang="en-US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）在润滑充分的情况下，</a:t>
              </a:r>
              <a:r>
                <a:rPr lang="zh-CN" altLang="en-US" sz="1800" i="0" dirty="0">
                  <a:solidFill>
                    <a:srgbClr val="FF0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疲劳强度</a:t>
              </a:r>
              <a:r>
                <a:rPr lang="zh-CN" altLang="en-US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是决定链传动能力的主要因素。</a:t>
              </a:r>
              <a:endParaRPr lang="en-US" altLang="zh-CN" sz="1800" i="0" dirty="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  <a:p>
              <a:pPr eaLnBrk="1" hangingPunct="1">
                <a:spcBef>
                  <a:spcPct val="30000"/>
                </a:spcBef>
              </a:pPr>
              <a:r>
                <a:rPr lang="en-US" altLang="zh-CN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2</a:t>
              </a:r>
              <a:r>
                <a:rPr lang="zh-CN" altLang="en-US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）</a:t>
              </a:r>
              <a:r>
                <a:rPr lang="zh-CN" altLang="zh-CN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若润滑不良及工作情况恶劣，</a:t>
              </a:r>
              <a:r>
                <a:rPr lang="zh-CN" altLang="zh-CN" sz="1800" i="0" dirty="0">
                  <a:solidFill>
                    <a:srgbClr val="FF0000"/>
                  </a:solidFill>
                  <a:ea typeface="微软雅黑" panose="020B0503020204020204" pitchFamily="34" charset="-122"/>
                  <a:cs typeface="Times New Roman" panose="02020603050405020304" pitchFamily="18" charset="0"/>
                </a:rPr>
                <a:t>极限功率</a:t>
              </a:r>
              <a:r>
                <a:rPr lang="zh-CN" altLang="en-US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会急剧</a:t>
              </a:r>
              <a:r>
                <a:rPr lang="zh-CN" altLang="zh-CN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下降</a:t>
              </a:r>
              <a:r>
                <a:rPr lang="zh-CN" altLang="en-US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，</a:t>
              </a:r>
              <a:r>
                <a:rPr lang="zh-CN" altLang="zh-CN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如</a:t>
              </a:r>
              <a:r>
                <a:rPr lang="zh-CN" altLang="zh-CN" sz="1800" i="0" dirty="0" smtClean="0">
                  <a:ea typeface="微软雅黑" panose="020B0503020204020204" pitchFamily="34" charset="-122"/>
                  <a:cs typeface="Times New Roman" panose="02020603050405020304" pitchFamily="18" charset="0"/>
                </a:rPr>
                <a:t>虚线所</a:t>
              </a:r>
              <a:r>
                <a:rPr lang="zh-CN" altLang="zh-CN" sz="1800" i="0" dirty="0">
                  <a:ea typeface="微软雅黑" panose="020B0503020204020204" pitchFamily="34" charset="-122"/>
                  <a:cs typeface="Times New Roman" panose="02020603050405020304" pitchFamily="18" charset="0"/>
                </a:rPr>
                <a:t>示</a:t>
              </a:r>
              <a:r>
                <a:rPr lang="zh-CN" altLang="zh-CN" sz="1800" i="0" dirty="0"/>
                <a:t>。</a:t>
              </a:r>
              <a:endParaRPr lang="zh-CN" altLang="en-US" sz="1800" i="0" dirty="0">
                <a:ea typeface="微软雅黑" panose="020B0503020204020204" pitchFamily="34" charset="-122"/>
                <a:cs typeface="Times New Roman" panose="02020603050405020304" pitchFamily="18" charset="0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437843" y="4947390"/>
              <a:ext cx="523220" cy="656590"/>
            </a:xfrm>
            <a:prstGeom prst="rect">
              <a:avLst/>
            </a:prstGeom>
            <a:solidFill>
              <a:srgbClr val="FFFF00"/>
            </a:solidFill>
            <a:ln w="19050">
              <a:solidFill>
                <a:srgbClr val="FF0000"/>
              </a:solidFill>
            </a:ln>
          </p:spPr>
          <p:txBody>
            <a:bodyPr vert="eaVert" wrap="none" rtlCol="0">
              <a:spAutoFit/>
            </a:bodyPr>
            <a:lstStyle/>
            <a:p>
              <a:r>
                <a:rPr lang="zh-CN" altLang="en-US" sz="2200" dirty="0" smtClean="0">
                  <a:latin typeface="+mn-ea"/>
                  <a:ea typeface="+mn-ea"/>
                </a:rPr>
                <a:t>说明</a:t>
              </a:r>
              <a:endParaRPr lang="zh-CN" altLang="en-US" sz="2200" dirty="0">
                <a:latin typeface="+mn-ea"/>
                <a:ea typeface="+mn-ea"/>
              </a:endParaRPr>
            </a:p>
          </p:txBody>
        </p:sp>
      </p:grpSp>
      <p:sp>
        <p:nvSpPr>
          <p:cNvPr id="15" name="单圆角矩形 14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链传动的额定功率曲线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16" name="直角三角形 15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/>
          <p:cNvGrpSpPr/>
          <p:nvPr/>
        </p:nvGrpSpPr>
        <p:grpSpPr>
          <a:xfrm>
            <a:off x="323528" y="543133"/>
            <a:ext cx="2425203" cy="461665"/>
            <a:chOff x="323528" y="591216"/>
            <a:chExt cx="2425203" cy="461665"/>
          </a:xfrm>
        </p:grpSpPr>
        <p:sp>
          <p:nvSpPr>
            <p:cNvPr id="18" name="Text Box 5"/>
            <p:cNvSpPr txBox="1">
              <a:spLocks noChangeArrowheads="1"/>
            </p:cNvSpPr>
            <p:nvPr/>
          </p:nvSpPr>
          <p:spPr bwMode="auto">
            <a:xfrm>
              <a:off x="707788" y="591216"/>
              <a:ext cx="2040943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400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额定功率曲线</a:t>
              </a:r>
              <a:endParaRPr lang="zh-CN" altLang="en-US" sz="2400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19" name="Picture 15" descr="AR1031"/>
            <p:cNvPicPr>
              <a:picLocks noChangeAspect="1" noChangeArrowheads="1"/>
            </p:cNvPicPr>
            <p:nvPr/>
          </p:nvPicPr>
          <p:blipFill>
            <a:blip r:embed="rId6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</p:spTree>
    <p:extLst>
      <p:ext uri="{BB962C8B-B14F-4D97-AF65-F5344CB8AC3E}">
        <p14:creationId xmlns:p14="http://schemas.microsoft.com/office/powerpoint/2010/main" val="27959151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10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251521" y="1624855"/>
            <a:ext cx="5790412" cy="12326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0" marR="0" lvl="0" indent="0" algn="just" defTabSz="91440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rgbClr val="E2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特定条件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：</a:t>
            </a:r>
            <a:r>
              <a:rPr kumimoji="0" lang="en-US" altLang="zh-CN" sz="1900" b="1" i="1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/>
                <a:cs typeface="Times New Roman" panose="02020603050405020304" pitchFamily="18" charset="0"/>
              </a:rPr>
              <a:t>i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=3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、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z</a:t>
            </a:r>
            <a:r>
              <a:rPr kumimoji="0" lang="en-US" altLang="zh-CN" sz="1900" b="0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1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=19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、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L</a:t>
            </a:r>
            <a:r>
              <a:rPr kumimoji="0" lang="en-US" altLang="zh-CN" sz="1900" b="0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p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=120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、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L</a:t>
            </a:r>
            <a:r>
              <a:rPr kumimoji="0" lang="en-US" altLang="zh-CN" sz="1900" b="0" i="0" u="none" strike="noStrike" kern="0" cap="none" spc="0" normalizeH="0" baseline="-2500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h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=15000h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、工作温度</a:t>
            </a:r>
            <a:r>
              <a:rPr kumimoji="0" lang="en-US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-5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℃～</a:t>
            </a:r>
            <a:r>
              <a:rPr kumimoji="0" lang="en-US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70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℃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，单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排链，水平布置，润滑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良好（</a:t>
            </a:r>
            <a:r>
              <a:rPr kumimoji="0" lang="zh-CN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推荐</a:t>
            </a:r>
            <a:r>
              <a:rPr kumimoji="0" lang="zh-CN" altLang="zh-CN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的方式</a:t>
            </a:r>
            <a:r>
              <a:rPr kumimoji="0" lang="zh-CN" altLang="zh-CN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+mn-ea"/>
                <a:ea typeface="+mn-ea"/>
              </a:rPr>
              <a:t>润滑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），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载荷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平稳</a:t>
            </a:r>
            <a:r>
              <a:rPr kumimoji="0" lang="zh-CN" altLang="en-US" sz="1900" b="0" i="0" u="none" strike="noStrike" kern="0" cap="none" spc="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，绝无过载、</a:t>
            </a:r>
            <a:r>
              <a:rPr kumimoji="0" lang="zh-CN" altLang="en-US" sz="1900" b="0" i="0" u="none" strike="noStrike" kern="0" cap="none" spc="0" normalizeH="0" baseline="0" noProof="0" dirty="0" smtClean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/>
                <a:ea typeface="微软雅黑"/>
                <a:cs typeface="微软雅黑"/>
              </a:rPr>
              <a:t>振动。</a:t>
            </a:r>
            <a:endParaRPr kumimoji="0" lang="en-US" altLang="zh-CN" sz="19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微软雅黑"/>
              <a:ea typeface="微软雅黑"/>
              <a:cs typeface="微软雅黑"/>
            </a:endParaRPr>
          </a:p>
        </p:txBody>
      </p:sp>
      <p:sp>
        <p:nvSpPr>
          <p:cNvPr id="7" name="Line 37"/>
          <p:cNvSpPr>
            <a:spLocks noChangeShapeType="1"/>
          </p:cNvSpPr>
          <p:nvPr/>
        </p:nvSpPr>
        <p:spPr bwMode="auto">
          <a:xfrm flipH="1">
            <a:off x="4717090" y="1966913"/>
            <a:ext cx="1052513" cy="0"/>
          </a:xfrm>
          <a:prstGeom prst="line">
            <a:avLst/>
          </a:prstGeom>
          <a:noFill/>
          <a:ln w="9525">
            <a:noFill/>
            <a:round/>
            <a:headEnd/>
            <a:tailEnd/>
          </a:ln>
        </p:spPr>
        <p:txBody>
          <a:bodyPr wrap="none" lIns="90000" tIns="46800" rIns="90000" bIns="46800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</a:endParaRPr>
          </a:p>
        </p:txBody>
      </p:sp>
      <p:sp>
        <p:nvSpPr>
          <p:cNvPr id="8" name="Text Box 5"/>
          <p:cNvSpPr txBox="1">
            <a:spLocks noChangeArrowheads="1"/>
          </p:cNvSpPr>
          <p:nvPr/>
        </p:nvSpPr>
        <p:spPr bwMode="auto">
          <a:xfrm>
            <a:off x="251520" y="1176635"/>
            <a:ext cx="5790413" cy="3847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/>
            <a:r>
              <a:rPr lang="zh-CN" altLang="en-US" sz="1900" dirty="0">
                <a:latin typeface="微软雅黑"/>
                <a:ea typeface="微软雅黑"/>
                <a:cs typeface="微软雅黑"/>
              </a:rPr>
              <a:t>为</a:t>
            </a:r>
            <a:r>
              <a:rPr lang="zh-CN" altLang="en-US" sz="1900" dirty="0" smtClean="0">
                <a:latin typeface="微软雅黑"/>
                <a:ea typeface="微软雅黑"/>
                <a:cs typeface="微软雅黑"/>
              </a:rPr>
              <a:t>避免失效</a:t>
            </a:r>
            <a:r>
              <a:rPr lang="en-US" altLang="zh-CN" sz="1900" dirty="0" smtClean="0">
                <a:latin typeface="微软雅黑"/>
                <a:ea typeface="微软雅黑"/>
                <a:cs typeface="微软雅黑"/>
              </a:rPr>
              <a:t>——</a:t>
            </a:r>
            <a:r>
              <a:rPr lang="zh-CN" altLang="en-US" sz="1900" dirty="0">
                <a:latin typeface="微软雅黑"/>
                <a:ea typeface="微软雅黑"/>
                <a:cs typeface="微软雅黑"/>
              </a:rPr>
              <a:t>特定条件</a:t>
            </a:r>
            <a:r>
              <a:rPr lang="zh-CN" altLang="en-US" sz="1900" dirty="0" smtClean="0">
                <a:latin typeface="微软雅黑"/>
                <a:ea typeface="微软雅黑"/>
                <a:cs typeface="微软雅黑"/>
              </a:rPr>
              <a:t>下试验</a:t>
            </a:r>
            <a:r>
              <a:rPr lang="zh-CN" altLang="en-US" sz="1900" dirty="0">
                <a:latin typeface="微软雅黑"/>
                <a:ea typeface="微软雅黑"/>
                <a:cs typeface="微软雅黑"/>
              </a:rPr>
              <a:t>曲线（额定功率曲线）</a:t>
            </a:r>
          </a:p>
        </p:txBody>
      </p:sp>
      <p:grpSp>
        <p:nvGrpSpPr>
          <p:cNvPr id="9" name="组合 8"/>
          <p:cNvGrpSpPr/>
          <p:nvPr/>
        </p:nvGrpSpPr>
        <p:grpSpPr>
          <a:xfrm>
            <a:off x="353301" y="595635"/>
            <a:ext cx="2203258" cy="461665"/>
            <a:chOff x="547688" y="673656"/>
            <a:chExt cx="2203258" cy="461665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733939" y="673656"/>
              <a:ext cx="201700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额定功率</a:t>
              </a:r>
              <a:r>
                <a:rPr lang="en-US" altLang="zh-CN" sz="2400" b="1" dirty="0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P</a:t>
              </a:r>
              <a:r>
                <a:rPr lang="en-US" altLang="zh-CN" sz="2400" b="1" baseline="-25000" dirty="0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0</a:t>
              </a:r>
              <a:endParaRPr lang="zh-CN" altLang="en-US" sz="2400" b="1" baseline="-25000" dirty="0">
                <a:solidFill>
                  <a:srgbClr val="FFC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47688" y="836067"/>
              <a:ext cx="147637" cy="149225"/>
            </a:xfrm>
            <a:prstGeom prst="ellipse">
              <a:avLst/>
            </a:prstGeom>
            <a:solidFill>
              <a:srgbClr val="00FF00"/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252065" y="4765428"/>
            <a:ext cx="8791576" cy="825563"/>
            <a:chOff x="487165" y="3911604"/>
            <a:chExt cx="8791576" cy="825563"/>
          </a:xfrm>
        </p:grpSpPr>
        <p:grpSp>
          <p:nvGrpSpPr>
            <p:cNvPr id="13" name="Group 21"/>
            <p:cNvGrpSpPr>
              <a:grpSpLocks/>
            </p:cNvGrpSpPr>
            <p:nvPr/>
          </p:nvGrpSpPr>
          <p:grpSpPr bwMode="auto">
            <a:xfrm>
              <a:off x="487165" y="3911604"/>
              <a:ext cx="8791576" cy="369888"/>
              <a:chOff x="1022" y="2109"/>
              <a:chExt cx="5538" cy="233"/>
            </a:xfrm>
          </p:grpSpPr>
          <p:sp>
            <p:nvSpPr>
              <p:cNvPr id="18" name="Text Box 6"/>
              <p:cNvSpPr txBox="1">
                <a:spLocks noChangeArrowheads="1"/>
              </p:cNvSpPr>
              <p:nvPr/>
            </p:nvSpPr>
            <p:spPr bwMode="auto">
              <a:xfrm>
                <a:off x="1022" y="2109"/>
                <a:ext cx="586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zh-CN" altLang="en-US" dirty="0">
                    <a:latin typeface="微软雅黑"/>
                    <a:ea typeface="微软雅黑"/>
                    <a:cs typeface="微软雅黑"/>
                  </a:rPr>
                  <a:t>式中：</a:t>
                </a:r>
              </a:p>
            </p:txBody>
          </p:sp>
          <p:sp>
            <p:nvSpPr>
              <p:cNvPr id="19" name="Text Box 7"/>
              <p:cNvSpPr txBox="1">
                <a:spLocks noChangeArrowheads="1"/>
              </p:cNvSpPr>
              <p:nvPr/>
            </p:nvSpPr>
            <p:spPr bwMode="auto">
              <a:xfrm>
                <a:off x="3762" y="2109"/>
                <a:ext cx="2798" cy="23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r>
                  <a:rPr lang="en-US" altLang="zh-CN" i="1" dirty="0" smtClean="0"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</a:rPr>
                  <a:t>K</a:t>
                </a:r>
                <a:r>
                  <a:rPr lang="en-US" altLang="zh-CN" baseline="-25000" dirty="0" smtClean="0">
                    <a:latin typeface="微软雅黑"/>
                    <a:ea typeface="微软雅黑"/>
                    <a:cs typeface="微软雅黑"/>
                  </a:rPr>
                  <a:t>z</a:t>
                </a:r>
                <a:r>
                  <a:rPr lang="en-US" altLang="zh-CN" dirty="0" smtClean="0">
                    <a:latin typeface="微软雅黑"/>
                    <a:ea typeface="微软雅黑"/>
                    <a:cs typeface="微软雅黑"/>
                  </a:rPr>
                  <a:t>—</a:t>
                </a:r>
                <a:r>
                  <a:rPr lang="zh-CN" altLang="en-US" dirty="0" smtClean="0">
                    <a:latin typeface="微软雅黑"/>
                    <a:ea typeface="微软雅黑"/>
                    <a:cs typeface="微软雅黑"/>
                  </a:rPr>
                  <a:t>小链轮</a:t>
                </a:r>
                <a:r>
                  <a:rPr lang="zh-CN" altLang="en-US" dirty="0">
                    <a:latin typeface="微软雅黑"/>
                    <a:ea typeface="微软雅黑"/>
                    <a:cs typeface="微软雅黑"/>
                  </a:rPr>
                  <a:t>齿数系数，</a:t>
                </a:r>
                <a:r>
                  <a:rPr lang="en-US" altLang="zh-CN" dirty="0"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</a:rPr>
                  <a:t>z</a:t>
                </a:r>
                <a:r>
                  <a:rPr lang="en-US" altLang="zh-CN" baseline="-25000" dirty="0">
                    <a:latin typeface="微软雅黑"/>
                    <a:ea typeface="微软雅黑"/>
                    <a:cs typeface="微软雅黑"/>
                  </a:rPr>
                  <a:t>1</a:t>
                </a:r>
                <a:r>
                  <a:rPr lang="zh-CN" altLang="en-US" dirty="0">
                    <a:latin typeface="微软雅黑"/>
                    <a:ea typeface="微软雅黑"/>
                    <a:cs typeface="微软雅黑"/>
                  </a:rPr>
                  <a:t>＜</a:t>
                </a:r>
                <a:r>
                  <a:rPr lang="en-US" altLang="zh-CN" dirty="0">
                    <a:latin typeface="微软雅黑"/>
                    <a:ea typeface="微软雅黑"/>
                    <a:cs typeface="微软雅黑"/>
                  </a:rPr>
                  <a:t>19</a:t>
                </a:r>
                <a:r>
                  <a:rPr lang="zh-CN" altLang="en-US" dirty="0">
                    <a:latin typeface="微软雅黑"/>
                    <a:ea typeface="微软雅黑"/>
                    <a:cs typeface="微软雅黑"/>
                  </a:rPr>
                  <a:t>时</a:t>
                </a:r>
                <a:r>
                  <a:rPr lang="zh-CN" altLang="en-US" dirty="0" smtClean="0">
                    <a:latin typeface="微软雅黑"/>
                    <a:ea typeface="微软雅黑"/>
                    <a:cs typeface="微软雅黑"/>
                  </a:rPr>
                  <a:t>，</a:t>
                </a:r>
                <a:r>
                  <a:rPr lang="en-US" altLang="zh-CN" i="1" dirty="0" smtClean="0">
                    <a:latin typeface="Times New Roman" panose="02020603050405020304" pitchFamily="18" charset="0"/>
                    <a:ea typeface="微软雅黑"/>
                    <a:cs typeface="Times New Roman" panose="02020603050405020304" pitchFamily="18" charset="0"/>
                  </a:rPr>
                  <a:t>K</a:t>
                </a:r>
                <a:r>
                  <a:rPr lang="en-US" altLang="zh-CN" baseline="-25000" dirty="0" smtClean="0">
                    <a:latin typeface="微软雅黑"/>
                    <a:ea typeface="微软雅黑"/>
                    <a:cs typeface="微软雅黑"/>
                  </a:rPr>
                  <a:t>z</a:t>
                </a:r>
                <a:r>
                  <a:rPr lang="zh-CN" altLang="en-US" dirty="0">
                    <a:latin typeface="微软雅黑"/>
                    <a:ea typeface="微软雅黑"/>
                    <a:cs typeface="微软雅黑"/>
                  </a:rPr>
                  <a:t>＜</a:t>
                </a:r>
                <a:r>
                  <a:rPr lang="en-US" altLang="zh-CN" dirty="0">
                    <a:latin typeface="微软雅黑"/>
                    <a:ea typeface="微软雅黑"/>
                    <a:cs typeface="微软雅黑"/>
                  </a:rPr>
                  <a:t>1</a:t>
                </a:r>
                <a:r>
                  <a:rPr lang="zh-CN" altLang="en-US" dirty="0">
                    <a:latin typeface="微软雅黑"/>
                    <a:ea typeface="微软雅黑"/>
                    <a:cs typeface="微软雅黑"/>
                  </a:rPr>
                  <a:t>；</a:t>
                </a:r>
                <a:r>
                  <a:rPr lang="en-US" altLang="zh-CN" dirty="0">
                    <a:latin typeface="微软雅黑"/>
                    <a:ea typeface="微软雅黑"/>
                    <a:cs typeface="微软雅黑"/>
                  </a:rPr>
                  <a:t> </a:t>
                </a:r>
              </a:p>
            </p:txBody>
          </p:sp>
        </p:grpSp>
        <p:sp>
          <p:nvSpPr>
            <p:cNvPr id="14" name="Text Box 8"/>
            <p:cNvSpPr txBox="1">
              <a:spLocks noChangeArrowheads="1"/>
            </p:cNvSpPr>
            <p:nvPr/>
          </p:nvSpPr>
          <p:spPr bwMode="auto">
            <a:xfrm>
              <a:off x="1259632" y="4367835"/>
              <a:ext cx="186461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K</a:t>
              </a:r>
              <a:r>
                <a:rPr lang="en-US" altLang="zh-CN" baseline="-25000" dirty="0" smtClean="0">
                  <a:latin typeface="微软雅黑"/>
                  <a:ea typeface="微软雅黑"/>
                  <a:cs typeface="微软雅黑"/>
                </a:rPr>
                <a:t>A</a:t>
              </a:r>
              <a:r>
                <a:rPr lang="en-US" altLang="zh-CN" dirty="0" smtClean="0">
                  <a:latin typeface="微软雅黑"/>
                  <a:ea typeface="微软雅黑"/>
                  <a:cs typeface="微软雅黑"/>
                </a:rPr>
                <a:t>—</a:t>
              </a:r>
              <a:r>
                <a:rPr lang="zh-CN" altLang="en-US" dirty="0" smtClean="0">
                  <a:latin typeface="微软雅黑"/>
                  <a:ea typeface="微软雅黑"/>
                  <a:cs typeface="微软雅黑"/>
                </a:rPr>
                <a:t>使用</a:t>
              </a:r>
              <a:r>
                <a:rPr lang="zh-CN" altLang="en-US" dirty="0">
                  <a:latin typeface="微软雅黑"/>
                  <a:ea typeface="微软雅黑"/>
                  <a:cs typeface="微软雅黑"/>
                </a:rPr>
                <a:t>系数；</a:t>
              </a:r>
            </a:p>
          </p:txBody>
        </p:sp>
        <p:sp>
          <p:nvSpPr>
            <p:cNvPr id="15" name="Text Box 9"/>
            <p:cNvSpPr txBox="1">
              <a:spLocks noChangeArrowheads="1"/>
            </p:cNvSpPr>
            <p:nvPr/>
          </p:nvSpPr>
          <p:spPr bwMode="auto">
            <a:xfrm>
              <a:off x="3107209" y="3912160"/>
              <a:ext cx="1888659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 smtClean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P</a:t>
              </a:r>
              <a:r>
                <a:rPr lang="en-US" altLang="zh-CN" baseline="-25000" dirty="0" smtClean="0">
                  <a:latin typeface="微软雅黑"/>
                  <a:ea typeface="微软雅黑"/>
                  <a:cs typeface="微软雅黑"/>
                </a:rPr>
                <a:t>0</a:t>
              </a:r>
              <a:r>
                <a:rPr lang="en-US" altLang="zh-CN" dirty="0" smtClean="0">
                  <a:latin typeface="微软雅黑"/>
                  <a:ea typeface="微软雅黑"/>
                  <a:cs typeface="微软雅黑"/>
                </a:rPr>
                <a:t> —</a:t>
              </a:r>
              <a:r>
                <a:rPr lang="zh-CN" altLang="en-US" dirty="0" smtClean="0">
                  <a:latin typeface="微软雅黑"/>
                  <a:ea typeface="微软雅黑"/>
                  <a:cs typeface="微软雅黑"/>
                </a:rPr>
                <a:t>额定功率</a:t>
              </a:r>
              <a:r>
                <a:rPr lang="zh-CN" altLang="en-US" dirty="0">
                  <a:latin typeface="微软雅黑"/>
                  <a:ea typeface="微软雅黑"/>
                  <a:cs typeface="微软雅黑"/>
                </a:rPr>
                <a:t>；</a:t>
              </a:r>
            </a:p>
          </p:txBody>
        </p:sp>
        <p:sp>
          <p:nvSpPr>
            <p:cNvPr id="16" name="Text Box 9"/>
            <p:cNvSpPr txBox="1">
              <a:spLocks noChangeArrowheads="1"/>
            </p:cNvSpPr>
            <p:nvPr/>
          </p:nvSpPr>
          <p:spPr bwMode="auto">
            <a:xfrm>
              <a:off x="1259632" y="3912160"/>
              <a:ext cx="1901483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US" altLang="zh-CN" i="1" dirty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P</a:t>
              </a:r>
              <a:r>
                <a:rPr lang="en-US" altLang="zh-CN" baseline="-25000" dirty="0">
                  <a:latin typeface="微软雅黑"/>
                  <a:ea typeface="微软雅黑"/>
                  <a:cs typeface="微软雅黑"/>
                </a:rPr>
                <a:t>C</a:t>
              </a:r>
              <a:r>
                <a:rPr lang="en-US" altLang="zh-CN" dirty="0">
                  <a:latin typeface="微软雅黑"/>
                  <a:ea typeface="微软雅黑"/>
                  <a:cs typeface="微软雅黑"/>
                </a:rPr>
                <a:t> </a:t>
              </a:r>
              <a:r>
                <a:rPr lang="en-US" altLang="zh-CN" dirty="0" smtClean="0">
                  <a:latin typeface="微软雅黑"/>
                  <a:ea typeface="微软雅黑"/>
                  <a:cs typeface="微软雅黑"/>
                </a:rPr>
                <a:t>—</a:t>
              </a:r>
              <a:r>
                <a:rPr lang="zh-CN" altLang="en-US" dirty="0" smtClean="0">
                  <a:latin typeface="微软雅黑"/>
                  <a:ea typeface="微软雅黑"/>
                  <a:cs typeface="微软雅黑"/>
                </a:rPr>
                <a:t>计算</a:t>
              </a:r>
              <a:r>
                <a:rPr lang="zh-CN" altLang="en-US" dirty="0">
                  <a:latin typeface="微软雅黑"/>
                  <a:ea typeface="微软雅黑"/>
                  <a:cs typeface="微软雅黑"/>
                </a:rPr>
                <a:t>功率；</a:t>
              </a:r>
            </a:p>
          </p:txBody>
        </p:sp>
        <p:sp>
          <p:nvSpPr>
            <p:cNvPr id="17" name="Text Box 8"/>
            <p:cNvSpPr txBox="1">
              <a:spLocks noChangeArrowheads="1"/>
            </p:cNvSpPr>
            <p:nvPr/>
          </p:nvSpPr>
          <p:spPr bwMode="auto">
            <a:xfrm>
              <a:off x="3103406" y="4363221"/>
              <a:ext cx="2899254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en-US" altLang="zh-CN" i="1" dirty="0" smtClean="0">
                  <a:latin typeface="Times New Roman" panose="02020603050405020304" pitchFamily="18" charset="0"/>
                  <a:ea typeface="微软雅黑"/>
                  <a:cs typeface="Times New Roman" panose="02020603050405020304" pitchFamily="18" charset="0"/>
                </a:rPr>
                <a:t>K</a:t>
              </a:r>
              <a:r>
                <a:rPr lang="en-US" altLang="zh-CN" baseline="-25000" dirty="0" smtClean="0">
                  <a:latin typeface="微软雅黑"/>
                  <a:ea typeface="微软雅黑"/>
                  <a:cs typeface="微软雅黑"/>
                </a:rPr>
                <a:t>p</a:t>
              </a:r>
              <a:r>
                <a:rPr lang="en-US" altLang="zh-CN" dirty="0" smtClean="0">
                  <a:latin typeface="微软雅黑"/>
                  <a:ea typeface="微软雅黑"/>
                  <a:cs typeface="微软雅黑"/>
                </a:rPr>
                <a:t>—</a:t>
              </a:r>
              <a:r>
                <a:rPr lang="zh-CN" altLang="en-US" dirty="0" smtClean="0">
                  <a:latin typeface="微软雅黑"/>
                  <a:ea typeface="微软雅黑"/>
                  <a:cs typeface="微软雅黑"/>
                </a:rPr>
                <a:t>多</a:t>
              </a:r>
              <a:r>
                <a:rPr lang="zh-CN" altLang="en-US" dirty="0">
                  <a:latin typeface="微软雅黑"/>
                  <a:ea typeface="微软雅黑"/>
                  <a:cs typeface="微软雅黑"/>
                </a:rPr>
                <a:t>排</a:t>
              </a:r>
              <a:r>
                <a:rPr lang="zh-CN" altLang="en-US" dirty="0" smtClean="0">
                  <a:latin typeface="微软雅黑"/>
                  <a:ea typeface="微软雅黑"/>
                  <a:cs typeface="微软雅黑"/>
                </a:rPr>
                <a:t>链的排数系数</a:t>
              </a:r>
              <a:endParaRPr lang="zh-CN" altLang="en-US" dirty="0"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25" name="Rectangle 5">
            <a:extLst>
              <a:ext uri="{FF2B5EF4-FFF2-40B4-BE49-F238E27FC236}">
                <a16:creationId xmlns="" xmlns:a16="http://schemas.microsoft.com/office/drawing/2014/main" id="{07A212DD-E736-4A1B-9368-DE6C2F72D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3073524"/>
            <a:ext cx="3037427" cy="482557"/>
          </a:xfrm>
          <a:prstGeom prst="rect">
            <a:avLst/>
          </a:prstGeom>
          <a:solidFill>
            <a:srgbClr val="0000B9">
              <a:lumMod val="10000"/>
              <a:lumOff val="90000"/>
            </a:srgbClr>
          </a:solidFill>
          <a:ln w="9525">
            <a:solidFill>
              <a:srgbClr val="C00000"/>
            </a:solidFill>
            <a:miter lim="800000"/>
            <a:headEnd/>
            <a:tailEnd/>
          </a:ln>
        </p:spPr>
        <p:txBody>
          <a:bodyPr tIns="72000"/>
          <a:lstStyle/>
          <a:p>
            <a:pPr marL="342900" marR="0" lvl="0" indent="-34290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Times New Roman" pitchFamily="18" charset="0"/>
              </a:rPr>
              <a:t>实际情况≠实验条件</a:t>
            </a:r>
            <a:endParaRPr kumimoji="1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Times New Roman" pitchFamily="18" charset="0"/>
            </a:endParaRPr>
          </a:p>
        </p:txBody>
      </p:sp>
      <p:sp>
        <p:nvSpPr>
          <p:cNvPr id="28" name="单圆角矩形 27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9" name="直角三角形 28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0" name="Object 20">
            <a:extLst>
              <a:ext uri="{FF2B5EF4-FFF2-40B4-BE49-F238E27FC236}">
                <a16:creationId xmlns="" xmlns:a16="http://schemas.microsoft.com/office/drawing/2014/main" id="{8B4F4250-6A78-4055-95EE-4738B5641FD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341793" y="3956070"/>
          <a:ext cx="2687637" cy="43693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1746" name="Equation" r:id="rId3" imgW="1409400" imgH="228600" progId="Equation.DSMT4">
                  <p:embed/>
                </p:oleObj>
              </mc:Choice>
              <mc:Fallback>
                <p:oleObj name="Equation" r:id="rId3" imgW="140940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1793" y="3956070"/>
                        <a:ext cx="2687637" cy="43693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 Box 10">
            <a:extLst>
              <a:ext uri="{FF2B5EF4-FFF2-40B4-BE49-F238E27FC236}">
                <a16:creationId xmlns="" xmlns:a16="http://schemas.microsoft.com/office/drawing/2014/main" id="{6EF123DC-A5AA-4F27-A656-EBCB10B5A4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60232" y="3677838"/>
            <a:ext cx="2232248" cy="904863"/>
          </a:xfrm>
          <a:prstGeom prst="rect">
            <a:avLst/>
          </a:prstGeom>
          <a:solidFill>
            <a:srgbClr val="B8E08C"/>
          </a:solidFill>
          <a:ln w="9525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30000"/>
              </a:spcBef>
              <a:defRPr/>
            </a:pPr>
            <a:r>
              <a:rPr kumimoji="1" lang="zh-CN" altLang="en-US" sz="1600" dirty="0" smtClean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设计</a:t>
            </a:r>
            <a:r>
              <a:rPr kumimoji="1" lang="zh-CN" altLang="en-US" sz="16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时，按上式求出 </a:t>
            </a:r>
            <a:r>
              <a:rPr kumimoji="1" lang="en-US" altLang="zh-CN" sz="16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1600" baseline="-250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0 </a:t>
            </a:r>
            <a:r>
              <a:rPr kumimoji="1" lang="en-US" altLang="zh-CN" sz="16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(=P</a:t>
            </a:r>
            <a:r>
              <a:rPr kumimoji="1" lang="en-US" altLang="zh-CN" sz="1600" baseline="-250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c</a:t>
            </a:r>
            <a:r>
              <a:rPr kumimoji="1" lang="en-US" altLang="zh-CN" sz="16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)→</a:t>
            </a:r>
            <a:r>
              <a:rPr kumimoji="1" lang="zh-CN" altLang="en-US" sz="16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由 </a:t>
            </a:r>
            <a:r>
              <a:rPr kumimoji="1" lang="en-US" altLang="zh-CN" sz="1600" dirty="0">
                <a:solidFill>
                  <a:srgbClr val="FF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P</a:t>
            </a:r>
            <a:r>
              <a:rPr kumimoji="1" lang="en-US" altLang="zh-CN" sz="1600" baseline="-25000" dirty="0">
                <a:solidFill>
                  <a:srgbClr val="FF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0</a:t>
            </a:r>
            <a:r>
              <a:rPr kumimoji="1"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、</a:t>
            </a:r>
            <a:r>
              <a:rPr kumimoji="1" lang="en-US" altLang="zh-CN" sz="1600" dirty="0">
                <a:solidFill>
                  <a:srgbClr val="FF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n</a:t>
            </a:r>
            <a:r>
              <a:rPr kumimoji="1" lang="en-US" altLang="zh-CN" sz="1600" baseline="-25000" dirty="0">
                <a:solidFill>
                  <a:srgbClr val="FF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1</a:t>
            </a:r>
            <a:r>
              <a:rPr kumimoji="1" lang="zh-CN" altLang="en-US" sz="16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在图中确定</a:t>
            </a:r>
            <a:r>
              <a:rPr kumimoji="1" lang="zh-CN" altLang="en-US" sz="1600" dirty="0">
                <a:solidFill>
                  <a:srgbClr val="FF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链号</a:t>
            </a:r>
            <a:r>
              <a:rPr kumimoji="1" lang="zh-CN" altLang="en-US" sz="16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。</a:t>
            </a:r>
          </a:p>
        </p:txBody>
      </p:sp>
      <p:pic>
        <p:nvPicPr>
          <p:cNvPr id="33" name="Picture 2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5804"/>
          <a:stretch/>
        </p:blipFill>
        <p:spPr bwMode="auto">
          <a:xfrm>
            <a:off x="6109076" y="501443"/>
            <a:ext cx="2877082" cy="2820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27" name="组合 26"/>
          <p:cNvGrpSpPr/>
          <p:nvPr/>
        </p:nvGrpSpPr>
        <p:grpSpPr>
          <a:xfrm>
            <a:off x="3428098" y="3086998"/>
            <a:ext cx="3176875" cy="461665"/>
            <a:chOff x="3647780" y="3105306"/>
            <a:chExt cx="3176875" cy="461665"/>
          </a:xfrm>
        </p:grpSpPr>
        <p:sp>
          <p:nvSpPr>
            <p:cNvPr id="5" name="Text Box 4"/>
            <p:cNvSpPr txBox="1">
              <a:spLocks noChangeArrowheads="1"/>
            </p:cNvSpPr>
            <p:nvPr/>
          </p:nvSpPr>
          <p:spPr bwMode="auto">
            <a:xfrm>
              <a:off x="4215618" y="3105306"/>
              <a:ext cx="2609037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dirty="0">
                  <a:solidFill>
                    <a:srgbClr val="E20000"/>
                  </a:solidFill>
                  <a:latin typeface="微软雅黑"/>
                  <a:ea typeface="微软雅黑"/>
                  <a:cs typeface="微软雅黑"/>
                </a:rPr>
                <a:t>实际</a:t>
              </a:r>
              <a:r>
                <a:rPr lang="zh-CN" altLang="en-US" sz="2400" dirty="0" smtClean="0">
                  <a:solidFill>
                    <a:srgbClr val="E20000"/>
                  </a:solidFill>
                  <a:latin typeface="微软雅黑"/>
                  <a:ea typeface="微软雅黑"/>
                  <a:cs typeface="微软雅黑"/>
                </a:rPr>
                <a:t>使用需修正：</a:t>
              </a:r>
              <a:endParaRPr lang="zh-CN" altLang="en-US" sz="2400" dirty="0">
                <a:solidFill>
                  <a:srgbClr val="E20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6" name="AutoShape 7"/>
            <p:cNvSpPr>
              <a:spLocks noChangeArrowheads="1"/>
            </p:cNvSpPr>
            <p:nvPr/>
          </p:nvSpPr>
          <p:spPr bwMode="auto">
            <a:xfrm>
              <a:off x="3647780" y="3261809"/>
              <a:ext cx="567838" cy="160761"/>
            </a:xfrm>
            <a:prstGeom prst="rightArrow">
              <a:avLst>
                <a:gd name="adj1" fmla="val 50000"/>
                <a:gd name="adj2" fmla="val 116860"/>
              </a:avLst>
            </a:prstGeom>
            <a:noFill/>
            <a:ln w="1905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4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宋体" charset="-122"/>
              </a:endParaRPr>
            </a:p>
          </p:txBody>
        </p:sp>
      </p:grpSp>
      <p:grpSp>
        <p:nvGrpSpPr>
          <p:cNvPr id="6" name="组合 5"/>
          <p:cNvGrpSpPr/>
          <p:nvPr/>
        </p:nvGrpSpPr>
        <p:grpSpPr>
          <a:xfrm>
            <a:off x="3218136" y="3795337"/>
            <a:ext cx="3191227" cy="815550"/>
            <a:chOff x="3218136" y="3795337"/>
            <a:chExt cx="3191227" cy="815550"/>
          </a:xfrm>
        </p:grpSpPr>
        <p:grpSp>
          <p:nvGrpSpPr>
            <p:cNvPr id="35" name="组合 34"/>
            <p:cNvGrpSpPr/>
            <p:nvPr/>
          </p:nvGrpSpPr>
          <p:grpSpPr>
            <a:xfrm>
              <a:off x="3218136" y="3795337"/>
              <a:ext cx="3191227" cy="815550"/>
              <a:chOff x="4125479" y="3795337"/>
              <a:chExt cx="3191227" cy="815550"/>
            </a:xfrm>
          </p:grpSpPr>
          <p:graphicFrame>
            <p:nvGraphicFramePr>
              <p:cNvPr id="31" name="Object 20">
                <a:extLst>
                  <a:ext uri="{FF2B5EF4-FFF2-40B4-BE49-F238E27FC236}">
                    <a16:creationId xmlns="" xmlns:a16="http://schemas.microsoft.com/office/drawing/2014/main" id="{0D2E23AF-CAC2-4268-9840-31875E4EEB07}"/>
                  </a:ext>
                </a:extLst>
              </p:cNvPr>
              <p:cNvGraphicFramePr>
                <a:graphicFrameLocks noChangeAspect="1"/>
              </p:cNvGraphicFramePr>
              <p:nvPr>
                <p:extLst/>
              </p:nvPr>
            </p:nvGraphicFramePr>
            <p:xfrm>
              <a:off x="4607720" y="3795337"/>
              <a:ext cx="2708986" cy="81555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spid="_x0000_s5961747" name="Equation" r:id="rId6" imgW="1435100" imgH="431800" progId="Equation.DSMT4">
                      <p:embed/>
                    </p:oleObj>
                  </mc:Choice>
                  <mc:Fallback>
                    <p:oleObj name="Equation" r:id="rId6" imgW="1435100" imgH="431800" progId="Equation.DSMT4">
                      <p:embed/>
                      <p:pic>
                        <p:nvPicPr>
                          <p:cNvPr id="0" name="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7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607720" y="3795337"/>
                            <a:ext cx="2708986" cy="81555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ffectLst/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32" name="文本框 31"/>
              <p:cNvSpPr txBox="1"/>
              <p:nvPr/>
            </p:nvSpPr>
            <p:spPr>
              <a:xfrm>
                <a:off x="4125479" y="3944022"/>
                <a:ext cx="466794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200" dirty="0" smtClean="0">
                    <a:latin typeface="+mn-ea"/>
                    <a:ea typeface="+mn-ea"/>
                  </a:rPr>
                  <a:t>或</a:t>
                </a:r>
                <a:endParaRPr lang="zh-CN" altLang="en-US" sz="2200" dirty="0">
                  <a:latin typeface="+mn-ea"/>
                  <a:ea typeface="+mn-ea"/>
                </a:endParaRPr>
              </a:p>
            </p:txBody>
          </p:sp>
        </p:grpSp>
        <p:sp>
          <p:nvSpPr>
            <p:cNvPr id="3" name="文本框 2"/>
            <p:cNvSpPr txBox="1"/>
            <p:nvPr/>
          </p:nvSpPr>
          <p:spPr>
            <a:xfrm>
              <a:off x="4760768" y="4354447"/>
              <a:ext cx="126120" cy="215444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lIns="0" tIns="0" rIns="36000" bIns="0" rtlCol="0">
              <a:spAutoFit/>
            </a:bodyPr>
            <a:lstStyle/>
            <a:p>
              <a:r>
                <a:rPr lang="en-US" altLang="zh-CN" sz="1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p</a:t>
              </a:r>
              <a:endParaRPr lang="zh-CN" altLang="en-US" sz="1400" i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940956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500"/>
                            </p:stCondLst>
                            <p:childTnLst>
                              <p:par>
                                <p:cTn id="4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25" grpId="0" animBg="1"/>
      <p:bldP spid="34" grpId="0" animBg="1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543425"/>
            <a:ext cx="4536504" cy="492443"/>
            <a:chOff x="323528" y="564857"/>
            <a:chExt cx="4536504" cy="492443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4176464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设计计算</a:t>
              </a:r>
              <a:r>
                <a:rPr lang="zh-CN" altLang="en-US" sz="2600" b="1" dirty="0">
                  <a:solidFill>
                    <a:srgbClr val="000099"/>
                  </a:solidFill>
                  <a:latin typeface="黑体" pitchFamily="49" charset="-122"/>
                </a:rPr>
                <a:t>步骤</a:t>
              </a:r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与参数选择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" name="Picture 15" descr="AR1031"/>
            <p:cNvPicPr>
              <a:picLocks noChangeAspect="1" noChangeArrowheads="1"/>
            </p:cNvPicPr>
            <p:nvPr/>
          </p:nvPicPr>
          <p:blipFill>
            <a:blip r:embed="rId3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sp>
        <p:nvSpPr>
          <p:cNvPr id="7" name="单圆角矩形 6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链传动的设计计算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8" name="直角三角形 7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547688" y="1204973"/>
            <a:ext cx="2631838" cy="461665"/>
            <a:chOff x="547688" y="1252211"/>
            <a:chExt cx="2631838" cy="461665"/>
          </a:xfrm>
        </p:grpSpPr>
        <p:sp>
          <p:nvSpPr>
            <p:cNvPr id="10" name="Text Box 4"/>
            <p:cNvSpPr txBox="1">
              <a:spLocks noChangeArrowheads="1"/>
            </p:cNvSpPr>
            <p:nvPr/>
          </p:nvSpPr>
          <p:spPr bwMode="auto">
            <a:xfrm>
              <a:off x="702752" y="1252211"/>
              <a:ext cx="2476774" cy="46166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400" b="1" dirty="0" smtClean="0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设计计算的步骤</a:t>
              </a:r>
              <a:endParaRPr lang="zh-CN" altLang="en-US" sz="2400" b="1" dirty="0">
                <a:solidFill>
                  <a:srgbClr val="FFC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547688" y="1412131"/>
              <a:ext cx="147637" cy="149225"/>
            </a:xfrm>
            <a:prstGeom prst="ellipse">
              <a:avLst/>
            </a:prstGeom>
            <a:solidFill>
              <a:srgbClr val="00FF00"/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sp>
        <p:nvSpPr>
          <p:cNvPr id="23" name="Text Box 5">
            <a:extLst>
              <a:ext uri="{FF2B5EF4-FFF2-40B4-BE49-F238E27FC236}">
                <a16:creationId xmlns="" xmlns:a16="http://schemas.microsoft.com/office/drawing/2014/main" id="{E1EF9A76-0149-4E43-B872-7732966D2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1803159"/>
            <a:ext cx="3335795" cy="4478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105000"/>
              </a:lnSpc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1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）选择链轮齿数 </a:t>
            </a:r>
            <a:r>
              <a:rPr lang="en-US" altLang="zh-CN" sz="2200" b="1" i="1" dirty="0">
                <a:solidFill>
                  <a:srgbClr val="000000"/>
                </a:solidFill>
                <a:ea typeface="微软雅黑" panose="020B0503020204020204" pitchFamily="34" charset="-122"/>
              </a:rPr>
              <a:t>z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</a:rPr>
              <a:t>1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、</a:t>
            </a:r>
            <a:r>
              <a:rPr lang="en-US" altLang="zh-CN" sz="2200" b="1" i="1" dirty="0">
                <a:solidFill>
                  <a:srgbClr val="000000"/>
                </a:solidFill>
                <a:ea typeface="微软雅黑" panose="020B0503020204020204" pitchFamily="34" charset="-122"/>
              </a:rPr>
              <a:t>z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</a:rPr>
              <a:t>2</a:t>
            </a:r>
            <a:endParaRPr kumimoji="0" lang="zh-CN" altLang="en-US" sz="2200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24" name="Text Box 6">
            <a:extLst>
              <a:ext uri="{FF2B5EF4-FFF2-40B4-BE49-F238E27FC236}">
                <a16:creationId xmlns="" xmlns:a16="http://schemas.microsoft.com/office/drawing/2014/main" id="{1BF95873-07D2-4B61-89F7-E38822897F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2459496"/>
            <a:ext cx="4725525" cy="3801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lnSpc>
                <a:spcPct val="85000"/>
              </a:lnSpc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2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）确定 </a:t>
            </a:r>
            <a:r>
              <a:rPr lang="en-US" altLang="zh-CN" sz="2200" b="1" i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L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和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实际 </a:t>
            </a:r>
            <a:r>
              <a:rPr lang="en-US" altLang="zh-CN" sz="2200" b="1" i="1" dirty="0">
                <a:solidFill>
                  <a:srgbClr val="000000"/>
                </a:solidFill>
                <a:ea typeface="Arial Unicode MS" pitchFamily="34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25" name="Text Box 2">
            <a:extLst>
              <a:ext uri="{FF2B5EF4-FFF2-40B4-BE49-F238E27FC236}">
                <a16:creationId xmlns="" xmlns:a16="http://schemas.microsoft.com/office/drawing/2014/main" id="{EBE37280-EE6F-4808-8A97-FB8AC0C6BD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9" y="4264407"/>
            <a:ext cx="308820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5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）计算作用轴上载荷</a:t>
            </a:r>
            <a:endParaRPr lang="en-US" altLang="en-US" sz="2200" b="1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26" name="Text Box 5">
            <a:extLst>
              <a:ext uri="{FF2B5EF4-FFF2-40B4-BE49-F238E27FC236}">
                <a16:creationId xmlns="" xmlns:a16="http://schemas.microsoft.com/office/drawing/2014/main" id="{BB9EF3AB-5B4A-4AEB-A0A6-D7F01B3271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8" y="3027750"/>
            <a:ext cx="4248150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3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计算传动功率  </a:t>
            </a:r>
            <a:r>
              <a:rPr lang="en-US" altLang="zh-CN" sz="2200" b="1" i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0</a:t>
            </a:r>
            <a:endParaRPr kumimoji="0" lang="en-US" altLang="zh-CN" sz="2200" dirty="0">
              <a:solidFill>
                <a:srgbClr val="000000"/>
              </a:solidFill>
              <a:ea typeface="微软雅黑" panose="020B0503020204020204" pitchFamily="34" charset="-122"/>
            </a:endParaRPr>
          </a:p>
        </p:txBody>
      </p:sp>
      <p:sp>
        <p:nvSpPr>
          <p:cNvPr id="27" name="Text Box 6">
            <a:extLst>
              <a:ext uri="{FF2B5EF4-FFF2-40B4-BE49-F238E27FC236}">
                <a16:creationId xmlns="" xmlns:a16="http://schemas.microsoft.com/office/drawing/2014/main" id="{3E61C98C-FDB8-4766-8A3D-5890671C29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9" y="3646785"/>
            <a:ext cx="2512144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4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</a:rPr>
              <a:t>）选择链节距 </a:t>
            </a:r>
            <a:r>
              <a:rPr lang="en-US" altLang="zh-CN" sz="2200" b="1" i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</a:p>
        </p:txBody>
      </p:sp>
      <p:graphicFrame>
        <p:nvGraphicFramePr>
          <p:cNvPr id="28" name="Object 8">
            <a:extLst>
              <a:ext uri="{FF2B5EF4-FFF2-40B4-BE49-F238E27FC236}">
                <a16:creationId xmlns="" xmlns:a16="http://schemas.microsoft.com/office/drawing/2014/main" id="{967CD914-80AD-4B52-80E5-B6BADC573BE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7387595"/>
              </p:ext>
            </p:extLst>
          </p:nvPr>
        </p:nvGraphicFramePr>
        <p:xfrm>
          <a:off x="3803278" y="2991574"/>
          <a:ext cx="1735137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2760" name="Equation" r:id="rId4" imgW="787320" imgH="228600" progId="Equation.DSMT4">
                  <p:embed/>
                </p:oleObj>
              </mc:Choice>
              <mc:Fallback>
                <p:oleObj name="Equation" r:id="rId4" imgW="787320" imgH="228600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03278" y="2991574"/>
                        <a:ext cx="1735137" cy="503237"/>
                      </a:xfrm>
                      <a:prstGeom prst="rect">
                        <a:avLst/>
                      </a:prstGeom>
                      <a:solidFill>
                        <a:srgbClr val="0000B9">
                          <a:lumMod val="10000"/>
                          <a:lumOff val="90000"/>
                        </a:srgbClr>
                      </a:solidFill>
                      <a:ln w="9525">
                        <a:noFill/>
                        <a:miter lim="800000"/>
                        <a:headEnd/>
                        <a:tailEnd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" name="Text Box 6">
            <a:extLst>
              <a:ext uri="{FF2B5EF4-FFF2-40B4-BE49-F238E27FC236}">
                <a16:creationId xmlns="" xmlns:a16="http://schemas.microsoft.com/office/drawing/2014/main" id="{876FBC18-9926-422D-A900-6776E723AF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278" y="2425077"/>
            <a:ext cx="4693715" cy="406641"/>
          </a:xfrm>
          <a:prstGeom prst="rect">
            <a:avLst/>
          </a:prstGeom>
          <a:solidFill>
            <a:srgbClr val="0000B9">
              <a:lumMod val="10000"/>
              <a:lumOff val="90000"/>
            </a:srgbClr>
          </a:solidFill>
          <a:ln>
            <a:noFill/>
          </a:ln>
        </p:spPr>
        <p:txBody>
          <a:bodyPr wrap="square" tIns="7200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8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rPr>
              <a:t>初定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rial Unicode MS" pitchFamily="34" charset="-122"/>
                <a:cs typeface="Times New Roman" panose="02020603050405020304" pitchFamily="18" charset="0"/>
              </a:rPr>
              <a:t>a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</a:rPr>
              <a:t>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L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(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圆整，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偶数</a:t>
            </a:r>
            <a:r>
              <a:rPr kumimoji="1" lang="zh-CN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）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sym typeface="Wingdings" panose="05000000000000000000" pitchFamily="2" charset="2"/>
              </a:rPr>
              <a:t>→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rPr>
              <a:t>实际 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Arial Unicode MS" pitchFamily="34" charset="-122"/>
                <a:cs typeface="Times New Roman" panose="02020603050405020304" pitchFamily="18" charset="0"/>
              </a:rPr>
              <a:t>a</a:t>
            </a:r>
          </a:p>
        </p:txBody>
      </p:sp>
      <p:sp>
        <p:nvSpPr>
          <p:cNvPr id="30" name="Text Box 2">
            <a:extLst>
              <a:ext uri="{FF2B5EF4-FFF2-40B4-BE49-F238E27FC236}">
                <a16:creationId xmlns="" xmlns:a16="http://schemas.microsoft.com/office/drawing/2014/main" id="{B9195AE8-0B5E-48C5-A23F-66A021BB61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7689" y="4882029"/>
            <a:ext cx="2728168" cy="430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6</a:t>
            </a:r>
            <a:r>
              <a:rPr lang="zh-CN" altLang="en-US" sz="2200" b="1" dirty="0">
                <a:solidFill>
                  <a:srgbClr val="000000"/>
                </a:solidFill>
                <a:ea typeface="微软雅黑" panose="020B0503020204020204" pitchFamily="34" charset="-122"/>
                <a:sym typeface="Wingdings" panose="05000000000000000000" pitchFamily="2" charset="2"/>
              </a:rPr>
              <a:t>）润滑方式选择</a:t>
            </a:r>
          </a:p>
        </p:txBody>
      </p:sp>
      <p:sp>
        <p:nvSpPr>
          <p:cNvPr id="31" name="Text Box 2">
            <a:extLst>
              <a:ext uri="{FF2B5EF4-FFF2-40B4-BE49-F238E27FC236}">
                <a16:creationId xmlns="" xmlns:a16="http://schemas.microsoft.com/office/drawing/2014/main" id="{FC3DD345-00D4-416E-8074-E45541F9E2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278" y="4264407"/>
            <a:ext cx="3937074" cy="430887"/>
          </a:xfrm>
          <a:prstGeom prst="rect">
            <a:avLst/>
          </a:prstGeom>
          <a:solidFill>
            <a:srgbClr val="0000B9">
              <a:lumMod val="10000"/>
              <a:lumOff val="90000"/>
            </a:srgb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v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拉力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kumimoji="1" lang="en-US" altLang="zh-CN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压轴力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F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Q</a:t>
            </a:r>
          </a:p>
        </p:txBody>
      </p:sp>
      <p:sp>
        <p:nvSpPr>
          <p:cNvPr id="32" name="Text Box 6">
            <a:extLst>
              <a:ext uri="{FF2B5EF4-FFF2-40B4-BE49-F238E27FC236}">
                <a16:creationId xmlns="" xmlns:a16="http://schemas.microsoft.com/office/drawing/2014/main" id="{3D217A0D-2A1E-489A-A580-96586A0D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278" y="3645372"/>
            <a:ext cx="2623485" cy="430887"/>
          </a:xfrm>
          <a:prstGeom prst="rect">
            <a:avLst/>
          </a:prstGeom>
          <a:solidFill>
            <a:srgbClr val="0000B9">
              <a:lumMod val="10000"/>
              <a:lumOff val="90000"/>
            </a:srgb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0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、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n</a:t>
            </a:r>
            <a:r>
              <a:rPr kumimoji="1" lang="en-US" altLang="zh-CN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1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 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链节距 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p</a:t>
            </a:r>
          </a:p>
        </p:txBody>
      </p:sp>
      <p:sp>
        <p:nvSpPr>
          <p:cNvPr id="33" name="Text Box 5">
            <a:extLst>
              <a:ext uri="{FF2B5EF4-FFF2-40B4-BE49-F238E27FC236}">
                <a16:creationId xmlns="" xmlns:a16="http://schemas.microsoft.com/office/drawing/2014/main" id="{44DC6A7A-890D-42A2-B964-55238A5508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03278" y="1803159"/>
            <a:ext cx="2623485" cy="447815"/>
          </a:xfrm>
          <a:prstGeom prst="rect">
            <a:avLst/>
          </a:prstGeom>
          <a:solidFill>
            <a:srgbClr val="0000B9">
              <a:lumMod val="10000"/>
              <a:lumOff val="90000"/>
            </a:srgbClr>
          </a:solidFill>
          <a:ln>
            <a:noFill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defTabSz="914400" eaLnBrk="1" fontAlgn="auto" latinLnBrk="0" hangingPunct="1">
              <a:lnSpc>
                <a:spcPct val="10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初定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z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sym typeface="Wingdings" panose="05000000000000000000" pitchFamily="2" charset="2"/>
              </a:rPr>
              <a:t>→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z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2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 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  <a:cs typeface="Times New Roman" panose="02020603050405020304" pitchFamily="18" charset="0"/>
              </a:rPr>
              <a:t>＝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z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1 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</a:rPr>
              <a:t>i</a:t>
            </a:r>
            <a:endParaRPr kumimoji="0" lang="zh-CN" altLang="en-US" sz="2200" b="0" i="1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3867267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7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10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build="p"/>
      <p:bldP spid="24" grpId="0" build="p"/>
      <p:bldP spid="26" grpId="0"/>
      <p:bldP spid="27" grpId="0"/>
      <p:bldP spid="29" grpId="0" animBg="1"/>
      <p:bldP spid="31" grpId="0" animBg="1"/>
      <p:bldP spid="32" grpId="0" animBg="1"/>
      <p:bldP spid="33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链传动的参数选择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6" name="组合 5"/>
          <p:cNvGrpSpPr/>
          <p:nvPr/>
        </p:nvGrpSpPr>
        <p:grpSpPr>
          <a:xfrm>
            <a:off x="395536" y="553244"/>
            <a:ext cx="2376264" cy="430887"/>
            <a:chOff x="547688" y="1274763"/>
            <a:chExt cx="2376264" cy="430887"/>
          </a:xfrm>
        </p:grpSpPr>
        <p:sp>
          <p:nvSpPr>
            <p:cNvPr id="7" name="Text Box 4"/>
            <p:cNvSpPr txBox="1">
              <a:spLocks noChangeArrowheads="1"/>
            </p:cNvSpPr>
            <p:nvPr/>
          </p:nvSpPr>
          <p:spPr bwMode="auto">
            <a:xfrm>
              <a:off x="727075" y="1274763"/>
              <a:ext cx="2196877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r>
                <a:rPr lang="zh-CN" altLang="en-US" sz="2200" b="1" dirty="0" smtClean="0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主要参数选择</a:t>
              </a:r>
              <a:endParaRPr lang="zh-CN" altLang="en-US" sz="2200" b="1" dirty="0">
                <a:solidFill>
                  <a:srgbClr val="FFC000"/>
                </a:solidFill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547688" y="1412131"/>
              <a:ext cx="147637" cy="149225"/>
            </a:xfrm>
            <a:prstGeom prst="ellipse">
              <a:avLst/>
            </a:prstGeom>
            <a:solidFill>
              <a:srgbClr val="00FF00"/>
            </a:solidFill>
            <a:ln w="25400" cap="flat" cmpd="sng" algn="ctr">
              <a:solidFill>
                <a:srgbClr val="0070C0"/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Times New Roman"/>
                <a:ea typeface="宋体"/>
                <a:cs typeface="+mn-cs"/>
              </a:endParaRPr>
            </a:p>
          </p:txBody>
        </p:sp>
      </p:grpSp>
      <p:sp>
        <p:nvSpPr>
          <p:cNvPr id="10" name="Text Box 13">
            <a:extLst>
              <a:ext uri="{FF2B5EF4-FFF2-40B4-BE49-F238E27FC236}">
                <a16:creationId xmlns="" xmlns:a16="http://schemas.microsoft.com/office/drawing/2014/main" id="{802A96F6-B35B-4F33-A4F9-8E05289220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7784" y="553244"/>
            <a:ext cx="4495800" cy="430887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链是</a:t>
            </a:r>
            <a:r>
              <a:rPr lang="zh-CN" altLang="en-US" sz="2200" dirty="0" smtClean="0">
                <a:solidFill>
                  <a:srgbClr val="FF0000"/>
                </a:solidFill>
                <a:latin typeface="Times New Roman"/>
                <a:ea typeface="微软雅黑" panose="020B0503020204020204" pitchFamily="34" charset="-122"/>
              </a:rPr>
              <a:t>标准件 </a:t>
            </a:r>
            <a:r>
              <a:rPr lang="en-US" altLang="zh-CN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—— </a:t>
            </a:r>
            <a:r>
              <a:rPr lang="zh-CN" altLang="en-US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选择</a:t>
            </a:r>
            <a:r>
              <a:rPr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设计</a:t>
            </a:r>
          </a:p>
        </p:txBody>
      </p:sp>
      <p:sp>
        <p:nvSpPr>
          <p:cNvPr id="17" name="Rectangle 4" descr="点式菱形">
            <a:extLst>
              <a:ext uri="{FF2B5EF4-FFF2-40B4-BE49-F238E27FC236}">
                <a16:creationId xmlns="" xmlns:a16="http://schemas.microsoft.com/office/drawing/2014/main" id="{0735AF50-8CA1-4471-A6B1-48F81B43AE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46472" y="1125172"/>
            <a:ext cx="1801792" cy="430887"/>
          </a:xfrm>
          <a:prstGeom prst="rect">
            <a:avLst/>
          </a:prstGeom>
          <a:blipFill dpi="0" rotWithShape="0">
            <a:blip r:embed="rId4"/>
            <a:srcRect/>
            <a:tile tx="0" ty="0" sx="100000" sy="100000" flip="none" algn="tl"/>
          </a:blipFill>
          <a:ln w="28575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 ( </a:t>
            </a:r>
            <a:r>
              <a:rPr kumimoji="1" lang="en-US" altLang="zh-CN" sz="2200" b="1" i="1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i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＝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2~3.5 )</a:t>
            </a:r>
            <a:endParaRPr kumimoji="1" lang="en-US" altLang="zh-CN" sz="2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/>
              <a:ea typeface="微软雅黑" panose="020B0503020204020204" pitchFamily="34" charset="-122"/>
            </a:endParaRPr>
          </a:p>
        </p:txBody>
      </p:sp>
      <p:sp>
        <p:nvSpPr>
          <p:cNvPr id="18" name="Text Box 5" descr="编织物">
            <a:extLst>
              <a:ext uri="{FF2B5EF4-FFF2-40B4-BE49-F238E27FC236}">
                <a16:creationId xmlns="" xmlns:a16="http://schemas.microsoft.com/office/drawing/2014/main" id="{C3A479A9-9591-452D-9409-948B1E681C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0433" y="1780429"/>
            <a:ext cx="1763575" cy="430887"/>
          </a:xfrm>
          <a:prstGeom prst="rect">
            <a:avLst/>
          </a:prstGeom>
          <a:blipFill dpi="0" rotWithShape="0">
            <a:blip r:embed="rId5"/>
            <a:srcRect/>
            <a:tile tx="0" ty="0" sx="100000" sy="100000" flip="none" algn="tl"/>
          </a:blipFill>
          <a:ln w="28575" cap="sq">
            <a:solidFill>
              <a:srgbClr val="4A2CCC"/>
            </a:solidFill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( </a:t>
            </a:r>
            <a:r>
              <a:rPr lang="en-US" altLang="zh-CN" sz="22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v</a:t>
            </a:r>
            <a:r>
              <a:rPr lang="en-US" altLang="zh-CN" sz="2200" b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≤12m/s )</a:t>
            </a:r>
          </a:p>
        </p:txBody>
      </p:sp>
      <p:sp>
        <p:nvSpPr>
          <p:cNvPr id="19" name="Text Box 11">
            <a:extLst>
              <a:ext uri="{FF2B5EF4-FFF2-40B4-BE49-F238E27FC236}">
                <a16:creationId xmlns="" xmlns:a16="http://schemas.microsoft.com/office/drawing/2014/main" id="{B1A257F3-6ED4-4E20-83E4-AFCC1C1CE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125173"/>
            <a:ext cx="4750104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1</a:t>
            </a:r>
            <a:r>
              <a:rPr kumimoji="1" lang="zh-CN" altLang="en-US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）传动比</a:t>
            </a:r>
            <a:r>
              <a:rPr kumimoji="1" lang="zh-CN" altLang="en-US" sz="2200" b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： 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i</a:t>
            </a:r>
            <a:r>
              <a:rPr kumimoji="1"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↑, 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α</a:t>
            </a:r>
            <a:r>
              <a:rPr kumimoji="1" lang="en-US" altLang="zh-CN" sz="2200" b="1" baseline="-25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1</a:t>
            </a:r>
            <a:r>
              <a:rPr kumimoji="1"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↓→</a:t>
            </a:r>
            <a:r>
              <a:rPr kumimoji="1"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压力↑→磨损↑</a:t>
            </a:r>
          </a:p>
        </p:txBody>
      </p:sp>
      <p:sp>
        <p:nvSpPr>
          <p:cNvPr id="20" name="Text Box 12">
            <a:extLst>
              <a:ext uri="{FF2B5EF4-FFF2-40B4-BE49-F238E27FC236}">
                <a16:creationId xmlns="" xmlns:a16="http://schemas.microsoft.com/office/drawing/2014/main" id="{498300DA-8669-4B3B-AACD-A1D5D619CC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774747"/>
            <a:ext cx="3529013" cy="430887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2</a:t>
            </a:r>
            <a:r>
              <a:rPr kumimoji="1" lang="zh-CN" altLang="en-US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）速度：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v</a:t>
            </a:r>
            <a:r>
              <a:rPr kumimoji="1"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↑→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F</a:t>
            </a:r>
            <a:r>
              <a:rPr kumimoji="1" lang="en-US" altLang="zh-CN" sz="2200" b="1" baseline="-250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d</a:t>
            </a:r>
            <a:r>
              <a:rPr kumimoji="1"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</a:t>
            </a:r>
          </a:p>
        </p:txBody>
      </p:sp>
      <p:sp>
        <p:nvSpPr>
          <p:cNvPr id="21" name="Text Box 1035" descr="点式菱形">
            <a:extLst>
              <a:ext uri="{FF2B5EF4-FFF2-40B4-BE49-F238E27FC236}">
                <a16:creationId xmlns="" xmlns:a16="http://schemas.microsoft.com/office/drawing/2014/main" id="{D79EA28F-AAD7-4394-B03E-CC9A015FDB7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88024" y="1774190"/>
            <a:ext cx="4160528" cy="437418"/>
          </a:xfrm>
          <a:prstGeom prst="rect">
            <a:avLst/>
          </a:prstGeom>
          <a:blipFill dpi="0" rotWithShape="0">
            <a:blip r:embed="rId6"/>
            <a:srcRect/>
            <a:tile tx="0" ty="0" sx="100000" sy="100000" flip="none" algn="tl"/>
          </a:blipFill>
          <a:ln w="28575" cap="sq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 wrap="square" tIns="72000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一般功率：小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p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单</a:t>
            </a:r>
            <a:r>
              <a:rPr kumimoji="1" lang="zh-CN" alt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排；大功率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：小</a:t>
            </a:r>
            <a:r>
              <a:rPr kumimoji="1" lang="en-US" altLang="zh-CN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p</a:t>
            </a:r>
            <a:r>
              <a:rPr kumimoji="1" lang="zh-CN" alt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Times New Roman"/>
                <a:ea typeface="微软雅黑" panose="020B0503020204020204" pitchFamily="34" charset="-122"/>
              </a:rPr>
              <a:t>多排</a:t>
            </a:r>
          </a:p>
        </p:txBody>
      </p:sp>
      <p:sp>
        <p:nvSpPr>
          <p:cNvPr id="22" name="Text Box 1036">
            <a:extLst>
              <a:ext uri="{FF2B5EF4-FFF2-40B4-BE49-F238E27FC236}">
                <a16:creationId xmlns="" xmlns:a16="http://schemas.microsoft.com/office/drawing/2014/main" id="{68E5AA27-5AE2-4382-8C1D-4EDAA798A29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1" y="2424321"/>
            <a:ext cx="7056784" cy="481670"/>
          </a:xfrm>
          <a:prstGeom prst="rect">
            <a:avLst/>
          </a:prstGeom>
          <a:noFill/>
          <a:ln w="12700" cap="sq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pPr eaLnBrk="0" hangingPunct="0">
              <a:lnSpc>
                <a:spcPct val="115000"/>
              </a:lnSpc>
              <a:defRPr/>
            </a:pPr>
            <a:r>
              <a:rPr kumimoji="1" lang="en-US" altLang="zh-CN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3</a:t>
            </a:r>
            <a:r>
              <a:rPr kumimoji="1" lang="zh-CN" altLang="en-US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）节距</a:t>
            </a:r>
            <a:r>
              <a:rPr kumimoji="1" lang="zh-CN" altLang="en-US" sz="2200" b="1" dirty="0" smtClean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Times New Roman"/>
                <a:ea typeface="微软雅黑" panose="020B0503020204020204" pitchFamily="34" charset="-122"/>
              </a:rPr>
              <a:t>：</a:t>
            </a:r>
            <a:r>
              <a:rPr kumimoji="1" lang="en-US" altLang="zh-CN" sz="2200" b="1" i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p</a:t>
            </a:r>
            <a:r>
              <a:rPr kumimoji="1" lang="en-US" altLang="zh-CN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 → 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尺寸↑ → 承载能力</a:t>
            </a:r>
            <a:r>
              <a:rPr kumimoji="1"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↑，</a:t>
            </a:r>
            <a:r>
              <a:rPr kumimoji="1" lang="en-US" altLang="zh-CN" sz="2200" b="1" i="1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v</a:t>
            </a:r>
            <a:r>
              <a:rPr kumimoji="1" lang="zh-CN" altLang="en-US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不均匀</a:t>
            </a:r>
            <a:r>
              <a:rPr kumimoji="1" lang="zh-CN" altLang="en-US" sz="22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 → </a:t>
            </a:r>
            <a:r>
              <a:rPr kumimoji="1" lang="en-US" altLang="zh-CN" sz="2200" b="1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F</a:t>
            </a:r>
            <a:r>
              <a:rPr kumimoji="1" lang="en-US" altLang="zh-CN" sz="2200" b="1" baseline="-25000" dirty="0" smtClean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d</a:t>
            </a:r>
            <a:r>
              <a:rPr kumimoji="1" lang="en-US" altLang="zh-CN" sz="2200" dirty="0">
                <a:solidFill>
                  <a:srgbClr val="000000"/>
                </a:solidFill>
                <a:latin typeface="Times New Roman"/>
                <a:ea typeface="微软雅黑" panose="020B0503020204020204" pitchFamily="34" charset="-122"/>
              </a:rPr>
              <a:t>↑</a:t>
            </a:r>
          </a:p>
        </p:txBody>
      </p:sp>
      <p:sp>
        <p:nvSpPr>
          <p:cNvPr id="34" name="Text Box 9">
            <a:extLst>
              <a:ext uri="{FF2B5EF4-FFF2-40B4-BE49-F238E27FC236}">
                <a16:creationId xmlns="" xmlns:a16="http://schemas.microsoft.com/office/drawing/2014/main" id="{C41FF6AB-5770-437D-A04D-9414ACAEB3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4360" y="3042409"/>
            <a:ext cx="1758815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lang="zh-CN" altLang="en-US" sz="2200" dirty="0">
                <a:solidFill>
                  <a:srgbClr val="C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）不宜过少</a:t>
            </a:r>
          </a:p>
        </p:txBody>
      </p:sp>
      <p:sp>
        <p:nvSpPr>
          <p:cNvPr id="35" name="Text Box 10">
            <a:extLst>
              <a:ext uri="{FF2B5EF4-FFF2-40B4-BE49-F238E27FC236}">
                <a16:creationId xmlns="" xmlns:a16="http://schemas.microsoft.com/office/drawing/2014/main" id="{F0435C2C-D561-4452-8FF3-7AEFE314DC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3175" y="3654013"/>
            <a:ext cx="559793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1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z↓</a:t>
            </a:r>
          </a:p>
        </p:txBody>
      </p:sp>
      <p:grpSp>
        <p:nvGrpSpPr>
          <p:cNvPr id="36" name="Group 21">
            <a:extLst>
              <a:ext uri="{FF2B5EF4-FFF2-40B4-BE49-F238E27FC236}">
                <a16:creationId xmlns="" xmlns:a16="http://schemas.microsoft.com/office/drawing/2014/main" id="{9CF38FF1-7954-491F-8DD5-B593132C9AA4}"/>
              </a:ext>
            </a:extLst>
          </p:cNvPr>
          <p:cNvGrpSpPr>
            <a:grpSpLocks/>
          </p:cNvGrpSpPr>
          <p:nvPr/>
        </p:nvGrpSpPr>
        <p:grpSpPr bwMode="auto">
          <a:xfrm>
            <a:off x="3805442" y="3166964"/>
            <a:ext cx="2170114" cy="1033463"/>
            <a:chOff x="755" y="1529"/>
            <a:chExt cx="1367" cy="651"/>
          </a:xfrm>
        </p:grpSpPr>
        <p:sp>
          <p:nvSpPr>
            <p:cNvPr id="37" name="AutoShape 11">
              <a:extLst>
                <a:ext uri="{FF2B5EF4-FFF2-40B4-BE49-F238E27FC236}">
                  <a16:creationId xmlns="" xmlns:a16="http://schemas.microsoft.com/office/drawing/2014/main" id="{0CE3EF52-86A9-4561-8235-0DD052BC6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" y="1711"/>
              <a:ext cx="91" cy="469"/>
            </a:xfrm>
            <a:prstGeom prst="leftBrace">
              <a:avLst>
                <a:gd name="adj1" fmla="val 60295"/>
                <a:gd name="adj2" fmla="val 50000"/>
              </a:avLst>
            </a:prstGeom>
            <a:noFill/>
            <a:ln w="1270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CN" altLang="en-US" sz="2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aphicFrame>
          <p:nvGraphicFramePr>
            <p:cNvPr id="38" name="Object 12">
              <a:extLst>
                <a:ext uri="{FF2B5EF4-FFF2-40B4-BE49-F238E27FC236}">
                  <a16:creationId xmlns="" xmlns:a16="http://schemas.microsoft.com/office/drawing/2014/main" id="{2B3EA534-7C03-4E64-8712-48EFE851111F}"/>
                </a:ext>
              </a:extLst>
            </p:cNvPr>
            <p:cNvGraphicFramePr>
              <a:graphicFrameLocks noChangeAspect="1"/>
            </p:cNvGraphicFramePr>
            <p:nvPr>
              <p:extLst/>
            </p:nvPr>
          </p:nvGraphicFramePr>
          <p:xfrm>
            <a:off x="895" y="1529"/>
            <a:ext cx="1227" cy="44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3792" name="Equation" r:id="rId7" imgW="1257385" imgH="447550" progId="Equation.3">
                    <p:embed/>
                  </p:oleObj>
                </mc:Choice>
                <mc:Fallback>
                  <p:oleObj name="Equation" r:id="rId7" imgW="1257385" imgH="44755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5" y="1529"/>
                          <a:ext cx="1227" cy="44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9" name="Text Box 13">
            <a:extLst>
              <a:ext uri="{FF2B5EF4-FFF2-40B4-BE49-F238E27FC236}">
                <a16:creationId xmlns="" xmlns:a16="http://schemas.microsoft.com/office/drawing/2014/main" id="{7B57E87F-F4F1-41C3-B7DB-420CE404AA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174" y="3328159"/>
            <a:ext cx="29738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defRPr/>
            </a:pP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—</a:t>
            </a:r>
            <a:r>
              <a:rPr kumimoji="1" lang="en-US" altLang="zh-CN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↑</a:t>
            </a:r>
            <a:r>
              <a:rPr kumimoji="1" lang="zh-CN" altLang="en-US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运动不均匀性、↑动载荷</a:t>
            </a:r>
          </a:p>
        </p:txBody>
      </p:sp>
      <p:graphicFrame>
        <p:nvGraphicFramePr>
          <p:cNvPr id="40" name="Object 14">
            <a:extLst>
              <a:ext uri="{FF2B5EF4-FFF2-40B4-BE49-F238E27FC236}">
                <a16:creationId xmlns="" xmlns:a16="http://schemas.microsoft.com/office/drawing/2014/main" id="{4BB2B591-C771-4DA0-9EA8-4BF499603C00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017424" y="3779639"/>
          <a:ext cx="1997255" cy="6994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3793" name="Equation" r:id="rId9" imgW="1295446" imgH="447550" progId="Equation.3">
                  <p:embed/>
                </p:oleObj>
              </mc:Choice>
              <mc:Fallback>
                <p:oleObj name="Equation" r:id="rId9" imgW="1295446" imgH="44755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17424" y="3779639"/>
                        <a:ext cx="1997255" cy="69949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41" name="Text Box 15">
            <a:extLst>
              <a:ext uri="{FF2B5EF4-FFF2-40B4-BE49-F238E27FC236}">
                <a16:creationId xmlns="" xmlns:a16="http://schemas.microsoft.com/office/drawing/2014/main" id="{B1A4655E-15B0-4910-B741-8DDFF1E92E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76174" y="3944980"/>
            <a:ext cx="297389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defPPr>
              <a:defRPr lang="zh-CN"/>
            </a:defPPr>
            <a:lvl1pPr eaLnBrk="0" hangingPunct="0">
              <a:defRPr kumimoji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en-US" altLang="zh-CN" dirty="0"/>
              <a:t>—</a:t>
            </a:r>
            <a:r>
              <a:rPr lang="en-US" altLang="zh-CN" dirty="0">
                <a:solidFill>
                  <a:srgbClr val="FF0000"/>
                </a:solidFill>
              </a:rPr>
              <a:t>↑</a:t>
            </a:r>
            <a:r>
              <a:rPr lang="zh-CN" altLang="en-US" dirty="0">
                <a:solidFill>
                  <a:srgbClr val="FF0000"/>
                </a:solidFill>
              </a:rPr>
              <a:t>垂直分速度，↑功率消耗</a:t>
            </a:r>
          </a:p>
        </p:txBody>
      </p:sp>
      <p:sp>
        <p:nvSpPr>
          <p:cNvPr id="42" name="Text Box 16">
            <a:extLst>
              <a:ext uri="{FF2B5EF4-FFF2-40B4-BE49-F238E27FC236}">
                <a16:creationId xmlns="" xmlns:a16="http://schemas.microsoft.com/office/drawing/2014/main" id="{206082EB-3DEA-4C38-84B0-CD33FCE238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1824" y="4424796"/>
            <a:ext cx="44198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eaLnBrk="0" hangingPunct="0">
              <a:lnSpc>
                <a:spcPct val="150000"/>
              </a:lnSpc>
              <a:defRPr/>
            </a:pP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z↓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，同时啮合齿数↓</a:t>
            </a:r>
            <a:r>
              <a:rPr kumimoji="1" lang="zh-CN" altLang="en-US" sz="2200" dirty="0">
                <a:solidFill>
                  <a:srgbClr val="3366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kumimoji="1" lang="zh-CN" altLang="en-US" sz="2200" dirty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磨损↑</a:t>
            </a:r>
          </a:p>
          <a:p>
            <a:pPr eaLnBrk="0" hangingPunct="0">
              <a:lnSpc>
                <a:spcPct val="150000"/>
              </a:lnSpc>
              <a:defRPr/>
            </a:pPr>
            <a:r>
              <a:rPr kumimoji="1"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z↓</a:t>
            </a:r>
            <a:r>
              <a:rPr kumimoji="1"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，链节间相对转角↑，↑功率消耗</a:t>
            </a:r>
          </a:p>
        </p:txBody>
      </p:sp>
      <p:sp>
        <p:nvSpPr>
          <p:cNvPr id="43" name="Text Box 18">
            <a:extLst>
              <a:ext uri="{FF2B5EF4-FFF2-40B4-BE49-F238E27FC236}">
                <a16:creationId xmlns="" xmlns:a16="http://schemas.microsoft.com/office/drawing/2014/main" id="{844B485D-0AB0-43AA-B8AC-85931FA9BA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5077" y="5020971"/>
            <a:ext cx="1620957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eaLnBrk="0" hangingPunct="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∴  </a:t>
            </a:r>
            <a:r>
              <a:rPr lang="zh-CN" altLang="en-US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限制</a:t>
            </a:r>
            <a:r>
              <a:rPr lang="en-US" altLang="zh-CN" sz="22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lang="en-US" altLang="zh-CN" sz="22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min</a:t>
            </a:r>
          </a:p>
        </p:txBody>
      </p:sp>
      <p:sp>
        <p:nvSpPr>
          <p:cNvPr id="44" name="Text Box 3">
            <a:extLst>
              <a:ext uri="{FF2B5EF4-FFF2-40B4-BE49-F238E27FC236}">
                <a16:creationId xmlns="" xmlns:a16="http://schemas.microsoft.com/office/drawing/2014/main" id="{46BD06E7-AF11-4601-A2D1-14E7241CAD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3042410"/>
            <a:ext cx="1656184" cy="43088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  <a:defRPr/>
            </a:pPr>
            <a:r>
              <a:rPr kumimoji="1" lang="en-US" altLang="zh-CN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微软雅黑" panose="020B0503020204020204" pitchFamily="34" charset="-122"/>
              </a:rPr>
              <a:t>4</a:t>
            </a:r>
            <a:r>
              <a:rPr kumimoji="1" lang="zh-CN" altLang="en-US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微软雅黑" panose="020B0503020204020204" pitchFamily="34" charset="-122"/>
              </a:rPr>
              <a:t>）齿数：</a:t>
            </a:r>
          </a:p>
        </p:txBody>
      </p:sp>
    </p:spTree>
    <p:extLst>
      <p:ext uri="{BB962C8B-B14F-4D97-AF65-F5344CB8AC3E}">
        <p14:creationId xmlns:p14="http://schemas.microsoft.com/office/powerpoint/2010/main" val="1656494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7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7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4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7" grpId="0" animBg="1" autoUpdateAnimBg="0"/>
      <p:bldP spid="18" grpId="0" animBg="1" autoUpdateAnimBg="0"/>
      <p:bldP spid="19" grpId="0" autoUpdateAnimBg="0"/>
      <p:bldP spid="20" grpId="0" autoUpdateAnimBg="0"/>
      <p:bldP spid="21" grpId="0" animBg="1" autoUpdateAnimBg="0"/>
      <p:bldP spid="22" grpId="0" autoUpdateAnimBg="0"/>
      <p:bldP spid="34" grpId="0" autoUpdateAnimBg="0"/>
      <p:bldP spid="35" grpId="0" autoUpdateAnimBg="0"/>
      <p:bldP spid="39" grpId="0" autoUpdateAnimBg="0"/>
      <p:bldP spid="41" grpId="0" autoUpdateAnimBg="0"/>
      <p:bldP spid="42" grpId="0" build="p" autoUpdateAnimBg="0"/>
      <p:bldP spid="43" grpId="0" autoUpdateAnimBg="0"/>
      <p:bldP spid="4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链传动的参数选择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Text Box 3"/>
          <p:cNvSpPr txBox="1">
            <a:spLocks noChangeArrowheads="1"/>
          </p:cNvSpPr>
          <p:nvPr/>
        </p:nvSpPr>
        <p:spPr bwMode="auto">
          <a:xfrm>
            <a:off x="323528" y="577652"/>
            <a:ext cx="1760418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altLang="zh-CN" sz="22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b</a:t>
            </a:r>
            <a:r>
              <a:rPr lang="zh-CN" altLang="en-US" sz="2200" dirty="0" smtClean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lang="zh-CN" altLang="en-US" sz="2200" dirty="0">
                <a:solidFill>
                  <a:srgbClr val="C00000"/>
                </a:solidFill>
                <a:latin typeface="微软雅黑"/>
                <a:ea typeface="微软雅黑"/>
                <a:cs typeface="微软雅黑"/>
              </a:rPr>
              <a:t>不宜过多</a:t>
            </a:r>
          </a:p>
        </p:txBody>
      </p:sp>
      <p:graphicFrame>
        <p:nvGraphicFramePr>
          <p:cNvPr id="7" name="Object 683"/>
          <p:cNvGraphicFramePr>
            <a:graphicFrameLocks noChangeAspect="1"/>
          </p:cNvGraphicFramePr>
          <p:nvPr>
            <p:extLst/>
          </p:nvPr>
        </p:nvGraphicFramePr>
        <p:xfrm>
          <a:off x="2306716" y="481236"/>
          <a:ext cx="1473196" cy="1014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4820" name="Equation" r:id="rId3" imgW="812800" imgH="596900" progId="Equation.3">
                  <p:embed/>
                </p:oleObj>
              </mc:Choice>
              <mc:Fallback>
                <p:oleObj name="Equation" r:id="rId3" imgW="8128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6716" y="481236"/>
                        <a:ext cx="1473196" cy="1014412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8" name="Object 684"/>
          <p:cNvGraphicFramePr>
            <a:graphicFrameLocks noChangeAspect="1"/>
          </p:cNvGraphicFramePr>
          <p:nvPr>
            <p:extLst/>
          </p:nvPr>
        </p:nvGraphicFramePr>
        <p:xfrm>
          <a:off x="611560" y="2126367"/>
          <a:ext cx="1985963" cy="1025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964821" name="Equation" r:id="rId5" imgW="1155700" imgH="596900" progId="Equation.3">
                  <p:embed/>
                </p:oleObj>
              </mc:Choice>
              <mc:Fallback>
                <p:oleObj name="Equation" r:id="rId5" imgW="1155700" imgH="5969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1560" y="2126367"/>
                        <a:ext cx="1985963" cy="1025525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9" name="Picture 2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491925"/>
            <a:ext cx="3561635" cy="2785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Text Box 10"/>
          <p:cNvSpPr txBox="1">
            <a:spLocks noChangeArrowheads="1"/>
          </p:cNvSpPr>
          <p:nvPr/>
        </p:nvSpPr>
        <p:spPr bwMode="auto">
          <a:xfrm>
            <a:off x="971600" y="1527444"/>
            <a:ext cx="2864887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磨损后：</a:t>
            </a:r>
            <a:r>
              <a:rPr lang="en-US" altLang="zh-CN" sz="2200" i="1" dirty="0">
                <a:latin typeface="宋体" panose="02010600030101010101" pitchFamily="2" charset="-122"/>
                <a:ea typeface="宋体" panose="02010600030101010101" pitchFamily="2" charset="-122"/>
                <a:cs typeface="微软雅黑"/>
              </a:rPr>
              <a:t>p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微软雅黑"/>
              </a:rPr>
              <a:t> → </a:t>
            </a:r>
            <a:r>
              <a:rPr lang="en-US" altLang="zh-CN" sz="2200" i="1" dirty="0" smtClean="0">
                <a:latin typeface="宋体" panose="02010600030101010101" pitchFamily="2" charset="-122"/>
                <a:ea typeface="宋体" panose="02010600030101010101" pitchFamily="2" charset="-122"/>
                <a:cs typeface="微软雅黑"/>
              </a:rPr>
              <a:t>p </a:t>
            </a:r>
            <a:r>
              <a:rPr lang="en-US" altLang="zh-CN" sz="2200" dirty="0" smtClean="0">
                <a:latin typeface="宋体" panose="02010600030101010101" pitchFamily="2" charset="-122"/>
                <a:ea typeface="宋体" panose="02010600030101010101" pitchFamily="2" charset="-122"/>
                <a:cs typeface="微软雅黑"/>
              </a:rPr>
              <a:t>+</a:t>
            </a:r>
            <a:r>
              <a:rPr lang="en-US" altLang="zh-CN" sz="2200" dirty="0">
                <a:latin typeface="宋体" panose="02010600030101010101" pitchFamily="2" charset="-122"/>
                <a:ea typeface="宋体" panose="02010600030101010101" pitchFamily="2" charset="-122"/>
                <a:cs typeface="微软雅黑"/>
              </a:rPr>
              <a:t>Δ</a:t>
            </a:r>
            <a:r>
              <a:rPr lang="en-US" altLang="zh-CN" sz="2200" i="1" dirty="0">
                <a:latin typeface="宋体" panose="02010600030101010101" pitchFamily="2" charset="-122"/>
                <a:ea typeface="宋体" panose="02010600030101010101" pitchFamily="2" charset="-122"/>
                <a:cs typeface="微软雅黑"/>
              </a:rPr>
              <a:t>p</a:t>
            </a:r>
          </a:p>
        </p:txBody>
      </p:sp>
      <p:sp>
        <p:nvSpPr>
          <p:cNvPr id="12" name="TextBox 38"/>
          <p:cNvSpPr txBox="1"/>
          <p:nvPr/>
        </p:nvSpPr>
        <p:spPr>
          <a:xfrm>
            <a:off x="312491" y="3911478"/>
            <a:ext cx="582723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200" dirty="0" smtClean="0">
                <a:solidFill>
                  <a:srgbClr val="FF0000"/>
                </a:solidFill>
                <a:latin typeface="+mn-ea"/>
                <a:ea typeface="+mn-ea"/>
              </a:rPr>
              <a:t>思考：</a:t>
            </a:r>
            <a:r>
              <a:rPr lang="zh-CN" altLang="en-US" sz="2200" dirty="0" smtClean="0">
                <a:latin typeface="+mn-ea"/>
                <a:ea typeface="+mn-ea"/>
              </a:rPr>
              <a:t>自行车链传动，磨损脱链从哪轮开始？</a:t>
            </a:r>
            <a:endParaRPr lang="zh-CN" altLang="en-US" sz="2200" dirty="0">
              <a:latin typeface="+mn-ea"/>
              <a:ea typeface="+mn-ea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0" y="3289548"/>
            <a:ext cx="9144000" cy="445300"/>
            <a:chOff x="0" y="5188514"/>
            <a:chExt cx="9144000" cy="445300"/>
          </a:xfrm>
        </p:grpSpPr>
        <p:sp>
          <p:nvSpPr>
            <p:cNvPr id="15" name="Text Box 15"/>
            <p:cNvSpPr txBox="1">
              <a:spLocks noChangeArrowheads="1"/>
            </p:cNvSpPr>
            <p:nvPr/>
          </p:nvSpPr>
          <p:spPr bwMode="auto">
            <a:xfrm>
              <a:off x="0" y="5233764"/>
              <a:ext cx="9144000" cy="400050"/>
            </a:xfrm>
            <a:prstGeom prst="rect">
              <a:avLst/>
            </a:prstGeom>
            <a:solidFill>
              <a:srgbClr val="FFC000"/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altLang="zh-CN" sz="2000" dirty="0" smtClean="0">
                  <a:latin typeface="微软雅黑"/>
                  <a:ea typeface="微软雅黑"/>
                  <a:cs typeface="微软雅黑"/>
                </a:rPr>
                <a:t>z</a:t>
              </a:r>
              <a:r>
                <a:rPr lang="en-US" altLang="zh-CN" sz="2000" baseline="-25000" dirty="0" smtClean="0">
                  <a:latin typeface="微软雅黑"/>
                  <a:ea typeface="微软雅黑"/>
                  <a:cs typeface="微软雅黑"/>
                </a:rPr>
                <a:t>1</a:t>
              </a: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↑—</a:t>
              </a:r>
              <a:r>
                <a:rPr lang="en-US" altLang="zh-CN" sz="2000" dirty="0" smtClean="0">
                  <a:latin typeface="微软雅黑"/>
                  <a:ea typeface="微软雅黑"/>
                  <a:cs typeface="微软雅黑"/>
                </a:rPr>
                <a:t>z</a:t>
              </a:r>
              <a:r>
                <a:rPr lang="en-US" altLang="zh-CN" sz="2000" baseline="-25000" dirty="0" smtClean="0">
                  <a:latin typeface="微软雅黑"/>
                  <a:ea typeface="微软雅黑"/>
                  <a:cs typeface="微软雅黑"/>
                </a:rPr>
                <a:t>2</a:t>
              </a:r>
              <a:r>
                <a:rPr lang="en-US" altLang="zh-CN" sz="2000" dirty="0" smtClean="0">
                  <a:latin typeface="微软雅黑"/>
                  <a:ea typeface="微软雅黑"/>
                  <a:cs typeface="微软雅黑"/>
                </a:rPr>
                <a:t>↑↑—</a:t>
              </a: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—</a:t>
              </a:r>
              <a:r>
                <a:rPr lang="en-US" altLang="zh-CN" sz="2000" dirty="0" smtClean="0">
                  <a:latin typeface="微软雅黑"/>
                  <a:ea typeface="微软雅黑"/>
                  <a:cs typeface="微软雅黑"/>
                </a:rPr>
                <a:t> </a:t>
              </a: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Δd ↑— 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链节外移</a:t>
              </a: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(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爬齿</a:t>
              </a:r>
              <a:r>
                <a:rPr lang="en-US" altLang="zh-CN" sz="2000" dirty="0">
                  <a:latin typeface="微软雅黑"/>
                  <a:ea typeface="微软雅黑"/>
                  <a:cs typeface="微软雅黑"/>
                </a:rPr>
                <a:t>)↑— </a:t>
              </a:r>
              <a:r>
                <a:rPr lang="zh-CN" altLang="en-US" sz="2000" dirty="0" smtClean="0">
                  <a:latin typeface="微软雅黑"/>
                  <a:ea typeface="微软雅黑"/>
                  <a:cs typeface="微软雅黑"/>
                </a:rPr>
                <a:t>跳齿、脱</a:t>
              </a:r>
              <a:r>
                <a:rPr lang="zh-CN" altLang="en-US" sz="2000" dirty="0">
                  <a:latin typeface="微软雅黑"/>
                  <a:ea typeface="微软雅黑"/>
                  <a:cs typeface="微软雅黑"/>
                </a:rPr>
                <a:t>链可能性</a:t>
              </a:r>
              <a:r>
                <a:rPr lang="zh-CN" altLang="en-US" sz="2000" dirty="0" smtClean="0">
                  <a:latin typeface="微软雅黑"/>
                  <a:ea typeface="微软雅黑"/>
                  <a:cs typeface="微软雅黑"/>
                </a:rPr>
                <a:t>↑   </a:t>
              </a:r>
              <a:r>
                <a:rPr lang="en-US" altLang="zh-CN" sz="2000" dirty="0" smtClean="0">
                  <a:solidFill>
                    <a:srgbClr val="CC3300"/>
                  </a:solidFill>
                  <a:latin typeface="微软雅黑"/>
                  <a:ea typeface="微软雅黑"/>
                  <a:cs typeface="微软雅黑"/>
                </a:rPr>
                <a:t>∴  </a:t>
              </a:r>
              <a:r>
                <a:rPr lang="en-US" altLang="zh-CN" sz="2000" dirty="0">
                  <a:solidFill>
                    <a:srgbClr val="CC3300"/>
                  </a:solidFill>
                  <a:latin typeface="微软雅黑"/>
                  <a:ea typeface="微软雅黑"/>
                  <a:cs typeface="微软雅黑"/>
                </a:rPr>
                <a:t>z</a:t>
              </a:r>
              <a:r>
                <a:rPr lang="en-US" altLang="zh-CN" sz="2000" baseline="-25000" dirty="0">
                  <a:solidFill>
                    <a:srgbClr val="CC3300"/>
                  </a:solidFill>
                  <a:latin typeface="微软雅黑"/>
                  <a:ea typeface="微软雅黑"/>
                  <a:cs typeface="微软雅黑"/>
                </a:rPr>
                <a:t>max </a:t>
              </a:r>
              <a:r>
                <a:rPr lang="en-US" altLang="zh-CN" sz="2000" dirty="0">
                  <a:solidFill>
                    <a:srgbClr val="CC3300"/>
                  </a:solidFill>
                  <a:latin typeface="微软雅黑"/>
                  <a:ea typeface="微软雅黑"/>
                  <a:cs typeface="微软雅黑"/>
                </a:rPr>
                <a:t>= 120</a:t>
              </a:r>
            </a:p>
          </p:txBody>
        </p:sp>
        <p:sp>
          <p:nvSpPr>
            <p:cNvPr id="16" name="Text Box 6"/>
            <p:cNvSpPr txBox="1">
              <a:spLocks noChangeArrowheads="1"/>
            </p:cNvSpPr>
            <p:nvPr/>
          </p:nvSpPr>
          <p:spPr bwMode="auto">
            <a:xfrm>
              <a:off x="1378896" y="5188514"/>
              <a:ext cx="528808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1200" dirty="0">
                  <a:solidFill>
                    <a:srgbClr val="E20000"/>
                  </a:solidFill>
                  <a:latin typeface="微软雅黑"/>
                  <a:ea typeface="微软雅黑"/>
                  <a:cs typeface="微软雅黑"/>
                </a:rPr>
                <a:t>磨损</a:t>
              </a:r>
            </a:p>
          </p:txBody>
        </p:sp>
      </p:grpSp>
      <p:grpSp>
        <p:nvGrpSpPr>
          <p:cNvPr id="17" name="组合 16"/>
          <p:cNvGrpSpPr/>
          <p:nvPr/>
        </p:nvGrpSpPr>
        <p:grpSpPr>
          <a:xfrm>
            <a:off x="3923928" y="658515"/>
            <a:ext cx="792088" cy="1224136"/>
            <a:chOff x="3923928" y="1787396"/>
            <a:chExt cx="792088" cy="1224136"/>
          </a:xfrm>
        </p:grpSpPr>
        <p:sp>
          <p:nvSpPr>
            <p:cNvPr id="18" name="右大括号 17"/>
            <p:cNvSpPr/>
            <p:nvPr/>
          </p:nvSpPr>
          <p:spPr>
            <a:xfrm>
              <a:off x="3923928" y="1787396"/>
              <a:ext cx="144016" cy="1224136"/>
            </a:xfrm>
            <a:prstGeom prst="rightBrace">
              <a:avLst/>
            </a:prstGeom>
            <a:ln w="127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右箭头 18"/>
            <p:cNvSpPr/>
            <p:nvPr/>
          </p:nvSpPr>
          <p:spPr>
            <a:xfrm>
              <a:off x="4211960" y="2281436"/>
              <a:ext cx="504056" cy="288032"/>
            </a:xfrm>
            <a:prstGeom prst="rightArrow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0" name="组合 19"/>
          <p:cNvGrpSpPr/>
          <p:nvPr/>
        </p:nvGrpSpPr>
        <p:grpSpPr>
          <a:xfrm>
            <a:off x="2771800" y="2121029"/>
            <a:ext cx="2232248" cy="1047750"/>
            <a:chOff x="2771800" y="3249910"/>
            <a:chExt cx="2232248" cy="1047750"/>
          </a:xfrm>
        </p:grpSpPr>
        <p:graphicFrame>
          <p:nvGraphicFramePr>
            <p:cNvPr id="21" name="Object 685"/>
            <p:cNvGraphicFramePr>
              <a:graphicFrameLocks noChangeAspect="1"/>
            </p:cNvGraphicFramePr>
            <p:nvPr>
              <p:extLst/>
            </p:nvPr>
          </p:nvGraphicFramePr>
          <p:xfrm>
            <a:off x="3397498" y="3249910"/>
            <a:ext cx="1606550" cy="104775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4822" name="Equation" r:id="rId8" imgW="914400" imgH="596900" progId="Equation.3">
                    <p:embed/>
                  </p:oleObj>
                </mc:Choice>
                <mc:Fallback>
                  <p:oleObj name="Equation" r:id="rId8" imgW="914400" imgH="596900" progId="Equation.3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97498" y="3249910"/>
                          <a:ext cx="1606550" cy="104775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2" name="右箭头 21"/>
            <p:cNvSpPr/>
            <p:nvPr/>
          </p:nvSpPr>
          <p:spPr>
            <a:xfrm>
              <a:off x="2771800" y="3433564"/>
              <a:ext cx="504056" cy="288032"/>
            </a:xfrm>
            <a:prstGeom prst="rightArrow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6" name="Rectangle 4">
            <a:extLst>
              <a:ext uri="{FF2B5EF4-FFF2-40B4-BE49-F238E27FC236}">
                <a16:creationId xmlns="" xmlns:a16="http://schemas.microsoft.com/office/drawing/2014/main" id="{B6C7D7B8-6FC5-4E6A-8742-B3FA32DC8C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3808" y="4369668"/>
            <a:ext cx="5976664" cy="11079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0" hangingPunct="0">
              <a:lnSpc>
                <a:spcPct val="150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Arial Unicode MS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↓→</a:t>
            </a:r>
            <a:r>
              <a:rPr lang="en-US" altLang="zh-CN" sz="2200" b="1" dirty="0">
                <a:solidFill>
                  <a:srgbClr val="000000"/>
                </a:solidFill>
                <a:ea typeface="仿宋_GB2312" pitchFamily="49" charset="-122"/>
                <a:cs typeface="Times New Roman" panose="02020603050405020304" pitchFamily="18" charset="0"/>
              </a:rPr>
              <a:t>α</a:t>
            </a:r>
            <a:r>
              <a:rPr lang="en-US" altLang="zh-CN" sz="2200" b="1" baseline="-250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↓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  <a:cs typeface="Times New Roman" panose="02020603050405020304" pitchFamily="18" charset="0"/>
              </a:rPr>
              <a:t>，链节弯曲次数↑磨损↑ 强度寿命↓；  </a:t>
            </a:r>
            <a:endParaRPr lang="en-US" altLang="zh-CN" sz="2200" dirty="0">
              <a:solidFill>
                <a:srgbClr val="000000"/>
              </a:solidFill>
              <a:ea typeface="微软雅黑" panose="020B0503020204020204" pitchFamily="34" charset="-122"/>
              <a:cs typeface="Times New Roman" panose="02020603050405020304" pitchFamily="18" charset="0"/>
            </a:endParaRPr>
          </a:p>
          <a:p>
            <a:pPr eaLnBrk="0" hangingPunct="0">
              <a:lnSpc>
                <a:spcPct val="150000"/>
              </a:lnSpc>
              <a:spcBef>
                <a:spcPts val="0"/>
              </a:spcBef>
            </a:pPr>
            <a:r>
              <a:rPr lang="en-US" altLang="zh-CN" sz="2200" b="1" dirty="0">
                <a:solidFill>
                  <a:srgbClr val="000000"/>
                </a:solidFill>
                <a:ea typeface="Arial Unicode MS" pitchFamily="34" charset="-122"/>
                <a:cs typeface="Times New Roman" panose="02020603050405020304" pitchFamily="18" charset="0"/>
              </a:rPr>
              <a:t>a</a:t>
            </a:r>
            <a:r>
              <a:rPr lang="en-US" altLang="zh-CN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↑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，链条</a:t>
            </a:r>
            <a:r>
              <a:rPr lang="zh-CN" altLang="zh-CN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松边下垂量</a:t>
            </a:r>
            <a:r>
              <a:rPr lang="zh-CN" altLang="en-US" sz="2200" dirty="0">
                <a:solidFill>
                  <a:srgbClr val="000000"/>
                </a:solidFill>
                <a:ea typeface="微软雅黑" panose="020B0503020204020204" pitchFamily="34" charset="-122"/>
              </a:rPr>
              <a:t>↑，振动↑</a:t>
            </a:r>
          </a:p>
        </p:txBody>
      </p:sp>
      <p:sp>
        <p:nvSpPr>
          <p:cNvPr id="27" name="Text Box 6" descr="小纸屑">
            <a:extLst>
              <a:ext uri="{FF2B5EF4-FFF2-40B4-BE49-F238E27FC236}">
                <a16:creationId xmlns="" xmlns:a16="http://schemas.microsoft.com/office/drawing/2014/main" id="{7C318074-A6C9-42D3-B549-DEC2CC666D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72456" y="5067720"/>
            <a:ext cx="5399087" cy="481670"/>
          </a:xfrm>
          <a:prstGeom prst="rect">
            <a:avLst/>
          </a:prstGeom>
          <a:blipFill dpi="0" rotWithShape="0">
            <a:blip r:embed="rId10"/>
            <a:srcRect/>
            <a:tile tx="0" ty="0" sx="100000" sy="100000" flip="none" algn="tl"/>
          </a:blipFill>
          <a:ln w="19050" cap="sq" cmpd="tri">
            <a:solidFill>
              <a:srgbClr val="000000"/>
            </a:solidFill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>
            <a:lvl1pPr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</a:rPr>
              <a:t>a</a:t>
            </a:r>
            <a:r>
              <a:rPr kumimoji="1" lang="en-US" altLang="zh-CN" sz="2200" b="1" i="0" u="none" strike="noStrike" kern="0" cap="none" spc="0" normalizeH="0" baseline="-2500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微软雅黑" panose="020B0503020204020204" pitchFamily="34" charset="-122"/>
              </a:rPr>
              <a:t>0 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微软雅黑" panose="020B0503020204020204" pitchFamily="34" charset="-122"/>
              </a:rPr>
              <a:t>＝ 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微软雅黑" panose="020B0503020204020204" pitchFamily="34" charset="-122"/>
              </a:rPr>
              <a:t>(30~50)p  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rPr>
              <a:t>(</a:t>
            </a:r>
            <a:r>
              <a:rPr kumimoji="1" lang="en-US" altLang="zh-CN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 Unicode MS" pitchFamily="34" charset="-122"/>
                <a:ea typeface="Arial Unicode MS" pitchFamily="34" charset="-122"/>
              </a:rPr>
              <a:t>a</a:t>
            </a:r>
            <a:r>
              <a:rPr kumimoji="1" lang="en-US" altLang="zh-CN" sz="2200" b="0" i="0" u="none" strike="noStrike" kern="0" cap="none" spc="0" normalizeH="0" baseline="-25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rPr>
              <a:t>max </a:t>
            </a:r>
            <a:r>
              <a:rPr kumimoji="1" lang="zh-CN" altLang="en-US" sz="2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rPr>
              <a:t>＝ </a:t>
            </a:r>
            <a:r>
              <a:rPr kumimoji="1" lang="en-US" altLang="zh-CN" sz="2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微软雅黑" panose="020B0503020204020204" pitchFamily="34" charset="-122"/>
              </a:rPr>
              <a:t>80p)     </a:t>
            </a:r>
            <a:r>
              <a:rPr kumimoji="1" lang="en-US" altLang="zh-CN" sz="2200" b="1" i="0" u="none" strike="noStrike" kern="0" cap="none" spc="0" normalizeH="0" baseline="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仿宋_GB2312" pitchFamily="49" charset="-122"/>
              </a:rPr>
              <a:t>α</a:t>
            </a:r>
            <a:r>
              <a:rPr kumimoji="1" lang="en-US" altLang="zh-CN" sz="2200" b="1" i="0" u="none" strike="noStrike" kern="0" cap="none" spc="0" normalizeH="0" baseline="-25000" noProof="0" dirty="0" smtClean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微软雅黑" panose="020B0503020204020204" pitchFamily="34" charset="-122"/>
              </a:rPr>
              <a:t>1min </a:t>
            </a:r>
            <a:r>
              <a:rPr kumimoji="1" lang="zh-CN" altLang="en-US" sz="2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微软雅黑" panose="020B0503020204020204" pitchFamily="34" charset="-122"/>
              </a:rPr>
              <a:t>＝</a:t>
            </a:r>
            <a:r>
              <a:rPr kumimoji="1" lang="en-US" altLang="zh-CN" sz="2200" b="1" i="0" u="none" strike="noStrike" kern="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微软雅黑" panose="020B0503020204020204" pitchFamily="34" charset="-122"/>
              </a:rPr>
              <a:t>120°</a:t>
            </a:r>
          </a:p>
        </p:txBody>
      </p:sp>
      <p:sp>
        <p:nvSpPr>
          <p:cNvPr id="28" name="Text Box 8">
            <a:extLst>
              <a:ext uri="{FF2B5EF4-FFF2-40B4-BE49-F238E27FC236}">
                <a16:creationId xmlns="" xmlns:a16="http://schemas.microsoft.com/office/drawing/2014/main" id="{667A30F8-BDC4-4A84-AAE3-3E94508A44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1849" y="4471312"/>
            <a:ext cx="4392613" cy="43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eaLnBrk="0" hangingPunct="0">
              <a:spcBef>
                <a:spcPct val="50000"/>
              </a:spcBef>
              <a:defRPr/>
            </a:pPr>
            <a:r>
              <a:rPr kumimoji="1" lang="en-US" altLang="zh-CN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微软雅黑" panose="020B0503020204020204" pitchFamily="34" charset="-122"/>
              </a:rPr>
              <a:t>5</a:t>
            </a:r>
            <a:r>
              <a:rPr kumimoji="1" lang="zh-CN" altLang="en-US" sz="2200" b="1" dirty="0">
                <a:solidFill>
                  <a:srgbClr val="00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华文中宋" panose="02010600040101010101" pitchFamily="2" charset="-122"/>
                <a:ea typeface="微软雅黑" panose="020B0503020204020204" pitchFamily="34" charset="-122"/>
              </a:rPr>
              <a:t>）中心距及包角</a:t>
            </a:r>
            <a:r>
              <a:rPr kumimoji="1" lang="zh-CN" altLang="en-US" sz="2200" dirty="0">
                <a:solidFill>
                  <a:srgbClr val="000000"/>
                </a:solidFill>
                <a:latin typeface="华文中宋" panose="02010600040101010101" pitchFamily="2" charset="-122"/>
                <a:ea typeface="微软雅黑" panose="020B0503020204020204" pitchFamily="34" charset="-122"/>
              </a:rPr>
              <a:t>：</a:t>
            </a:r>
          </a:p>
        </p:txBody>
      </p:sp>
    </p:spTree>
    <p:extLst>
      <p:ext uri="{BB962C8B-B14F-4D97-AF65-F5344CB8AC3E}">
        <p14:creationId xmlns:p14="http://schemas.microsoft.com/office/powerpoint/2010/main" val="20762443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59" dur="7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10" grpId="0"/>
      <p:bldP spid="12" grpId="0"/>
      <p:bldP spid="26" grpId="0" autoUpdateAnimBg="0"/>
      <p:bldP spid="27" grpId="0" animBg="1"/>
      <p:bldP spid="2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84" name="Picture 44" descr="20030919095842"/>
          <p:cNvPicPr>
            <a:picLocks noChangeAspect="1" noChangeArrowheads="1"/>
          </p:cNvPicPr>
          <p:nvPr/>
        </p:nvPicPr>
        <p:blipFill>
          <a:blip r:embed="rId2">
            <a:lum contrast="18000"/>
          </a:blip>
          <a:srcRect/>
          <a:stretch>
            <a:fillRect/>
          </a:stretch>
        </p:blipFill>
        <p:spPr bwMode="auto">
          <a:xfrm>
            <a:off x="2794000" y="985292"/>
            <a:ext cx="6350000" cy="4729708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7185" name="Picture 45" descr="1"/>
          <p:cNvPicPr>
            <a:picLocks noChangeAspect="1" noChangeArrowheads="1"/>
          </p:cNvPicPr>
          <p:nvPr/>
        </p:nvPicPr>
        <p:blipFill>
          <a:blip r:embed="rId3"/>
          <a:srcRect l="11050" t="10652" r="21750"/>
          <a:stretch>
            <a:fillRect/>
          </a:stretch>
        </p:blipFill>
        <p:spPr bwMode="auto">
          <a:xfrm>
            <a:off x="0" y="1849388"/>
            <a:ext cx="4267200" cy="3865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736" name="Rectangle 8"/>
          <p:cNvSpPr>
            <a:spLocks noChangeArrowheads="1"/>
          </p:cNvSpPr>
          <p:nvPr/>
        </p:nvSpPr>
        <p:spPr bwMode="auto">
          <a:xfrm>
            <a:off x="899592" y="2506751"/>
            <a:ext cx="7416824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anchor="ctr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zh-CN" altLang="en-US" sz="48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链传动的合理布置与润滑</a:t>
            </a:r>
            <a:endParaRPr kumimoji="0" lang="zh-CN" altLang="en-US" sz="48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  <p:sp>
        <p:nvSpPr>
          <p:cNvPr id="1048737" name="Rectangle 8"/>
          <p:cNvSpPr>
            <a:spLocks noChangeArrowheads="1"/>
          </p:cNvSpPr>
          <p:nvPr/>
        </p:nvSpPr>
        <p:spPr bwMode="auto">
          <a:xfrm>
            <a:off x="303213" y="481608"/>
            <a:ext cx="1443037" cy="647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>
                <a:tab pos="266700" algn="l"/>
              </a:tabLst>
            </a:pPr>
            <a:r>
              <a:rPr kumimoji="0" lang="en-US" altLang="zh-CN" sz="3600" b="1" i="0" u="none" strike="noStrike" kern="0" cap="none" spc="0" normalizeH="0" baseline="0" noProof="0" dirty="0" smtClean="0">
                <a:ln>
                  <a:noFill/>
                </a:ln>
                <a:solidFill>
                  <a:srgbClr val="333399">
                    <a:lumMod val="75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uLnTx/>
                <a:uFillTx/>
                <a:latin typeface="隶书" pitchFamily="49" charset="-122"/>
                <a:ea typeface="隶书" pitchFamily="49" charset="-122"/>
              </a:rPr>
              <a:t>07-4</a:t>
            </a:r>
            <a:endParaRPr kumimoji="0" lang="zh-CN" altLang="en-US" sz="3600" b="1" i="0" u="none" strike="noStrike" kern="0" cap="none" spc="0" normalizeH="0" baseline="0" noProof="0" dirty="0">
              <a:ln>
                <a:noFill/>
              </a:ln>
              <a:solidFill>
                <a:srgbClr val="333399">
                  <a:lumMod val="75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  <a:uLnTx/>
              <a:uFillTx/>
              <a:latin typeface="隶书" pitchFamily="49" charset="-122"/>
              <a:ea typeface="隶书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86329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0487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8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10487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736" grpId="0"/>
      <p:bldP spid="104873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23528" y="516774"/>
            <a:ext cx="3559955" cy="492443"/>
            <a:chOff x="323528" y="564857"/>
            <a:chExt cx="3559955" cy="492443"/>
          </a:xfrm>
        </p:grpSpPr>
        <p:sp>
          <p:nvSpPr>
            <p:cNvPr id="5" name="Text Box 5"/>
            <p:cNvSpPr txBox="1">
              <a:spLocks noChangeArrowheads="1"/>
            </p:cNvSpPr>
            <p:nvPr/>
          </p:nvSpPr>
          <p:spPr bwMode="auto">
            <a:xfrm>
              <a:off x="683568" y="564857"/>
              <a:ext cx="3199915" cy="4924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1pPr>
              <a:lvl2pPr marL="742950" indent="-28575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2pPr>
              <a:lvl3pPr marL="11430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3pPr>
              <a:lvl4pPr marL="16002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4pPr>
              <a:lvl5pPr marL="2057400" indent="-228600" eaLnBrk="0" hangingPunct="0"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800">
                  <a:solidFill>
                    <a:schemeClr val="tx1"/>
                  </a:solidFill>
                  <a:latin typeface="Arial" charset="0"/>
                  <a:ea typeface="黑体" pitchFamily="49" charset="-122"/>
                </a:defRPr>
              </a:lvl9pPr>
            </a:lstStyle>
            <a:p>
              <a:pPr eaLnBrk="1" hangingPunct="1"/>
              <a:r>
                <a:rPr lang="zh-CN" altLang="en-US" sz="2600" b="1" dirty="0" smtClean="0">
                  <a:solidFill>
                    <a:srgbClr val="000099"/>
                  </a:solidFill>
                  <a:effectLst/>
                  <a:latin typeface="黑体" pitchFamily="49" charset="-122"/>
                </a:rPr>
                <a:t>链传动的布置与张紧</a:t>
              </a:r>
              <a:endParaRPr lang="zh-CN" altLang="en-US" sz="2600" b="1" dirty="0">
                <a:solidFill>
                  <a:srgbClr val="000099"/>
                </a:solidFill>
                <a:effectLst/>
                <a:latin typeface="黑体" pitchFamily="49" charset="-122"/>
              </a:endParaRPr>
            </a:p>
          </p:txBody>
        </p:sp>
        <p:pic>
          <p:nvPicPr>
            <p:cNvPr id="6" name="Picture 15" descr="AR1031"/>
            <p:cNvPicPr>
              <a:picLocks noChangeAspect="1" noChangeArrowheads="1"/>
            </p:cNvPicPr>
            <p:nvPr/>
          </p:nvPicPr>
          <p:blipFill>
            <a:blip r:embed="rId2">
              <a:duotone>
                <a:prstClr val="black"/>
                <a:srgbClr val="00CC00">
                  <a:tint val="45000"/>
                  <a:satMod val="400000"/>
                </a:srgbClr>
              </a:duotone>
              <a:lum bright="-36000" contrast="100000"/>
            </a:blip>
            <a:srcRect/>
            <a:stretch>
              <a:fillRect/>
            </a:stretch>
          </p:blipFill>
          <p:spPr bwMode="auto">
            <a:xfrm rot="5400000">
              <a:off x="372720" y="648069"/>
              <a:ext cx="280840" cy="37922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miter lim="800000"/>
              <a:headEnd/>
              <a:tailEnd/>
            </a:ln>
          </p:spPr>
        </p:pic>
      </p:grpSp>
      <p:pic>
        <p:nvPicPr>
          <p:cNvPr id="7" name="Picture 21"/>
          <p:cNvPicPr>
            <a:picLocks noChangeAspect="1" noChangeArrowheads="1"/>
          </p:cNvPicPr>
          <p:nvPr/>
        </p:nvPicPr>
        <p:blipFill rotWithShape="1">
          <a:blip r:embed="rId3"/>
          <a:srcRect r="72152"/>
          <a:stretch/>
        </p:blipFill>
        <p:spPr bwMode="auto">
          <a:xfrm>
            <a:off x="323528" y="3912747"/>
            <a:ext cx="1584176" cy="1515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539552" y="1561356"/>
            <a:ext cx="5211763" cy="6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85775" indent="-485775">
              <a:lnSpc>
                <a:spcPct val="160000"/>
              </a:lnSpc>
            </a:pPr>
            <a:r>
              <a:rPr kumimoji="1" lang="en-US" altLang="zh-CN" sz="2200" dirty="0" smtClean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1</a:t>
            </a:r>
            <a:r>
              <a:rPr kumimoji="1" lang="zh-CN" altLang="en-US" sz="2200" dirty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）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两轮</a:t>
            </a:r>
            <a:r>
              <a:rPr kumimoji="1" lang="zh-CN" altLang="en-US" sz="2200" dirty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回转面应在</a:t>
            </a:r>
            <a:r>
              <a:rPr kumimoji="1" lang="zh-CN" altLang="en-US" sz="22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同一平面</a:t>
            </a:r>
            <a:r>
              <a:rPr kumimoji="1" lang="zh-CN" altLang="en-US" sz="2200" dirty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内；</a:t>
            </a:r>
          </a:p>
        </p:txBody>
      </p:sp>
      <p:sp>
        <p:nvSpPr>
          <p:cNvPr id="9" name="Rectangle 24"/>
          <p:cNvSpPr>
            <a:spLocks noChangeArrowheads="1"/>
          </p:cNvSpPr>
          <p:nvPr/>
        </p:nvSpPr>
        <p:spPr bwMode="auto">
          <a:xfrm>
            <a:off x="539553" y="2137420"/>
            <a:ext cx="6192688" cy="9725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85775" indent="-485775">
              <a:lnSpc>
                <a:spcPct val="130000"/>
              </a:lnSpc>
            </a:pPr>
            <a:r>
              <a:rPr lang="en-US" altLang="zh-CN" sz="2200" dirty="0" smtClean="0">
                <a:latin typeface="微软雅黑"/>
                <a:ea typeface="微软雅黑"/>
                <a:cs typeface="微软雅黑"/>
              </a:rPr>
              <a:t>2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）两轮中心线最好水平，或与水平面</a:t>
            </a:r>
            <a:r>
              <a:rPr lang="zh-CN" altLang="en-US" sz="2200" dirty="0" smtClean="0">
                <a:latin typeface="微软雅黑"/>
                <a:ea typeface="微软雅黑"/>
                <a:cs typeface="微软雅黑"/>
              </a:rPr>
              <a:t>≤</a:t>
            </a:r>
            <a:r>
              <a:rPr lang="en-US" altLang="zh-CN" sz="2200" dirty="0" smtClean="0">
                <a:latin typeface="微软雅黑"/>
                <a:ea typeface="微软雅黑"/>
                <a:cs typeface="微软雅黑"/>
              </a:rPr>
              <a:t>60°</a:t>
            </a:r>
            <a:r>
              <a:rPr lang="zh-CN" altLang="en-US" sz="2200" dirty="0" smtClean="0">
                <a:latin typeface="微软雅黑"/>
                <a:ea typeface="微软雅黑"/>
                <a:cs typeface="微软雅黑"/>
              </a:rPr>
              <a:t>夹</a:t>
            </a:r>
            <a:endParaRPr lang="en-US" altLang="zh-CN" sz="2200" dirty="0" smtClean="0">
              <a:latin typeface="微软雅黑"/>
              <a:ea typeface="微软雅黑"/>
              <a:cs typeface="微软雅黑"/>
            </a:endParaRPr>
          </a:p>
          <a:p>
            <a:pPr marL="485775" indent="-485775">
              <a:lnSpc>
                <a:spcPct val="130000"/>
              </a:lnSpc>
            </a:pPr>
            <a:r>
              <a:rPr lang="en-US" altLang="zh-CN" sz="2200" dirty="0">
                <a:latin typeface="微软雅黑"/>
                <a:ea typeface="微软雅黑"/>
                <a:cs typeface="微软雅黑"/>
              </a:rPr>
              <a:t> </a:t>
            </a:r>
            <a:r>
              <a:rPr lang="en-US" altLang="zh-CN" sz="2200" dirty="0" smtClean="0">
                <a:latin typeface="微软雅黑"/>
                <a:ea typeface="微软雅黑"/>
                <a:cs typeface="微软雅黑"/>
              </a:rPr>
              <a:t>    </a:t>
            </a:r>
            <a:r>
              <a:rPr lang="zh-CN" altLang="en-US" sz="2200" dirty="0" smtClean="0">
                <a:latin typeface="微软雅黑"/>
                <a:ea typeface="微软雅黑"/>
                <a:cs typeface="微软雅黑"/>
              </a:rPr>
              <a:t>角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，尽量</a:t>
            </a:r>
            <a:r>
              <a:rPr lang="zh-CN" altLang="en-US" sz="22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避免垂直布置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；</a:t>
            </a:r>
          </a:p>
        </p:txBody>
      </p:sp>
      <p:grpSp>
        <p:nvGrpSpPr>
          <p:cNvPr id="10" name="组合 9"/>
          <p:cNvGrpSpPr/>
          <p:nvPr/>
        </p:nvGrpSpPr>
        <p:grpSpPr>
          <a:xfrm>
            <a:off x="547688" y="1129308"/>
            <a:ext cx="2333625" cy="430887"/>
            <a:chOff x="547688" y="1274485"/>
            <a:chExt cx="2333625" cy="430887"/>
          </a:xfrm>
        </p:grpSpPr>
        <p:sp>
          <p:nvSpPr>
            <p:cNvPr id="11" name="Text Box 4"/>
            <p:cNvSpPr txBox="1">
              <a:spLocks noChangeArrowheads="1"/>
            </p:cNvSpPr>
            <p:nvPr/>
          </p:nvSpPr>
          <p:spPr bwMode="auto">
            <a:xfrm>
              <a:off x="727075" y="1274485"/>
              <a:ext cx="2154238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200" b="1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合理布置</a:t>
              </a:r>
            </a:p>
          </p:txBody>
        </p:sp>
        <p:sp>
          <p:nvSpPr>
            <p:cNvPr id="12" name="椭圆 11"/>
            <p:cNvSpPr/>
            <p:nvPr/>
          </p:nvSpPr>
          <p:spPr>
            <a:xfrm>
              <a:off x="547688" y="1417340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pic>
        <p:nvPicPr>
          <p:cNvPr id="13" name="Picture 2" descr="C:\Users\wugao\Desktop\8-9章图吴鹿鸣老师\0829.tif"/>
          <p:cNvPicPr>
            <a:picLocks noChangeAspect="1" noChangeArrowheads="1"/>
          </p:cNvPicPr>
          <p:nvPr/>
        </p:nvPicPr>
        <p:blipFill>
          <a:blip r:embed="rId4">
            <a:lum contrast="6000"/>
          </a:blip>
          <a:srcRect/>
          <a:stretch>
            <a:fillRect/>
          </a:stretch>
        </p:blipFill>
        <p:spPr bwMode="auto">
          <a:xfrm>
            <a:off x="6695034" y="592811"/>
            <a:ext cx="2053430" cy="27687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Rectangle 23"/>
          <p:cNvSpPr>
            <a:spLocks noChangeArrowheads="1"/>
          </p:cNvSpPr>
          <p:nvPr/>
        </p:nvSpPr>
        <p:spPr bwMode="auto">
          <a:xfrm>
            <a:off x="539552" y="3011848"/>
            <a:ext cx="2606804" cy="6340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60000"/>
              </a:lnSpc>
            </a:pPr>
            <a:r>
              <a:rPr lang="en-US" altLang="zh-CN" sz="2200" dirty="0" smtClean="0">
                <a:latin typeface="微软雅黑"/>
                <a:ea typeface="微软雅黑"/>
                <a:cs typeface="微软雅黑"/>
              </a:rPr>
              <a:t>3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）最好</a:t>
            </a:r>
            <a:r>
              <a:rPr lang="zh-CN" altLang="en-US" sz="2200" dirty="0">
                <a:solidFill>
                  <a:srgbClr val="FF0000"/>
                </a:solidFill>
                <a:latin typeface="微软雅黑"/>
                <a:ea typeface="微软雅黑"/>
                <a:cs typeface="微软雅黑"/>
              </a:rPr>
              <a:t>紧边在上</a:t>
            </a: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。</a:t>
            </a:r>
          </a:p>
        </p:txBody>
      </p:sp>
      <p:grpSp>
        <p:nvGrpSpPr>
          <p:cNvPr id="3" name="组合 2"/>
          <p:cNvGrpSpPr/>
          <p:nvPr/>
        </p:nvGrpSpPr>
        <p:grpSpPr>
          <a:xfrm>
            <a:off x="6268936" y="3580149"/>
            <a:ext cx="2551536" cy="764646"/>
            <a:chOff x="6268936" y="3580149"/>
            <a:chExt cx="2551536" cy="764646"/>
          </a:xfrm>
        </p:grpSpPr>
        <p:pic>
          <p:nvPicPr>
            <p:cNvPr id="15" name="Picture 16" descr="07-T3"/>
            <p:cNvPicPr>
              <a:picLocks noChangeAspect="1" noChangeArrowheads="1"/>
            </p:cNvPicPr>
            <p:nvPr/>
          </p:nvPicPr>
          <p:blipFill>
            <a:blip r:embed="rId5"/>
            <a:srcRect l="53836" t="46361"/>
            <a:stretch>
              <a:fillRect/>
            </a:stretch>
          </p:blipFill>
          <p:spPr bwMode="auto">
            <a:xfrm>
              <a:off x="6268936" y="3580149"/>
              <a:ext cx="2099011" cy="76464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6" name="组合 15"/>
            <p:cNvGrpSpPr/>
            <p:nvPr/>
          </p:nvGrpSpPr>
          <p:grpSpPr>
            <a:xfrm>
              <a:off x="8482268" y="3888900"/>
              <a:ext cx="338204" cy="357187"/>
              <a:chOff x="7744971" y="4622491"/>
              <a:chExt cx="338204" cy="357187"/>
            </a:xfrm>
          </p:grpSpPr>
          <p:sp>
            <p:nvSpPr>
              <p:cNvPr id="17" name="Line 17"/>
              <p:cNvSpPr>
                <a:spLocks noChangeShapeType="1"/>
              </p:cNvSpPr>
              <p:nvPr/>
            </p:nvSpPr>
            <p:spPr bwMode="auto">
              <a:xfrm flipH="1">
                <a:off x="7744971" y="4622491"/>
                <a:ext cx="338204" cy="357187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8" name="Line 18"/>
              <p:cNvSpPr>
                <a:spLocks noChangeShapeType="1"/>
              </p:cNvSpPr>
              <p:nvPr/>
            </p:nvSpPr>
            <p:spPr bwMode="auto">
              <a:xfrm>
                <a:off x="7744971" y="4622491"/>
                <a:ext cx="338204" cy="357187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/>
          <p:cNvGrpSpPr/>
          <p:nvPr/>
        </p:nvGrpSpPr>
        <p:grpSpPr>
          <a:xfrm>
            <a:off x="6520473" y="4526011"/>
            <a:ext cx="2372007" cy="898904"/>
            <a:chOff x="6520473" y="4526011"/>
            <a:chExt cx="2372007" cy="898904"/>
          </a:xfrm>
        </p:grpSpPr>
        <p:pic>
          <p:nvPicPr>
            <p:cNvPr id="19" name="Picture 20" descr="07-T3"/>
            <p:cNvPicPr>
              <a:picLocks noChangeAspect="1" noChangeArrowheads="1"/>
            </p:cNvPicPr>
            <p:nvPr/>
          </p:nvPicPr>
          <p:blipFill>
            <a:blip r:embed="rId5"/>
            <a:srcRect l="-2" t="-7549" r="58638" b="52831"/>
            <a:stretch>
              <a:fillRect/>
            </a:stretch>
          </p:blipFill>
          <p:spPr bwMode="auto">
            <a:xfrm>
              <a:off x="6520473" y="4526011"/>
              <a:ext cx="1939959" cy="898904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20" name="组合 19"/>
            <p:cNvGrpSpPr/>
            <p:nvPr/>
          </p:nvGrpSpPr>
          <p:grpSpPr>
            <a:xfrm>
              <a:off x="8554276" y="4831029"/>
              <a:ext cx="338204" cy="305854"/>
              <a:chOff x="8482268" y="4729708"/>
              <a:chExt cx="338204" cy="305854"/>
            </a:xfrm>
          </p:grpSpPr>
          <p:sp>
            <p:nvSpPr>
              <p:cNvPr id="21" name="Line 21"/>
              <p:cNvSpPr>
                <a:spLocks noChangeShapeType="1"/>
              </p:cNvSpPr>
              <p:nvPr/>
            </p:nvSpPr>
            <p:spPr bwMode="auto">
              <a:xfrm>
                <a:off x="8482268" y="4839054"/>
                <a:ext cx="89071" cy="196195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2" name="Line 22"/>
              <p:cNvSpPr>
                <a:spLocks noChangeShapeType="1"/>
              </p:cNvSpPr>
              <p:nvPr/>
            </p:nvSpPr>
            <p:spPr bwMode="auto">
              <a:xfrm flipV="1">
                <a:off x="8571339" y="4729708"/>
                <a:ext cx="249133" cy="305854"/>
              </a:xfrm>
              <a:prstGeom prst="line">
                <a:avLst/>
              </a:prstGeom>
              <a:noFill/>
              <a:ln w="38100">
                <a:solidFill>
                  <a:srgbClr val="CC3300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sp>
        <p:nvSpPr>
          <p:cNvPr id="23" name="单圆角矩形 22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链传动的合理布置与润滑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24" name="直角三角形 23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25" name="Picture 21"/>
          <p:cNvPicPr>
            <a:picLocks noChangeAspect="1" noChangeArrowheads="1"/>
          </p:cNvPicPr>
          <p:nvPr/>
        </p:nvPicPr>
        <p:blipFill rotWithShape="1">
          <a:blip r:embed="rId3"/>
          <a:srcRect l="31645"/>
          <a:stretch/>
        </p:blipFill>
        <p:spPr bwMode="auto">
          <a:xfrm>
            <a:off x="2123728" y="3912747"/>
            <a:ext cx="3888432" cy="15151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047418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7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75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500"/>
                            </p:stCondLst>
                            <p:childTnLst>
                              <p:par>
                                <p:cTn id="18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75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25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4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单圆角矩形 5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链传动的合理布置与润滑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7" name="直角三角形 6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/>
          <p:cNvGrpSpPr/>
          <p:nvPr/>
        </p:nvGrpSpPr>
        <p:grpSpPr>
          <a:xfrm>
            <a:off x="4073842" y="3505572"/>
            <a:ext cx="4890228" cy="2016224"/>
            <a:chOff x="4073842" y="3505572"/>
            <a:chExt cx="4890228" cy="2016224"/>
          </a:xfrm>
        </p:grpSpPr>
        <p:graphicFrame>
          <p:nvGraphicFramePr>
            <p:cNvPr id="10" name="Object 260"/>
            <p:cNvGraphicFramePr>
              <a:graphicFrameLocks noChangeAspect="1"/>
            </p:cNvGraphicFramePr>
            <p:nvPr>
              <p:extLst/>
            </p:nvPr>
          </p:nvGraphicFramePr>
          <p:xfrm>
            <a:off x="4073842" y="3505572"/>
            <a:ext cx="4890228" cy="2016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5838" name="BMP 图象" r:id="rId3" imgW="7980952" imgH="3228571" progId="PBrush">
                    <p:embed/>
                  </p:oleObj>
                </mc:Choice>
                <mc:Fallback>
                  <p:oleObj name="BMP 图象" r:id="rId3" imgW="7980952" imgH="3228571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73842" y="3505572"/>
                          <a:ext cx="4890228" cy="2016224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1" name="Text Box 11"/>
            <p:cNvSpPr txBox="1">
              <a:spLocks noChangeArrowheads="1"/>
            </p:cNvSpPr>
            <p:nvPr/>
          </p:nvSpPr>
          <p:spPr bwMode="auto">
            <a:xfrm>
              <a:off x="5757987" y="4131718"/>
              <a:ext cx="1118269" cy="309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342900" indent="-342900" algn="ctr"/>
              <a:r>
                <a:rPr kumimoji="1" lang="zh-CN" altLang="en-US" sz="14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中心距大时</a:t>
              </a:r>
            </a:p>
          </p:txBody>
        </p:sp>
        <p:sp>
          <p:nvSpPr>
            <p:cNvPr id="12" name="Text Box 10"/>
            <p:cNvSpPr txBox="1">
              <a:spLocks noChangeArrowheads="1"/>
            </p:cNvSpPr>
            <p:nvPr/>
          </p:nvSpPr>
          <p:spPr bwMode="auto">
            <a:xfrm>
              <a:off x="7059936" y="3771678"/>
              <a:ext cx="752424" cy="309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342900" indent="-342900" algn="ctr"/>
              <a:r>
                <a:rPr kumimoji="1" lang="zh-CN" altLang="en-US" sz="14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压板式</a:t>
              </a:r>
            </a:p>
          </p:txBody>
        </p:sp>
      </p:grpSp>
      <p:grpSp>
        <p:nvGrpSpPr>
          <p:cNvPr id="13" name="组合 12"/>
          <p:cNvGrpSpPr/>
          <p:nvPr/>
        </p:nvGrpSpPr>
        <p:grpSpPr>
          <a:xfrm>
            <a:off x="251520" y="3297709"/>
            <a:ext cx="3817938" cy="2296095"/>
            <a:chOff x="251520" y="3297709"/>
            <a:chExt cx="3817938" cy="2296095"/>
          </a:xfrm>
        </p:grpSpPr>
        <p:graphicFrame>
          <p:nvGraphicFramePr>
            <p:cNvPr id="14" name="Object 261"/>
            <p:cNvGraphicFramePr>
              <a:graphicFrameLocks noChangeAspect="1"/>
            </p:cNvGraphicFramePr>
            <p:nvPr>
              <p:extLst/>
            </p:nvPr>
          </p:nvGraphicFramePr>
          <p:xfrm>
            <a:off x="251520" y="3297709"/>
            <a:ext cx="3817938" cy="22240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5965839" name="位图图像" r:id="rId5" imgW="6542857" imgH="3971429" progId="PBrush">
                    <p:embed/>
                  </p:oleObj>
                </mc:Choice>
                <mc:Fallback>
                  <p:oleObj name="位图图像" r:id="rId5" imgW="6542857" imgH="3971429" progId="PBrush">
                    <p:embed/>
                    <p:pic>
                      <p:nvPicPr>
                        <p:cNvPr id="0" name="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51520" y="3297709"/>
                          <a:ext cx="3817938" cy="2224087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" name="Text Box 5"/>
            <p:cNvSpPr txBox="1">
              <a:spLocks noChangeArrowheads="1"/>
            </p:cNvSpPr>
            <p:nvPr/>
          </p:nvSpPr>
          <p:spPr bwMode="auto">
            <a:xfrm>
              <a:off x="1403649" y="5283846"/>
              <a:ext cx="720080" cy="309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342900" indent="-342900"/>
              <a:r>
                <a:rPr kumimoji="1" lang="zh-CN" altLang="en-US" sz="14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弹簧式</a:t>
              </a:r>
            </a:p>
          </p:txBody>
        </p:sp>
        <p:sp>
          <p:nvSpPr>
            <p:cNvPr id="16" name="Text Box 5"/>
            <p:cNvSpPr txBox="1">
              <a:spLocks noChangeArrowheads="1"/>
            </p:cNvSpPr>
            <p:nvPr/>
          </p:nvSpPr>
          <p:spPr bwMode="auto">
            <a:xfrm>
              <a:off x="3347864" y="5283846"/>
              <a:ext cx="720080" cy="30995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90000" tIns="46800" rIns="90000" bIns="46800">
              <a:spAutoFit/>
            </a:bodyPr>
            <a:lstStyle/>
            <a:p>
              <a:pPr marL="342900" indent="-342900"/>
              <a:r>
                <a:rPr kumimoji="1" lang="zh-CN" altLang="en-US" sz="1400" dirty="0" smtClean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砝码式</a:t>
              </a:r>
              <a:endParaRPr kumimoji="1" lang="zh-CN" altLang="en-US" sz="1400" dirty="0">
                <a:solidFill>
                  <a:schemeClr val="tx2"/>
                </a:solidFill>
                <a:latin typeface="微软雅黑"/>
                <a:ea typeface="微软雅黑"/>
                <a:cs typeface="微软雅黑"/>
              </a:endParaRPr>
            </a:p>
          </p:txBody>
        </p:sp>
      </p:grpSp>
      <p:sp>
        <p:nvSpPr>
          <p:cNvPr id="17" name="Text Box 3"/>
          <p:cNvSpPr txBox="1">
            <a:spLocks noChangeArrowheads="1"/>
          </p:cNvSpPr>
          <p:nvPr/>
        </p:nvSpPr>
        <p:spPr bwMode="auto">
          <a:xfrm>
            <a:off x="468759" y="1029019"/>
            <a:ext cx="5255369" cy="929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kumimoji="1" lang="zh-CN" altLang="en-US" sz="2200" dirty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张紧目的：</a:t>
            </a:r>
            <a:r>
              <a:rPr kumimoji="1" lang="zh-CN" altLang="en-US" sz="2200" dirty="0" smtClean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不</a:t>
            </a:r>
            <a:r>
              <a:rPr kumimoji="1" lang="zh-CN" altLang="en-US" sz="2200" dirty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是</a:t>
            </a:r>
            <a:r>
              <a:rPr kumimoji="1" lang="zh-CN" altLang="en-US" sz="2200" dirty="0" smtClean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决定</a:t>
            </a:r>
            <a:r>
              <a:rPr kumimoji="1" lang="zh-CN" altLang="en-US" sz="2200" dirty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工作能力</a:t>
            </a:r>
            <a:r>
              <a:rPr kumimoji="1" lang="zh-CN" altLang="en-US" sz="2200" dirty="0" smtClean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，而是决定</a:t>
            </a:r>
            <a:r>
              <a:rPr kumimoji="1" lang="zh-CN" altLang="en-US" sz="2200" dirty="0" smtClean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垂度</a:t>
            </a:r>
            <a:r>
              <a:rPr kumimoji="1" lang="zh-CN" altLang="en-US" sz="2200" dirty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大小和防止链条</a:t>
            </a:r>
            <a:r>
              <a:rPr kumimoji="1" lang="zh-CN" altLang="en-US" sz="2200" dirty="0" smtClean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振动</a:t>
            </a:r>
            <a:endParaRPr kumimoji="1" lang="zh-CN" altLang="en-US" sz="2200" dirty="0">
              <a:solidFill>
                <a:srgbClr val="E20000"/>
              </a:solidFill>
              <a:latin typeface="微软雅黑"/>
              <a:ea typeface="微软雅黑"/>
              <a:cs typeface="微软雅黑"/>
            </a:endParaRPr>
          </a:p>
        </p:txBody>
      </p:sp>
      <p:grpSp>
        <p:nvGrpSpPr>
          <p:cNvPr id="18" name="Group 13"/>
          <p:cNvGrpSpPr>
            <a:grpSpLocks/>
          </p:cNvGrpSpPr>
          <p:nvPr/>
        </p:nvGrpSpPr>
        <p:grpSpPr bwMode="auto">
          <a:xfrm>
            <a:off x="467544" y="1993404"/>
            <a:ext cx="2968626" cy="879670"/>
            <a:chOff x="1408" y="1325"/>
            <a:chExt cx="1870" cy="588"/>
          </a:xfrm>
        </p:grpSpPr>
        <p:sp>
          <p:nvSpPr>
            <p:cNvPr id="19" name="Text Box 4"/>
            <p:cNvSpPr txBox="1">
              <a:spLocks noChangeArrowheads="1"/>
            </p:cNvSpPr>
            <p:nvPr/>
          </p:nvSpPr>
          <p:spPr bwMode="auto">
            <a:xfrm>
              <a:off x="1408" y="1530"/>
              <a:ext cx="649" cy="2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kumimoji="1" lang="zh-CN" altLang="en-US" sz="22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方法：</a:t>
              </a:r>
            </a:p>
          </p:txBody>
        </p:sp>
        <p:sp>
          <p:nvSpPr>
            <p:cNvPr id="20" name="AutoShape 5"/>
            <p:cNvSpPr>
              <a:spLocks/>
            </p:cNvSpPr>
            <p:nvPr/>
          </p:nvSpPr>
          <p:spPr bwMode="auto">
            <a:xfrm>
              <a:off x="1978" y="1456"/>
              <a:ext cx="107" cy="457"/>
            </a:xfrm>
            <a:prstGeom prst="leftBrace">
              <a:avLst>
                <a:gd name="adj1" fmla="val 31207"/>
                <a:gd name="adj2" fmla="val 50000"/>
              </a:avLst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 sz="2200">
                <a:latin typeface="微软雅黑"/>
                <a:ea typeface="微软雅黑"/>
                <a:cs typeface="微软雅黑"/>
              </a:endParaRPr>
            </a:p>
          </p:txBody>
        </p:sp>
        <p:sp>
          <p:nvSpPr>
            <p:cNvPr id="21" name="Text Box 6"/>
            <p:cNvSpPr txBox="1">
              <a:spLocks noChangeArrowheads="1"/>
            </p:cNvSpPr>
            <p:nvPr/>
          </p:nvSpPr>
          <p:spPr bwMode="auto">
            <a:xfrm>
              <a:off x="2095" y="1325"/>
              <a:ext cx="1183" cy="32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22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调整中心距；</a:t>
              </a:r>
            </a:p>
          </p:txBody>
        </p:sp>
      </p:grpSp>
      <p:grpSp>
        <p:nvGrpSpPr>
          <p:cNvPr id="22" name="组合 21"/>
          <p:cNvGrpSpPr/>
          <p:nvPr/>
        </p:nvGrpSpPr>
        <p:grpSpPr>
          <a:xfrm>
            <a:off x="323528" y="554405"/>
            <a:ext cx="2368128" cy="430887"/>
            <a:chOff x="547688" y="2282597"/>
            <a:chExt cx="2368128" cy="430887"/>
          </a:xfrm>
        </p:grpSpPr>
        <p:sp>
          <p:nvSpPr>
            <p:cNvPr id="23" name="Text Box 4"/>
            <p:cNvSpPr txBox="1">
              <a:spLocks noChangeArrowheads="1"/>
            </p:cNvSpPr>
            <p:nvPr/>
          </p:nvSpPr>
          <p:spPr bwMode="auto">
            <a:xfrm>
              <a:off x="761578" y="2282597"/>
              <a:ext cx="2154238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zh-CN" altLang="en-US" sz="2200" b="1">
                  <a:solidFill>
                    <a:srgbClr val="FFC000"/>
                  </a:solidFill>
                  <a:latin typeface="微软雅黑"/>
                  <a:ea typeface="微软雅黑"/>
                  <a:cs typeface="微软雅黑"/>
                </a:rPr>
                <a:t>张紧方法</a:t>
              </a:r>
            </a:p>
          </p:txBody>
        </p:sp>
        <p:sp>
          <p:nvSpPr>
            <p:cNvPr id="24" name="椭圆 23"/>
            <p:cNvSpPr/>
            <p:nvPr/>
          </p:nvSpPr>
          <p:spPr>
            <a:xfrm>
              <a:off x="547688" y="2427092"/>
              <a:ext cx="147637" cy="149225"/>
            </a:xfrm>
            <a:prstGeom prst="ellipse">
              <a:avLst/>
            </a:prstGeom>
            <a:solidFill>
              <a:srgbClr val="00FF00"/>
            </a:solidFill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25" name="组合 24"/>
          <p:cNvGrpSpPr/>
          <p:nvPr/>
        </p:nvGrpSpPr>
        <p:grpSpPr>
          <a:xfrm>
            <a:off x="7266047" y="535551"/>
            <a:ext cx="1760263" cy="2807151"/>
            <a:chOff x="7361458" y="554405"/>
            <a:chExt cx="1760263" cy="2807151"/>
          </a:xfrm>
        </p:grpSpPr>
        <p:pic>
          <p:nvPicPr>
            <p:cNvPr id="26" name="图片 1"/>
            <p:cNvPicPr>
              <a:picLocks noChangeAspect="1"/>
            </p:cNvPicPr>
            <p:nvPr/>
          </p:nvPicPr>
          <p:blipFill>
            <a:blip r:embed="rId7">
              <a:extLst>
                <a:ext uri="{BEBA8EAE-BF5A-486C-A8C5-ECC9F3942E4B}">
                  <a14:imgProps xmlns:a14="http://schemas.microsoft.com/office/drawing/2010/main">
                    <a14:imgLayer r:embed="rId8">
                      <a14:imgEffect>
                        <a14:brightnessContrast bright="20000" contrast="4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19007" y="554405"/>
              <a:ext cx="1605069" cy="24755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27" name="Text Box 6"/>
            <p:cNvSpPr txBox="1">
              <a:spLocks noChangeArrowheads="1"/>
            </p:cNvSpPr>
            <p:nvPr/>
          </p:nvSpPr>
          <p:spPr bwMode="auto">
            <a:xfrm>
              <a:off x="7361458" y="3069168"/>
              <a:ext cx="1760263" cy="292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en-US" altLang="zh-CN" sz="10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1</a:t>
              </a:r>
              <a:r>
                <a:rPr kumimoji="1" lang="zh-CN" altLang="en-US" sz="10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液压</a:t>
              </a:r>
              <a:r>
                <a:rPr kumimoji="1" lang="zh-CN" altLang="en-US" sz="1000" dirty="0" smtClean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张紧轮；</a:t>
              </a:r>
              <a:r>
                <a:rPr kumimoji="1" lang="en-US" altLang="zh-CN" sz="1000" dirty="0" smtClean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2</a:t>
              </a:r>
              <a:r>
                <a:rPr kumimoji="1" lang="zh-CN" altLang="en-US" sz="10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振动阻尼器</a:t>
              </a:r>
            </a:p>
          </p:txBody>
        </p:sp>
      </p:grpSp>
      <p:grpSp>
        <p:nvGrpSpPr>
          <p:cNvPr id="28" name="组合 27"/>
          <p:cNvGrpSpPr/>
          <p:nvPr/>
        </p:nvGrpSpPr>
        <p:grpSpPr>
          <a:xfrm>
            <a:off x="6084168" y="606398"/>
            <a:ext cx="1056717" cy="2736304"/>
            <a:chOff x="6300192" y="625252"/>
            <a:chExt cx="1056717" cy="2736304"/>
          </a:xfrm>
        </p:grpSpPr>
        <p:pic>
          <p:nvPicPr>
            <p:cNvPr id="29" name="Picture 2" descr="C:\Users\wugao\Desktop\8-9章图吴鹿鸣老师\0828.tif"/>
            <p:cNvPicPr>
              <a:picLocks noChangeAspect="1" noChangeArrowheads="1"/>
            </p:cNvPicPr>
            <p:nvPr/>
          </p:nvPicPr>
          <p:blipFill rotWithShape="1"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sharpenSoften amount="50000"/>
                      </a14:imgEffect>
                      <a14:imgEffect>
                        <a14:brightnessContrast bright="20000" contrast="-40000"/>
                      </a14:imgEffect>
                    </a14:imgLayer>
                  </a14:imgProps>
                </a:ext>
              </a:extLst>
            </a:blip>
            <a:srcRect t="5837"/>
            <a:stretch/>
          </p:blipFill>
          <p:spPr bwMode="auto">
            <a:xfrm>
              <a:off x="6300192" y="625252"/>
              <a:ext cx="1056717" cy="233101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30" name="Text Box 6"/>
            <p:cNvSpPr txBox="1">
              <a:spLocks noChangeArrowheads="1"/>
            </p:cNvSpPr>
            <p:nvPr/>
          </p:nvSpPr>
          <p:spPr bwMode="auto">
            <a:xfrm>
              <a:off x="6410429" y="3069168"/>
              <a:ext cx="825867" cy="2923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kumimoji="1" lang="zh-CN" altLang="en-US" sz="1000" dirty="0">
                  <a:solidFill>
                    <a:schemeClr val="tx2"/>
                  </a:solidFill>
                  <a:latin typeface="微软雅黑"/>
                  <a:ea typeface="微软雅黑"/>
                  <a:cs typeface="微软雅黑"/>
                </a:rPr>
                <a:t>振动示意图</a:t>
              </a:r>
            </a:p>
          </p:txBody>
        </p:sp>
      </p:grpSp>
      <p:sp>
        <p:nvSpPr>
          <p:cNvPr id="31" name="Rectangle 8"/>
          <p:cNvSpPr>
            <a:spLocks noChangeArrowheads="1"/>
          </p:cNvSpPr>
          <p:nvPr/>
        </p:nvSpPr>
        <p:spPr bwMode="auto">
          <a:xfrm>
            <a:off x="1577207" y="2497463"/>
            <a:ext cx="4416594" cy="4895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sz="2200" dirty="0">
                <a:latin typeface="微软雅黑"/>
                <a:ea typeface="微软雅黑"/>
                <a:cs typeface="微软雅黑"/>
              </a:rPr>
              <a:t>加张紧轮：</a:t>
            </a:r>
            <a:r>
              <a:rPr lang="zh-CN" altLang="en-US" sz="2200" dirty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靠近主动链轮的松</a:t>
            </a:r>
            <a:r>
              <a:rPr lang="zh-CN" altLang="en-US" sz="2200" dirty="0" smtClean="0">
                <a:solidFill>
                  <a:srgbClr val="E20000"/>
                </a:solidFill>
                <a:latin typeface="微软雅黑"/>
                <a:ea typeface="微软雅黑"/>
                <a:cs typeface="微软雅黑"/>
              </a:rPr>
              <a:t>边上</a:t>
            </a:r>
            <a:endParaRPr lang="zh-CN" altLang="en-US" sz="2200" dirty="0">
              <a:solidFill>
                <a:srgbClr val="E20000"/>
              </a:solidFill>
              <a:latin typeface="微软雅黑"/>
              <a:ea typeface="微软雅黑"/>
              <a:cs typeface="微软雅黑"/>
            </a:endParaRPr>
          </a:p>
        </p:txBody>
      </p:sp>
      <p:sp>
        <p:nvSpPr>
          <p:cNvPr id="32" name="Text Box 7"/>
          <p:cNvSpPr txBox="1">
            <a:spLocks noChangeArrowheads="1"/>
          </p:cNvSpPr>
          <p:nvPr/>
        </p:nvSpPr>
        <p:spPr bwMode="auto">
          <a:xfrm>
            <a:off x="1365597" y="3217540"/>
            <a:ext cx="1046163" cy="341312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342900" indent="-342900"/>
            <a:r>
              <a:rPr kumimoji="1" lang="zh-CN" altLang="en-US" sz="1600" dirty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自动张紧</a:t>
            </a:r>
          </a:p>
        </p:txBody>
      </p:sp>
      <p:sp>
        <p:nvSpPr>
          <p:cNvPr id="33" name="Text Box 8"/>
          <p:cNvSpPr txBox="1">
            <a:spLocks noChangeArrowheads="1"/>
          </p:cNvSpPr>
          <p:nvPr/>
        </p:nvSpPr>
        <p:spPr bwMode="auto">
          <a:xfrm>
            <a:off x="5902101" y="3549172"/>
            <a:ext cx="1046163" cy="341313"/>
          </a:xfrm>
          <a:prstGeom prst="rect">
            <a:avLst/>
          </a:prstGeom>
          <a:solidFill>
            <a:srgbClr val="FFC000"/>
          </a:solidFill>
          <a:ln w="9525">
            <a:noFill/>
            <a:miter lim="800000"/>
            <a:headEnd/>
            <a:tailEnd/>
          </a:ln>
        </p:spPr>
        <p:txBody>
          <a:bodyPr lIns="90000" tIns="46800" rIns="90000" bIns="46800">
            <a:spAutoFit/>
          </a:bodyPr>
          <a:lstStyle/>
          <a:p>
            <a:pPr marL="342900" indent="-342900"/>
            <a:r>
              <a:rPr kumimoji="1" lang="zh-CN" altLang="en-US" sz="1600" dirty="0">
                <a:solidFill>
                  <a:schemeClr val="tx2"/>
                </a:solidFill>
                <a:latin typeface="微软雅黑"/>
                <a:ea typeface="微软雅黑"/>
                <a:cs typeface="微软雅黑"/>
              </a:rPr>
              <a:t>定期调整</a:t>
            </a:r>
          </a:p>
        </p:txBody>
      </p:sp>
    </p:spTree>
    <p:extLst>
      <p:ext uri="{BB962C8B-B14F-4D97-AF65-F5344CB8AC3E}">
        <p14:creationId xmlns:p14="http://schemas.microsoft.com/office/powerpoint/2010/main" val="27276863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75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7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75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31" grpId="0"/>
      <p:bldP spid="32" grpId="0" animBg="1"/>
      <p:bldP spid="3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单圆角矩形 3"/>
          <p:cNvSpPr/>
          <p:nvPr/>
        </p:nvSpPr>
        <p:spPr>
          <a:xfrm>
            <a:off x="5796136" y="113996"/>
            <a:ext cx="3204360" cy="252000"/>
          </a:xfrm>
          <a:prstGeom prst="round1Rect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500" dirty="0" smtClean="0">
                <a:solidFill>
                  <a:srgbClr val="FF6600"/>
                </a:solidFill>
              </a:rPr>
              <a:t>带传动与链传动对比</a:t>
            </a:r>
            <a:endParaRPr lang="zh-CN" altLang="en-US" sz="1500" dirty="0">
              <a:solidFill>
                <a:srgbClr val="FF6600"/>
              </a:solidFill>
            </a:endParaRPr>
          </a:p>
        </p:txBody>
      </p:sp>
      <p:sp>
        <p:nvSpPr>
          <p:cNvPr id="5" name="直角三角形 4"/>
          <p:cNvSpPr/>
          <p:nvPr/>
        </p:nvSpPr>
        <p:spPr>
          <a:xfrm flipH="1">
            <a:off x="5500831" y="113996"/>
            <a:ext cx="295305" cy="252000"/>
          </a:xfrm>
          <a:prstGeom prst="rtTriangle">
            <a:avLst/>
          </a:prstGeom>
          <a:solidFill>
            <a:srgbClr val="FFCC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连接符 6"/>
          <p:cNvCxnSpPr/>
          <p:nvPr/>
        </p:nvCxnSpPr>
        <p:spPr>
          <a:xfrm>
            <a:off x="0" y="531244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/>
          <p:cNvCxnSpPr/>
          <p:nvPr/>
        </p:nvCxnSpPr>
        <p:spPr>
          <a:xfrm>
            <a:off x="0" y="1251324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/>
          <p:nvPr/>
        </p:nvCxnSpPr>
        <p:spPr>
          <a:xfrm>
            <a:off x="0" y="5536084"/>
            <a:ext cx="9144000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/>
        </p:nvSpPr>
        <p:spPr>
          <a:xfrm>
            <a:off x="1368153" y="711821"/>
            <a:ext cx="37079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带传动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：有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中间挠性件的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摩擦</a:t>
            </a:r>
            <a:r>
              <a:rPr kumimoji="1"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364088" y="711548"/>
            <a:ext cx="364715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b="1" dirty="0">
                <a:solidFill>
                  <a:srgbClr val="0000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链传动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：有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中间挠性件的</a:t>
            </a:r>
            <a:r>
              <a:rPr kumimoji="1" lang="zh-CN" altLang="en-US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啮合</a:t>
            </a:r>
            <a:r>
              <a:rPr kumimoji="1" lang="zh-CN" altLang="en-US" dirty="0" smtClean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传动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17" name="直接连接符 16"/>
          <p:cNvCxnSpPr/>
          <p:nvPr/>
        </p:nvCxnSpPr>
        <p:spPr>
          <a:xfrm>
            <a:off x="0" y="2295724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文本框 17"/>
          <p:cNvSpPr txBox="1"/>
          <p:nvPr/>
        </p:nvSpPr>
        <p:spPr>
          <a:xfrm>
            <a:off x="87330" y="1617460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+mn-ea"/>
                <a:ea typeface="+mn-ea"/>
              </a:rPr>
              <a:t>固有特性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19" name="TextBox 5"/>
          <p:cNvSpPr txBox="1"/>
          <p:nvPr/>
        </p:nvSpPr>
        <p:spPr>
          <a:xfrm>
            <a:off x="1405461" y="1617460"/>
            <a:ext cx="36920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摩擦力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拉力差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：弹性滑动，</a:t>
            </a:r>
            <a:r>
              <a:rPr kumimoji="1" lang="en-US" altLang="zh-CN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i 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变化</a:t>
            </a:r>
          </a:p>
        </p:txBody>
      </p:sp>
      <p:sp>
        <p:nvSpPr>
          <p:cNvPr id="20" name="TextBox 9"/>
          <p:cNvSpPr txBox="1"/>
          <p:nvPr/>
        </p:nvSpPr>
        <p:spPr>
          <a:xfrm>
            <a:off x="5213069" y="1393519"/>
            <a:ext cx="39309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多边形效应：运动不均匀性和动载荷</a:t>
            </a:r>
          </a:p>
        </p:txBody>
      </p:sp>
      <p:sp>
        <p:nvSpPr>
          <p:cNvPr id="21" name="TextBox 7"/>
          <p:cNvSpPr txBox="1"/>
          <p:nvPr/>
        </p:nvSpPr>
        <p:spPr>
          <a:xfrm>
            <a:off x="6012160" y="1813935"/>
            <a:ext cx="8819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zh-CN" altLang="en-US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平均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=C</a:t>
            </a:r>
            <a:endParaRPr kumimoji="1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sp>
        <p:nvSpPr>
          <p:cNvPr id="22" name="TextBox 9"/>
          <p:cNvSpPr txBox="1"/>
          <p:nvPr/>
        </p:nvSpPr>
        <p:spPr>
          <a:xfrm>
            <a:off x="7126105" y="1818096"/>
            <a:ext cx="10462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1" i="1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i</a:t>
            </a:r>
            <a:r>
              <a:rPr kumimoji="1" lang="zh-CN" altLang="en-US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瞬时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≠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C</a:t>
            </a:r>
            <a:endParaRPr kumimoji="1" lang="zh-CN" altLang="en-US" b="0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0" y="2871788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本框 23"/>
          <p:cNvSpPr txBox="1"/>
          <p:nvPr/>
        </p:nvSpPr>
        <p:spPr>
          <a:xfrm>
            <a:off x="87330" y="242084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+mn-ea"/>
                <a:ea typeface="+mn-ea"/>
              </a:rPr>
              <a:t>影响参数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5" name="TextBox 11"/>
          <p:cNvSpPr txBox="1"/>
          <p:nvPr/>
        </p:nvSpPr>
        <p:spPr>
          <a:xfrm>
            <a:off x="2310636" y="2424095"/>
            <a:ext cx="18229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F; F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过大 </a:t>
            </a:r>
            <a:r>
              <a:rPr kumimoji="1" lang="zh-CN" altLang="en-US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Wingdings"/>
              </a:rPr>
              <a:t> 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打滑</a:t>
            </a:r>
          </a:p>
        </p:txBody>
      </p:sp>
      <p:sp>
        <p:nvSpPr>
          <p:cNvPr id="26" name="TextBox 15"/>
          <p:cNvSpPr txBox="1"/>
          <p:nvPr/>
        </p:nvSpPr>
        <p:spPr>
          <a:xfrm>
            <a:off x="6621272" y="2429458"/>
            <a:ext cx="10182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z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, p, n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b="0" i="0" u="none" strike="noStrike" kern="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27" name="直接连接符 26"/>
          <p:cNvCxnSpPr/>
          <p:nvPr/>
        </p:nvCxnSpPr>
        <p:spPr>
          <a:xfrm>
            <a:off x="0" y="3419276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文本框 27"/>
          <p:cNvSpPr txBox="1"/>
          <p:nvPr/>
        </p:nvSpPr>
        <p:spPr>
          <a:xfrm>
            <a:off x="97534" y="2968335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+mn-ea"/>
                <a:ea typeface="+mn-ea"/>
              </a:rPr>
              <a:t>承载能力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9" name="TextBox 13"/>
          <p:cNvSpPr txBox="1"/>
          <p:nvPr/>
        </p:nvSpPr>
        <p:spPr>
          <a:xfrm>
            <a:off x="2188527" y="2968335"/>
            <a:ext cx="21259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, </a:t>
            </a:r>
            <a:r>
              <a:rPr kumimoji="1" lang="el-GR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, f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及疲劳强度</a:t>
            </a:r>
          </a:p>
        </p:txBody>
      </p:sp>
      <p:sp>
        <p:nvSpPr>
          <p:cNvPr id="30" name="TextBox 17"/>
          <p:cNvSpPr txBox="1"/>
          <p:nvPr/>
        </p:nvSpPr>
        <p:spPr>
          <a:xfrm>
            <a:off x="6110442" y="2972816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疲劳强度和耐磨性</a:t>
            </a:r>
          </a:p>
        </p:txBody>
      </p:sp>
      <p:cxnSp>
        <p:nvCxnSpPr>
          <p:cNvPr id="31" name="直接连接符 30"/>
          <p:cNvCxnSpPr/>
          <p:nvPr/>
        </p:nvCxnSpPr>
        <p:spPr>
          <a:xfrm>
            <a:off x="0" y="3957916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文本框 31"/>
          <p:cNvSpPr txBox="1"/>
          <p:nvPr/>
        </p:nvSpPr>
        <p:spPr>
          <a:xfrm>
            <a:off x="97534" y="3524288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+mn-ea"/>
                <a:ea typeface="+mn-ea"/>
              </a:rPr>
              <a:t>设计选型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3" name="TextBox 19"/>
          <p:cNvSpPr txBox="1"/>
          <p:nvPr/>
        </p:nvSpPr>
        <p:spPr>
          <a:xfrm>
            <a:off x="2894437" y="3528934"/>
            <a:ext cx="8659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c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b="0" i="0" u="none" strike="noStrike" kern="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4" name="TextBox 21"/>
          <p:cNvSpPr txBox="1"/>
          <p:nvPr/>
        </p:nvSpPr>
        <p:spPr>
          <a:xfrm>
            <a:off x="6742653" y="3534492"/>
            <a:ext cx="878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P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与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endParaRPr kumimoji="1" lang="zh-CN" altLang="en-US" b="0" i="0" u="none" strike="noStrike" kern="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0" y="4510916"/>
            <a:ext cx="9144000" cy="0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文本框 35"/>
          <p:cNvSpPr txBox="1"/>
          <p:nvPr/>
        </p:nvSpPr>
        <p:spPr>
          <a:xfrm>
            <a:off x="97534" y="4064013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+mn-ea"/>
                <a:ea typeface="+mn-ea"/>
              </a:rPr>
              <a:t>布       置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7" name="TextBox 23"/>
          <p:cNvSpPr txBox="1"/>
          <p:nvPr/>
        </p:nvSpPr>
        <p:spPr>
          <a:xfrm>
            <a:off x="1563859" y="4064013"/>
            <a:ext cx="35270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marR="0" lvl="0" indent="-803275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紧边在下，张紧调节</a:t>
            </a:r>
            <a:r>
              <a:rPr kumimoji="1" lang="en-US" altLang="zh-CN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F</a:t>
            </a:r>
            <a:r>
              <a:rPr kumimoji="1" lang="en-US" altLang="zh-CN" b="0" i="0" u="none" strike="noStrike" kern="0" cap="none" spc="0" normalizeH="0" baseline="-2500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0</a:t>
            </a: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，高速级</a:t>
            </a:r>
            <a:endParaRPr kumimoji="1" lang="zh-CN" altLang="en-US" b="0" i="0" u="none" strike="noStrike" kern="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8" name="TextBox 25"/>
          <p:cNvSpPr txBox="1"/>
          <p:nvPr/>
        </p:nvSpPr>
        <p:spPr>
          <a:xfrm>
            <a:off x="5335645" y="4064013"/>
            <a:ext cx="36495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marR="0" lvl="0" indent="-803275" algn="ctr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rPr>
              <a:t>紧边在上，张紧控制垂度，低速级</a:t>
            </a:r>
            <a:endParaRPr kumimoji="1" lang="zh-CN" altLang="en-US" b="0" i="0" u="none" strike="noStrike" kern="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76695" y="4798418"/>
            <a:ext cx="11288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 smtClean="0">
                <a:solidFill>
                  <a:srgbClr val="C00000"/>
                </a:solidFill>
                <a:latin typeface="+mn-ea"/>
                <a:ea typeface="+mn-ea"/>
              </a:rPr>
              <a:t>共       性</a:t>
            </a:r>
            <a:endParaRPr lang="zh-CN" altLang="en-US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cxnSp>
        <p:nvCxnSpPr>
          <p:cNvPr id="43" name="直接连接符 42"/>
          <p:cNvCxnSpPr/>
          <p:nvPr/>
        </p:nvCxnSpPr>
        <p:spPr>
          <a:xfrm>
            <a:off x="5205784" y="531244"/>
            <a:ext cx="0" cy="3979672"/>
          </a:xfrm>
          <a:prstGeom prst="line">
            <a:avLst/>
          </a:prstGeom>
          <a:ln w="28575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连接符 43"/>
          <p:cNvCxnSpPr/>
          <p:nvPr/>
        </p:nvCxnSpPr>
        <p:spPr>
          <a:xfrm>
            <a:off x="1288208" y="531244"/>
            <a:ext cx="0" cy="5004840"/>
          </a:xfrm>
          <a:prstGeom prst="line">
            <a:avLst/>
          </a:prstGeom>
          <a:ln w="28575" cmpd="dbl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TextBox 23"/>
          <p:cNvSpPr txBox="1"/>
          <p:nvPr/>
        </p:nvSpPr>
        <p:spPr>
          <a:xfrm>
            <a:off x="1563858" y="4651102"/>
            <a:ext cx="49523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marR="0" lvl="0" indent="-803275" defTabSz="914400" eaLnBrk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远距离传动；希望</a:t>
            </a:r>
            <a:r>
              <a:rPr kumimoji="1" lang="el-GR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α</a:t>
            </a:r>
            <a:r>
              <a:rPr kumimoji="1" lang="en-US" altLang="zh-CN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大一些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；有紧边、松边；</a:t>
            </a:r>
            <a:endParaRPr kumimoji="1" lang="zh-CN" altLang="en-US" b="0" i="0" u="none" strike="noStrike" kern="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7" name="TextBox 23"/>
          <p:cNvSpPr txBox="1"/>
          <p:nvPr/>
        </p:nvSpPr>
        <p:spPr>
          <a:xfrm>
            <a:off x="1563859" y="5051312"/>
            <a:ext cx="49523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03275" indent="-803275" eaLnBrk="0" fontAlgn="auto" hangingPunct="0">
              <a:spcBef>
                <a:spcPts val="0"/>
              </a:spcBef>
              <a:spcAft>
                <a:spcPts val="0"/>
              </a:spcAft>
              <a:defRPr/>
            </a:pPr>
            <a:r>
              <a:rPr kumimoji="1"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受变应力作用；</a:t>
            </a: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kumimoji="1" lang="en-US" altLang="zh-CN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L</a:t>
            </a:r>
            <a:r>
              <a:rPr kumimoji="1" lang="zh-CN" altLang="en-US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对传动影响；张紧方法</a:t>
            </a:r>
            <a:r>
              <a:rPr kumimoji="1" lang="zh-CN" altLang="en-US" dirty="0" smtClean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。</a:t>
            </a:r>
            <a:endParaRPr kumimoji="1" lang="zh-CN" altLang="en-US" b="0" i="0" u="none" strike="noStrike" kern="0" cap="none" spc="0" normalizeH="0" baseline="-2500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50017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矩形 7"/>
          <p:cNvSpPr>
            <a:spLocks noChangeArrowheads="1"/>
          </p:cNvSpPr>
          <p:nvPr/>
        </p:nvSpPr>
        <p:spPr bwMode="auto">
          <a:xfrm>
            <a:off x="280990" y="528639"/>
            <a:ext cx="1081087" cy="230832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>
            <a:spAutoFit/>
          </a:bodyPr>
          <a:lstStyle/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www.1ppt.com/moban/     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行业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www.1ppt.com/hangye/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节日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模板：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www.1ppt.com/jieri/   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素材下载：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www.1ppt.com/sucai/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背景图片：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www.1ppt.com/beijing/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图表下载：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www.1ppt.com/tubiao/    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优秀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www.1ppt.com/xiazai/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 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www.1ppt.com/powerpoint/      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Word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 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www.1ppt.com/word/              Excel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教程：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www.1ppt.com/excel/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资料下载：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www.1ppt.com/ziliao/                PPT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课件下载：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www.1ppt.com/kejian/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范文下载：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www.1ppt.com/fanwen/             </a:t>
            </a:r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试卷下载：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www.1ppt.com/shiti/  </a:t>
            </a:r>
          </a:p>
          <a:p>
            <a:r>
              <a:rPr lang="zh-CN" altLang="en-US" sz="100">
                <a:solidFill>
                  <a:srgbClr val="FFFFFF"/>
                </a:solidFill>
                <a:latin typeface="Calibri" panose="020F0502020204030204" pitchFamily="34" charset="0"/>
              </a:rPr>
              <a:t>教案下载：</a:t>
            </a:r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www.1ppt.com/jiaoan/  </a:t>
            </a:r>
          </a:p>
          <a:p>
            <a:r>
              <a:rPr lang="en-US" altLang="zh-CN" sz="100">
                <a:solidFill>
                  <a:srgbClr val="FFFFFF"/>
                </a:solidFill>
                <a:latin typeface="Calibri" panose="020F0502020204030204" pitchFamily="34" charset="0"/>
              </a:rPr>
              <a:t> </a:t>
            </a:r>
            <a:endParaRPr lang="zh-CN" altLang="en-US" sz="10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pic>
        <p:nvPicPr>
          <p:cNvPr id="2097152" name="图片 5" descr="background1.jpg"/>
          <p:cNvPicPr>
            <a:picLocks noChangeAspect="1"/>
          </p:cNvPicPr>
          <p:nvPr/>
        </p:nvPicPr>
        <p:blipFill>
          <a:blip r:embed="rId2"/>
          <a:srcRect t="12988"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97153" name="图片 3" descr="1369025_233359298000_2.jpg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r="12871" b="12666"/>
          <a:stretch>
            <a:fillRect/>
          </a:stretch>
        </p:blipFill>
        <p:spPr bwMode="auto">
          <a:xfrm>
            <a:off x="1692275" y="863600"/>
            <a:ext cx="5422900" cy="4851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48585" name="Rectangle 10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412750" y="5297488"/>
            <a:ext cx="4159250" cy="296862"/>
          </a:xfrm>
        </p:spPr>
        <p:txBody>
          <a:bodyPr wrap="square" numCol="1" anchorCtr="0" compatLnSpc="1"/>
          <a:lstStyle/>
          <a:p>
            <a:pPr marL="342900" indent="-342900" algn="l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800" smtClean="0">
                <a:solidFill>
                  <a:srgbClr val="BFBFBF"/>
                </a:solidFill>
                <a:latin typeface="微软雅黑" panose="020B0503020204020204" charset="-122"/>
                <a:cs typeface="微软雅黑" panose="020B0503020204020204" charset="-122"/>
              </a:rPr>
              <a:t>http://www.swjtu.edu.cn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Tk3MjA0Y2M0ZGM0MTI2OWFmMTU5NDNjNTM2NzMzNzkifQ=="/>
</p:tagLst>
</file>

<file path=ppt/theme/theme1.xml><?xml version="1.0" encoding="utf-8"?>
<a:theme xmlns:a="http://schemas.openxmlformats.org/drawingml/2006/main" name="藏珠馆 Wholehr.taobao.com 原创商务模板">
  <a:themeElements>
    <a:clrScheme name="灰度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视点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3381</TotalTime>
  <Words>1940</Words>
  <Application>Microsoft Office PowerPoint</Application>
  <PresentationFormat>全屏显示(16:10)</PresentationFormat>
  <Paragraphs>248</Paragraphs>
  <Slides>21</Slides>
  <Notes>5</Notes>
  <HiddenSlides>0</HiddenSlides>
  <MMClips>0</MMClips>
  <ScaleCrop>false</ScaleCrop>
  <HeadingPairs>
    <vt:vector size="8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5</vt:i4>
      </vt:variant>
      <vt:variant>
        <vt:lpstr>幻灯片标题</vt:lpstr>
      </vt:variant>
      <vt:variant>
        <vt:i4>21</vt:i4>
      </vt:variant>
    </vt:vector>
  </HeadingPairs>
  <TitlesOfParts>
    <vt:vector size="42" baseType="lpstr">
      <vt:lpstr>Arial Unicode MS</vt:lpstr>
      <vt:lpstr>UniversalMath1 BT</vt:lpstr>
      <vt:lpstr>仿宋_GB2312</vt:lpstr>
      <vt:lpstr>黑体</vt:lpstr>
      <vt:lpstr>华文中宋</vt:lpstr>
      <vt:lpstr>隶书</vt:lpstr>
      <vt:lpstr>宋体</vt:lpstr>
      <vt:lpstr>微软雅黑</vt:lpstr>
      <vt:lpstr>Arial</vt:lpstr>
      <vt:lpstr>Calibri</vt:lpstr>
      <vt:lpstr>Cambria Math</vt:lpstr>
      <vt:lpstr>Symbol</vt:lpstr>
      <vt:lpstr>Times New Roman</vt:lpstr>
      <vt:lpstr>Verdana</vt:lpstr>
      <vt:lpstr>Wingdings</vt:lpstr>
      <vt:lpstr>藏珠馆 Wholehr.taobao.com 原创商务模板</vt:lpstr>
      <vt:lpstr>Image</vt:lpstr>
      <vt:lpstr>公式</vt:lpstr>
      <vt:lpstr>Equation</vt:lpstr>
      <vt:lpstr>BMP 图象</vt:lpstr>
      <vt:lpstr>位图图像</vt:lpstr>
      <vt:lpstr>PowerPoint 演示文稿</vt:lpstr>
      <vt:lpstr>本章内容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ylmf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藏珠馆 WholeHR.taobao.com</dc:creator>
  <cp:lastModifiedBy>Microsoft</cp:lastModifiedBy>
  <cp:revision>822</cp:revision>
  <dcterms:created xsi:type="dcterms:W3CDTF">2012-03-17T16:08:00Z</dcterms:created>
  <dcterms:modified xsi:type="dcterms:W3CDTF">2024-10-02T02:38:15Z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449056D2969D4DD0B2116DAC6D8A9ABC_12</vt:lpwstr>
  </property>
  <property fmtid="{D5CDD505-2E9C-101B-9397-08002B2CF9AE}" pid="3" name="KSOProductBuildVer">
    <vt:lpwstr>2052-12.1.0.15990</vt:lpwstr>
  </property>
</Properties>
</file>