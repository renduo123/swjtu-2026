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595" r:id="rId4"/>
    <p:sldId id="596" r:id="rId5"/>
    <p:sldId id="597" r:id="rId6"/>
    <p:sldId id="598" r:id="rId7"/>
    <p:sldId id="599" r:id="rId8"/>
    <p:sldId id="600" r:id="rId9"/>
    <p:sldId id="601" r:id="rId10"/>
    <p:sldId id="602" r:id="rId11"/>
    <p:sldId id="603" r:id="rId12"/>
    <p:sldId id="604" r:id="rId13"/>
    <p:sldId id="605" r:id="rId14"/>
    <p:sldId id="607" r:id="rId15"/>
    <p:sldId id="608" r:id="rId16"/>
    <p:sldId id="609" r:id="rId17"/>
    <p:sldId id="611" r:id="rId18"/>
    <p:sldId id="612" r:id="rId19"/>
    <p:sldId id="613" r:id="rId20"/>
    <p:sldId id="614" r:id="rId21"/>
    <p:sldId id="615" r:id="rId22"/>
    <p:sldId id="412" r:id="rId23"/>
  </p:sldIdLst>
  <p:sldSz cx="9144000" cy="5715000" type="screen16x1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88" userDrawn="1">
          <p15:clr>
            <a:srgbClr val="A4A3A4"/>
          </p15:clr>
        </p15:guide>
        <p15:guide id="4" pos="2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2"/>
    <a:srgbClr val="0000FF"/>
    <a:srgbClr val="3366FF"/>
    <a:srgbClr val="680068"/>
    <a:srgbClr val="800080"/>
    <a:srgbClr val="990099"/>
    <a:srgbClr val="FF00FF"/>
    <a:srgbClr val="FFD833"/>
    <a:srgbClr val="FFCC0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5211" autoAdjust="0"/>
  </p:normalViewPr>
  <p:slideViewPr>
    <p:cSldViewPr showGuides="1">
      <p:cViewPr varScale="1">
        <p:scale>
          <a:sx n="133" d="100"/>
          <a:sy n="133" d="100"/>
        </p:scale>
        <p:origin x="990" y="108"/>
      </p:cViewPr>
      <p:guideLst>
        <p:guide orient="horz" pos="1800"/>
        <p:guide pos="2880"/>
        <p:guide pos="5488"/>
        <p:guide pos="2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543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fld id="{F37EA0CE-5915-4F4C-B676-E17D05F042EF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5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105435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0543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543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fld id="{02F0FA9E-A47E-4458-A8BA-8FCC88CC1B1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04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一般蜗杆主动，自锁蜗杆蜗轮不能主动。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由于蜗杆传动工作平稳、噪声小、传动比大、结构紧凑，广泛应用于冶金、起重、机床及各种仪表等领域。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034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环面蜗杆传动：</a:t>
            </a:r>
            <a:r>
              <a:rPr lang="zh-CN" altLang="en-US" dirty="0" smtClean="0"/>
              <a:t>同时啮合的齿对多，大大改善了轮齿受力情况和润滑油膜的形成条件，因而承载能力约为阿基米德蜗杆传动的</a:t>
            </a:r>
            <a:r>
              <a:rPr lang="en-US" altLang="zh-CN" dirty="0" smtClean="0"/>
              <a:t>2-4</a:t>
            </a:r>
            <a:r>
              <a:rPr lang="zh-CN" altLang="en-US" dirty="0" smtClean="0"/>
              <a:t>倍，效率一般高达</a:t>
            </a:r>
            <a:r>
              <a:rPr lang="en-US" altLang="zh-CN" dirty="0" smtClean="0"/>
              <a:t>0.85-0.9</a:t>
            </a:r>
            <a:r>
              <a:rPr lang="zh-CN" altLang="en-US" dirty="0" smtClean="0"/>
              <a:t>。但制造和安装精度要求较高。</a:t>
            </a:r>
            <a:endParaRPr lang="en-US" altLang="zh-CN" dirty="0" smtClean="0"/>
          </a:p>
          <a:p>
            <a:r>
              <a:rPr lang="zh-CN" altLang="en-US" b="0" dirty="0" smtClean="0"/>
              <a:t>锥面蜗杆传动：</a:t>
            </a:r>
            <a:r>
              <a:rPr lang="zh-CN" altLang="en-US" dirty="0" smtClean="0"/>
              <a:t>同时接触的点数较多，重合度大；传动比范围大（</a:t>
            </a:r>
            <a:r>
              <a:rPr lang="en-US" altLang="zh-CN" dirty="0" smtClean="0"/>
              <a:t>10-360</a:t>
            </a:r>
            <a:r>
              <a:rPr lang="zh-CN" altLang="en-US" dirty="0" smtClean="0"/>
              <a:t>）；承载能力和效率较高；侧隙便于控制和调整；能作离合器使用；传动具有不对称性，因而正反转时受力不同，承载能力和效率也不同。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阿基米德蜗杆：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中间平面：齿条与渐开线齿轮啮合；端面：阿基米德螺旋线。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0541FE-6A02-44C7-9DF4-18CC7D02DB7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824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蜗杆：仿形法（与标准齿条形状相同的车刀加工）；蜗轮：范成法（蜗轮滚刀在滚齿机上加工）。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蜗杆的轴向压力角为标准值。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495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为了减少刀具数量，降低加工成本，对同一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的蜗杆，应对直径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进行限制，蜗杆分度圆直径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与模数的对应关系可参见相关设计手册。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蜗杆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头数</a:t>
            </a:r>
            <a:r>
              <a:rPr lang="en-US" altLang="zh-CN" sz="1200" i="1" dirty="0" smtClean="0">
                <a:ea typeface="微软雅黑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12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：蜗杆上蜗旋线的数目。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218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100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zh-CN" sz="1200" b="0" i="1" dirty="0" smtClean="0">
                    <a:latin typeface="Cambria Math" panose="02040503050406030204" pitchFamily="18" charset="0"/>
                  </a:rPr>
                  <a:t>——</a:t>
                </a:r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材料的弹性影响系数，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𝑀𝑃𝑎</m:t>
                        </m:r>
                      </m:e>
                    </m:rad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钢制蜗杆与铸锡青铜蜗轮配对时，取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</a:rPr>
                  <a:t>150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𝑀𝑃𝑎</m:t>
                        </m:r>
                      </m:e>
                    </m:rad>
                  </m:oMath>
                </a14:m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；与铸铝青铜和灰铸铁蜗轮配对时，取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</a:rPr>
                  <a:t>160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𝑀𝑃𝑎</m:t>
                        </m:r>
                      </m:e>
                    </m:rad>
                  </m:oMath>
                </a14:m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。</a:t>
                </a:r>
                <a:endParaRPr lang="en-US" altLang="zh-CN" sz="1200" b="0" i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zh-CN" altLang="en-US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考虑齿面曲率和接触线长度影响的系数，简称接触系数。可由图</a:t>
                </a:r>
                <a:r>
                  <a:rPr lang="en-US" altLang="zh-CN" dirty="0" smtClean="0"/>
                  <a:t>9-7</a:t>
                </a:r>
                <a:r>
                  <a:rPr lang="zh-CN" altLang="en-US" dirty="0" smtClean="0"/>
                  <a:t>查出。</a:t>
                </a:r>
                <a:endParaRPr lang="en-US" altLang="zh-CN" dirty="0" smtClean="0"/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一般不进行弯曲疲劳强度计算。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𝑍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𝐸</a:t>
                </a:r>
                <a:r>
                  <a:rPr lang="en-US" altLang="zh-CN" sz="1200" b="0" i="1" dirty="0" smtClean="0">
                    <a:latin typeface="Cambria Math" panose="02040503050406030204" pitchFamily="18" charset="0"/>
                  </a:rPr>
                  <a:t>——</a:t>
                </a:r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材料的弹性影响系数，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√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𝑀𝑃𝑎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 。</a:t>
                </a:r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钢制蜗杆与铸锡青铜蜗轮配对时，取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</a:rPr>
                  <a:t>150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√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𝑀𝑃𝑎</a:t>
                </a:r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；与铸铝青铜和灰铸铁蜗轮配对时，取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</a:rPr>
                  <a:t>160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√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𝑀𝑃𝑎</a:t>
                </a:r>
                <a:r>
                  <a:rPr lang="zh-CN" altLang="en-US" sz="1200" b="0" i="0" dirty="0" smtClean="0">
                    <a:latin typeface="Cambria Math" panose="02040503050406030204" pitchFamily="18" charset="0"/>
                  </a:rPr>
                  <a:t>。</a:t>
                </a:r>
                <a:endParaRPr lang="en-US" altLang="zh-CN" sz="1200" b="0" i="0" dirty="0" smtClean="0">
                  <a:latin typeface="Cambria Math" panose="02040503050406030204" pitchFamily="18" charset="0"/>
                </a:endParaRPr>
              </a:p>
              <a:p>
                <a:pPr/>
                <a:r>
                  <a:rPr lang="en-US" altLang="zh-CN" sz="1200" b="0" i="0" smtClean="0">
                    <a:latin typeface="Cambria Math" panose="02040503050406030204" pitchFamily="18" charset="0"/>
                  </a:rPr>
                  <a:t>𝑍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zh-CN" altLang="en-US" sz="1200" b="0" i="0" smtClean="0">
                    <a:latin typeface="Cambria Math" panose="02040503050406030204" pitchFamily="18" charset="0"/>
                  </a:rPr>
                  <a:t>𝜌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考虑齿面曲率和接触线长度影响的系数，简称接触系数。可由图</a:t>
                </a:r>
                <a:r>
                  <a:rPr lang="en-US" altLang="zh-CN" dirty="0" smtClean="0"/>
                  <a:t>9-7</a:t>
                </a:r>
                <a:r>
                  <a:rPr lang="zh-CN" altLang="en-US" dirty="0" smtClean="0"/>
                  <a:t>查出。</a:t>
                </a:r>
                <a:endParaRPr lang="en-US" altLang="zh-CN" dirty="0" smtClean="0"/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一般不进行弯曲疲劳强度计算。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371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0541FE-6A02-44C7-9DF4-18CC7D02DB7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34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合理选择传动类型：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满足性能特点和适应环境特点。选择时需综合考虑传动效率、速度、传动比、传递功率及等主要因素。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灯片编号占位符 5"/>
          <p:cNvSpPr txBox="1"/>
          <p:nvPr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A0566AA-6162-4D95-AC0C-E78E38CB513D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695" name="AutoShape 11" descr="http://img3.imgtn.bdimg.com/it/u=648473279,3398283694&amp;fm=21&amp;gp=0.jpg"/>
          <p:cNvSpPr>
            <a:spLocks noChangeAspect="1" noChangeArrowheads="1"/>
          </p:cNvSpPr>
          <p:nvPr userDrawn="1"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48696" name="AutoShape 13" descr="http://img3.imgtn.bdimg.com/it/u=648473279,3398283694&amp;fm=21&amp;gp=0.jpg"/>
          <p:cNvSpPr>
            <a:spLocks noChangeAspect="1" noChangeArrowheads="1"/>
          </p:cNvSpPr>
          <p:nvPr userDrawn="1"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48698" name="灯片编号占位符 5"/>
          <p:cNvSpPr txBox="1"/>
          <p:nvPr userDrawn="1"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A410C9-B208-4A8D-BBA4-F9BEF18974F4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2097166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14" y="3729"/>
            <a:ext cx="9144000" cy="17497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67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3937620"/>
            <a:ext cx="9144000" cy="177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1789590"/>
            <a:ext cx="9144000" cy="21480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603729"/>
            <a:ext cx="9144000" cy="17497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50" name="组合 38"/>
          <p:cNvGrpSpPr/>
          <p:nvPr userDrawn="1"/>
        </p:nvGrpSpPr>
        <p:grpSpPr>
          <a:xfrm>
            <a:off x="-2193" y="4081636"/>
            <a:ext cx="9144233" cy="360040"/>
            <a:chOff x="-2193" y="3579862"/>
            <a:chExt cx="9144233" cy="360040"/>
          </a:xfrm>
        </p:grpSpPr>
        <p:graphicFrame>
          <p:nvGraphicFramePr>
            <p:cNvPr id="51" name="对象 39"/>
            <p:cNvGraphicFramePr>
              <a:graphicFrameLocks noChangeAspect="1"/>
            </p:cNvGraphicFramePr>
            <p:nvPr/>
          </p:nvGraphicFramePr>
          <p:xfrm>
            <a:off x="-2193" y="3579862"/>
            <a:ext cx="914400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1989" name="Image" r:id="rId4" imgW="7553325" imgH="704850" progId="">
                    <p:embed/>
                  </p:oleObj>
                </mc:Choice>
                <mc:Fallback>
                  <p:oleObj name="Image" r:id="rId4" imgW="7553325" imgH="704850" progId="">
                    <p:embed/>
                    <p:pic>
                      <p:nvPicPr>
                        <p:cNvPr id="0" name="图片 59417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 t="16559" r="903"/>
                        <a:stretch>
                          <a:fillRect/>
                        </a:stretch>
                      </p:blipFill>
                      <p:spPr bwMode="auto">
                        <a:xfrm>
                          <a:off x="-2193" y="3579862"/>
                          <a:ext cx="9144000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2" name="Picture 5"/>
            <p:cNvPicPr>
              <a:picLocks noChangeAspect="1" noChangeArrowheads="1"/>
            </p:cNvPicPr>
            <p:nvPr/>
          </p:nvPicPr>
          <p:blipFill rotWithShape="1">
            <a:blip r:embed="rId6"/>
            <a:srcRect t="87967"/>
            <a:stretch>
              <a:fillRect/>
            </a:stretch>
          </p:blipFill>
          <p:spPr bwMode="auto">
            <a:xfrm>
              <a:off x="-1960" y="3816424"/>
              <a:ext cx="9144000" cy="123478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3" name="TextBox 51"/>
          <p:cNvSpPr txBox="1"/>
          <p:nvPr userDrawn="1"/>
        </p:nvSpPr>
        <p:spPr>
          <a:xfrm>
            <a:off x="2959701" y="4593298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09</a:t>
            </a: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章 蜗杆传动</a:t>
            </a:r>
            <a:endParaRPr lang="zh-CN" alt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Picture 10" descr="http://img2.imgtn.bdimg.com/it/u=3154056593,3020314375&amp;fm=21&amp;gp=0.jpg"/>
          <p:cNvPicPr>
            <a:picLocks noChangeArrowheads="1"/>
          </p:cNvPicPr>
          <p:nvPr userDrawn="1"/>
        </p:nvPicPr>
        <p:blipFill rotWithShape="1">
          <a:blip r:embed="rId7" cstate="print"/>
          <a:srcRect l="6362" r="14516"/>
          <a:stretch>
            <a:fillRect/>
          </a:stretch>
        </p:blipFill>
        <p:spPr bwMode="auto">
          <a:xfrm>
            <a:off x="3895358" y="944654"/>
            <a:ext cx="1288800" cy="864096"/>
          </a:xfrm>
          <a:prstGeom prst="rect">
            <a:avLst/>
          </a:prstGeom>
          <a:noFill/>
        </p:spPr>
      </p:pic>
      <p:sp>
        <p:nvSpPr>
          <p:cNvPr id="31" name="矩形 42"/>
          <p:cNvSpPr/>
          <p:nvPr userDrawn="1"/>
        </p:nvSpPr>
        <p:spPr>
          <a:xfrm>
            <a:off x="-3645" y="944654"/>
            <a:ext cx="3004121" cy="864096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43"/>
          <p:cNvSpPr/>
          <p:nvPr userDrawn="1"/>
        </p:nvSpPr>
        <p:spPr>
          <a:xfrm>
            <a:off x="3000477" y="944654"/>
            <a:ext cx="851444" cy="864096"/>
          </a:xfrm>
          <a:prstGeom prst="rect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 44"/>
          <p:cNvSpPr/>
          <p:nvPr userDrawn="1"/>
        </p:nvSpPr>
        <p:spPr>
          <a:xfrm>
            <a:off x="8134040" y="942295"/>
            <a:ext cx="1008000" cy="864096"/>
          </a:xfrm>
          <a:prstGeom prst="rect">
            <a:avLst/>
          </a:prstGeom>
          <a:solidFill>
            <a:srgbClr val="F7964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45"/>
          <p:cNvSpPr/>
          <p:nvPr userDrawn="1"/>
        </p:nvSpPr>
        <p:spPr>
          <a:xfrm>
            <a:off x="35496" y="1088670"/>
            <a:ext cx="324000" cy="324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矩形 46"/>
          <p:cNvSpPr/>
          <p:nvPr userDrawn="1"/>
        </p:nvSpPr>
        <p:spPr>
          <a:xfrm>
            <a:off x="683568" y="193204"/>
            <a:ext cx="432048" cy="324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矩形 47"/>
          <p:cNvSpPr/>
          <p:nvPr userDrawn="1"/>
        </p:nvSpPr>
        <p:spPr>
          <a:xfrm>
            <a:off x="1115616" y="512584"/>
            <a:ext cx="864096" cy="73341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TextBox 48"/>
          <p:cNvSpPr txBox="1"/>
          <p:nvPr userDrawn="1"/>
        </p:nvSpPr>
        <p:spPr>
          <a:xfrm>
            <a:off x="467544" y="1269561"/>
            <a:ext cx="2926080" cy="320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Southwest Jiaotong University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pic>
        <p:nvPicPr>
          <p:cNvPr id="57" name="Picture 20" descr="http://www.huanbohainews.com.cn/pic/0/11/39/70/11397032_991616.jpg"/>
          <p:cNvPicPr>
            <a:picLocks noChangeAspect="1" noChangeArrowheads="1"/>
          </p:cNvPicPr>
          <p:nvPr userDrawn="1"/>
        </p:nvPicPr>
        <p:blipFill rotWithShape="1">
          <a:blip r:embed="rId8" cstate="print"/>
          <a:srcRect b="10406"/>
          <a:stretch>
            <a:fillRect/>
          </a:stretch>
        </p:blipFill>
        <p:spPr bwMode="auto">
          <a:xfrm>
            <a:off x="5203995" y="944654"/>
            <a:ext cx="952181" cy="864096"/>
          </a:xfrm>
          <a:prstGeom prst="rect">
            <a:avLst/>
          </a:prstGeom>
          <a:noFill/>
        </p:spPr>
      </p:pic>
      <p:pic>
        <p:nvPicPr>
          <p:cNvPr id="58" name="Picture 24" descr="http://imgbdb3.bendibao.com/bjbdb/20153/24/2015324113029237.jpg"/>
          <p:cNvPicPr>
            <a:picLocks noChangeArrowheads="1"/>
          </p:cNvPicPr>
          <p:nvPr userDrawn="1"/>
        </p:nvPicPr>
        <p:blipFill rotWithShape="1">
          <a:blip r:embed="rId9" cstate="print"/>
          <a:srcRect t="16191" b="16189"/>
          <a:stretch>
            <a:fillRect/>
          </a:stretch>
        </p:blipFill>
        <p:spPr bwMode="auto">
          <a:xfrm>
            <a:off x="6180594" y="944654"/>
            <a:ext cx="1926000" cy="861737"/>
          </a:xfrm>
          <a:prstGeom prst="rect">
            <a:avLst/>
          </a:prstGeom>
          <a:noFill/>
        </p:spPr>
      </p:pic>
      <p:pic>
        <p:nvPicPr>
          <p:cNvPr id="60" name="Picture 11"/>
          <p:cNvPicPr>
            <a:picLocks noChangeAspect="1" noChangeArrowheads="1"/>
          </p:cNvPicPr>
          <p:nvPr userDrawn="1"/>
        </p:nvPicPr>
        <p:blipFill rotWithShape="1">
          <a:blip r:embed="rId3"/>
          <a:srcRect l="5181" t="50052" r="85029" b="35397"/>
          <a:stretch>
            <a:fillRect/>
          </a:stretch>
        </p:blipFill>
        <p:spPr bwMode="auto">
          <a:xfrm>
            <a:off x="359496" y="2256392"/>
            <a:ext cx="1203592" cy="96114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1" name="WordArt 7"/>
          <p:cNvSpPr>
            <a:spLocks noChangeArrowheads="1" noChangeShapeType="1" noTextEdit="1"/>
          </p:cNvSpPr>
          <p:nvPr userDrawn="1"/>
        </p:nvSpPr>
        <p:spPr bwMode="auto">
          <a:xfrm>
            <a:off x="2983309" y="3165435"/>
            <a:ext cx="3276678" cy="492125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14"/>
              </a:avLst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3600" b="1" kern="10" dirty="0" smtClean="0">
                <a:ln w="9525">
                  <a:noFill/>
                  <a:round/>
                </a:ln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Mechanical Design</a:t>
            </a:r>
            <a:endParaRPr lang="zh-CN" altLang="en-US" sz="3600" b="1" kern="10" dirty="0">
              <a:ln w="9525">
                <a:noFill/>
                <a:round/>
              </a:ln>
              <a:solidFill>
                <a:srgbClr val="00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TextBox 53"/>
          <p:cNvSpPr txBox="1"/>
          <p:nvPr userDrawn="1"/>
        </p:nvSpPr>
        <p:spPr>
          <a:xfrm>
            <a:off x="1643906" y="2177053"/>
            <a:ext cx="595547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5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机械设计线下授课讲稿</a:t>
            </a:r>
            <a:endParaRPr lang="zh-CN" altLang="en-US" sz="4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Object 9"/>
          <p:cNvGraphicFramePr>
            <a:graphicFrameLocks noChangeAspect="1"/>
          </p:cNvGraphicFramePr>
          <p:nvPr/>
        </p:nvGraphicFramePr>
        <p:xfrm>
          <a:off x="0" y="120650"/>
          <a:ext cx="9144000" cy="29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006" name="Image" r:id="rId3" imgW="7553325" imgH="704850" progId="">
                  <p:embed/>
                </p:oleObj>
              </mc:Choice>
              <mc:Fallback>
                <p:oleObj name="Image" r:id="rId3" imgW="7553325" imgH="70485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6559" r="903"/>
                      <a:stretch>
                        <a:fillRect/>
                      </a:stretch>
                    </p:blipFill>
                    <p:spPr bwMode="auto">
                      <a:xfrm>
                        <a:off x="0" y="120650"/>
                        <a:ext cx="9144000" cy="295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86" name="灯片编号占位符 5"/>
          <p:cNvSpPr txBox="1"/>
          <p:nvPr/>
        </p:nvSpPr>
        <p:spPr>
          <a:xfrm>
            <a:off x="107952" y="49214"/>
            <a:ext cx="2087563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D278751-D899-4D39-AACB-C7527FDC3B9A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587" name="标题 1"/>
          <p:cNvSpPr>
            <a:spLocks noGrp="1"/>
          </p:cNvSpPr>
          <p:nvPr>
            <p:ph type="title"/>
          </p:nvPr>
        </p:nvSpPr>
        <p:spPr>
          <a:xfrm>
            <a:off x="457200" y="546099"/>
            <a:ext cx="8229600" cy="635266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48588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58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0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709613" y="5297488"/>
            <a:ext cx="2133600" cy="303212"/>
          </a:xfr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fld id="{C13746F3-A129-4F8B-BCBD-7CEBD612C3F9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711" name="图片 5" descr="background1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338" name="标题 1"/>
          <p:cNvSpPr>
            <a:spLocks noGrp="1"/>
          </p:cNvSpPr>
          <p:nvPr>
            <p:ph type="title"/>
          </p:nvPr>
        </p:nvSpPr>
        <p:spPr>
          <a:xfrm>
            <a:off x="457200" y="546099"/>
            <a:ext cx="8229600" cy="635266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54339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4" descr="Header WM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712" name="灯片编号占位符 5"/>
          <p:cNvSpPr txBox="1"/>
          <p:nvPr userDrawn="1"/>
        </p:nvSpPr>
        <p:spPr>
          <a:xfrm>
            <a:off x="107952" y="49214"/>
            <a:ext cx="2087563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A746368-22F2-4CE1-BBDB-79170F838213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713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390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04" name="标题 1"/>
          <p:cNvSpPr>
            <a:spLocks noGrp="1"/>
          </p:cNvSpPr>
          <p:nvPr>
            <p:ph type="title"/>
          </p:nvPr>
        </p:nvSpPr>
        <p:spPr>
          <a:xfrm>
            <a:off x="722313" y="3672419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05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06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07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4DA930-E1DC-4141-85F8-C700ADDEBB8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09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0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1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78C5DC5A-2331-4171-8002-1B0A299176E0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F386-9097-438A-824F-981E8E8B24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7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2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9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30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DDD3C521-07BA-4294-8BFC-5C0D5B8FDF41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3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3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5E0-0E72-45C0-B408-2AF559F91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47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EDD81565-D0F0-41D1-903E-40E0738778CD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2D16-D876-4614-9309-FE3874F8A99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CF377711-3629-4DAD-8439-E0560B6BB2E0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4DE4-6CEB-434E-9620-53BDFCC300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40" name="标题 1"/>
          <p:cNvSpPr>
            <a:spLocks noGrp="1"/>
          </p:cNvSpPr>
          <p:nvPr>
            <p:ph type="title"/>
          </p:nvPr>
        </p:nvSpPr>
        <p:spPr>
          <a:xfrm>
            <a:off x="457203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41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42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43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278B8774-4B2A-4AAE-A808-F725AF2E04CC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4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4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F262-6D47-49B5-9157-9BD85EDE594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19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20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10543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2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44062F43-F3FF-4D13-A31D-DC0970594FD8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28788-EEA2-4593-A885-3C689F4F41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15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6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1AC590E2-49AB-44E3-8C36-0D08445AF1E5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CF40-282A-4BCB-BB10-007085F2831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33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3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35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E7AB1051-31EF-44F9-AA2D-865B02C2540B}" type="datetimeFigureOut">
              <a:rPr lang="zh-CN" altLang="en-US"/>
              <a:t>2024-10-21</a:t>
            </a:fld>
            <a:endParaRPr lang="zh-CN" altLang="en-US"/>
          </a:p>
        </p:txBody>
      </p:sp>
      <p:sp>
        <p:nvSpPr>
          <p:cNvPr id="10543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A011D-D701-4132-A7EE-B708846F7E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4857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4857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7D988E0-0923-471B-B752-8C491CAF1381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48580" name="灯片编号占位符 5"/>
          <p:cNvSpPr txBox="1"/>
          <p:nvPr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69193A-965F-43BD-9767-A88894B205C2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microsoft.com/office/2007/relationships/hdphoto" Target="../media/hdphoto2.wdp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1.wmf"/><Relationship Id="rId9" Type="http://schemas.openxmlformats.org/officeDocument/2006/relationships/image" Target="../media/image3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6.wmf"/><Relationship Id="rId12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7.wmf"/><Relationship Id="rId5" Type="http://schemas.openxmlformats.org/officeDocument/2006/relationships/image" Target="../media/image38.png"/><Relationship Id="rId10" Type="http://schemas.openxmlformats.org/officeDocument/2006/relationships/oleObject" Target="../embeddings/oleObject90.bin"/><Relationship Id="rId4" Type="http://schemas.openxmlformats.org/officeDocument/2006/relationships/image" Target="../media/image9.wmf"/><Relationship Id="rId9" Type="http://schemas.openxmlformats.org/officeDocument/2006/relationships/image" Target="../media/image3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8.wmf"/><Relationship Id="rId9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4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4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标题 3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 eaLnBrk="1" hangingPunct="1"/>
            <a:r>
              <a:rPr lang="zh-CN" altLang="en-US" sz="2400" b="0" smtClean="0">
                <a:solidFill>
                  <a:srgbClr val="C00000"/>
                </a:solidFill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55" name="Rectangle 63"/>
          <p:cNvSpPr>
            <a:spLocks noRot="1" noChangeArrowheads="1"/>
          </p:cNvSpPr>
          <p:nvPr/>
        </p:nvSpPr>
        <p:spPr bwMode="auto">
          <a:xfrm>
            <a:off x="966567" y="1851425"/>
            <a:ext cx="7061817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掌握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蜗杆传动的几何参数的计算及选择方法；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7" name="Rectangle 63"/>
          <p:cNvSpPr>
            <a:spLocks noRot="1" noChangeArrowheads="1"/>
          </p:cNvSpPr>
          <p:nvPr/>
        </p:nvSpPr>
        <p:spPr bwMode="auto">
          <a:xfrm>
            <a:off x="962896" y="2282131"/>
            <a:ext cx="7065488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掌握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蜗杆传动的力分析及其强度计算；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7" name="Rectangle 63"/>
          <p:cNvSpPr>
            <a:spLocks noRot="1" noChangeArrowheads="1"/>
          </p:cNvSpPr>
          <p:nvPr/>
        </p:nvSpPr>
        <p:spPr bwMode="auto">
          <a:xfrm>
            <a:off x="961306" y="2712837"/>
            <a:ext cx="7067078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了解蜗杆传动的效率、热平衡原理和计算方法；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8" name="Rectangle 63"/>
          <p:cNvSpPr>
            <a:spLocks noRot="1" noChangeArrowheads="1"/>
          </p:cNvSpPr>
          <p:nvPr/>
        </p:nvSpPr>
        <p:spPr bwMode="auto">
          <a:xfrm>
            <a:off x="961306" y="3143543"/>
            <a:ext cx="7067078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了解蜗杆传动的类型及蜗杆的刚度计算；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9" name="Rectangle 63"/>
          <p:cNvSpPr>
            <a:spLocks noRot="1" noChangeArrowheads="1"/>
          </p:cNvSpPr>
          <p:nvPr/>
        </p:nvSpPr>
        <p:spPr bwMode="auto">
          <a:xfrm>
            <a:off x="961306" y="3574249"/>
            <a:ext cx="7067078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了解蜗杆传动的结构设计方法。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仿宋_GB2312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64857"/>
            <a:ext cx="2219845" cy="492443"/>
            <a:chOff x="323528" y="564857"/>
            <a:chExt cx="2219845" cy="49244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185980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组成及特点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pic>
        <p:nvPicPr>
          <p:cNvPr id="32" name="Picture 8" descr="wog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64857"/>
            <a:ext cx="2637109" cy="270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单圆角矩形 40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蜗杆传动的组成及特点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42" name="直角三角形 41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97166" y="1198743"/>
            <a:ext cx="5193094" cy="407804"/>
            <a:chOff x="497166" y="1198743"/>
            <a:chExt cx="5193094" cy="407804"/>
          </a:xfrm>
        </p:grpSpPr>
        <p:sp>
          <p:nvSpPr>
            <p:cNvPr id="18" name="椭圆 17"/>
            <p:cNvSpPr/>
            <p:nvPr/>
          </p:nvSpPr>
          <p:spPr>
            <a:xfrm>
              <a:off x="497166" y="1330812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755576" y="1198743"/>
              <a:ext cx="4934684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/>
            <a:p>
              <a:pPr eaLnBrk="0" hangingPunct="0"/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用于传递</a:t>
              </a:r>
              <a:r>
                <a:rPr lang="zh-CN" altLang="en-US" sz="22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空间交错轴</a:t>
              </a:r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之间</a:t>
              </a:r>
              <a:r>
                <a:rPr lang="zh-CN" altLang="en-US" sz="2200" dirty="0" smtClean="0">
                  <a:latin typeface="微软雅黑" pitchFamily="34" charset="-122"/>
                  <a:ea typeface="微软雅黑" pitchFamily="34" charset="-122"/>
                </a:rPr>
                <a:t>的回转运动。</a:t>
              </a:r>
              <a:endPara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7165" y="1692475"/>
            <a:ext cx="2936067" cy="407804"/>
            <a:chOff x="497165" y="1706763"/>
            <a:chExt cx="2936067" cy="407804"/>
          </a:xfrm>
        </p:grpSpPr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755576" y="1706763"/>
              <a:ext cx="2677656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/>
            <a:p>
              <a:pPr eaLnBrk="0" hangingPunct="0"/>
              <a:r>
                <a:rPr lang="zh-CN" altLang="en-US" sz="2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一般蜗杆为主动件。</a:t>
              </a:r>
            </a:p>
          </p:txBody>
        </p:sp>
        <p:sp>
          <p:nvSpPr>
            <p:cNvPr id="20" name="椭圆 19"/>
            <p:cNvSpPr/>
            <p:nvPr/>
          </p:nvSpPr>
          <p:spPr>
            <a:xfrm>
              <a:off x="497165" y="1836053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333237" y="2328993"/>
            <a:ext cx="962399" cy="43088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特点：</a:t>
            </a:r>
            <a:endParaRPr lang="zh-CN" alt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23528" y="2882335"/>
            <a:ext cx="568863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1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）能实现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大传动比，</a:t>
            </a:r>
            <a:r>
              <a:rPr lang="zh-CN" altLang="en-US" sz="21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传递动力时：</a:t>
            </a:r>
            <a:r>
              <a:rPr lang="en-US" altLang="zh-CN" sz="2100" b="1" i="1" dirty="0" smtClean="0"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100" dirty="0" smtClean="0">
                <a:latin typeface="微软雅黑" pitchFamily="34" charset="-122"/>
                <a:ea typeface="微软雅黑" pitchFamily="34" charset="-122"/>
              </a:rPr>
              <a:t>=8~80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1403648" y="2360751"/>
            <a:ext cx="568863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1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）冲击载荷小，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传动平稳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，噪音低；</a:t>
            </a:r>
            <a:endParaRPr lang="zh-CN" altLang="en-US" sz="2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23528" y="3925314"/>
            <a:ext cx="763284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1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自锁性能好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（用于提升机构）（蜗杆导程角小于摩擦角）；</a:t>
            </a:r>
            <a:endParaRPr lang="zh-CN" altLang="en-US" sz="2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323529" y="4446709"/>
            <a:ext cx="568863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200" dirty="0" smtClean="0">
                <a:latin typeface="+mn-ea"/>
                <a:ea typeface="+mn-ea"/>
              </a:rPr>
              <a:t>4</a:t>
            </a:r>
            <a:r>
              <a:rPr lang="zh-CN" altLang="en-US" sz="2200" dirty="0" smtClean="0">
                <a:latin typeface="+mn-ea"/>
                <a:ea typeface="+mn-ea"/>
              </a:rPr>
              <a:t>）滑动速度</a:t>
            </a:r>
            <a:r>
              <a:rPr lang="en-US" altLang="zh-CN" sz="2200" b="1" i="1" dirty="0"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+mn-ea"/>
                <a:ea typeface="+mn-ea"/>
              </a:rPr>
              <a:t>s</a:t>
            </a:r>
            <a:r>
              <a:rPr lang="zh-CN" altLang="en-US" sz="2200" dirty="0" smtClean="0">
                <a:latin typeface="+mn-ea"/>
                <a:ea typeface="+mn-ea"/>
              </a:rPr>
              <a:t>大  </a:t>
            </a:r>
            <a:r>
              <a:rPr lang="zh-CN" altLang="en-US" sz="2200" b="1" dirty="0" smtClean="0">
                <a:latin typeface="+mn-ea"/>
                <a:ea typeface="+mn-ea"/>
              </a:rPr>
              <a:t>→  </a:t>
            </a:r>
            <a:r>
              <a:rPr lang="zh-CN" altLang="en-US" sz="2200" dirty="0" smtClean="0">
                <a:solidFill>
                  <a:srgbClr val="FF0000"/>
                </a:solidFill>
                <a:latin typeface="+mn-ea"/>
                <a:ea typeface="+mn-ea"/>
              </a:rPr>
              <a:t>发热严重，效率低；</a:t>
            </a:r>
            <a:endParaRPr lang="zh-CN" altLang="en-US" sz="2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323528" y="4983493"/>
            <a:ext cx="424847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蜗轮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</a:rPr>
              <a:t>需用贵重的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减摩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材料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733576" y="3403919"/>
            <a:ext cx="691276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1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传递运动时（仪器）：</a:t>
            </a:r>
            <a:r>
              <a:rPr lang="en-US" altLang="zh-CN" sz="2100" b="1" i="1" dirty="0" smtClean="0"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100" dirty="0" smtClean="0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几百</a:t>
            </a:r>
            <a:r>
              <a:rPr lang="en-US" altLang="zh-CN" sz="2100" dirty="0" smtClean="0">
                <a:latin typeface="微软雅黑" pitchFamily="34" charset="-122"/>
                <a:ea typeface="微软雅黑" pitchFamily="34" charset="-122"/>
              </a:rPr>
              <a:t>~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上千（单头，</a:t>
            </a:r>
            <a:r>
              <a:rPr lang="el-GR" altLang="zh-CN" sz="2100" dirty="0" smtClean="0">
                <a:latin typeface="微软雅黑" pitchFamily="34" charset="-122"/>
              </a:rPr>
              <a:t>η</a:t>
            </a:r>
            <a:r>
              <a:rPr lang="zh-CN" altLang="en-US" sz="2100" dirty="0" smtClean="0">
                <a:latin typeface="+mn-ea"/>
                <a:ea typeface="+mn-ea"/>
              </a:rPr>
              <a:t>很低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）；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1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5" name="图片 1" descr="7-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730" y="587612"/>
            <a:ext cx="3154894" cy="49127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682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8" grpId="0"/>
      <p:bldP spid="23" grpId="0" animBg="1"/>
      <p:bldP spid="24" grpId="0"/>
      <p:bldP spid="25" grpId="0"/>
      <p:bldP spid="34" grpId="0"/>
      <p:bldP spid="35" grpId="0"/>
      <p:bldP spid="36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23528" y="536576"/>
            <a:ext cx="2889900" cy="492443"/>
            <a:chOff x="323528" y="564857"/>
            <a:chExt cx="2889900" cy="492443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52986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蜗杆传动的类型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9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grpSp>
        <p:nvGrpSpPr>
          <p:cNvPr id="21" name="组合 20"/>
          <p:cNvGrpSpPr/>
          <p:nvPr/>
        </p:nvGrpSpPr>
        <p:grpSpPr>
          <a:xfrm>
            <a:off x="3500016" y="578050"/>
            <a:ext cx="2296120" cy="461665"/>
            <a:chOff x="547688" y="1261119"/>
            <a:chExt cx="2296120" cy="461665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727727" y="1261119"/>
              <a:ext cx="21160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按蜗杆形状分</a:t>
              </a:r>
              <a:endParaRPr lang="zh-CN" altLang="en-US" sz="2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47688" y="1417340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01418" y="1310593"/>
            <a:ext cx="8264484" cy="2394039"/>
            <a:chOff x="506204" y="1358209"/>
            <a:chExt cx="8264484" cy="2394039"/>
          </a:xfrm>
        </p:grpSpPr>
        <p:pic>
          <p:nvPicPr>
            <p:cNvPr id="36" name="图片 122"/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EFD"/>
                </a:clrFrom>
                <a:clrTo>
                  <a:srgbClr val="FFFE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903"/>
            <a:stretch/>
          </p:blipFill>
          <p:spPr bwMode="auto">
            <a:xfrm>
              <a:off x="506204" y="1358209"/>
              <a:ext cx="8264484" cy="2003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 Box 135"/>
            <p:cNvSpPr txBox="1">
              <a:spLocks noChangeArrowheads="1"/>
            </p:cNvSpPr>
            <p:nvPr/>
          </p:nvSpPr>
          <p:spPr bwMode="auto">
            <a:xfrm>
              <a:off x="904378" y="3405765"/>
              <a:ext cx="1419218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圆柱蜗杆</a:t>
              </a:r>
            </a:p>
          </p:txBody>
        </p:sp>
        <p:sp>
          <p:nvSpPr>
            <p:cNvPr id="38" name="Text Box 136"/>
            <p:cNvSpPr txBox="1">
              <a:spLocks noChangeArrowheads="1"/>
            </p:cNvSpPr>
            <p:nvPr/>
          </p:nvSpPr>
          <p:spPr bwMode="auto">
            <a:xfrm>
              <a:off x="3507272" y="3405999"/>
              <a:ext cx="1756198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环面蜗杆</a:t>
              </a:r>
            </a:p>
          </p:txBody>
        </p:sp>
        <p:sp>
          <p:nvSpPr>
            <p:cNvPr id="39" name="Text Box 138"/>
            <p:cNvSpPr txBox="1">
              <a:spLocks noChangeArrowheads="1"/>
            </p:cNvSpPr>
            <p:nvPr/>
          </p:nvSpPr>
          <p:spPr bwMode="auto">
            <a:xfrm>
              <a:off x="6516216" y="3402911"/>
              <a:ext cx="1392214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锥蜗杆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Group 7">
            <a:extLst>
              <a:ext uri="{FF2B5EF4-FFF2-40B4-BE49-F238E27FC236}">
                <a16:creationId xmlns="" xmlns:a16="http://schemas.microsoft.com/office/drawing/2014/main" id="{61F23D26-6CF7-43EC-0F62-512424F5B11C}"/>
              </a:ext>
            </a:extLst>
          </p:cNvPr>
          <p:cNvGrpSpPr/>
          <p:nvPr/>
        </p:nvGrpSpPr>
        <p:grpSpPr bwMode="auto">
          <a:xfrm>
            <a:off x="2008288" y="3993619"/>
            <a:ext cx="3331097" cy="1431291"/>
            <a:chOff x="2242" y="418"/>
            <a:chExt cx="4123" cy="1472"/>
          </a:xfrm>
        </p:grpSpPr>
        <p:sp>
          <p:nvSpPr>
            <p:cNvPr id="44" name="Text Box 8">
              <a:extLst>
                <a:ext uri="{FF2B5EF4-FFF2-40B4-BE49-F238E27FC236}">
                  <a16:creationId xmlns="" xmlns:a16="http://schemas.microsoft.com/office/drawing/2014/main" id="{FBE3D4C3-A631-BF1A-85D3-0833EFB91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2" y="418"/>
              <a:ext cx="3743" cy="1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marL="0" marR="0" lvl="0" indent="0" defTabSz="914400" eaLnBrk="0" fontAlgn="auto" latinLnBrk="0" hangingPunct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阿基米德蜗杆（</a:t>
              </a: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ZA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蜗杆）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　　</a:t>
              </a:r>
            </a:p>
            <a:p>
              <a:pPr marL="0" marR="0" lvl="0" indent="0" defTabSz="914400" eaLnBrk="0" fontAlgn="auto" latinLnBrk="0" hangingPunct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渐开线蜗杆（</a:t>
              </a: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ZI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蜗杆）</a:t>
              </a:r>
            </a:p>
            <a:p>
              <a:pPr marL="0" marR="0" lvl="0" indent="0" defTabSz="914400" eaLnBrk="0" fontAlgn="auto" latinLnBrk="0" hangingPunct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法向直廓蜗杆（</a:t>
              </a: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ZN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蜗杆）　</a:t>
              </a:r>
            </a:p>
          </p:txBody>
        </p:sp>
        <p:sp>
          <p:nvSpPr>
            <p:cNvPr id="45" name="AutoShape 9">
              <a:extLst>
                <a:ext uri="{FF2B5EF4-FFF2-40B4-BE49-F238E27FC236}">
                  <a16:creationId xmlns="" xmlns:a16="http://schemas.microsoft.com/office/drawing/2014/main" id="{D654D7BC-4074-3144-FDB1-5CBDC34C3DF4}"/>
                </a:ext>
              </a:extLst>
            </p:cNvPr>
            <p:cNvSpPr/>
            <p:nvPr/>
          </p:nvSpPr>
          <p:spPr bwMode="auto">
            <a:xfrm>
              <a:off x="2242" y="539"/>
              <a:ext cx="271" cy="1332"/>
            </a:xfrm>
            <a:prstGeom prst="leftBrace">
              <a:avLst>
                <a:gd name="adj1" fmla="val 43985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123361" y="3833997"/>
            <a:ext cx="3747687" cy="1710802"/>
            <a:chOff x="4937880" y="3833997"/>
            <a:chExt cx="3747687" cy="1710802"/>
          </a:xfrm>
        </p:grpSpPr>
        <p:pic>
          <p:nvPicPr>
            <p:cNvPr id="46" name="Picture 2">
              <a:extLst>
                <a:ext uri="{FF2B5EF4-FFF2-40B4-BE49-F238E27FC236}">
                  <a16:creationId xmlns="" xmlns:a16="http://schemas.microsoft.com/office/drawing/2014/main" id="{1D8072FA-646B-F14F-4D63-AF4C6DB8DD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0144" y="3833997"/>
              <a:ext cx="3085423" cy="171080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8" name="直接箭头连接符 57"/>
            <p:cNvCxnSpPr/>
            <p:nvPr/>
          </p:nvCxnSpPr>
          <p:spPr>
            <a:xfrm>
              <a:off x="4937880" y="4204220"/>
              <a:ext cx="5287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单圆角矩形 62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蜗杆传动的类型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64" name="直角三角形 63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36648" y="3718687"/>
            <a:ext cx="1944215" cy="1205662"/>
            <a:chOff x="251521" y="3718687"/>
            <a:chExt cx="1944215" cy="1205662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1187624" y="3737580"/>
              <a:ext cx="10081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251521" y="3718687"/>
              <a:ext cx="1865919" cy="1205662"/>
              <a:chOff x="251521" y="3718687"/>
              <a:chExt cx="1865919" cy="1205662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251521" y="4082797"/>
                <a:ext cx="1865919" cy="841552"/>
                <a:chOff x="251521" y="4082797"/>
                <a:chExt cx="1865919" cy="841552"/>
              </a:xfrm>
            </p:grpSpPr>
            <p:sp>
              <p:nvSpPr>
                <p:cNvPr id="42" name="Text Box 11">
                  <a:extLst>
                    <a:ext uri="{FF2B5EF4-FFF2-40B4-BE49-F238E27FC236}">
                      <a16:creationId xmlns="" xmlns:a16="http://schemas.microsoft.com/office/drawing/2014/main" id="{CFCF157A-25AD-A788-388E-872826D07A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1521" y="4535014"/>
                  <a:ext cx="1865919" cy="3893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/>
                <a:p>
                  <a:pPr marL="0" marR="0" lvl="0" indent="0" algn="ctr" defTabSz="914400" eaLnBrk="0" fontAlgn="auto" latinLnBrk="0" hangingPunct="0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普通圆柱蜗杆</a:t>
                  </a:r>
                </a:p>
              </p:txBody>
            </p:sp>
            <p:cxnSp>
              <p:nvCxnSpPr>
                <p:cNvPr id="55" name="直接连接符 54"/>
                <p:cNvCxnSpPr/>
                <p:nvPr/>
              </p:nvCxnSpPr>
              <p:spPr>
                <a:xfrm>
                  <a:off x="1147453" y="4082797"/>
                  <a:ext cx="0" cy="3760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直接连接符 3"/>
              <p:cNvCxnSpPr/>
              <p:nvPr/>
            </p:nvCxnSpPr>
            <p:spPr>
              <a:xfrm>
                <a:off x="1147453" y="4082797"/>
                <a:ext cx="52897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 flipV="1">
                <a:off x="1676423" y="3718687"/>
                <a:ext cx="0" cy="364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2896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64857"/>
            <a:ext cx="1884816" cy="492443"/>
            <a:chOff x="323528" y="564857"/>
            <a:chExt cx="1884816" cy="49244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1524776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主要参数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pic>
        <p:nvPicPr>
          <p:cNvPr id="13" name="图片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60" y="1276802"/>
            <a:ext cx="4196604" cy="289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370454" y="543531"/>
            <a:ext cx="5678478" cy="54938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8580" tIns="34290" rIns="68580" bIns="34290">
            <a:spAutoFit/>
          </a:bodyPr>
          <a:lstStyle/>
          <a:p>
            <a:pPr eaLnBrk="0" hangingPunct="0">
              <a:lnSpc>
                <a:spcPct val="130000"/>
              </a:lnSpc>
              <a:defRPr/>
            </a:pPr>
            <a:r>
              <a:rPr kumimoji="1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主平面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kumimoji="1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：相当于</a:t>
            </a:r>
            <a:r>
              <a:rPr kumimoji="1"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齿轮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齿条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的啮合。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3966792" y="1459276"/>
            <a:ext cx="0" cy="26340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单圆角矩形 24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蜗杆传动的基本参数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6" name="直角三角形 25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716016" y="1221786"/>
            <a:ext cx="2924672" cy="461665"/>
            <a:chOff x="873429" y="626237"/>
            <a:chExt cx="2924672" cy="461665"/>
          </a:xfrm>
        </p:grpSpPr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1097820" y="626237"/>
              <a:ext cx="27002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模数</a:t>
              </a:r>
              <a:r>
                <a:rPr lang="en-US" altLang="zh-CN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及压力角</a:t>
              </a:r>
              <a:r>
                <a:rPr lang="en-US" altLang="zh-CN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α</a:t>
              </a:r>
              <a:endParaRPr lang="zh-CN" altLang="en-US" sz="2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873429" y="782456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100"/>
            </a:p>
          </p:txBody>
        </p:sp>
      </p:grp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5148065" y="1683173"/>
            <a:ext cx="3384376" cy="18466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8580" tIns="34290" rIns="68580" bIns="3429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200" b="1" i="0" u="none" strike="noStrike" kern="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a1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200" b="1" i="0" u="none" strike="noStrike" kern="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t2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kumimoji="0" lang="zh-CN" altLang="en-US" sz="220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zh-CN" altLang="en-US" sz="2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标准模数）</a:t>
            </a:r>
            <a:endParaRPr kumimoji="0" lang="en-US" altLang="zh-CN" sz="2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200" b="1" i="0" u="none" strike="noStrike" kern="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a1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200" b="1" i="0" u="none" strike="noStrike" kern="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t2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 </a:t>
            </a:r>
            <a:r>
              <a:rPr kumimoji="0" lang="zh-CN" altLang="en-US" sz="2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20°</a:t>
            </a:r>
            <a:r>
              <a:rPr kumimoji="0" lang="zh-CN" altLang="en-US" sz="2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kumimoji="0" lang="zh-CN" altLang="en-US" sz="2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200" b="1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λ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l-GR" altLang="zh-CN" sz="22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kumimoji="0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（旋向</a:t>
            </a:r>
            <a:r>
              <a:rPr kumimoji="0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相同）</a:t>
            </a:r>
            <a:endParaRPr kumimoji="0" lang="zh-CN" altLang="en-US" sz="2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716016" y="3649588"/>
            <a:ext cx="4464496" cy="461665"/>
            <a:chOff x="875240" y="3086250"/>
            <a:chExt cx="4464496" cy="461665"/>
          </a:xfrm>
        </p:grpSpPr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1094655" y="3086250"/>
              <a:ext cx="42450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蜗杆分度圆柱面上的导程角 </a:t>
              </a:r>
              <a:r>
                <a:rPr lang="el-GR" altLang="zh-CN" sz="2400" b="1" i="1" dirty="0" smtClean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γ</a:t>
              </a:r>
              <a:endParaRPr lang="zh-CN" altLang="en-US" sz="2400" b="1" i="1" baseline="-250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875240" y="3242471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100"/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/>
          <a:srcRect r="8333"/>
          <a:stretch/>
        </p:blipFill>
        <p:spPr>
          <a:xfrm>
            <a:off x="323528" y="4329846"/>
            <a:ext cx="2376264" cy="127340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6"/>
          <a:srcRect r="48524"/>
          <a:stretch/>
        </p:blipFill>
        <p:spPr>
          <a:xfrm>
            <a:off x="5004048" y="4225652"/>
            <a:ext cx="1734344" cy="8213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6"/>
          <a:srcRect l="51477"/>
          <a:stretch/>
        </p:blipFill>
        <p:spPr>
          <a:xfrm>
            <a:off x="6774080" y="4225652"/>
            <a:ext cx="1634852" cy="821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915816" y="5130136"/>
                <a:ext cx="60753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  <a:ea typeface="+mn-ea"/>
                      </a:rPr>
                      <m:t>𝛽</m:t>
                    </m:r>
                  </m:oMath>
                </a14:m>
                <a:r>
                  <a:rPr lang="zh-CN" altLang="en-US" sz="2200" dirty="0" smtClean="0">
                    <a:latin typeface="+mn-ea"/>
                    <a:ea typeface="+mn-ea"/>
                  </a:rPr>
                  <a:t>；</a:t>
                </a:r>
                <a14:m>
                  <m:oMath xmlns:m="http://schemas.openxmlformats.org/officeDocument/2006/math">
                    <m:r>
                      <a:rPr lang="zh-CN" altLang="en-US" sz="220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</m:oMath>
                </a14:m>
                <a:r>
                  <a:rPr lang="en-US" altLang="zh-CN" sz="2200" dirty="0" smtClean="0">
                    <a:latin typeface="+mn-ea"/>
                    <a:ea typeface="+mn-ea"/>
                  </a:rPr>
                  <a:t>——</a:t>
                </a:r>
                <a:r>
                  <a:rPr lang="zh-CN" altLang="en-US" sz="2200" dirty="0" smtClean="0">
                    <a:latin typeface="+mn-ea"/>
                    <a:ea typeface="+mn-ea"/>
                  </a:rPr>
                  <a:t>蜗杆导程角；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  <a:ea typeface="+mn-ea"/>
                      </a:rPr>
                      <m:t>𝛽</m:t>
                    </m:r>
                  </m:oMath>
                </a14:m>
                <a:r>
                  <a:rPr lang="en-US" altLang="zh-CN" sz="2200" dirty="0" smtClean="0">
                    <a:latin typeface="+mn-ea"/>
                    <a:ea typeface="+mn-ea"/>
                  </a:rPr>
                  <a:t>——</a:t>
                </a:r>
                <a:r>
                  <a:rPr lang="zh-CN" altLang="en-US" sz="2200" dirty="0" smtClean="0">
                    <a:latin typeface="+mn-ea"/>
                    <a:ea typeface="+mn-ea"/>
                  </a:rPr>
                  <a:t>蜗杆的螺旋角</a:t>
                </a:r>
                <a:endParaRPr lang="zh-CN" altLang="en-US" sz="22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130136"/>
                <a:ext cx="6075317" cy="430887"/>
              </a:xfrm>
              <a:prstGeom prst="rect">
                <a:avLst/>
              </a:prstGeom>
              <a:blipFill rotWithShape="0">
                <a:blip r:embed="rId7"/>
                <a:stretch>
                  <a:fillRect l="-100" t="-10000" r="-602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2724756" y="3805809"/>
            <a:ext cx="1242036" cy="338554"/>
            <a:chOff x="2724756" y="3805809"/>
            <a:chExt cx="1242036" cy="338554"/>
          </a:xfrm>
        </p:grpSpPr>
        <p:cxnSp>
          <p:nvCxnSpPr>
            <p:cNvPr id="9" name="直接连接符 8"/>
            <p:cNvCxnSpPr/>
            <p:nvPr/>
          </p:nvCxnSpPr>
          <p:spPr>
            <a:xfrm flipV="1">
              <a:off x="3491880" y="3880420"/>
              <a:ext cx="474912" cy="74614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2724756" y="3805809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+mn-ea"/>
                  <a:ea typeface="+mn-ea"/>
                </a:rPr>
                <a:t>主平面</a:t>
              </a:r>
              <a:endParaRPr lang="zh-CN" altLang="en-US" sz="16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655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9" grpId="0"/>
      <p:bldP spid="29" grpId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323528" y="577027"/>
            <a:ext cx="3299168" cy="461665"/>
            <a:chOff x="875240" y="3086250"/>
            <a:chExt cx="3299168" cy="461665"/>
          </a:xfrm>
        </p:grpSpPr>
        <p:sp>
          <p:nvSpPr>
            <p:cNvPr id="45" name="Text Box 4"/>
            <p:cNvSpPr txBox="1">
              <a:spLocks noChangeArrowheads="1"/>
            </p:cNvSpPr>
            <p:nvPr/>
          </p:nvSpPr>
          <p:spPr bwMode="auto">
            <a:xfrm>
              <a:off x="1094655" y="3086250"/>
              <a:ext cx="30797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蜗杆分度圆直径</a:t>
              </a:r>
              <a:r>
                <a:rPr lang="en-US" altLang="zh-CN" sz="2400" b="1" i="1" dirty="0" smtClean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2400" b="1" baseline="-25000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400" b="1" baseline="-250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875240" y="3242471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6"/>
              <p:cNvSpPr txBox="1">
                <a:spLocks noChangeArrowheads="1"/>
              </p:cNvSpPr>
              <p:nvPr/>
            </p:nvSpPr>
            <p:spPr bwMode="auto">
              <a:xfrm>
                <a:off x="397346" y="3029847"/>
                <a:ext cx="8555563" cy="8913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just" eaLnBrk="1" hangingPunct="1">
                  <a:lnSpc>
                    <a:spcPct val="130000"/>
                  </a:lnSpc>
                </a:pPr>
                <a:r>
                  <a:rPr lang="zh-CN" altLang="en-US" sz="2100" dirty="0" smtClean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加工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蜗轮时的</a:t>
                </a:r>
                <a:r>
                  <a:rPr lang="zh-CN" altLang="en-US" sz="2100" dirty="0" smtClean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滚刀尺寸与和它啮合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的蜗杆尺寸相同，但</a:t>
                </a:r>
                <a:r>
                  <a:rPr lang="en-US" altLang="zh-CN" sz="2100" b="1" i="1" dirty="0">
                    <a:solidFill>
                      <a:schemeClr val="tx2"/>
                    </a:solidFill>
                    <a:ea typeface="微软雅黑" pitchFamily="3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100" dirty="0" smtClean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一定时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，由于 </a:t>
                </a:r>
                <a:r>
                  <a:rPr lang="en-US" altLang="zh-CN" sz="2100" b="1" i="1" dirty="0">
                    <a:solidFill>
                      <a:schemeClr val="tx2"/>
                    </a:solidFill>
                    <a:ea typeface="微软雅黑" pitchFamily="34" charset="-122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100" baseline="-250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2100" b="1" i="1" dirty="0" smtClean="0">
                        <a:solidFill>
                          <a:schemeClr val="tx2"/>
                        </a:solidFill>
                        <a:latin typeface="Cambria Math"/>
                        <a:ea typeface="微软雅黑" pitchFamily="34" charset="-122"/>
                      </a:rPr>
                      <m:t>𝜸</m:t>
                    </m:r>
                  </m:oMath>
                </a14:m>
                <a:r>
                  <a:rPr lang="en-US" altLang="zh-CN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的变化，</a:t>
                </a:r>
                <a:r>
                  <a:rPr lang="en-US" altLang="zh-CN" sz="2100" b="1" i="1" dirty="0">
                    <a:solidFill>
                      <a:schemeClr val="tx2"/>
                    </a:solidFill>
                    <a:ea typeface="微软雅黑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100" baseline="-250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是变化的，即需要配备很多加工</a:t>
                </a:r>
                <a:r>
                  <a:rPr lang="zh-CN" altLang="en-US" sz="2100" dirty="0" smtClean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蜗轮的</a:t>
                </a:r>
                <a:r>
                  <a:rPr lang="zh-CN" altLang="en-US" sz="2100" dirty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滚刀</a:t>
                </a:r>
                <a:r>
                  <a:rPr lang="zh-CN" altLang="en-US" sz="2100" dirty="0" smtClean="0">
                    <a:solidFill>
                      <a:schemeClr val="tx2"/>
                    </a:solidFill>
                    <a:latin typeface="微软雅黑" pitchFamily="34" charset="-122"/>
                    <a:ea typeface="微软雅黑" pitchFamily="34" charset="-122"/>
                  </a:rPr>
                  <a:t>。</a:t>
                </a:r>
                <a:endParaRPr lang="zh-CN" altLang="en-US" sz="21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52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346" y="3029847"/>
                <a:ext cx="8555563" cy="891398"/>
              </a:xfrm>
              <a:prstGeom prst="rect">
                <a:avLst/>
              </a:prstGeom>
              <a:blipFill rotWithShape="0">
                <a:blip r:embed="rId4"/>
                <a:stretch>
                  <a:fillRect l="-855" r="-783" b="-130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42395" y="1675296"/>
            <a:ext cx="4606069" cy="4078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8580" tIns="34290" rIns="68580" bIns="34290">
            <a:spAutoFit/>
          </a:bodyPr>
          <a:lstStyle/>
          <a:p>
            <a:pPr eaLnBrk="0" hangingPunct="0">
              <a:defRPr/>
            </a:pP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为减少蜗轮滚刀数量，</a:t>
            </a:r>
            <a:r>
              <a:rPr lang="en-US" altLang="zh-CN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为标准值。</a:t>
            </a:r>
            <a:endParaRPr lang="zh-CN" altLang="en-US" sz="2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4126669" y="2334256"/>
            <a:ext cx="2384307" cy="4078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8580" tIns="34290" rIns="68580" bIns="34290">
            <a:spAutoFit/>
          </a:bodyPr>
          <a:lstStyle/>
          <a:p>
            <a:pPr eaLnBrk="0" hangingPunct="0"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直径系数：</a:t>
            </a:r>
            <a:r>
              <a:rPr lang="en-US" altLang="zh-CN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19" name="单圆角矩形 118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蜗杆传动的基本参数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20" name="直角三角形 119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467350" y="741434"/>
                <a:ext cx="3849066" cy="727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350" y="741434"/>
                <a:ext cx="3849066" cy="72750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6574256" y="2334256"/>
            <a:ext cx="2239072" cy="398623"/>
            <a:chOff x="6775992" y="2334256"/>
            <a:chExt cx="2239072" cy="398623"/>
          </a:xfrm>
        </p:grpSpPr>
        <p:graphicFrame>
          <p:nvGraphicFramePr>
            <p:cNvPr id="11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1719648"/>
                </p:ext>
              </p:extLst>
            </p:nvPr>
          </p:nvGraphicFramePr>
          <p:xfrm>
            <a:off x="7276832" y="2334256"/>
            <a:ext cx="1738232" cy="398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799" name="Equation" r:id="rId6" imgW="904945" imgH="180900" progId="Equation.3">
                    <p:embed/>
                  </p:oleObj>
                </mc:Choice>
                <mc:Fallback>
                  <p:oleObj name="Equation" r:id="rId6" imgW="904945" imgH="180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6832" y="2334256"/>
                          <a:ext cx="1738232" cy="39862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右箭头 7"/>
            <p:cNvSpPr/>
            <p:nvPr/>
          </p:nvSpPr>
          <p:spPr>
            <a:xfrm>
              <a:off x="6775992" y="2425555"/>
              <a:ext cx="374008" cy="216024"/>
            </a:xfrm>
            <a:prstGeom prst="rightArrow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54922" y="1240599"/>
            <a:ext cx="3467854" cy="1694260"/>
            <a:chOff x="340634" y="1240599"/>
            <a:chExt cx="3467854" cy="1694260"/>
          </a:xfrm>
        </p:grpSpPr>
        <p:grpSp>
          <p:nvGrpSpPr>
            <p:cNvPr id="35" name="组合 34"/>
            <p:cNvGrpSpPr/>
            <p:nvPr/>
          </p:nvGrpSpPr>
          <p:grpSpPr>
            <a:xfrm>
              <a:off x="340634" y="1240599"/>
              <a:ext cx="3467854" cy="1694260"/>
              <a:chOff x="96034" y="1219167"/>
              <a:chExt cx="3467854" cy="1694260"/>
            </a:xfrm>
          </p:grpSpPr>
          <p:pic>
            <p:nvPicPr>
              <p:cNvPr id="27" name="图片 26"/>
              <p:cNvPicPr>
                <a:picLocks noChangeAspect="1"/>
              </p:cNvPicPr>
              <p:nvPr/>
            </p:nvPicPr>
            <p:blipFill rotWithShape="1">
              <a:blip r:embed="rId8"/>
              <a:srcRect l="-1" r="12412"/>
              <a:stretch/>
            </p:blipFill>
            <p:spPr>
              <a:xfrm>
                <a:off x="542943" y="1219167"/>
                <a:ext cx="3020945" cy="1694260"/>
              </a:xfrm>
              <a:prstGeom prst="rect">
                <a:avLst/>
              </a:prstGeom>
            </p:spPr>
          </p:pic>
          <p:sp>
            <p:nvSpPr>
              <p:cNvPr id="10" name="椭圆 9"/>
              <p:cNvSpPr/>
              <p:nvPr/>
            </p:nvSpPr>
            <p:spPr>
              <a:xfrm>
                <a:off x="107504" y="1219167"/>
                <a:ext cx="363661" cy="126165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连接符 17"/>
              <p:cNvCxnSpPr/>
              <p:nvPr/>
            </p:nvCxnSpPr>
            <p:spPr>
              <a:xfrm>
                <a:off x="105202" y="1281653"/>
                <a:ext cx="0" cy="9850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弧形 21"/>
              <p:cNvSpPr/>
              <p:nvPr/>
            </p:nvSpPr>
            <p:spPr>
              <a:xfrm rot="10800000">
                <a:off x="105131" y="2143029"/>
                <a:ext cx="374400" cy="218184"/>
              </a:xfrm>
              <a:prstGeom prst="arc">
                <a:avLst>
                  <a:gd name="adj1" fmla="val 10924117"/>
                  <a:gd name="adj2" fmla="val 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479957" y="1281653"/>
                <a:ext cx="0" cy="9850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任意多边形 29"/>
              <p:cNvSpPr/>
              <p:nvPr/>
            </p:nvSpPr>
            <p:spPr>
              <a:xfrm>
                <a:off x="96034" y="1750993"/>
                <a:ext cx="382598" cy="506432"/>
              </a:xfrm>
              <a:custGeom>
                <a:avLst/>
                <a:gdLst>
                  <a:gd name="connsiteX0" fmla="*/ 0 w 357187"/>
                  <a:gd name="connsiteY0" fmla="*/ 392906 h 392906"/>
                  <a:gd name="connsiteX1" fmla="*/ 185737 w 357187"/>
                  <a:gd name="connsiteY1" fmla="*/ 314325 h 392906"/>
                  <a:gd name="connsiteX2" fmla="*/ 292894 w 357187"/>
                  <a:gd name="connsiteY2" fmla="*/ 185737 h 392906"/>
                  <a:gd name="connsiteX3" fmla="*/ 357187 w 357187"/>
                  <a:gd name="connsiteY3" fmla="*/ 0 h 39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187" h="392906">
                    <a:moveTo>
                      <a:pt x="0" y="392906"/>
                    </a:moveTo>
                    <a:cubicBezTo>
                      <a:pt x="68461" y="370879"/>
                      <a:pt x="136922" y="348853"/>
                      <a:pt x="185737" y="314325"/>
                    </a:cubicBezTo>
                    <a:cubicBezTo>
                      <a:pt x="234552" y="279797"/>
                      <a:pt x="264319" y="238124"/>
                      <a:pt x="292894" y="185737"/>
                    </a:cubicBezTo>
                    <a:cubicBezTo>
                      <a:pt x="321469" y="133350"/>
                      <a:pt x="351234" y="27384"/>
                      <a:pt x="357187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任意多边形 30"/>
              <p:cNvSpPr/>
              <p:nvPr/>
            </p:nvSpPr>
            <p:spPr>
              <a:xfrm>
                <a:off x="114300" y="1288135"/>
                <a:ext cx="357188" cy="541086"/>
              </a:xfrm>
              <a:custGeom>
                <a:avLst/>
                <a:gdLst>
                  <a:gd name="connsiteX0" fmla="*/ 357188 w 357188"/>
                  <a:gd name="connsiteY0" fmla="*/ 471487 h 471487"/>
                  <a:gd name="connsiteX1" fmla="*/ 314325 w 357188"/>
                  <a:gd name="connsiteY1" fmla="*/ 321468 h 471487"/>
                  <a:gd name="connsiteX2" fmla="*/ 221456 w 357188"/>
                  <a:gd name="connsiteY2" fmla="*/ 192881 h 471487"/>
                  <a:gd name="connsiteX3" fmla="*/ 128588 w 357188"/>
                  <a:gd name="connsiteY3" fmla="*/ 107156 h 471487"/>
                  <a:gd name="connsiteX4" fmla="*/ 42863 w 357188"/>
                  <a:gd name="connsiteY4" fmla="*/ 50006 h 471487"/>
                  <a:gd name="connsiteX5" fmla="*/ 0 w 357188"/>
                  <a:gd name="connsiteY5" fmla="*/ 0 h 47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7188" h="471487">
                    <a:moveTo>
                      <a:pt x="357188" y="471487"/>
                    </a:moveTo>
                    <a:cubicBezTo>
                      <a:pt x="347067" y="419694"/>
                      <a:pt x="336947" y="367902"/>
                      <a:pt x="314325" y="321468"/>
                    </a:cubicBezTo>
                    <a:cubicBezTo>
                      <a:pt x="291703" y="275034"/>
                      <a:pt x="252412" y="228600"/>
                      <a:pt x="221456" y="192881"/>
                    </a:cubicBezTo>
                    <a:cubicBezTo>
                      <a:pt x="190500" y="157162"/>
                      <a:pt x="158354" y="130969"/>
                      <a:pt x="128588" y="107156"/>
                    </a:cubicBezTo>
                    <a:cubicBezTo>
                      <a:pt x="98822" y="83343"/>
                      <a:pt x="64294" y="67865"/>
                      <a:pt x="42863" y="50006"/>
                    </a:cubicBezTo>
                    <a:cubicBezTo>
                      <a:pt x="21432" y="32147"/>
                      <a:pt x="10716" y="16073"/>
                      <a:pt x="0" y="0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478631" y="1829220"/>
                <a:ext cx="2581201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121444" y="1281653"/>
                <a:ext cx="293838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任意多边形 49"/>
              <p:cNvSpPr/>
              <p:nvPr/>
            </p:nvSpPr>
            <p:spPr>
              <a:xfrm>
                <a:off x="105130" y="1319305"/>
                <a:ext cx="373519" cy="506432"/>
              </a:xfrm>
              <a:custGeom>
                <a:avLst/>
                <a:gdLst>
                  <a:gd name="connsiteX0" fmla="*/ 0 w 357187"/>
                  <a:gd name="connsiteY0" fmla="*/ 392906 h 392906"/>
                  <a:gd name="connsiteX1" fmla="*/ 185737 w 357187"/>
                  <a:gd name="connsiteY1" fmla="*/ 314325 h 392906"/>
                  <a:gd name="connsiteX2" fmla="*/ 292894 w 357187"/>
                  <a:gd name="connsiteY2" fmla="*/ 185737 h 392906"/>
                  <a:gd name="connsiteX3" fmla="*/ 357187 w 357187"/>
                  <a:gd name="connsiteY3" fmla="*/ 0 h 39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187" h="392906">
                    <a:moveTo>
                      <a:pt x="0" y="392906"/>
                    </a:moveTo>
                    <a:cubicBezTo>
                      <a:pt x="68461" y="370879"/>
                      <a:pt x="136922" y="348853"/>
                      <a:pt x="185737" y="314325"/>
                    </a:cubicBezTo>
                    <a:cubicBezTo>
                      <a:pt x="234552" y="279797"/>
                      <a:pt x="264319" y="238124"/>
                      <a:pt x="292894" y="185737"/>
                    </a:cubicBezTo>
                    <a:cubicBezTo>
                      <a:pt x="321469" y="133350"/>
                      <a:pt x="351234" y="27384"/>
                      <a:pt x="357187" y="0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3" name="直接连接符 52"/>
            <p:cNvCxnSpPr/>
            <p:nvPr/>
          </p:nvCxnSpPr>
          <p:spPr>
            <a:xfrm>
              <a:off x="551799" y="2375444"/>
              <a:ext cx="27578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325513" y="4067348"/>
            <a:ext cx="4536504" cy="461665"/>
            <a:chOff x="875240" y="761147"/>
            <a:chExt cx="4536504" cy="461665"/>
          </a:xfrm>
        </p:grpSpPr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1055279" y="761147"/>
              <a:ext cx="43564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蜗杆的头数</a:t>
              </a:r>
              <a:r>
                <a:rPr lang="en-US" altLang="zh-CN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z</a:t>
              </a:r>
              <a:r>
                <a:rPr lang="en-US" altLang="zh-CN" sz="2400" b="1" baseline="-25000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和蜗轮的齿数</a:t>
              </a:r>
              <a:r>
                <a:rPr lang="en-US" altLang="zh-CN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z</a:t>
              </a:r>
              <a:r>
                <a:rPr lang="en-US" altLang="zh-CN" sz="2400" b="1" baseline="-25000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400" b="1" baseline="-250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875240" y="915242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4644008" y="4102611"/>
                <a:ext cx="1246302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1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100" b="1" i="1" smtClean="0">
                          <a:latin typeface="Cambria Math" panose="02040503050406030204" pitchFamily="18" charset="0"/>
                        </a:rPr>
                        <m:t>𝒊</m:t>
                      </m:r>
                      <m:sSub>
                        <m:sSubPr>
                          <m:ctrlPr>
                            <a:rPr lang="en-US" altLang="zh-CN" sz="21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1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100" b="1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4102611"/>
                <a:ext cx="1246302" cy="415498"/>
              </a:xfrm>
              <a:prstGeom prst="rect">
                <a:avLst/>
              </a:prstGeom>
              <a:blipFill rotWithShape="0">
                <a:blip r:embed="rId9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397346" y="4664844"/>
            <a:ext cx="835111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2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1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2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↑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</a:t>
            </a:r>
            <a:r>
              <a:rPr lang="en-US" altLang="zh-CN" sz="2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↓→</a:t>
            </a:r>
            <a:r>
              <a:rPr lang="en-US" altLang="zh-CN" sz="2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η</a:t>
            </a:r>
            <a:r>
              <a:rPr lang="en-US" altLang="zh-CN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↓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，发热量↑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21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↑ </a:t>
            </a:r>
            <a:r>
              <a:rPr lang="zh-CN" alt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1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↑ → </a:t>
            </a:r>
            <a:r>
              <a:rPr lang="en-US" altLang="zh-CN" sz="21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η</a:t>
            </a:r>
            <a:r>
              <a:rPr lang="en-US" altLang="zh-CN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↑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，但加工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困难</a:t>
            </a:r>
            <a:endParaRPr lang="zh-CN" altLang="en-US" sz="2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900420" y="4106315"/>
            <a:ext cx="134844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100" b="1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∴ </a:t>
            </a:r>
            <a:r>
              <a:rPr lang="en-US" altLang="zh-CN" sz="21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1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1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=1~4</a:t>
            </a:r>
            <a:endParaRPr lang="zh-CN" altLang="en-US" sz="2100" b="1" dirty="0">
              <a:solidFill>
                <a:srgbClr val="FF0000"/>
              </a:solidFill>
            </a:endParaRPr>
          </a:p>
        </p:txBody>
      </p:sp>
      <p:sp>
        <p:nvSpPr>
          <p:cNvPr id="39" name="Text Box 4"/>
          <p:cNvSpPr txBox="1">
            <a:spLocks noChangeArrowheads="1"/>
          </p:cNvSpPr>
          <p:nvPr/>
        </p:nvSpPr>
        <p:spPr bwMode="auto">
          <a:xfrm>
            <a:off x="397347" y="5183188"/>
            <a:ext cx="4534694" cy="431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1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↓↓ → 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根切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，传动不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平稳 → </a:t>
            </a:r>
            <a:r>
              <a:rPr lang="en-US" altLang="zh-CN" sz="21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&gt;26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4705775" y="5199812"/>
            <a:ext cx="4438225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21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↑↑ </a:t>
            </a:r>
            <a:r>
              <a:rPr lang="zh-CN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蜗轮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尺寸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↑ → 蜗杆</a:t>
            </a:r>
            <a:r>
              <a:rPr lang="zh-CN" altLang="en-US" sz="2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刚度</a:t>
            </a:r>
            <a:r>
              <a:rPr lang="zh-CN" altLang="en-US" sz="2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↓</a:t>
            </a:r>
            <a:endParaRPr lang="en-US" altLang="zh-CN" sz="21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381402" y="4098126"/>
            <a:ext cx="161454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∴ </a:t>
            </a:r>
            <a:r>
              <a:rPr lang="en-US" altLang="zh-CN" sz="22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2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=28~80</a:t>
            </a:r>
            <a:endParaRPr lang="en-US" altLang="zh-CN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53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9" grpId="0" animBg="1"/>
      <p:bldP spid="69" grpId="1"/>
      <p:bldP spid="70" grpId="0" animBg="1"/>
      <p:bldP spid="70" grpId="1"/>
      <p:bldP spid="7" grpId="0"/>
      <p:bldP spid="34" grpId="0"/>
      <p:bldP spid="36" grpId="0"/>
      <p:bldP spid="37" grpId="0"/>
      <p:bldP spid="39" grpId="0"/>
      <p:bldP spid="4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682676"/>
            <a:ext cx="3200994" cy="461665"/>
            <a:chOff x="875240" y="3086250"/>
            <a:chExt cx="3200994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094655" y="3086250"/>
                  <a:ext cx="298157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 b="1" dirty="0" smtClean="0">
                      <a:solidFill>
                        <a:srgbClr val="FFC000"/>
                      </a:solidFill>
                      <a:latin typeface="微软雅黑" pitchFamily="34" charset="-122"/>
                      <a:ea typeface="微软雅黑" pitchFamily="34" charset="-122"/>
                    </a:rPr>
                    <a:t>传动比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微软雅黑" pitchFamily="34" charset="-122"/>
                        </a:rPr>
                        <m:t>𝒊</m:t>
                      </m:r>
                    </m:oMath>
                  </a14:m>
                  <a:r>
                    <a:rPr lang="zh-CN" altLang="en-US" sz="2400" b="1" dirty="0" smtClean="0">
                      <a:solidFill>
                        <a:srgbClr val="FFC000"/>
                      </a:solidFill>
                      <a:latin typeface="微软雅黑" pitchFamily="34" charset="-122"/>
                      <a:ea typeface="微软雅黑" pitchFamily="34" charset="-122"/>
                    </a:rPr>
                    <a:t> 和齿数比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微软雅黑" pitchFamily="34" charset="-122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微软雅黑" pitchFamily="34" charset="-122"/>
                        </a:rPr>
                        <m:t>𝒖</m:t>
                      </m:r>
                    </m:oMath>
                  </a14:m>
                  <a:endParaRPr lang="zh-CN" altLang="en-US" sz="2400" b="1" dirty="0">
                    <a:solidFill>
                      <a:srgbClr val="FFC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5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4655" y="3086250"/>
                  <a:ext cx="2981579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067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椭圆 5"/>
            <p:cNvSpPr/>
            <p:nvPr/>
          </p:nvSpPr>
          <p:spPr>
            <a:xfrm>
              <a:off x="875240" y="3242471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992909" y="516956"/>
                <a:ext cx="2932213" cy="790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909" y="516956"/>
                <a:ext cx="2932213" cy="7907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单圆角矩形 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蜗杆传动的基本参数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9" name="直角三角形 8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524522" y="549754"/>
                <a:ext cx="1020921" cy="727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522" y="549754"/>
                <a:ext cx="1020921" cy="72750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748658" y="549754"/>
                <a:ext cx="1058751" cy="725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658" y="549754"/>
                <a:ext cx="1058751" cy="7251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323528" y="1629804"/>
            <a:ext cx="2408906" cy="461665"/>
            <a:chOff x="875240" y="3086250"/>
            <a:chExt cx="2408906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094655" y="3086250"/>
                  <a:ext cx="2189491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itchFamily="34" charset="0"/>
                      <a:ea typeface="黑体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 b="1" dirty="0" smtClean="0">
                      <a:solidFill>
                        <a:srgbClr val="FFC000"/>
                      </a:solidFill>
                      <a:latin typeface="微软雅黑" pitchFamily="34" charset="-122"/>
                      <a:ea typeface="微软雅黑" pitchFamily="34" charset="-122"/>
                    </a:rPr>
                    <a:t>标准中心距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微软雅黑" pitchFamily="34" charset="-122"/>
                        </a:rPr>
                        <m:t>𝒂</m:t>
                      </m:r>
                    </m:oMath>
                  </a14:m>
                  <a:r>
                    <a:rPr lang="zh-CN" altLang="en-US" sz="2400" b="1" dirty="0" smtClean="0">
                      <a:solidFill>
                        <a:srgbClr val="FFC000"/>
                      </a:solidFill>
                      <a:latin typeface="微软雅黑" pitchFamily="34" charset="-122"/>
                      <a:ea typeface="微软雅黑" pitchFamily="34" charset="-122"/>
                    </a:rPr>
                    <a:t> </a:t>
                  </a:r>
                  <a:endParaRPr lang="zh-CN" altLang="en-US" sz="2400" b="1" dirty="0">
                    <a:solidFill>
                      <a:srgbClr val="FFC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13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4655" y="3086250"/>
                  <a:ext cx="2189491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4178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/>
            <p:cNvSpPr/>
            <p:nvPr/>
          </p:nvSpPr>
          <p:spPr>
            <a:xfrm>
              <a:off x="875240" y="3242471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2584352" y="1483267"/>
                <a:ext cx="6043129" cy="726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352" y="1483267"/>
                <a:ext cx="6043129" cy="72616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323528" y="2386071"/>
            <a:ext cx="1884816" cy="492443"/>
            <a:chOff x="323528" y="564857"/>
            <a:chExt cx="1884816" cy="492443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1524776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失效形式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8" name="Picture 15" descr="AR1031"/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23528" y="3577580"/>
            <a:ext cx="6395734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3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开式传动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：磨损、折断；按齿根弯曲强度设计。</a:t>
            </a:r>
            <a:endParaRPr lang="zh-CN" altLang="en-US" sz="2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323528" y="5036579"/>
            <a:ext cx="612068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300" dirty="0" smtClean="0">
                <a:latin typeface="微软雅黑" pitchFamily="34" charset="-122"/>
                <a:ea typeface="微软雅黑" pitchFamily="34" charset="-122"/>
              </a:rPr>
              <a:t>∵ </a:t>
            </a:r>
            <a:r>
              <a:rPr lang="en-US" altLang="zh-CN" sz="2300" b="1" i="1" dirty="0" smtClean="0">
                <a:solidFill>
                  <a:srgbClr val="FF0000"/>
                </a:solidFill>
                <a:ea typeface="微软雅黑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300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23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↑ </a:t>
            </a:r>
            <a:r>
              <a:rPr lang="en-US" altLang="zh-CN" sz="2300" dirty="0" smtClean="0">
                <a:latin typeface="微软雅黑" pitchFamily="34" charset="-122"/>
                <a:ea typeface="微软雅黑" pitchFamily="34" charset="-122"/>
              </a:rPr>
              <a:t>→ </a:t>
            </a:r>
            <a:r>
              <a:rPr lang="en-US" altLang="zh-CN" sz="2300" b="1" i="1" dirty="0" smtClean="0">
                <a:ea typeface="微软雅黑" pitchFamily="34" charset="-122"/>
                <a:cs typeface="Times New Roman" panose="02020603050405020304" pitchFamily="18" charset="0"/>
              </a:rPr>
              <a:t>η</a:t>
            </a:r>
            <a:r>
              <a:rPr lang="en-US" altLang="zh-CN" sz="2300" dirty="0">
                <a:latin typeface="微软雅黑" pitchFamily="34" charset="-122"/>
                <a:ea typeface="微软雅黑" pitchFamily="34" charset="-122"/>
              </a:rPr>
              <a:t>↓</a:t>
            </a:r>
            <a:r>
              <a:rPr lang="zh-CN" altLang="en-US" sz="2300" dirty="0">
                <a:latin typeface="微软雅黑" pitchFamily="34" charset="-122"/>
                <a:ea typeface="微软雅黑" pitchFamily="34" charset="-122"/>
              </a:rPr>
              <a:t>、发热↑ 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→ </a:t>
            </a:r>
            <a:r>
              <a:rPr lang="zh-CN" altLang="en-US" sz="23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胶合</a:t>
            </a:r>
            <a:r>
              <a:rPr lang="zh-CN" altLang="en-US" sz="23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3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磨损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更为严重。</a:t>
            </a:r>
            <a:endParaRPr lang="zh-CN" altLang="en-US" sz="23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719262" y="2209428"/>
            <a:ext cx="2173218" cy="3384376"/>
            <a:chOff x="7025581" y="427188"/>
            <a:chExt cx="1669162" cy="2665190"/>
          </a:xfrm>
        </p:grpSpPr>
        <p:pic>
          <p:nvPicPr>
            <p:cNvPr id="23" name="Picture 13" descr="未标题-1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07" r="9345" b="48281"/>
            <a:stretch/>
          </p:blipFill>
          <p:spPr bwMode="auto">
            <a:xfrm>
              <a:off x="7025581" y="427188"/>
              <a:ext cx="1669162" cy="1615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3" descr="未标题-1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07" t="59743" r="9345" b="6439"/>
            <a:stretch/>
          </p:blipFill>
          <p:spPr bwMode="auto">
            <a:xfrm>
              <a:off x="7025581" y="2036188"/>
              <a:ext cx="1669162" cy="1056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323528" y="4080543"/>
            <a:ext cx="6336704" cy="89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14000"/>
              </a:lnSpc>
            </a:pPr>
            <a:r>
              <a:rPr lang="zh-CN" altLang="en-US" sz="23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闭式传动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：齿</a:t>
            </a:r>
            <a:r>
              <a:rPr lang="zh-CN" altLang="en-US" sz="2300" dirty="0">
                <a:latin typeface="微软雅黑" pitchFamily="34" charset="-122"/>
                <a:ea typeface="微软雅黑" pitchFamily="34" charset="-122"/>
              </a:rPr>
              <a:t>面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点蚀</a:t>
            </a:r>
            <a:r>
              <a:rPr lang="zh-CN" altLang="en-US" sz="23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胶合；按齿面接触疲劳强度设计，按齿根弯曲强度校核，并作热平衡计算</a:t>
            </a:r>
            <a:endParaRPr lang="zh-CN" altLang="en-US" sz="23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528" y="3074617"/>
            <a:ext cx="564144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dirty="0">
                <a:latin typeface="微软雅黑" pitchFamily="34" charset="-122"/>
                <a:ea typeface="微软雅黑" pitchFamily="34" charset="-122"/>
              </a:rPr>
              <a:t>蜗轮强度较弱，失效主要发生在</a:t>
            </a:r>
            <a:r>
              <a:rPr lang="zh-CN" altLang="en-US" sz="23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蜗轮</a:t>
            </a:r>
            <a:r>
              <a:rPr lang="zh-CN" altLang="en-US" sz="2300" dirty="0">
                <a:latin typeface="微软雅黑" pitchFamily="34" charset="-122"/>
                <a:ea typeface="微软雅黑" pitchFamily="34" charset="-122"/>
              </a:rPr>
              <a:t>上</a:t>
            </a:r>
            <a:r>
              <a:rPr lang="zh-CN" altLang="en-US" sz="23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78776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5" grpId="0"/>
      <p:bldP spid="19" grpId="0"/>
      <p:bldP spid="20" grpId="0"/>
      <p:bldP spid="28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74676"/>
            <a:ext cx="1163550" cy="461665"/>
            <a:chOff x="323528" y="606847"/>
            <a:chExt cx="1163550" cy="461665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653" y="606847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000099"/>
                  </a:solidFill>
                  <a:latin typeface="黑体" pitchFamily="49" charset="-122"/>
                </a:rPr>
                <a:t>材料</a:t>
              </a:r>
              <a:endParaRPr lang="zh-CN" altLang="en-US" sz="2400" dirty="0"/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7" name="单圆角矩形 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蜗杆传动的常用材料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8" name="直角三角形 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1547664" y="531164"/>
            <a:ext cx="7520007" cy="489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：良好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摩、耐磨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、易跑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合、抗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胶合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性能；足够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的强度</a:t>
            </a: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467544" y="1180437"/>
            <a:ext cx="27238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蜗杆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碳钢或合金钢</a:t>
            </a: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3336124" y="1180437"/>
            <a:ext cx="43322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硬度↑、粗糙度↓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耐磨性↑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94607" y="1768558"/>
            <a:ext cx="7245745" cy="1368535"/>
            <a:chOff x="1325449" y="3862015"/>
            <a:chExt cx="7245745" cy="1368535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540267" y="3862015"/>
              <a:ext cx="5086711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/>
            <a:p>
              <a:pPr eaLnBrk="0" hangingPunct="0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40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45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钢，调质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——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低速不太重要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540267" y="4349196"/>
              <a:ext cx="5806791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/>
            <a:p>
              <a:pPr eaLnBrk="0" hangingPunct="0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40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45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钢、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40Cr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表面淬火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——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一般传动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540267" y="4822746"/>
              <a:ext cx="7030927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/>
            <a:p>
              <a:pPr eaLnBrk="0" latinLnBrk="0" hangingPunct="0"/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15Cr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20Cr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12CrMnT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等，渗碳淬火</a:t>
              </a:r>
              <a:r>
                <a: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——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高速重载</a:t>
              </a:r>
            </a:p>
          </p:txBody>
        </p:sp>
        <p:sp>
          <p:nvSpPr>
            <p:cNvPr id="16" name="AutoShape 14"/>
            <p:cNvSpPr/>
            <p:nvPr/>
          </p:nvSpPr>
          <p:spPr bwMode="auto">
            <a:xfrm>
              <a:off x="1325449" y="3975281"/>
              <a:ext cx="214818" cy="1128214"/>
            </a:xfrm>
            <a:prstGeom prst="leftBrace">
              <a:avLst>
                <a:gd name="adj1" fmla="val 2302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eaLnBrk="0" hangingPunct="0"/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67544" y="3313792"/>
            <a:ext cx="496855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蜗轮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铸锡青铜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、无锡青铜、铸铁等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742319" y="3313792"/>
            <a:ext cx="2934137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材料选择主要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709425" y="5113992"/>
            <a:ext cx="8276495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铸铁：</a:t>
            </a:r>
            <a:r>
              <a:rPr lang="zh-CN" altLang="en-US" sz="2200" dirty="0" smtClean="0">
                <a:solidFill>
                  <a:srgbClr val="0000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灰铸铁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2m/s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。进行时效处理防止变形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200" dirty="0" smtClean="0">
                <a:solidFill>
                  <a:srgbClr val="0000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球墨铸铁。</a:t>
            </a:r>
            <a:endParaRPr lang="zh-CN" altLang="en-US" sz="2200" dirty="0">
              <a:solidFill>
                <a:srgbClr val="0000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14"/>
          <p:cNvSpPr/>
          <p:nvPr/>
        </p:nvSpPr>
        <p:spPr bwMode="auto">
          <a:xfrm>
            <a:off x="488975" y="4018142"/>
            <a:ext cx="220118" cy="1408424"/>
          </a:xfrm>
          <a:prstGeom prst="leftBrace">
            <a:avLst>
              <a:gd name="adj1" fmla="val 31134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/>
          <a:p>
            <a:pPr eaLnBrk="0" hangingPunct="0"/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04684" y="4519593"/>
            <a:ext cx="8281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无锡青铜：</a:t>
            </a:r>
            <a:r>
              <a:rPr lang="en-US" altLang="zh-CN" sz="2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&lt;10m/s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。切削性能差、抗胶合较差，价廉，强度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 </a:t>
            </a:r>
            <a:endParaRPr lang="zh-CN" altLang="en-US" sz="2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705129" y="3925194"/>
            <a:ext cx="8280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铸锡青铜：</a:t>
            </a:r>
            <a:r>
              <a:rPr lang="en-US" altLang="zh-CN" sz="2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 25m/s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。抗胶合、耐磨性好，易切削加工，价贵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1156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3529" y="1792757"/>
            <a:ext cx="9001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200" dirty="0" smtClean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200" dirty="0" smtClean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200" b="1" i="1" dirty="0" smtClean="0">
                <a:solidFill>
                  <a:srgbClr val="0000A2"/>
                </a:solidFill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aseline="-25000" dirty="0" smtClean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200" dirty="0" smtClean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转向判定：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蜗杆左右手</a:t>
            </a:r>
            <a:r>
              <a:rPr lang="zh-CN" altLang="en-US" sz="22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定则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</a:rPr>
              <a:t>：四指</a:t>
            </a:r>
            <a:r>
              <a:rPr lang="en-US" altLang="zh-CN" sz="2200" b="1" i="1" dirty="0"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aseline="-25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</a:rPr>
              <a:t>、拇指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</a:rPr>
              <a:t>向：啮合点</a:t>
            </a:r>
            <a:r>
              <a:rPr lang="en-US" altLang="zh-CN" sz="2200" b="1" i="1" dirty="0" smtClean="0">
                <a:ea typeface="微软雅黑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 smtClean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→ </a:t>
            </a:r>
            <a:r>
              <a:rPr lang="en-US" altLang="zh-CN" sz="2200" b="1" i="1" dirty="0" smtClean="0"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en-US" altLang="zh-CN" sz="2200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323528" y="1208832"/>
            <a:ext cx="21796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200" dirty="0" smtClean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200" dirty="0" smtClean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）旋</a:t>
            </a:r>
            <a:r>
              <a:rPr lang="zh-CN" altLang="en-US" sz="2200" dirty="0">
                <a:solidFill>
                  <a:srgbClr val="0000A2"/>
                </a:solidFill>
                <a:latin typeface="微软雅黑" pitchFamily="34" charset="-122"/>
                <a:ea typeface="微软雅黑" pitchFamily="34" charset="-122"/>
              </a:rPr>
              <a:t>向判定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2348792" y="1241027"/>
            <a:ext cx="4241218" cy="430213"/>
            <a:chOff x="1817725" y="2367303"/>
            <a:chExt cx="4241218" cy="430213"/>
          </a:xfrm>
        </p:grpSpPr>
        <p:graphicFrame>
          <p:nvGraphicFramePr>
            <p:cNvPr id="12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8273763"/>
                </p:ext>
              </p:extLst>
            </p:nvPr>
          </p:nvGraphicFramePr>
          <p:xfrm>
            <a:off x="1817725" y="2399053"/>
            <a:ext cx="696912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4814" name="Equation" r:id="rId3" imgW="393529" imgH="203112" progId="Equation.3">
                    <p:embed/>
                  </p:oleObj>
                </mc:Choice>
                <mc:Fallback>
                  <p:oleObj name="Equation" r:id="rId3" imgW="39352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7725" y="2399053"/>
                          <a:ext cx="696912" cy="3603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2609305" y="2367303"/>
              <a:ext cx="3449638" cy="430213"/>
              <a:chOff x="1975" y="3946"/>
              <a:chExt cx="2173" cy="271"/>
            </a:xfrm>
          </p:grpSpPr>
          <p:sp>
            <p:nvSpPr>
              <p:cNvPr id="15" name="Text Box 33"/>
              <p:cNvSpPr txBox="1">
                <a:spLocks noChangeArrowheads="1"/>
              </p:cNvSpPr>
              <p:nvPr/>
            </p:nvSpPr>
            <p:spPr bwMode="auto">
              <a:xfrm>
                <a:off x="2432" y="3946"/>
                <a:ext cx="1716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 dirty="0">
                    <a:latin typeface="微软雅黑" pitchFamily="34" charset="-122"/>
                    <a:ea typeface="微软雅黑" pitchFamily="34" charset="-122"/>
                  </a:rPr>
                  <a:t>蜗轮与蜗杆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旋向</a:t>
                </a:r>
                <a:r>
                  <a:rPr lang="zh-CN" altLang="en-US" sz="22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相同</a:t>
                </a:r>
                <a:endParaRPr lang="zh-CN" altLang="en-US" sz="22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AutoShape 53"/>
              <p:cNvSpPr>
                <a:spLocks noChangeArrowheads="1"/>
              </p:cNvSpPr>
              <p:nvPr/>
            </p:nvSpPr>
            <p:spPr bwMode="auto">
              <a:xfrm>
                <a:off x="1975" y="4017"/>
                <a:ext cx="397" cy="125"/>
              </a:xfrm>
              <a:prstGeom prst="rightArrow">
                <a:avLst>
                  <a:gd name="adj1" fmla="val 50000"/>
                  <a:gd name="adj2" fmla="val 67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4149634" y="587389"/>
            <a:ext cx="4454814" cy="461665"/>
            <a:chOff x="875240" y="917957"/>
            <a:chExt cx="4454814" cy="461665"/>
          </a:xfrm>
        </p:grpSpPr>
        <p:sp>
          <p:nvSpPr>
            <p:cNvPr id="17" name="Text Box 4"/>
            <p:cNvSpPr txBox="1">
              <a:spLocks noChangeArrowheads="1"/>
            </p:cNvSpPr>
            <p:nvPr/>
          </p:nvSpPr>
          <p:spPr bwMode="auto">
            <a:xfrm>
              <a:off x="1051453" y="917957"/>
              <a:ext cx="42786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转向判定：</a:t>
              </a:r>
              <a:r>
                <a:rPr lang="zh-CN" altLang="en-US" sz="2200" dirty="0" smtClean="0">
                  <a:latin typeface="微软雅黑" pitchFamily="34" charset="-122"/>
                  <a:ea typeface="微软雅黑" pitchFamily="34" charset="-122"/>
                </a:rPr>
                <a:t>已知</a:t>
              </a:r>
              <a:r>
                <a:rPr lang="en-US" altLang="zh-CN" sz="2200" b="1" i="1" dirty="0" smtClean="0">
                  <a:ea typeface="微软雅黑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200" baseline="-25000" dirty="0" smtClean="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200" dirty="0">
                  <a:latin typeface="微软雅黑" pitchFamily="34" charset="-122"/>
                  <a:ea typeface="微软雅黑" pitchFamily="34" charset="-122"/>
                </a:rPr>
                <a:t>、旋向 → </a:t>
              </a:r>
              <a:r>
                <a:rPr lang="en-US" altLang="zh-CN" sz="2200" b="1" i="1" dirty="0" smtClean="0">
                  <a:ea typeface="微软雅黑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200" baseline="-25000" dirty="0" smtClean="0"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2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875240" y="1080384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200"/>
            </a:p>
          </p:txBody>
        </p:sp>
      </p:grpSp>
      <p:grpSp>
        <p:nvGrpSpPr>
          <p:cNvPr id="19" name="Group 4"/>
          <p:cNvGrpSpPr>
            <a:grpSpLocks/>
          </p:cNvGrpSpPr>
          <p:nvPr/>
        </p:nvGrpSpPr>
        <p:grpSpPr bwMode="auto">
          <a:xfrm>
            <a:off x="4716016" y="2414675"/>
            <a:ext cx="3953459" cy="3135256"/>
            <a:chOff x="4915" y="-1331"/>
            <a:chExt cx="3392" cy="2690"/>
          </a:xfrm>
        </p:grpSpPr>
        <p:pic>
          <p:nvPicPr>
            <p:cNvPr id="20" name="Picture 5" descr="xx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" y="-1331"/>
              <a:ext cx="3392" cy="2353"/>
            </a:xfrm>
            <a:prstGeom prst="rect">
              <a:avLst/>
            </a:prstGeom>
            <a:noFill/>
            <a:ln w="9525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4915" y="1069"/>
              <a:ext cx="3392" cy="290"/>
            </a:xfrm>
            <a:prstGeom prst="rect">
              <a:avLst/>
            </a:prstGeom>
            <a:solidFill>
              <a:srgbClr val="F3FFE7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kumimoji="1" lang="zh-CN" altLang="en-US" sz="1600" dirty="0">
                  <a:solidFill>
                    <a:srgbClr val="FF6600"/>
                  </a:solidFill>
                  <a:latin typeface="微软雅黑" pitchFamily="34" charset="-122"/>
                  <a:ea typeface="微软雅黑" pitchFamily="34" charset="-122"/>
                  <a:cs typeface="楷体_GB2312"/>
                </a:rPr>
                <a:t>蜗杆</a:t>
              </a:r>
              <a:r>
                <a:rPr kumimoji="1" lang="zh-CN" altLang="en-US" sz="1600" dirty="0" smtClean="0">
                  <a:solidFill>
                    <a:srgbClr val="FF6600"/>
                  </a:solidFill>
                  <a:latin typeface="微软雅黑" pitchFamily="34" charset="-122"/>
                  <a:ea typeface="微软雅黑" pitchFamily="34" charset="-122"/>
                  <a:cs typeface="楷体_GB2312"/>
                </a:rPr>
                <a:t>右手定则</a:t>
              </a:r>
              <a:endParaRPr kumimoji="1" lang="zh-CN" altLang="en-US" sz="16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cs typeface="楷体_GB2312"/>
              </a:endParaRPr>
            </a:p>
          </p:txBody>
        </p:sp>
      </p:grpSp>
      <p:grpSp>
        <p:nvGrpSpPr>
          <p:cNvPr id="22" name="Group 7"/>
          <p:cNvGrpSpPr>
            <a:grpSpLocks/>
          </p:cNvGrpSpPr>
          <p:nvPr/>
        </p:nvGrpSpPr>
        <p:grpSpPr bwMode="auto">
          <a:xfrm>
            <a:off x="539552" y="2414440"/>
            <a:ext cx="3742497" cy="3136426"/>
            <a:chOff x="3080" y="400"/>
            <a:chExt cx="3211" cy="2691"/>
          </a:xfrm>
        </p:grpSpPr>
        <p:pic>
          <p:nvPicPr>
            <p:cNvPr id="23" name="Picture 8" descr="xx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" y="400"/>
              <a:ext cx="3211" cy="2353"/>
            </a:xfrm>
            <a:prstGeom prst="rect">
              <a:avLst/>
            </a:prstGeom>
            <a:noFill/>
            <a:ln w="9525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3080" y="2801"/>
              <a:ext cx="3211" cy="290"/>
            </a:xfrm>
            <a:prstGeom prst="rect">
              <a:avLst/>
            </a:prstGeom>
            <a:solidFill>
              <a:srgbClr val="F3FFE7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kumimoji="1" lang="zh-CN" altLang="en-US" sz="1600" dirty="0" smtClean="0">
                  <a:solidFill>
                    <a:srgbClr val="FF6600"/>
                  </a:solidFill>
                  <a:latin typeface="微软雅黑" pitchFamily="34" charset="-122"/>
                  <a:ea typeface="微软雅黑" pitchFamily="34" charset="-122"/>
                  <a:cs typeface="楷体_GB2312"/>
                </a:rPr>
                <a:t>蜗杆左手定则</a:t>
              </a:r>
              <a:endParaRPr kumimoji="1" lang="zh-CN" altLang="en-US" sz="1600" dirty="0">
                <a:solidFill>
                  <a:srgbClr val="FF6600"/>
                </a:solidFill>
                <a:latin typeface="微软雅黑" pitchFamily="34" charset="-122"/>
                <a:ea typeface="微软雅黑" pitchFamily="34" charset="-122"/>
                <a:cs typeface="楷体_GB2312"/>
              </a:endParaRPr>
            </a:p>
          </p:txBody>
        </p:sp>
      </p:grpSp>
      <p:sp>
        <p:nvSpPr>
          <p:cNvPr id="27" name="单圆角矩形 2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蜗杆传动的受力分析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8" name="直角三角形 2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323528" y="564857"/>
            <a:ext cx="3559955" cy="492443"/>
            <a:chOff x="323528" y="564857"/>
            <a:chExt cx="3559955" cy="492443"/>
          </a:xfrm>
        </p:grpSpPr>
        <p:sp>
          <p:nvSpPr>
            <p:cNvPr id="33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19991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蜗杆传动的受力分析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34" name="Picture 15" descr="AR1031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646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105" y="523858"/>
            <a:ext cx="3188226" cy="461665"/>
            <a:chOff x="875240" y="925555"/>
            <a:chExt cx="3188226" cy="461665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042751" y="925555"/>
              <a:ext cx="30207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作用力方向判定</a:t>
              </a:r>
              <a:endParaRPr lang="zh-CN" altLang="en-US" sz="2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875240" y="1080384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1079058" y="1542899"/>
            <a:ext cx="15347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2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可分解为</a:t>
            </a:r>
          </a:p>
        </p:txBody>
      </p:sp>
      <p:grpSp>
        <p:nvGrpSpPr>
          <p:cNvPr id="8" name="Group 40"/>
          <p:cNvGrpSpPr/>
          <p:nvPr/>
        </p:nvGrpSpPr>
        <p:grpSpPr bwMode="auto">
          <a:xfrm>
            <a:off x="2603822" y="1138334"/>
            <a:ext cx="1608138" cy="1431134"/>
            <a:chOff x="824" y="1115"/>
            <a:chExt cx="1013" cy="1202"/>
          </a:xfrm>
        </p:grpSpPr>
        <p:grpSp>
          <p:nvGrpSpPr>
            <p:cNvPr id="9" name="Group 19"/>
            <p:cNvGrpSpPr/>
            <p:nvPr/>
          </p:nvGrpSpPr>
          <p:grpSpPr bwMode="auto">
            <a:xfrm>
              <a:off x="824" y="1115"/>
              <a:ext cx="1013" cy="1125"/>
              <a:chOff x="824" y="1115"/>
              <a:chExt cx="1013" cy="1125"/>
            </a:xfrm>
          </p:grpSpPr>
          <p:sp>
            <p:nvSpPr>
              <p:cNvPr id="16" name="AutoShape 6"/>
              <p:cNvSpPr/>
              <p:nvPr/>
            </p:nvSpPr>
            <p:spPr bwMode="auto">
              <a:xfrm>
                <a:off x="824" y="1206"/>
                <a:ext cx="97" cy="1034"/>
              </a:xfrm>
              <a:prstGeom prst="leftBrace">
                <a:avLst>
                  <a:gd name="adj1" fmla="val 47438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Text Box 8"/>
              <p:cNvSpPr txBox="1">
                <a:spLocks noChangeArrowheads="1"/>
              </p:cNvSpPr>
              <p:nvPr/>
            </p:nvSpPr>
            <p:spPr bwMode="auto">
              <a:xfrm>
                <a:off x="923" y="1115"/>
                <a:ext cx="914" cy="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圆周</a:t>
                </a:r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力</a:t>
                </a:r>
                <a:r>
                  <a:rPr lang="en-US" altLang="zh-CN" sz="22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200" baseline="-250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921" y="1534"/>
              <a:ext cx="916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轴向力</a:t>
              </a:r>
              <a:r>
                <a:rPr lang="en-US" altLang="zh-CN" sz="22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200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921" y="1955"/>
              <a:ext cx="87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径向力</a:t>
              </a:r>
              <a:r>
                <a:rPr lang="en-US" altLang="zh-CN" sz="22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200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266150" y="2472052"/>
            <a:ext cx="1985159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各分力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方向：</a:t>
            </a: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1" name="Group 24"/>
          <p:cNvGrpSpPr/>
          <p:nvPr/>
        </p:nvGrpSpPr>
        <p:grpSpPr bwMode="auto">
          <a:xfrm>
            <a:off x="458367" y="3726842"/>
            <a:ext cx="557213" cy="762000"/>
            <a:chOff x="1456" y="2451"/>
            <a:chExt cx="351" cy="640"/>
          </a:xfrm>
        </p:grpSpPr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1456" y="2580"/>
              <a:ext cx="25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2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200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3" name="AutoShape 26"/>
            <p:cNvSpPr/>
            <p:nvPr/>
          </p:nvSpPr>
          <p:spPr bwMode="auto">
            <a:xfrm>
              <a:off x="1719" y="2451"/>
              <a:ext cx="88" cy="640"/>
            </a:xfrm>
            <a:prstGeom prst="leftBrace">
              <a:avLst>
                <a:gd name="adj1" fmla="val 6504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1027976" y="3635300"/>
            <a:ext cx="1800814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蜗杆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反向</a:t>
            </a:r>
          </a:p>
        </p:txBody>
      </p: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1014973" y="4160888"/>
            <a:ext cx="1800814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蜗轮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同向</a:t>
            </a:r>
          </a:p>
        </p:txBody>
      </p:sp>
      <p:graphicFrame>
        <p:nvGraphicFramePr>
          <p:cNvPr id="26" name="Object 29"/>
          <p:cNvGraphicFramePr>
            <a:graphicFrameLocks noChangeAspect="1"/>
          </p:cNvGraphicFramePr>
          <p:nvPr>
            <p:extLst/>
          </p:nvPr>
        </p:nvGraphicFramePr>
        <p:xfrm>
          <a:off x="2771800" y="4172154"/>
          <a:ext cx="1496892" cy="39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5862" r:id="rId3" imgW="647700" imgH="228600" progId="Equation.3">
                  <p:embed/>
                </p:oleObj>
              </mc:Choice>
              <mc:Fallback>
                <p:oleObj r:id="rId3" imgW="647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172154"/>
                        <a:ext cx="1496892" cy="3965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30"/>
          <p:cNvGrpSpPr/>
          <p:nvPr/>
        </p:nvGrpSpPr>
        <p:grpSpPr bwMode="auto">
          <a:xfrm>
            <a:off x="494140" y="4775557"/>
            <a:ext cx="528638" cy="751285"/>
            <a:chOff x="1444" y="3090"/>
            <a:chExt cx="333" cy="631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444" y="3211"/>
              <a:ext cx="278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2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200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AutoShape 32"/>
            <p:cNvSpPr/>
            <p:nvPr/>
          </p:nvSpPr>
          <p:spPr bwMode="auto">
            <a:xfrm>
              <a:off x="1692" y="3090"/>
              <a:ext cx="85" cy="631"/>
            </a:xfrm>
            <a:prstGeom prst="leftBrace">
              <a:avLst>
                <a:gd name="adj1" fmla="val 6504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Text Box 33"/>
          <p:cNvSpPr txBox="1">
            <a:spLocks noChangeArrowheads="1"/>
          </p:cNvSpPr>
          <p:nvPr/>
        </p:nvSpPr>
        <p:spPr bwMode="auto">
          <a:xfrm>
            <a:off x="1041826" y="4696465"/>
            <a:ext cx="2677656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蜗杆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左、右手定则</a:t>
            </a:r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1026667" y="5186000"/>
            <a:ext cx="984885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蜗轮：</a:t>
            </a:r>
          </a:p>
        </p:txBody>
      </p:sp>
      <p:graphicFrame>
        <p:nvGraphicFramePr>
          <p:cNvPr id="32" name="Object 35"/>
          <p:cNvGraphicFramePr>
            <a:graphicFrameLocks noChangeAspect="1"/>
          </p:cNvGraphicFramePr>
          <p:nvPr>
            <p:extLst/>
          </p:nvPr>
        </p:nvGraphicFramePr>
        <p:xfrm>
          <a:off x="1857381" y="5189824"/>
          <a:ext cx="1553495" cy="41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5863" r:id="rId5" imgW="647700" imgH="228600" progId="Equation.3">
                  <p:embed/>
                </p:oleObj>
              </mc:Choice>
              <mc:Fallback>
                <p:oleObj r:id="rId5" imgW="647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1" y="5189824"/>
                        <a:ext cx="1553495" cy="41264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" name="组合 194"/>
          <p:cNvGrpSpPr/>
          <p:nvPr/>
        </p:nvGrpSpPr>
        <p:grpSpPr>
          <a:xfrm>
            <a:off x="266150" y="3073524"/>
            <a:ext cx="2613485" cy="2232248"/>
            <a:chOff x="266150" y="3073524"/>
            <a:chExt cx="2613485" cy="2232248"/>
          </a:xfrm>
        </p:grpSpPr>
        <p:sp>
          <p:nvSpPr>
            <p:cNvPr id="20" name="Text Box 23"/>
            <p:cNvSpPr txBox="1">
              <a:spLocks noChangeArrowheads="1"/>
            </p:cNvSpPr>
            <p:nvPr/>
          </p:nvSpPr>
          <p:spPr bwMode="auto">
            <a:xfrm>
              <a:off x="495328" y="3073524"/>
              <a:ext cx="2384307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/>
            <a:p>
              <a:pPr eaLnBrk="0" hangingPunct="0"/>
              <a:r>
                <a:rPr lang="en-US" altLang="zh-CN" sz="22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200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zh-CN" altLang="en-US" sz="22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指向各自轮心</a:t>
              </a:r>
            </a:p>
          </p:txBody>
        </p:sp>
        <p:sp>
          <p:nvSpPr>
            <p:cNvPr id="34" name="AutoShape 37"/>
            <p:cNvSpPr/>
            <p:nvPr/>
          </p:nvSpPr>
          <p:spPr bwMode="auto">
            <a:xfrm>
              <a:off x="266150" y="3203252"/>
              <a:ext cx="206491" cy="2102520"/>
            </a:xfrm>
            <a:prstGeom prst="leftBrace">
              <a:avLst>
                <a:gd name="adj1" fmla="val 4360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6" name="图片 3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55"/>
          <a:stretch/>
        </p:blipFill>
        <p:spPr bwMode="auto">
          <a:xfrm>
            <a:off x="4750071" y="506335"/>
            <a:ext cx="4115785" cy="244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6" name="Group 40"/>
          <p:cNvGrpSpPr>
            <a:grpSpLocks/>
          </p:cNvGrpSpPr>
          <p:nvPr/>
        </p:nvGrpSpPr>
        <p:grpSpPr bwMode="auto">
          <a:xfrm>
            <a:off x="4695660" y="3240734"/>
            <a:ext cx="4132262" cy="2389187"/>
            <a:chOff x="1053" y="621"/>
            <a:chExt cx="2603" cy="1505"/>
          </a:xfrm>
        </p:grpSpPr>
        <p:grpSp>
          <p:nvGrpSpPr>
            <p:cNvPr id="117" name="Group 38"/>
            <p:cNvGrpSpPr>
              <a:grpSpLocks/>
            </p:cNvGrpSpPr>
            <p:nvPr/>
          </p:nvGrpSpPr>
          <p:grpSpPr bwMode="auto">
            <a:xfrm>
              <a:off x="1053" y="621"/>
              <a:ext cx="2603" cy="1505"/>
              <a:chOff x="1053" y="621"/>
              <a:chExt cx="2603" cy="1505"/>
            </a:xfrm>
          </p:grpSpPr>
          <p:grpSp>
            <p:nvGrpSpPr>
              <p:cNvPr id="119" name="Group 25"/>
              <p:cNvGrpSpPr>
                <a:grpSpLocks/>
              </p:cNvGrpSpPr>
              <p:nvPr/>
            </p:nvGrpSpPr>
            <p:grpSpPr bwMode="auto">
              <a:xfrm>
                <a:off x="1053" y="636"/>
                <a:ext cx="2603" cy="1490"/>
                <a:chOff x="1053" y="636"/>
                <a:chExt cx="2603" cy="1490"/>
              </a:xfrm>
            </p:grpSpPr>
            <p:sp>
              <p:nvSpPr>
                <p:cNvPr id="126" name="Oval 5"/>
                <p:cNvSpPr>
                  <a:spLocks noChangeArrowheads="1"/>
                </p:cNvSpPr>
                <p:nvPr/>
              </p:nvSpPr>
              <p:spPr bwMode="auto">
                <a:xfrm>
                  <a:off x="1368" y="1029"/>
                  <a:ext cx="1028" cy="10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" name="Line 6"/>
                <p:cNvSpPr>
                  <a:spLocks noChangeShapeType="1"/>
                </p:cNvSpPr>
                <p:nvPr/>
              </p:nvSpPr>
              <p:spPr bwMode="auto">
                <a:xfrm>
                  <a:off x="1053" y="913"/>
                  <a:ext cx="16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" name="Rectangle 3"/>
                <p:cNvSpPr>
                  <a:spLocks noChangeArrowheads="1"/>
                </p:cNvSpPr>
                <p:nvPr/>
              </p:nvSpPr>
              <p:spPr bwMode="auto">
                <a:xfrm>
                  <a:off x="1399" y="806"/>
                  <a:ext cx="963" cy="22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Line 7"/>
                <p:cNvSpPr>
                  <a:spLocks noChangeShapeType="1"/>
                </p:cNvSpPr>
                <p:nvPr/>
              </p:nvSpPr>
              <p:spPr bwMode="auto">
                <a:xfrm>
                  <a:off x="1127" y="875"/>
                  <a:ext cx="124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" name="Line 8"/>
                <p:cNvSpPr>
                  <a:spLocks noChangeShapeType="1"/>
                </p:cNvSpPr>
                <p:nvPr/>
              </p:nvSpPr>
              <p:spPr bwMode="auto">
                <a:xfrm>
                  <a:off x="1127" y="941"/>
                  <a:ext cx="124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Line 9"/>
                <p:cNvSpPr>
                  <a:spLocks noChangeShapeType="1"/>
                </p:cNvSpPr>
                <p:nvPr/>
              </p:nvSpPr>
              <p:spPr bwMode="auto">
                <a:xfrm>
                  <a:off x="2509" y="875"/>
                  <a:ext cx="124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Line 10"/>
                <p:cNvSpPr>
                  <a:spLocks noChangeShapeType="1"/>
                </p:cNvSpPr>
                <p:nvPr/>
              </p:nvSpPr>
              <p:spPr bwMode="auto">
                <a:xfrm>
                  <a:off x="2509" y="941"/>
                  <a:ext cx="124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" name="Oval 11"/>
                <p:cNvSpPr>
                  <a:spLocks noChangeArrowheads="1"/>
                </p:cNvSpPr>
                <p:nvPr/>
              </p:nvSpPr>
              <p:spPr bwMode="auto">
                <a:xfrm>
                  <a:off x="3094" y="798"/>
                  <a:ext cx="239" cy="239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" name="Line 13"/>
                <p:cNvSpPr>
                  <a:spLocks noChangeShapeType="1"/>
                </p:cNvSpPr>
                <p:nvPr/>
              </p:nvSpPr>
              <p:spPr bwMode="auto">
                <a:xfrm>
                  <a:off x="3114" y="994"/>
                  <a:ext cx="0" cy="106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Line 14"/>
                <p:cNvSpPr>
                  <a:spLocks noChangeShapeType="1"/>
                </p:cNvSpPr>
                <p:nvPr/>
              </p:nvSpPr>
              <p:spPr bwMode="auto">
                <a:xfrm>
                  <a:off x="3311" y="994"/>
                  <a:ext cx="0" cy="105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" name="Line 15"/>
                <p:cNvSpPr>
                  <a:spLocks noChangeShapeType="1"/>
                </p:cNvSpPr>
                <p:nvPr/>
              </p:nvSpPr>
              <p:spPr bwMode="auto">
                <a:xfrm>
                  <a:off x="1174" y="1546"/>
                  <a:ext cx="136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881" y="672"/>
                  <a:ext cx="3" cy="145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" name="Freeform 18"/>
                <p:cNvSpPr>
                  <a:spLocks/>
                </p:cNvSpPr>
                <p:nvPr/>
              </p:nvSpPr>
              <p:spPr bwMode="auto">
                <a:xfrm>
                  <a:off x="3116" y="1999"/>
                  <a:ext cx="196" cy="61"/>
                </a:xfrm>
                <a:custGeom>
                  <a:avLst/>
                  <a:gdLst>
                    <a:gd name="T0" fmla="*/ 0 w 196"/>
                    <a:gd name="T1" fmla="*/ 61 h 61"/>
                    <a:gd name="T2" fmla="*/ 44 w 196"/>
                    <a:gd name="T3" fmla="*/ 21 h 61"/>
                    <a:gd name="T4" fmla="*/ 100 w 196"/>
                    <a:gd name="T5" fmla="*/ 1 h 61"/>
                    <a:gd name="T6" fmla="*/ 152 w 196"/>
                    <a:gd name="T7" fmla="*/ 17 h 61"/>
                    <a:gd name="T8" fmla="*/ 196 w 196"/>
                    <a:gd name="T9" fmla="*/ 53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6" h="61">
                      <a:moveTo>
                        <a:pt x="0" y="61"/>
                      </a:moveTo>
                      <a:cubicBezTo>
                        <a:pt x="8" y="55"/>
                        <a:pt x="27" y="31"/>
                        <a:pt x="44" y="21"/>
                      </a:cubicBezTo>
                      <a:cubicBezTo>
                        <a:pt x="61" y="11"/>
                        <a:pt x="82" y="2"/>
                        <a:pt x="100" y="1"/>
                      </a:cubicBezTo>
                      <a:cubicBezTo>
                        <a:pt x="118" y="0"/>
                        <a:pt x="136" y="8"/>
                        <a:pt x="152" y="17"/>
                      </a:cubicBezTo>
                      <a:cubicBezTo>
                        <a:pt x="168" y="26"/>
                        <a:pt x="187" y="45"/>
                        <a:pt x="196" y="53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3211" y="636"/>
                  <a:ext cx="5" cy="1457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Line 20"/>
                <p:cNvSpPr>
                  <a:spLocks noChangeShapeType="1"/>
                </p:cNvSpPr>
                <p:nvPr/>
              </p:nvSpPr>
              <p:spPr bwMode="auto">
                <a:xfrm>
                  <a:off x="2830" y="1546"/>
                  <a:ext cx="82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0" name="Line 28"/>
              <p:cNvSpPr>
                <a:spLocks noChangeShapeType="1"/>
              </p:cNvSpPr>
              <p:nvPr/>
            </p:nvSpPr>
            <p:spPr bwMode="auto">
              <a:xfrm>
                <a:off x="1824" y="804"/>
                <a:ext cx="144" cy="2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29"/>
              <p:cNvSpPr>
                <a:spLocks noChangeShapeType="1"/>
              </p:cNvSpPr>
              <p:nvPr/>
            </p:nvSpPr>
            <p:spPr bwMode="auto">
              <a:xfrm>
                <a:off x="1776" y="798"/>
                <a:ext cx="144" cy="2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Text Box 31"/>
              <p:cNvSpPr txBox="1">
                <a:spLocks noChangeArrowheads="1"/>
              </p:cNvSpPr>
              <p:nvPr/>
            </p:nvSpPr>
            <p:spPr bwMode="auto">
              <a:xfrm>
                <a:off x="2432" y="621"/>
                <a:ext cx="25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CN" sz="2000" baseline="-250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23" name="Freeform 32"/>
              <p:cNvSpPr>
                <a:spLocks/>
              </p:cNvSpPr>
              <p:nvPr/>
            </p:nvSpPr>
            <p:spPr bwMode="auto">
              <a:xfrm>
                <a:off x="3276" y="774"/>
                <a:ext cx="103" cy="216"/>
              </a:xfrm>
              <a:custGeom>
                <a:avLst/>
                <a:gdLst>
                  <a:gd name="T0" fmla="*/ 0 w 103"/>
                  <a:gd name="T1" fmla="*/ 0 h 216"/>
                  <a:gd name="T2" fmla="*/ 54 w 103"/>
                  <a:gd name="T3" fmla="*/ 30 h 216"/>
                  <a:gd name="T4" fmla="*/ 90 w 103"/>
                  <a:gd name="T5" fmla="*/ 90 h 216"/>
                  <a:gd name="T6" fmla="*/ 102 w 103"/>
                  <a:gd name="T7" fmla="*/ 144 h 216"/>
                  <a:gd name="T8" fmla="*/ 84 w 103"/>
                  <a:gd name="T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6">
                    <a:moveTo>
                      <a:pt x="0" y="0"/>
                    </a:moveTo>
                    <a:cubicBezTo>
                      <a:pt x="19" y="7"/>
                      <a:pt x="39" y="15"/>
                      <a:pt x="54" y="30"/>
                    </a:cubicBezTo>
                    <a:cubicBezTo>
                      <a:pt x="69" y="45"/>
                      <a:pt x="82" y="71"/>
                      <a:pt x="90" y="90"/>
                    </a:cubicBezTo>
                    <a:cubicBezTo>
                      <a:pt x="98" y="109"/>
                      <a:pt x="103" y="123"/>
                      <a:pt x="102" y="144"/>
                    </a:cubicBezTo>
                    <a:cubicBezTo>
                      <a:pt x="101" y="165"/>
                      <a:pt x="92" y="190"/>
                      <a:pt x="84" y="21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Text Box 33"/>
              <p:cNvSpPr txBox="1">
                <a:spLocks noChangeArrowheads="1"/>
              </p:cNvSpPr>
              <p:nvPr/>
            </p:nvSpPr>
            <p:spPr bwMode="auto">
              <a:xfrm>
                <a:off x="3338" y="681"/>
                <a:ext cx="25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CN" sz="2000" baseline="-250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25" name="Line 35"/>
              <p:cNvSpPr>
                <a:spLocks noChangeShapeType="1"/>
              </p:cNvSpPr>
              <p:nvPr/>
            </p:nvSpPr>
            <p:spPr bwMode="auto">
              <a:xfrm>
                <a:off x="2460" y="774"/>
                <a:ext cx="0" cy="3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8" name="Line 39"/>
            <p:cNvSpPr>
              <a:spLocks noChangeShapeType="1"/>
            </p:cNvSpPr>
            <p:nvPr/>
          </p:nvSpPr>
          <p:spPr bwMode="auto">
            <a:xfrm>
              <a:off x="3012" y="918"/>
              <a:ext cx="4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1" name="Group 26"/>
          <p:cNvGrpSpPr>
            <a:grpSpLocks/>
          </p:cNvGrpSpPr>
          <p:nvPr/>
        </p:nvGrpSpPr>
        <p:grpSpPr bwMode="auto">
          <a:xfrm>
            <a:off x="6008525" y="2954984"/>
            <a:ext cx="487363" cy="928687"/>
            <a:chOff x="1880" y="441"/>
            <a:chExt cx="307" cy="585"/>
          </a:xfrm>
        </p:grpSpPr>
        <p:sp>
          <p:nvSpPr>
            <p:cNvPr id="142" name="Line 21"/>
            <p:cNvSpPr>
              <a:spLocks noChangeShapeType="1"/>
            </p:cNvSpPr>
            <p:nvPr/>
          </p:nvSpPr>
          <p:spPr bwMode="auto">
            <a:xfrm flipV="1">
              <a:off x="1884" y="600"/>
              <a:ext cx="0" cy="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" name="Text Box 22"/>
            <p:cNvSpPr txBox="1">
              <a:spLocks noChangeArrowheads="1"/>
            </p:cNvSpPr>
            <p:nvPr/>
          </p:nvSpPr>
          <p:spPr bwMode="auto">
            <a:xfrm>
              <a:off x="1880" y="441"/>
              <a:ext cx="3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r1</a:t>
              </a:r>
            </a:p>
          </p:txBody>
        </p:sp>
      </p:grpSp>
      <p:grpSp>
        <p:nvGrpSpPr>
          <p:cNvPr id="144" name="Group 27"/>
          <p:cNvGrpSpPr>
            <a:grpSpLocks/>
          </p:cNvGrpSpPr>
          <p:nvPr/>
        </p:nvGrpSpPr>
        <p:grpSpPr bwMode="auto">
          <a:xfrm>
            <a:off x="6014875" y="3883671"/>
            <a:ext cx="538163" cy="795338"/>
            <a:chOff x="1884" y="1026"/>
            <a:chExt cx="339" cy="501"/>
          </a:xfrm>
        </p:grpSpPr>
        <p:sp>
          <p:nvSpPr>
            <p:cNvPr id="145" name="Line 23"/>
            <p:cNvSpPr>
              <a:spLocks noChangeShapeType="1"/>
            </p:cNvSpPr>
            <p:nvPr/>
          </p:nvSpPr>
          <p:spPr bwMode="auto">
            <a:xfrm>
              <a:off x="1884" y="1026"/>
              <a:ext cx="0" cy="372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Text Box 24"/>
            <p:cNvSpPr txBox="1">
              <a:spLocks noChangeArrowheads="1"/>
            </p:cNvSpPr>
            <p:nvPr/>
          </p:nvSpPr>
          <p:spPr bwMode="auto">
            <a:xfrm>
              <a:off x="1916" y="1275"/>
              <a:ext cx="3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r2</a:t>
              </a:r>
            </a:p>
          </p:txBody>
        </p:sp>
      </p:grpSp>
      <p:grpSp>
        <p:nvGrpSpPr>
          <p:cNvPr id="147" name="Group 46"/>
          <p:cNvGrpSpPr>
            <a:grpSpLocks/>
          </p:cNvGrpSpPr>
          <p:nvPr/>
        </p:nvGrpSpPr>
        <p:grpSpPr bwMode="auto">
          <a:xfrm>
            <a:off x="5979947" y="3450284"/>
            <a:ext cx="708025" cy="446087"/>
            <a:chOff x="1856" y="771"/>
            <a:chExt cx="446" cy="281"/>
          </a:xfrm>
        </p:grpSpPr>
        <p:sp>
          <p:nvSpPr>
            <p:cNvPr id="148" name="Text Box 44"/>
            <p:cNvSpPr txBox="1">
              <a:spLocks noChangeArrowheads="1"/>
            </p:cNvSpPr>
            <p:nvPr/>
          </p:nvSpPr>
          <p:spPr bwMode="auto">
            <a:xfrm>
              <a:off x="1856" y="802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⊙</a:t>
              </a:r>
            </a:p>
          </p:txBody>
        </p:sp>
        <p:sp>
          <p:nvSpPr>
            <p:cNvPr id="149" name="Text Box 45"/>
            <p:cNvSpPr txBox="1">
              <a:spLocks noChangeArrowheads="1"/>
            </p:cNvSpPr>
            <p:nvPr/>
          </p:nvSpPr>
          <p:spPr bwMode="auto">
            <a:xfrm>
              <a:off x="2012" y="771"/>
              <a:ext cx="2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t1</a:t>
              </a:r>
            </a:p>
          </p:txBody>
        </p:sp>
      </p:grpSp>
      <p:grpSp>
        <p:nvGrpSpPr>
          <p:cNvPr id="150" name="Group 51"/>
          <p:cNvGrpSpPr>
            <a:grpSpLocks/>
          </p:cNvGrpSpPr>
          <p:nvPr/>
        </p:nvGrpSpPr>
        <p:grpSpPr bwMode="auto">
          <a:xfrm>
            <a:off x="5494172" y="3842396"/>
            <a:ext cx="533400" cy="569913"/>
            <a:chOff x="1556" y="1000"/>
            <a:chExt cx="336" cy="359"/>
          </a:xfrm>
        </p:grpSpPr>
        <p:grpSp>
          <p:nvGrpSpPr>
            <p:cNvPr id="151" name="Group 49"/>
            <p:cNvGrpSpPr>
              <a:grpSpLocks/>
            </p:cNvGrpSpPr>
            <p:nvPr/>
          </p:nvGrpSpPr>
          <p:grpSpPr bwMode="auto">
            <a:xfrm>
              <a:off x="1694" y="1000"/>
              <a:ext cx="198" cy="252"/>
              <a:chOff x="2330" y="2560"/>
              <a:chExt cx="198" cy="252"/>
            </a:xfrm>
          </p:grpSpPr>
          <p:sp>
            <p:nvSpPr>
              <p:cNvPr id="153" name="Oval 47"/>
              <p:cNvSpPr>
                <a:spLocks noChangeArrowheads="1"/>
              </p:cNvSpPr>
              <p:nvPr/>
            </p:nvSpPr>
            <p:spPr bwMode="auto">
              <a:xfrm>
                <a:off x="2358" y="2646"/>
                <a:ext cx="132" cy="132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Text Box 48"/>
              <p:cNvSpPr txBox="1">
                <a:spLocks noChangeArrowheads="1"/>
              </p:cNvSpPr>
              <p:nvPr/>
            </p:nvSpPr>
            <p:spPr bwMode="auto">
              <a:xfrm>
                <a:off x="2330" y="2560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152" name="Text Box 50"/>
            <p:cNvSpPr txBox="1">
              <a:spLocks noChangeArrowheads="1"/>
            </p:cNvSpPr>
            <p:nvPr/>
          </p:nvSpPr>
          <p:spPr bwMode="auto">
            <a:xfrm>
              <a:off x="1556" y="1107"/>
              <a:ext cx="31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a2</a:t>
              </a:r>
            </a:p>
          </p:txBody>
        </p:sp>
      </p:grpSp>
      <p:grpSp>
        <p:nvGrpSpPr>
          <p:cNvPr id="155" name="Group 54"/>
          <p:cNvGrpSpPr>
            <a:grpSpLocks/>
          </p:cNvGrpSpPr>
          <p:nvPr/>
        </p:nvGrpSpPr>
        <p:grpSpPr bwMode="auto">
          <a:xfrm>
            <a:off x="6024397" y="3821759"/>
            <a:ext cx="995363" cy="400050"/>
            <a:chOff x="1890" y="987"/>
            <a:chExt cx="627" cy="252"/>
          </a:xfrm>
        </p:grpSpPr>
        <p:sp>
          <p:nvSpPr>
            <p:cNvPr id="156" name="Line 52"/>
            <p:cNvSpPr>
              <a:spLocks noChangeShapeType="1"/>
            </p:cNvSpPr>
            <p:nvPr/>
          </p:nvSpPr>
          <p:spPr bwMode="auto">
            <a:xfrm>
              <a:off x="1890" y="1026"/>
              <a:ext cx="384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Text Box 53"/>
            <p:cNvSpPr txBox="1">
              <a:spLocks noChangeArrowheads="1"/>
            </p:cNvSpPr>
            <p:nvPr/>
          </p:nvSpPr>
          <p:spPr bwMode="auto">
            <a:xfrm>
              <a:off x="2198" y="987"/>
              <a:ext cx="31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a1</a:t>
              </a:r>
            </a:p>
          </p:txBody>
        </p:sp>
      </p:grpSp>
      <p:grpSp>
        <p:nvGrpSpPr>
          <p:cNvPr id="158" name="Group 57"/>
          <p:cNvGrpSpPr>
            <a:grpSpLocks/>
          </p:cNvGrpSpPr>
          <p:nvPr/>
        </p:nvGrpSpPr>
        <p:grpSpPr bwMode="auto">
          <a:xfrm>
            <a:off x="5408447" y="3497909"/>
            <a:ext cx="606425" cy="400050"/>
            <a:chOff x="1502" y="783"/>
            <a:chExt cx="382" cy="252"/>
          </a:xfrm>
        </p:grpSpPr>
        <p:sp>
          <p:nvSpPr>
            <p:cNvPr id="159" name="Line 55"/>
            <p:cNvSpPr>
              <a:spLocks noChangeShapeType="1"/>
            </p:cNvSpPr>
            <p:nvPr/>
          </p:nvSpPr>
          <p:spPr bwMode="auto">
            <a:xfrm flipH="1">
              <a:off x="1512" y="1026"/>
              <a:ext cx="372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0" name="Text Box 56"/>
            <p:cNvSpPr txBox="1">
              <a:spLocks noChangeArrowheads="1"/>
            </p:cNvSpPr>
            <p:nvPr/>
          </p:nvSpPr>
          <p:spPr bwMode="auto">
            <a:xfrm>
              <a:off x="1502" y="783"/>
              <a:ext cx="2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t2</a:t>
              </a:r>
            </a:p>
          </p:txBody>
        </p:sp>
      </p:grpSp>
      <p:grpSp>
        <p:nvGrpSpPr>
          <p:cNvPr id="161" name="Group 60"/>
          <p:cNvGrpSpPr>
            <a:grpSpLocks/>
          </p:cNvGrpSpPr>
          <p:nvPr/>
        </p:nvGrpSpPr>
        <p:grpSpPr bwMode="auto">
          <a:xfrm>
            <a:off x="4560723" y="4845699"/>
            <a:ext cx="646113" cy="515938"/>
            <a:chOff x="1172" y="1968"/>
            <a:chExt cx="407" cy="325"/>
          </a:xfrm>
        </p:grpSpPr>
        <p:sp>
          <p:nvSpPr>
            <p:cNvPr id="162" name="Line 58"/>
            <p:cNvSpPr>
              <a:spLocks noChangeShapeType="1"/>
            </p:cNvSpPr>
            <p:nvPr/>
          </p:nvSpPr>
          <p:spPr bwMode="auto">
            <a:xfrm flipH="1">
              <a:off x="1422" y="1968"/>
              <a:ext cx="150" cy="1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3" name="Text Box 59"/>
            <p:cNvSpPr txBox="1">
              <a:spLocks noChangeArrowheads="1"/>
            </p:cNvSpPr>
            <p:nvPr/>
          </p:nvSpPr>
          <p:spPr bwMode="auto">
            <a:xfrm>
              <a:off x="1172" y="2060"/>
              <a:ext cx="4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右旋</a:t>
              </a:r>
            </a:p>
          </p:txBody>
        </p:sp>
      </p:grpSp>
      <p:grpSp>
        <p:nvGrpSpPr>
          <p:cNvPr id="164" name="Group 63"/>
          <p:cNvGrpSpPr>
            <a:grpSpLocks/>
          </p:cNvGrpSpPr>
          <p:nvPr/>
        </p:nvGrpSpPr>
        <p:grpSpPr bwMode="auto">
          <a:xfrm>
            <a:off x="5297325" y="4559946"/>
            <a:ext cx="452438" cy="676275"/>
            <a:chOff x="1432" y="1452"/>
            <a:chExt cx="285" cy="426"/>
          </a:xfrm>
        </p:grpSpPr>
        <p:sp>
          <p:nvSpPr>
            <p:cNvPr id="165" name="Freeform 61"/>
            <p:cNvSpPr>
              <a:spLocks/>
            </p:cNvSpPr>
            <p:nvPr/>
          </p:nvSpPr>
          <p:spPr bwMode="auto">
            <a:xfrm>
              <a:off x="1432" y="1452"/>
              <a:ext cx="164" cy="426"/>
            </a:xfrm>
            <a:custGeom>
              <a:avLst/>
              <a:gdLst>
                <a:gd name="T0" fmla="*/ 20 w 164"/>
                <a:gd name="T1" fmla="*/ 0 h 426"/>
                <a:gd name="T2" fmla="*/ 2 w 164"/>
                <a:gd name="T3" fmla="*/ 114 h 426"/>
                <a:gd name="T4" fmla="*/ 32 w 164"/>
                <a:gd name="T5" fmla="*/ 240 h 426"/>
                <a:gd name="T6" fmla="*/ 98 w 164"/>
                <a:gd name="T7" fmla="*/ 354 h 426"/>
                <a:gd name="T8" fmla="*/ 164 w 164"/>
                <a:gd name="T9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426">
                  <a:moveTo>
                    <a:pt x="20" y="0"/>
                  </a:moveTo>
                  <a:cubicBezTo>
                    <a:pt x="10" y="37"/>
                    <a:pt x="0" y="74"/>
                    <a:pt x="2" y="114"/>
                  </a:cubicBezTo>
                  <a:cubicBezTo>
                    <a:pt x="4" y="154"/>
                    <a:pt x="16" y="200"/>
                    <a:pt x="32" y="240"/>
                  </a:cubicBezTo>
                  <a:cubicBezTo>
                    <a:pt x="48" y="280"/>
                    <a:pt x="76" y="323"/>
                    <a:pt x="98" y="354"/>
                  </a:cubicBezTo>
                  <a:cubicBezTo>
                    <a:pt x="120" y="385"/>
                    <a:pt x="142" y="405"/>
                    <a:pt x="164" y="426"/>
                  </a:cubicBezTo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 type="none" w="med" len="med"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6" name="Text Box 62"/>
            <p:cNvSpPr txBox="1">
              <a:spLocks noChangeArrowheads="1"/>
            </p:cNvSpPr>
            <p:nvPr/>
          </p:nvSpPr>
          <p:spPr bwMode="auto">
            <a:xfrm>
              <a:off x="1466" y="1503"/>
              <a:ext cx="25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67" name="Group 66"/>
          <p:cNvGrpSpPr>
            <a:grpSpLocks/>
          </p:cNvGrpSpPr>
          <p:nvPr/>
        </p:nvGrpSpPr>
        <p:grpSpPr bwMode="auto">
          <a:xfrm>
            <a:off x="7957972" y="4578996"/>
            <a:ext cx="323850" cy="285750"/>
            <a:chOff x="3108" y="1464"/>
            <a:chExt cx="204" cy="180"/>
          </a:xfrm>
        </p:grpSpPr>
        <p:sp>
          <p:nvSpPr>
            <p:cNvPr id="168" name="Line 64"/>
            <p:cNvSpPr>
              <a:spLocks noChangeShapeType="1"/>
            </p:cNvSpPr>
            <p:nvPr/>
          </p:nvSpPr>
          <p:spPr bwMode="auto">
            <a:xfrm flipH="1" flipV="1">
              <a:off x="3108" y="1524"/>
              <a:ext cx="204" cy="12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9" name="Line 65"/>
            <p:cNvSpPr>
              <a:spLocks noChangeShapeType="1"/>
            </p:cNvSpPr>
            <p:nvPr/>
          </p:nvSpPr>
          <p:spPr bwMode="auto">
            <a:xfrm flipH="1" flipV="1">
              <a:off x="3108" y="1464"/>
              <a:ext cx="204" cy="12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0" name="Group 68"/>
          <p:cNvGrpSpPr>
            <a:grpSpLocks/>
          </p:cNvGrpSpPr>
          <p:nvPr/>
        </p:nvGrpSpPr>
        <p:grpSpPr bwMode="auto">
          <a:xfrm>
            <a:off x="8123075" y="2974034"/>
            <a:ext cx="487363" cy="928687"/>
            <a:chOff x="1880" y="441"/>
            <a:chExt cx="307" cy="585"/>
          </a:xfrm>
        </p:grpSpPr>
        <p:sp>
          <p:nvSpPr>
            <p:cNvPr id="171" name="Line 69"/>
            <p:cNvSpPr>
              <a:spLocks noChangeShapeType="1"/>
            </p:cNvSpPr>
            <p:nvPr/>
          </p:nvSpPr>
          <p:spPr bwMode="auto">
            <a:xfrm flipV="1">
              <a:off x="1884" y="600"/>
              <a:ext cx="0" cy="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2" name="Text Box 70"/>
            <p:cNvSpPr txBox="1">
              <a:spLocks noChangeArrowheads="1"/>
            </p:cNvSpPr>
            <p:nvPr/>
          </p:nvSpPr>
          <p:spPr bwMode="auto">
            <a:xfrm>
              <a:off x="1880" y="441"/>
              <a:ext cx="3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r1</a:t>
              </a:r>
            </a:p>
          </p:txBody>
        </p:sp>
      </p:grpSp>
      <p:grpSp>
        <p:nvGrpSpPr>
          <p:cNvPr id="173" name="Group 71"/>
          <p:cNvGrpSpPr>
            <a:grpSpLocks/>
          </p:cNvGrpSpPr>
          <p:nvPr/>
        </p:nvGrpSpPr>
        <p:grpSpPr bwMode="auto">
          <a:xfrm>
            <a:off x="8129425" y="3912246"/>
            <a:ext cx="538163" cy="795338"/>
            <a:chOff x="1884" y="1026"/>
            <a:chExt cx="339" cy="501"/>
          </a:xfrm>
        </p:grpSpPr>
        <p:sp>
          <p:nvSpPr>
            <p:cNvPr id="174" name="Line 72"/>
            <p:cNvSpPr>
              <a:spLocks noChangeShapeType="1"/>
            </p:cNvSpPr>
            <p:nvPr/>
          </p:nvSpPr>
          <p:spPr bwMode="auto">
            <a:xfrm>
              <a:off x="1884" y="1026"/>
              <a:ext cx="0" cy="372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5" name="Text Box 73"/>
            <p:cNvSpPr txBox="1">
              <a:spLocks noChangeArrowheads="1"/>
            </p:cNvSpPr>
            <p:nvPr/>
          </p:nvSpPr>
          <p:spPr bwMode="auto">
            <a:xfrm>
              <a:off x="1916" y="1275"/>
              <a:ext cx="3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r2</a:t>
              </a:r>
            </a:p>
          </p:txBody>
        </p:sp>
      </p:grpSp>
      <p:grpSp>
        <p:nvGrpSpPr>
          <p:cNvPr id="176" name="Group 77"/>
          <p:cNvGrpSpPr>
            <a:grpSpLocks/>
          </p:cNvGrpSpPr>
          <p:nvPr/>
        </p:nvGrpSpPr>
        <p:grpSpPr bwMode="auto">
          <a:xfrm>
            <a:off x="8138947" y="3840809"/>
            <a:ext cx="949325" cy="400050"/>
            <a:chOff x="1890" y="987"/>
            <a:chExt cx="598" cy="252"/>
          </a:xfrm>
        </p:grpSpPr>
        <p:sp>
          <p:nvSpPr>
            <p:cNvPr id="177" name="Line 78"/>
            <p:cNvSpPr>
              <a:spLocks noChangeShapeType="1"/>
            </p:cNvSpPr>
            <p:nvPr/>
          </p:nvSpPr>
          <p:spPr bwMode="auto">
            <a:xfrm>
              <a:off x="1890" y="1026"/>
              <a:ext cx="384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" name="Text Box 79"/>
            <p:cNvSpPr txBox="1">
              <a:spLocks noChangeArrowheads="1"/>
            </p:cNvSpPr>
            <p:nvPr/>
          </p:nvSpPr>
          <p:spPr bwMode="auto">
            <a:xfrm>
              <a:off x="2198" y="987"/>
              <a:ext cx="2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t1</a:t>
              </a:r>
            </a:p>
          </p:txBody>
        </p:sp>
      </p:grpSp>
      <p:grpSp>
        <p:nvGrpSpPr>
          <p:cNvPr id="179" name="Group 83"/>
          <p:cNvGrpSpPr>
            <a:grpSpLocks/>
          </p:cNvGrpSpPr>
          <p:nvPr/>
        </p:nvGrpSpPr>
        <p:grpSpPr bwMode="auto">
          <a:xfrm>
            <a:off x="7427747" y="3878909"/>
            <a:ext cx="701675" cy="400050"/>
            <a:chOff x="2774" y="1023"/>
            <a:chExt cx="442" cy="252"/>
          </a:xfrm>
        </p:grpSpPr>
        <p:sp>
          <p:nvSpPr>
            <p:cNvPr id="180" name="Line 81"/>
            <p:cNvSpPr>
              <a:spLocks noChangeShapeType="1"/>
            </p:cNvSpPr>
            <p:nvPr/>
          </p:nvSpPr>
          <p:spPr bwMode="auto">
            <a:xfrm flipH="1">
              <a:off x="2844" y="1038"/>
              <a:ext cx="372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1" name="Text Box 82"/>
            <p:cNvSpPr txBox="1">
              <a:spLocks noChangeArrowheads="1"/>
            </p:cNvSpPr>
            <p:nvPr/>
          </p:nvSpPr>
          <p:spPr bwMode="auto">
            <a:xfrm>
              <a:off x="2774" y="1023"/>
              <a:ext cx="31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a2</a:t>
              </a:r>
            </a:p>
          </p:txBody>
        </p:sp>
      </p:grpSp>
      <p:grpSp>
        <p:nvGrpSpPr>
          <p:cNvPr id="182" name="Group 90"/>
          <p:cNvGrpSpPr>
            <a:grpSpLocks/>
          </p:cNvGrpSpPr>
          <p:nvPr/>
        </p:nvGrpSpPr>
        <p:grpSpPr bwMode="auto">
          <a:xfrm>
            <a:off x="7484897" y="3412184"/>
            <a:ext cx="676275" cy="496887"/>
            <a:chOff x="2810" y="729"/>
            <a:chExt cx="426" cy="313"/>
          </a:xfrm>
        </p:grpSpPr>
        <p:grpSp>
          <p:nvGrpSpPr>
            <p:cNvPr id="183" name="Group 89"/>
            <p:cNvGrpSpPr>
              <a:grpSpLocks/>
            </p:cNvGrpSpPr>
            <p:nvPr/>
          </p:nvGrpSpPr>
          <p:grpSpPr bwMode="auto">
            <a:xfrm>
              <a:off x="3038" y="790"/>
              <a:ext cx="198" cy="252"/>
              <a:chOff x="4958" y="736"/>
              <a:chExt cx="198" cy="252"/>
            </a:xfrm>
          </p:grpSpPr>
          <p:sp>
            <p:nvSpPr>
              <p:cNvPr id="185" name="Oval 86"/>
              <p:cNvSpPr>
                <a:spLocks noChangeArrowheads="1"/>
              </p:cNvSpPr>
              <p:nvPr/>
            </p:nvSpPr>
            <p:spPr bwMode="auto">
              <a:xfrm>
                <a:off x="4986" y="822"/>
                <a:ext cx="132" cy="13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Text Box 87"/>
              <p:cNvSpPr txBox="1">
                <a:spLocks noChangeArrowheads="1"/>
              </p:cNvSpPr>
              <p:nvPr/>
            </p:nvSpPr>
            <p:spPr bwMode="auto">
              <a:xfrm>
                <a:off x="4958" y="736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184" name="Text Box 88"/>
            <p:cNvSpPr txBox="1">
              <a:spLocks noChangeArrowheads="1"/>
            </p:cNvSpPr>
            <p:nvPr/>
          </p:nvSpPr>
          <p:spPr bwMode="auto">
            <a:xfrm>
              <a:off x="2810" y="729"/>
              <a:ext cx="31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a1</a:t>
              </a:r>
            </a:p>
          </p:txBody>
        </p:sp>
      </p:grpSp>
      <p:grpSp>
        <p:nvGrpSpPr>
          <p:cNvPr id="187" name="Group 100"/>
          <p:cNvGrpSpPr>
            <a:grpSpLocks/>
          </p:cNvGrpSpPr>
          <p:nvPr/>
        </p:nvGrpSpPr>
        <p:grpSpPr bwMode="auto">
          <a:xfrm>
            <a:off x="8132597" y="3859859"/>
            <a:ext cx="631825" cy="400050"/>
            <a:chOff x="4340" y="1659"/>
            <a:chExt cx="398" cy="252"/>
          </a:xfrm>
        </p:grpSpPr>
        <p:sp>
          <p:nvSpPr>
            <p:cNvPr id="188" name="Text Box 93"/>
            <p:cNvSpPr txBox="1">
              <a:spLocks noChangeArrowheads="1"/>
            </p:cNvSpPr>
            <p:nvPr/>
          </p:nvSpPr>
          <p:spPr bwMode="auto">
            <a:xfrm>
              <a:off x="4448" y="1659"/>
              <a:ext cx="2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89" name="Oval 94"/>
            <p:cNvSpPr>
              <a:spLocks noChangeArrowheads="1"/>
            </p:cNvSpPr>
            <p:nvPr/>
          </p:nvSpPr>
          <p:spPr bwMode="auto">
            <a:xfrm>
              <a:off x="4350" y="1722"/>
              <a:ext cx="126" cy="1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0" name="Text Box 99"/>
            <p:cNvSpPr txBox="1">
              <a:spLocks noChangeArrowheads="1"/>
            </p:cNvSpPr>
            <p:nvPr/>
          </p:nvSpPr>
          <p:spPr bwMode="auto">
            <a:xfrm>
              <a:off x="4340" y="1659"/>
              <a:ext cx="1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·</a:t>
              </a:r>
            </a:p>
          </p:txBody>
        </p:sp>
      </p:grpSp>
      <p:grpSp>
        <p:nvGrpSpPr>
          <p:cNvPr id="191" name="Group 103"/>
          <p:cNvGrpSpPr>
            <a:grpSpLocks/>
          </p:cNvGrpSpPr>
          <p:nvPr/>
        </p:nvGrpSpPr>
        <p:grpSpPr bwMode="auto">
          <a:xfrm>
            <a:off x="7542053" y="4317059"/>
            <a:ext cx="398463" cy="566737"/>
            <a:chOff x="2846" y="1299"/>
            <a:chExt cx="251" cy="357"/>
          </a:xfrm>
        </p:grpSpPr>
        <p:sp>
          <p:nvSpPr>
            <p:cNvPr id="192" name="Line 101"/>
            <p:cNvSpPr>
              <a:spLocks noChangeShapeType="1"/>
            </p:cNvSpPr>
            <p:nvPr/>
          </p:nvSpPr>
          <p:spPr bwMode="auto">
            <a:xfrm>
              <a:off x="3054" y="1314"/>
              <a:ext cx="0" cy="34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3" name="Text Box 102"/>
            <p:cNvSpPr txBox="1">
              <a:spLocks noChangeArrowheads="1"/>
            </p:cNvSpPr>
            <p:nvPr/>
          </p:nvSpPr>
          <p:spPr bwMode="auto">
            <a:xfrm>
              <a:off x="2846" y="1299"/>
              <a:ext cx="25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94" name="矩形 193"/>
          <p:cNvSpPr/>
          <p:nvPr/>
        </p:nvSpPr>
        <p:spPr>
          <a:xfrm>
            <a:off x="4562728" y="3172512"/>
            <a:ext cx="537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λ</a:t>
            </a:r>
            <a:endParaRPr lang="zh-CN" altLang="en-US" b="1" dirty="0"/>
          </a:p>
        </p:txBody>
      </p:sp>
      <p:sp>
        <p:nvSpPr>
          <p:cNvPr id="196" name="Text Box 15"/>
          <p:cNvSpPr txBox="1">
            <a:spLocks noChangeArrowheads="1"/>
          </p:cNvSpPr>
          <p:nvPr/>
        </p:nvSpPr>
        <p:spPr bwMode="auto">
          <a:xfrm>
            <a:off x="2927697" y="451894"/>
            <a:ext cx="938398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忽略</a:t>
            </a:r>
            <a:r>
              <a:rPr lang="en-US" altLang="zh-CN" sz="22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endParaRPr lang="zh-CN" altLang="zh-CN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7" name="单圆角矩形 19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蜗杆传动的受力分析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98" name="直角三角形 19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99" name="Object 18"/>
          <p:cNvGraphicFramePr>
            <a:graphicFrameLocks noChangeAspect="1"/>
          </p:cNvGraphicFramePr>
          <p:nvPr>
            <p:extLst/>
          </p:nvPr>
        </p:nvGraphicFramePr>
        <p:xfrm>
          <a:off x="2752024" y="3110154"/>
          <a:ext cx="1620604" cy="37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5864" r:id="rId8" imgW="647700" imgH="215900" progId="Equation.3">
                  <p:embed/>
                </p:oleObj>
              </mc:Choice>
              <mc:Fallback>
                <p:oleObj r:id="rId8" imgW="647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024" y="3110154"/>
                        <a:ext cx="1620604" cy="37398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186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4" grpId="0"/>
      <p:bldP spid="25" grpId="0"/>
      <p:bldP spid="30" grpId="0"/>
      <p:bldP spid="31" grpId="0"/>
      <p:bldP spid="194" grpId="0"/>
      <p:bldP spid="1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130"/>
          <p:cNvSpPr txBox="1">
            <a:spLocks noChangeArrowheads="1"/>
          </p:cNvSpPr>
          <p:nvPr/>
        </p:nvSpPr>
        <p:spPr bwMode="auto">
          <a:xfrm>
            <a:off x="4482348" y="1717132"/>
            <a:ext cx="39228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1. 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t2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a1 </a:t>
            </a:r>
          </a:p>
        </p:txBody>
      </p:sp>
      <p:sp>
        <p:nvSpPr>
          <p:cNvPr id="48" name="Text Box 131"/>
          <p:cNvSpPr txBox="1">
            <a:spLocks noChangeArrowheads="1"/>
          </p:cNvSpPr>
          <p:nvPr/>
        </p:nvSpPr>
        <p:spPr bwMode="auto">
          <a:xfrm>
            <a:off x="4482348" y="2347461"/>
            <a:ext cx="32720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 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a3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a2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t1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49" name="Group 139"/>
          <p:cNvGrpSpPr>
            <a:grpSpLocks/>
          </p:cNvGrpSpPr>
          <p:nvPr/>
        </p:nvGrpSpPr>
        <p:grpSpPr bwMode="auto">
          <a:xfrm>
            <a:off x="6355311" y="3080197"/>
            <a:ext cx="1885951" cy="461963"/>
            <a:chOff x="4393" y="3995"/>
            <a:chExt cx="1188" cy="291"/>
          </a:xfrm>
        </p:grpSpPr>
        <p:sp>
          <p:nvSpPr>
            <p:cNvPr id="50" name="Line 136"/>
            <p:cNvSpPr>
              <a:spLocks noChangeShapeType="1"/>
            </p:cNvSpPr>
            <p:nvPr/>
          </p:nvSpPr>
          <p:spPr bwMode="auto">
            <a:xfrm>
              <a:off x="4393" y="4140"/>
              <a:ext cx="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 Box 137"/>
            <p:cNvSpPr txBox="1">
              <a:spLocks noChangeArrowheads="1"/>
            </p:cNvSpPr>
            <p:nvPr/>
          </p:nvSpPr>
          <p:spPr bwMode="auto">
            <a:xfrm>
              <a:off x="4689" y="3995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蜗轮右旋</a:t>
              </a:r>
            </a:p>
          </p:txBody>
        </p:sp>
      </p:grpSp>
      <p:grpSp>
        <p:nvGrpSpPr>
          <p:cNvPr id="52" name="Group 153"/>
          <p:cNvGrpSpPr>
            <a:grpSpLocks/>
          </p:cNvGrpSpPr>
          <p:nvPr/>
        </p:nvGrpSpPr>
        <p:grpSpPr bwMode="auto">
          <a:xfrm>
            <a:off x="8324155" y="1853551"/>
            <a:ext cx="568325" cy="887413"/>
            <a:chOff x="4968" y="3320"/>
            <a:chExt cx="358" cy="559"/>
          </a:xfrm>
        </p:grpSpPr>
        <p:sp>
          <p:nvSpPr>
            <p:cNvPr id="53" name="AutoShape 133"/>
            <p:cNvSpPr>
              <a:spLocks/>
            </p:cNvSpPr>
            <p:nvPr/>
          </p:nvSpPr>
          <p:spPr bwMode="auto">
            <a:xfrm>
              <a:off x="4968" y="3320"/>
              <a:ext cx="84" cy="559"/>
            </a:xfrm>
            <a:prstGeom prst="rightBrace">
              <a:avLst>
                <a:gd name="adj1" fmla="val 5585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 Box 152"/>
            <p:cNvSpPr txBox="1">
              <a:spLocks noChangeArrowheads="1"/>
            </p:cNvSpPr>
            <p:nvPr/>
          </p:nvSpPr>
          <p:spPr bwMode="auto">
            <a:xfrm>
              <a:off x="5016" y="3464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79512" y="535851"/>
            <a:ext cx="8674738" cy="4697913"/>
            <a:chOff x="179512" y="535851"/>
            <a:chExt cx="8674738" cy="4697913"/>
          </a:xfrm>
        </p:grpSpPr>
        <p:grpSp>
          <p:nvGrpSpPr>
            <p:cNvPr id="57" name="组合 56"/>
            <p:cNvGrpSpPr/>
            <p:nvPr/>
          </p:nvGrpSpPr>
          <p:grpSpPr>
            <a:xfrm>
              <a:off x="411928" y="1809814"/>
              <a:ext cx="3968969" cy="3423950"/>
              <a:chOff x="411928" y="1809814"/>
              <a:chExt cx="3968969" cy="3423950"/>
            </a:xfrm>
          </p:grpSpPr>
          <p:sp>
            <p:nvSpPr>
              <p:cNvPr id="16" name="Oval 105"/>
              <p:cNvSpPr>
                <a:spLocks noChangeArrowheads="1"/>
              </p:cNvSpPr>
              <p:nvPr/>
            </p:nvSpPr>
            <p:spPr bwMode="auto">
              <a:xfrm>
                <a:off x="911280" y="4154014"/>
                <a:ext cx="819150" cy="81438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Line 106"/>
              <p:cNvSpPr>
                <a:spLocks noChangeShapeType="1"/>
              </p:cNvSpPr>
              <p:nvPr/>
            </p:nvSpPr>
            <p:spPr bwMode="auto">
              <a:xfrm flipH="1" flipV="1">
                <a:off x="1051691" y="1847913"/>
                <a:ext cx="4762" cy="23852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Line 107"/>
              <p:cNvSpPr>
                <a:spLocks noChangeShapeType="1"/>
              </p:cNvSpPr>
              <p:nvPr/>
            </p:nvSpPr>
            <p:spPr bwMode="auto">
              <a:xfrm flipH="1" flipV="1">
                <a:off x="1620015" y="1878075"/>
                <a:ext cx="10661" cy="24179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Freeform 108"/>
              <p:cNvSpPr>
                <a:spLocks/>
              </p:cNvSpPr>
              <p:nvPr/>
            </p:nvSpPr>
            <p:spPr bwMode="auto">
              <a:xfrm>
                <a:off x="1053278" y="1870139"/>
                <a:ext cx="566738" cy="209550"/>
              </a:xfrm>
              <a:custGeom>
                <a:avLst/>
                <a:gdLst>
                  <a:gd name="T0" fmla="*/ 0 w 294"/>
                  <a:gd name="T1" fmla="*/ 6 h 132"/>
                  <a:gd name="T2" fmla="*/ 42 w 294"/>
                  <a:gd name="T3" fmla="*/ 90 h 132"/>
                  <a:gd name="T4" fmla="*/ 144 w 294"/>
                  <a:gd name="T5" fmla="*/ 132 h 132"/>
                  <a:gd name="T6" fmla="*/ 234 w 294"/>
                  <a:gd name="T7" fmla="*/ 90 h 132"/>
                  <a:gd name="T8" fmla="*/ 294 w 294"/>
                  <a:gd name="T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" h="132">
                    <a:moveTo>
                      <a:pt x="0" y="6"/>
                    </a:moveTo>
                    <a:cubicBezTo>
                      <a:pt x="7" y="21"/>
                      <a:pt x="18" y="69"/>
                      <a:pt x="42" y="90"/>
                    </a:cubicBezTo>
                    <a:cubicBezTo>
                      <a:pt x="66" y="111"/>
                      <a:pt x="112" y="132"/>
                      <a:pt x="144" y="132"/>
                    </a:cubicBezTo>
                    <a:cubicBezTo>
                      <a:pt x="176" y="132"/>
                      <a:pt x="209" y="112"/>
                      <a:pt x="234" y="90"/>
                    </a:cubicBezTo>
                    <a:cubicBezTo>
                      <a:pt x="259" y="68"/>
                      <a:pt x="282" y="19"/>
                      <a:pt x="294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Line 109"/>
              <p:cNvSpPr>
                <a:spLocks noChangeShapeType="1"/>
              </p:cNvSpPr>
              <p:nvPr/>
            </p:nvSpPr>
            <p:spPr bwMode="auto">
              <a:xfrm>
                <a:off x="1620016" y="3022664"/>
                <a:ext cx="9858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Line 110"/>
              <p:cNvSpPr>
                <a:spLocks noChangeShapeType="1"/>
              </p:cNvSpPr>
              <p:nvPr/>
            </p:nvSpPr>
            <p:spPr bwMode="auto">
              <a:xfrm flipH="1">
                <a:off x="1325996" y="1809814"/>
                <a:ext cx="8270" cy="34239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Line 111"/>
              <p:cNvSpPr>
                <a:spLocks noChangeShapeType="1"/>
              </p:cNvSpPr>
              <p:nvPr/>
            </p:nvSpPr>
            <p:spPr bwMode="auto">
              <a:xfrm>
                <a:off x="621478" y="2955989"/>
                <a:ext cx="1714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Line 112"/>
              <p:cNvSpPr>
                <a:spLocks noChangeShapeType="1"/>
              </p:cNvSpPr>
              <p:nvPr/>
            </p:nvSpPr>
            <p:spPr bwMode="auto">
              <a:xfrm>
                <a:off x="621478" y="3089339"/>
                <a:ext cx="1714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Line 113"/>
              <p:cNvSpPr>
                <a:spLocks noChangeShapeType="1"/>
              </p:cNvSpPr>
              <p:nvPr/>
            </p:nvSpPr>
            <p:spPr bwMode="auto">
              <a:xfrm>
                <a:off x="1821628" y="2955989"/>
                <a:ext cx="1714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Line 114"/>
              <p:cNvSpPr>
                <a:spLocks noChangeShapeType="1"/>
              </p:cNvSpPr>
              <p:nvPr/>
            </p:nvSpPr>
            <p:spPr bwMode="auto">
              <a:xfrm>
                <a:off x="1821628" y="3089339"/>
                <a:ext cx="1714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Line 115"/>
              <p:cNvSpPr>
                <a:spLocks noChangeShapeType="1"/>
              </p:cNvSpPr>
              <p:nvPr/>
            </p:nvSpPr>
            <p:spPr bwMode="auto">
              <a:xfrm flipH="1">
                <a:off x="2615370" y="2347461"/>
                <a:ext cx="15619" cy="13165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Line 116"/>
              <p:cNvSpPr>
                <a:spLocks noChangeShapeType="1"/>
              </p:cNvSpPr>
              <p:nvPr/>
            </p:nvSpPr>
            <p:spPr bwMode="auto">
              <a:xfrm>
                <a:off x="2609021" y="3664014"/>
                <a:ext cx="177187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Line 117"/>
              <p:cNvSpPr>
                <a:spLocks noChangeShapeType="1"/>
              </p:cNvSpPr>
              <p:nvPr/>
            </p:nvSpPr>
            <p:spPr bwMode="auto">
              <a:xfrm flipH="1">
                <a:off x="2612196" y="3326667"/>
                <a:ext cx="288925" cy="3373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Line 118"/>
              <p:cNvSpPr>
                <a:spLocks noChangeShapeType="1"/>
              </p:cNvSpPr>
              <p:nvPr/>
            </p:nvSpPr>
            <p:spPr bwMode="auto">
              <a:xfrm>
                <a:off x="4041647" y="3336989"/>
                <a:ext cx="339250" cy="3452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Line 119"/>
              <p:cNvSpPr>
                <a:spLocks noChangeShapeType="1"/>
              </p:cNvSpPr>
              <p:nvPr/>
            </p:nvSpPr>
            <p:spPr bwMode="auto">
              <a:xfrm flipH="1" flipV="1">
                <a:off x="2632827" y="2337210"/>
                <a:ext cx="275436" cy="3155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Line 120"/>
              <p:cNvSpPr>
                <a:spLocks noChangeShapeType="1"/>
              </p:cNvSpPr>
              <p:nvPr/>
            </p:nvSpPr>
            <p:spPr bwMode="auto">
              <a:xfrm>
                <a:off x="776510" y="4561362"/>
                <a:ext cx="114300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121"/>
              <p:cNvSpPr>
                <a:spLocks noChangeShapeType="1"/>
              </p:cNvSpPr>
              <p:nvPr/>
            </p:nvSpPr>
            <p:spPr bwMode="auto">
              <a:xfrm flipH="1">
                <a:off x="3496135" y="3645760"/>
                <a:ext cx="3175" cy="817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122"/>
              <p:cNvSpPr>
                <a:spLocks noChangeArrowheads="1"/>
              </p:cNvSpPr>
              <p:nvPr/>
            </p:nvSpPr>
            <p:spPr bwMode="auto">
              <a:xfrm>
                <a:off x="3261185" y="4463008"/>
                <a:ext cx="466725" cy="2667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Line 123"/>
              <p:cNvSpPr>
                <a:spLocks noChangeShapeType="1"/>
              </p:cNvSpPr>
              <p:nvPr/>
            </p:nvSpPr>
            <p:spPr bwMode="auto">
              <a:xfrm>
                <a:off x="3271799" y="4369668"/>
                <a:ext cx="4667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 Box 124"/>
              <p:cNvSpPr txBox="1">
                <a:spLocks noChangeArrowheads="1"/>
              </p:cNvSpPr>
              <p:nvPr/>
            </p:nvSpPr>
            <p:spPr bwMode="auto">
              <a:xfrm>
                <a:off x="3752811" y="4089522"/>
                <a:ext cx="44132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6" name="Text Box 125"/>
              <p:cNvSpPr txBox="1">
                <a:spLocks noChangeArrowheads="1"/>
              </p:cNvSpPr>
              <p:nvPr/>
            </p:nvSpPr>
            <p:spPr bwMode="auto">
              <a:xfrm>
                <a:off x="3105112" y="4705540"/>
                <a:ext cx="80010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</a:t>
                </a:r>
              </a:p>
            </p:txBody>
          </p:sp>
          <p:sp>
            <p:nvSpPr>
              <p:cNvPr id="37" name="Text Box 127"/>
              <p:cNvSpPr txBox="1">
                <a:spLocks noChangeArrowheads="1"/>
              </p:cNvSpPr>
              <p:nvPr/>
            </p:nvSpPr>
            <p:spPr bwMode="auto">
              <a:xfrm>
                <a:off x="3443747" y="3885068"/>
                <a:ext cx="47942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Ⅲ</a:t>
                </a:r>
              </a:p>
            </p:txBody>
          </p:sp>
          <p:sp>
            <p:nvSpPr>
              <p:cNvPr id="38" name="Rectangle 128"/>
              <p:cNvSpPr>
                <a:spLocks noChangeArrowheads="1"/>
              </p:cNvSpPr>
              <p:nvPr/>
            </p:nvSpPr>
            <p:spPr bwMode="auto">
              <a:xfrm>
                <a:off x="1200916" y="3721164"/>
                <a:ext cx="2873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Ⅰ</a:t>
                </a:r>
              </a:p>
            </p:txBody>
          </p:sp>
          <p:sp>
            <p:nvSpPr>
              <p:cNvPr id="39" name="Rectangle 129"/>
              <p:cNvSpPr>
                <a:spLocks noChangeArrowheads="1"/>
              </p:cNvSpPr>
              <p:nvPr/>
            </p:nvSpPr>
            <p:spPr bwMode="auto">
              <a:xfrm>
                <a:off x="2054643" y="2592825"/>
                <a:ext cx="3841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Ⅱ</a:t>
                </a:r>
              </a:p>
            </p:txBody>
          </p:sp>
          <p:sp>
            <p:nvSpPr>
              <p:cNvPr id="40" name="Text Box 142"/>
              <p:cNvSpPr txBox="1">
                <a:spLocks noChangeArrowheads="1"/>
              </p:cNvSpPr>
              <p:nvPr/>
            </p:nvSpPr>
            <p:spPr bwMode="auto">
              <a:xfrm>
                <a:off x="706582" y="4701702"/>
                <a:ext cx="3381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1" name="Text Box 144"/>
              <p:cNvSpPr txBox="1">
                <a:spLocks noChangeArrowheads="1"/>
              </p:cNvSpPr>
              <p:nvPr/>
            </p:nvSpPr>
            <p:spPr bwMode="auto">
              <a:xfrm>
                <a:off x="745303" y="1836802"/>
                <a:ext cx="3381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2" name="Text Box 146"/>
              <p:cNvSpPr txBox="1">
                <a:spLocks noChangeArrowheads="1"/>
              </p:cNvSpPr>
              <p:nvPr/>
            </p:nvSpPr>
            <p:spPr bwMode="auto">
              <a:xfrm>
                <a:off x="2766974" y="2181687"/>
                <a:ext cx="3381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3" name="Text Box 148"/>
              <p:cNvSpPr txBox="1">
                <a:spLocks noChangeArrowheads="1"/>
              </p:cNvSpPr>
              <p:nvPr/>
            </p:nvSpPr>
            <p:spPr bwMode="auto">
              <a:xfrm>
                <a:off x="3888949" y="3298494"/>
                <a:ext cx="3381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4" name="Line 150"/>
              <p:cNvSpPr>
                <a:spLocks noChangeShapeType="1"/>
              </p:cNvSpPr>
              <p:nvPr/>
            </p:nvSpPr>
            <p:spPr bwMode="auto">
              <a:xfrm>
                <a:off x="411928" y="3022664"/>
                <a:ext cx="63817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Line 115"/>
              <p:cNvSpPr>
                <a:spLocks noChangeShapeType="1"/>
              </p:cNvSpPr>
              <p:nvPr/>
            </p:nvSpPr>
            <p:spPr bwMode="auto">
              <a:xfrm flipH="1">
                <a:off x="2901120" y="2652777"/>
                <a:ext cx="7144" cy="6842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Line 116"/>
              <p:cNvSpPr>
                <a:spLocks noChangeShapeType="1"/>
              </p:cNvSpPr>
              <p:nvPr/>
            </p:nvSpPr>
            <p:spPr bwMode="auto">
              <a:xfrm>
                <a:off x="2908265" y="3326032"/>
                <a:ext cx="1140525" cy="6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1191418" y="4513438"/>
                <a:ext cx="310413" cy="217626"/>
                <a:chOff x="3446247" y="4201610"/>
                <a:chExt cx="310413" cy="217626"/>
              </a:xfrm>
            </p:grpSpPr>
            <p:sp>
              <p:nvSpPr>
                <p:cNvPr id="8" name="椭圆 7"/>
                <p:cNvSpPr/>
                <p:nvPr/>
              </p:nvSpPr>
              <p:spPr>
                <a:xfrm>
                  <a:off x="3570164" y="4201610"/>
                  <a:ext cx="57600" cy="576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cxnSp>
              <p:nvCxnSpPr>
                <p:cNvPr id="9" name="直接连接符 8"/>
                <p:cNvCxnSpPr>
                  <a:cxnSpLocks noChangeAspect="1"/>
                </p:cNvCxnSpPr>
                <p:nvPr/>
              </p:nvCxnSpPr>
              <p:spPr>
                <a:xfrm flipH="1">
                  <a:off x="3524192" y="4249534"/>
                  <a:ext cx="50283" cy="1050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连接符 9"/>
                <p:cNvCxnSpPr>
                  <a:cxnSpLocks noChangeAspect="1"/>
                </p:cNvCxnSpPr>
                <p:nvPr/>
              </p:nvCxnSpPr>
              <p:spPr>
                <a:xfrm>
                  <a:off x="3622875" y="4249534"/>
                  <a:ext cx="50283" cy="1050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3446247" y="4346974"/>
                  <a:ext cx="31041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/>
                <p:cNvCxnSpPr>
                  <a:cxnSpLocks noChangeAspect="1"/>
                </p:cNvCxnSpPr>
                <p:nvPr/>
              </p:nvCxnSpPr>
              <p:spPr>
                <a:xfrm flipH="1">
                  <a:off x="3452389" y="4342332"/>
                  <a:ext cx="76904" cy="769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>
                  <a:cxnSpLocks noChangeAspect="1"/>
                </p:cNvCxnSpPr>
                <p:nvPr/>
              </p:nvCxnSpPr>
              <p:spPr>
                <a:xfrm flipH="1">
                  <a:off x="3519145" y="4342332"/>
                  <a:ext cx="76904" cy="769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cxnSpLocks noChangeAspect="1"/>
                </p:cNvCxnSpPr>
                <p:nvPr/>
              </p:nvCxnSpPr>
              <p:spPr>
                <a:xfrm flipH="1">
                  <a:off x="3585901" y="4342332"/>
                  <a:ext cx="76904" cy="769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>
                  <a:cxnSpLocks noChangeAspect="1"/>
                </p:cNvCxnSpPr>
                <p:nvPr/>
              </p:nvCxnSpPr>
              <p:spPr>
                <a:xfrm flipH="1">
                  <a:off x="3652657" y="4342332"/>
                  <a:ext cx="76904" cy="769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文本框 55"/>
            <p:cNvSpPr txBox="1"/>
            <p:nvPr/>
          </p:nvSpPr>
          <p:spPr>
            <a:xfrm>
              <a:off x="179512" y="535851"/>
              <a:ext cx="8674738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思考题</a:t>
              </a:r>
              <a:r>
                <a:rPr lang="zh-CN" altLang="en-US" sz="2400" dirty="0" smtClean="0">
                  <a:latin typeface="+mn-ea"/>
                  <a:ea typeface="+mn-ea"/>
                </a:rPr>
                <a:t>：已知蜗杆</a:t>
              </a:r>
              <a:r>
                <a:rPr lang="en-US" altLang="zh-CN" sz="2400" dirty="0" smtClean="0">
                  <a:latin typeface="+mn-ea"/>
                  <a:ea typeface="+mn-ea"/>
                </a:rPr>
                <a:t>I</a:t>
              </a:r>
              <a:r>
                <a:rPr lang="zh-CN" altLang="en-US" sz="2400" dirty="0" smtClean="0">
                  <a:latin typeface="+mn-ea"/>
                  <a:ea typeface="+mn-ea"/>
                </a:rPr>
                <a:t>为输入，大锥齿轮轴</a:t>
              </a:r>
              <a:r>
                <a:rPr lang="en-US" altLang="zh-CN" sz="2400" dirty="0" smtClean="0">
                  <a:latin typeface="+mn-ea"/>
                  <a:ea typeface="+mn-ea"/>
                </a:rPr>
                <a:t>III</a:t>
              </a:r>
              <a:r>
                <a:rPr lang="zh-CN" altLang="en-US" sz="2400" dirty="0" smtClean="0">
                  <a:latin typeface="+mn-ea"/>
                  <a:ea typeface="+mn-ea"/>
                </a:rPr>
                <a:t>为输出，其转向如图，试确定各轮转向、旋向及受力。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</p:grpSp>
      <p:sp>
        <p:nvSpPr>
          <p:cNvPr id="58" name="Text Box 135"/>
          <p:cNvSpPr txBox="1">
            <a:spLocks noChangeArrowheads="1"/>
          </p:cNvSpPr>
          <p:nvPr/>
        </p:nvSpPr>
        <p:spPr bwMode="auto">
          <a:xfrm>
            <a:off x="4788024" y="3126513"/>
            <a:ext cx="1630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蜗杆右旋</a:t>
            </a:r>
          </a:p>
        </p:txBody>
      </p:sp>
      <p:sp>
        <p:nvSpPr>
          <p:cNvPr id="59" name="单圆角矩形 58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蜗杆传动的受力分析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60" name="直角三角形 59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39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utoUpdateAnimBg="0"/>
      <p:bldP spid="48" grpId="0" autoUpdateAnimBg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单圆角矩形 13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蜗杆传动的受力分析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35" name="直角三角形 13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r="49835"/>
          <a:stretch/>
        </p:blipFill>
        <p:spPr>
          <a:xfrm>
            <a:off x="288406" y="719137"/>
            <a:ext cx="4283594" cy="4658643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 rotWithShape="1">
          <a:blip r:embed="rId2"/>
          <a:srcRect l="56911"/>
          <a:stretch/>
        </p:blipFill>
        <p:spPr>
          <a:xfrm>
            <a:off x="5076056" y="719137"/>
            <a:ext cx="3679458" cy="465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0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23528" y="1076360"/>
            <a:ext cx="8199951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蜗杆强度高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失效主要发生在蜗轮上</a:t>
            </a: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对蜗轮进行强度计算。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23528" y="1586051"/>
            <a:ext cx="6192687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solidFill>
                  <a:srgbClr val="0000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主要失效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：胶合、磨损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无成熟计算方法。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23529" y="2093830"/>
            <a:ext cx="7063456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en-US" altLang="zh-CN" sz="2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r>
              <a:rPr lang="en-US" altLang="zh-CN" sz="22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失效↑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进行接触疲劳强度计算，↓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r>
              <a:rPr lang="en-US" altLang="zh-CN" sz="22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23528" y="2601609"/>
            <a:ext cx="5904656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赫兹公式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齿轮齿条啮合节点参数代入：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85381" y="4204215"/>
            <a:ext cx="3995325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en-US" altLang="zh-CN" sz="2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2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蜗轮上转矩，</a:t>
            </a:r>
            <a:r>
              <a:rPr lang="en-US" altLang="zh-CN" sz="22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2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2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</a:t>
            </a:r>
            <a:r>
              <a:rPr lang="en-US" altLang="zh-CN" sz="22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22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lang="en-US" altLang="zh-CN" sz="22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672458" y="4207460"/>
            <a:ext cx="2714526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en-US" altLang="zh-CN" sz="2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2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取标准值</a:t>
            </a:r>
          </a:p>
        </p:txBody>
      </p:sp>
      <p:sp>
        <p:nvSpPr>
          <p:cNvPr id="20" name="单圆角矩形 19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蜗杆传动的强度计算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1" name="直角三角形 20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323528" y="524668"/>
            <a:ext cx="3329123" cy="461665"/>
            <a:chOff x="323528" y="586289"/>
            <a:chExt cx="3329123" cy="461665"/>
          </a:xfrm>
        </p:grpSpPr>
        <p:sp>
          <p:nvSpPr>
            <p:cNvPr id="23" name="Text Box 5"/>
            <p:cNvSpPr txBox="1">
              <a:spLocks noChangeArrowheads="1"/>
            </p:cNvSpPr>
            <p:nvPr/>
          </p:nvSpPr>
          <p:spPr bwMode="auto">
            <a:xfrm>
              <a:off x="683568" y="586289"/>
              <a:ext cx="29690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蜗杆传动的强度计算</a:t>
              </a:r>
              <a:endParaRPr lang="zh-CN" altLang="en-US" sz="24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24" name="Picture 15" descr="AR1031"/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653581" y="3347480"/>
                <a:ext cx="3603390" cy="53347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81" y="3347480"/>
                <a:ext cx="3603390" cy="53347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/>
          <p:cNvGrpSpPr/>
          <p:nvPr/>
        </p:nvGrpSpPr>
        <p:grpSpPr>
          <a:xfrm>
            <a:off x="5473358" y="3176735"/>
            <a:ext cx="3275106" cy="874970"/>
            <a:chOff x="5473358" y="3176735"/>
            <a:chExt cx="3275106" cy="874970"/>
          </a:xfrm>
        </p:grpSpPr>
        <p:graphicFrame>
          <p:nvGraphicFramePr>
            <p:cNvPr id="14" name="对象 2"/>
            <p:cNvGraphicFramePr/>
            <p:nvPr>
              <p:extLst>
                <p:ext uri="{D42A27DB-BD31-4B8C-83A1-F6EECF244321}">
                  <p14:modId xmlns:p14="http://schemas.microsoft.com/office/powerpoint/2010/main" val="3529249760"/>
                </p:ext>
              </p:extLst>
            </p:nvPr>
          </p:nvGraphicFramePr>
          <p:xfrm>
            <a:off x="6156540" y="3176735"/>
            <a:ext cx="2591924" cy="874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6876" r:id="rId6" imgW="2361565" imgH="891540" progId="Equation.DSMT4">
                    <p:embed/>
                  </p:oleObj>
                </mc:Choice>
                <mc:Fallback>
                  <p:oleObj r:id="rId6" imgW="2361565" imgH="891540" progId="Equation.DSMT4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540" y="3176735"/>
                          <a:ext cx="2591924" cy="874970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/>
          </p:nvSpPr>
          <p:spPr>
            <a:xfrm>
              <a:off x="5473358" y="3393373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dirty="0" smtClean="0">
                  <a:latin typeface="+mn-ea"/>
                  <a:ea typeface="+mn-ea"/>
                </a:rPr>
                <a:t>或</a:t>
              </a:r>
              <a:endParaRPr lang="zh-CN" altLang="en-US" sz="2200" dirty="0">
                <a:latin typeface="+mn-ea"/>
                <a:ea typeface="+mn-ea"/>
              </a:endParaRPr>
            </a:p>
          </p:txBody>
        </p:sp>
      </p:grp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323528" y="3404981"/>
            <a:ext cx="1338031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校核式：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23367" y="4731725"/>
            <a:ext cx="7949049" cy="890270"/>
            <a:chOff x="323367" y="4731725"/>
            <a:chExt cx="7949049" cy="890270"/>
          </a:xfrm>
        </p:grpSpPr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323367" y="4964770"/>
              <a:ext cx="1428750" cy="407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/>
            <a:p>
              <a:pPr eaLnBrk="0" hangingPunct="0"/>
              <a:r>
                <a:rPr lang="zh-CN" altLang="en-US" sz="2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r>
                <a:rPr lang="zh-CN" altLang="en-US" sz="22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式：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" name="组合 6"/>
            <p:cNvGrpSpPr/>
            <p:nvPr/>
          </p:nvGrpSpPr>
          <p:grpSpPr bwMode="auto">
            <a:xfrm>
              <a:off x="5074785" y="4731725"/>
              <a:ext cx="3197631" cy="890270"/>
              <a:chOff x="6824" y="8982"/>
              <a:chExt cx="7110" cy="2042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" name="对象 2"/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452312193"/>
                      </p:ext>
                    </p:extLst>
                  </p:nvPr>
                </p:nvGraphicFramePr>
                <p:xfrm>
                  <a:off x="6824" y="8982"/>
                  <a:ext cx="4989" cy="204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966877" r:id="rId8" imgW="2883535" imgH="1038225" progId="Equation.DSMT4">
                          <p:embed/>
                        </p:oleObj>
                      </mc:Choice>
                      <mc:Fallback>
                        <p:oleObj r:id="rId8" imgW="2883535" imgH="1038225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24" y="8982"/>
                                <a:ext cx="4989" cy="2042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rgbClr val="FF0000"/>
                                </a:solidFill>
                              </a:ln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" name="对象 2"/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452312193"/>
                      </p:ext>
                    </p:extLst>
                  </p:nvPr>
                </p:nvGraphicFramePr>
                <p:xfrm>
                  <a:off x="6824" y="8982"/>
                  <a:ext cx="4989" cy="204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966869" r:id="rId10" imgW="2883535" imgH="1038225" progId="Equation.DSMT4">
                          <p:embed/>
                        </p:oleObj>
                      </mc:Choice>
                      <mc:Fallback>
                        <p:oleObj r:id="rId10" imgW="2883535" imgH="1038225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24" y="8982"/>
                                <a:ext cx="4989" cy="2042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rgbClr val="FF0000"/>
                                </a:solidFill>
                              </a:ln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11852" y="9509"/>
                <a:ext cx="2082" cy="9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mm</a:t>
                </a:r>
                <a:r>
                  <a:rPr lang="en-US" altLang="zh-CN" sz="2200" baseline="3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653580" y="4777953"/>
                  <a:ext cx="2462918" cy="781304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ad>
                          <m:ra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sSub>
                              <m:sSub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altLang="en-US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zh-CN" altLang="en-US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𝜎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𝐻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e>
                              <m:sup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580" y="4777953"/>
                  <a:ext cx="2462918" cy="781304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 w="127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4355976" y="4953161"/>
              <a:ext cx="4667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dirty="0" smtClean="0">
                  <a:latin typeface="+mn-ea"/>
                  <a:ea typeface="+mn-ea"/>
                </a:rPr>
                <a:t>或</a:t>
              </a:r>
              <a:endParaRPr lang="zh-CN" altLang="en-US" sz="22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04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1" grpId="1"/>
      <p:bldP spid="12" grpId="0"/>
      <p:bldP spid="12" grpId="1"/>
      <p:bldP spid="2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23528" y="1252667"/>
            <a:ext cx="13696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一、效率</a:t>
            </a:r>
          </a:p>
        </p:txBody>
      </p:sp>
      <p:grpSp>
        <p:nvGrpSpPr>
          <p:cNvPr id="5" name="Group 68"/>
          <p:cNvGrpSpPr/>
          <p:nvPr/>
        </p:nvGrpSpPr>
        <p:grpSpPr bwMode="auto">
          <a:xfrm>
            <a:off x="1403648" y="1215604"/>
            <a:ext cx="4394200" cy="1262065"/>
            <a:chOff x="1059" y="1010"/>
            <a:chExt cx="2768" cy="1060"/>
          </a:xfrm>
        </p:grpSpPr>
        <p:graphicFrame>
          <p:nvGraphicFramePr>
            <p:cNvPr id="6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6532965"/>
                </p:ext>
              </p:extLst>
            </p:nvPr>
          </p:nvGraphicFramePr>
          <p:xfrm>
            <a:off x="1328" y="1010"/>
            <a:ext cx="1421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7901" r:id="rId3" imgW="812165" imgH="228600" progId="Equation.3">
                    <p:embed/>
                  </p:oleObj>
                </mc:Choice>
                <mc:Fallback>
                  <p:oleObj r:id="rId3" imgW="812165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" y="1010"/>
                          <a:ext cx="1421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59"/>
            <p:cNvGrpSpPr/>
            <p:nvPr/>
          </p:nvGrpSpPr>
          <p:grpSpPr bwMode="auto">
            <a:xfrm>
              <a:off x="1059" y="1410"/>
              <a:ext cx="827" cy="660"/>
              <a:chOff x="1568" y="3750"/>
              <a:chExt cx="827" cy="660"/>
            </a:xfrm>
          </p:grpSpPr>
          <p:sp>
            <p:nvSpPr>
              <p:cNvPr id="14" name="Line 60"/>
              <p:cNvSpPr>
                <a:spLocks noChangeShapeType="1"/>
              </p:cNvSpPr>
              <p:nvPr/>
            </p:nvSpPr>
            <p:spPr bwMode="auto">
              <a:xfrm flipH="1">
                <a:off x="2053" y="3750"/>
                <a:ext cx="236" cy="25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Text Box 61"/>
              <p:cNvSpPr txBox="1">
                <a:spLocks noChangeArrowheads="1"/>
              </p:cNvSpPr>
              <p:nvPr/>
            </p:nvSpPr>
            <p:spPr bwMode="auto">
              <a:xfrm>
                <a:off x="1568" y="4048"/>
                <a:ext cx="827" cy="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200" b="1" dirty="0">
                    <a:solidFill>
                      <a:srgbClr val="FF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啮合损失</a:t>
                </a:r>
              </a:p>
            </p:txBody>
          </p:sp>
        </p:grpSp>
        <p:grpSp>
          <p:nvGrpSpPr>
            <p:cNvPr id="8" name="Group 62"/>
            <p:cNvGrpSpPr/>
            <p:nvPr/>
          </p:nvGrpSpPr>
          <p:grpSpPr bwMode="auto">
            <a:xfrm>
              <a:off x="2008" y="1410"/>
              <a:ext cx="827" cy="658"/>
              <a:chOff x="2343" y="3704"/>
              <a:chExt cx="827" cy="658"/>
            </a:xfrm>
          </p:grpSpPr>
          <p:sp>
            <p:nvSpPr>
              <p:cNvPr id="12" name="Line 63"/>
              <p:cNvSpPr>
                <a:spLocks noChangeShapeType="1"/>
              </p:cNvSpPr>
              <p:nvPr/>
            </p:nvSpPr>
            <p:spPr bwMode="auto">
              <a:xfrm>
                <a:off x="2516" y="3704"/>
                <a:ext cx="87" cy="273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Text Box 64"/>
              <p:cNvSpPr txBox="1">
                <a:spLocks noChangeArrowheads="1"/>
              </p:cNvSpPr>
              <p:nvPr/>
            </p:nvSpPr>
            <p:spPr bwMode="auto">
              <a:xfrm>
                <a:off x="2343" y="4000"/>
                <a:ext cx="827" cy="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200" b="1" dirty="0">
                    <a:solidFill>
                      <a:srgbClr val="FF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搅油损失</a:t>
                </a:r>
              </a:p>
            </p:txBody>
          </p:sp>
        </p:grpSp>
        <p:grpSp>
          <p:nvGrpSpPr>
            <p:cNvPr id="9" name="Group 65"/>
            <p:cNvGrpSpPr/>
            <p:nvPr/>
          </p:nvGrpSpPr>
          <p:grpSpPr bwMode="auto">
            <a:xfrm>
              <a:off x="2599" y="1410"/>
              <a:ext cx="1228" cy="656"/>
              <a:chOff x="2712" y="3769"/>
              <a:chExt cx="1228" cy="656"/>
            </a:xfrm>
          </p:grpSpPr>
          <p:sp>
            <p:nvSpPr>
              <p:cNvPr id="10" name="Line 66"/>
              <p:cNvSpPr>
                <a:spLocks noChangeShapeType="1"/>
              </p:cNvSpPr>
              <p:nvPr/>
            </p:nvSpPr>
            <p:spPr bwMode="auto">
              <a:xfrm>
                <a:off x="2712" y="3769"/>
                <a:ext cx="824" cy="27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 Box 67"/>
              <p:cNvSpPr txBox="1">
                <a:spLocks noChangeArrowheads="1"/>
              </p:cNvSpPr>
              <p:nvPr/>
            </p:nvSpPr>
            <p:spPr bwMode="auto">
              <a:xfrm>
                <a:off x="3113" y="4063"/>
                <a:ext cx="827" cy="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200" b="1" dirty="0">
                    <a:solidFill>
                      <a:srgbClr val="FF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轴承损失</a:t>
                </a:r>
              </a:p>
            </p:txBody>
          </p:sp>
        </p:grpSp>
      </p:grpSp>
      <p:sp>
        <p:nvSpPr>
          <p:cNvPr id="16" name="Text Box 69"/>
          <p:cNvSpPr txBox="1">
            <a:spLocks noChangeArrowheads="1"/>
          </p:cNvSpPr>
          <p:nvPr/>
        </p:nvSpPr>
        <p:spPr bwMode="auto">
          <a:xfrm>
            <a:off x="323528" y="2735068"/>
            <a:ext cx="13696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二、润滑</a:t>
            </a:r>
          </a:p>
        </p:txBody>
      </p:sp>
      <p:sp>
        <p:nvSpPr>
          <p:cNvPr id="17" name="Text Box 70"/>
          <p:cNvSpPr txBox="1">
            <a:spLocks noChangeArrowheads="1"/>
          </p:cNvSpPr>
          <p:nvPr/>
        </p:nvSpPr>
        <p:spPr bwMode="auto">
          <a:xfrm>
            <a:off x="1926401" y="2742018"/>
            <a:ext cx="2793072" cy="42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与齿轮润滑方法类似</a:t>
            </a:r>
          </a:p>
        </p:txBody>
      </p:sp>
      <p:sp>
        <p:nvSpPr>
          <p:cNvPr id="18" name="Text Box 71"/>
          <p:cNvSpPr txBox="1">
            <a:spLocks noChangeArrowheads="1"/>
          </p:cNvSpPr>
          <p:nvPr/>
        </p:nvSpPr>
        <p:spPr bwMode="auto">
          <a:xfrm>
            <a:off x="323528" y="3395639"/>
            <a:ext cx="229293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三、热平衡计算</a:t>
            </a:r>
          </a:p>
        </p:txBody>
      </p:sp>
      <p:sp>
        <p:nvSpPr>
          <p:cNvPr id="19" name="Text Box 72"/>
          <p:cNvSpPr txBox="1">
            <a:spLocks noChangeArrowheads="1"/>
          </p:cNvSpPr>
          <p:nvPr/>
        </p:nvSpPr>
        <p:spPr bwMode="auto">
          <a:xfrm>
            <a:off x="666122" y="4023323"/>
            <a:ext cx="1507464" cy="42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algn="l" eaLnBrk="0" hangingPunct="0"/>
            <a:r>
              <a:rPr lang="en-US" altLang="zh-CN" sz="2300" i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300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散热</a:t>
            </a:r>
            <a:r>
              <a:rPr lang="en-US" altLang="zh-CN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300" i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300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损耗</a:t>
            </a:r>
            <a:endParaRPr lang="zh-CN" altLang="en-US" sz="23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73"/>
          <p:cNvSpPr txBox="1">
            <a:spLocks noChangeArrowheads="1"/>
          </p:cNvSpPr>
          <p:nvPr/>
        </p:nvSpPr>
        <p:spPr bwMode="auto">
          <a:xfrm>
            <a:off x="2748236" y="3403333"/>
            <a:ext cx="5032468" cy="42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en-US" altLang="zh-CN" sz="23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η</a:t>
            </a:r>
            <a:r>
              <a:rPr lang="en-US" altLang="zh-CN" sz="23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低、发热</a:t>
            </a:r>
            <a:r>
              <a:rPr lang="zh-CN" altLang="en-US" sz="2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</a:t>
            </a:r>
            <a:r>
              <a:rPr lang="en-US" altLang="zh-CN" sz="2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进行热平衡计算</a:t>
            </a:r>
          </a:p>
        </p:txBody>
      </p:sp>
      <p:grpSp>
        <p:nvGrpSpPr>
          <p:cNvPr id="21" name="Group 76"/>
          <p:cNvGrpSpPr/>
          <p:nvPr/>
        </p:nvGrpSpPr>
        <p:grpSpPr bwMode="auto">
          <a:xfrm>
            <a:off x="2278349" y="4025035"/>
            <a:ext cx="6548231" cy="446483"/>
            <a:chOff x="2164" y="3483"/>
            <a:chExt cx="4123" cy="375"/>
          </a:xfrm>
        </p:grpSpPr>
        <p:sp>
          <p:nvSpPr>
            <p:cNvPr id="22" name="AutoShape 74"/>
            <p:cNvSpPr>
              <a:spLocks noChangeArrowheads="1"/>
            </p:cNvSpPr>
            <p:nvPr/>
          </p:nvSpPr>
          <p:spPr bwMode="auto">
            <a:xfrm>
              <a:off x="2164" y="3568"/>
              <a:ext cx="425" cy="176"/>
            </a:xfrm>
            <a:prstGeom prst="rightArrow">
              <a:avLst>
                <a:gd name="adj1" fmla="val 50000"/>
                <a:gd name="adj2" fmla="val 6885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75"/>
            <p:cNvSpPr txBox="1">
              <a:spLocks noChangeArrowheads="1"/>
            </p:cNvSpPr>
            <p:nvPr/>
          </p:nvSpPr>
          <p:spPr bwMode="auto">
            <a:xfrm>
              <a:off x="2655" y="3483"/>
              <a:ext cx="3632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2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控制温升，即箱内油温与环境空气温度之差</a:t>
              </a:r>
              <a:endParaRPr lang="en-US" altLang="zh-CN" sz="2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4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67689"/>
              </p:ext>
            </p:extLst>
          </p:nvPr>
        </p:nvGraphicFramePr>
        <p:xfrm>
          <a:off x="6300192" y="1915617"/>
          <a:ext cx="2506282" cy="797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902" r:id="rId5" imgW="1016000" imgH="431800" progId="Equation.3">
                  <p:embed/>
                </p:oleObj>
              </mc:Choice>
              <mc:Fallback>
                <p:oleObj r:id="rId5" imgW="1016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915617"/>
                        <a:ext cx="2506282" cy="79786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81"/>
          <p:cNvSpPr txBox="1">
            <a:spLocks noChangeArrowheads="1"/>
          </p:cNvSpPr>
          <p:nvPr/>
        </p:nvSpPr>
        <p:spPr bwMode="auto">
          <a:xfrm>
            <a:off x="4391472" y="1120140"/>
            <a:ext cx="4752528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latinLnBrk="0" hangingPunct="0">
              <a:lnSpc>
                <a:spcPct val="150000"/>
              </a:lnSpc>
            </a:pPr>
            <a:r>
              <a:rPr lang="en-US" altLang="zh-CN" sz="2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↑—</a:t>
            </a:r>
            <a:r>
              <a:rPr lang="en-US" altLang="zh-CN" sz="2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η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en-US" altLang="zh-CN" sz="2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γ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↑ 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加工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困难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28°</a:t>
            </a:r>
          </a:p>
        </p:txBody>
      </p:sp>
      <p:graphicFrame>
        <p:nvGraphicFramePr>
          <p:cNvPr id="26" name="对象 1"/>
          <p:cNvGraphicFramePr/>
          <p:nvPr>
            <p:extLst>
              <p:ext uri="{D42A27DB-BD31-4B8C-83A1-F6EECF244321}">
                <p14:modId xmlns:p14="http://schemas.microsoft.com/office/powerpoint/2010/main" val="476595040"/>
              </p:ext>
            </p:extLst>
          </p:nvPr>
        </p:nvGraphicFramePr>
        <p:xfrm>
          <a:off x="2743062" y="4701979"/>
          <a:ext cx="3423344" cy="89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903" r:id="rId7" imgW="3412490" imgH="959485" progId="Equation.DSMT4">
                  <p:embed/>
                </p:oleObj>
              </mc:Choice>
              <mc:Fallback>
                <p:oleObj r:id="rId7" imgW="3412490" imgH="959485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062" y="4701979"/>
                        <a:ext cx="3423344" cy="89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单圆角矩形 2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蜗杆传动的效率润滑及热平衡计算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8" name="直角三角形 2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323528" y="564857"/>
            <a:ext cx="5905148" cy="492443"/>
            <a:chOff x="323528" y="564857"/>
            <a:chExt cx="5905148" cy="492443"/>
          </a:xfrm>
        </p:grpSpPr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554510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蜗杆传动的</a:t>
              </a:r>
              <a:r>
                <a:rPr lang="zh-CN" altLang="en-US" sz="2600" b="1" dirty="0" smtClean="0">
                  <a:solidFill>
                    <a:srgbClr val="000099"/>
                  </a:solidFill>
                  <a:latin typeface="黑体" pitchFamily="49" charset="-122"/>
                </a:rPr>
                <a:t>效率、润滑及热平衡计算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31" name="Picture 15" descr="AR1031"/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77162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/>
      <p:bldP spid="18" grpId="0"/>
      <p:bldP spid="19" grpId="0"/>
      <p:bldP spid="20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395536" y="606805"/>
            <a:ext cx="4255011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en-US" altLang="zh-CN" sz="240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太高，可采取如下措施：</a:t>
            </a:r>
          </a:p>
        </p:txBody>
      </p:sp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5814530" y="1345668"/>
            <a:ext cx="229293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蜗杆轴端装风扇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182207" y="1366554"/>
            <a:ext cx="1369606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加散热片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5796136" y="2290567"/>
            <a:ext cx="2908489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外冷却压力喷油润滑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181538" y="2269766"/>
            <a:ext cx="381704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油池内安装蛇形冷却水管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497840" y="1320722"/>
            <a:ext cx="764540" cy="541020"/>
            <a:chOff x="929849" y="1229969"/>
            <a:chExt cx="1028592" cy="688975"/>
          </a:xfrm>
        </p:grpSpPr>
        <p:sp>
          <p:nvSpPr>
            <p:cNvPr id="45" name="椭圆 44"/>
            <p:cNvSpPr/>
            <p:nvPr/>
          </p:nvSpPr>
          <p:spPr>
            <a:xfrm>
              <a:off x="1028274" y="1229969"/>
              <a:ext cx="688975" cy="6889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lIns="108000" tIns="0" rIns="0" bIns="0" anchor="ctr">
              <a:normAutofit fontScale="95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1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929849" y="1428406"/>
              <a:ext cx="288925" cy="2905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955249" y="1277594"/>
              <a:ext cx="168275" cy="1682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773710" y="1386132"/>
              <a:ext cx="18473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137694" y="1291512"/>
            <a:ext cx="764540" cy="541020"/>
            <a:chOff x="929849" y="1229969"/>
            <a:chExt cx="1028592" cy="688975"/>
          </a:xfrm>
        </p:grpSpPr>
        <p:sp>
          <p:nvSpPr>
            <p:cNvPr id="50" name="椭圆 49"/>
            <p:cNvSpPr/>
            <p:nvPr/>
          </p:nvSpPr>
          <p:spPr>
            <a:xfrm>
              <a:off x="1028274" y="1229969"/>
              <a:ext cx="688975" cy="6889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lIns="108000" tIns="0" rIns="0" bIns="0" anchor="ctr">
              <a:normAutofit fontScale="95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2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929849" y="1428406"/>
              <a:ext cx="288925" cy="2905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955249" y="1277594"/>
              <a:ext cx="168275" cy="1682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773710" y="1386132"/>
              <a:ext cx="18473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118644" y="2244472"/>
            <a:ext cx="764540" cy="541020"/>
            <a:chOff x="929849" y="1229969"/>
            <a:chExt cx="1028592" cy="688975"/>
          </a:xfrm>
        </p:grpSpPr>
        <p:sp>
          <p:nvSpPr>
            <p:cNvPr id="55" name="椭圆 54"/>
            <p:cNvSpPr/>
            <p:nvPr/>
          </p:nvSpPr>
          <p:spPr>
            <a:xfrm>
              <a:off x="1028274" y="1229969"/>
              <a:ext cx="688975" cy="6889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lIns="108000" tIns="0" rIns="0" bIns="0" anchor="ctr">
              <a:normAutofit fontScale="95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4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929849" y="1428406"/>
              <a:ext cx="288925" cy="2905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955249" y="1277594"/>
              <a:ext cx="168275" cy="1682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773710" y="1386132"/>
              <a:ext cx="18473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95092" y="2215262"/>
            <a:ext cx="764540" cy="541020"/>
            <a:chOff x="929849" y="1229969"/>
            <a:chExt cx="1028592" cy="688975"/>
          </a:xfrm>
        </p:grpSpPr>
        <p:sp>
          <p:nvSpPr>
            <p:cNvPr id="60" name="椭圆 59"/>
            <p:cNvSpPr/>
            <p:nvPr/>
          </p:nvSpPr>
          <p:spPr>
            <a:xfrm>
              <a:off x="1028274" y="1229969"/>
              <a:ext cx="688975" cy="6889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lIns="108000" tIns="0" rIns="0" bIns="0" anchor="ctr">
              <a:normAutofit fontScale="95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1" name="椭圆 60"/>
            <p:cNvSpPr/>
            <p:nvPr/>
          </p:nvSpPr>
          <p:spPr>
            <a:xfrm>
              <a:off x="929849" y="1428406"/>
              <a:ext cx="288925" cy="2905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955249" y="1277594"/>
              <a:ext cx="168275" cy="168275"/>
            </a:xfrm>
            <a:prstGeom prst="ellipse">
              <a:avLst/>
            </a:prstGeom>
            <a:solidFill>
              <a:srgbClr val="A3B2C1">
                <a:lumMod val="50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宋体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773710" y="1386132"/>
              <a:ext cx="18473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4" name="单圆角矩形 6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蜗杆传动的效率润滑及热平衡计算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65" name="直角三角形 6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0" t="29840" r="66363" b="28580"/>
          <a:stretch/>
        </p:blipFill>
        <p:spPr>
          <a:xfrm>
            <a:off x="81183" y="3097639"/>
            <a:ext cx="2139057" cy="23004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5" r="15035" b="12773"/>
          <a:stretch/>
        </p:blipFill>
        <p:spPr>
          <a:xfrm>
            <a:off x="6549182" y="3235467"/>
            <a:ext cx="2464011" cy="21626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9" t="29840" r="39785" b="28580"/>
          <a:stretch/>
        </p:blipFill>
        <p:spPr>
          <a:xfrm>
            <a:off x="2073151" y="3156867"/>
            <a:ext cx="1932405" cy="2358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7" t="29840" r="3696" b="28580"/>
          <a:stretch/>
        </p:blipFill>
        <p:spPr>
          <a:xfrm>
            <a:off x="3974504" y="3076951"/>
            <a:ext cx="2594062" cy="23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1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传动系统总结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14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3528" y="564857"/>
            <a:ext cx="2889900" cy="492443"/>
            <a:chOff x="323528" y="564857"/>
            <a:chExt cx="2889900" cy="492443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52986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各类传动的特点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3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pic>
        <p:nvPicPr>
          <p:cNvPr id="14" name="Picture 2" descr="C:\Users\wugao\Desktop\5.15\各种传动形式的特点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7" y="1294924"/>
            <a:ext cx="8893278" cy="405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单圆角矩形 8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各类传动的特点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0" name="直角三角形 9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72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3528" y="503358"/>
            <a:ext cx="4230010" cy="492443"/>
            <a:chOff x="323528" y="564857"/>
            <a:chExt cx="4230010" cy="492443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86997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传动系统设计的基本原则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3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17" name="TextBox 1"/>
          <p:cNvSpPr txBox="1">
            <a:spLocks noChangeArrowheads="1"/>
          </p:cNvSpPr>
          <p:nvPr/>
        </p:nvSpPr>
        <p:spPr bwMode="auto">
          <a:xfrm>
            <a:off x="4906578" y="519323"/>
            <a:ext cx="3096344" cy="460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zh-CN" sz="22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合理选择传动类型</a:t>
            </a:r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8" name="Picture 2" descr="C:\Users\wugao\Desktop\5.15\各种传动形式的主要性能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43" y="1154226"/>
            <a:ext cx="8367108" cy="436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单圆角矩形 1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传动系统设计的基本原则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5" name="直角三角形 1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36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51520" y="536788"/>
            <a:ext cx="8589494" cy="1772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21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sz="21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合理安排各级传动机构的先后顺序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：如带、链和齿轮传动组合的多级传动，其先后顺序应为</a:t>
            </a:r>
            <a:r>
              <a:rPr lang="zh-CN" altLang="en-US" sz="2100" dirty="0" smtClean="0">
                <a:solidFill>
                  <a:srgbClr val="FA9500"/>
                </a:solidFill>
                <a:latin typeface="微软雅黑" pitchFamily="34" charset="-122"/>
                <a:ea typeface="微软雅黑" pitchFamily="34" charset="-122"/>
              </a:rPr>
              <a:t>带传动置于高速级、链传动置于低速级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；直齿和斜齿圆柱齿轮传动，为保证传动平稳性，</a:t>
            </a:r>
            <a:r>
              <a:rPr lang="zh-CN" altLang="en-US" sz="2100" dirty="0" smtClean="0">
                <a:solidFill>
                  <a:srgbClr val="FA9500"/>
                </a:solidFill>
                <a:latin typeface="微软雅黑" pitchFamily="34" charset="-122"/>
                <a:ea typeface="微软雅黑" pitchFamily="34" charset="-122"/>
              </a:rPr>
              <a:t>斜齿传动应放在高速级，直齿轮应放在低速级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；锥齿轮传动一般</a:t>
            </a:r>
            <a:r>
              <a:rPr lang="zh-CN" altLang="en-US" sz="2100" dirty="0" smtClean="0">
                <a:solidFill>
                  <a:srgbClr val="FA9500"/>
                </a:solidFill>
                <a:latin typeface="微软雅黑" pitchFamily="34" charset="-122"/>
                <a:ea typeface="微软雅黑" pitchFamily="34" charset="-122"/>
              </a:rPr>
              <a:t>放在高速级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，以减小锥齿轮的尺寸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1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5" name="Picture 2" descr="G:\减速器传动方式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267" y="2611775"/>
            <a:ext cx="4464495" cy="268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88724"/>
            <a:ext cx="4176464" cy="252937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单圆角矩形 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传动系统设计的基本原则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9" name="直角三角形 8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13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251520" y="514734"/>
            <a:ext cx="8640960" cy="92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22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合理分配传动比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：各级传动比应在各自允许的合理范围内；传动比分配应使各传动零件尺寸协调，结构合理，</a:t>
            </a:r>
            <a:r>
              <a:rPr lang="zh-CN" altLang="en-US" sz="2200" dirty="0" smtClean="0">
                <a:solidFill>
                  <a:srgbClr val="FA9500"/>
                </a:solidFill>
                <a:latin typeface="微软雅黑" pitchFamily="34" charset="-122"/>
                <a:ea typeface="微软雅黑" pitchFamily="34" charset="-122"/>
              </a:rPr>
              <a:t>避免相互干涉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碰撞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Picture 2" descr="G:\齿轮与轴的干涉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59913"/>
            <a:ext cx="4458946" cy="2161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单圆角矩形 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传动系统设计的基本原则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8" name="直角三角形 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G:\图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271280"/>
            <a:ext cx="3744416" cy="225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63"/>
          <p:cNvSpPr txBox="1">
            <a:spLocks noChangeArrowheads="1"/>
          </p:cNvSpPr>
          <p:nvPr/>
        </p:nvSpPr>
        <p:spPr bwMode="auto">
          <a:xfrm>
            <a:off x="251520" y="1483222"/>
            <a:ext cx="8669242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21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en-US" altLang="zh-CN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对于多级减速传动，可按照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“前小后大”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的原则</a:t>
            </a:r>
            <a:r>
              <a:rPr lang="zh-CN" altLang="en-US" sz="21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分配传动比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，以</a:t>
            </a:r>
            <a:r>
              <a:rPr lang="zh-CN" altLang="en-US" sz="2100" dirty="0">
                <a:latin typeface="微软雅黑" pitchFamily="34" charset="-122"/>
                <a:ea typeface="微软雅黑" pitchFamily="34" charset="-122"/>
              </a:rPr>
              <a:t>使较少数量的传动在低速下</a:t>
            </a:r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工作，使中间轴有较高转速和较小的转矩。</a:t>
            </a:r>
            <a:endParaRPr lang="en-US" altLang="zh-CN" sz="21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67"/>
          <p:cNvSpPr txBox="1">
            <a:spLocks noChangeArrowheads="1"/>
          </p:cNvSpPr>
          <p:nvPr/>
        </p:nvSpPr>
        <p:spPr bwMode="auto">
          <a:xfrm>
            <a:off x="532886" y="2426770"/>
            <a:ext cx="46151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a.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使各级传动中的大齿轮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浸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油深度大致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相等；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66"/>
          <p:cNvSpPr txBox="1">
            <a:spLocks noChangeArrowheads="1"/>
          </p:cNvSpPr>
          <p:nvPr/>
        </p:nvSpPr>
        <p:spPr bwMode="auto">
          <a:xfrm>
            <a:off x="4860032" y="2462855"/>
            <a:ext cx="3967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b.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使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减速器获得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最小的外廓尺寸和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重量；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65"/>
          <p:cNvSpPr txBox="1">
            <a:spLocks noChangeArrowheads="1"/>
          </p:cNvSpPr>
          <p:nvPr/>
        </p:nvSpPr>
        <p:spPr bwMode="auto">
          <a:xfrm>
            <a:off x="532886" y="2806978"/>
            <a:ext cx="3928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c.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使各级传动的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承载能力接近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相等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240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9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传动系统布置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9239" y="567532"/>
            <a:ext cx="5686897" cy="4016999"/>
            <a:chOff x="109239" y="567532"/>
            <a:chExt cx="5686897" cy="4016999"/>
          </a:xfrm>
        </p:grpSpPr>
        <p:sp>
          <p:nvSpPr>
            <p:cNvPr id="91" name="Text Box 5">
              <a:extLst>
                <a:ext uri="{FF2B5EF4-FFF2-40B4-BE49-F238E27FC236}">
                  <a16:creationId xmlns="" xmlns:a16="http://schemas.microsoft.com/office/drawing/2014/main" id="{AC3F5D7D-259C-4097-BD80-51D9DBA9B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567532"/>
              <a:ext cx="54726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试指出下图方案有什么不合理之处？</a:t>
              </a:r>
            </a:p>
          </p:txBody>
        </p:sp>
        <p:grpSp>
          <p:nvGrpSpPr>
            <p:cNvPr id="182" name="组合 181"/>
            <p:cNvGrpSpPr/>
            <p:nvPr/>
          </p:nvGrpSpPr>
          <p:grpSpPr>
            <a:xfrm>
              <a:off x="109239" y="1345332"/>
              <a:ext cx="4246737" cy="3239199"/>
              <a:chOff x="109239" y="1273324"/>
              <a:chExt cx="4246737" cy="3239199"/>
            </a:xfrm>
          </p:grpSpPr>
          <p:pic>
            <p:nvPicPr>
              <p:cNvPr id="176" name="图片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239" y="1273324"/>
                <a:ext cx="4246737" cy="2668233"/>
              </a:xfrm>
              <a:prstGeom prst="rect">
                <a:avLst/>
              </a:prstGeom>
            </p:spPr>
          </p:pic>
          <p:sp>
            <p:nvSpPr>
              <p:cNvPr id="178" name="文本框 177"/>
              <p:cNvSpPr txBox="1"/>
              <p:nvPr/>
            </p:nvSpPr>
            <p:spPr>
              <a:xfrm>
                <a:off x="1159333" y="4081636"/>
                <a:ext cx="24416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+mn-ea"/>
                    <a:ea typeface="+mn-ea"/>
                  </a:rPr>
                  <a:t>不合理的传动方案</a:t>
                </a:r>
                <a:endParaRPr lang="zh-CN" altLang="en-US" sz="2200" b="1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83" name="组合 182"/>
          <p:cNvGrpSpPr/>
          <p:nvPr/>
        </p:nvGrpSpPr>
        <p:grpSpPr>
          <a:xfrm>
            <a:off x="3779912" y="1345333"/>
            <a:ext cx="5148575" cy="3888431"/>
            <a:chOff x="3851920" y="1273325"/>
            <a:chExt cx="5148575" cy="3888431"/>
          </a:xfrm>
        </p:grpSpPr>
        <p:pic>
          <p:nvPicPr>
            <p:cNvPr id="177" name="图片 1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3976" y="1273325"/>
              <a:ext cx="4166519" cy="3888431"/>
            </a:xfrm>
            <a:prstGeom prst="rect">
              <a:avLst/>
            </a:prstGeom>
          </p:spPr>
        </p:pic>
        <p:grpSp>
          <p:nvGrpSpPr>
            <p:cNvPr id="181" name="组合 180"/>
            <p:cNvGrpSpPr/>
            <p:nvPr/>
          </p:nvGrpSpPr>
          <p:grpSpPr>
            <a:xfrm>
              <a:off x="3851920" y="4081636"/>
              <a:ext cx="2512760" cy="430887"/>
              <a:chOff x="4208114" y="4866022"/>
              <a:chExt cx="2512760" cy="430887"/>
            </a:xfrm>
          </p:grpSpPr>
          <p:sp>
            <p:nvSpPr>
              <p:cNvPr id="179" name="文本框 178"/>
              <p:cNvSpPr txBox="1"/>
              <p:nvPr/>
            </p:nvSpPr>
            <p:spPr>
              <a:xfrm>
                <a:off x="4208114" y="4866022"/>
                <a:ext cx="18774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+mn-ea"/>
                    <a:ea typeface="+mn-ea"/>
                  </a:rPr>
                  <a:t>改进后的方案</a:t>
                </a:r>
                <a:endParaRPr lang="zh-CN" altLang="en-US" sz="2200" b="1" dirty="0">
                  <a:latin typeface="+mn-ea"/>
                  <a:ea typeface="+mn-ea"/>
                </a:endParaRPr>
              </a:p>
            </p:txBody>
          </p:sp>
          <p:sp>
            <p:nvSpPr>
              <p:cNvPr id="180" name="AutoShape 7"/>
              <p:cNvSpPr>
                <a:spLocks noChangeArrowheads="1"/>
              </p:cNvSpPr>
              <p:nvPr/>
            </p:nvSpPr>
            <p:spPr bwMode="auto">
              <a:xfrm>
                <a:off x="6111274" y="4996017"/>
                <a:ext cx="609600" cy="171450"/>
              </a:xfrm>
              <a:prstGeom prst="rightArrow">
                <a:avLst>
                  <a:gd name="adj1" fmla="val 50000"/>
                  <a:gd name="adj2" fmla="val 116860"/>
                </a:avLst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168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矩形 7"/>
          <p:cNvSpPr>
            <a:spLocks noChangeArrowheads="1"/>
          </p:cNvSpPr>
          <p:nvPr/>
        </p:nvSpPr>
        <p:spPr bwMode="auto">
          <a:xfrm>
            <a:off x="280990" y="528639"/>
            <a:ext cx="1081087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www.1ppt.com/moban/     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行业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www.1ppt.com/hangye/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节日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www.1ppt.com/jieri/   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素材下载：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www.1ppt.com/sucai/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背景图片：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www.1ppt.com/beijing/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图表下载：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www.1ppt.com/tubiao/    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优秀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www.1ppt.com/xiazai/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 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www.1ppt.com/powerpoint/      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Word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 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www.1ppt.com/word/              Excel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www.1ppt.com/excel/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资料下载：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www.1ppt.com/ziliao/        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课件下载：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www.1ppt.com/kejian/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范文下载：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www.1ppt.com/fanwen/             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试卷下载：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www.1ppt.com/shiti/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教案下载：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www.1ppt.com/jiaoan/  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endParaRPr lang="zh-CN" altLang="en-US" sz="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097152" name="图片 5" descr="background1.jpg"/>
          <p:cNvPicPr>
            <a:picLocks noChangeAspect="1"/>
          </p:cNvPicPr>
          <p:nvPr/>
        </p:nvPicPr>
        <p:blipFill>
          <a:blip r:embed="rId2"/>
          <a:srcRect t="12988"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7153" name="图片 3" descr="1369025_233359298000_2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2871" b="12666"/>
          <a:stretch>
            <a:fillRect/>
          </a:stretch>
        </p:blipFill>
        <p:spPr bwMode="auto">
          <a:xfrm>
            <a:off x="1692275" y="863600"/>
            <a:ext cx="5422900" cy="485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85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12750" y="5297488"/>
            <a:ext cx="4159250" cy="296862"/>
          </a:xfrm>
        </p:spPr>
        <p:txBody>
          <a:bodyPr wrap="square" numCol="1" anchorCtr="0" compatLnSpc="1"/>
          <a:lstStyle/>
          <a:p>
            <a:pPr marL="342900" indent="-342900" algn="l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smtClean="0">
                <a:solidFill>
                  <a:srgbClr val="BFBFBF"/>
                </a:solidFill>
                <a:latin typeface="微软雅黑" panose="020B0503020204020204" charset="-122"/>
                <a:cs typeface="微软雅黑" panose="020B0503020204020204" charset="-122"/>
              </a:rPr>
              <a:t>http://www.swjtu.edu.cn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k3MjA0Y2M0ZGM0MTI2OWFmMTU5NDNjNTM2NzMzNzkifQ=="/>
</p:tagLst>
</file>

<file path=ppt/theme/theme1.xml><?xml version="1.0" encoding="utf-8"?>
<a:theme xmlns:a="http://schemas.openxmlformats.org/drawingml/2006/main" name="藏珠馆 Wholehr.taobao.com 原创商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4271</TotalTime>
  <Words>1631</Words>
  <Application>Microsoft Office PowerPoint</Application>
  <PresentationFormat>全屏显示(16:10)</PresentationFormat>
  <Paragraphs>224</Paragraphs>
  <Slides>22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仿宋_GB2312</vt:lpstr>
      <vt:lpstr>黑体</vt:lpstr>
      <vt:lpstr>楷体_GB2312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藏珠馆 Wholehr.taobao.com 原创商务模板</vt:lpstr>
      <vt:lpstr>Image</vt:lpstr>
      <vt:lpstr>Equation</vt:lpstr>
      <vt:lpstr>Microsoft 公式 3.0</vt:lpstr>
      <vt:lpstr>MathType 7.0 Equation</vt:lpstr>
      <vt:lpstr>PowerPoint 演示文稿</vt:lpstr>
      <vt:lpstr>本章内容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ylmf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藏珠馆 WholeHR.taobao.com</dc:creator>
  <cp:lastModifiedBy>Microsoft</cp:lastModifiedBy>
  <cp:revision>935</cp:revision>
  <dcterms:created xsi:type="dcterms:W3CDTF">2012-03-17T16:08:00Z</dcterms:created>
  <dcterms:modified xsi:type="dcterms:W3CDTF">2024-10-21T02:14:23Z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449056D2969D4DD0B2116DAC6D8A9ABC_12</vt:lpwstr>
  </property>
  <property fmtid="{D5CDD505-2E9C-101B-9397-08002B2CF9AE}" pid="3" name="KSOProductBuildVer">
    <vt:lpwstr>2052-12.1.0.15990</vt:lpwstr>
  </property>
</Properties>
</file>