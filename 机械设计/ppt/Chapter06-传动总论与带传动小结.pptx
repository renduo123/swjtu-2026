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vml" ContentType="application/vnd.openxmlformats-officedocument.vmlDrawing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525" r:id="rId4"/>
    <p:sldId id="493" r:id="rId5"/>
    <p:sldId id="489" r:id="rId6"/>
    <p:sldId id="490" r:id="rId7"/>
    <p:sldId id="491" r:id="rId8"/>
    <p:sldId id="494" r:id="rId9"/>
    <p:sldId id="496" r:id="rId10"/>
    <p:sldId id="497" r:id="rId11"/>
    <p:sldId id="498" r:id="rId12"/>
    <p:sldId id="500" r:id="rId13"/>
    <p:sldId id="501" r:id="rId14"/>
    <p:sldId id="510" r:id="rId15"/>
    <p:sldId id="502" r:id="rId16"/>
    <p:sldId id="503" r:id="rId17"/>
    <p:sldId id="504" r:id="rId18"/>
    <p:sldId id="505" r:id="rId19"/>
    <p:sldId id="526" r:id="rId20"/>
    <p:sldId id="527" r:id="rId21"/>
    <p:sldId id="506" r:id="rId22"/>
    <p:sldId id="507" r:id="rId23"/>
    <p:sldId id="509" r:id="rId24"/>
    <p:sldId id="511" r:id="rId25"/>
    <p:sldId id="512" r:id="rId26"/>
    <p:sldId id="513" r:id="rId27"/>
    <p:sldId id="515" r:id="rId28"/>
    <p:sldId id="516" r:id="rId29"/>
    <p:sldId id="517" r:id="rId30"/>
    <p:sldId id="518" r:id="rId31"/>
    <p:sldId id="521" r:id="rId32"/>
    <p:sldId id="519" r:id="rId33"/>
    <p:sldId id="522" r:id="rId34"/>
    <p:sldId id="523" r:id="rId35"/>
    <p:sldId id="524" r:id="rId36"/>
    <p:sldId id="412" r:id="rId37"/>
  </p:sldIdLst>
  <p:sldSz cx="9144000" cy="5715000" type="screen16x10"/>
  <p:notesSz cx="6858000" cy="9144000"/>
  <p:custDataLst>
    <p:tags r:id="rId3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88" userDrawn="1">
          <p15:clr>
            <a:srgbClr val="A4A3A4"/>
          </p15:clr>
        </p15:guide>
        <p15:guide id="4" pos="2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D833"/>
    <a:srgbClr val="0000FF"/>
    <a:srgbClr val="FF00FF"/>
    <a:srgbClr val="FFCC00"/>
    <a:srgbClr val="E0E0E0"/>
    <a:srgbClr val="FF9900"/>
    <a:srgbClr val="D1EDFF"/>
    <a:srgbClr val="FFFF7D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5211" autoAdjust="0"/>
  </p:normalViewPr>
  <p:slideViewPr>
    <p:cSldViewPr showGuides="1">
      <p:cViewPr varScale="1">
        <p:scale>
          <a:sx n="133" d="100"/>
          <a:sy n="133" d="100"/>
        </p:scale>
        <p:origin x="990" y="108"/>
      </p:cViewPr>
      <p:guideLst>
        <p:guide orient="horz" pos="1800"/>
        <p:guide pos="2880"/>
        <p:guide pos="5488"/>
        <p:guide pos="2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543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fld id="{F37EA0CE-5915-4F4C-B676-E17D05F042EF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5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105435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0543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543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fld id="{02F0FA9E-A47E-4458-A8BA-8FCC88CC1B1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04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工作原理：靠带与带轮之间的摩擦力来传递运动和动力。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078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摩擦传动：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磨损大、</a:t>
            </a:r>
            <a:r>
              <a:rPr kumimoji="1" lang="en-US" altLang="zh-CN" sz="1200" i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低、寿命低，</a:t>
            </a:r>
            <a:r>
              <a:rPr kumimoji="1"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压轴力大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不宜用在易燃易爆场所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672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当平带和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V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带受到同样的压紧力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时，它们的法向力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N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却不相同。平带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=f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=f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N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V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带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：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=f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Q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=f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’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N</a:t>
            </a:r>
            <a:r>
              <a:rPr lang="zh-CN" altLang="en-US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559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基准长度：</a:t>
            </a:r>
            <a:r>
              <a:rPr lang="zh-CN" altLang="zh-CN" dirty="0" smtClean="0">
                <a:latin typeface="微软雅黑"/>
                <a:ea typeface="微软雅黑"/>
                <a:cs typeface="微软雅黑"/>
              </a:rPr>
              <a:t>制造时带的长度按照标准中规定的带长系列进行生产，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所以</a:t>
            </a:r>
            <a:r>
              <a:rPr lang="zh-CN" altLang="en-US" dirty="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带长是标准值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，从而带传动</a:t>
            </a:r>
            <a:r>
              <a:rPr lang="zh-CN" altLang="en-US" dirty="0" smtClean="0">
                <a:solidFill>
                  <a:srgbClr val="FF00FF"/>
                </a:solidFill>
                <a:latin typeface="微软雅黑"/>
                <a:ea typeface="微软雅黑"/>
                <a:cs typeface="微软雅黑"/>
              </a:rPr>
              <a:t>中心距不能随意选择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。</a:t>
            </a:r>
            <a:r>
              <a:rPr lang="zh-CN" altLang="zh-CN" dirty="0" smtClean="0">
                <a:latin typeface="微软雅黑"/>
                <a:ea typeface="微软雅黑"/>
                <a:cs typeface="微软雅黑"/>
              </a:rPr>
              <a:t>在标准中以带在弯曲时带中保持原有长度不变的周线（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称为</a:t>
            </a:r>
            <a:r>
              <a:rPr lang="zh-CN" altLang="zh-CN" dirty="0" smtClean="0">
                <a:latin typeface="微软雅黑"/>
                <a:ea typeface="微软雅黑"/>
                <a:cs typeface="微软雅黑"/>
              </a:rPr>
              <a:t>节线）的长度作为</a:t>
            </a:r>
            <a:r>
              <a:rPr lang="zh-CN" altLang="zh-CN" dirty="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基准长度</a:t>
            </a:r>
            <a:r>
              <a:rPr lang="zh-CN" altLang="zh-CN" dirty="0" smtClean="0">
                <a:latin typeface="微软雅黑"/>
                <a:ea typeface="微软雅黑"/>
                <a:cs typeface="微软雅黑"/>
              </a:rPr>
              <a:t>，记为</a:t>
            </a:r>
            <a:r>
              <a:rPr lang="en-US" altLang="zh-CN" dirty="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lang="en-US" altLang="zh-CN" baseline="-25000" dirty="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zh-CN" dirty="0" smtClean="0">
                <a:latin typeface="微软雅黑"/>
                <a:ea typeface="微软雅黑"/>
                <a:cs typeface="微软雅黑"/>
              </a:rPr>
              <a:t>。</a:t>
            </a:r>
            <a:endParaRPr lang="en-US" altLang="zh-CN" dirty="0" smtClean="0">
              <a:latin typeface="微软雅黑"/>
              <a:ea typeface="微软雅黑"/>
              <a:cs typeface="微软雅黑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latin typeface="微软雅黑"/>
                <a:ea typeface="微软雅黑"/>
              </a:rPr>
              <a:t>胶帘布：一般传动；胶绳芯：柔韧性好，主要用于直径小、速度高的场合。</a:t>
            </a:r>
            <a:endParaRPr lang="en-US" altLang="zh-CN" dirty="0" smtClean="0">
              <a:latin typeface="微软雅黑"/>
              <a:ea typeface="微软雅黑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dirty="0" smtClean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思考</a:t>
            </a:r>
            <a:r>
              <a:rPr kumimoji="1" lang="en-US" altLang="zh-CN" sz="1200" b="0" dirty="0" smtClean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: </a:t>
            </a:r>
            <a:r>
              <a:rPr kumimoji="1" lang="en-US" altLang="zh-CN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V</a:t>
            </a:r>
            <a:r>
              <a:rPr kumimoji="1" lang="zh-CN" altLang="en-US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带</a:t>
            </a:r>
            <a:r>
              <a:rPr kumimoji="1" lang="zh-CN" altLang="zh-CN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轮</a:t>
            </a:r>
            <a:r>
              <a:rPr kumimoji="1" lang="zh-CN" altLang="en-US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槽槽形角</a:t>
            </a:r>
            <a:r>
              <a:rPr kumimoji="1" lang="zh-CN" altLang="en-US" sz="1200" b="0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φ</a:t>
            </a:r>
            <a:r>
              <a:rPr kumimoji="1" lang="zh-CN" altLang="en-US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与</a:t>
            </a:r>
            <a:r>
              <a:rPr kumimoji="1" lang="en-US" altLang="zh-CN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V</a:t>
            </a:r>
            <a:r>
              <a:rPr kumimoji="1" lang="zh-CN" altLang="en-US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带楔角</a:t>
            </a:r>
            <a:r>
              <a:rPr kumimoji="1" lang="zh-CN" altLang="en-US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kumimoji="1" lang="en-US" altLang="zh-CN" sz="1200" b="0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θ</a:t>
            </a:r>
            <a:r>
              <a:rPr kumimoji="1" lang="zh-CN" altLang="en-US" sz="1200" b="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sym typeface="Symbol" pitchFamily="18" charset="2"/>
              </a:rPr>
              <a:t>大小满足何种关系？答：</a:t>
            </a:r>
            <a:r>
              <a:rPr lang="en-US" altLang="zh-CN" sz="12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φ</a:t>
            </a:r>
            <a:r>
              <a:rPr lang="zh-CN" altLang="zh-CN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≠</a:t>
            </a:r>
            <a:r>
              <a:rPr lang="en-US" altLang="zh-CN" sz="12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θ</a:t>
            </a:r>
            <a:r>
              <a:rPr lang="zh-CN" altLang="zh-CN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，</a:t>
            </a:r>
            <a:r>
              <a:rPr lang="en-US" altLang="zh-CN" sz="12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φ</a:t>
            </a:r>
            <a:r>
              <a:rPr lang="zh-CN" altLang="zh-CN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＜</a:t>
            </a:r>
            <a:r>
              <a:rPr lang="en-US" altLang="zh-CN" sz="12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θ</a:t>
            </a:r>
            <a:r>
              <a:rPr lang="zh-CN" altLang="zh-CN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（</a:t>
            </a:r>
            <a:r>
              <a:rPr lang="en-US" altLang="zh-CN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40°</a:t>
            </a:r>
            <a:r>
              <a:rPr lang="zh-CN" altLang="en-US" sz="1200" b="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）。</a:t>
            </a:r>
            <a:endParaRPr lang="zh-CN" altLang="en-US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722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Fe——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有效圆周力；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v——</a:t>
            </a:r>
            <a:r>
              <a:rPr lang="zh-CN" altLang="en-US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带速（</a:t>
            </a:r>
            <a:r>
              <a:rPr lang="en-US" altLang="zh-CN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m/s</a:t>
            </a:r>
            <a:r>
              <a:rPr lang="zh-CN" altLang="en-US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）</a:t>
            </a:r>
            <a:endParaRPr lang="en-US" altLang="zh-CN" i="0" dirty="0" smtClean="0">
              <a:solidFill>
                <a:schemeClr val="tx1"/>
              </a:solidFill>
              <a:latin typeface="+mn-lt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两边拉力之差即为带传动的有效拉力</a:t>
            </a:r>
            <a:r>
              <a:rPr lang="en-US" altLang="zh-CN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Fe</a:t>
            </a:r>
            <a:r>
              <a:rPr lang="zh-CN" altLang="en-US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，用来传递功率，它在数值上等于沿带轮上摩擦力的总和</a:t>
            </a:r>
            <a:r>
              <a:rPr lang="zh-CN" altLang="en-US" i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∑</a:t>
            </a:r>
            <a:r>
              <a:rPr lang="en-US" altLang="zh-CN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F</a:t>
            </a:r>
            <a:r>
              <a:rPr lang="en-US" altLang="zh-CN" i="0" baseline="-2500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f</a:t>
            </a:r>
            <a:r>
              <a:rPr lang="zh-CN" altLang="en-US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134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363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单根窄</a:t>
            </a:r>
            <a:r>
              <a:rPr lang="en-US" altLang="zh-CN" dirty="0" smtClean="0"/>
              <a:t>V</a:t>
            </a:r>
            <a:r>
              <a:rPr lang="zh-CN" altLang="en-US" dirty="0" smtClean="0"/>
              <a:t>带的基本额定功率（</a:t>
            </a:r>
            <a:r>
              <a:rPr lang="en-US" altLang="zh-CN" dirty="0" smtClean="0"/>
              <a:t>P</a:t>
            </a:r>
            <a:r>
              <a:rPr lang="en-US" altLang="zh-CN" baseline="-25000" dirty="0" smtClean="0"/>
              <a:t>N</a:t>
            </a:r>
            <a:r>
              <a:rPr lang="zh-CN" altLang="en-US" dirty="0" smtClean="0"/>
              <a:t>中已包含了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△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的影响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84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自动张紧：采用重力和带轮上的制动力矩，使带轮随浮动架绕固定轴摆动而改变中心距的自动张紧方法。</a:t>
            </a:r>
          </a:p>
          <a:p>
            <a:pPr eaLnBrk="1" hangingPunct="1"/>
            <a:r>
              <a:rPr lang="zh-CN" altLang="en-US" dirty="0" smtClean="0"/>
              <a:t>张紧轮张紧：若中心距不能调节时，可采用具有张紧轮的装置，图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，它靠平衡锤将张紧轮压在带上，以保持带的张紧。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0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灯片编号占位符 5"/>
          <p:cNvSpPr txBox="1"/>
          <p:nvPr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A0566AA-6162-4D95-AC0C-E78E38CB513D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695" name="AutoShape 11" descr="http://img3.imgtn.bdimg.com/it/u=648473279,3398283694&amp;fm=21&amp;gp=0.jpg"/>
          <p:cNvSpPr>
            <a:spLocks noChangeAspect="1" noChangeArrowheads="1"/>
          </p:cNvSpPr>
          <p:nvPr userDrawn="1"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48696" name="AutoShape 13" descr="http://img3.imgtn.bdimg.com/it/u=648473279,3398283694&amp;fm=21&amp;gp=0.jpg"/>
          <p:cNvSpPr>
            <a:spLocks noChangeAspect="1" noChangeArrowheads="1"/>
          </p:cNvSpPr>
          <p:nvPr userDrawn="1"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48698" name="灯片编号占位符 5"/>
          <p:cNvSpPr txBox="1"/>
          <p:nvPr userDrawn="1"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A410C9-B208-4A8D-BBA4-F9BEF18974F4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2097166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14" y="3729"/>
            <a:ext cx="9144000" cy="17497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67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3937620"/>
            <a:ext cx="9144000" cy="177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1789590"/>
            <a:ext cx="9144000" cy="21480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603729"/>
            <a:ext cx="9144000" cy="17497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50" name="组合 38"/>
          <p:cNvGrpSpPr/>
          <p:nvPr userDrawn="1"/>
        </p:nvGrpSpPr>
        <p:grpSpPr>
          <a:xfrm>
            <a:off x="-2193" y="4081636"/>
            <a:ext cx="9144233" cy="360040"/>
            <a:chOff x="-2193" y="3579862"/>
            <a:chExt cx="9144233" cy="360040"/>
          </a:xfrm>
        </p:grpSpPr>
        <p:graphicFrame>
          <p:nvGraphicFramePr>
            <p:cNvPr id="51" name="对象 39"/>
            <p:cNvGraphicFramePr>
              <a:graphicFrameLocks noChangeAspect="1"/>
            </p:cNvGraphicFramePr>
            <p:nvPr/>
          </p:nvGraphicFramePr>
          <p:xfrm>
            <a:off x="-2193" y="3579862"/>
            <a:ext cx="914400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1926" name="Image" r:id="rId4" imgW="7553325" imgH="704850" progId="">
                    <p:embed/>
                  </p:oleObj>
                </mc:Choice>
                <mc:Fallback>
                  <p:oleObj name="Image" r:id="rId4" imgW="7553325" imgH="704850" progId="">
                    <p:embed/>
                    <p:pic>
                      <p:nvPicPr>
                        <p:cNvPr id="0" name="图片 59417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 t="16559" r="903"/>
                        <a:stretch>
                          <a:fillRect/>
                        </a:stretch>
                      </p:blipFill>
                      <p:spPr bwMode="auto">
                        <a:xfrm>
                          <a:off x="-2193" y="3579862"/>
                          <a:ext cx="9144000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2" name="Picture 5"/>
            <p:cNvPicPr>
              <a:picLocks noChangeAspect="1" noChangeArrowheads="1"/>
            </p:cNvPicPr>
            <p:nvPr/>
          </p:nvPicPr>
          <p:blipFill rotWithShape="1">
            <a:blip r:embed="rId6"/>
            <a:srcRect t="87967"/>
            <a:stretch>
              <a:fillRect/>
            </a:stretch>
          </p:blipFill>
          <p:spPr bwMode="auto">
            <a:xfrm>
              <a:off x="-1960" y="3816424"/>
              <a:ext cx="9144000" cy="123478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3" name="TextBox 51"/>
          <p:cNvSpPr txBox="1"/>
          <p:nvPr userDrawn="1"/>
        </p:nvSpPr>
        <p:spPr>
          <a:xfrm>
            <a:off x="2109989" y="4593298"/>
            <a:ext cx="4916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06</a:t>
            </a: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章 传动总论与带传动</a:t>
            </a:r>
            <a:endParaRPr lang="zh-CN" alt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Picture 10" descr="http://img2.imgtn.bdimg.com/it/u=3154056593,3020314375&amp;fm=21&amp;gp=0.jpg"/>
          <p:cNvPicPr>
            <a:picLocks noChangeArrowheads="1"/>
          </p:cNvPicPr>
          <p:nvPr userDrawn="1"/>
        </p:nvPicPr>
        <p:blipFill rotWithShape="1">
          <a:blip r:embed="rId7" cstate="print"/>
          <a:srcRect l="6362" r="14516"/>
          <a:stretch>
            <a:fillRect/>
          </a:stretch>
        </p:blipFill>
        <p:spPr bwMode="auto">
          <a:xfrm>
            <a:off x="3895358" y="944654"/>
            <a:ext cx="1288800" cy="864096"/>
          </a:xfrm>
          <a:prstGeom prst="rect">
            <a:avLst/>
          </a:prstGeom>
          <a:noFill/>
        </p:spPr>
      </p:pic>
      <p:sp>
        <p:nvSpPr>
          <p:cNvPr id="31" name="矩形 42"/>
          <p:cNvSpPr/>
          <p:nvPr userDrawn="1"/>
        </p:nvSpPr>
        <p:spPr>
          <a:xfrm>
            <a:off x="-3645" y="944654"/>
            <a:ext cx="3004121" cy="864096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43"/>
          <p:cNvSpPr/>
          <p:nvPr userDrawn="1"/>
        </p:nvSpPr>
        <p:spPr>
          <a:xfrm>
            <a:off x="3000477" y="944654"/>
            <a:ext cx="851444" cy="864096"/>
          </a:xfrm>
          <a:prstGeom prst="rect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 44"/>
          <p:cNvSpPr/>
          <p:nvPr userDrawn="1"/>
        </p:nvSpPr>
        <p:spPr>
          <a:xfrm>
            <a:off x="8134040" y="942295"/>
            <a:ext cx="1008000" cy="864096"/>
          </a:xfrm>
          <a:prstGeom prst="rect">
            <a:avLst/>
          </a:prstGeom>
          <a:solidFill>
            <a:srgbClr val="F7964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45"/>
          <p:cNvSpPr/>
          <p:nvPr userDrawn="1"/>
        </p:nvSpPr>
        <p:spPr>
          <a:xfrm>
            <a:off x="35496" y="1088670"/>
            <a:ext cx="324000" cy="324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矩形 46"/>
          <p:cNvSpPr/>
          <p:nvPr userDrawn="1"/>
        </p:nvSpPr>
        <p:spPr>
          <a:xfrm>
            <a:off x="683568" y="193204"/>
            <a:ext cx="432048" cy="324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矩形 47"/>
          <p:cNvSpPr/>
          <p:nvPr userDrawn="1"/>
        </p:nvSpPr>
        <p:spPr>
          <a:xfrm>
            <a:off x="1115616" y="512584"/>
            <a:ext cx="864096" cy="73341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TextBox 48"/>
          <p:cNvSpPr txBox="1"/>
          <p:nvPr userDrawn="1"/>
        </p:nvSpPr>
        <p:spPr>
          <a:xfrm>
            <a:off x="467544" y="1269561"/>
            <a:ext cx="2926080" cy="320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Southwest Jiaotong University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pic>
        <p:nvPicPr>
          <p:cNvPr id="57" name="Picture 20" descr="http://www.huanbohainews.com.cn/pic/0/11/39/70/11397032_991616.jpg"/>
          <p:cNvPicPr>
            <a:picLocks noChangeAspect="1" noChangeArrowheads="1"/>
          </p:cNvPicPr>
          <p:nvPr userDrawn="1"/>
        </p:nvPicPr>
        <p:blipFill rotWithShape="1">
          <a:blip r:embed="rId8" cstate="print"/>
          <a:srcRect b="10406"/>
          <a:stretch>
            <a:fillRect/>
          </a:stretch>
        </p:blipFill>
        <p:spPr bwMode="auto">
          <a:xfrm>
            <a:off x="5203995" y="944654"/>
            <a:ext cx="952181" cy="864096"/>
          </a:xfrm>
          <a:prstGeom prst="rect">
            <a:avLst/>
          </a:prstGeom>
          <a:noFill/>
        </p:spPr>
      </p:pic>
      <p:pic>
        <p:nvPicPr>
          <p:cNvPr id="58" name="Picture 24" descr="http://imgbdb3.bendibao.com/bjbdb/20153/24/2015324113029237.jpg"/>
          <p:cNvPicPr>
            <a:picLocks noChangeArrowheads="1"/>
          </p:cNvPicPr>
          <p:nvPr userDrawn="1"/>
        </p:nvPicPr>
        <p:blipFill rotWithShape="1">
          <a:blip r:embed="rId9" cstate="print"/>
          <a:srcRect t="16191" b="16189"/>
          <a:stretch>
            <a:fillRect/>
          </a:stretch>
        </p:blipFill>
        <p:spPr bwMode="auto">
          <a:xfrm>
            <a:off x="6180594" y="944654"/>
            <a:ext cx="1926000" cy="861737"/>
          </a:xfrm>
          <a:prstGeom prst="rect">
            <a:avLst/>
          </a:prstGeom>
          <a:noFill/>
        </p:spPr>
      </p:pic>
      <p:pic>
        <p:nvPicPr>
          <p:cNvPr id="60" name="Picture 11"/>
          <p:cNvPicPr>
            <a:picLocks noChangeAspect="1" noChangeArrowheads="1"/>
          </p:cNvPicPr>
          <p:nvPr userDrawn="1"/>
        </p:nvPicPr>
        <p:blipFill rotWithShape="1">
          <a:blip r:embed="rId3"/>
          <a:srcRect l="5181" t="50052" r="85029" b="35397"/>
          <a:stretch>
            <a:fillRect/>
          </a:stretch>
        </p:blipFill>
        <p:spPr bwMode="auto">
          <a:xfrm>
            <a:off x="359496" y="2256392"/>
            <a:ext cx="1203592" cy="96114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1" name="WordArt 7"/>
          <p:cNvSpPr>
            <a:spLocks noChangeArrowheads="1" noChangeShapeType="1" noTextEdit="1"/>
          </p:cNvSpPr>
          <p:nvPr userDrawn="1"/>
        </p:nvSpPr>
        <p:spPr bwMode="auto">
          <a:xfrm>
            <a:off x="2983309" y="3165435"/>
            <a:ext cx="3276678" cy="492125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14"/>
              </a:avLst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3600" b="1" kern="10" dirty="0" smtClean="0">
                <a:ln w="9525">
                  <a:noFill/>
                  <a:round/>
                </a:ln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Mechanical Design</a:t>
            </a:r>
            <a:endParaRPr lang="zh-CN" altLang="en-US" sz="3600" b="1" kern="10" dirty="0">
              <a:ln w="9525">
                <a:noFill/>
                <a:round/>
              </a:ln>
              <a:solidFill>
                <a:srgbClr val="00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TextBox 53"/>
          <p:cNvSpPr txBox="1"/>
          <p:nvPr userDrawn="1"/>
        </p:nvSpPr>
        <p:spPr>
          <a:xfrm>
            <a:off x="1643906" y="2177053"/>
            <a:ext cx="595547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5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机械设计线下授课讲稿</a:t>
            </a:r>
            <a:endParaRPr lang="zh-CN" altLang="en-US" sz="4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Object 9"/>
          <p:cNvGraphicFramePr>
            <a:graphicFrameLocks noChangeAspect="1"/>
          </p:cNvGraphicFramePr>
          <p:nvPr/>
        </p:nvGraphicFramePr>
        <p:xfrm>
          <a:off x="0" y="120650"/>
          <a:ext cx="9144000" cy="29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943" name="Image" r:id="rId3" imgW="7553325" imgH="704850" progId="">
                  <p:embed/>
                </p:oleObj>
              </mc:Choice>
              <mc:Fallback>
                <p:oleObj name="Image" r:id="rId3" imgW="7553325" imgH="70485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6559" r="903"/>
                      <a:stretch>
                        <a:fillRect/>
                      </a:stretch>
                    </p:blipFill>
                    <p:spPr bwMode="auto">
                      <a:xfrm>
                        <a:off x="0" y="120650"/>
                        <a:ext cx="9144000" cy="295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86" name="灯片编号占位符 5"/>
          <p:cNvSpPr txBox="1"/>
          <p:nvPr/>
        </p:nvSpPr>
        <p:spPr>
          <a:xfrm>
            <a:off x="107952" y="49214"/>
            <a:ext cx="2087563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D278751-D899-4D39-AACB-C7527FDC3B9A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587" name="标题 1"/>
          <p:cNvSpPr>
            <a:spLocks noGrp="1"/>
          </p:cNvSpPr>
          <p:nvPr>
            <p:ph type="title"/>
          </p:nvPr>
        </p:nvSpPr>
        <p:spPr>
          <a:xfrm>
            <a:off x="457200" y="546099"/>
            <a:ext cx="8229600" cy="635266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48588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58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0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709613" y="5297488"/>
            <a:ext cx="2133600" cy="303212"/>
          </a:xfr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fld id="{C13746F3-A129-4F8B-BCBD-7CEBD612C3F9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711" name="图片 5" descr="background1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338" name="标题 1"/>
          <p:cNvSpPr>
            <a:spLocks noGrp="1"/>
          </p:cNvSpPr>
          <p:nvPr>
            <p:ph type="title"/>
          </p:nvPr>
        </p:nvSpPr>
        <p:spPr>
          <a:xfrm>
            <a:off x="457200" y="546099"/>
            <a:ext cx="8229600" cy="635266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54339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4" descr="Header WM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712" name="灯片编号占位符 5"/>
          <p:cNvSpPr txBox="1"/>
          <p:nvPr userDrawn="1"/>
        </p:nvSpPr>
        <p:spPr>
          <a:xfrm>
            <a:off x="107952" y="49214"/>
            <a:ext cx="2087563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A746368-22F2-4CE1-BBDB-79170F838213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713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390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04" name="标题 1"/>
          <p:cNvSpPr>
            <a:spLocks noGrp="1"/>
          </p:cNvSpPr>
          <p:nvPr>
            <p:ph type="title"/>
          </p:nvPr>
        </p:nvSpPr>
        <p:spPr>
          <a:xfrm>
            <a:off x="722313" y="3672419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05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06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07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4DA930-E1DC-4141-85F8-C700ADDEBB8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09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0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1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78C5DC5A-2331-4171-8002-1B0A299176E0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F386-9097-438A-824F-981E8E8B24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7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2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9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30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DDD3C521-07BA-4294-8BFC-5C0D5B8FDF41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3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3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5E0-0E72-45C0-B408-2AF559F91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47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EDD81565-D0F0-41D1-903E-40E0738778CD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2D16-D876-4614-9309-FE3874F8A99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CF377711-3629-4DAD-8439-E0560B6BB2E0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4DE4-6CEB-434E-9620-53BDFCC300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40" name="标题 1"/>
          <p:cNvSpPr>
            <a:spLocks noGrp="1"/>
          </p:cNvSpPr>
          <p:nvPr>
            <p:ph type="title"/>
          </p:nvPr>
        </p:nvSpPr>
        <p:spPr>
          <a:xfrm>
            <a:off x="457203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41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42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43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278B8774-4B2A-4AAE-A808-F725AF2E04CC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4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4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F262-6D47-49B5-9157-9BD85EDE594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19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20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10543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2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44062F43-F3FF-4D13-A31D-DC0970594FD8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28788-EEA2-4593-A885-3C689F4F41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15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6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1AC590E2-49AB-44E3-8C36-0D08445AF1E5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CF40-282A-4BCB-BB10-007085F2831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33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3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35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E7AB1051-31EF-44F9-AA2D-865B02C2540B}" type="datetimeFigureOut">
              <a:rPr lang="zh-CN" altLang="en-US"/>
              <a:t>2024-10-15</a:t>
            </a:fld>
            <a:endParaRPr lang="zh-CN" altLang="en-US"/>
          </a:p>
        </p:txBody>
      </p:sp>
      <p:sp>
        <p:nvSpPr>
          <p:cNvPr id="10543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A011D-D701-4132-A7EE-B708846F7E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4857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4857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7D988E0-0923-471B-B752-8C491CAF1381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48580" name="灯片编号占位符 5"/>
          <p:cNvSpPr txBox="1"/>
          <p:nvPr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69193A-965F-43BD-9767-A88894B205C2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w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wmf"/><Relationship Id="rId4" Type="http://schemas.openxmlformats.org/officeDocument/2006/relationships/audio" Target="../media/audio1.wav"/><Relationship Id="rId9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wmf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png"/><Relationship Id="rId11" Type="http://schemas.openxmlformats.org/officeDocument/2006/relationships/image" Target="../media/image28.wmf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9.bin"/><Relationship Id="rId4" Type="http://schemas.openxmlformats.org/officeDocument/2006/relationships/image" Target="../media/image29.png"/><Relationship Id="rId9" Type="http://schemas.openxmlformats.org/officeDocument/2006/relationships/image" Target="../media/image360.png"/><Relationship Id="rId1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audio" Target="../media/audio2.wav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30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image" Target="../media/image47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39.wmf"/><Relationship Id="rId18" Type="http://schemas.openxmlformats.org/officeDocument/2006/relationships/image" Target="../media/image540.png"/><Relationship Id="rId3" Type="http://schemas.openxmlformats.org/officeDocument/2006/relationships/image" Target="../media/image9.wmf"/><Relationship Id="rId21" Type="http://schemas.openxmlformats.org/officeDocument/2006/relationships/image" Target="../media/image57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6" Type="http://schemas.openxmlformats.org/officeDocument/2006/relationships/hyperlink" Target="../&#26426;&#26800;&#35774;&#35745;&#65288;&#20256;&#21160;&#65289;-&#22823;&#20853;ppt/&#24102;&#20256;&#21160;/ylfb.swf" TargetMode="External"/><Relationship Id="rId20" Type="http://schemas.openxmlformats.org/officeDocument/2006/relationships/image" Target="../media/image56.png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image" Target="../media/image40.png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550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7.wmf"/><Relationship Id="rId14" Type="http://schemas.openxmlformats.org/officeDocument/2006/relationships/hyperlink" Target="ylfb.swf" TargetMode="External"/><Relationship Id="rId22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6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0.bin"/><Relationship Id="rId3" Type="http://schemas.openxmlformats.org/officeDocument/2006/relationships/image" Target="../media/image9.wmf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png"/><Relationship Id="rId11" Type="http://schemas.openxmlformats.org/officeDocument/2006/relationships/oleObject" Target="../embeddings/oleObject21.bin"/><Relationship Id="rId5" Type="http://schemas.openxmlformats.org/officeDocument/2006/relationships/image" Target="../media/image56.jpeg"/><Relationship Id="rId15" Type="http://schemas.openxmlformats.org/officeDocument/2006/relationships/image" Target="../media/image610.png"/><Relationship Id="rId10" Type="http://schemas.openxmlformats.org/officeDocument/2006/relationships/image" Target="../media/image680.png"/><Relationship Id="rId4" Type="http://schemas.openxmlformats.org/officeDocument/2006/relationships/image" Target="../media/image55.jpeg"/><Relationship Id="rId9" Type="http://schemas.openxmlformats.org/officeDocument/2006/relationships/image" Target="../media/image670.png"/><Relationship Id="rId14" Type="http://schemas.openxmlformats.org/officeDocument/2006/relationships/image" Target="../media/image5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71.png"/><Relationship Id="rId4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78.png"/><Relationship Id="rId4" Type="http://schemas.openxmlformats.org/officeDocument/2006/relationships/image" Target="../media/image7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image" Target="../media/image7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00.png"/><Relationship Id="rId5" Type="http://schemas.openxmlformats.org/officeDocument/2006/relationships/image" Target="../media/image76.png"/><Relationship Id="rId4" Type="http://schemas.openxmlformats.org/officeDocument/2006/relationships/image" Target="../media/image7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7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0.png"/><Relationship Id="rId7" Type="http://schemas.openxmlformats.org/officeDocument/2006/relationships/image" Target="../media/image86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80.png"/><Relationship Id="rId4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jpeg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标题 3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 eaLnBrk="1" hangingPunct="1"/>
            <a:r>
              <a:rPr lang="zh-CN" altLang="en-US" sz="2400" b="0" smtClean="0">
                <a:solidFill>
                  <a:srgbClr val="C00000"/>
                </a:solidFill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54" name="Rectangle 62"/>
          <p:cNvSpPr>
            <a:spLocks noRot="1" noChangeArrowheads="1"/>
          </p:cNvSpPr>
          <p:nvPr/>
        </p:nvSpPr>
        <p:spPr bwMode="auto">
          <a:xfrm>
            <a:off x="388913" y="1489348"/>
            <a:ext cx="8424936" cy="287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仿宋_GB2312" pitchFamily="49" charset="-122"/>
                <a:cs typeface="微软雅黑" panose="020B0503020204020204" charset="-122"/>
              </a:rPr>
              <a:t>了解带传动的类型、特点和应用场合；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5" name="Rectangle 63"/>
          <p:cNvSpPr>
            <a:spLocks noRot="1" noChangeArrowheads="1"/>
          </p:cNvSpPr>
          <p:nvPr/>
        </p:nvSpPr>
        <p:spPr bwMode="auto">
          <a:xfrm>
            <a:off x="390503" y="1922737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熟悉普通</a:t>
            </a:r>
            <a:r>
              <a:rPr lang="en-US" altLang="zh-CN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V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带的结构及其标准，</a:t>
            </a:r>
            <a:r>
              <a:rPr lang="en-US" altLang="zh-CN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V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带传动的张紧方法和装置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仿宋_GB2312" pitchFamily="49" charset="-122"/>
                <a:cs typeface="微软雅黑" panose="020B0503020204020204" charset="-122"/>
              </a:rPr>
              <a:t>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6" name="Rectangle 62"/>
          <p:cNvSpPr>
            <a:spLocks noRot="1" noChangeArrowheads="1"/>
          </p:cNvSpPr>
          <p:nvPr/>
        </p:nvSpPr>
        <p:spPr bwMode="auto">
          <a:xfrm>
            <a:off x="388913" y="2356125"/>
            <a:ext cx="8424936" cy="287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掌握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带传动的工作原理、受力情况、弹性滑动及打滑等基本理论；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7" name="Rectangle 63"/>
          <p:cNvSpPr>
            <a:spLocks noRot="1" noChangeArrowheads="1"/>
          </p:cNvSpPr>
          <p:nvPr/>
        </p:nvSpPr>
        <p:spPr bwMode="auto">
          <a:xfrm>
            <a:off x="390503" y="2789513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掌握</a:t>
            </a:r>
            <a:r>
              <a:rPr lang="en-US" altLang="zh-CN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V</a:t>
            </a:r>
            <a:r>
              <a:rPr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带传动的失效形式及设计准则；</a:t>
            </a:r>
          </a:p>
        </p:txBody>
      </p:sp>
      <p:sp>
        <p:nvSpPr>
          <p:cNvPr id="7" name="Rectangle 63"/>
          <p:cNvSpPr>
            <a:spLocks noRot="1" noChangeArrowheads="1"/>
          </p:cNvSpPr>
          <p:nvPr/>
        </p:nvSpPr>
        <p:spPr bwMode="auto">
          <a:xfrm>
            <a:off x="390503" y="3222900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熟悉柔韧体摩擦的欧拉公式、带的应力及其变化规律；</a:t>
            </a:r>
          </a:p>
        </p:txBody>
      </p:sp>
      <p:sp>
        <p:nvSpPr>
          <p:cNvPr id="8" name="Rectangle 63"/>
          <p:cNvSpPr>
            <a:spLocks noRot="1" noChangeArrowheads="1"/>
          </p:cNvSpPr>
          <p:nvPr/>
        </p:nvSpPr>
        <p:spPr bwMode="auto">
          <a:xfrm>
            <a:off x="394788" y="3656287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学会</a:t>
            </a:r>
            <a:r>
              <a:rPr lang="en-US" altLang="zh-CN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V</a:t>
            </a:r>
            <a:r>
              <a:rPr lang="zh-CN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带传动的设计方法与步骤。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 flipH="1">
            <a:off x="7591032" y="3361126"/>
            <a:ext cx="293336" cy="723030"/>
          </a:xfrm>
          <a:prstGeom prst="line">
            <a:avLst/>
          </a:prstGeom>
          <a:noFill/>
          <a:ln w="57150" cap="flat" cmpd="sng" algn="ctr">
            <a:solidFill>
              <a:srgbClr val="00FF00"/>
            </a:solidFill>
            <a:prstDash val="solid"/>
          </a:ln>
          <a:effectLst/>
        </p:spPr>
      </p:cxnSp>
      <p:cxnSp>
        <p:nvCxnSpPr>
          <p:cNvPr id="26" name="直接连接符 25"/>
          <p:cNvCxnSpPr/>
          <p:nvPr/>
        </p:nvCxnSpPr>
        <p:spPr>
          <a:xfrm flipH="1">
            <a:off x="6022341" y="3722641"/>
            <a:ext cx="195693" cy="595613"/>
          </a:xfrm>
          <a:prstGeom prst="line">
            <a:avLst/>
          </a:prstGeom>
          <a:noFill/>
          <a:ln w="57150" cap="flat" cmpd="sng" algn="ctr">
            <a:solidFill>
              <a:srgbClr val="00FF00"/>
            </a:solidFill>
            <a:prstDash val="solid"/>
          </a:ln>
          <a:effectLst/>
        </p:spPr>
      </p:cxnSp>
      <p:cxnSp>
        <p:nvCxnSpPr>
          <p:cNvPr id="27" name="直接连接符 26"/>
          <p:cNvCxnSpPr/>
          <p:nvPr/>
        </p:nvCxnSpPr>
        <p:spPr>
          <a:xfrm flipH="1">
            <a:off x="4865788" y="2597463"/>
            <a:ext cx="219799" cy="649790"/>
          </a:xfrm>
          <a:prstGeom prst="line">
            <a:avLst/>
          </a:prstGeom>
          <a:noFill/>
          <a:ln w="57150" cap="flat" cmpd="sng" algn="ctr">
            <a:solidFill>
              <a:srgbClr val="00FF00"/>
            </a:solidFill>
            <a:prstDash val="solid"/>
          </a:ln>
          <a:effectLst/>
        </p:spPr>
      </p:cxnSp>
      <p:cxnSp>
        <p:nvCxnSpPr>
          <p:cNvPr id="28" name="直接连接符 27"/>
          <p:cNvCxnSpPr/>
          <p:nvPr/>
        </p:nvCxnSpPr>
        <p:spPr>
          <a:xfrm flipH="1">
            <a:off x="3031820" y="2833657"/>
            <a:ext cx="230888" cy="632824"/>
          </a:xfrm>
          <a:prstGeom prst="line">
            <a:avLst/>
          </a:prstGeom>
          <a:noFill/>
          <a:ln w="57150" cap="flat" cmpd="sng" algn="ctr">
            <a:solidFill>
              <a:srgbClr val="00FF00"/>
            </a:solidFill>
            <a:prstDash val="solid"/>
          </a:ln>
          <a:effectLst/>
        </p:spPr>
      </p:cxnSp>
      <p:sp>
        <p:nvSpPr>
          <p:cNvPr id="29" name="矩形 28"/>
          <p:cNvSpPr/>
          <p:nvPr/>
        </p:nvSpPr>
        <p:spPr>
          <a:xfrm rot="996789">
            <a:off x="-176660" y="3107908"/>
            <a:ext cx="9507673" cy="168372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849626" y="3438534"/>
            <a:ext cx="1550504" cy="1336641"/>
            <a:chOff x="1248355" y="749317"/>
            <a:chExt cx="1550504" cy="1336641"/>
          </a:xfrm>
        </p:grpSpPr>
        <p:sp>
          <p:nvSpPr>
            <p:cNvPr id="31" name="六边形 30"/>
            <p:cNvSpPr/>
            <p:nvPr/>
          </p:nvSpPr>
          <p:spPr>
            <a:xfrm>
              <a:off x="1248355" y="749317"/>
              <a:ext cx="1550504" cy="1336641"/>
            </a:xfrm>
            <a:prstGeom prst="hexagon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32" name="TextBox 1"/>
            <p:cNvSpPr txBox="1">
              <a:spLocks noChangeArrowheads="1"/>
            </p:cNvSpPr>
            <p:nvPr/>
          </p:nvSpPr>
          <p:spPr bwMode="auto">
            <a:xfrm>
              <a:off x="1330731" y="1063694"/>
              <a:ext cx="138574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、</a:t>
              </a:r>
              <a:endPara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增大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转矩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667530" y="1416886"/>
            <a:ext cx="1550504" cy="1336641"/>
            <a:chOff x="1248355" y="749317"/>
            <a:chExt cx="1550504" cy="1336641"/>
          </a:xfrm>
        </p:grpSpPr>
        <p:sp>
          <p:nvSpPr>
            <p:cNvPr id="34" name="六边形 33"/>
            <p:cNvSpPr/>
            <p:nvPr/>
          </p:nvSpPr>
          <p:spPr>
            <a:xfrm>
              <a:off x="1248355" y="749317"/>
              <a:ext cx="1550504" cy="1336641"/>
            </a:xfrm>
            <a:prstGeom prst="hexagon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35" name="TextBox 1"/>
            <p:cNvSpPr txBox="1">
              <a:spLocks noChangeArrowheads="1"/>
            </p:cNvSpPr>
            <p:nvPr/>
          </p:nvSpPr>
          <p:spPr bwMode="auto">
            <a:xfrm>
              <a:off x="1330731" y="909805"/>
              <a:ext cx="1385749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、</a:t>
              </a:r>
              <a:endPara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分配运动和动力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835862" y="4243211"/>
            <a:ext cx="1550504" cy="1336641"/>
            <a:chOff x="1248355" y="749317"/>
            <a:chExt cx="1550504" cy="1336641"/>
          </a:xfrm>
        </p:grpSpPr>
        <p:sp>
          <p:nvSpPr>
            <p:cNvPr id="37" name="六边形 36"/>
            <p:cNvSpPr/>
            <p:nvPr/>
          </p:nvSpPr>
          <p:spPr>
            <a:xfrm>
              <a:off x="1248355" y="749317"/>
              <a:ext cx="1550504" cy="1336641"/>
            </a:xfrm>
            <a:prstGeom prst="hexagon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38" name="TextBox 1"/>
            <p:cNvSpPr txBox="1">
              <a:spLocks noChangeArrowheads="1"/>
            </p:cNvSpPr>
            <p:nvPr/>
          </p:nvSpPr>
          <p:spPr bwMode="auto">
            <a:xfrm>
              <a:off x="1330731" y="909805"/>
              <a:ext cx="1385749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、</a:t>
              </a:r>
              <a:endPara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改变运动形式</a:t>
              </a:r>
              <a:endPara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432856" y="2258932"/>
            <a:ext cx="1550504" cy="1336641"/>
            <a:chOff x="1248355" y="749317"/>
            <a:chExt cx="1550504" cy="1336641"/>
          </a:xfrm>
        </p:grpSpPr>
        <p:sp>
          <p:nvSpPr>
            <p:cNvPr id="40" name="六边形 39"/>
            <p:cNvSpPr/>
            <p:nvPr/>
          </p:nvSpPr>
          <p:spPr>
            <a:xfrm>
              <a:off x="1248355" y="749317"/>
              <a:ext cx="1550504" cy="1336641"/>
            </a:xfrm>
            <a:prstGeom prst="hexagon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1" name="TextBox 1"/>
            <p:cNvSpPr txBox="1">
              <a:spLocks noChangeArrowheads="1"/>
            </p:cNvSpPr>
            <p:nvPr/>
          </p:nvSpPr>
          <p:spPr bwMode="auto">
            <a:xfrm>
              <a:off x="1330731" y="1063694"/>
              <a:ext cx="138574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5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、</a:t>
              </a:r>
              <a:endPara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其他</a:t>
              </a:r>
            </a:p>
          </p:txBody>
        </p:sp>
      </p:grpSp>
      <p:sp>
        <p:nvSpPr>
          <p:cNvPr id="42" name="椭圆 41"/>
          <p:cNvSpPr/>
          <p:nvPr/>
        </p:nvSpPr>
        <p:spPr>
          <a:xfrm>
            <a:off x="3143664" y="2661607"/>
            <a:ext cx="298764" cy="298764"/>
          </a:xfrm>
          <a:prstGeom prst="ellipse">
            <a:avLst/>
          </a:prstGeom>
          <a:solidFill>
            <a:srgbClr val="FF0000"/>
          </a:solidFill>
          <a:ln w="5715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04447" y="3129301"/>
            <a:ext cx="298764" cy="298764"/>
          </a:xfrm>
          <a:prstGeom prst="ellipse">
            <a:avLst/>
          </a:prstGeom>
          <a:solidFill>
            <a:srgbClr val="FF0000"/>
          </a:solidFill>
          <a:ln w="5715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087602" y="3529417"/>
            <a:ext cx="298764" cy="298764"/>
          </a:xfrm>
          <a:prstGeom prst="ellipse">
            <a:avLst/>
          </a:prstGeom>
          <a:solidFill>
            <a:srgbClr val="FF0000"/>
          </a:solidFill>
          <a:ln w="5715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7447364" y="3931698"/>
            <a:ext cx="298764" cy="298764"/>
          </a:xfrm>
          <a:prstGeom prst="ellipse">
            <a:avLst/>
          </a:prstGeom>
          <a:solidFill>
            <a:srgbClr val="FF0000"/>
          </a:solidFill>
          <a:ln w="5715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H="1">
            <a:off x="1438278" y="1342224"/>
            <a:ext cx="247977" cy="767326"/>
          </a:xfrm>
          <a:prstGeom prst="line">
            <a:avLst/>
          </a:prstGeom>
          <a:noFill/>
          <a:ln w="57150" cap="flat" cmpd="sng" algn="ctr">
            <a:solidFill>
              <a:srgbClr val="00FF00"/>
            </a:solidFill>
            <a:prstDash val="solid"/>
          </a:ln>
          <a:effectLst/>
        </p:spPr>
      </p:cxnSp>
      <p:grpSp>
        <p:nvGrpSpPr>
          <p:cNvPr id="50" name="组合 49"/>
          <p:cNvGrpSpPr/>
          <p:nvPr/>
        </p:nvGrpSpPr>
        <p:grpSpPr>
          <a:xfrm>
            <a:off x="1145509" y="468960"/>
            <a:ext cx="1550504" cy="1336641"/>
            <a:chOff x="1248355" y="749317"/>
            <a:chExt cx="1550504" cy="1336641"/>
          </a:xfrm>
        </p:grpSpPr>
        <p:sp>
          <p:nvSpPr>
            <p:cNvPr id="51" name="六边形 50"/>
            <p:cNvSpPr/>
            <p:nvPr/>
          </p:nvSpPr>
          <p:spPr>
            <a:xfrm>
              <a:off x="1248355" y="749317"/>
              <a:ext cx="1550504" cy="1336641"/>
            </a:xfrm>
            <a:prstGeom prst="hexagon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 w="25400" cap="flat" cmpd="sng" algn="ctr">
              <a:solidFill>
                <a:srgbClr val="FFC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52" name="TextBox 1"/>
            <p:cNvSpPr txBox="1">
              <a:spLocks noChangeArrowheads="1"/>
            </p:cNvSpPr>
            <p:nvPr/>
          </p:nvSpPr>
          <p:spPr bwMode="auto">
            <a:xfrm>
              <a:off x="1353872" y="989357"/>
              <a:ext cx="138574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、</a:t>
              </a:r>
              <a:endPara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速度匹配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3" name="椭圆 52"/>
          <p:cNvSpPr/>
          <p:nvPr/>
        </p:nvSpPr>
        <p:spPr>
          <a:xfrm>
            <a:off x="1222313" y="2109550"/>
            <a:ext cx="298764" cy="298764"/>
          </a:xfrm>
          <a:prstGeom prst="ellipse">
            <a:avLst/>
          </a:prstGeom>
          <a:solidFill>
            <a:srgbClr val="FF0000"/>
          </a:solidFill>
          <a:ln w="5715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4" name="单圆角矩形 5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传动系统的功能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5" name="直角三角形 5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3016689" y="526484"/>
            <a:ext cx="2889900" cy="492443"/>
            <a:chOff x="323528" y="564857"/>
            <a:chExt cx="2889900" cy="492443"/>
          </a:xfrm>
        </p:grpSpPr>
        <p:sp>
          <p:nvSpPr>
            <p:cNvPr id="60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52986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传动系统的功能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1" name="Picture 15" descr="AR1031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0767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5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带传动概述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06-2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797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带传动的组成、特点及应用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23528" y="564857"/>
            <a:ext cx="3456384" cy="492443"/>
            <a:chOff x="323528" y="564857"/>
            <a:chExt cx="3456384" cy="49244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096344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组成、特点和应用</a:t>
              </a:r>
              <a:endParaRPr lang="zh-CN" altLang="en-US" sz="2600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8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41" name="Text Box 22"/>
          <p:cNvSpPr txBox="1">
            <a:spLocks noChangeArrowheads="1"/>
          </p:cNvSpPr>
          <p:nvPr/>
        </p:nvSpPr>
        <p:spPr bwMode="auto">
          <a:xfrm>
            <a:off x="2483768" y="3858404"/>
            <a:ext cx="551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工作前带张紧在两轮上，产生正压力。</a:t>
            </a:r>
          </a:p>
        </p:txBody>
      </p:sp>
      <p:grpSp>
        <p:nvGrpSpPr>
          <p:cNvPr id="42" name="Group 31"/>
          <p:cNvGrpSpPr>
            <a:grpSpLocks/>
          </p:cNvGrpSpPr>
          <p:nvPr/>
        </p:nvGrpSpPr>
        <p:grpSpPr bwMode="auto">
          <a:xfrm>
            <a:off x="3763293" y="4452693"/>
            <a:ext cx="2016126" cy="534988"/>
            <a:chOff x="2259" y="3020"/>
            <a:chExt cx="1270" cy="337"/>
          </a:xfrm>
        </p:grpSpPr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2259" y="3020"/>
              <a:ext cx="698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70000"/>
                </a:lnSpc>
              </a:pPr>
              <a:r>
                <a:rPr kumimoji="1"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ΣF</a:t>
              </a:r>
              <a:r>
                <a:rPr kumimoji="1" lang="en-US" altLang="zh-CN" sz="2400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</a:t>
              </a:r>
            </a:p>
            <a:p>
              <a:pPr algn="ctr" eaLnBrk="0" hangingPunct="0">
                <a:lnSpc>
                  <a:spcPct val="50000"/>
                </a:lnSpc>
              </a:pPr>
              <a:r>
                <a:rPr kumimoji="1"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——→</a:t>
              </a:r>
            </a:p>
          </p:txBody>
        </p:sp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2836" y="3050"/>
              <a:ext cx="6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40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</a:rPr>
                <a:t>带运动</a:t>
              </a:r>
            </a:p>
          </p:txBody>
        </p:sp>
      </p:grpSp>
      <p:grpSp>
        <p:nvGrpSpPr>
          <p:cNvPr id="45" name="Group 32"/>
          <p:cNvGrpSpPr>
            <a:grpSpLocks/>
          </p:cNvGrpSpPr>
          <p:nvPr/>
        </p:nvGrpSpPr>
        <p:grpSpPr bwMode="auto">
          <a:xfrm>
            <a:off x="5652431" y="4452694"/>
            <a:ext cx="3024192" cy="534988"/>
            <a:chOff x="3908" y="3020"/>
            <a:chExt cx="1905" cy="337"/>
          </a:xfrm>
        </p:grpSpPr>
        <p:sp>
          <p:nvSpPr>
            <p:cNvPr id="46" name="Text Box 27"/>
            <p:cNvSpPr txBox="1">
              <a:spLocks noChangeArrowheads="1"/>
            </p:cNvSpPr>
            <p:nvPr/>
          </p:nvSpPr>
          <p:spPr bwMode="auto">
            <a:xfrm>
              <a:off x="3908" y="3020"/>
              <a:ext cx="698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70000"/>
                </a:lnSpc>
              </a:pPr>
              <a:r>
                <a:rPr kumimoji="1"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ΣF</a:t>
              </a:r>
              <a:r>
                <a:rPr kumimoji="1" lang="en-US" altLang="zh-CN" sz="2400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</a:t>
              </a:r>
            </a:p>
            <a:p>
              <a:pPr algn="ctr" eaLnBrk="0" hangingPunct="0">
                <a:lnSpc>
                  <a:spcPct val="50000"/>
                </a:lnSpc>
              </a:pPr>
              <a:r>
                <a:rPr kumimoji="1"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——→</a:t>
              </a:r>
            </a:p>
          </p:txBody>
        </p:sp>
        <p:sp>
          <p:nvSpPr>
            <p:cNvPr id="47" name="Text Box 28"/>
            <p:cNvSpPr txBox="1">
              <a:spLocks noChangeArrowheads="1"/>
            </p:cNvSpPr>
            <p:nvPr/>
          </p:nvSpPr>
          <p:spPr bwMode="auto">
            <a:xfrm>
              <a:off x="4545" y="3041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4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</a:rPr>
                <a:t>从动轮转动。</a:t>
              </a:r>
            </a:p>
          </p:txBody>
        </p:sp>
      </p:grpSp>
      <p:sp>
        <p:nvSpPr>
          <p:cNvPr id="48" name="Rectangle 30"/>
          <p:cNvSpPr>
            <a:spLocks noChangeArrowheads="1"/>
          </p:cNvSpPr>
          <p:nvPr/>
        </p:nvSpPr>
        <p:spPr bwMode="auto">
          <a:xfrm>
            <a:off x="2483768" y="4482851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主动轮转</a:t>
            </a:r>
          </a:p>
        </p:txBody>
      </p:sp>
      <p:sp>
        <p:nvSpPr>
          <p:cNvPr id="49" name="Text Box 33"/>
          <p:cNvSpPr txBox="1">
            <a:spLocks noChangeArrowheads="1"/>
          </p:cNvSpPr>
          <p:nvPr/>
        </p:nvSpPr>
        <p:spPr bwMode="auto">
          <a:xfrm>
            <a:off x="2568576" y="5085698"/>
            <a:ext cx="61080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eaLnBrk="0" hangingPunct="0"/>
            <a:r>
              <a:rPr kumimoji="1" lang="zh-CN" altLang="en-US" sz="24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带传动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是以带作为中间挠性件的</a:t>
            </a:r>
            <a:r>
              <a:rPr kumimoji="1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摩擦传动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0" name="Picture 35" descr="Untitled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98151"/>
            <a:ext cx="4656138" cy="204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Group 21">
            <a:extLst>
              <a:ext uri="{FF2B5EF4-FFF2-40B4-BE49-F238E27FC236}">
                <a16:creationId xmlns:a16="http://schemas.microsoft.com/office/drawing/2014/main" xmlns="" id="{A26A9A23-C2DF-4720-A10C-1E79587100E2}"/>
              </a:ext>
            </a:extLst>
          </p:cNvPr>
          <p:cNvGrpSpPr>
            <a:grpSpLocks/>
          </p:cNvGrpSpPr>
          <p:nvPr/>
        </p:nvGrpSpPr>
        <p:grpSpPr bwMode="auto">
          <a:xfrm>
            <a:off x="382265" y="3448310"/>
            <a:ext cx="2444614" cy="2124075"/>
            <a:chOff x="415" y="2266"/>
            <a:chExt cx="2496" cy="1338"/>
          </a:xfrm>
        </p:grpSpPr>
        <p:sp>
          <p:nvSpPr>
            <p:cNvPr id="52" name="Text Box 6">
              <a:extLst>
                <a:ext uri="{FF2B5EF4-FFF2-40B4-BE49-F238E27FC236}">
                  <a16:creationId xmlns:a16="http://schemas.microsoft.com/office/drawing/2014/main" xmlns="" id="{63C1247D-E4F2-45AC-B428-053C9D01F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" y="2266"/>
              <a:ext cx="2496" cy="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组成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 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主动轮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    从动轮 2  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环形带 3</a:t>
              </a:r>
              <a:endPara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AutoShape 7">
              <a:extLst>
                <a:ext uri="{FF2B5EF4-FFF2-40B4-BE49-F238E27FC236}">
                  <a16:creationId xmlns:a16="http://schemas.microsoft.com/office/drawing/2014/main" xmlns="" id="{0E2C13CE-A6FE-4BB1-AA3A-F33772EA0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" y="2682"/>
              <a:ext cx="192" cy="855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1" u="none" strike="noStrike" kern="0" cap="none" spc="0" normalizeH="0" baseline="0" noProof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076056" y="694790"/>
            <a:ext cx="3849524" cy="2995013"/>
            <a:chOff x="5076056" y="694790"/>
            <a:chExt cx="3849524" cy="299501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2360" y="694790"/>
              <a:ext cx="1113220" cy="1127677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6216" y="694790"/>
              <a:ext cx="944256" cy="100651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6056" y="722506"/>
              <a:ext cx="1078212" cy="79068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39442" y="2252144"/>
              <a:ext cx="1346452" cy="109205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08304" y="2183173"/>
              <a:ext cx="1136533" cy="1280601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345833" y="1780165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+mn-ea"/>
                  <a:ea typeface="+mn-ea"/>
                </a:rPr>
                <a:t>平带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6716474" y="1780165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latin typeface="+mn-ea"/>
                  <a:ea typeface="+mn-ea"/>
                </a:rPr>
                <a:t>V</a:t>
              </a:r>
              <a:r>
                <a:rPr lang="zh-CN" altLang="en-US" sz="1400" dirty="0" smtClean="0">
                  <a:latin typeface="+mn-ea"/>
                  <a:ea typeface="+mn-ea"/>
                </a:rPr>
                <a:t>带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30" name="文本框 229"/>
            <p:cNvSpPr txBox="1"/>
            <p:nvPr/>
          </p:nvSpPr>
          <p:spPr>
            <a:xfrm>
              <a:off x="8087116" y="1777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+mn-ea"/>
                  <a:ea typeface="+mn-ea"/>
                </a:rPr>
                <a:t>多楔带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31" name="文本框 230"/>
            <p:cNvSpPr txBox="1"/>
            <p:nvPr/>
          </p:nvSpPr>
          <p:spPr>
            <a:xfrm>
              <a:off x="5607149" y="3382026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+mn-ea"/>
                  <a:ea typeface="+mn-ea"/>
                </a:rPr>
                <a:t>同步齿形带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7614908" y="338202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+mn-ea"/>
                  <a:ea typeface="+mn-ea"/>
                </a:rPr>
                <a:t>圆带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17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40"/>
            </p:par>
          </p:childTnLst>
        </p:cTn>
      </p:par>
    </p:tnLst>
    <p:bldLst>
      <p:bldP spid="41" grpId="0" autoUpdateAnimBg="0"/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79512" y="580846"/>
            <a:ext cx="139012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79512" y="1212790"/>
            <a:ext cx="89644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）带有弹性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缓冲吸振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、传动平稳、无噪音；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弹性滑动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不准确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9512" y="1754267"/>
            <a:ext cx="89648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）摩擦传动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过载保护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磨损大、</a:t>
            </a:r>
            <a:r>
              <a:rPr kumimoji="1" lang="en-US" altLang="zh-CN" sz="220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η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低、寿命低，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压轴力</a:t>
            </a:r>
            <a:r>
              <a:rPr kumimoji="1"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79512" y="2295744"/>
            <a:ext cx="864096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）中间挠性件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适于</a:t>
            </a: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远距离传动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；结构尺寸大，需张紧装置。</a:t>
            </a:r>
            <a:endParaRPr kumimoji="1"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179512" y="2837221"/>
            <a:ext cx="51459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）结构简单，制造安装方便，成本低。</a:t>
            </a: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xmlns="" id="{330B43A4-D46C-4AC9-819F-576C40DCB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3541292"/>
            <a:ext cx="5328591" cy="202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  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速  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＝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 ~ 25 m/s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传动比  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＝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3（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平带）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＜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7（V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带）</a:t>
            </a:r>
          </a:p>
          <a:p>
            <a:pPr>
              <a:lnSpc>
                <a:spcPct val="10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功    率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一般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≤ 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500 kW</a:t>
            </a:r>
          </a:p>
          <a:p>
            <a:pPr>
              <a:lnSpc>
                <a:spcPct val="10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传动效率  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0.90~0.95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179512" y="3469284"/>
            <a:ext cx="139012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  <p:sp>
        <p:nvSpPr>
          <p:cNvPr id="30" name="单圆角矩形 29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带传动的组成、特点及应用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1" name="直角三角形 30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Box 62">
            <a:extLst>
              <a:ext uri="{FF2B5EF4-FFF2-40B4-BE49-F238E27FC236}">
                <a16:creationId xmlns:a16="http://schemas.microsoft.com/office/drawing/2014/main" xmlns="" id="{B64A9795-8390-4010-9811-090F29023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65" y="3160654"/>
            <a:ext cx="15848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265113" indent="-265113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kumimoji="0" b="1" i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265113" marR="0" lvl="0" indent="-265113" defTabSz="914400" eaLnBrk="0" fontAlgn="auto" latinLnBrk="0" hangingPunct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带：</a:t>
            </a:r>
          </a:p>
        </p:txBody>
      </p:sp>
      <p:sp>
        <p:nvSpPr>
          <p:cNvPr id="80" name="Text Box 72">
            <a:extLst>
              <a:ext uri="{FF2B5EF4-FFF2-40B4-BE49-F238E27FC236}">
                <a16:creationId xmlns:a16="http://schemas.microsoft.com/office/drawing/2014/main" xmlns="" id="{AEA465B4-7345-42C5-9A01-9066C081D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345332"/>
            <a:ext cx="15848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marL="265113" indent="-265113" eaLnBrk="0" hangingPunct="0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b="1" i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平带</a:t>
            </a:r>
            <a:r>
              <a:rPr kumimoji="0" lang="zh-CN" altLang="en-US" i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endParaRPr kumimoji="0" lang="en-US" altLang="zh-CN" sz="1600" baseline="-2500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81" name="Object 63">
            <a:extLst>
              <a:ext uri="{FF2B5EF4-FFF2-40B4-BE49-F238E27FC236}">
                <a16:creationId xmlns:a16="http://schemas.microsoft.com/office/drawing/2014/main" xmlns="" id="{CEABFFDE-7AC7-4921-9C26-B39DE9C53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649019"/>
              </p:ext>
            </p:extLst>
          </p:nvPr>
        </p:nvGraphicFramePr>
        <p:xfrm>
          <a:off x="322842" y="2117333"/>
          <a:ext cx="1944902" cy="49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408" name="Equation" r:id="rId5" imgW="952200" imgH="241200" progId="Equation.DSMT4">
                  <p:embed/>
                </p:oleObj>
              </mc:Choice>
              <mc:Fallback>
                <p:oleObj name="Equation" r:id="rId5" imgW="952200" imgH="2412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42" y="2117333"/>
                        <a:ext cx="1944902" cy="492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8">
            <a:extLst>
              <a:ext uri="{FF2B5EF4-FFF2-40B4-BE49-F238E27FC236}">
                <a16:creationId xmlns:a16="http://schemas.microsoft.com/office/drawing/2014/main" xmlns="" id="{F2E08A67-B9D5-4DFE-A740-D5FF93190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371615"/>
            <a:ext cx="5040560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40000"/>
              </a:lnSpc>
              <a:spcBef>
                <a:spcPts val="0"/>
              </a:spcBef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楔形增压原理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F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f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并非本身的 </a:t>
            </a:r>
            <a:r>
              <a:rPr lang="en-US" altLang="zh-CN" sz="2400" b="1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f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f′ </a:t>
            </a:r>
            <a:r>
              <a:rPr lang="en-US" altLang="zh-CN" sz="2400" b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&gt;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 f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是工作面所受的正压力↑之故  </a:t>
            </a:r>
            <a:endParaRPr lang="en-US" altLang="zh-CN" sz="2400" dirty="0">
              <a:solidFill>
                <a:srgbClr val="000000"/>
              </a:solidFill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122" name="Text Box 7" descr="大网格">
            <a:extLst>
              <a:ext uri="{FF2B5EF4-FFF2-40B4-BE49-F238E27FC236}">
                <a16:creationId xmlns:a16="http://schemas.microsoft.com/office/drawing/2014/main" xmlns="" id="{48A4F77F-0AE0-4202-A0D8-EAB9E9383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81" y="3487505"/>
            <a:ext cx="3260405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结论：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在同样大的张紧力下，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带传递的摩擦力较大，所以能传递较大的功率。</a:t>
            </a: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 rotWithShape="1">
          <a:blip r:embed="rId7"/>
          <a:srcRect l="33805"/>
          <a:stretch/>
        </p:blipFill>
        <p:spPr>
          <a:xfrm>
            <a:off x="4623963" y="551207"/>
            <a:ext cx="4412533" cy="2738341"/>
          </a:xfrm>
          <a:prstGeom prst="rect">
            <a:avLst/>
          </a:prstGeom>
        </p:spPr>
      </p:pic>
      <p:sp>
        <p:nvSpPr>
          <p:cNvPr id="128" name="单圆角矩形 12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带传动的楔形增压原理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29" name="直角三角形 128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6" name="图片 125"/>
          <p:cNvPicPr>
            <a:picLocks noChangeAspect="1"/>
          </p:cNvPicPr>
          <p:nvPr/>
        </p:nvPicPr>
        <p:blipFill rotWithShape="1">
          <a:blip r:embed="rId7"/>
          <a:srcRect r="70517"/>
          <a:stretch/>
        </p:blipFill>
        <p:spPr>
          <a:xfrm>
            <a:off x="2514609" y="551207"/>
            <a:ext cx="1965339" cy="2738341"/>
          </a:xfrm>
          <a:prstGeom prst="rect">
            <a:avLst/>
          </a:prstGeom>
        </p:spPr>
      </p:pic>
      <p:graphicFrame>
        <p:nvGraphicFramePr>
          <p:cNvPr id="82" name="Object 63">
            <a:extLst>
              <a:ext uri="{FF2B5EF4-FFF2-40B4-BE49-F238E27FC236}">
                <a16:creationId xmlns:a16="http://schemas.microsoft.com/office/drawing/2014/main" xmlns="" id="{2C6FDEC7-E3BB-4B61-818C-54071C321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285775"/>
              </p:ext>
            </p:extLst>
          </p:nvPr>
        </p:nvGraphicFramePr>
        <p:xfrm>
          <a:off x="1475656" y="2943227"/>
          <a:ext cx="2444298" cy="929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409" name="Equation" r:id="rId8" imgW="1168200" imgH="444240" progId="Equation.DSMT4">
                  <p:embed/>
                </p:oleObj>
              </mc:Choice>
              <mc:Fallback>
                <p:oleObj name="Equation" r:id="rId8" imgW="1168200" imgH="4442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943227"/>
                        <a:ext cx="2444298" cy="929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" name="组合 122">
            <a:extLst>
              <a:ext uri="{FF2B5EF4-FFF2-40B4-BE49-F238E27FC236}">
                <a16:creationId xmlns:a16="http://schemas.microsoft.com/office/drawing/2014/main" xmlns="" id="{DC252C47-5DE0-4D9E-85AB-ED50AB0E0027}"/>
              </a:ext>
            </a:extLst>
          </p:cNvPr>
          <p:cNvGrpSpPr/>
          <p:nvPr/>
        </p:nvGrpSpPr>
        <p:grpSpPr>
          <a:xfrm>
            <a:off x="3107703" y="3163884"/>
            <a:ext cx="2252204" cy="1160884"/>
            <a:chOff x="2302092" y="4474352"/>
            <a:chExt cx="2252204" cy="1160884"/>
          </a:xfrm>
        </p:grpSpPr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xmlns="" id="{780E3508-BD42-4757-9C08-502BCB234ED6}"/>
                </a:ext>
              </a:extLst>
            </p:cNvPr>
            <p:cNvSpPr txBox="1"/>
            <p:nvPr/>
          </p:nvSpPr>
          <p:spPr>
            <a:xfrm>
              <a:off x="2398237" y="5204349"/>
              <a:ext cx="2156059" cy="430887"/>
            </a:xfrm>
            <a:prstGeom prst="rect">
              <a:avLst/>
            </a:prstGeom>
            <a:solidFill>
              <a:srgbClr val="FFFFCC"/>
            </a:solidFill>
            <a:ln>
              <a:solidFill>
                <a:srgbClr val="FFFFCC"/>
              </a:solidFill>
            </a:ln>
          </p:spPr>
          <p:txBody>
            <a:bodyPr wrap="square" rtlCol="0">
              <a:spAutoFit/>
            </a:bodyPr>
            <a:lstStyle/>
            <a:p>
              <a:pPr algn="ctr" eaLnBrk="0" hangingPunct="0"/>
              <a:r>
                <a:rPr kumimoji="1" lang="zh-CN" altLang="en-US" sz="2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当量摩擦系数</a:t>
              </a: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xmlns="" id="{A552FE0D-BE1B-47C1-B50C-6654CD468E73}"/>
                </a:ext>
              </a:extLst>
            </p:cNvPr>
            <p:cNvSpPr/>
            <p:nvPr/>
          </p:nvSpPr>
          <p:spPr bwMode="auto">
            <a:xfrm>
              <a:off x="2302092" y="4474352"/>
              <a:ext cx="486258" cy="528067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kumimoji="1" lang="zh-CN" altLang="en-US" sz="2400" i="1">
                <a:solidFill>
                  <a:srgbClr val="3366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23528" y="564857"/>
            <a:ext cx="3456384" cy="492443"/>
            <a:chOff x="323528" y="564857"/>
            <a:chExt cx="3456384" cy="492443"/>
          </a:xfrm>
        </p:grpSpPr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096344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26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V</a:t>
              </a:r>
              <a:r>
                <a:rPr lang="zh-CN" altLang="en-US" sz="26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带楔形增压原理</a:t>
              </a:r>
              <a:endParaRPr lang="zh-CN" altLang="en-US" sz="2600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7" name="Picture 15" descr="AR1031"/>
            <p:cNvPicPr>
              <a:picLocks noChangeAspect="1" noChangeArrowheads="1"/>
            </p:cNvPicPr>
            <p:nvPr/>
          </p:nvPicPr>
          <p:blipFill>
            <a:blip r:embed="rId10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2915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utoUpdateAnimBg="0"/>
      <p:bldP spid="83" grpId="0"/>
      <p:bldP spid="1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普通</a:t>
            </a:r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带的组成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Group 30">
            <a:extLst>
              <a:ext uri="{FF2B5EF4-FFF2-40B4-BE49-F238E27FC236}">
                <a16:creationId xmlns:a16="http://schemas.microsoft.com/office/drawing/2014/main" xmlns="" id="{498F0703-00C2-4459-9FA0-294AC25CA76C}"/>
              </a:ext>
            </a:extLst>
          </p:cNvPr>
          <p:cNvGrpSpPr>
            <a:grpSpLocks/>
          </p:cNvGrpSpPr>
          <p:nvPr/>
        </p:nvGrpSpPr>
        <p:grpSpPr bwMode="auto">
          <a:xfrm>
            <a:off x="5762739" y="535220"/>
            <a:ext cx="3154362" cy="3098800"/>
            <a:chOff x="2008" y="2368"/>
            <a:chExt cx="1987" cy="1952"/>
          </a:xfrm>
        </p:grpSpPr>
        <p:sp>
          <p:nvSpPr>
            <p:cNvPr id="44" name="AutoShape 11" descr="轮廓式菱形">
              <a:extLst>
                <a:ext uri="{FF2B5EF4-FFF2-40B4-BE49-F238E27FC236}">
                  <a16:creationId xmlns:a16="http://schemas.microsoft.com/office/drawing/2014/main" xmlns="" id="{422B6139-CD5F-43C3-B321-A62B2B8E7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0" y="3127"/>
              <a:ext cx="1161" cy="7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2 w 21600"/>
                <a:gd name="T13" fmla="*/ 4507 h 21600"/>
                <a:gd name="T14" fmla="*/ 17098 w 21600"/>
                <a:gd name="T15" fmla="*/ 1709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xmlns="" id="{B7B33348-CBD3-402B-9A6E-BD30FDF9B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8" y="3401"/>
              <a:ext cx="16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6" name="Line 13">
              <a:extLst>
                <a:ext uri="{FF2B5EF4-FFF2-40B4-BE49-F238E27FC236}">
                  <a16:creationId xmlns:a16="http://schemas.microsoft.com/office/drawing/2014/main" xmlns="" id="{49DFFB8C-22BD-4CD1-B66B-08FB09722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" y="2907"/>
              <a:ext cx="0" cy="114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xmlns="" id="{4D0D0A5B-25D2-4A80-925C-129ACD309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4" y="3118"/>
              <a:ext cx="52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xmlns="" id="{B2DC264D-744C-43EA-9A86-AFB57C15B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3913"/>
              <a:ext cx="8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xmlns="" id="{3AAB1089-5C52-4B62-A1B2-9FB33BAA8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312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xmlns="" id="{2C21429E-7B2B-4448-B2BA-9E1D7475D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3685" y="3374"/>
              <a:ext cx="310" cy="2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51" name="Line 18">
              <a:extLst>
                <a:ext uri="{FF2B5EF4-FFF2-40B4-BE49-F238E27FC236}">
                  <a16:creationId xmlns:a16="http://schemas.microsoft.com/office/drawing/2014/main" xmlns="" id="{4ED08FE7-46FF-4DBF-AD83-E9B82CA9A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3895"/>
              <a:ext cx="146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2" name="Line 19">
              <a:extLst>
                <a:ext uri="{FF2B5EF4-FFF2-40B4-BE49-F238E27FC236}">
                  <a16:creationId xmlns:a16="http://schemas.microsoft.com/office/drawing/2014/main" xmlns="" id="{FCCECDC9-3DF5-42E0-B5A8-2F73AEC71A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0" y="3895"/>
              <a:ext cx="138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xmlns="" id="{9ADBCF19-D68B-44F2-9A6E-7931C13EA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4224"/>
              <a:ext cx="375" cy="19"/>
            </a:xfrm>
            <a:custGeom>
              <a:avLst/>
              <a:gdLst>
                <a:gd name="T0" fmla="*/ 0 w 375"/>
                <a:gd name="T1" fmla="*/ 0 h 19"/>
                <a:gd name="T2" fmla="*/ 183 w 375"/>
                <a:gd name="T3" fmla="*/ 18 h 19"/>
                <a:gd name="T4" fmla="*/ 375 w 375"/>
                <a:gd name="T5" fmla="*/ 9 h 19"/>
                <a:gd name="T6" fmla="*/ 0 60000 65536"/>
                <a:gd name="T7" fmla="*/ 0 60000 65536"/>
                <a:gd name="T8" fmla="*/ 0 60000 65536"/>
                <a:gd name="T9" fmla="*/ 0 w 375"/>
                <a:gd name="T10" fmla="*/ 0 h 19"/>
                <a:gd name="T11" fmla="*/ 375 w 375"/>
                <a:gd name="T12" fmla="*/ 19 h 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5" h="19">
                  <a:moveTo>
                    <a:pt x="0" y="0"/>
                  </a:moveTo>
                  <a:cubicBezTo>
                    <a:pt x="60" y="8"/>
                    <a:pt x="121" y="17"/>
                    <a:pt x="183" y="18"/>
                  </a:cubicBezTo>
                  <a:cubicBezTo>
                    <a:pt x="245" y="19"/>
                    <a:pt x="310" y="14"/>
                    <a:pt x="375" y="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4" name="Text Box 21">
              <a:extLst>
                <a:ext uri="{FF2B5EF4-FFF2-40B4-BE49-F238E27FC236}">
                  <a16:creationId xmlns:a16="http://schemas.microsoft.com/office/drawing/2014/main" xmlns="" id="{DE9DFDE7-AAE3-4316-97B0-93645ECC3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4" y="4033"/>
              <a:ext cx="3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θ</a:t>
              </a:r>
            </a:p>
          </p:txBody>
        </p:sp>
        <p:sp>
          <p:nvSpPr>
            <p:cNvPr id="55" name="Line 22">
              <a:extLst>
                <a:ext uri="{FF2B5EF4-FFF2-40B4-BE49-F238E27FC236}">
                  <a16:creationId xmlns:a16="http://schemas.microsoft.com/office/drawing/2014/main" xmlns="" id="{FB370214-58AB-44E1-8485-7DBF4422E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1" y="2578"/>
              <a:ext cx="0" cy="5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6" name="Line 23">
              <a:extLst>
                <a:ext uri="{FF2B5EF4-FFF2-40B4-BE49-F238E27FC236}">
                  <a16:creationId xmlns:a16="http://schemas.microsoft.com/office/drawing/2014/main" xmlns="" id="{A18D90D4-D245-4B47-8465-EC98C7A17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2" y="2542"/>
              <a:ext cx="0" cy="5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7" name="Line 24">
              <a:extLst>
                <a:ext uri="{FF2B5EF4-FFF2-40B4-BE49-F238E27FC236}">
                  <a16:creationId xmlns:a16="http://schemas.microsoft.com/office/drawing/2014/main" xmlns="" id="{A8071AD8-C187-4111-9718-D58BC05EEC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1" y="2697"/>
              <a:ext cx="0" cy="7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xmlns="" id="{0C005366-837E-44CC-99EC-276DC1206C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9" y="2697"/>
              <a:ext cx="0" cy="6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xmlns="" id="{7767D7F7-40EB-48C6-8928-E9FC41C9C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0" y="2843"/>
              <a:ext cx="9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0" name="Line 27">
              <a:extLst>
                <a:ext uri="{FF2B5EF4-FFF2-40B4-BE49-F238E27FC236}">
                  <a16:creationId xmlns:a16="http://schemas.microsoft.com/office/drawing/2014/main" xmlns="" id="{F7D924D2-6B70-4D60-A19F-0255C3BDA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606"/>
              <a:ext cx="11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1" name="Text Box 28">
              <a:extLst>
                <a:ext uri="{FF2B5EF4-FFF2-40B4-BE49-F238E27FC236}">
                  <a16:creationId xmlns:a16="http://schemas.microsoft.com/office/drawing/2014/main" xmlns="" id="{DE59EDA0-B02D-40C6-A6D6-E6F779198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3" y="2368"/>
              <a:ext cx="3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2" name="Text Box 29">
              <a:extLst>
                <a:ext uri="{FF2B5EF4-FFF2-40B4-BE49-F238E27FC236}">
                  <a16:creationId xmlns:a16="http://schemas.microsoft.com/office/drawing/2014/main" xmlns="" id="{2C842D3F-FEE2-4797-9762-E6C14D9C5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2668"/>
              <a:ext cx="347" cy="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000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63" name="Group 33">
            <a:extLst>
              <a:ext uri="{FF2B5EF4-FFF2-40B4-BE49-F238E27FC236}">
                <a16:creationId xmlns:a16="http://schemas.microsoft.com/office/drawing/2014/main" xmlns="" id="{5798DF32-4B15-4901-B8B9-AD99668E284C}"/>
              </a:ext>
            </a:extLst>
          </p:cNvPr>
          <p:cNvGrpSpPr>
            <a:grpSpLocks/>
          </p:cNvGrpSpPr>
          <p:nvPr/>
        </p:nvGrpSpPr>
        <p:grpSpPr bwMode="auto">
          <a:xfrm>
            <a:off x="7318087" y="899551"/>
            <a:ext cx="1624013" cy="1268413"/>
            <a:chOff x="4343" y="2080"/>
            <a:chExt cx="1023" cy="799"/>
          </a:xfrm>
        </p:grpSpPr>
        <p:sp>
          <p:nvSpPr>
            <p:cNvPr id="64" name="Text Box 31">
              <a:extLst>
                <a:ext uri="{FF2B5EF4-FFF2-40B4-BE49-F238E27FC236}">
                  <a16:creationId xmlns:a16="http://schemas.microsoft.com/office/drawing/2014/main" xmlns="" id="{07396739-6F8F-467C-B669-2DDE99756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4" y="2080"/>
              <a:ext cx="5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节线</a:t>
              </a:r>
            </a:p>
          </p:txBody>
        </p:sp>
        <p:sp>
          <p:nvSpPr>
            <p:cNvPr id="65" name="Line 32">
              <a:extLst>
                <a:ext uri="{FF2B5EF4-FFF2-40B4-BE49-F238E27FC236}">
                  <a16:creationId xmlns:a16="http://schemas.microsoft.com/office/drawing/2014/main" xmlns="" id="{86E30817-82ED-4845-A42F-D307E16B1C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" y="2199"/>
              <a:ext cx="606" cy="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xmlns="" id="{A734D244-4E6F-41A8-AF38-B2ECC0865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87" y="1204326"/>
            <a:ext cx="5070498" cy="2085222"/>
          </a:xfrm>
          <a:prstGeom prst="rect">
            <a:avLst/>
          </a:prstGeom>
        </p:spPr>
      </p:pic>
      <p:sp>
        <p:nvSpPr>
          <p:cNvPr id="72" name="Text Box 36"/>
          <p:cNvSpPr txBox="1">
            <a:spLocks noChangeArrowheads="1"/>
          </p:cNvSpPr>
          <p:nvPr/>
        </p:nvSpPr>
        <p:spPr bwMode="auto">
          <a:xfrm>
            <a:off x="251520" y="3405701"/>
            <a:ext cx="293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基准长度</a:t>
            </a:r>
            <a:r>
              <a:rPr kumimoji="1"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kumimoji="1" lang="en-US" altLang="zh-CN" sz="24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kumimoji="1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为标准值</a:t>
            </a:r>
          </a:p>
        </p:txBody>
      </p:sp>
      <p:sp>
        <p:nvSpPr>
          <p:cNvPr id="73" name="Text Box 36"/>
          <p:cNvSpPr txBox="1">
            <a:spLocks noChangeArrowheads="1"/>
          </p:cNvSpPr>
          <p:nvPr/>
        </p:nvSpPr>
        <p:spPr bwMode="auto">
          <a:xfrm>
            <a:off x="3844761" y="3403947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楔角</a:t>
            </a:r>
            <a:r>
              <a:rPr kumimoji="1" lang="el-GR" altLang="zh-CN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</a:t>
            </a:r>
            <a:r>
              <a:rPr kumimoji="1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en-US" altLang="zh-CN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40°</a:t>
            </a:r>
            <a:endParaRPr kumimoji="1" lang="zh-CN" altLang="en-US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95536" y="600865"/>
            <a:ext cx="2952328" cy="492443"/>
            <a:chOff x="323528" y="564857"/>
            <a:chExt cx="2952328" cy="492443"/>
          </a:xfrm>
        </p:grpSpPr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59228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普通</a:t>
              </a:r>
              <a:r>
                <a:rPr lang="en-US" altLang="zh-CN" sz="26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V</a:t>
              </a:r>
              <a:r>
                <a:rPr lang="zh-CN" altLang="en-US" sz="26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带的组成</a:t>
              </a:r>
              <a:endParaRPr lang="zh-CN" altLang="en-US" sz="2600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6" name="Picture 15" descr="AR1031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42" name="Text Box 95">
            <a:extLst>
              <a:ext uri="{FF2B5EF4-FFF2-40B4-BE49-F238E27FC236}">
                <a16:creationId xmlns:a16="http://schemas.microsoft.com/office/drawing/2014/main" xmlns="" id="{BD701C87-059C-48FE-9CCB-29C52242A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039420"/>
            <a:ext cx="1508476" cy="519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>
              <a:defRPr lang="en-US"/>
            </a:defPPr>
            <a:lvl1pPr eaLnBrk="1" hangingPunct="1">
              <a:spcBef>
                <a:spcPct val="50000"/>
              </a:spcBef>
              <a:defRPr kumimoji="0" sz="2800" b="1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带型号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5696" y="4074573"/>
            <a:ext cx="7164800" cy="799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19">
                <a:extLst>
                  <a:ext uri="{FF2B5EF4-FFF2-40B4-BE49-F238E27FC236}">
                    <a16:creationId xmlns:a16="http://schemas.microsoft.com/office/drawing/2014/main" xmlns="" id="{3C335260-20B5-4384-A47E-DC642B7C9F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708" y="5017740"/>
                <a:ext cx="84137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457200" indent="-457200">
                  <a:spcBef>
                    <a:spcPct val="50000"/>
                  </a:spcBef>
                  <a:buFont typeface="Times New Roman" panose="02020603050405020304" pitchFamily="18" charset="0"/>
                  <a:buChar char="※"/>
                  <a:defRPr/>
                </a:pPr>
                <a:r>
                  <a:rPr kumimoji="1" lang="zh-CN" altLang="en-US" sz="2400" b="1" dirty="0">
                    <a:solidFill>
                      <a:srgbClr val="FF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思考</a:t>
                </a:r>
                <a:r>
                  <a:rPr kumimoji="1" lang="en-US" altLang="zh-CN" sz="2400" b="1" dirty="0">
                    <a:solidFill>
                      <a:srgbClr val="FF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: 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</a:rPr>
                  <a:t>V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</a:rPr>
                  <a:t>带</a:t>
                </a:r>
                <a:r>
                  <a:rPr kumimoji="1" lang="zh-CN" altLang="zh-CN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轮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槽槽形</a:t>
                </a:r>
                <a:r>
                  <a:rPr kumimoji="1" lang="zh-CN" altLang="en-US" sz="2400" b="1" dirty="0" smtClean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角</a:t>
                </a:r>
                <a14:m>
                  <m:oMath xmlns:m="http://schemas.openxmlformats.org/officeDocument/2006/math">
                    <m:r>
                      <a:rPr kumimoji="1" lang="zh-CN" alt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Symbol" pitchFamily="18" charset="2"/>
                      </a:rPr>
                      <m:t>𝝋</m:t>
                    </m:r>
                  </m:oMath>
                </a14:m>
                <a:r>
                  <a:rPr kumimoji="1" lang="zh-CN" altLang="en-US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与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</a:rPr>
                  <a:t>V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</a:rPr>
                  <a:t>带</a:t>
                </a:r>
                <a:r>
                  <a:rPr kumimoji="1" lang="zh-CN" altLang="en-US" sz="2400" b="1" dirty="0" smtClean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</a:rPr>
                  <a:t>楔角</a:t>
                </a:r>
                <a14:m>
                  <m:oMath xmlns:m="http://schemas.openxmlformats.org/officeDocument/2006/math">
                    <m:r>
                      <a:rPr kumimoji="1" lang="zh-CN" alt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kumimoji="1" lang="zh-CN" altLang="en-US" sz="2400" b="1" dirty="0" smtClean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大小应满足</a:t>
                </a:r>
                <a:r>
                  <a:rPr kumimoji="1" lang="zh-CN" altLang="en-US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何种关系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latin typeface="Times New Roman"/>
                    <a:ea typeface="微软雅黑" panose="020B0503020204020204" pitchFamily="34" charset="-122"/>
                    <a:sym typeface="Symbol" pitchFamily="18" charset="2"/>
                  </a:rPr>
                  <a:t>?</a:t>
                </a:r>
              </a:p>
            </p:txBody>
          </p:sp>
        </mc:Choice>
        <mc:Fallback xmlns="">
          <p:sp>
            <p:nvSpPr>
              <p:cNvPr id="78" name="Text 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C335260-20B5-4384-A47E-DC642B7C9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08" y="5017740"/>
                <a:ext cx="841374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42" t="-10526" b="-289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31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42" grpId="0"/>
      <p:bldP spid="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带传动</a:t>
            </a:r>
            <a:r>
              <a:rPr lang="zh-CN" altLang="en-US" sz="4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的工作情况分析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06-3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962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1520" y="1849388"/>
            <a:ext cx="4243834" cy="1875739"/>
            <a:chOff x="251520" y="2709953"/>
            <a:chExt cx="4243834" cy="1875739"/>
          </a:xfrm>
        </p:grpSpPr>
        <p:grpSp>
          <p:nvGrpSpPr>
            <p:cNvPr id="3" name="组合 2"/>
            <p:cNvGrpSpPr/>
            <p:nvPr/>
          </p:nvGrpSpPr>
          <p:grpSpPr>
            <a:xfrm>
              <a:off x="251520" y="2709953"/>
              <a:ext cx="4243834" cy="1875739"/>
              <a:chOff x="251520" y="2709953"/>
              <a:chExt cx="4243834" cy="1875739"/>
            </a:xfrm>
          </p:grpSpPr>
          <p:graphicFrame>
            <p:nvGraphicFramePr>
              <p:cNvPr id="5" name="Object 46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51520" y="2768325"/>
              <a:ext cx="4063883" cy="16725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5468" name="BMP 图象" r:id="rId3" imgW="4590476" imgH="1924319" progId="PBrush">
                      <p:embed/>
                    </p:oleObj>
                  </mc:Choice>
                  <mc:Fallback>
                    <p:oleObj name="BMP 图象" r:id="rId3" imgW="4590476" imgH="1924319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1520" y="2768325"/>
                            <a:ext cx="4063883" cy="16725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Line 12"/>
              <p:cNvSpPr>
                <a:spLocks noChangeShapeType="1"/>
              </p:cNvSpPr>
              <p:nvPr/>
            </p:nvSpPr>
            <p:spPr bwMode="auto">
              <a:xfrm>
                <a:off x="251520" y="3574455"/>
                <a:ext cx="4243834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" name="Line 13"/>
              <p:cNvSpPr>
                <a:spLocks noChangeShapeType="1"/>
              </p:cNvSpPr>
              <p:nvPr/>
            </p:nvSpPr>
            <p:spPr bwMode="auto">
              <a:xfrm>
                <a:off x="3476674" y="2709953"/>
                <a:ext cx="0" cy="1875739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" name="Line 13"/>
            <p:cNvSpPr>
              <a:spLocks noChangeShapeType="1"/>
            </p:cNvSpPr>
            <p:nvPr/>
          </p:nvSpPr>
          <p:spPr bwMode="auto">
            <a:xfrm>
              <a:off x="716638" y="3120745"/>
              <a:ext cx="0" cy="101835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23528" y="553244"/>
            <a:ext cx="3224927" cy="492443"/>
            <a:chOff x="323528" y="564857"/>
            <a:chExt cx="3224927" cy="492443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86488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带传动的受力分析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0" name="Picture 15" descr="AR1031"/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11" name="矩形 10"/>
          <p:cNvSpPr/>
          <p:nvPr/>
        </p:nvSpPr>
        <p:spPr>
          <a:xfrm>
            <a:off x="389359" y="1192256"/>
            <a:ext cx="1230313" cy="453099"/>
          </a:xfrm>
          <a:prstGeom prst="rect">
            <a:avLst/>
          </a:prstGeom>
          <a:pattFill prst="ltUpDiag">
            <a:fgClr>
              <a:srgbClr val="9FCC3E"/>
            </a:fgClr>
            <a:bgClr>
              <a:srgbClr val="8CB208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微软雅黑 Light"/>
              </a:rPr>
              <a:t>工作前</a:t>
            </a:r>
          </a:p>
        </p:txBody>
      </p:sp>
      <p:graphicFrame>
        <p:nvGraphicFramePr>
          <p:cNvPr id="12" name="Object 4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56591"/>
              </p:ext>
            </p:extLst>
          </p:nvPr>
        </p:nvGraphicFramePr>
        <p:xfrm>
          <a:off x="4773613" y="1865425"/>
          <a:ext cx="4118867" cy="1789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469" name="BMP 图象" r:id="rId6" imgW="4715533" imgH="2048161" progId="PBrush">
                  <p:embed/>
                </p:oleObj>
              </mc:Choice>
              <mc:Fallback>
                <p:oleObj name="BMP 图象" r:id="rId6" imgW="4715533" imgH="2048161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613" y="1865425"/>
                        <a:ext cx="4118867" cy="1789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857472" y="1147466"/>
            <a:ext cx="6225607" cy="50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接触面产生正压力，带两边产生等值</a:t>
            </a:r>
            <a:r>
              <a:rPr kumimoji="1" lang="zh-CN" altLang="en-US" sz="2300" dirty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初拉力</a:t>
            </a:r>
            <a:r>
              <a:rPr kumimoji="1" lang="en-US" altLang="zh-CN" sz="2300" dirty="0" smtClean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baseline="-25000" dirty="0" smtClean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0</a:t>
            </a:r>
            <a:endParaRPr kumimoji="1" lang="zh-CN" altLang="en-US" sz="2300" dirty="0">
              <a:solidFill>
                <a:srgbClr val="FF33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763688" y="1152913"/>
            <a:ext cx="1224136" cy="552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300" dirty="0" smtClean="0">
                <a:latin typeface="微软雅黑"/>
                <a:ea typeface="微软雅黑"/>
                <a:cs typeface="微软雅黑"/>
              </a:rPr>
              <a:t>张紧 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→        </a:t>
            </a:r>
            <a:endParaRPr kumimoji="1" lang="en-US" altLang="zh-CN" sz="2300" baseline="-25000" dirty="0">
              <a:solidFill>
                <a:srgbClr val="FF3300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15" name="Group 9"/>
          <p:cNvGrpSpPr>
            <a:grpSpLocks/>
          </p:cNvGrpSpPr>
          <p:nvPr/>
        </p:nvGrpSpPr>
        <p:grpSpPr bwMode="auto">
          <a:xfrm>
            <a:off x="1547664" y="2431513"/>
            <a:ext cx="703262" cy="717550"/>
            <a:chOff x="1143" y="3439"/>
            <a:chExt cx="443" cy="452"/>
          </a:xfrm>
        </p:grpSpPr>
        <p:sp>
          <p:nvSpPr>
            <p:cNvPr id="16" name="Line 10"/>
            <p:cNvSpPr>
              <a:spLocks noChangeShapeType="1"/>
            </p:cNvSpPr>
            <p:nvPr/>
          </p:nvSpPr>
          <p:spPr bwMode="auto">
            <a:xfrm flipH="1">
              <a:off x="1143" y="3439"/>
              <a:ext cx="443" cy="44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1146" y="3457"/>
              <a:ext cx="434" cy="43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Line 12"/>
          <p:cNvSpPr>
            <a:spLocks noChangeShapeType="1"/>
          </p:cNvSpPr>
          <p:nvPr/>
        </p:nvSpPr>
        <p:spPr bwMode="auto">
          <a:xfrm>
            <a:off x="4788024" y="2758046"/>
            <a:ext cx="4127500" cy="0"/>
          </a:xfrm>
          <a:prstGeom prst="line">
            <a:avLst/>
          </a:prstGeom>
          <a:noFill/>
          <a:ln w="9525">
            <a:solidFill>
              <a:srgbClr val="FF33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5208980" y="2161440"/>
            <a:ext cx="0" cy="1220788"/>
          </a:xfrm>
          <a:prstGeom prst="line">
            <a:avLst/>
          </a:prstGeom>
          <a:noFill/>
          <a:ln w="9525">
            <a:solidFill>
              <a:srgbClr val="FF33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8056665" y="1849389"/>
            <a:ext cx="0" cy="1820863"/>
          </a:xfrm>
          <a:prstGeom prst="line">
            <a:avLst/>
          </a:prstGeom>
          <a:noFill/>
          <a:ln w="9525">
            <a:solidFill>
              <a:srgbClr val="FF33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单圆角矩形 20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2" name="直角三角形 21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4711376" y="4946893"/>
            <a:ext cx="439712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由于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摩擦力作</a:t>
            </a:r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用形成紧边、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松</a:t>
            </a:r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边。</a:t>
            </a:r>
            <a:endParaRPr lang="zh-CN" altLang="en-US" sz="2200"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51521" y="3817117"/>
            <a:ext cx="8496943" cy="1817442"/>
            <a:chOff x="467545" y="941089"/>
            <a:chExt cx="8496943" cy="1817442"/>
          </a:xfrm>
        </p:grpSpPr>
        <p:grpSp>
          <p:nvGrpSpPr>
            <p:cNvPr id="25" name="组合 24"/>
            <p:cNvGrpSpPr/>
            <p:nvPr/>
          </p:nvGrpSpPr>
          <p:grpSpPr>
            <a:xfrm>
              <a:off x="467545" y="941089"/>
              <a:ext cx="8496943" cy="1817442"/>
              <a:chOff x="467545" y="941089"/>
              <a:chExt cx="8496943" cy="181744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518939" y="957697"/>
                <a:ext cx="8445549" cy="1713905"/>
                <a:chOff x="518939" y="957697"/>
                <a:chExt cx="8445549" cy="1713905"/>
              </a:xfrm>
            </p:grpSpPr>
            <p:graphicFrame>
              <p:nvGraphicFramePr>
                <p:cNvPr id="33" name="Object 23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91536620"/>
                    </p:ext>
                  </p:extLst>
                </p:nvPr>
              </p:nvGraphicFramePr>
              <p:xfrm>
                <a:off x="518939" y="957697"/>
                <a:ext cx="4141043" cy="17139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945470" name="BMP 图象" r:id="rId8" imgW="7914286" imgH="3277057" progId="PBrush">
                        <p:embed/>
                      </p:oleObj>
                    </mc:Choice>
                    <mc:Fallback>
                      <p:oleObj name="BMP 图象" r:id="rId8" imgW="7914286" imgH="3277057" progId="PBrush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8939" y="957697"/>
                              <a:ext cx="4141043" cy="1713905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4" name="Line 28"/>
                <p:cNvSpPr>
                  <a:spLocks noChangeShapeType="1"/>
                </p:cNvSpPr>
                <p:nvPr/>
              </p:nvSpPr>
              <p:spPr bwMode="auto">
                <a:xfrm>
                  <a:off x="6731869" y="1375902"/>
                  <a:ext cx="592137" cy="0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ffectLst/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n>
                      <a:solidFill>
                        <a:srgbClr val="000099"/>
                      </a:solidFill>
                    </a:ln>
                    <a:latin typeface="Arial" pitchFamily="34" charset="0"/>
                    <a:ea typeface="黑体" pitchFamily="49" charset="-122"/>
                  </a:endParaRPr>
                </a:p>
              </p:txBody>
            </p:sp>
            <p:sp>
              <p:nvSpPr>
                <p:cNvPr id="35" name="Line 30"/>
                <p:cNvSpPr>
                  <a:spLocks noChangeShapeType="1"/>
                </p:cNvSpPr>
                <p:nvPr/>
              </p:nvSpPr>
              <p:spPr bwMode="auto">
                <a:xfrm>
                  <a:off x="6731869" y="1731502"/>
                  <a:ext cx="592137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7407025" y="1196316"/>
                  <a:ext cx="1557463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Font typeface="Wingdings" pitchFamily="2" charset="2"/>
                    <a:buNone/>
                  </a:pPr>
                  <a:r>
                    <a:rPr lang="zh-CN" altLang="en-US" dirty="0">
                      <a:latin typeface="微软雅黑"/>
                      <a:ea typeface="微软雅黑"/>
                      <a:cs typeface="微软雅黑"/>
                    </a:rPr>
                    <a:t>轮对带摩擦力</a:t>
                  </a:r>
                  <a:endParaRPr lang="en-US" altLang="zh-CN" dirty="0">
                    <a:latin typeface="微软雅黑"/>
                    <a:ea typeface="微软雅黑"/>
                    <a:cs typeface="微软雅黑"/>
                  </a:endParaRPr>
                </a:p>
              </p:txBody>
            </p:sp>
            <p:sp>
              <p:nvSpPr>
                <p:cNvPr id="37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7409433" y="1556356"/>
                  <a:ext cx="1555055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Font typeface="Wingdings" pitchFamily="2" charset="2"/>
                    <a:buNone/>
                  </a:pPr>
                  <a:r>
                    <a:rPr lang="zh-CN" altLang="en-US" dirty="0">
                      <a:latin typeface="微软雅黑"/>
                      <a:ea typeface="微软雅黑"/>
                      <a:cs typeface="微软雅黑"/>
                    </a:rPr>
                    <a:t>带对轮摩擦力</a:t>
                  </a:r>
                  <a:endParaRPr lang="en-US" altLang="zh-CN" dirty="0">
                    <a:latin typeface="微软雅黑"/>
                    <a:ea typeface="微软雅黑"/>
                    <a:cs typeface="微软雅黑"/>
                  </a:endParaRPr>
                </a:p>
              </p:txBody>
            </p:sp>
          </p:grpSp>
          <p:sp>
            <p:nvSpPr>
              <p:cNvPr id="30" name="Line 12"/>
              <p:cNvSpPr>
                <a:spLocks noChangeShapeType="1"/>
              </p:cNvSpPr>
              <p:nvPr/>
            </p:nvSpPr>
            <p:spPr bwMode="auto">
              <a:xfrm>
                <a:off x="467545" y="1816074"/>
                <a:ext cx="4320479" cy="2011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Line 13"/>
              <p:cNvSpPr>
                <a:spLocks noChangeShapeType="1"/>
              </p:cNvSpPr>
              <p:nvPr/>
            </p:nvSpPr>
            <p:spPr bwMode="auto">
              <a:xfrm flipH="1">
                <a:off x="3785911" y="941089"/>
                <a:ext cx="14636" cy="181744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Line 13"/>
              <p:cNvSpPr>
                <a:spLocks noChangeShapeType="1"/>
              </p:cNvSpPr>
              <p:nvPr/>
            </p:nvSpPr>
            <p:spPr bwMode="auto">
              <a:xfrm>
                <a:off x="954094" y="1277441"/>
                <a:ext cx="0" cy="106600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6" name="Freeform 10"/>
            <p:cNvSpPr>
              <a:spLocks/>
            </p:cNvSpPr>
            <p:nvPr/>
          </p:nvSpPr>
          <p:spPr bwMode="auto">
            <a:xfrm>
              <a:off x="1389250" y="1478865"/>
              <a:ext cx="158414" cy="590839"/>
            </a:xfrm>
            <a:custGeom>
              <a:avLst/>
              <a:gdLst>
                <a:gd name="T0" fmla="*/ 0 w 68"/>
                <a:gd name="T1" fmla="*/ 0 h 501"/>
                <a:gd name="T2" fmla="*/ 146169047 w 68"/>
                <a:gd name="T3" fmla="*/ 420865660 h 501"/>
                <a:gd name="T4" fmla="*/ 146169047 w 68"/>
                <a:gd name="T5" fmla="*/ 861894166 h 501"/>
                <a:gd name="T6" fmla="*/ 42843443 w 68"/>
                <a:gd name="T7" fmla="*/ 1262598370 h 5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01"/>
                <a:gd name="T14" fmla="*/ 68 w 68"/>
                <a:gd name="T15" fmla="*/ 501 h 5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01">
                  <a:moveTo>
                    <a:pt x="0" y="0"/>
                  </a:moveTo>
                  <a:cubicBezTo>
                    <a:pt x="24" y="55"/>
                    <a:pt x="48" y="110"/>
                    <a:pt x="58" y="167"/>
                  </a:cubicBezTo>
                  <a:cubicBezTo>
                    <a:pt x="68" y="224"/>
                    <a:pt x="65" y="286"/>
                    <a:pt x="58" y="342"/>
                  </a:cubicBezTo>
                  <a:cubicBezTo>
                    <a:pt x="51" y="398"/>
                    <a:pt x="34" y="449"/>
                    <a:pt x="17" y="501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 type="arrow" w="sm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1978067" y="1946629"/>
              <a:ext cx="7207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(F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0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)</a:t>
              </a: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1978067" y="1343794"/>
              <a:ext cx="7207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(F</a:t>
              </a:r>
              <a:r>
                <a:rPr lang="en-US" altLang="zh-CN" sz="1600" b="1" baseline="-25000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0</a:t>
              </a:r>
              <a:r>
                <a:rPr lang="en-US" altLang="zh-CN" sz="1600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)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4853855" y="4192138"/>
            <a:ext cx="1230313" cy="453600"/>
          </a:xfrm>
          <a:prstGeom prst="rect">
            <a:avLst/>
          </a:prstGeom>
          <a:pattFill prst="ltUpDiag">
            <a:fgClr>
              <a:srgbClr val="9FCC3E"/>
            </a:fgClr>
            <a:bgClr>
              <a:srgbClr val="8CB208"/>
            </a:bgClr>
          </a:patt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微软雅黑 Light"/>
              </a:rPr>
              <a:t>工作时</a:t>
            </a:r>
          </a:p>
        </p:txBody>
      </p:sp>
    </p:spTree>
    <p:extLst>
      <p:ext uri="{BB962C8B-B14F-4D97-AF65-F5344CB8AC3E}">
        <p14:creationId xmlns:p14="http://schemas.microsoft.com/office/powerpoint/2010/main" val="372057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utoUpdateAnimBg="0"/>
      <p:bldP spid="14" grpId="0"/>
      <p:bldP spid="18" grpId="0" animBg="1"/>
      <p:bldP spid="19" grpId="0" animBg="1"/>
      <p:bldP spid="20" grpId="0" animBg="1"/>
      <p:bldP spid="23" grpId="0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4"/>
          <a:srcRect l="4423"/>
          <a:stretch/>
        </p:blipFill>
        <p:spPr>
          <a:xfrm>
            <a:off x="6750020" y="2439740"/>
            <a:ext cx="2214468" cy="1656184"/>
          </a:xfrm>
          <a:prstGeom prst="rect">
            <a:avLst/>
          </a:prstGeom>
        </p:spPr>
      </p:pic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5178063" y="679197"/>
            <a:ext cx="3702049" cy="893764"/>
            <a:chOff x="1198" y="3559"/>
            <a:chExt cx="2332" cy="563"/>
          </a:xfrm>
        </p:grpSpPr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1198" y="3633"/>
              <a:ext cx="95" cy="489"/>
            </a:xfrm>
            <a:prstGeom prst="leftBrace">
              <a:avLst>
                <a:gd name="adj1" fmla="val 44907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293" y="3559"/>
              <a:ext cx="223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紧边</a:t>
              </a:r>
              <a:r>
                <a:rPr kumimoji="1" lang="zh-CN" altLang="en-US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：</a:t>
              </a:r>
              <a:r>
                <a:rPr kumimoji="1" lang="en-US" altLang="zh-CN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</a:t>
              </a:r>
              <a:r>
                <a:rPr kumimoji="1" lang="en-US" altLang="zh-CN" sz="2300" b="0" i="0" u="none" strike="noStrike" kern="0" cap="none" spc="0" normalizeH="0" baseline="-2500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0</a:t>
              </a:r>
              <a:r>
                <a:rPr kumimoji="1" lang="en-US" altLang="zh-CN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↑→</a:t>
              </a:r>
              <a:r>
                <a:rPr kumimoji="1" lang="en-US" altLang="zh-CN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</a:t>
              </a:r>
              <a:r>
                <a:rPr kumimoji="1" lang="en-US" altLang="zh-CN" sz="23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1</a:t>
              </a:r>
              <a:r>
                <a:rPr kumimoji="1" lang="zh-CN" altLang="en-US" sz="23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，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拉紧（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下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）</a:t>
              </a:r>
              <a:endParaRPr kumimoji="1" lang="zh-CN" altLang="en-US" sz="2300" b="0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37390" y="1206295"/>
            <a:ext cx="3542723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300" dirty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松边</a:t>
            </a:r>
            <a:r>
              <a:rPr kumimoji="1" lang="zh-CN" altLang="en-US" sz="2300" dirty="0" smtClean="0">
                <a:latin typeface="微软雅黑"/>
                <a:ea typeface="微软雅黑"/>
                <a:cs typeface="微软雅黑"/>
              </a:rPr>
              <a:t>：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baseline="-25000" dirty="0" smtClean="0">
                <a:latin typeface="微软雅黑"/>
                <a:ea typeface="微软雅黑"/>
                <a:cs typeface="微软雅黑"/>
              </a:rPr>
              <a:t>0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↓→</a:t>
            </a:r>
            <a:r>
              <a:rPr kumimoji="1" lang="en-US" altLang="zh-CN" sz="2300" dirty="0" smtClean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baseline="-25000" dirty="0" smtClean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kumimoji="1" lang="zh-CN" altLang="en-US" sz="2300" baseline="-25000" dirty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放松（</a:t>
            </a:r>
            <a:r>
              <a:rPr kumimoji="1" lang="zh-CN" altLang="en-US" sz="2300" dirty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上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79512" y="2708602"/>
            <a:ext cx="6488423" cy="440185"/>
            <a:chOff x="179512" y="2708602"/>
            <a:chExt cx="6488423" cy="440185"/>
          </a:xfrm>
        </p:grpSpPr>
        <p:sp>
          <p:nvSpPr>
            <p:cNvPr id="28" name="Text Box 35"/>
            <p:cNvSpPr txBox="1">
              <a:spLocks noChangeArrowheads="1"/>
            </p:cNvSpPr>
            <p:nvPr/>
          </p:nvSpPr>
          <p:spPr bwMode="auto">
            <a:xfrm>
              <a:off x="179512" y="2717575"/>
              <a:ext cx="3595856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200" dirty="0" smtClean="0">
                  <a:latin typeface="微软雅黑"/>
                  <a:ea typeface="微软雅黑"/>
                  <a:cs typeface="微软雅黑"/>
                </a:rPr>
                <a:t>带</a:t>
              </a:r>
              <a:r>
                <a:rPr kumimoji="1" lang="zh-CN" altLang="en-US" sz="2200" dirty="0">
                  <a:latin typeface="微软雅黑"/>
                  <a:ea typeface="微软雅黑"/>
                  <a:cs typeface="微软雅黑"/>
                </a:rPr>
                <a:t>是</a:t>
              </a:r>
              <a:r>
                <a:rPr kumimoji="1" lang="zh-CN" altLang="en-US" sz="2200" dirty="0" smtClean="0">
                  <a:latin typeface="微软雅黑"/>
                  <a:ea typeface="微软雅黑"/>
                  <a:cs typeface="微软雅黑"/>
                </a:rPr>
                <a:t>弹性体 </a:t>
              </a:r>
              <a:r>
                <a:rPr kumimoji="1" lang="zh-CN" altLang="en-US" sz="2200" dirty="0" smtClean="0">
                  <a:latin typeface="宋体" panose="02010600030101010101" pitchFamily="2" charset="-122"/>
                  <a:cs typeface="微软雅黑"/>
                </a:rPr>
                <a:t>→ </a:t>
              </a:r>
              <a:r>
                <a:rPr kumimoji="1" lang="zh-CN" altLang="en-US" sz="2200" dirty="0" smtClean="0">
                  <a:latin typeface="微软雅黑"/>
                  <a:ea typeface="微软雅黑"/>
                  <a:cs typeface="微软雅黑"/>
                </a:rPr>
                <a:t>总长不变 </a:t>
              </a:r>
              <a:r>
                <a:rPr kumimoji="1" lang="zh-CN" altLang="en-US" sz="2200" dirty="0" smtClean="0">
                  <a:latin typeface="宋体" panose="02010600030101010101" pitchFamily="2" charset="-122"/>
                  <a:cs typeface="微软雅黑"/>
                </a:rPr>
                <a:t>→</a:t>
              </a:r>
              <a:endParaRPr kumimoji="1" lang="zh-CN" altLang="en-US" sz="2200" dirty="0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 Box 7">
              <a:extLst>
                <a:ext uri="{FF2B5EF4-FFF2-40B4-BE49-F238E27FC236}">
                  <a16:creationId xmlns:a16="http://schemas.microsoft.com/office/drawing/2014/main" xmlns="" id="{1181CEB5-6F0F-41E8-AD69-88358B60A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040" y="2713252"/>
              <a:ext cx="236976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"/>
                </a:spcBef>
                <a:spcAft>
                  <a:spcPct val="30000"/>
                </a:spcAft>
              </a:pPr>
              <a:r>
                <a:rPr lang="en-US" altLang="zh-CN" sz="22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</a:t>
              </a:r>
              <a:r>
                <a:rPr kumimoji="0" lang="en-US" altLang="zh-CN" sz="2200" b="1" i="0" baseline="-25000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1</a:t>
              </a:r>
              <a:r>
                <a:rPr lang="zh-CN" altLang="en-US" sz="2200" b="1" i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−</a:t>
              </a:r>
              <a:r>
                <a:rPr lang="en-US" altLang="zh-CN" sz="2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</a:t>
              </a:r>
              <a:r>
                <a:rPr kumimoji="0" lang="en-US" altLang="zh-CN" sz="2200" b="1" i="0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0</a:t>
              </a:r>
              <a:r>
                <a:rPr lang="en-US" altLang="zh-CN" sz="2200" b="1" i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 </a:t>
              </a:r>
              <a:r>
                <a:rPr lang="zh-CN" altLang="en-US" sz="2200" b="1" i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＝</a:t>
              </a:r>
              <a:r>
                <a:rPr lang="zh-CN" altLang="en-US" sz="2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 </a:t>
              </a:r>
              <a:r>
                <a:rPr lang="en-US" altLang="zh-CN" sz="2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</a:t>
              </a:r>
              <a:r>
                <a:rPr kumimoji="0" lang="en-US" altLang="zh-CN" sz="2200" b="1" i="0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0</a:t>
              </a:r>
              <a:r>
                <a:rPr lang="zh-CN" altLang="en-US" sz="2200" b="1" i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−</a:t>
              </a:r>
              <a:r>
                <a:rPr lang="en-US" altLang="zh-CN" sz="2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</a:t>
              </a:r>
              <a:r>
                <a:rPr kumimoji="0" lang="en-US" altLang="zh-CN" sz="2200" b="1" i="0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2</a:t>
              </a:r>
              <a:r>
                <a:rPr lang="en-US" altLang="zh-CN" sz="2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          </a:t>
              </a:r>
            </a:p>
          </p:txBody>
        </p:sp>
        <p:sp>
          <p:nvSpPr>
            <p:cNvPr id="31" name="Text Box 18">
              <a:extLst>
                <a:ext uri="{FF2B5EF4-FFF2-40B4-BE49-F238E27FC236}">
                  <a16:creationId xmlns:a16="http://schemas.microsoft.com/office/drawing/2014/main" xmlns="" id="{BA3E89D8-377D-4CF8-B684-8AD5E8CF4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4322" y="2708602"/>
              <a:ext cx="1023613" cy="440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5000"/>
                </a:spcBef>
                <a:spcAft>
                  <a:spcPct val="30000"/>
                </a:spcAft>
              </a:pPr>
              <a:r>
                <a:rPr kumimoji="0" lang="en-US" altLang="zh-CN" sz="2200" i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— </a:t>
              </a:r>
              <a:r>
                <a:rPr kumimoji="0" lang="en-US" altLang="zh-CN" sz="2200" i="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(1)</a:t>
              </a:r>
              <a:endPara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5178807" y="1920978"/>
            <a:ext cx="3526276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2300" dirty="0" smtClean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为什么把紧边放在下面？</a:t>
            </a:r>
            <a:endParaRPr kumimoji="1" lang="zh-CN" altLang="en-US" sz="2300" dirty="0">
              <a:solidFill>
                <a:srgbClr val="FF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单圆角矩形 34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6" name="直角三角形 35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258992" y="553244"/>
            <a:ext cx="4601040" cy="1944216"/>
            <a:chOff x="114977" y="761353"/>
            <a:chExt cx="4601040" cy="1944216"/>
          </a:xfrm>
        </p:grpSpPr>
        <p:grpSp>
          <p:nvGrpSpPr>
            <p:cNvPr id="38" name="组合 37"/>
            <p:cNvGrpSpPr/>
            <p:nvPr/>
          </p:nvGrpSpPr>
          <p:grpSpPr>
            <a:xfrm>
              <a:off x="114977" y="761353"/>
              <a:ext cx="4601040" cy="1944216"/>
              <a:chOff x="114977" y="761353"/>
              <a:chExt cx="4601040" cy="1944216"/>
            </a:xfrm>
          </p:grpSpPr>
          <p:graphicFrame>
            <p:nvGraphicFramePr>
              <p:cNvPr id="46" name="Object 2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5869932"/>
                  </p:ext>
                </p:extLst>
              </p:nvPr>
            </p:nvGraphicFramePr>
            <p:xfrm>
              <a:off x="114977" y="790505"/>
              <a:ext cx="4545006" cy="18810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6452" name="BMP 图象" r:id="rId5" imgW="7914286" imgH="3277057" progId="PBrush">
                      <p:embed/>
                    </p:oleObj>
                  </mc:Choice>
                  <mc:Fallback>
                    <p:oleObj name="BMP 图象" r:id="rId5" imgW="7914286" imgH="3277057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977" y="790505"/>
                            <a:ext cx="4545006" cy="1881098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Line 12"/>
              <p:cNvSpPr>
                <a:spLocks noChangeShapeType="1"/>
              </p:cNvSpPr>
              <p:nvPr/>
            </p:nvSpPr>
            <p:spPr bwMode="auto">
              <a:xfrm>
                <a:off x="178189" y="1722224"/>
                <a:ext cx="4537828" cy="3214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Line 13"/>
              <p:cNvSpPr>
                <a:spLocks noChangeShapeType="1"/>
              </p:cNvSpPr>
              <p:nvPr/>
            </p:nvSpPr>
            <p:spPr bwMode="auto">
              <a:xfrm flipH="1">
                <a:off x="3701559" y="761353"/>
                <a:ext cx="20634" cy="194421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604417" y="1199285"/>
                <a:ext cx="0" cy="106600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9" name="Freeform 10"/>
            <p:cNvSpPr>
              <a:spLocks/>
            </p:cNvSpPr>
            <p:nvPr/>
          </p:nvSpPr>
          <p:spPr bwMode="auto">
            <a:xfrm>
              <a:off x="1091899" y="1416966"/>
              <a:ext cx="158414" cy="590839"/>
            </a:xfrm>
            <a:custGeom>
              <a:avLst/>
              <a:gdLst>
                <a:gd name="T0" fmla="*/ 0 w 68"/>
                <a:gd name="T1" fmla="*/ 0 h 501"/>
                <a:gd name="T2" fmla="*/ 146169047 w 68"/>
                <a:gd name="T3" fmla="*/ 420865660 h 501"/>
                <a:gd name="T4" fmla="*/ 146169047 w 68"/>
                <a:gd name="T5" fmla="*/ 861894166 h 501"/>
                <a:gd name="T6" fmla="*/ 42843443 w 68"/>
                <a:gd name="T7" fmla="*/ 1262598370 h 5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501"/>
                <a:gd name="T14" fmla="*/ 68 w 68"/>
                <a:gd name="T15" fmla="*/ 501 h 5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501">
                  <a:moveTo>
                    <a:pt x="0" y="0"/>
                  </a:moveTo>
                  <a:cubicBezTo>
                    <a:pt x="24" y="55"/>
                    <a:pt x="48" y="110"/>
                    <a:pt x="58" y="167"/>
                  </a:cubicBezTo>
                  <a:cubicBezTo>
                    <a:pt x="68" y="224"/>
                    <a:pt x="65" y="286"/>
                    <a:pt x="58" y="342"/>
                  </a:cubicBezTo>
                  <a:cubicBezTo>
                    <a:pt x="51" y="398"/>
                    <a:pt x="34" y="449"/>
                    <a:pt x="17" y="501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 type="arrow" w="sm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12"/>
            <p:cNvSpPr txBox="1">
              <a:spLocks noChangeArrowheads="1"/>
            </p:cNvSpPr>
            <p:nvPr/>
          </p:nvSpPr>
          <p:spPr bwMode="auto">
            <a:xfrm>
              <a:off x="1746869" y="1862665"/>
              <a:ext cx="7207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(F</a:t>
              </a:r>
              <a:r>
                <a:rPr lang="en-US" altLang="zh-CN" b="1" baseline="-25000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0</a:t>
              </a:r>
              <a:r>
                <a:rPr lang="en-US" altLang="zh-CN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)</a:t>
              </a:r>
            </a:p>
          </p:txBody>
        </p:sp>
        <p:sp>
          <p:nvSpPr>
            <p:cNvPr id="41" name="Text Box 13"/>
            <p:cNvSpPr txBox="1">
              <a:spLocks noChangeArrowheads="1"/>
            </p:cNvSpPr>
            <p:nvPr/>
          </p:nvSpPr>
          <p:spPr bwMode="auto">
            <a:xfrm>
              <a:off x="1746870" y="1234418"/>
              <a:ext cx="7207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(F</a:t>
              </a:r>
              <a:r>
                <a:rPr lang="en-US" altLang="zh-CN" b="1" baseline="-25000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0</a:t>
              </a:r>
              <a:r>
                <a:rPr lang="en-US" altLang="zh-CN" b="1" dirty="0">
                  <a:solidFill>
                    <a:srgbClr val="0000CC"/>
                  </a:solidFill>
                  <a:latin typeface="微软雅黑"/>
                  <a:ea typeface="微软雅黑"/>
                  <a:cs typeface="微软雅黑"/>
                </a:rPr>
                <a:t>)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8349" y="3263944"/>
            <a:ext cx="5897022" cy="783741"/>
            <a:chOff x="198349" y="3263944"/>
            <a:chExt cx="5897022" cy="783741"/>
          </a:xfrm>
        </p:grpSpPr>
        <p:sp>
          <p:nvSpPr>
            <p:cNvPr id="63" name="Text Box 27">
              <a:extLst>
                <a:ext uri="{FF2B5EF4-FFF2-40B4-BE49-F238E27FC236}">
                  <a16:creationId xmlns:a16="http://schemas.microsoft.com/office/drawing/2014/main" xmlns="" id="{A11A0DF4-4070-4D3C-A73C-7EB1DA4F7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5807" y="3412167"/>
              <a:ext cx="1009564" cy="454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200" i="0" kern="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—</a:t>
              </a:r>
              <a:r>
                <a:rPr kumimoji="0" lang="en-US" altLang="zh-CN" sz="2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 </a:t>
              </a:r>
              <a:r>
                <a:rPr kumimoji="0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(2)</a:t>
              </a:r>
              <a:endParaRPr kumimoji="1" lang="zh-CN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 Box 17">
              <a:extLst>
                <a:ext uri="{FF2B5EF4-FFF2-40B4-BE49-F238E27FC236}">
                  <a16:creationId xmlns:a16="http://schemas.microsoft.com/office/drawing/2014/main" xmlns="" id="{6EC87298-979C-42EC-9483-16BC5C980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49" y="3433564"/>
              <a:ext cx="1334916" cy="426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eaLnBrk="0" hangingPunct="0">
                <a:lnSpc>
                  <a:spcPct val="105000"/>
                </a:lnSpc>
                <a:spcBef>
                  <a:spcPct val="15000"/>
                </a:spcBef>
                <a:spcAft>
                  <a:spcPct val="20000"/>
                </a:spcAft>
              </a:pPr>
              <a:r>
                <a:rPr lang="zh-CN" altLang="zh-CN" sz="2200" b="1" i="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有效</a:t>
              </a:r>
              <a:r>
                <a:rPr lang="zh-CN" altLang="en-US" sz="2200" b="1" i="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拉力</a:t>
              </a:r>
              <a:endParaRPr lang="zh-CN" altLang="zh-CN" sz="2200" b="1" i="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451282" y="3263944"/>
                  <a:ext cx="3620094" cy="7837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  <m:r>
                          <a:rPr lang="en-US" altLang="zh-CN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=∑</m:t>
                        </m:r>
                        <m:sSub>
                          <m:sSubPr>
                            <m:ctrlP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  <m:r>
                          <a:rPr lang="en-US" altLang="zh-CN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zh-CN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CN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1282" y="3263944"/>
                  <a:ext cx="3620094" cy="783741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Text Box 18" descr="草皮">
            <a:extLst>
              <a:ext uri="{FF2B5EF4-FFF2-40B4-BE49-F238E27FC236}">
                <a16:creationId xmlns:a16="http://schemas.microsoft.com/office/drawing/2014/main" xmlns="" id="{34281A60-9570-4EBF-973E-2F4F8E3A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4081636"/>
            <a:ext cx="5568952" cy="972574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sz="22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r>
              <a:rPr lang="zh-CN" altLang="en-US" sz="2200" i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200" i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</a:t>
            </a:r>
            <a:r>
              <a:rPr lang="zh-CN" altLang="zh-CN" sz="22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圆周力等于</a:t>
            </a:r>
            <a:r>
              <a:rPr lang="zh-CN" altLang="en-US" sz="220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紧边与松边拉力之差</a:t>
            </a:r>
            <a:r>
              <a:rPr lang="zh-CN" altLang="en-US" sz="22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，也等于带与带轮之间的</a:t>
            </a:r>
            <a:r>
              <a:rPr lang="zh-CN" altLang="en-US" sz="220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摩擦力之和</a:t>
            </a:r>
            <a:r>
              <a:rPr lang="zh-CN" altLang="en-US" sz="22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0" name="Text Box 7">
            <a:extLst>
              <a:ext uri="{FF2B5EF4-FFF2-40B4-BE49-F238E27FC236}">
                <a16:creationId xmlns:a16="http://schemas.microsoft.com/office/drawing/2014/main" xmlns="" id="{53D1181A-5F8D-4C38-B29D-76528001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70" y="5162917"/>
            <a:ext cx="640674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25000"/>
              </a:spcBef>
              <a:defRPr/>
            </a:pP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外载引起的</a:t>
            </a:r>
            <a:r>
              <a:rPr lang="zh-CN" altLang="en-US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圆周力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大于接触弧上的全部</a:t>
            </a:r>
            <a:r>
              <a:rPr lang="zh-CN" altLang="en-US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摩擦力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</a:p>
        </p:txBody>
      </p:sp>
      <p:grpSp>
        <p:nvGrpSpPr>
          <p:cNvPr id="73" name="组合 72"/>
          <p:cNvGrpSpPr/>
          <p:nvPr/>
        </p:nvGrpSpPr>
        <p:grpSpPr>
          <a:xfrm>
            <a:off x="6632125" y="5147526"/>
            <a:ext cx="1767018" cy="461665"/>
            <a:chOff x="6632125" y="5147526"/>
            <a:chExt cx="1767018" cy="461665"/>
          </a:xfrm>
        </p:grpSpPr>
        <p:sp>
          <p:nvSpPr>
            <p:cNvPr id="25" name="右箭头 24"/>
            <p:cNvSpPr/>
            <p:nvPr/>
          </p:nvSpPr>
          <p:spPr>
            <a:xfrm>
              <a:off x="6632125" y="5271096"/>
              <a:ext cx="537272" cy="214526"/>
            </a:xfrm>
            <a:prstGeom prst="rightArrow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Text Box 8">
              <a:extLst>
                <a:ext uri="{FF2B5EF4-FFF2-40B4-BE49-F238E27FC236}">
                  <a16:creationId xmlns:a16="http://schemas.microsoft.com/office/drawing/2014/main" xmlns="" id="{1C82484A-BD7E-4285-9CD9-F79E2426F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8840" y="5147526"/>
              <a:ext cx="1010303" cy="461665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  <a:defRPr/>
              </a:pPr>
              <a:r>
                <a:rPr kumimoji="0" lang="zh-CN" altLang="en-US" sz="2400" b="1" i="0" spc="3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打滑</a:t>
              </a:r>
              <a:endParaRPr lang="zh-CN" altLang="en-US" sz="2400" spc="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98349" y="4153644"/>
            <a:ext cx="2681831" cy="794668"/>
            <a:chOff x="198349" y="4153644"/>
            <a:chExt cx="2681831" cy="794668"/>
          </a:xfrm>
        </p:grpSpPr>
        <p:grpSp>
          <p:nvGrpSpPr>
            <p:cNvPr id="72" name="组合 71"/>
            <p:cNvGrpSpPr/>
            <p:nvPr/>
          </p:nvGrpSpPr>
          <p:grpSpPr>
            <a:xfrm>
              <a:off x="198349" y="4153644"/>
              <a:ext cx="2681831" cy="794668"/>
              <a:chOff x="198349" y="4153644"/>
              <a:chExt cx="2681831" cy="794668"/>
            </a:xfrm>
          </p:grpSpPr>
          <p:sp>
            <p:nvSpPr>
              <p:cNvPr id="64" name="Text Box 21">
                <a:extLst>
                  <a:ext uri="{FF2B5EF4-FFF2-40B4-BE49-F238E27FC236}">
                    <a16:creationId xmlns:a16="http://schemas.microsoft.com/office/drawing/2014/main" xmlns="" id="{7BEFFA8E-72B6-4F29-B573-CE4CC11D3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349" y="4322766"/>
                <a:ext cx="149333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i="1">
                    <a:solidFill>
                      <a:schemeClr val="bg2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zh-CN" altLang="en-US" sz="2200" b="1" i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传递</a:t>
                </a:r>
                <a:r>
                  <a:rPr lang="zh-CN" altLang="en-US" sz="22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功率</a:t>
                </a:r>
                <a:endParaRPr lang="zh-CN" altLang="en-US" sz="2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5" name="Object 23">
                    <a:extLst>
                      <a:ext uri="{FF2B5EF4-FFF2-40B4-BE49-F238E27FC236}">
                        <a16:creationId xmlns:a16="http://schemas.microsoft.com/office/drawing/2014/main" xmlns="" id="{3E002D21-282C-4C15-A34D-50BD022395D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639637066"/>
                      </p:ext>
                    </p:extLst>
                  </p:nvPr>
                </p:nvGraphicFramePr>
                <p:xfrm>
                  <a:off x="1619672" y="4153644"/>
                  <a:ext cx="1260508" cy="7946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946453" name="公式" r:id="rId10" imgW="622030" imgH="393529" progId="Equation.3">
                          <p:embed/>
                        </p:oleObj>
                      </mc:Choice>
                      <mc:Fallback>
                        <p:oleObj name="公式" r:id="rId10" imgW="622030" imgH="393529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619672" y="4153644"/>
                                <a:ext cx="1260508" cy="794668"/>
                              </a:xfrm>
                              <a:prstGeom prst="rect">
                                <a:avLst/>
                              </a:prstGeom>
                              <a:noFill/>
                              <a:ln w="19050">
                                <a:solidFill>
                                  <a:srgbClr val="0000FF"/>
                                </a:solidFill>
                                <a:miter lim="800000"/>
                                <a:headEnd/>
                                <a:tailEnd/>
                              </a:ln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65" name="Object 23">
                    <a:extLst>
                      <a:ext uri="{FF2B5EF4-FFF2-40B4-BE49-F238E27FC236}">
                        <a16:creationId xmlns="" xmlns:a16="http://schemas.microsoft.com/office/drawing/2014/main" id="{3E002D21-282C-4C15-A34D-50BD022395D6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639637066"/>
                      </p:ext>
                    </p:extLst>
                  </p:nvPr>
                </p:nvGraphicFramePr>
                <p:xfrm>
                  <a:off x="1619672" y="4153644"/>
                  <a:ext cx="1260508" cy="7946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946433" name="公式" r:id="rId12" imgW="622030" imgH="393529" progId="Equation.3">
                          <p:embed/>
                        </p:oleObj>
                      </mc:Choice>
                      <mc:Fallback>
                        <p:oleObj name="公式" r:id="rId12" imgW="622030" imgH="393529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619672" y="4153644"/>
                                <a:ext cx="1260508" cy="794668"/>
                              </a:xfrm>
                              <a:prstGeom prst="rect">
                                <a:avLst/>
                              </a:prstGeom>
                              <a:noFill/>
                              <a:ln w="19050">
                                <a:solidFill>
                                  <a:srgbClr val="0000FF"/>
                                </a:solidFill>
                                <a:miter lim="800000"/>
                                <a:headEnd/>
                                <a:tailEnd/>
                              </a:ln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2223090" y="4174370"/>
                  <a:ext cx="581111" cy="35394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36000" tIns="0" rIns="3600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3090" y="4174370"/>
                  <a:ext cx="581111" cy="353943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4211" b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6278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34" grpId="0"/>
      <p:bldP spid="69" grpId="0" build="p"/>
      <p:bldP spid="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xmlns="" id="{FBE56947-4728-46EB-BC89-A8B80C6E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10" y="697260"/>
            <a:ext cx="8056998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0"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当带有打滑趋势时</a:t>
            </a:r>
            <a:r>
              <a:rPr kumimoji="0" lang="zh-CN" altLang="en-US" i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，∑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b="1" i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f</a:t>
            </a:r>
            <a:r>
              <a:rPr lang="en-US" altLang="zh-CN" b="1" i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kumimoji="0"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极限值，</a:t>
            </a:r>
            <a:r>
              <a:rPr lang="en-US" altLang="zh-CN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</a:t>
            </a:r>
            <a:r>
              <a:rPr lang="en-US" altLang="zh-CN" b="1" i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 </a:t>
            </a:r>
            <a:r>
              <a:rPr lang="en-US" altLang="zh-CN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</a:t>
            </a:r>
            <a:r>
              <a:rPr lang="en-US" altLang="zh-CN" b="1" i="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max</a:t>
            </a:r>
            <a:endParaRPr kumimoji="0" lang="zh-CN" altLang="en-US" i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xmlns="" id="{44054954-41D3-4103-8A97-11E8AC181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673" y="682180"/>
            <a:ext cx="2454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b="1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最大有效拉力</a:t>
            </a:r>
            <a:r>
              <a:rPr kumimoji="0" lang="zh-CN" altLang="en-US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xmlns="" id="{D2ACDD32-83ED-4C2D-955D-70062AF3B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10" y="1232763"/>
            <a:ext cx="878858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25000"/>
              </a:spcBef>
            </a:pPr>
            <a:r>
              <a:rPr kumimoji="0" lang="zh-CN" altLang="en-US" b="1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挠性体摩擦欧拉公式</a:t>
            </a:r>
            <a:r>
              <a:rPr kumimoji="0" lang="zh-CN" altLang="en-US" b="1" i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i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zh-CN" altLang="en-US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打滑临界状态</a:t>
            </a:r>
            <a:r>
              <a:rPr kumimoji="0" lang="en-US" altLang="zh-CN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即将打滑而未打滑）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87649" y="3264990"/>
            <a:ext cx="4178300" cy="1011238"/>
            <a:chOff x="787649" y="3264990"/>
            <a:chExt cx="4178300" cy="1011238"/>
          </a:xfrm>
        </p:grpSpPr>
        <p:graphicFrame>
          <p:nvGraphicFramePr>
            <p:cNvPr id="22" name="Object 6">
              <a:extLst>
                <a:ext uri="{FF2B5EF4-FFF2-40B4-BE49-F238E27FC236}">
                  <a16:creationId xmlns:a16="http://schemas.microsoft.com/office/drawing/2014/main" xmlns="" id="{DAEE1D18-F6E9-4B24-88A9-833BD1173D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694714"/>
                </p:ext>
              </p:extLst>
            </p:nvPr>
          </p:nvGraphicFramePr>
          <p:xfrm>
            <a:off x="787649" y="3264990"/>
            <a:ext cx="1984375" cy="1011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8538" name="Equation" r:id="rId4" imgW="901440" imgH="457200" progId="Equation.DSMT4">
                    <p:embed/>
                  </p:oleObj>
                </mc:Choice>
                <mc:Fallback>
                  <p:oleObj name="Equation" r:id="rId4" imgW="90144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649" y="3264990"/>
                          <a:ext cx="1984375" cy="1011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xmlns="" id="{50ABD072-D0C8-40B6-89C7-8029D1862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011" y="3488828"/>
              <a:ext cx="229393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UniversalMath1 BT" panose="05050102010205020602" pitchFamily="18" charset="2"/>
                </a:rPr>
                <a:t>（计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UniversalMath1 BT" panose="05050102010205020602" pitchFamily="18" charset="2"/>
                </a:rPr>
                <a:t>入离心力）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95536" y="2077540"/>
            <a:ext cx="3382963" cy="2111375"/>
            <a:chOff x="395536" y="2077540"/>
            <a:chExt cx="3382963" cy="2111375"/>
          </a:xfrm>
        </p:grpSpPr>
        <p:graphicFrame>
          <p:nvGraphicFramePr>
            <p:cNvPr id="21" name="Object 4">
              <a:extLst>
                <a:ext uri="{FF2B5EF4-FFF2-40B4-BE49-F238E27FC236}">
                  <a16:creationId xmlns:a16="http://schemas.microsoft.com/office/drawing/2014/main" xmlns="" id="{65A92772-9EC4-4CB1-A14C-C0F9EAEC32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3468381"/>
                </p:ext>
              </p:extLst>
            </p:nvPr>
          </p:nvGraphicFramePr>
          <p:xfrm>
            <a:off x="855911" y="2077540"/>
            <a:ext cx="1225550" cy="976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8539" name="Equation" r:id="rId6" imgW="545760" imgH="431640" progId="Equation.DSMT4">
                    <p:embed/>
                  </p:oleObj>
                </mc:Choice>
                <mc:Fallback>
                  <p:oleObj name="Equation" r:id="rId6" imgW="5457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5911" y="2077540"/>
                          <a:ext cx="1225550" cy="97631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9">
              <a:extLst>
                <a:ext uri="{FF2B5EF4-FFF2-40B4-BE49-F238E27FC236}">
                  <a16:creationId xmlns:a16="http://schemas.microsoft.com/office/drawing/2014/main" xmlns="" id="{1DB3E9F6-801E-42E1-ACD2-0C93AAE03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399" y="2298203"/>
              <a:ext cx="1435100" cy="387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——(</a:t>
              </a:r>
              <a:r>
                <a:rPr kumimoji="0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rPr>
                <a:t>3)</a:t>
              </a:r>
              <a:endParaRPr kumimoji="1" lang="zh-CN" altLang="en-US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AutoShape 10">
              <a:extLst>
                <a:ext uri="{FF2B5EF4-FFF2-40B4-BE49-F238E27FC236}">
                  <a16:creationId xmlns:a16="http://schemas.microsoft.com/office/drawing/2014/main" xmlns="" id="{BD489601-E007-42DA-A218-455F40565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36" y="2077540"/>
              <a:ext cx="282575" cy="2111375"/>
            </a:xfrm>
            <a:prstGeom prst="leftBrace">
              <a:avLst>
                <a:gd name="adj1" fmla="val 27798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Text Box 8" descr="点式菱形">
            <a:extLst>
              <a:ext uri="{FF2B5EF4-FFF2-40B4-BE49-F238E27FC236}">
                <a16:creationId xmlns:a16="http://schemas.microsoft.com/office/drawing/2014/main" xmlns="" id="{DC9AD167-31B5-40DD-B12F-1B172161B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1966081"/>
            <a:ext cx="3467297" cy="230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l-GR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UniversalMath1 BT" panose="05050102010205020602" pitchFamily="18" charset="2"/>
              </a:rPr>
              <a:t>α</a:t>
            </a:r>
            <a:r>
              <a:rPr lang="en-US" altLang="zh-CN" sz="20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1</a:t>
            </a:r>
            <a:r>
              <a:rPr lang="zh-CN" altLang="en-US" sz="20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zh-CN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------小带轮包角（弧度）</a:t>
            </a:r>
            <a:endParaRPr lang="zh-CN" altLang="en-US" sz="2000" i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UniversalMath1 BT" panose="05050102010205020602" pitchFamily="18" charset="2"/>
            </a:endParaRPr>
          </a:p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 f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 </a:t>
            </a:r>
            <a:r>
              <a:rPr lang="zh-CN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------ （</a:t>
            </a:r>
            <a:r>
              <a: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当量）摩擦系数</a:t>
            </a:r>
          </a:p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qv</a:t>
            </a:r>
            <a:r>
              <a:rPr lang="en-US" altLang="zh-CN" sz="2000" i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zh-CN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------</a:t>
            </a:r>
            <a:r>
              <a:rPr lang="zh-CN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离心拉力</a:t>
            </a:r>
          </a:p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q</a:t>
            </a:r>
            <a:r>
              <a: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------</a:t>
            </a:r>
            <a:r>
              <a:rPr lang="en-US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每米带长的质量</a:t>
            </a:r>
          </a:p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e 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------</a:t>
            </a:r>
            <a:r>
              <a:rPr lang="en-US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2.718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xmlns="" id="{60989BA9-672A-4F2C-8597-F20920E93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800" y="4753356"/>
            <a:ext cx="2433774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b="1" i="0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最大有效圆周力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79512" y="4743189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(1)(2)(3)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式联立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48064" y="4508888"/>
            <a:ext cx="3713410" cy="930268"/>
            <a:chOff x="5148064" y="4508888"/>
            <a:chExt cx="3713410" cy="930268"/>
          </a:xfrm>
        </p:grpSpPr>
        <p:graphicFrame>
          <p:nvGraphicFramePr>
            <p:cNvPr id="27" name="Object 14">
              <a:extLst>
                <a:ext uri="{FF2B5EF4-FFF2-40B4-BE49-F238E27FC236}">
                  <a16:creationId xmlns:a16="http://schemas.microsoft.com/office/drawing/2014/main" xmlns="" id="{F3401BB0-812F-4591-97EE-766D453362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403977"/>
                </p:ext>
              </p:extLst>
            </p:nvPr>
          </p:nvGraphicFramePr>
          <p:xfrm>
            <a:off x="5148064" y="4508888"/>
            <a:ext cx="3713410" cy="930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8540" name="Equation" r:id="rId8" imgW="1676160" imgH="419040" progId="Equation.DSMT4">
                    <p:embed/>
                  </p:oleObj>
                </mc:Choice>
                <mc:Fallback>
                  <p:oleObj name="Equation" r:id="rId8" imgW="16761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508888"/>
                          <a:ext cx="3713410" cy="93026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5334054" y="4995453"/>
              <a:ext cx="505514" cy="28257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36000" rtlCol="0">
              <a:spAutoFit/>
            </a:bodyPr>
            <a:lstStyle/>
            <a:p>
              <a:r>
                <a:rPr lang="en-US" altLang="zh-C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emax</a:t>
              </a:r>
              <a:endPara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54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/>
      <p:bldP spid="19" grpId="0" autoUpdateAnimBg="0"/>
      <p:bldP spid="26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60989BA9-672A-4F2C-8597-F20920E93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896988"/>
            <a:ext cx="2433774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b="1" i="0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最大有效圆周力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78165" y="2845805"/>
            <a:ext cx="1069524" cy="446276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2300" dirty="0">
                <a:solidFill>
                  <a:srgbClr val="FF3300"/>
                </a:solidFill>
                <a:latin typeface="微软雅黑"/>
                <a:ea typeface="微软雅黑"/>
                <a:cs typeface="微软雅黑"/>
              </a:rPr>
              <a:t>讨论：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23528" y="3465334"/>
            <a:ext cx="8820472" cy="51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06563" indent="-1706563">
              <a:lnSpc>
                <a:spcPct val="120000"/>
              </a:lnSpc>
            </a:pPr>
            <a:r>
              <a:rPr kumimoji="1" lang="en-US" altLang="zh-CN" sz="23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kumimoji="1" lang="zh-CN" altLang="en-US" sz="23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kumimoji="1" lang="en-US" altLang="zh-CN" sz="2300" dirty="0"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baseline="-25000" dirty="0">
                <a:latin typeface="微软雅黑"/>
                <a:ea typeface="微软雅黑"/>
                <a:cs typeface="微软雅黑"/>
              </a:rPr>
              <a:t>0</a:t>
            </a:r>
            <a:r>
              <a:rPr kumimoji="1" lang="en-US" altLang="zh-CN" sz="2300" dirty="0">
                <a:latin typeface="微软雅黑"/>
                <a:ea typeface="微软雅黑"/>
                <a:cs typeface="微软雅黑"/>
              </a:rPr>
              <a:t>↑——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i="1" baseline="-25000" dirty="0" smtClean="0">
                <a:latin typeface="微软雅黑"/>
                <a:ea typeface="微软雅黑"/>
                <a:cs typeface="微软雅黑"/>
              </a:rPr>
              <a:t>emax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↑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，但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baseline="-25000" dirty="0" smtClean="0">
                <a:latin typeface="微软雅黑"/>
                <a:ea typeface="微软雅黑"/>
                <a:cs typeface="微软雅黑"/>
              </a:rPr>
              <a:t>0</a:t>
            </a:r>
            <a:r>
              <a:rPr kumimoji="1" lang="zh-CN" alt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↑↑ </a:t>
            </a:r>
            <a:r>
              <a:rPr kumimoji="1" lang="zh-CN" altLang="en-US" sz="2300" dirty="0" smtClean="0">
                <a:latin typeface="宋体" panose="02010600030101010101" pitchFamily="2" charset="-122"/>
                <a:cs typeface="微软雅黑"/>
              </a:rPr>
              <a:t>→ </a:t>
            </a:r>
            <a:r>
              <a:rPr kumimoji="1" lang="zh-CN" altLang="en-US" sz="2300" dirty="0" smtClean="0">
                <a:latin typeface="微软雅黑"/>
                <a:ea typeface="微软雅黑"/>
                <a:cs typeface="微软雅黑"/>
              </a:rPr>
              <a:t>带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磨损</a:t>
            </a:r>
            <a:r>
              <a:rPr kumimoji="1" lang="en-US" altLang="zh-CN" sz="2300" dirty="0">
                <a:latin typeface="微软雅黑"/>
                <a:ea typeface="微软雅黑"/>
                <a:cs typeface="微软雅黑"/>
              </a:rPr>
              <a:t>↑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，寿命</a:t>
            </a:r>
            <a:r>
              <a:rPr kumimoji="1" lang="en-US" altLang="zh-CN" sz="2300" dirty="0">
                <a:latin typeface="微软雅黑"/>
                <a:ea typeface="微软雅黑"/>
                <a:cs typeface="微软雅黑"/>
              </a:rPr>
              <a:t>↓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，轴和轴承受力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↑</a:t>
            </a:r>
            <a:endParaRPr kumimoji="1" lang="zh-CN" altLang="en-US" sz="23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23528" y="3978779"/>
            <a:ext cx="8496944" cy="51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06563" indent="-1706563">
              <a:lnSpc>
                <a:spcPct val="120000"/>
              </a:lnSpc>
            </a:pPr>
            <a:r>
              <a:rPr kumimoji="1" lang="en-US" altLang="zh-CN" sz="23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kumimoji="1" lang="zh-CN" altLang="en-US" sz="23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kumimoji="1" lang="en-US" altLang="zh-CN" sz="2300" dirty="0">
                <a:latin typeface="微软雅黑"/>
                <a:ea typeface="微软雅黑"/>
                <a:cs typeface="微软雅黑"/>
              </a:rPr>
              <a:t>α</a:t>
            </a:r>
            <a:r>
              <a:rPr kumimoji="1" lang="en-US" altLang="zh-CN" sz="2300" baseline="-25000" dirty="0">
                <a:latin typeface="微软雅黑"/>
                <a:ea typeface="微软雅黑"/>
                <a:cs typeface="微软雅黑"/>
              </a:rPr>
              <a:t>1</a:t>
            </a:r>
            <a:r>
              <a:rPr kumimoji="1" lang="en-US" altLang="zh-CN" sz="2300" dirty="0">
                <a:latin typeface="微软雅黑"/>
                <a:ea typeface="微软雅黑"/>
                <a:cs typeface="微软雅黑"/>
              </a:rPr>
              <a:t> ↑——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F</a:t>
            </a:r>
            <a:r>
              <a:rPr kumimoji="1" lang="en-US" altLang="zh-CN" sz="2300" i="1" baseline="-25000" dirty="0" smtClean="0">
                <a:latin typeface="微软雅黑"/>
                <a:ea typeface="微软雅黑"/>
                <a:cs typeface="微软雅黑"/>
              </a:rPr>
              <a:t>emax</a:t>
            </a:r>
            <a:r>
              <a:rPr kumimoji="1" lang="en-US" altLang="zh-CN" sz="2300" dirty="0" smtClean="0">
                <a:latin typeface="微软雅黑"/>
                <a:ea typeface="微软雅黑"/>
                <a:cs typeface="微软雅黑"/>
              </a:rPr>
              <a:t>↑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，故水平布置时，</a:t>
            </a:r>
            <a:r>
              <a:rPr kumimoji="1" lang="zh-CN" altLang="en-US" sz="23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松边在上</a:t>
            </a:r>
            <a:r>
              <a:rPr kumimoji="1" lang="zh-CN" altLang="en-US" sz="2300" dirty="0">
                <a:latin typeface="微软雅黑"/>
                <a:ea typeface="微软雅黑"/>
                <a:cs typeface="微软雅黑"/>
              </a:rPr>
              <a:t>，以增大包角；</a:t>
            </a: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323528" y="4439642"/>
            <a:ext cx="8496944" cy="1154162"/>
            <a:chOff x="1143784" y="3693614"/>
            <a:chExt cx="8496313" cy="1154417"/>
          </a:xfrm>
        </p:grpSpPr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1143784" y="3693614"/>
              <a:ext cx="8496313" cy="1154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609725" marR="0" lvl="0" indent="-1609725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3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3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）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   </a:t>
              </a:r>
              <a:r>
                <a:rPr kumimoji="1" lang="en-US" altLang="zh-CN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↑ ——</a:t>
              </a:r>
              <a:r>
                <a:rPr kumimoji="1" lang="en-US" altLang="zh-CN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</a:t>
              </a:r>
              <a:r>
                <a:rPr kumimoji="1" lang="en-US" altLang="zh-CN" sz="2300" b="0" i="1" u="none" strike="noStrike" kern="0" cap="none" spc="0" normalizeH="0" baseline="-2500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emax</a:t>
              </a:r>
              <a:r>
                <a:rPr kumimoji="1" lang="en-US" altLang="zh-CN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↑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，</a:t>
              </a:r>
              <a:r>
                <a:rPr kumimoji="1" lang="en-US" altLang="zh-CN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V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带</a:t>
              </a:r>
              <a:r>
                <a:rPr kumimoji="1" lang="el-GR" altLang="zh-CN" sz="23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μ</a:t>
              </a:r>
              <a:r>
                <a:rPr kumimoji="1" lang="en-US" altLang="zh-CN" sz="2300" b="0" i="0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v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大，承载比平带强。不能增大粗糙度</a:t>
              </a:r>
              <a:r>
                <a:rPr kumimoji="1" lang="zh-CN" altLang="en-US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，   </a:t>
              </a:r>
              <a:endParaRPr kumimoji="1" lang="en-US" altLang="zh-CN" sz="23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1609725" marR="0" lvl="0" indent="-1609725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300" kern="0" dirty="0">
                  <a:solidFill>
                    <a:sysClr val="windowText" lastClr="000000"/>
                  </a:solidFill>
                  <a:latin typeface="微软雅黑"/>
                  <a:ea typeface="微软雅黑"/>
                  <a:cs typeface="微软雅黑"/>
                </a:rPr>
                <a:t> </a:t>
              </a:r>
              <a:r>
                <a:rPr kumimoji="1" lang="en-US" altLang="zh-CN" sz="2300" kern="0" dirty="0" smtClean="0">
                  <a:solidFill>
                    <a:sysClr val="windowText" lastClr="000000"/>
                  </a:solidFill>
                  <a:latin typeface="微软雅黑"/>
                  <a:ea typeface="微软雅黑"/>
                  <a:cs typeface="微软雅黑"/>
                </a:rPr>
                <a:t>   </a:t>
              </a:r>
              <a:r>
                <a:rPr kumimoji="1" lang="zh-CN" altLang="en-US" sz="23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应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通过材料匹配</a:t>
              </a:r>
              <a:r>
                <a:rPr kumimoji="1" lang="en-US" altLang="zh-CN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↑</a:t>
              </a:r>
              <a:r>
                <a:rPr kumimoji="1" lang="el-GR" altLang="zh-CN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μ</a:t>
              </a:r>
              <a:r>
                <a:rPr kumimoji="1" lang="en-US" altLang="zh-CN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 </a:t>
              </a:r>
              <a:r>
                <a:rPr kumimoji="1" lang="zh-CN" altLang="en-US" sz="23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。</a:t>
              </a:r>
            </a:p>
          </p:txBody>
        </p:sp>
        <p:graphicFrame>
          <p:nvGraphicFramePr>
            <p:cNvPr id="16" name="Object 465"/>
            <p:cNvGraphicFramePr>
              <a:graphicFrameLocks noChangeAspect="1"/>
            </p:cNvGraphicFramePr>
            <p:nvPr>
              <p:extLst/>
            </p:nvPr>
          </p:nvGraphicFramePr>
          <p:xfrm>
            <a:off x="1619782" y="3762952"/>
            <a:ext cx="388034" cy="465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9540" name="Equation" r:id="rId3" imgW="190500" imgH="228600" progId="">
                    <p:embed/>
                  </p:oleObj>
                </mc:Choice>
                <mc:Fallback>
                  <p:oleObj name="Equation" r:id="rId3" imgW="190500" imgH="2286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782" y="3762952"/>
                          <a:ext cx="388034" cy="465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3707904" y="652520"/>
            <a:ext cx="3713410" cy="930268"/>
            <a:chOff x="5148064" y="4508888"/>
            <a:chExt cx="3713410" cy="930268"/>
          </a:xfrm>
        </p:grpSpPr>
        <p:graphicFrame>
          <p:nvGraphicFramePr>
            <p:cNvPr id="19" name="Object 14">
              <a:extLst>
                <a:ext uri="{FF2B5EF4-FFF2-40B4-BE49-F238E27FC236}">
                  <a16:creationId xmlns:a16="http://schemas.microsoft.com/office/drawing/2014/main" xmlns="" id="{F3401BB0-812F-4591-97EE-766D453362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6491856"/>
                </p:ext>
              </p:extLst>
            </p:nvPr>
          </p:nvGraphicFramePr>
          <p:xfrm>
            <a:off x="5148064" y="4508888"/>
            <a:ext cx="3713410" cy="930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9541" name="Equation" r:id="rId5" imgW="1676160" imgH="419040" progId="Equation.DSMT4">
                    <p:embed/>
                  </p:oleObj>
                </mc:Choice>
                <mc:Fallback>
                  <p:oleObj name="Equation" r:id="rId5" imgW="16761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4508888"/>
                          <a:ext cx="3713410" cy="93026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文本框 19"/>
            <p:cNvSpPr txBox="1"/>
            <p:nvPr/>
          </p:nvSpPr>
          <p:spPr>
            <a:xfrm>
              <a:off x="5334054" y="4995453"/>
              <a:ext cx="505514" cy="28257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36000" rtlCol="0">
              <a:spAutoFit/>
            </a:bodyPr>
            <a:lstStyle/>
            <a:p>
              <a:r>
                <a:rPr lang="en-US" altLang="zh-C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emax</a:t>
              </a:r>
              <a:endPara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6331" y="1815263"/>
            <a:ext cx="7557471" cy="862608"/>
            <a:chOff x="526331" y="1815263"/>
            <a:chExt cx="7557471" cy="862608"/>
          </a:xfrm>
        </p:grpSpPr>
        <p:sp>
          <p:nvSpPr>
            <p:cNvPr id="10" name="右箭头 9"/>
            <p:cNvSpPr/>
            <p:nvPr/>
          </p:nvSpPr>
          <p:spPr>
            <a:xfrm>
              <a:off x="526331" y="2096233"/>
              <a:ext cx="805309" cy="288032"/>
            </a:xfrm>
            <a:prstGeom prst="rightArrow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1344861" y="1815263"/>
                  <a:ext cx="3432991" cy="8626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5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𝑒𝑚𝑎𝑥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sSub>
                                  <m:sSubPr>
                                    <m:ctrlPr>
                                      <a:rPr lang="en-US" altLang="zh-CN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5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5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sSub>
                                  <m:sSubPr>
                                    <m:ctrlPr>
                                      <a:rPr lang="en-US" altLang="zh-CN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5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5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sSup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500" dirty="0"/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4861" y="1815263"/>
                  <a:ext cx="3432991" cy="86260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5004048" y="1840238"/>
                  <a:ext cx="3079754" cy="8126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5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𝑒𝑚𝑎𝑥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5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sz="25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sSub>
                                  <m:sSubPr>
                                    <m:ctrlPr>
                                      <a:rPr lang="en-US" altLang="zh-CN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5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5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5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sSupPr>
                            <m:ctrlP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500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4048" y="1840238"/>
                  <a:ext cx="3079754" cy="81265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861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/>
              <p:cNvSpPr txBox="1">
                <a:spLocks noChangeArrowheads="1"/>
              </p:cNvSpPr>
              <p:nvPr/>
            </p:nvSpPr>
            <p:spPr bwMode="auto">
              <a:xfrm>
                <a:off x="251520" y="502668"/>
                <a:ext cx="8748977" cy="14929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lvl1pPr>
                <a:lvl2pPr marL="742950" indent="-285750"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30000"/>
                  </a:lnSpc>
                </a:pPr>
                <a:r>
                  <a:rPr lang="zh-CN" altLang="en-US" sz="2200" dirty="0" smtClean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sz="2200" dirty="0" smtClean="0">
                    <a:solidFill>
                      <a:srgbClr val="FF0000"/>
                    </a:solidFill>
                  </a:rPr>
                  <a:t>6-1</a:t>
                </a:r>
                <a:r>
                  <a:rPr lang="zh-CN" altLang="en-US" sz="2200" dirty="0"/>
                  <a:t>：</a:t>
                </a:r>
                <a:r>
                  <a:rPr lang="zh-CN" altLang="zh-CN" sz="2200" dirty="0">
                    <a:latin typeface="+mn-ea"/>
                    <a:ea typeface="+mn-ea"/>
                  </a:rPr>
                  <a:t>一带式制动器如图所示，皮带和带轮之间的摩擦系数</a:t>
                </a:r>
                <a14:m>
                  <m:oMath xmlns:m="http://schemas.openxmlformats.org/officeDocument/2006/math">
                    <m:r>
                      <a:rPr lang="en-US" altLang="zh-CN" sz="2200" b="0" i="1"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r>
                      <a:rPr lang="en-US" altLang="zh-CN" sz="2200" b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200" b="0" i="1">
                        <a:latin typeface="Cambria Math" panose="02040503050406030204" pitchFamily="18" charset="0"/>
                        <a:ea typeface="+mn-ea"/>
                      </a:rPr>
                      <m:t>0</m:t>
                    </m:r>
                    <m:r>
                      <a:rPr lang="en-US" altLang="zh-CN" sz="2200" b="0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lang="en-US" altLang="zh-CN" sz="2200" b="0" i="1">
                        <a:latin typeface="Cambria Math" panose="02040503050406030204" pitchFamily="18" charset="0"/>
                        <a:ea typeface="+mn-ea"/>
                      </a:rPr>
                      <m:t>3</m:t>
                    </m:r>
                  </m:oMath>
                </a14:m>
                <a:r>
                  <a:rPr lang="zh-CN" altLang="zh-CN" sz="2200" dirty="0">
                    <a:latin typeface="+mn-ea"/>
                    <a:ea typeface="+mn-ea"/>
                  </a:rPr>
                  <a:t>，带轮顺时针旋转，要求产生制动力矩</a:t>
                </a:r>
                <a14:m>
                  <m:oMath xmlns:m="http://schemas.openxmlformats.org/officeDocument/2006/math">
                    <m:r>
                      <a:rPr lang="en-US" altLang="zh-CN" sz="2200" b="0" i="1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  <m:r>
                      <a:rPr lang="en-US" altLang="zh-CN" sz="2200" b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200" b="0" i="1">
                        <a:latin typeface="Cambria Math" panose="02040503050406030204" pitchFamily="18" charset="0"/>
                        <a:ea typeface="+mn-ea"/>
                      </a:rPr>
                      <m:t>4</m:t>
                    </m:r>
                    <m:r>
                      <a:rPr lang="en-US" altLang="zh-CN" sz="2200" b="0">
                        <a:latin typeface="Cambria Math" panose="02040503050406030204" pitchFamily="18" charset="0"/>
                        <a:ea typeface="+mn-ea"/>
                      </a:rPr>
                      <m:t>×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200" b="0" i="1">
                            <a:latin typeface="Cambria Math" panose="02040503050406030204" pitchFamily="18" charset="0"/>
                            <a:ea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200" b="0" i="1">
                            <a:latin typeface="Cambria Math" panose="02040503050406030204" pitchFamily="18" charset="0"/>
                            <a:ea typeface="+mn-ea"/>
                          </a:rPr>
                          <m:t>5</m:t>
                        </m:r>
                      </m:sup>
                    </m:sSup>
                    <m:r>
                      <a:rPr lang="en-US" altLang="zh-CN" sz="2200" b="0" i="1">
                        <a:latin typeface="Cambria Math" panose="02040503050406030204" pitchFamily="18" charset="0"/>
                        <a:ea typeface="+mn-ea"/>
                      </a:rPr>
                      <m:t>𝑁𝑚𝑚</m:t>
                    </m:r>
                  </m:oMath>
                </a14:m>
                <a:r>
                  <a:rPr lang="zh-CN" altLang="zh-CN" sz="2200" dirty="0">
                    <a:latin typeface="+mn-ea"/>
                    <a:ea typeface="+mn-ea"/>
                  </a:rPr>
                  <a:t>，不考虑离心力，试求制动时加在手柄上的压力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latin typeface="Cambria Math" panose="02040503050406030204" pitchFamily="18" charset="0"/>
                            <a:ea typeface="+mn-ea"/>
                          </a:rPr>
                          <m:t>𝐹</m:t>
                        </m:r>
                      </m:e>
                      <m:sub>
                        <m:r>
                          <a:rPr lang="en-US" altLang="zh-CN" sz="2200" b="0" i="1">
                            <a:latin typeface="Cambria Math" panose="02040503050406030204" pitchFamily="18" charset="0"/>
                            <a:ea typeface="+mn-ea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zh-CN" altLang="zh-CN" sz="2200" dirty="0">
                    <a:latin typeface="+mn-ea"/>
                    <a:ea typeface="+mn-ea"/>
                  </a:rPr>
                  <a:t>的大小</a:t>
                </a:r>
                <a:r>
                  <a:rPr lang="zh-CN" altLang="zh-CN" sz="2200" dirty="0" smtClean="0">
                    <a:latin typeface="+mn-ea"/>
                    <a:ea typeface="+mn-ea"/>
                  </a:rPr>
                  <a:t>。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502668"/>
                <a:ext cx="8748977" cy="1492973"/>
              </a:xfrm>
              <a:prstGeom prst="rect">
                <a:avLst/>
              </a:prstGeom>
              <a:blipFill rotWithShape="0">
                <a:blip r:embed="rId4"/>
                <a:stretch>
                  <a:fillRect l="-1951" r="-5157" b="-12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51520" y="2122649"/>
            <a:ext cx="58945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5150934" y="2219714"/>
          <a:ext cx="3817988" cy="308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589" name="Visio" r:id="rId5" imgW="2632320" imgH="2131920" progId="Visio.Drawing.11">
                  <p:embed/>
                </p:oleObj>
              </mc:Choice>
              <mc:Fallback>
                <p:oleObj name="Visio" r:id="rId5" imgW="2632320" imgH="21319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0934" y="2219714"/>
                        <a:ext cx="3817988" cy="3080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单圆角矩形 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带传动例题讲解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9" name="直角三角形 8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55576" y="2065412"/>
                <a:ext cx="4202304" cy="5638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1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100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α</m:t>
                    </m:r>
                    <m:r>
                      <a:rPr lang="en-US" altLang="zh-CN" sz="2100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=270°</m:t>
                    </m:r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150</m:t>
                        </m:r>
                      </m:num>
                      <m:den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250</m:t>
                        </m:r>
                      </m:den>
                    </m:f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=216.8°</m:t>
                    </m:r>
                  </m:oMath>
                </a14:m>
                <a:r>
                  <a:rPr lang="en-US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zh-CN" altLang="en-US" sz="2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065412"/>
                <a:ext cx="4202304" cy="563872"/>
              </a:xfrm>
              <a:prstGeom prst="rect">
                <a:avLst/>
              </a:prstGeom>
              <a:blipFill rotWithShape="0">
                <a:blip r:embed="rId7"/>
                <a:stretch>
                  <a:fillRect l="-1742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00746" y="2788285"/>
                <a:ext cx="5120248" cy="427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1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100" i="1">
                                <a:effectLst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100" i="1" kern="100"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100" i="1" kern="100"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100" i="1">
                                <a:effectLst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100" i="1" kern="100"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100" i="1" kern="100"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𝜇𝛼</m:t>
                        </m:r>
                      </m:sup>
                    </m:sSup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0.3×216.8/57.3</m:t>
                        </m:r>
                      </m:sup>
                    </m:sSup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=3.1114</m:t>
                    </m:r>
                  </m:oMath>
                </a14:m>
                <a:r>
                  <a:rPr lang="en-US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zh-CN" altLang="en-US" sz="2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46" y="2788285"/>
                <a:ext cx="5120248" cy="427553"/>
              </a:xfrm>
              <a:prstGeom prst="rect">
                <a:avLst/>
              </a:prstGeom>
              <a:blipFill rotWithShape="0">
                <a:blip r:embed="rId8"/>
                <a:stretch>
                  <a:fillRect l="-1429" t="-109859" b="-176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00746" y="3369067"/>
                <a:ext cx="480330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1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1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=2667</m:t>
                    </m:r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zh-CN" altLang="en-US" sz="2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46" y="3369067"/>
                <a:ext cx="4803302" cy="430887"/>
              </a:xfrm>
              <a:prstGeom prst="rect">
                <a:avLst/>
              </a:prstGeom>
              <a:blipFill rotWithShape="0">
                <a:blip r:embed="rId9"/>
                <a:stretch>
                  <a:fillRect l="-1523" t="-114286" b="-17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200746" y="3953183"/>
            <a:ext cx="399340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kern="100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zh-CN" sz="2100" kern="100" dirty="0">
                <a:latin typeface="+mn-ea"/>
                <a:ea typeface="+mn-ea"/>
                <a:cs typeface="Times New Roman" panose="02020603050405020304" pitchFamily="18" charset="0"/>
              </a:rPr>
              <a:t>）联立求解上面两式，可得：</a:t>
            </a:r>
            <a:endParaRPr lang="zh-CN" altLang="en-US" sz="21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11560" y="4537299"/>
                <a:ext cx="3366050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=3930</m:t>
                    </m:r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=1263</m:t>
                    </m:r>
                    <m:r>
                      <a:rPr lang="en-US" altLang="zh-CN" sz="2100" i="1" kern="10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endParaRPr lang="zh-CN" altLang="en-US" sz="2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537299"/>
                <a:ext cx="3366050" cy="415498"/>
              </a:xfrm>
              <a:prstGeom prst="rect">
                <a:avLst/>
              </a:prstGeom>
              <a:blipFill rotWithShape="0">
                <a:blip r:embed="rId10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00746" y="5105847"/>
                <a:ext cx="4069768" cy="4398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1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×150=</m:t>
                    </m:r>
                    <m:sSub>
                      <m:sSub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zh-CN" altLang="zh-CN" sz="2100" i="1"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150+350</m:t>
                        </m:r>
                      </m:e>
                    </m:d>
                  </m:oMath>
                </a14:m>
                <a:endParaRPr lang="zh-CN" altLang="en-US" sz="2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46" y="5105847"/>
                <a:ext cx="4069768" cy="439864"/>
              </a:xfrm>
              <a:prstGeom prst="rect">
                <a:avLst/>
              </a:prstGeom>
              <a:blipFill rotWithShape="0">
                <a:blip r:embed="rId11"/>
                <a:stretch>
                  <a:fillRect l="-1796" t="-9722" b="-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413245" y="5107386"/>
                <a:ext cx="1815497" cy="4383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1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=378.9</m:t>
                    </m:r>
                    <m:r>
                      <a:rPr lang="en-US" altLang="zh-CN" sz="2100" i="1" kern="10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CN" sz="2100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zh-CN" altLang="en-US" sz="21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245" y="5107386"/>
                <a:ext cx="1815497" cy="438325"/>
              </a:xfrm>
              <a:prstGeom prst="rect">
                <a:avLst/>
              </a:prstGeom>
              <a:blipFill rotWithShape="0">
                <a:blip r:embed="rId12"/>
                <a:stretch>
                  <a:fillRect l="-336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42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0" grpId="0"/>
      <p:bldP spid="11" grpId="0"/>
      <p:bldP spid="13" grpId="0"/>
      <p:bldP spid="14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带传动</a:t>
            </a:r>
            <a:r>
              <a:rPr lang="zh-CN" altLang="en-US" sz="4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的应力分析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06-4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605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53244"/>
            <a:ext cx="3224927" cy="492443"/>
            <a:chOff x="323528" y="564857"/>
            <a:chExt cx="3224927" cy="49244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86488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带传动的应力分析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7" name="单圆角矩形 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8" name="直角三角形 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51520" y="1251191"/>
            <a:ext cx="3476924" cy="915294"/>
            <a:chOff x="190957" y="1251191"/>
            <a:chExt cx="3476924" cy="915294"/>
          </a:xfrm>
        </p:grpSpPr>
        <p:grpSp>
          <p:nvGrpSpPr>
            <p:cNvPr id="40" name="Group 22"/>
            <p:cNvGrpSpPr>
              <a:grpSpLocks/>
            </p:cNvGrpSpPr>
            <p:nvPr/>
          </p:nvGrpSpPr>
          <p:grpSpPr bwMode="auto">
            <a:xfrm>
              <a:off x="1375530" y="1251191"/>
              <a:ext cx="2292351" cy="836613"/>
              <a:chOff x="1888" y="461"/>
              <a:chExt cx="1444" cy="527"/>
            </a:xfrm>
          </p:grpSpPr>
          <p:sp>
            <p:nvSpPr>
              <p:cNvPr id="41" name="AutoShape 23"/>
              <p:cNvSpPr>
                <a:spLocks/>
              </p:cNvSpPr>
              <p:nvPr/>
            </p:nvSpPr>
            <p:spPr bwMode="auto">
              <a:xfrm>
                <a:off x="1888" y="526"/>
                <a:ext cx="68" cy="462"/>
              </a:xfrm>
              <a:prstGeom prst="leftBrace">
                <a:avLst>
                  <a:gd name="adj1" fmla="val 4571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42" name="Text Box 24"/>
              <p:cNvSpPr txBox="1">
                <a:spLocks noChangeArrowheads="1"/>
              </p:cNvSpPr>
              <p:nvPr/>
            </p:nvSpPr>
            <p:spPr bwMode="auto">
              <a:xfrm>
                <a:off x="1950" y="461"/>
                <a:ext cx="138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σ</a:t>
                </a:r>
                <a:r>
                  <a:rPr kumimoji="1" lang="en-US" altLang="zh-CN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1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=F</a:t>
                </a:r>
                <a:r>
                  <a:rPr kumimoji="1" lang="en-US" altLang="zh-CN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1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/A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（紧</a:t>
                </a:r>
                <a:r>
                  <a:rPr kumimoji="1" lang="zh-CN" alt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微软雅黑"/>
                  </a:rPr>
                  <a:t>边）</a:t>
                </a:r>
                <a:endPara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sp>
          <p:nvSpPr>
            <p:cNvPr id="43" name="Text Box 25"/>
            <p:cNvSpPr txBox="1">
              <a:spLocks noChangeArrowheads="1"/>
            </p:cNvSpPr>
            <p:nvPr/>
          </p:nvSpPr>
          <p:spPr bwMode="auto">
            <a:xfrm>
              <a:off x="1473725" y="1759255"/>
              <a:ext cx="21755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kumimoji="1" lang="en-US" altLang="zh-CN" sz="2000" dirty="0">
                  <a:latin typeface="微软雅黑"/>
                  <a:ea typeface="微软雅黑"/>
                  <a:cs typeface="微软雅黑"/>
                </a:rPr>
                <a:t>σ</a:t>
              </a:r>
              <a:r>
                <a:rPr kumimoji="1" lang="en-US" altLang="zh-CN" sz="2000" baseline="-25000" dirty="0">
                  <a:latin typeface="微软雅黑"/>
                  <a:ea typeface="微软雅黑"/>
                  <a:cs typeface="微软雅黑"/>
                </a:rPr>
                <a:t>2</a:t>
              </a:r>
              <a:r>
                <a:rPr kumimoji="1" lang="en-US" altLang="zh-CN" sz="2000" dirty="0">
                  <a:latin typeface="微软雅黑"/>
                  <a:ea typeface="微软雅黑"/>
                  <a:cs typeface="微软雅黑"/>
                </a:rPr>
                <a:t>=F</a:t>
              </a:r>
              <a:r>
                <a:rPr kumimoji="1" lang="en-US" altLang="zh-CN" sz="2000" baseline="-25000" dirty="0">
                  <a:latin typeface="微软雅黑"/>
                  <a:ea typeface="微软雅黑"/>
                  <a:cs typeface="微软雅黑"/>
                </a:rPr>
                <a:t>2</a:t>
              </a:r>
              <a:r>
                <a:rPr kumimoji="1" lang="en-US" altLang="zh-CN" sz="2000" dirty="0">
                  <a:latin typeface="微软雅黑"/>
                  <a:ea typeface="微软雅黑"/>
                  <a:cs typeface="微软雅黑"/>
                </a:rPr>
                <a:t>/A</a:t>
              </a:r>
              <a:r>
                <a:rPr kumimoji="1" lang="zh-CN" altLang="en-US" sz="2000" dirty="0">
                  <a:latin typeface="微软雅黑"/>
                  <a:ea typeface="微软雅黑"/>
                  <a:cs typeface="微软雅黑"/>
                </a:rPr>
                <a:t>（</a:t>
              </a:r>
              <a:r>
                <a:rPr kumimoji="1" lang="zh-CN" altLang="en-US" sz="2000" dirty="0" smtClean="0">
                  <a:latin typeface="微软雅黑"/>
                  <a:ea typeface="微软雅黑"/>
                  <a:cs typeface="微软雅黑"/>
                </a:rPr>
                <a:t>松边）</a:t>
              </a:r>
              <a:endParaRPr kumimoji="1" lang="zh-CN" altLang="en-US" sz="2000" dirty="0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4" name="Text Box 26"/>
            <p:cNvSpPr txBox="1">
              <a:spLocks noChangeArrowheads="1"/>
            </p:cNvSpPr>
            <p:nvPr/>
          </p:nvSpPr>
          <p:spPr bwMode="auto">
            <a:xfrm>
              <a:off x="276397" y="1797153"/>
              <a:ext cx="852710" cy="369332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>
                  <a:latin typeface="微软雅黑"/>
                  <a:ea typeface="微软雅黑"/>
                  <a:cs typeface="微软雅黑"/>
                </a:rPr>
                <a:t>σ</a:t>
              </a:r>
              <a:r>
                <a:rPr kumimoji="1" lang="en-US" altLang="zh-CN" baseline="-25000">
                  <a:latin typeface="微软雅黑"/>
                  <a:ea typeface="微软雅黑"/>
                  <a:cs typeface="微软雅黑"/>
                </a:rPr>
                <a:t>1</a:t>
              </a:r>
              <a:r>
                <a:rPr kumimoji="1" lang="en-US" altLang="zh-CN">
                  <a:latin typeface="微软雅黑"/>
                  <a:ea typeface="微软雅黑"/>
                  <a:cs typeface="微软雅黑"/>
                </a:rPr>
                <a:t>&gt;σ</a:t>
              </a:r>
              <a:r>
                <a:rPr kumimoji="1" lang="en-US" altLang="zh-CN" baseline="-25000">
                  <a:latin typeface="微软雅黑"/>
                  <a:ea typeface="微软雅黑"/>
                  <a:cs typeface="微软雅黑"/>
                </a:rPr>
                <a:t>2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190957" y="1318358"/>
              <a:ext cx="1023590" cy="376237"/>
            </a:xfrm>
            <a:prstGeom prst="rect">
              <a:avLst/>
            </a:prstGeom>
            <a:pattFill prst="ltUpDiag">
              <a:fgClr>
                <a:srgbClr val="9FCC3E"/>
              </a:fgClr>
              <a:bgClr>
                <a:srgbClr val="8CB208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微软雅黑 Light"/>
                </a:rPr>
                <a:t>拉应力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51520" y="2322923"/>
            <a:ext cx="3319428" cy="725488"/>
            <a:chOff x="190957" y="2322923"/>
            <a:chExt cx="3319428" cy="725488"/>
          </a:xfrm>
        </p:grpSpPr>
        <p:graphicFrame>
          <p:nvGraphicFramePr>
            <p:cNvPr id="46" name="Object 1138"/>
            <p:cNvGraphicFramePr>
              <a:graphicFrameLocks noChangeAspect="1"/>
            </p:cNvGraphicFramePr>
            <p:nvPr>
              <p:extLst/>
            </p:nvPr>
          </p:nvGraphicFramePr>
          <p:xfrm>
            <a:off x="1619672" y="2322923"/>
            <a:ext cx="1890713" cy="725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671" name="公式" r:id="rId4" imgW="1091880" imgH="419040" progId="Equation.3">
                    <p:embed/>
                  </p:oleObj>
                </mc:Choice>
                <mc:Fallback>
                  <p:oleObj name="公式" r:id="rId4" imgW="109188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2322923"/>
                          <a:ext cx="1890713" cy="725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矩形 46"/>
            <p:cNvSpPr/>
            <p:nvPr/>
          </p:nvSpPr>
          <p:spPr>
            <a:xfrm>
              <a:off x="190957" y="2529745"/>
              <a:ext cx="1320641" cy="374650"/>
            </a:xfrm>
            <a:prstGeom prst="rect">
              <a:avLst/>
            </a:prstGeom>
            <a:pattFill prst="ltUpDiag">
              <a:fgClr>
                <a:srgbClr val="9FCC3E"/>
              </a:fgClr>
              <a:bgClr>
                <a:srgbClr val="8CB208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微软雅黑 Light"/>
                </a:rPr>
                <a:t>离心</a:t>
              </a:r>
              <a:r>
                <a:rPr lang="zh-CN" altLang="en-US" sz="20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微软雅黑 Light"/>
                </a:rPr>
                <a:t>应力</a:t>
              </a:r>
              <a:endParaRPr lang="zh-CN" altLang="en-US" sz="2000" baseline="-25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 Ligh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51520" y="3202361"/>
            <a:ext cx="2689158" cy="735259"/>
            <a:chOff x="190957" y="3202361"/>
            <a:chExt cx="2689158" cy="735259"/>
          </a:xfrm>
        </p:grpSpPr>
        <p:graphicFrame>
          <p:nvGraphicFramePr>
            <p:cNvPr id="27" name="对象 26">
              <a:extLst>
                <a:ext uri="{FF2B5EF4-FFF2-40B4-BE49-F238E27FC236}">
                  <a16:creationId xmlns="" xmlns:a16="http://schemas.microsoft.com/office/drawing/2014/main" id="{3C909052-ED8F-4AAA-9E6C-B40D4D0B1E1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19672" y="3202361"/>
            <a:ext cx="1260443" cy="735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672" name="Equation" r:id="rId6" imgW="685800" imgH="393700" progId="Equation.DSMT4">
                    <p:embed/>
                  </p:oleObj>
                </mc:Choice>
                <mc:Fallback>
                  <p:oleObj name="Equation" r:id="rId6" imgW="6858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3202361"/>
                          <a:ext cx="1260443" cy="73525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矩形 47"/>
            <p:cNvSpPr/>
            <p:nvPr/>
          </p:nvSpPr>
          <p:spPr>
            <a:xfrm>
              <a:off x="190957" y="3345358"/>
              <a:ext cx="1320641" cy="376238"/>
            </a:xfrm>
            <a:prstGeom prst="rect">
              <a:avLst/>
            </a:prstGeom>
            <a:pattFill prst="ltUpDiag">
              <a:fgClr>
                <a:srgbClr val="9FCC3E"/>
              </a:fgClr>
              <a:bgClr>
                <a:srgbClr val="8CB208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微软雅黑 Light"/>
                </a:rPr>
                <a:t>弯曲应力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微软雅黑 Light"/>
              </a:endParaRPr>
            </a:p>
          </p:txBody>
        </p:sp>
      </p:grpSp>
      <p:sp>
        <p:nvSpPr>
          <p:cNvPr id="50" name="Text Box 14"/>
          <p:cNvSpPr txBox="1">
            <a:spLocks noChangeArrowheads="1"/>
          </p:cNvSpPr>
          <p:nvPr/>
        </p:nvSpPr>
        <p:spPr bwMode="auto">
          <a:xfrm>
            <a:off x="251519" y="3952872"/>
            <a:ext cx="875469" cy="400050"/>
          </a:xfrm>
          <a:prstGeom prst="rect">
            <a:avLst/>
          </a:prstGeom>
          <a:solidFill>
            <a:srgbClr val="FFC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 smtClean="0">
                <a:solidFill>
                  <a:srgbClr val="0000CC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lang="zh-CN" altLang="en-US" sz="2000" dirty="0">
              <a:solidFill>
                <a:srgbClr val="0000CC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51" name="Group 9"/>
          <p:cNvGrpSpPr>
            <a:grpSpLocks/>
          </p:cNvGrpSpPr>
          <p:nvPr/>
        </p:nvGrpSpPr>
        <p:grpSpPr bwMode="auto">
          <a:xfrm>
            <a:off x="157566" y="4506741"/>
            <a:ext cx="2859088" cy="757238"/>
            <a:chOff x="1285" y="709"/>
            <a:chExt cx="1801" cy="477"/>
          </a:xfrm>
        </p:grpSpPr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2871" y="848"/>
              <a:ext cx="2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/>
            </a:p>
          </p:txBody>
        </p:sp>
        <p:graphicFrame>
          <p:nvGraphicFramePr>
            <p:cNvPr id="53" name="Object 284"/>
            <p:cNvGraphicFramePr>
              <a:graphicFrameLocks noChangeAspect="1"/>
            </p:cNvGraphicFramePr>
            <p:nvPr>
              <p:extLst/>
            </p:nvPr>
          </p:nvGraphicFramePr>
          <p:xfrm>
            <a:off x="2356" y="942"/>
            <a:ext cx="60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673" name="Equation" r:id="rId8" imgW="660400" imgH="228600" progId="Equation.3">
                    <p:embed/>
                  </p:oleObj>
                </mc:Choice>
                <mc:Fallback>
                  <p:oleObj name="Equation" r:id="rId8" imgW="6604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6" y="942"/>
                          <a:ext cx="608" cy="21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Rectangle 12"/>
            <p:cNvSpPr>
              <a:spLocks noChangeArrowheads="1"/>
            </p:cNvSpPr>
            <p:nvPr/>
          </p:nvSpPr>
          <p:spPr bwMode="auto">
            <a:xfrm>
              <a:off x="1285" y="709"/>
              <a:ext cx="1614" cy="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zh-CN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1</a:t>
              </a:r>
              <a:r>
                <a:rPr kumimoji="1" lang="zh-CN" altLang="en-US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、</a:t>
              </a:r>
              <a:r>
                <a:rPr kumimoji="1" lang="zh-CN" altLang="en-US" sz="1600" dirty="0">
                  <a:latin typeface="微软雅黑"/>
                  <a:ea typeface="微软雅黑"/>
                  <a:cs typeface="微软雅黑"/>
                </a:rPr>
                <a:t>带在变应力状态下</a:t>
              </a:r>
              <a:r>
                <a:rPr kumimoji="1" lang="zh-CN" altLang="en-US" sz="1600" dirty="0" smtClean="0">
                  <a:latin typeface="微软雅黑"/>
                  <a:ea typeface="微软雅黑"/>
                  <a:cs typeface="微软雅黑"/>
                </a:rPr>
                <a:t>工作</a:t>
              </a:r>
              <a:endParaRPr kumimoji="1" lang="en-US" altLang="zh-CN" sz="1600" dirty="0" smtClean="0">
                <a:latin typeface="微软雅黑"/>
                <a:ea typeface="微软雅黑"/>
                <a:cs typeface="微软雅黑"/>
              </a:endParaRPr>
            </a:p>
            <a:p>
              <a:pPr>
                <a:lnSpc>
                  <a:spcPct val="135000"/>
                </a:lnSpc>
              </a:pPr>
              <a:r>
                <a:rPr kumimoji="1" lang="zh-CN" altLang="en-US" sz="1600" dirty="0" smtClean="0">
                  <a:latin typeface="微软雅黑"/>
                  <a:ea typeface="微软雅黑"/>
                  <a:cs typeface="微软雅黑"/>
                </a:rPr>
                <a:t>     防</a:t>
              </a:r>
              <a:r>
                <a:rPr kumimoji="1" lang="zh-CN" altLang="en-US" sz="1600" dirty="0" smtClean="0">
                  <a:solidFill>
                    <a:srgbClr val="FF3300"/>
                  </a:solidFill>
                  <a:latin typeface="微软雅黑"/>
                  <a:ea typeface="微软雅黑"/>
                  <a:cs typeface="微软雅黑"/>
                </a:rPr>
                <a:t>疲劳失效</a:t>
              </a:r>
              <a:r>
                <a:rPr kumimoji="1" lang="zh-CN" altLang="en-US" sz="1600" dirty="0" smtClean="0">
                  <a:latin typeface="微软雅黑"/>
                  <a:ea typeface="微软雅黑"/>
                  <a:cs typeface="微软雅黑"/>
                </a:rPr>
                <a:t>：</a:t>
              </a:r>
              <a:endParaRPr kumimoji="1" lang="zh-CN" altLang="en-US" sz="1600" dirty="0"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883905" y="4509856"/>
            <a:ext cx="5116591" cy="708278"/>
            <a:chOff x="179511" y="2197886"/>
            <a:chExt cx="5116591" cy="708278"/>
          </a:xfrm>
        </p:grpSpPr>
        <p:sp>
          <p:nvSpPr>
            <p:cNvPr id="56" name="Text Box 15"/>
            <p:cNvSpPr txBox="1">
              <a:spLocks noChangeArrowheads="1"/>
            </p:cNvSpPr>
            <p:nvPr/>
          </p:nvSpPr>
          <p:spPr bwMode="auto">
            <a:xfrm>
              <a:off x="179511" y="2198278"/>
              <a:ext cx="5116591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2</a:t>
              </a:r>
              <a:r>
                <a:rPr lang="zh-CN" altLang="en-US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、</a:t>
              </a:r>
              <a:r>
                <a:rPr lang="zh-CN" altLang="en-US" sz="1600" dirty="0">
                  <a:latin typeface="微软雅黑"/>
                  <a:ea typeface="微软雅黑"/>
                  <a:cs typeface="微软雅黑"/>
                </a:rPr>
                <a:t>带内最大应力值</a:t>
              </a:r>
              <a:r>
                <a:rPr lang="zh-CN" altLang="en-US" sz="1600" dirty="0" smtClean="0">
                  <a:latin typeface="微软雅黑"/>
                  <a:ea typeface="微软雅黑"/>
                  <a:cs typeface="微软雅黑"/>
                </a:rPr>
                <a:t>：                                       </a:t>
              </a:r>
              <a:endParaRPr lang="en-US" altLang="zh-CN" sz="1600" dirty="0" smtClean="0">
                <a:latin typeface="微软雅黑"/>
                <a:ea typeface="微软雅黑"/>
                <a:cs typeface="微软雅黑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微软雅黑"/>
                  <a:ea typeface="微软雅黑"/>
                  <a:cs typeface="微软雅黑"/>
                </a:rPr>
                <a:t> </a:t>
              </a:r>
              <a:r>
                <a:rPr lang="en-US" altLang="zh-CN" sz="1600" dirty="0" smtClean="0">
                  <a:latin typeface="微软雅黑"/>
                  <a:ea typeface="微软雅黑"/>
                  <a:cs typeface="微软雅黑"/>
                </a:rPr>
                <a:t>    </a:t>
              </a:r>
              <a:r>
                <a:rPr lang="zh-CN" altLang="en-US" sz="1600" dirty="0" smtClean="0">
                  <a:latin typeface="微软雅黑"/>
                  <a:ea typeface="微软雅黑"/>
                  <a:cs typeface="微软雅黑"/>
                </a:rPr>
                <a:t>最大应力</a:t>
              </a:r>
              <a:r>
                <a:rPr lang="zh-CN" altLang="en-US" sz="1600" dirty="0">
                  <a:latin typeface="微软雅黑"/>
                  <a:ea typeface="微软雅黑"/>
                  <a:cs typeface="微软雅黑"/>
                </a:rPr>
                <a:t>发生位置</a:t>
              </a:r>
              <a:r>
                <a:rPr lang="zh-CN" altLang="en-US" sz="1600" dirty="0" smtClean="0">
                  <a:latin typeface="微软雅黑"/>
                  <a:ea typeface="微软雅黑"/>
                  <a:cs typeface="微软雅黑"/>
                </a:rPr>
                <a:t>：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紧边开始绕上小带轮处（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c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点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）</a:t>
              </a:r>
              <a:endParaRPr lang="zh-CN" altLang="en-US" sz="16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graphicFrame>
          <p:nvGraphicFramePr>
            <p:cNvPr id="57" name="Object 285"/>
            <p:cNvGraphicFramePr>
              <a:graphicFrameLocks noChangeAspect="1"/>
            </p:cNvGraphicFramePr>
            <p:nvPr>
              <p:extLst/>
            </p:nvPr>
          </p:nvGraphicFramePr>
          <p:xfrm>
            <a:off x="2337962" y="2197886"/>
            <a:ext cx="2022475" cy="320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674" name="公式" r:id="rId10" imgW="1434960" imgH="228600" progId="Equation.3">
                    <p:embed/>
                  </p:oleObj>
                </mc:Choice>
                <mc:Fallback>
                  <p:oleObj name="公式" r:id="rId10" imgW="14349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962" y="2197886"/>
                          <a:ext cx="2022475" cy="3207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157566" y="5235240"/>
            <a:ext cx="5472609" cy="437043"/>
            <a:chOff x="179512" y="3745404"/>
            <a:chExt cx="5472609" cy="437043"/>
          </a:xfrm>
        </p:grpSpPr>
        <p:sp>
          <p:nvSpPr>
            <p:cNvPr id="59" name="Line 7"/>
            <p:cNvSpPr>
              <a:spLocks noChangeShapeType="1"/>
            </p:cNvSpPr>
            <p:nvPr/>
          </p:nvSpPr>
          <p:spPr bwMode="auto">
            <a:xfrm>
              <a:off x="2430614" y="3965901"/>
              <a:ext cx="3268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>
              <a:off x="179512" y="3745404"/>
              <a:ext cx="5472609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zh-CN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3</a:t>
              </a:r>
              <a:r>
                <a:rPr kumimoji="1" lang="zh-CN" altLang="en-US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、</a:t>
              </a:r>
              <a:r>
                <a:rPr kumimoji="1" lang="en-US" altLang="zh-CN" sz="1600" dirty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σ</a:t>
              </a:r>
              <a:r>
                <a:rPr kumimoji="1" lang="en-US" altLang="zh-CN" sz="1600" baseline="-25000" dirty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b</a:t>
              </a:r>
              <a:r>
                <a:rPr kumimoji="1" lang="zh-CN" altLang="en-US" sz="1600" dirty="0">
                  <a:solidFill>
                    <a:srgbClr val="FF0000"/>
                  </a:solidFill>
                  <a:latin typeface="微软雅黑"/>
                  <a:ea typeface="微软雅黑"/>
                  <a:cs typeface="微软雅黑"/>
                </a:rPr>
                <a:t>占比例最大</a:t>
              </a:r>
              <a:r>
                <a:rPr kumimoji="1" lang="zh-CN" altLang="en-US" sz="1600" dirty="0">
                  <a:latin typeface="微软雅黑"/>
                  <a:ea typeface="微软雅黑"/>
                  <a:cs typeface="微软雅黑"/>
                </a:rPr>
                <a:t>，</a:t>
              </a:r>
              <a:r>
                <a:rPr kumimoji="1" lang="en-US" altLang="zh-CN" sz="1600" dirty="0">
                  <a:latin typeface="微软雅黑"/>
                  <a:ea typeface="微软雅黑"/>
                  <a:cs typeface="微软雅黑"/>
                </a:rPr>
                <a:t>d</a:t>
              </a:r>
              <a:r>
                <a:rPr kumimoji="1" lang="en-US" altLang="zh-CN" sz="1600" baseline="-25000" dirty="0">
                  <a:latin typeface="微软雅黑"/>
                  <a:ea typeface="微软雅黑"/>
                  <a:cs typeface="微软雅黑"/>
                </a:rPr>
                <a:t>d</a:t>
              </a:r>
              <a:r>
                <a:rPr kumimoji="1" lang="en-US" altLang="zh-CN" sz="1600" dirty="0" smtClean="0">
                  <a:latin typeface="微软雅黑"/>
                  <a:ea typeface="微软雅黑"/>
                  <a:cs typeface="微软雅黑"/>
                </a:rPr>
                <a:t>↓        σ</a:t>
              </a:r>
              <a:r>
                <a:rPr kumimoji="1" lang="en-US" altLang="zh-CN" sz="1600" baseline="-25000" dirty="0" smtClean="0">
                  <a:latin typeface="微软雅黑"/>
                  <a:ea typeface="微软雅黑"/>
                  <a:cs typeface="微软雅黑"/>
                </a:rPr>
                <a:t>b</a:t>
              </a:r>
              <a:r>
                <a:rPr kumimoji="1" lang="en-US" altLang="zh-CN" sz="1600" dirty="0" smtClean="0">
                  <a:latin typeface="微软雅黑"/>
                  <a:ea typeface="微软雅黑"/>
                  <a:cs typeface="微软雅黑"/>
                </a:rPr>
                <a:t> </a:t>
              </a:r>
              <a:r>
                <a:rPr kumimoji="1" lang="en-US" altLang="zh-CN" sz="1600" dirty="0">
                  <a:latin typeface="微软雅黑"/>
                  <a:ea typeface="微软雅黑"/>
                  <a:cs typeface="微软雅黑"/>
                </a:rPr>
                <a:t>↑ </a:t>
              </a:r>
              <a:r>
                <a:rPr kumimoji="1" lang="en-US" altLang="zh-CN" sz="1600" dirty="0" smtClean="0">
                  <a:latin typeface="微软雅黑"/>
                  <a:ea typeface="微软雅黑"/>
                  <a:cs typeface="微软雅黑"/>
                </a:rPr>
                <a:t>∴  </a:t>
              </a:r>
              <a:r>
                <a:rPr kumimoji="1" lang="zh-CN" altLang="en-US" sz="1600" dirty="0" smtClean="0">
                  <a:latin typeface="微软雅黑"/>
                  <a:ea typeface="微软雅黑"/>
                  <a:cs typeface="微软雅黑"/>
                </a:rPr>
                <a:t>每</a:t>
              </a:r>
              <a:r>
                <a:rPr kumimoji="1" lang="zh-CN" altLang="en-US" sz="1600" dirty="0">
                  <a:latin typeface="微软雅黑"/>
                  <a:ea typeface="微软雅黑"/>
                  <a:cs typeface="微软雅黑"/>
                </a:rPr>
                <a:t>种带选择</a:t>
              </a:r>
              <a:r>
                <a:rPr kumimoji="1" lang="en-US" altLang="zh-CN" sz="1600" dirty="0" smtClean="0">
                  <a:latin typeface="微软雅黑"/>
                  <a:ea typeface="微软雅黑"/>
                  <a:cs typeface="微软雅黑"/>
                </a:rPr>
                <a:t>d</a:t>
              </a:r>
              <a:r>
                <a:rPr kumimoji="1" lang="en-US" altLang="zh-CN" sz="1600" baseline="-25000" dirty="0" smtClean="0">
                  <a:latin typeface="微软雅黑"/>
                  <a:ea typeface="微软雅黑"/>
                  <a:cs typeface="微软雅黑"/>
                </a:rPr>
                <a:t>d</a:t>
              </a:r>
              <a:r>
                <a:rPr kumimoji="1" lang="en-US" altLang="zh-CN" sz="1600" dirty="0" smtClean="0">
                  <a:latin typeface="微软雅黑"/>
                  <a:ea typeface="微软雅黑"/>
                  <a:cs typeface="微软雅黑"/>
                </a:rPr>
                <a:t>&gt;d</a:t>
              </a:r>
              <a:r>
                <a:rPr kumimoji="1" lang="en-US" altLang="zh-CN" sz="1600" baseline="-25000" dirty="0" smtClean="0">
                  <a:latin typeface="微软雅黑"/>
                  <a:ea typeface="微软雅黑"/>
                  <a:cs typeface="微软雅黑"/>
                </a:rPr>
                <a:t>dmin</a:t>
              </a:r>
              <a:endParaRPr kumimoji="1" lang="zh-CN" altLang="en-US" sz="1600" baseline="-25000" dirty="0"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586285" y="5242034"/>
            <a:ext cx="3457076" cy="437043"/>
            <a:chOff x="5652120" y="5263979"/>
            <a:chExt cx="3457076" cy="437043"/>
          </a:xfrm>
        </p:grpSpPr>
        <p:sp>
          <p:nvSpPr>
            <p:cNvPr id="64" name="Rectangle 12"/>
            <p:cNvSpPr>
              <a:spLocks noChangeArrowheads="1"/>
            </p:cNvSpPr>
            <p:nvPr/>
          </p:nvSpPr>
          <p:spPr bwMode="auto">
            <a:xfrm>
              <a:off x="5652120" y="5263979"/>
              <a:ext cx="3457076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kumimoji="1" lang="en-US" altLang="zh-CN" sz="1600" dirty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4</a:t>
              </a:r>
              <a:r>
                <a:rPr kumimoji="1" lang="zh-CN" altLang="en-US" sz="1600" dirty="0" smtClean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、</a:t>
              </a:r>
              <a:r>
                <a:rPr kumimoji="1" lang="zh-CN" altLang="en-US" sz="1600" dirty="0" smtClean="0">
                  <a:latin typeface="微软雅黑"/>
                  <a:ea typeface="微软雅黑"/>
                  <a:cs typeface="微软雅黑"/>
                </a:rPr>
                <a:t>受     影响，需限制</a:t>
              </a:r>
              <a:r>
                <a:rPr kumimoji="1" lang="en-US" altLang="zh-CN" sz="1600" dirty="0" smtClean="0">
                  <a:latin typeface="微软雅黑"/>
                  <a:ea typeface="微软雅黑"/>
                  <a:cs typeface="微软雅黑"/>
                </a:rPr>
                <a:t>v&lt;5</a:t>
              </a:r>
              <a:r>
                <a:rPr kumimoji="1" lang="zh-CN" altLang="en-US" sz="1600" dirty="0">
                  <a:latin typeface="微软雅黑"/>
                  <a:ea typeface="微软雅黑"/>
                  <a:cs typeface="微软雅黑"/>
                </a:rPr>
                <a:t>～</a:t>
              </a:r>
              <a:r>
                <a:rPr kumimoji="1" lang="en-US" altLang="zh-CN" sz="1600" dirty="0">
                  <a:latin typeface="微软雅黑"/>
                  <a:ea typeface="微软雅黑"/>
                  <a:cs typeface="微软雅黑"/>
                </a:rPr>
                <a:t>25m/s</a:t>
              </a:r>
              <a:r>
                <a:rPr kumimoji="1" lang="zh-CN" altLang="en-US" sz="1600" dirty="0">
                  <a:latin typeface="微软雅黑"/>
                  <a:ea typeface="微软雅黑"/>
                  <a:cs typeface="微软雅黑"/>
                </a:rPr>
                <a:t>    </a:t>
              </a:r>
            </a:p>
          </p:txBody>
        </p:sp>
        <p:graphicFrame>
          <p:nvGraphicFramePr>
            <p:cNvPr id="65" name="对象 64"/>
            <p:cNvGraphicFramePr>
              <a:graphicFrameLocks noChangeAspect="1"/>
            </p:cNvGraphicFramePr>
            <p:nvPr>
              <p:extLst/>
            </p:nvPr>
          </p:nvGraphicFramePr>
          <p:xfrm>
            <a:off x="6278247" y="5273691"/>
            <a:ext cx="314325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0675" name="公式" r:id="rId12" imgW="190500" imgH="228600" progId="Equation.3">
                    <p:embed/>
                  </p:oleObj>
                </mc:Choice>
                <mc:Fallback>
                  <p:oleObj name="公式" r:id="rId12" imgW="190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8247" y="5273691"/>
                          <a:ext cx="314325" cy="377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3835885" y="553244"/>
            <a:ext cx="5164611" cy="3939898"/>
            <a:chOff x="3835885" y="553244"/>
            <a:chExt cx="5164611" cy="3939898"/>
          </a:xfrm>
        </p:grpSpPr>
        <p:grpSp>
          <p:nvGrpSpPr>
            <p:cNvPr id="3" name="组合 2"/>
            <p:cNvGrpSpPr/>
            <p:nvPr/>
          </p:nvGrpSpPr>
          <p:grpSpPr>
            <a:xfrm>
              <a:off x="3843085" y="553244"/>
              <a:ext cx="5157411" cy="3939898"/>
              <a:chOff x="3843085" y="553244"/>
              <a:chExt cx="5157411" cy="3939898"/>
            </a:xfrm>
          </p:grpSpPr>
          <p:pic>
            <p:nvPicPr>
              <p:cNvPr id="28" name="Picture 4" descr="ylfb">
                <a:hlinkClick r:id="rId14" action="ppaction://hlinkfile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229" b="41340"/>
              <a:stretch/>
            </p:blipFill>
            <p:spPr bwMode="auto">
              <a:xfrm>
                <a:off x="3843085" y="553244"/>
                <a:ext cx="5157411" cy="2495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3">
                <a:hlinkClick r:id="rId16"/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lum bright="-18000" contrast="18000"/>
              </a:blip>
              <a:srcRect l="8521" t="58973" r="8938" b="10654"/>
              <a:stretch/>
            </p:blipFill>
            <p:spPr bwMode="auto">
              <a:xfrm>
                <a:off x="3865578" y="3048411"/>
                <a:ext cx="5134918" cy="14447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61" name="直接连接符 60"/>
            <p:cNvCxnSpPr/>
            <p:nvPr/>
          </p:nvCxnSpPr>
          <p:spPr>
            <a:xfrm flipH="1">
              <a:off x="4644008" y="2166485"/>
              <a:ext cx="95250" cy="52291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5997760" y="592971"/>
                  <a:ext cx="226023" cy="28814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36000" rIns="0" bIns="3600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7760" y="592971"/>
                  <a:ext cx="226023" cy="288147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 l="-10811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5586285" y="1350981"/>
                  <a:ext cx="220573" cy="28814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36000" rIns="0" bIns="3600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285" y="1350981"/>
                  <a:ext cx="220573" cy="288147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l="-81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/>
                <p:cNvSpPr txBox="1"/>
                <p:nvPr/>
              </p:nvSpPr>
              <p:spPr>
                <a:xfrm>
                  <a:off x="5869990" y="2717070"/>
                  <a:ext cx="221856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7" name="文本框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9990" y="2717070"/>
                  <a:ext cx="221856" cy="215444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l="-11111" r="-2778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/>
                <p:cNvSpPr txBox="1"/>
                <p:nvPr/>
              </p:nvSpPr>
              <p:spPr>
                <a:xfrm>
                  <a:off x="3835885" y="2354196"/>
                  <a:ext cx="304571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8" name="文本框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5885" y="2354196"/>
                  <a:ext cx="304571" cy="215444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l="-6000" r="-4000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/>
                <p:cNvSpPr txBox="1"/>
                <p:nvPr/>
              </p:nvSpPr>
              <p:spPr>
                <a:xfrm>
                  <a:off x="8590048" y="2459097"/>
                  <a:ext cx="304571" cy="21544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9" name="文本框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0048" y="2459097"/>
                  <a:ext cx="304571" cy="215444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 l="-6000" r="-4000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06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23528" y="553244"/>
            <a:ext cx="1884816" cy="492443"/>
            <a:chOff x="323528" y="564857"/>
            <a:chExt cx="1884816" cy="49244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1524776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弹性滑动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8" name="Picture 15" descr="AR1031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52" name="Text Box 3">
            <a:extLst>
              <a:ext uri="{FF2B5EF4-FFF2-40B4-BE49-F238E27FC236}">
                <a16:creationId xmlns="" xmlns:a16="http://schemas.microsoft.com/office/drawing/2014/main" id="{747C47B6-AF43-4CC3-8391-F3D26433B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09" y="1201262"/>
            <a:ext cx="550295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2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原因分析：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带为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弹性体，受力不同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伸长不等，产生带与带轮之间的滑动。</a:t>
            </a:r>
          </a:p>
        </p:txBody>
      </p:sp>
      <p:sp>
        <p:nvSpPr>
          <p:cNvPr id="53" name="Text Box 45" descr="竖虚线">
            <a:extLst>
              <a:ext uri="{FF2B5EF4-FFF2-40B4-BE49-F238E27FC236}">
                <a16:creationId xmlns="" xmlns:a16="http://schemas.microsoft.com/office/drawing/2014/main" id="{9DB613CA-728D-4F72-AA78-50DF25D0C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05" y="2209428"/>
            <a:ext cx="5258111" cy="938719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10000"/>
              </a:spcBef>
              <a:buFont typeface="Arial" panose="020B0604020202020204" pitchFamily="34" charset="0"/>
              <a:buChar char="•"/>
            </a:pP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主动轮：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↓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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↓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＜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轮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Font typeface="Arial" panose="020B0604020202020204" pitchFamily="34" charset="0"/>
              <a:buChar char="•"/>
            </a:pP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从动轮：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↑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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↑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＞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轮</a:t>
            </a:r>
          </a:p>
        </p:txBody>
      </p:sp>
      <p:grpSp>
        <p:nvGrpSpPr>
          <p:cNvPr id="54" name="Group 54">
            <a:extLst>
              <a:ext uri="{FF2B5EF4-FFF2-40B4-BE49-F238E27FC236}">
                <a16:creationId xmlns="" xmlns:a16="http://schemas.microsoft.com/office/drawing/2014/main" id="{FF12D1DE-8C7E-4250-B114-6BF3F63ACB0D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3357656"/>
            <a:ext cx="2135187" cy="430213"/>
            <a:chOff x="4090" y="2111"/>
            <a:chExt cx="1345" cy="271"/>
          </a:xfrm>
        </p:grpSpPr>
        <p:sp>
          <p:nvSpPr>
            <p:cNvPr id="55" name="Text Box 46" descr="竖虚线">
              <a:extLst>
                <a:ext uri="{FF2B5EF4-FFF2-40B4-BE49-F238E27FC236}">
                  <a16:creationId xmlns="" xmlns:a16="http://schemas.microsoft.com/office/drawing/2014/main" id="{8D09BD19-1A49-4A20-A653-EFE0933B9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7" y="2111"/>
              <a:ext cx="868" cy="27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v</a:t>
              </a:r>
              <a:r>
                <a:rPr lang="zh-CN" altLang="en-US" sz="2200" i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轮1</a:t>
              </a:r>
              <a:r>
                <a:rPr lang="zh-CN" altLang="en-US" sz="22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＞</a:t>
              </a:r>
              <a:r>
                <a:rPr lang="en-US" altLang="zh-CN" sz="22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v</a:t>
              </a:r>
              <a:r>
                <a:rPr lang="zh-CN" altLang="en-US" sz="2200" i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轮2</a:t>
              </a:r>
            </a:p>
          </p:txBody>
        </p:sp>
        <p:sp>
          <p:nvSpPr>
            <p:cNvPr id="56" name="AutoShape 47" descr="竖虚线">
              <a:extLst>
                <a:ext uri="{FF2B5EF4-FFF2-40B4-BE49-F238E27FC236}">
                  <a16:creationId xmlns="" xmlns:a16="http://schemas.microsoft.com/office/drawing/2014/main" id="{AC167C64-CD49-47C1-904B-C063DC8F4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" y="2198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endParaRPr lang="zh-CN" altLang="en-US"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Text Box 48">
            <a:extLst>
              <a:ext uri="{FF2B5EF4-FFF2-40B4-BE49-F238E27FC236}">
                <a16:creationId xmlns="" xmlns:a16="http://schemas.microsoft.com/office/drawing/2014/main" id="{D5DBA0FC-9BAA-47F7-87DF-97AB1906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54" y="3925655"/>
            <a:ext cx="8856042" cy="108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定义：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弹性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滑动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拉力差引起的带的弹性变形而产生的滑动现象。</a:t>
            </a:r>
            <a:endParaRPr lang="en-US" altLang="zh-CN" sz="2200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⸪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拉力差不可避免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，弹性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滑动是</a:t>
            </a:r>
            <a:r>
              <a:rPr lang="zh-CN" altLang="en-US" sz="22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不可避免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的，是带传动的</a:t>
            </a:r>
            <a:r>
              <a:rPr lang="zh-CN" altLang="en-US" sz="22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固有特性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200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8" name="Group 87"/>
          <p:cNvGrpSpPr>
            <a:grpSpLocks/>
          </p:cNvGrpSpPr>
          <p:nvPr/>
        </p:nvGrpSpPr>
        <p:grpSpPr bwMode="auto">
          <a:xfrm>
            <a:off x="5918766" y="752896"/>
            <a:ext cx="2959100" cy="2913063"/>
            <a:chOff x="3612" y="315"/>
            <a:chExt cx="1864" cy="1835"/>
          </a:xfrm>
        </p:grpSpPr>
        <p:sp>
          <p:nvSpPr>
            <p:cNvPr id="59" name="Oval 44"/>
            <p:cNvSpPr>
              <a:spLocks noChangeArrowheads="1"/>
            </p:cNvSpPr>
            <p:nvPr/>
          </p:nvSpPr>
          <p:spPr bwMode="auto">
            <a:xfrm>
              <a:off x="3804" y="697"/>
              <a:ext cx="1135" cy="1135"/>
            </a:xfrm>
            <a:prstGeom prst="ellipse">
              <a:avLst/>
            </a:prstGeom>
            <a:noFill/>
            <a:ln w="9525">
              <a:solidFill>
                <a:srgbClr val="000099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0" name="Arc 45"/>
            <p:cNvSpPr>
              <a:spLocks/>
            </p:cNvSpPr>
            <p:nvPr/>
          </p:nvSpPr>
          <p:spPr bwMode="auto">
            <a:xfrm>
              <a:off x="3792" y="702"/>
              <a:ext cx="576" cy="1124"/>
            </a:xfrm>
            <a:custGeom>
              <a:avLst/>
              <a:gdLst>
                <a:gd name="G0" fmla="+- 21600 0 0"/>
                <a:gd name="G1" fmla="+- 21066 0 0"/>
                <a:gd name="G2" fmla="+- 21600 0 0"/>
                <a:gd name="T0" fmla="*/ 16915 w 21600"/>
                <a:gd name="T1" fmla="*/ 42152 h 42152"/>
                <a:gd name="T2" fmla="*/ 16828 w 21600"/>
                <a:gd name="T3" fmla="*/ 0 h 42152"/>
                <a:gd name="T4" fmla="*/ 21600 w 21600"/>
                <a:gd name="T5" fmla="*/ 21066 h 4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2152" fill="none" extrusionOk="0">
                  <a:moveTo>
                    <a:pt x="16915" y="42151"/>
                  </a:moveTo>
                  <a:cubicBezTo>
                    <a:pt x="7031" y="39955"/>
                    <a:pt x="0" y="31190"/>
                    <a:pt x="0" y="21066"/>
                  </a:cubicBezTo>
                  <a:cubicBezTo>
                    <a:pt x="-1" y="10975"/>
                    <a:pt x="6986" y="2229"/>
                    <a:pt x="16827" y="-1"/>
                  </a:cubicBezTo>
                </a:path>
                <a:path w="21600" h="42152" stroke="0" extrusionOk="0">
                  <a:moveTo>
                    <a:pt x="16915" y="42151"/>
                  </a:moveTo>
                  <a:cubicBezTo>
                    <a:pt x="7031" y="39955"/>
                    <a:pt x="0" y="31190"/>
                    <a:pt x="0" y="21066"/>
                  </a:cubicBezTo>
                  <a:cubicBezTo>
                    <a:pt x="-1" y="10975"/>
                    <a:pt x="6986" y="2229"/>
                    <a:pt x="16827" y="-1"/>
                  </a:cubicBezTo>
                  <a:lnTo>
                    <a:pt x="21600" y="21066"/>
                  </a:lnTo>
                  <a:close/>
                </a:path>
              </a:pathLst>
            </a:custGeom>
            <a:noFill/>
            <a:ln w="63500" cmpd="dbl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1" name="Line 46"/>
            <p:cNvSpPr>
              <a:spLocks noChangeShapeType="1"/>
            </p:cNvSpPr>
            <p:nvPr/>
          </p:nvSpPr>
          <p:spPr bwMode="auto">
            <a:xfrm flipV="1">
              <a:off x="4220" y="504"/>
              <a:ext cx="724" cy="1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2" name="Line 47"/>
            <p:cNvSpPr>
              <a:spLocks noChangeShapeType="1"/>
            </p:cNvSpPr>
            <p:nvPr/>
          </p:nvSpPr>
          <p:spPr bwMode="auto">
            <a:xfrm flipV="1">
              <a:off x="4228" y="532"/>
              <a:ext cx="724" cy="1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3" name="Line 48"/>
            <p:cNvSpPr>
              <a:spLocks noChangeShapeType="1"/>
            </p:cNvSpPr>
            <p:nvPr/>
          </p:nvSpPr>
          <p:spPr bwMode="auto">
            <a:xfrm>
              <a:off x="4240" y="1812"/>
              <a:ext cx="724" cy="1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4" name="Line 49"/>
            <p:cNvSpPr>
              <a:spLocks noChangeShapeType="1"/>
            </p:cNvSpPr>
            <p:nvPr/>
          </p:nvSpPr>
          <p:spPr bwMode="auto">
            <a:xfrm>
              <a:off x="4232" y="1836"/>
              <a:ext cx="724" cy="1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5" name="Line 50"/>
            <p:cNvSpPr>
              <a:spLocks noChangeShapeType="1"/>
            </p:cNvSpPr>
            <p:nvPr/>
          </p:nvSpPr>
          <p:spPr bwMode="auto">
            <a:xfrm flipH="1">
              <a:off x="4952" y="1996"/>
              <a:ext cx="8" cy="26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6" name="Line 51"/>
            <p:cNvSpPr>
              <a:spLocks noChangeShapeType="1"/>
            </p:cNvSpPr>
            <p:nvPr/>
          </p:nvSpPr>
          <p:spPr bwMode="auto">
            <a:xfrm flipH="1" flipV="1">
              <a:off x="4940" y="504"/>
              <a:ext cx="8" cy="26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7" name="Line 53"/>
            <p:cNvSpPr>
              <a:spLocks noChangeShapeType="1"/>
            </p:cNvSpPr>
            <p:nvPr/>
          </p:nvSpPr>
          <p:spPr bwMode="auto">
            <a:xfrm>
              <a:off x="4374" y="458"/>
              <a:ext cx="0" cy="16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8" name="Line 54"/>
            <p:cNvSpPr>
              <a:spLocks noChangeShapeType="1"/>
            </p:cNvSpPr>
            <p:nvPr/>
          </p:nvSpPr>
          <p:spPr bwMode="auto">
            <a:xfrm>
              <a:off x="3612" y="1268"/>
              <a:ext cx="15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9" name="Line 55"/>
            <p:cNvSpPr>
              <a:spLocks noChangeShapeType="1"/>
            </p:cNvSpPr>
            <p:nvPr/>
          </p:nvSpPr>
          <p:spPr bwMode="auto">
            <a:xfrm flipV="1">
              <a:off x="4944" y="440"/>
              <a:ext cx="324" cy="7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0" name="Line 56"/>
            <p:cNvSpPr>
              <a:spLocks noChangeShapeType="1"/>
            </p:cNvSpPr>
            <p:nvPr/>
          </p:nvSpPr>
          <p:spPr bwMode="auto">
            <a:xfrm flipH="1" flipV="1">
              <a:off x="4230" y="716"/>
              <a:ext cx="144" cy="55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1" name="Line 57"/>
            <p:cNvSpPr>
              <a:spLocks noChangeShapeType="1"/>
            </p:cNvSpPr>
            <p:nvPr/>
          </p:nvSpPr>
          <p:spPr bwMode="auto">
            <a:xfrm flipH="1">
              <a:off x="4230" y="1268"/>
              <a:ext cx="144" cy="55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2" name="Line 58"/>
            <p:cNvSpPr>
              <a:spLocks noChangeShapeType="1"/>
            </p:cNvSpPr>
            <p:nvPr/>
          </p:nvSpPr>
          <p:spPr bwMode="auto">
            <a:xfrm>
              <a:off x="4962" y="2012"/>
              <a:ext cx="324" cy="7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3" name="Freeform 60"/>
            <p:cNvSpPr>
              <a:spLocks/>
            </p:cNvSpPr>
            <p:nvPr/>
          </p:nvSpPr>
          <p:spPr bwMode="auto">
            <a:xfrm>
              <a:off x="4176" y="1046"/>
              <a:ext cx="144" cy="432"/>
            </a:xfrm>
            <a:custGeom>
              <a:avLst/>
              <a:gdLst>
                <a:gd name="T0" fmla="*/ 144 w 144"/>
                <a:gd name="T1" fmla="*/ 0 h 432"/>
                <a:gd name="T2" fmla="*/ 42 w 144"/>
                <a:gd name="T3" fmla="*/ 72 h 432"/>
                <a:gd name="T4" fmla="*/ 0 w 144"/>
                <a:gd name="T5" fmla="*/ 216 h 432"/>
                <a:gd name="T6" fmla="*/ 42 w 144"/>
                <a:gd name="T7" fmla="*/ 348 h 432"/>
                <a:gd name="T8" fmla="*/ 138 w 144"/>
                <a:gd name="T9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432">
                  <a:moveTo>
                    <a:pt x="144" y="0"/>
                  </a:moveTo>
                  <a:cubicBezTo>
                    <a:pt x="127" y="12"/>
                    <a:pt x="66" y="36"/>
                    <a:pt x="42" y="72"/>
                  </a:cubicBezTo>
                  <a:cubicBezTo>
                    <a:pt x="18" y="108"/>
                    <a:pt x="0" y="170"/>
                    <a:pt x="0" y="216"/>
                  </a:cubicBezTo>
                  <a:cubicBezTo>
                    <a:pt x="0" y="262"/>
                    <a:pt x="19" y="312"/>
                    <a:pt x="42" y="348"/>
                  </a:cubicBezTo>
                  <a:cubicBezTo>
                    <a:pt x="65" y="384"/>
                    <a:pt x="118" y="414"/>
                    <a:pt x="138" y="432"/>
                  </a:cubicBezTo>
                </a:path>
              </a:pathLst>
            </a:custGeom>
            <a:noFill/>
            <a:ln w="9525">
              <a:solidFill>
                <a:srgbClr val="000099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4" name="Line 61"/>
            <p:cNvSpPr>
              <a:spLocks noChangeShapeType="1"/>
            </p:cNvSpPr>
            <p:nvPr/>
          </p:nvSpPr>
          <p:spPr bwMode="auto">
            <a:xfrm flipH="1">
              <a:off x="3972" y="1268"/>
              <a:ext cx="402" cy="40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5" name="Text Box 62"/>
            <p:cNvSpPr txBox="1">
              <a:spLocks noChangeArrowheads="1"/>
            </p:cNvSpPr>
            <p:nvPr/>
          </p:nvSpPr>
          <p:spPr bwMode="auto">
            <a:xfrm>
              <a:off x="4106" y="1784"/>
              <a:ext cx="2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A</a:t>
              </a:r>
              <a:endParaRPr lang="en-US" altLang="zh-CN" b="1" kern="0" baseline="-25000" dirty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6" name="Text Box 64"/>
            <p:cNvSpPr txBox="1">
              <a:spLocks noChangeArrowheads="1"/>
            </p:cNvSpPr>
            <p:nvPr/>
          </p:nvSpPr>
          <p:spPr bwMode="auto">
            <a:xfrm>
              <a:off x="4055" y="458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B</a:t>
              </a:r>
              <a:r>
                <a:rPr lang="en-US" altLang="zh-CN" b="1" kern="0" baseline="-2500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7" name="Text Box 65"/>
            <p:cNvSpPr txBox="1">
              <a:spLocks noChangeArrowheads="1"/>
            </p:cNvSpPr>
            <p:nvPr/>
          </p:nvSpPr>
          <p:spPr bwMode="auto">
            <a:xfrm>
              <a:off x="5216" y="315"/>
              <a:ext cx="2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FF0000"/>
                  </a:solidFill>
                  <a:latin typeface="Times New Roman"/>
                  <a:ea typeface="华文中宋" panose="02010600040101010101" pitchFamily="2" charset="-122"/>
                </a:rPr>
                <a:t>F</a:t>
              </a:r>
              <a:r>
                <a:rPr lang="en-US" altLang="zh-CN" b="1" kern="0" baseline="-25000">
                  <a:solidFill>
                    <a:srgbClr val="FF0000"/>
                  </a:solidFill>
                  <a:latin typeface="Times New Roman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8" name="Text Box 66"/>
            <p:cNvSpPr txBox="1">
              <a:spLocks noChangeArrowheads="1"/>
            </p:cNvSpPr>
            <p:nvPr/>
          </p:nvSpPr>
          <p:spPr bwMode="auto">
            <a:xfrm>
              <a:off x="5222" y="1899"/>
              <a:ext cx="2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FF0000"/>
                  </a:solidFill>
                  <a:latin typeface="Times New Roman"/>
                  <a:ea typeface="华文中宋" panose="02010600040101010101" pitchFamily="2" charset="-122"/>
                </a:rPr>
                <a:t>F</a:t>
              </a:r>
              <a:r>
                <a:rPr lang="en-US" altLang="zh-CN" b="1" kern="0" baseline="-25000">
                  <a:solidFill>
                    <a:srgbClr val="FF0000"/>
                  </a:solidFill>
                  <a:latin typeface="Times New Roman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9" name="Text Box 67"/>
            <p:cNvSpPr txBox="1">
              <a:spLocks noChangeArrowheads="1"/>
            </p:cNvSpPr>
            <p:nvPr/>
          </p:nvSpPr>
          <p:spPr bwMode="auto">
            <a:xfrm>
              <a:off x="3938" y="1096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α</a:t>
              </a:r>
              <a:r>
                <a:rPr lang="en-US" altLang="zh-CN" b="1" kern="0" baseline="-2500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80" name="Freeform 68"/>
            <p:cNvSpPr>
              <a:spLocks/>
            </p:cNvSpPr>
            <p:nvPr/>
          </p:nvSpPr>
          <p:spPr bwMode="auto">
            <a:xfrm rot="285818">
              <a:off x="4116" y="746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arrow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1" name="Freeform 69"/>
            <p:cNvSpPr>
              <a:spLocks/>
            </p:cNvSpPr>
            <p:nvPr/>
          </p:nvSpPr>
          <p:spPr bwMode="auto">
            <a:xfrm rot="-297182">
              <a:off x="4004" y="818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arrow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2" name="Freeform 70"/>
            <p:cNvSpPr>
              <a:spLocks/>
            </p:cNvSpPr>
            <p:nvPr/>
          </p:nvSpPr>
          <p:spPr bwMode="auto">
            <a:xfrm rot="-1421277">
              <a:off x="3904" y="918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arrow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3" name="Freeform 71"/>
            <p:cNvSpPr>
              <a:spLocks/>
            </p:cNvSpPr>
            <p:nvPr/>
          </p:nvSpPr>
          <p:spPr bwMode="auto">
            <a:xfrm rot="-2396890">
              <a:off x="3832" y="1042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arrow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4" name="Freeform 72"/>
            <p:cNvSpPr>
              <a:spLocks/>
            </p:cNvSpPr>
            <p:nvPr/>
          </p:nvSpPr>
          <p:spPr bwMode="auto">
            <a:xfrm rot="-46579797">
              <a:off x="3796" y="1170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arrow" w="sm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5" name="Freeform 73"/>
            <p:cNvSpPr>
              <a:spLocks/>
            </p:cNvSpPr>
            <p:nvPr/>
          </p:nvSpPr>
          <p:spPr bwMode="auto">
            <a:xfrm rot="1421277" flipV="1">
              <a:off x="3904" y="1573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none" w="sm" len="med"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6" name="Freeform 74"/>
            <p:cNvSpPr>
              <a:spLocks/>
            </p:cNvSpPr>
            <p:nvPr/>
          </p:nvSpPr>
          <p:spPr bwMode="auto">
            <a:xfrm rot="2396890" flipV="1">
              <a:off x="3832" y="1449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none" w="sm" len="med"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7" name="Freeform 75"/>
            <p:cNvSpPr>
              <a:spLocks/>
            </p:cNvSpPr>
            <p:nvPr/>
          </p:nvSpPr>
          <p:spPr bwMode="auto">
            <a:xfrm rot="3379797" flipV="1">
              <a:off x="3796" y="1317"/>
              <a:ext cx="102" cy="48"/>
            </a:xfrm>
            <a:custGeom>
              <a:avLst/>
              <a:gdLst>
                <a:gd name="T0" fmla="*/ 102 w 102"/>
                <a:gd name="T1" fmla="*/ 0 h 48"/>
                <a:gd name="T2" fmla="*/ 42 w 102"/>
                <a:gd name="T3" fmla="*/ 24 h 48"/>
                <a:gd name="T4" fmla="*/ 0 w 10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48">
                  <a:moveTo>
                    <a:pt x="102" y="0"/>
                  </a:moveTo>
                  <a:cubicBezTo>
                    <a:pt x="80" y="8"/>
                    <a:pt x="59" y="16"/>
                    <a:pt x="42" y="24"/>
                  </a:cubicBezTo>
                  <a:cubicBezTo>
                    <a:pt x="25" y="32"/>
                    <a:pt x="12" y="40"/>
                    <a:pt x="0" y="48"/>
                  </a:cubicBezTo>
                </a:path>
              </a:pathLst>
            </a:custGeom>
            <a:noFill/>
            <a:ln w="9525">
              <a:solidFill>
                <a:srgbClr val="FF3399"/>
              </a:solidFill>
              <a:round/>
              <a:headEnd type="none" w="sm" len="med"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8" name="Freeform 77"/>
            <p:cNvSpPr>
              <a:spLocks/>
            </p:cNvSpPr>
            <p:nvPr/>
          </p:nvSpPr>
          <p:spPr bwMode="auto">
            <a:xfrm>
              <a:off x="4703" y="1454"/>
              <a:ext cx="169" cy="218"/>
            </a:xfrm>
            <a:custGeom>
              <a:avLst/>
              <a:gdLst>
                <a:gd name="T0" fmla="*/ 169 w 169"/>
                <a:gd name="T1" fmla="*/ 0 h 218"/>
                <a:gd name="T2" fmla="*/ 91 w 169"/>
                <a:gd name="T3" fmla="*/ 120 h 218"/>
                <a:gd name="T4" fmla="*/ 0 w 169"/>
                <a:gd name="T5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9" h="218">
                  <a:moveTo>
                    <a:pt x="169" y="0"/>
                  </a:moveTo>
                  <a:cubicBezTo>
                    <a:pt x="156" y="20"/>
                    <a:pt x="119" y="84"/>
                    <a:pt x="91" y="120"/>
                  </a:cubicBezTo>
                  <a:cubicBezTo>
                    <a:pt x="63" y="156"/>
                    <a:pt x="19" y="198"/>
                    <a:pt x="0" y="218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arrow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89" name="Text Box 78"/>
            <p:cNvSpPr txBox="1">
              <a:spLocks noChangeArrowheads="1"/>
            </p:cNvSpPr>
            <p:nvPr/>
          </p:nvSpPr>
          <p:spPr bwMode="auto">
            <a:xfrm>
              <a:off x="4478" y="1449"/>
              <a:ext cx="2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FF0000"/>
                  </a:solidFill>
                  <a:latin typeface="Times New Roman"/>
                  <a:ea typeface="华文中宋" panose="02010600040101010101" pitchFamily="2" charset="-122"/>
                </a:rPr>
                <a:t>n</a:t>
              </a:r>
              <a:r>
                <a:rPr lang="en-US" altLang="zh-CN" b="1" kern="0" baseline="-25000">
                  <a:solidFill>
                    <a:srgbClr val="FF0000"/>
                  </a:solidFill>
                  <a:latin typeface="Times New Roman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90" name="Text Box 79"/>
            <p:cNvSpPr txBox="1">
              <a:spLocks noChangeArrowheads="1"/>
            </p:cNvSpPr>
            <p:nvPr/>
          </p:nvSpPr>
          <p:spPr bwMode="auto">
            <a:xfrm>
              <a:off x="4310" y="1210"/>
              <a:ext cx="31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b="1" kern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Ｏ</a:t>
              </a:r>
              <a:r>
                <a:rPr lang="en-US" altLang="zh-CN" b="1" kern="0" baseline="-2500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91" name="Rectangle 81"/>
            <p:cNvSpPr>
              <a:spLocks noChangeArrowheads="1"/>
            </p:cNvSpPr>
            <p:nvPr/>
          </p:nvSpPr>
          <p:spPr bwMode="auto">
            <a:xfrm>
              <a:off x="3783" y="589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B</a:t>
              </a:r>
              <a:r>
                <a:rPr lang="en-US" altLang="zh-CN" b="1" kern="0" baseline="-2500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2</a:t>
              </a:r>
              <a:endParaRPr lang="zh-CN" altLang="en-US" b="1" kern="0" baseline="-25000" dirty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92" name="Oval 82"/>
            <p:cNvSpPr>
              <a:spLocks noChangeArrowheads="1"/>
            </p:cNvSpPr>
            <p:nvPr/>
          </p:nvSpPr>
          <p:spPr bwMode="auto">
            <a:xfrm>
              <a:off x="3973" y="804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93" name="Text Box 85"/>
            <p:cNvSpPr txBox="1">
              <a:spLocks noChangeArrowheads="1"/>
            </p:cNvSpPr>
            <p:nvPr/>
          </p:nvSpPr>
          <p:spPr bwMode="auto">
            <a:xfrm>
              <a:off x="4473" y="1907"/>
              <a:ext cx="2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V</a:t>
              </a:r>
              <a:endParaRPr lang="en-US" altLang="zh-CN" b="1" kern="0" baseline="-2500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94" name="Text Box 86"/>
            <p:cNvSpPr txBox="1">
              <a:spLocks noChangeArrowheads="1"/>
            </p:cNvSpPr>
            <p:nvPr/>
          </p:nvSpPr>
          <p:spPr bwMode="auto">
            <a:xfrm>
              <a:off x="4477" y="406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99"/>
                  </a:solidFill>
                  <a:latin typeface="Times New Roman"/>
                  <a:ea typeface="华文中宋" panose="02010600040101010101" pitchFamily="2" charset="-122"/>
                </a:rPr>
                <a:t>V′</a:t>
              </a:r>
              <a:endParaRPr lang="en-US" altLang="zh-CN" b="1" kern="0" baseline="-25000" dirty="0">
                <a:solidFill>
                  <a:srgbClr val="000099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</p:grpSp>
      <p:sp>
        <p:nvSpPr>
          <p:cNvPr id="95" name="Text Box 48">
            <a:extLst>
              <a:ext uri="{FF2B5EF4-FFF2-40B4-BE49-F238E27FC236}">
                <a16:creationId xmlns="" xmlns:a16="http://schemas.microsoft.com/office/drawing/2014/main" id="{D5DBA0FC-9BAA-47F7-87DF-97AB1906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54" y="4993640"/>
            <a:ext cx="8395787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i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后果</a:t>
            </a:r>
            <a:r>
              <a:rPr lang="zh-CN" altLang="en-US" sz="22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不准确；</a:t>
            </a:r>
            <a:r>
              <a:rPr lang="en-US" altLang="zh-CN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2）效率</a:t>
            </a:r>
            <a:r>
              <a:rPr lang="zh-CN" altLang="en-US" sz="2200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↓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；</a:t>
            </a:r>
            <a:r>
              <a:rPr lang="en-US" altLang="zh-CN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3）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磨损</a:t>
            </a:r>
            <a:r>
              <a:rPr lang="zh-CN" altLang="en-US" sz="2200" i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↑</a:t>
            </a:r>
            <a:r>
              <a:rPr lang="zh-CN" altLang="en-US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；</a:t>
            </a:r>
            <a:r>
              <a:rPr lang="en-US" altLang="zh-CN" sz="2200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4）温度</a:t>
            </a:r>
            <a:r>
              <a:rPr lang="zh-CN" altLang="en-US" sz="2200" i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↑</a:t>
            </a:r>
            <a:endParaRPr lang="zh-CN" altLang="en-US" sz="2200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767747" y="3364920"/>
                <a:ext cx="285206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弹性滑动率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  <a:ea typeface="+mn-ea"/>
                      </a:rPr>
                      <m:t>𝜀</m:t>
                    </m:r>
                  </m:oMath>
                </a14:m>
                <a:r>
                  <a:rPr lang="zh-CN" altLang="en-US" sz="22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来描述。</a:t>
                </a:r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747" y="3364920"/>
                <a:ext cx="2852063" cy="430887"/>
              </a:xfrm>
              <a:prstGeom prst="rect">
                <a:avLst/>
              </a:prstGeom>
              <a:blipFill rotWithShape="0">
                <a:blip r:embed="rId4"/>
                <a:stretch>
                  <a:fillRect l="-2778" t="-14085" r="-1709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99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3" grpId="0" animBg="1"/>
      <p:bldP spid="57" grpId="0" autoUpdateAnimBg="0"/>
      <p:bldP spid="95" grpId="0" autoUpdateAnimBg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53244"/>
            <a:ext cx="1214761" cy="492443"/>
            <a:chOff x="323528" y="564857"/>
            <a:chExt cx="1214761" cy="49244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85472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打滑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29" name="Text Box 20">
            <a:extLst>
              <a:ext uri="{FF2B5EF4-FFF2-40B4-BE49-F238E27FC236}">
                <a16:creationId xmlns="" xmlns:a16="http://schemas.microsoft.com/office/drawing/2014/main" id="{1577DCFF-72E9-4DB7-87B8-55C52932A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08" y="1709377"/>
            <a:ext cx="484303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marL="457200" indent="-457200"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2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定义：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由于</a:t>
            </a:r>
            <a:r>
              <a:rPr lang="zh-CN" altLang="en-US" sz="2200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过载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引起的带与带轮之间</a:t>
            </a:r>
            <a:r>
              <a:rPr lang="zh-CN" altLang="en-US" sz="2200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显著的全面的相对滑动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31" name="Text Box 19">
            <a:extLst>
              <a:ext uri="{FF2B5EF4-FFF2-40B4-BE49-F238E27FC236}">
                <a16:creationId xmlns="" xmlns:a16="http://schemas.microsoft.com/office/drawing/2014/main" id="{7F5A1F4C-783B-4649-9337-5E4CF5579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07" y="1154971"/>
            <a:ext cx="5054174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0" lang="zh-CN" altLang="en-US" sz="22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原因：</a:t>
            </a:r>
            <a:r>
              <a:rPr kumimoji="0" lang="zh-CN" altLang="zh-CN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T</a:t>
            </a:r>
            <a:r>
              <a:rPr lang="en-US" altLang="zh-CN" sz="22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e</a:t>
            </a:r>
            <a:r>
              <a:rPr lang="en-US" altLang="zh-CN" sz="2200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↑</a:t>
            </a:r>
            <a:r>
              <a:rPr lang="en-US" altLang="zh-CN" sz="2200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F</a:t>
            </a:r>
            <a:r>
              <a:rPr lang="en-US" altLang="zh-CN" sz="22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e</a:t>
            </a:r>
            <a:r>
              <a:rPr lang="en-US" altLang="zh-CN" sz="2200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↑</a:t>
            </a:r>
            <a:r>
              <a:rPr lang="en-US" altLang="zh-CN" sz="2200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) →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sz="22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e</a:t>
            </a:r>
            <a:r>
              <a:rPr lang="en-US" altLang="zh-CN" sz="2200" b="1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max</a:t>
            </a:r>
            <a:r>
              <a:rPr lang="en-US" altLang="zh-CN" sz="2200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200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 </a:t>
            </a:r>
            <a:r>
              <a:rPr lang="zh-CN" altLang="en-US" sz="2200" i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打滑</a:t>
            </a:r>
            <a:endParaRPr lang="zh-CN" altLang="en-US" sz="2200" i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153A2E02-C503-4AFE-9274-D1106371CCEA}"/>
              </a:ext>
            </a:extLst>
          </p:cNvPr>
          <p:cNvSpPr txBox="1"/>
          <p:nvPr/>
        </p:nvSpPr>
        <p:spPr>
          <a:xfrm>
            <a:off x="239607" y="2673393"/>
            <a:ext cx="5054174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kumimoji="1" lang="zh-CN" altLang="en-US" sz="2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后果</a:t>
            </a:r>
            <a:r>
              <a:rPr kumimoji="1" lang="zh-CN" altLang="en-US" sz="22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磨损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↑</a:t>
            </a:r>
            <a:r>
              <a:rPr kumimoji="1" lang="zh-CN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el-GR" altLang="zh-CN" sz="2200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η</a:t>
            </a:r>
            <a:r>
              <a:rPr kumimoji="1" lang="zh-CN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降低，传动失效。</a:t>
            </a:r>
            <a:endParaRPr kumimoji="1" lang="zh-CN" altLang="en-US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="" xmlns:a16="http://schemas.microsoft.com/office/drawing/2014/main" id="{39D68A7E-A5B2-4A13-A339-3F5E573504A2}"/>
              </a:ext>
            </a:extLst>
          </p:cNvPr>
          <p:cNvSpPr txBox="1"/>
          <p:nvPr/>
        </p:nvSpPr>
        <p:spPr>
          <a:xfrm>
            <a:off x="6035036" y="685528"/>
            <a:ext cx="2478299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FontTx/>
              <a:buBlip>
                <a:blip r:embed="rId3"/>
              </a:buBlip>
              <a:defRPr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sym typeface="Wingdings" pitchFamily="2" charset="2"/>
              </a:rPr>
              <a:t> 量变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  <a:sym typeface="Wingdings" pitchFamily="2" charset="2"/>
              </a:rPr>
              <a:t>到质变！</a:t>
            </a:r>
          </a:p>
        </p:txBody>
      </p:sp>
      <p:grpSp>
        <p:nvGrpSpPr>
          <p:cNvPr id="35" name="Group 23"/>
          <p:cNvGrpSpPr>
            <a:grpSpLocks/>
          </p:cNvGrpSpPr>
          <p:nvPr/>
        </p:nvGrpSpPr>
        <p:grpSpPr bwMode="auto">
          <a:xfrm>
            <a:off x="5347755" y="1280839"/>
            <a:ext cx="3551237" cy="2944813"/>
            <a:chOff x="3442" y="2351"/>
            <a:chExt cx="2237" cy="1855"/>
          </a:xfrm>
        </p:grpSpPr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3654" y="3932"/>
              <a:ext cx="20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15"/>
            <p:cNvSpPr>
              <a:spLocks noChangeShapeType="1"/>
            </p:cNvSpPr>
            <p:nvPr/>
          </p:nvSpPr>
          <p:spPr bwMode="auto">
            <a:xfrm flipV="1">
              <a:off x="3654" y="2462"/>
              <a:ext cx="0" cy="14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16"/>
            <p:cNvSpPr>
              <a:spLocks/>
            </p:cNvSpPr>
            <p:nvPr/>
          </p:nvSpPr>
          <p:spPr bwMode="auto">
            <a:xfrm>
              <a:off x="3654" y="2530"/>
              <a:ext cx="1548" cy="1407"/>
            </a:xfrm>
            <a:custGeom>
              <a:avLst/>
              <a:gdLst>
                <a:gd name="T0" fmla="*/ 0 w 1650"/>
                <a:gd name="T1" fmla="*/ 1676 h 1676"/>
                <a:gd name="T2" fmla="*/ 1178 w 1650"/>
                <a:gd name="T3" fmla="*/ 1444 h 1676"/>
                <a:gd name="T4" fmla="*/ 1470 w 1650"/>
                <a:gd name="T5" fmla="*/ 1006 h 1676"/>
                <a:gd name="T6" fmla="*/ 1650 w 1650"/>
                <a:gd name="T7" fmla="*/ 0 h 1676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6910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6910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6910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740 w 10000"/>
                <a:gd name="connsiteY2" fmla="*/ 7070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740 w 10000"/>
                <a:gd name="connsiteY2" fmla="*/ 7070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94 w 10000"/>
                <a:gd name="connsiteY2" fmla="*/ 7088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94 w 10000"/>
                <a:gd name="connsiteY2" fmla="*/ 7088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740 w 10000"/>
                <a:gd name="connsiteY2" fmla="*/ 7106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740 w 10000"/>
                <a:gd name="connsiteY2" fmla="*/ 7106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7266 h 10000"/>
                <a:gd name="connsiteX3" fmla="*/ 8909 w 10000"/>
                <a:gd name="connsiteY3" fmla="*/ 6002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7266 h 10000"/>
                <a:gd name="connsiteX3" fmla="*/ 8939 w 10000"/>
                <a:gd name="connsiteY3" fmla="*/ 6127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7266 h 10000"/>
                <a:gd name="connsiteX3" fmla="*/ 8939 w 10000"/>
                <a:gd name="connsiteY3" fmla="*/ 6127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664 w 10000"/>
                <a:gd name="connsiteY2" fmla="*/ 7266 h 10000"/>
                <a:gd name="connsiteX3" fmla="*/ 8939 w 10000"/>
                <a:gd name="connsiteY3" fmla="*/ 6127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725 w 10000"/>
                <a:gd name="connsiteY2" fmla="*/ 7319 h 10000"/>
                <a:gd name="connsiteX3" fmla="*/ 8939 w 10000"/>
                <a:gd name="connsiteY3" fmla="*/ 6127 h 10000"/>
                <a:gd name="connsiteX4" fmla="*/ 10000 w 10000"/>
                <a:gd name="connsiteY4" fmla="*/ 0 h 10000"/>
                <a:gd name="connsiteX0" fmla="*/ 0 w 10000"/>
                <a:gd name="connsiteY0" fmla="*/ 10000 h 10000"/>
                <a:gd name="connsiteX1" fmla="*/ 7139 w 10000"/>
                <a:gd name="connsiteY1" fmla="*/ 8616 h 10000"/>
                <a:gd name="connsiteX2" fmla="*/ 8725 w 10000"/>
                <a:gd name="connsiteY2" fmla="*/ 7319 h 10000"/>
                <a:gd name="connsiteX3" fmla="*/ 9030 w 10000"/>
                <a:gd name="connsiteY3" fmla="*/ 6145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2824" y="9642"/>
                    <a:pt x="5685" y="9063"/>
                    <a:pt x="7139" y="8616"/>
                  </a:cubicBezTo>
                  <a:cubicBezTo>
                    <a:pt x="8593" y="8169"/>
                    <a:pt x="8536" y="7933"/>
                    <a:pt x="8725" y="7319"/>
                  </a:cubicBezTo>
                  <a:cubicBezTo>
                    <a:pt x="8808" y="6955"/>
                    <a:pt x="8807" y="7297"/>
                    <a:pt x="9030" y="6145"/>
                  </a:cubicBezTo>
                  <a:cubicBezTo>
                    <a:pt x="9388" y="4725"/>
                    <a:pt x="9691" y="2279"/>
                    <a:pt x="10000" y="0"/>
                  </a:cubicBezTo>
                </a:path>
              </a:pathLst>
            </a:custGeom>
            <a:noFill/>
            <a:ln w="19050">
              <a:solidFill>
                <a:srgbClr val="0000CC">
                  <a:lumMod val="60000"/>
                  <a:lumOff val="40000"/>
                </a:srgb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4956" y="2522"/>
              <a:ext cx="0" cy="1406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>
              <a:off x="3442" y="2351"/>
              <a:ext cx="2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ε</a:t>
              </a:r>
            </a:p>
          </p:txBody>
        </p:sp>
        <p:sp>
          <p:nvSpPr>
            <p:cNvPr id="41" name="Rectangle 19"/>
            <p:cNvSpPr>
              <a:spLocks noChangeArrowheads="1"/>
            </p:cNvSpPr>
            <p:nvPr/>
          </p:nvSpPr>
          <p:spPr bwMode="auto">
            <a:xfrm>
              <a:off x="4669" y="3907"/>
              <a:ext cx="6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Ｆ</a:t>
              </a:r>
              <a:r>
                <a:rPr kumimoji="1" lang="en-US" altLang="zh-CN" sz="24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emax</a:t>
              </a:r>
            </a:p>
          </p:txBody>
        </p:sp>
        <p:sp>
          <p:nvSpPr>
            <p:cNvPr id="42" name="Rectangle 20"/>
            <p:cNvSpPr>
              <a:spLocks noChangeArrowheads="1"/>
            </p:cNvSpPr>
            <p:nvPr/>
          </p:nvSpPr>
          <p:spPr bwMode="auto">
            <a:xfrm>
              <a:off x="5455" y="3915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</a:p>
          </p:txBody>
        </p:sp>
        <p:sp>
          <p:nvSpPr>
            <p:cNvPr id="43" name="Rectangle 21"/>
            <p:cNvSpPr>
              <a:spLocks noChangeArrowheads="1"/>
            </p:cNvSpPr>
            <p:nvPr/>
          </p:nvSpPr>
          <p:spPr bwMode="auto">
            <a:xfrm>
              <a:off x="3799" y="3092"/>
              <a:ext cx="82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弹性滑动</a:t>
              </a:r>
            </a:p>
          </p:txBody>
        </p:sp>
        <p:sp>
          <p:nvSpPr>
            <p:cNvPr id="44" name="Rectangle 22"/>
            <p:cNvSpPr>
              <a:spLocks noChangeArrowheads="1"/>
            </p:cNvSpPr>
            <p:nvPr/>
          </p:nvSpPr>
          <p:spPr bwMode="auto">
            <a:xfrm>
              <a:off x="5109" y="3090"/>
              <a:ext cx="47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打滑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95536" y="3311493"/>
            <a:ext cx="4764684" cy="1133881"/>
            <a:chOff x="1022304" y="337220"/>
            <a:chExt cx="4764684" cy="1133881"/>
          </a:xfrm>
        </p:grpSpPr>
        <p:pic>
          <p:nvPicPr>
            <p:cNvPr id="52" name="Picture 2" descr="https://timgsa.baidu.com/timg?image&amp;quality=80&amp;size=b9999_10000&amp;sec=1490850590512&amp;di=dbc455ef366ee56ae259dd0d48ca246e&amp;imgtype=0&amp;src=http%3A%2F%2Fimg3.redocn.com%2Ftupian%2F20120910%2Fsikaowentidexiaonanhai_1412173_small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304" y="337220"/>
              <a:ext cx="741383" cy="1133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25"/>
            <p:cNvSpPr txBox="1"/>
            <p:nvPr/>
          </p:nvSpPr>
          <p:spPr>
            <a:xfrm>
              <a:off x="1830374" y="349892"/>
              <a:ext cx="3956614" cy="498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200" dirty="0" smtClean="0">
                  <a:latin typeface="+mn-ea"/>
                  <a:ea typeface="+mn-ea"/>
                </a:rPr>
                <a:t>打滑首先出现在哪个带轮上？</a:t>
              </a:r>
              <a:endParaRPr lang="zh-CN" altLang="en-US" sz="2200" dirty="0">
                <a:latin typeface="+mn-ea"/>
                <a:ea typeface="+mn-ea"/>
              </a:endParaRPr>
            </a:p>
          </p:txBody>
        </p:sp>
      </p:grp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1053133" y="4643070"/>
            <a:ext cx="7755649" cy="39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弹性滑动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：由拉力差</a:t>
            </a:r>
            <a:r>
              <a:rPr kumimoji="1" lang="en-US" altLang="zh-CN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∑F</a:t>
            </a:r>
            <a:r>
              <a:rPr kumimoji="1" lang="en-US" altLang="zh-CN" sz="220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，是带传动的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固有特性</a:t>
            </a:r>
            <a:r>
              <a:rPr kumimoji="1" lang="en-US" altLang="zh-CN" sz="220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不可避免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1043608" y="5111953"/>
            <a:ext cx="780213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打滑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过载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，是一种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失效形式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，是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可以避免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的，且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必须避免</a:t>
            </a:r>
            <a:r>
              <a:rPr kumimoji="1" lang="zh-CN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425753" y="4680376"/>
            <a:ext cx="553998" cy="822826"/>
          </a:xfrm>
          <a:prstGeom prst="rect">
            <a:avLst/>
          </a:prstGeom>
          <a:solidFill>
            <a:srgbClr val="FFC000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400" b="1" dirty="0" smtClean="0">
                <a:latin typeface="+mn-ea"/>
                <a:ea typeface="+mn-ea"/>
              </a:rPr>
              <a:t>比较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57" name="Text Box 21" descr="10%">
            <a:extLst>
              <a:ext uri="{FF2B5EF4-FFF2-40B4-BE49-F238E27FC236}">
                <a16:creationId xmlns="" xmlns:a16="http://schemas.microsoft.com/office/drawing/2014/main" id="{38F01ECE-2843-422C-80B1-4D9A0EE4F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613" y="3901549"/>
            <a:ext cx="3848607" cy="430887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57150">
            <a:pattFill prst="zigZag">
              <a:fgClr>
                <a:srgbClr val="003399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200" i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小带轮</a:t>
            </a:r>
            <a:r>
              <a:rPr lang="zh-CN" altLang="en-US" sz="2200" i="0" dirty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上（</a:t>
            </a:r>
            <a:r>
              <a:rPr kumimoji="0"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kumimoji="0" lang="en-US" altLang="zh-CN" sz="2200" i="0" baseline="-2500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1 </a:t>
            </a:r>
            <a:r>
              <a:rPr kumimoji="0" lang="zh-CN" altLang="en-US" sz="2200" i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小 </a:t>
            </a:r>
            <a:r>
              <a:rPr kumimoji="0" lang="en-US" altLang="zh-CN" sz="2200" i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,</a:t>
            </a:r>
            <a:r>
              <a:rPr lang="en-US" altLang="zh-CN" sz="2200" b="1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∑F</a:t>
            </a:r>
            <a:r>
              <a:rPr lang="en-US" altLang="zh-CN" sz="22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flim</a:t>
            </a:r>
            <a:r>
              <a:rPr lang="zh-CN" altLang="en-US" sz="220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kumimoji="0" lang="en-US" altLang="zh-CN" sz="2200" i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 </a:t>
            </a:r>
            <a:r>
              <a:rPr kumimoji="0" lang="zh-CN" altLang="en-US" sz="2200" i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）</a:t>
            </a:r>
            <a:endParaRPr lang="zh-CN" altLang="en-US" sz="2200" i="0" dirty="0">
              <a:solidFill>
                <a:schemeClr val="tx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28" name="单圆角矩形 2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0" name="直角三角形 29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2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autoUpdateAnimBg="0"/>
      <p:bldP spid="31" grpId="0" build="p"/>
      <p:bldP spid="32" grpId="0"/>
      <p:bldP spid="34" grpId="0" animBg="1"/>
      <p:bldP spid="50" grpId="0"/>
      <p:bldP spid="47" grpId="0"/>
      <p:bldP spid="55" grpId="0" animBg="1"/>
      <p:bldP spid="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611560" y="1921220"/>
            <a:ext cx="2448000" cy="2448448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004048" y="1309372"/>
            <a:ext cx="3672408" cy="3672144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1691680" y="1309372"/>
            <a:ext cx="4896544" cy="611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91680" y="4369668"/>
            <a:ext cx="4968552" cy="611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291912" y="3142548"/>
            <a:ext cx="8744584" cy="1448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1835560" y="1705372"/>
            <a:ext cx="0" cy="2973567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6840252" y="1057300"/>
            <a:ext cx="0" cy="432048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25" idx="2"/>
            <a:endCxn id="35" idx="0"/>
          </p:cNvCxnSpPr>
          <p:nvPr/>
        </p:nvCxnSpPr>
        <p:spPr>
          <a:xfrm flipV="1">
            <a:off x="1659371" y="1154886"/>
            <a:ext cx="4900535" cy="628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35" idx="2"/>
          </p:cNvCxnSpPr>
          <p:nvPr/>
        </p:nvCxnSpPr>
        <p:spPr>
          <a:xfrm>
            <a:off x="1652849" y="4506083"/>
            <a:ext cx="4899965" cy="600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弧形 24"/>
          <p:cNvSpPr/>
          <p:nvPr/>
        </p:nvSpPr>
        <p:spPr>
          <a:xfrm>
            <a:off x="467560" y="1770517"/>
            <a:ext cx="2754000" cy="2754000"/>
          </a:xfrm>
          <a:prstGeom prst="arc">
            <a:avLst>
              <a:gd name="adj1" fmla="val 5898771"/>
              <a:gd name="adj2" fmla="val 1573626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flipH="1" flipV="1">
            <a:off x="1587431" y="1391300"/>
            <a:ext cx="248130" cy="1754145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1618076" y="3145445"/>
            <a:ext cx="210340" cy="160344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弧形 34"/>
          <p:cNvSpPr/>
          <p:nvPr/>
        </p:nvSpPr>
        <p:spPr>
          <a:xfrm>
            <a:off x="4860031" y="1133019"/>
            <a:ext cx="3988159" cy="3996274"/>
          </a:xfrm>
          <a:prstGeom prst="arc">
            <a:avLst>
              <a:gd name="adj1" fmla="val 15691959"/>
              <a:gd name="adj2" fmla="val 592038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/>
        </p:nvCxnSpPr>
        <p:spPr>
          <a:xfrm flipH="1" flipV="1">
            <a:off x="6507849" y="909523"/>
            <a:ext cx="328505" cy="2245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6533511" y="3142549"/>
            <a:ext cx="304493" cy="2210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1253904" y="3145445"/>
            <a:ext cx="570614" cy="154221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 rot="780956">
            <a:off x="1367679" y="4332712"/>
            <a:ext cx="305763" cy="147983"/>
          </a:xfrm>
          <a:prstGeom prst="rect">
            <a:avLst/>
          </a:prstGeom>
          <a:solidFill>
            <a:srgbClr val="FFD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 rot="780956">
            <a:off x="1432617" y="4163790"/>
            <a:ext cx="255389" cy="1561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/>
        </p:nvCxnSpPr>
        <p:spPr>
          <a:xfrm flipV="1">
            <a:off x="295810" y="3142549"/>
            <a:ext cx="1528708" cy="34453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 rot="5027574">
            <a:off x="583774" y="3193988"/>
            <a:ext cx="255389" cy="1561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 rot="4988458">
            <a:off x="449600" y="3249024"/>
            <a:ext cx="216636" cy="137502"/>
          </a:xfrm>
          <a:prstGeom prst="rect">
            <a:avLst/>
          </a:prstGeom>
          <a:solidFill>
            <a:srgbClr val="FFD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 flipH="1" flipV="1">
            <a:off x="1265170" y="1647956"/>
            <a:ext cx="562604" cy="15066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 rot="9906382">
            <a:off x="1432129" y="1972398"/>
            <a:ext cx="255389" cy="1561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 rot="9696059">
            <a:off x="1371166" y="1841926"/>
            <a:ext cx="153114" cy="127702"/>
          </a:xfrm>
          <a:prstGeom prst="rect">
            <a:avLst/>
          </a:prstGeom>
          <a:solidFill>
            <a:srgbClr val="FFD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4" name="组合 103"/>
          <p:cNvGrpSpPr/>
          <p:nvPr/>
        </p:nvGrpSpPr>
        <p:grpSpPr>
          <a:xfrm>
            <a:off x="1222870" y="2513276"/>
            <a:ext cx="1631777" cy="1296144"/>
            <a:chOff x="1222870" y="2513276"/>
            <a:chExt cx="1631777" cy="1296144"/>
          </a:xfrm>
        </p:grpSpPr>
        <p:sp>
          <p:nvSpPr>
            <p:cNvPr id="62" name="弧形 61"/>
            <p:cNvSpPr/>
            <p:nvPr/>
          </p:nvSpPr>
          <p:spPr>
            <a:xfrm>
              <a:off x="1222870" y="2513276"/>
              <a:ext cx="1204947" cy="1296144"/>
            </a:xfrm>
            <a:prstGeom prst="arc">
              <a:avLst>
                <a:gd name="adj1" fmla="val 17460553"/>
                <a:gd name="adj2" fmla="val 4364168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/>
                <p:cNvSpPr txBox="1"/>
                <p:nvPr/>
              </p:nvSpPr>
              <p:spPr>
                <a:xfrm>
                  <a:off x="2310973" y="3288859"/>
                  <a:ext cx="543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0973" y="3288859"/>
                  <a:ext cx="543674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组合 109"/>
          <p:cNvGrpSpPr/>
          <p:nvPr/>
        </p:nvGrpSpPr>
        <p:grpSpPr>
          <a:xfrm>
            <a:off x="994605" y="2680231"/>
            <a:ext cx="1304412" cy="924635"/>
            <a:chOff x="994605" y="2680231"/>
            <a:chExt cx="1304412" cy="924635"/>
          </a:xfrm>
        </p:grpSpPr>
        <p:sp>
          <p:nvSpPr>
            <p:cNvPr id="63" name="弧形 62"/>
            <p:cNvSpPr/>
            <p:nvPr/>
          </p:nvSpPr>
          <p:spPr>
            <a:xfrm>
              <a:off x="1380072" y="2680231"/>
              <a:ext cx="918945" cy="924635"/>
            </a:xfrm>
            <a:prstGeom prst="arc">
              <a:avLst>
                <a:gd name="adj1" fmla="val 5807486"/>
                <a:gd name="adj2" fmla="val 15729787"/>
              </a:avLst>
            </a:prstGeom>
            <a:ln w="9525">
              <a:solidFill>
                <a:srgbClr val="3366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/>
                <p:cNvSpPr txBox="1"/>
                <p:nvPr/>
              </p:nvSpPr>
              <p:spPr>
                <a:xfrm>
                  <a:off x="994605" y="2698753"/>
                  <a:ext cx="5148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33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3366FF"/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3366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3366FF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05" y="2698753"/>
                  <a:ext cx="514821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单圆角矩形 69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弹性滑动与打滑的关系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71" name="直角三角形 70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1669514" y="4441136"/>
            <a:ext cx="693709" cy="402610"/>
            <a:chOff x="1669514" y="4441136"/>
            <a:chExt cx="693709" cy="402610"/>
          </a:xfrm>
        </p:grpSpPr>
        <p:cxnSp>
          <p:nvCxnSpPr>
            <p:cNvPr id="73" name="直接箭头连接符 72"/>
            <p:cNvCxnSpPr>
              <a:stCxn id="46" idx="3"/>
            </p:cNvCxnSpPr>
            <p:nvPr/>
          </p:nvCxnSpPr>
          <p:spPr>
            <a:xfrm>
              <a:off x="1669514" y="4441136"/>
              <a:ext cx="454214" cy="649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/>
                <p:cNvSpPr txBox="1"/>
                <p:nvPr/>
              </p:nvSpPr>
              <p:spPr>
                <a:xfrm>
                  <a:off x="1896621" y="4474414"/>
                  <a:ext cx="4666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6621" y="4474414"/>
                  <a:ext cx="466602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/>
          <p:cNvGrpSpPr/>
          <p:nvPr/>
        </p:nvGrpSpPr>
        <p:grpSpPr>
          <a:xfrm>
            <a:off x="577876" y="4138896"/>
            <a:ext cx="793731" cy="369332"/>
            <a:chOff x="577876" y="4138896"/>
            <a:chExt cx="793731" cy="369332"/>
          </a:xfrm>
        </p:grpSpPr>
        <p:cxnSp>
          <p:nvCxnSpPr>
            <p:cNvPr id="74" name="直接箭头连接符 73"/>
            <p:cNvCxnSpPr>
              <a:stCxn id="46" idx="1"/>
            </p:cNvCxnSpPr>
            <p:nvPr/>
          </p:nvCxnSpPr>
          <p:spPr>
            <a:xfrm flipH="1" flipV="1">
              <a:off x="899592" y="4225652"/>
              <a:ext cx="472015" cy="1466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/>
                <p:cNvSpPr txBox="1"/>
                <p:nvPr/>
              </p:nvSpPr>
              <p:spPr>
                <a:xfrm>
                  <a:off x="577876" y="4138896"/>
                  <a:ext cx="4666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876" y="4138896"/>
                  <a:ext cx="466602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组合 112"/>
          <p:cNvGrpSpPr/>
          <p:nvPr/>
        </p:nvGrpSpPr>
        <p:grpSpPr>
          <a:xfrm>
            <a:off x="404183" y="3425318"/>
            <a:ext cx="449161" cy="592896"/>
            <a:chOff x="404183" y="3425318"/>
            <a:chExt cx="449161" cy="592896"/>
          </a:xfrm>
        </p:grpSpPr>
        <p:cxnSp>
          <p:nvCxnSpPr>
            <p:cNvPr id="79" name="直接箭头连接符 78"/>
            <p:cNvCxnSpPr>
              <a:stCxn id="52" idx="3"/>
            </p:cNvCxnSpPr>
            <p:nvPr/>
          </p:nvCxnSpPr>
          <p:spPr>
            <a:xfrm>
              <a:off x="570854" y="3425318"/>
              <a:ext cx="93922" cy="2945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/>
                <p:cNvSpPr txBox="1"/>
                <p:nvPr/>
              </p:nvSpPr>
              <p:spPr>
                <a:xfrm>
                  <a:off x="404183" y="3648882"/>
                  <a:ext cx="4491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83" y="3648882"/>
                  <a:ext cx="449161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113"/>
          <p:cNvGrpSpPr/>
          <p:nvPr/>
        </p:nvGrpSpPr>
        <p:grpSpPr>
          <a:xfrm>
            <a:off x="164369" y="2670467"/>
            <a:ext cx="449161" cy="539765"/>
            <a:chOff x="164369" y="2670467"/>
            <a:chExt cx="449161" cy="539765"/>
          </a:xfrm>
        </p:grpSpPr>
        <p:cxnSp>
          <p:nvCxnSpPr>
            <p:cNvPr id="82" name="直接箭头连接符 81"/>
            <p:cNvCxnSpPr>
              <a:stCxn id="52" idx="1"/>
            </p:cNvCxnSpPr>
            <p:nvPr/>
          </p:nvCxnSpPr>
          <p:spPr>
            <a:xfrm flipH="1" flipV="1">
              <a:off x="491227" y="2879681"/>
              <a:ext cx="53755" cy="330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/>
                <p:cNvSpPr txBox="1"/>
                <p:nvPr/>
              </p:nvSpPr>
              <p:spPr>
                <a:xfrm>
                  <a:off x="164369" y="2670467"/>
                  <a:ext cx="4491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69" y="2670467"/>
                  <a:ext cx="449161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/>
          <p:cNvGrpSpPr/>
          <p:nvPr/>
        </p:nvGrpSpPr>
        <p:grpSpPr>
          <a:xfrm>
            <a:off x="1520367" y="1417340"/>
            <a:ext cx="474277" cy="464273"/>
            <a:chOff x="1520367" y="1417340"/>
            <a:chExt cx="474277" cy="464273"/>
          </a:xfrm>
        </p:grpSpPr>
        <p:cxnSp>
          <p:nvCxnSpPr>
            <p:cNvPr id="87" name="直接箭头连接符 86"/>
            <p:cNvCxnSpPr>
              <a:stCxn id="61" idx="1"/>
            </p:cNvCxnSpPr>
            <p:nvPr/>
          </p:nvCxnSpPr>
          <p:spPr>
            <a:xfrm flipV="1">
              <a:off x="1520367" y="1830774"/>
              <a:ext cx="223639" cy="508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/>
                <p:cNvSpPr txBox="1"/>
                <p:nvPr/>
              </p:nvSpPr>
              <p:spPr>
                <a:xfrm>
                  <a:off x="1522720" y="1417340"/>
                  <a:ext cx="4719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2720" y="1417340"/>
                  <a:ext cx="471924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组合 115"/>
          <p:cNvGrpSpPr/>
          <p:nvPr/>
        </p:nvGrpSpPr>
        <p:grpSpPr>
          <a:xfrm>
            <a:off x="785961" y="1785147"/>
            <a:ext cx="589118" cy="369332"/>
            <a:chOff x="785961" y="1785147"/>
            <a:chExt cx="589118" cy="369332"/>
          </a:xfrm>
        </p:grpSpPr>
        <p:cxnSp>
          <p:nvCxnSpPr>
            <p:cNvPr id="90" name="直接箭头连接符 89"/>
            <p:cNvCxnSpPr>
              <a:stCxn id="61" idx="3"/>
            </p:cNvCxnSpPr>
            <p:nvPr/>
          </p:nvCxnSpPr>
          <p:spPr>
            <a:xfrm flipH="1">
              <a:off x="1146841" y="1929941"/>
              <a:ext cx="228238" cy="847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/>
                <p:cNvSpPr txBox="1"/>
                <p:nvPr/>
              </p:nvSpPr>
              <p:spPr>
                <a:xfrm>
                  <a:off x="785961" y="1785147"/>
                  <a:ext cx="4719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61" y="1785147"/>
                  <a:ext cx="471924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/>
              <p:cNvSpPr txBox="1"/>
              <p:nvPr/>
            </p:nvSpPr>
            <p:spPr>
              <a:xfrm>
                <a:off x="1755895" y="2817073"/>
                <a:ext cx="4961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895" y="2817073"/>
                <a:ext cx="496161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/>
              <p:cNvSpPr txBox="1"/>
              <p:nvPr/>
            </p:nvSpPr>
            <p:spPr>
              <a:xfrm>
                <a:off x="6764914" y="2783099"/>
                <a:ext cx="501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914" y="2783099"/>
                <a:ext cx="501484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组合 107"/>
          <p:cNvGrpSpPr/>
          <p:nvPr/>
        </p:nvGrpSpPr>
        <p:grpSpPr>
          <a:xfrm>
            <a:off x="3349605" y="4723381"/>
            <a:ext cx="697627" cy="828418"/>
            <a:chOff x="3349605" y="4723381"/>
            <a:chExt cx="697627" cy="828418"/>
          </a:xfrm>
        </p:grpSpPr>
        <p:cxnSp>
          <p:nvCxnSpPr>
            <p:cNvPr id="98" name="直接连接符 97"/>
            <p:cNvCxnSpPr/>
            <p:nvPr/>
          </p:nvCxnSpPr>
          <p:spPr>
            <a:xfrm flipH="1">
              <a:off x="3707904" y="4723381"/>
              <a:ext cx="288032" cy="4146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/>
            <p:cNvSpPr txBox="1"/>
            <p:nvPr/>
          </p:nvSpPr>
          <p:spPr>
            <a:xfrm>
              <a:off x="3349605" y="5151689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+mn-ea"/>
                  <a:ea typeface="+mn-ea"/>
                </a:rPr>
                <a:t>紧边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2852094" y="939194"/>
            <a:ext cx="1112021" cy="624002"/>
            <a:chOff x="2852094" y="939194"/>
            <a:chExt cx="1112021" cy="624002"/>
          </a:xfrm>
        </p:grpSpPr>
        <p:cxnSp>
          <p:nvCxnSpPr>
            <p:cNvPr id="101" name="直接连接符 100"/>
            <p:cNvCxnSpPr/>
            <p:nvPr/>
          </p:nvCxnSpPr>
          <p:spPr>
            <a:xfrm flipH="1" flipV="1">
              <a:off x="3539961" y="1184535"/>
              <a:ext cx="424154" cy="3786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2852094" y="93919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+mn-ea"/>
                  <a:ea typeface="+mn-ea"/>
                </a:rPr>
                <a:t>松边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251636" y="2490019"/>
            <a:ext cx="1640701" cy="1296144"/>
            <a:chOff x="1149386" y="2553176"/>
            <a:chExt cx="1640701" cy="1296144"/>
          </a:xfrm>
        </p:grpSpPr>
        <p:sp>
          <p:nvSpPr>
            <p:cNvPr id="106" name="弧形 105"/>
            <p:cNvSpPr/>
            <p:nvPr/>
          </p:nvSpPr>
          <p:spPr>
            <a:xfrm>
              <a:off x="1149386" y="2553176"/>
              <a:ext cx="1204947" cy="1296144"/>
            </a:xfrm>
            <a:prstGeom prst="arc">
              <a:avLst>
                <a:gd name="adj1" fmla="val 17460553"/>
                <a:gd name="adj2" fmla="val 4364168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/>
                <p:cNvSpPr txBox="1"/>
                <p:nvPr/>
              </p:nvSpPr>
              <p:spPr>
                <a:xfrm>
                  <a:off x="2246413" y="3335237"/>
                  <a:ext cx="543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6413" y="3335237"/>
                  <a:ext cx="543674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053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1" grpId="0" animBg="1"/>
      <p:bldP spid="52" grpId="0" animBg="1"/>
      <p:bldP spid="59" grpId="0" animBg="1"/>
      <p:bldP spid="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611560" y="1921220"/>
            <a:ext cx="2448000" cy="2448448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004048" y="1309372"/>
            <a:ext cx="3672408" cy="3672144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691680" y="1309372"/>
            <a:ext cx="4896544" cy="611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691680" y="4369668"/>
            <a:ext cx="4968552" cy="611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291912" y="3142548"/>
            <a:ext cx="8744584" cy="1448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835560" y="1705372"/>
            <a:ext cx="0" cy="2973567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6840252" y="1057300"/>
            <a:ext cx="0" cy="432048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3" idx="2"/>
            <a:endCxn id="16" idx="0"/>
          </p:cNvCxnSpPr>
          <p:nvPr/>
        </p:nvCxnSpPr>
        <p:spPr>
          <a:xfrm flipV="1">
            <a:off x="1659371" y="1154886"/>
            <a:ext cx="4900535" cy="628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endCxn id="16" idx="2"/>
          </p:cNvCxnSpPr>
          <p:nvPr/>
        </p:nvCxnSpPr>
        <p:spPr>
          <a:xfrm>
            <a:off x="1652849" y="4506083"/>
            <a:ext cx="4899965" cy="600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弧形 12"/>
          <p:cNvSpPr/>
          <p:nvPr/>
        </p:nvSpPr>
        <p:spPr>
          <a:xfrm>
            <a:off x="467560" y="1770517"/>
            <a:ext cx="2754000" cy="2754000"/>
          </a:xfrm>
          <a:prstGeom prst="arc">
            <a:avLst>
              <a:gd name="adj1" fmla="val 5898771"/>
              <a:gd name="adj2" fmla="val 1573626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 flipH="1" flipV="1">
            <a:off x="1587431" y="1391300"/>
            <a:ext cx="248130" cy="1754145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618076" y="3145445"/>
            <a:ext cx="210340" cy="160344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>
          <a:xfrm>
            <a:off x="4860031" y="1133019"/>
            <a:ext cx="3988159" cy="3996274"/>
          </a:xfrm>
          <a:prstGeom prst="arc">
            <a:avLst>
              <a:gd name="adj1" fmla="val 15691959"/>
              <a:gd name="adj2" fmla="val 592038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 flipH="1" flipV="1">
            <a:off x="6507849" y="909523"/>
            <a:ext cx="328505" cy="2245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6533511" y="3142549"/>
            <a:ext cx="304493" cy="2210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467560" y="3142550"/>
            <a:ext cx="1356958" cy="9390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1222870" y="2513276"/>
            <a:ext cx="1631777" cy="1296144"/>
            <a:chOff x="1222870" y="2513276"/>
            <a:chExt cx="1631777" cy="1296144"/>
          </a:xfrm>
        </p:grpSpPr>
        <p:sp>
          <p:nvSpPr>
            <p:cNvPr id="29" name="弧形 28"/>
            <p:cNvSpPr/>
            <p:nvPr/>
          </p:nvSpPr>
          <p:spPr>
            <a:xfrm>
              <a:off x="1222870" y="2513276"/>
              <a:ext cx="1204947" cy="1296144"/>
            </a:xfrm>
            <a:prstGeom prst="arc">
              <a:avLst>
                <a:gd name="adj1" fmla="val 17460553"/>
                <a:gd name="adj2" fmla="val 4364168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2310973" y="3288859"/>
                  <a:ext cx="543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0973" y="3288859"/>
                  <a:ext cx="543674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/>
          <p:cNvGrpSpPr/>
          <p:nvPr/>
        </p:nvGrpSpPr>
        <p:grpSpPr>
          <a:xfrm>
            <a:off x="994605" y="2680231"/>
            <a:ext cx="1304412" cy="924635"/>
            <a:chOff x="994605" y="2680231"/>
            <a:chExt cx="1304412" cy="924635"/>
          </a:xfrm>
        </p:grpSpPr>
        <p:sp>
          <p:nvSpPr>
            <p:cNvPr id="32" name="弧形 31"/>
            <p:cNvSpPr/>
            <p:nvPr/>
          </p:nvSpPr>
          <p:spPr>
            <a:xfrm>
              <a:off x="1380072" y="2680231"/>
              <a:ext cx="918945" cy="924635"/>
            </a:xfrm>
            <a:prstGeom prst="arc">
              <a:avLst>
                <a:gd name="adj1" fmla="val 5807486"/>
                <a:gd name="adj2" fmla="val 15729787"/>
              </a:avLst>
            </a:prstGeom>
            <a:ln w="9525">
              <a:solidFill>
                <a:srgbClr val="3366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994605" y="2698753"/>
                  <a:ext cx="5148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33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3366FF"/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3366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3366F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05" y="2698753"/>
                  <a:ext cx="514821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/>
              <p:cNvSpPr txBox="1"/>
              <p:nvPr/>
            </p:nvSpPr>
            <p:spPr>
              <a:xfrm>
                <a:off x="1755895" y="2817073"/>
                <a:ext cx="4961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895" y="2817073"/>
                <a:ext cx="496161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/>
              <p:cNvSpPr txBox="1"/>
              <p:nvPr/>
            </p:nvSpPr>
            <p:spPr>
              <a:xfrm>
                <a:off x="6764914" y="2783099"/>
                <a:ext cx="501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914" y="2783099"/>
                <a:ext cx="50148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/>
          <p:cNvGrpSpPr/>
          <p:nvPr/>
        </p:nvGrpSpPr>
        <p:grpSpPr>
          <a:xfrm>
            <a:off x="3349605" y="4723381"/>
            <a:ext cx="697627" cy="828418"/>
            <a:chOff x="3349605" y="4723381"/>
            <a:chExt cx="697627" cy="828418"/>
          </a:xfrm>
        </p:grpSpPr>
        <p:cxnSp>
          <p:nvCxnSpPr>
            <p:cNvPr id="55" name="直接连接符 54"/>
            <p:cNvCxnSpPr/>
            <p:nvPr/>
          </p:nvCxnSpPr>
          <p:spPr>
            <a:xfrm flipH="1">
              <a:off x="3707904" y="4723381"/>
              <a:ext cx="288032" cy="4146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3349605" y="5151689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+mn-ea"/>
                  <a:ea typeface="+mn-ea"/>
                </a:rPr>
                <a:t>紧边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852094" y="939194"/>
            <a:ext cx="1112021" cy="624002"/>
            <a:chOff x="2852094" y="939194"/>
            <a:chExt cx="1112021" cy="624002"/>
          </a:xfrm>
        </p:grpSpPr>
        <p:cxnSp>
          <p:nvCxnSpPr>
            <p:cNvPr id="58" name="直接连接符 57"/>
            <p:cNvCxnSpPr/>
            <p:nvPr/>
          </p:nvCxnSpPr>
          <p:spPr>
            <a:xfrm flipH="1" flipV="1">
              <a:off x="3539961" y="1184535"/>
              <a:ext cx="424154" cy="3786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2852094" y="93919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+mn-ea"/>
                  <a:ea typeface="+mn-ea"/>
                </a:rPr>
                <a:t>松边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251636" y="2490019"/>
            <a:ext cx="1640701" cy="1296144"/>
            <a:chOff x="1149386" y="2553176"/>
            <a:chExt cx="1640701" cy="1296144"/>
          </a:xfrm>
        </p:grpSpPr>
        <p:sp>
          <p:nvSpPr>
            <p:cNvPr id="61" name="弧形 60"/>
            <p:cNvSpPr/>
            <p:nvPr/>
          </p:nvSpPr>
          <p:spPr>
            <a:xfrm>
              <a:off x="1149386" y="2553176"/>
              <a:ext cx="1204947" cy="1296144"/>
            </a:xfrm>
            <a:prstGeom prst="arc">
              <a:avLst>
                <a:gd name="adj1" fmla="val 17460553"/>
                <a:gd name="adj2" fmla="val 4364168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/>
                <p:cNvSpPr txBox="1"/>
                <p:nvPr/>
              </p:nvSpPr>
              <p:spPr>
                <a:xfrm>
                  <a:off x="2246413" y="3335237"/>
                  <a:ext cx="543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6413" y="3335237"/>
                  <a:ext cx="54367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单圆角矩形 62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弹性滑动与打滑的关系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64" name="直角三角形 63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5679186" y="1971948"/>
            <a:ext cx="2514948" cy="2428799"/>
            <a:chOff x="637591" y="2181849"/>
            <a:chExt cx="2514948" cy="2428799"/>
          </a:xfrm>
        </p:grpSpPr>
        <p:sp>
          <p:nvSpPr>
            <p:cNvPr id="73" name="弧形 72"/>
            <p:cNvSpPr/>
            <p:nvPr/>
          </p:nvSpPr>
          <p:spPr>
            <a:xfrm>
              <a:off x="637591" y="2181849"/>
              <a:ext cx="2340000" cy="2340000"/>
            </a:xfrm>
            <a:prstGeom prst="arc">
              <a:avLst>
                <a:gd name="adj1" fmla="val 17460553"/>
                <a:gd name="adj2" fmla="val 4364168"/>
              </a:avLst>
            </a:prstGeom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/>
                <p:cNvSpPr txBox="1"/>
                <p:nvPr/>
              </p:nvSpPr>
              <p:spPr>
                <a:xfrm>
                  <a:off x="2424519" y="4241316"/>
                  <a:ext cx="7280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↑</m:t>
                        </m:r>
                      </m:oMath>
                    </m:oMathPara>
                  </a14:m>
                  <a:endParaRPr lang="zh-CN" altLang="en-US" b="1" dirty="0">
                    <a:solidFill>
                      <a:srgbClr val="00B0F0"/>
                    </a:solidFill>
                    <a:latin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74" name="文本框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4519" y="4241316"/>
                  <a:ext cx="728020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弧形 74"/>
          <p:cNvSpPr/>
          <p:nvPr/>
        </p:nvSpPr>
        <p:spPr>
          <a:xfrm>
            <a:off x="465861" y="1763092"/>
            <a:ext cx="2754000" cy="2754000"/>
          </a:xfrm>
          <a:prstGeom prst="arc">
            <a:avLst>
              <a:gd name="adj1" fmla="val 8778740"/>
              <a:gd name="adj2" fmla="val 15693766"/>
            </a:avLst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弧形 75"/>
          <p:cNvSpPr/>
          <p:nvPr/>
        </p:nvSpPr>
        <p:spPr>
          <a:xfrm>
            <a:off x="461963" y="1770236"/>
            <a:ext cx="2754000" cy="2754000"/>
          </a:xfrm>
          <a:prstGeom prst="arc">
            <a:avLst>
              <a:gd name="adj1" fmla="val 5862804"/>
              <a:gd name="adj2" fmla="val 8784075"/>
            </a:avLst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/>
        </p:nvGrpSpPr>
        <p:grpSpPr>
          <a:xfrm>
            <a:off x="661020" y="2238631"/>
            <a:ext cx="702790" cy="1334998"/>
            <a:chOff x="661020" y="2238631"/>
            <a:chExt cx="702790" cy="1334998"/>
          </a:xfrm>
        </p:grpSpPr>
        <p:sp>
          <p:nvSpPr>
            <p:cNvPr id="79" name="文本框 78"/>
            <p:cNvSpPr txBox="1"/>
            <p:nvPr/>
          </p:nvSpPr>
          <p:spPr>
            <a:xfrm rot="15382272">
              <a:off x="669584" y="318121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+mn-ea"/>
                  <a:ea typeface="+mn-ea"/>
                </a:rPr>
                <a:t>弹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 rot="16200000">
              <a:off x="637937" y="292604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+mn-ea"/>
                  <a:ea typeface="+mn-ea"/>
                </a:rPr>
                <a:t>性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 rot="16788404">
              <a:off x="670411" y="266168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+mn-ea"/>
                  <a:ea typeface="+mn-ea"/>
                </a:rPr>
                <a:t>滑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 rot="17814549">
              <a:off x="777141" y="242406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+mn-ea"/>
                  <a:ea typeface="+mn-ea"/>
                </a:rPr>
                <a:t>动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 rot="19172479">
              <a:off x="948312" y="22386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+mn-ea"/>
                  <a:ea typeface="+mn-ea"/>
                </a:rPr>
                <a:t>区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108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V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带传动</a:t>
            </a:r>
            <a:r>
              <a:rPr lang="zh-CN" altLang="en-US" sz="4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的设计计算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06-5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60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3528" y="553244"/>
            <a:ext cx="3224927" cy="492443"/>
            <a:chOff x="323528" y="564857"/>
            <a:chExt cx="3224927" cy="492443"/>
          </a:xfrm>
        </p:grpSpPr>
        <p:sp>
          <p:nvSpPr>
            <p:cNvPr id="3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286488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带传动的设计准则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4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19" name="Text Box 12">
            <a:extLst>
              <a:ext uri="{FF2B5EF4-FFF2-40B4-BE49-F238E27FC236}">
                <a16:creationId xmlns:a16="http://schemas.microsoft.com/office/drawing/2014/main" xmlns="" id="{677D877F-8F6F-4B6A-B896-B8BCF0B05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129308"/>
            <a:ext cx="42534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marL="457200" indent="-457200"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sz="2200" b="1" i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失效形式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200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打滑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200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疲劳破坏</a:t>
            </a:r>
            <a:r>
              <a:rPr lang="zh-CN" altLang="en-US" sz="2200" i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200" i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17">
            <a:extLst>
              <a:ext uri="{FF2B5EF4-FFF2-40B4-BE49-F238E27FC236}">
                <a16:creationId xmlns:a16="http://schemas.microsoft.com/office/drawing/2014/main" xmlns="" id="{FFC4D436-2D7F-407D-8DB9-574DD363E23D}"/>
              </a:ext>
            </a:extLst>
          </p:cNvPr>
          <p:cNvGrpSpPr>
            <a:grpSpLocks/>
          </p:cNvGrpSpPr>
          <p:nvPr/>
        </p:nvGrpSpPr>
        <p:grpSpPr bwMode="auto">
          <a:xfrm>
            <a:off x="4696310" y="578194"/>
            <a:ext cx="4148530" cy="1495500"/>
            <a:chOff x="2375" y="723"/>
            <a:chExt cx="3293" cy="999"/>
          </a:xfrm>
        </p:grpSpPr>
        <p:pic>
          <p:nvPicPr>
            <p:cNvPr id="22" name="Picture 18" descr="belt_4_01">
              <a:extLst>
                <a:ext uri="{FF2B5EF4-FFF2-40B4-BE49-F238E27FC236}">
                  <a16:creationId xmlns:a16="http://schemas.microsoft.com/office/drawing/2014/main" xmlns="" id="{82B7A112-FF67-472D-9F92-47DBA5099E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5" y="723"/>
              <a:ext cx="1624" cy="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9" descr="belt_4_02">
              <a:extLst>
                <a:ext uri="{FF2B5EF4-FFF2-40B4-BE49-F238E27FC236}">
                  <a16:creationId xmlns:a16="http://schemas.microsoft.com/office/drawing/2014/main" xmlns="" id="{4CDACA0F-FB79-45E2-BFBA-FD9BF11BE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5" y="723"/>
              <a:ext cx="1623" cy="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xmlns="" id="{A3267F8D-B8AE-45A1-A22B-69C2B14E0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9" y="1491"/>
              <a:ext cx="939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14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破裂（剥离） </a:t>
              </a:r>
            </a:p>
          </p:txBody>
        </p:sp>
        <p:sp>
          <p:nvSpPr>
            <p:cNvPr id="25" name="Text Box 21">
              <a:extLst>
                <a:ext uri="{FF2B5EF4-FFF2-40B4-BE49-F238E27FC236}">
                  <a16:creationId xmlns:a16="http://schemas.microsoft.com/office/drawing/2014/main" xmlns="" id="{C0DF617C-0E70-4CDE-B14B-F49C7D148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492"/>
              <a:ext cx="104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14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破裂（裂纹） </a:t>
              </a:r>
            </a:p>
          </p:txBody>
        </p:sp>
      </p:grpSp>
      <p:sp>
        <p:nvSpPr>
          <p:cNvPr id="26" name="Text Box 5">
            <a:extLst>
              <a:ext uri="{FF2B5EF4-FFF2-40B4-BE49-F238E27FC236}">
                <a16:creationId xmlns:a16="http://schemas.microsoft.com/office/drawing/2014/main" xmlns="" id="{833C776C-4BD1-45C5-B679-F4C6CE26E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6" y="2124771"/>
            <a:ext cx="7458871" cy="498598"/>
          </a:xfrm>
          <a:prstGeom prst="rect">
            <a:avLst/>
          </a:prstGeom>
          <a:noFill/>
          <a:ln w="28575" cmpd="thickThin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200" i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保证</a:t>
            </a:r>
            <a:r>
              <a:rPr lang="zh-CN" altLang="en-US" sz="22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不打滑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的条件下，具有一定的</a:t>
            </a:r>
            <a:r>
              <a:rPr lang="zh-CN" altLang="en-US" sz="22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疲劳强度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2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寿命</a:t>
            </a:r>
            <a:r>
              <a:rPr lang="zh-CN" altLang="en-US" sz="22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xmlns="" id="{6FC697D9-07C6-4217-9537-7301FC136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3232170"/>
            <a:ext cx="309634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u"/>
              <a:defRPr sz="2800" b="1" i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设计准则表达式</a:t>
            </a:r>
            <a:endParaRPr kumimoji="1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xmlns="" id="{94EBE85B-1352-43EB-B141-6EA1B4FC8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253" y="1633364"/>
            <a:ext cx="20139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设计准则</a:t>
            </a:r>
          </a:p>
        </p:txBody>
      </p:sp>
      <p:sp>
        <p:nvSpPr>
          <p:cNvPr id="35" name="单圆角矩形 34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6" name="直角三角形 35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523186" y="2687082"/>
            <a:ext cx="4949572" cy="39703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 eaLnBrk="0" hangingPunct="0">
              <a:defRPr sz="4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4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4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4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4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最佳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设计点：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综合</a:t>
            </a:r>
            <a:r>
              <a:rPr kumimoji="1" lang="el-GR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ε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l-GR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η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临界点</a:t>
            </a:r>
            <a:endParaRPr kumimoji="1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6"/>
          <a:srcRect l="4947" t="5415"/>
          <a:stretch/>
        </p:blipFill>
        <p:spPr>
          <a:xfrm>
            <a:off x="5652120" y="2623369"/>
            <a:ext cx="3182774" cy="215334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23186" y="3763987"/>
            <a:ext cx="4841450" cy="461665"/>
            <a:chOff x="523186" y="3763987"/>
            <a:chExt cx="4841450" cy="461665"/>
          </a:xfrm>
        </p:grpSpPr>
        <p:sp>
          <p:nvSpPr>
            <p:cNvPr id="33" name="文本框 32"/>
            <p:cNvSpPr txBox="1"/>
            <p:nvPr/>
          </p:nvSpPr>
          <p:spPr>
            <a:xfrm>
              <a:off x="523186" y="3780779"/>
              <a:ext cx="10310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不疲劳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1475110" y="3763987"/>
                  <a:ext cx="388952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110" y="3763987"/>
                  <a:ext cx="3889526" cy="46166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/>
          <p:cNvGrpSpPr/>
          <p:nvPr/>
        </p:nvGrpSpPr>
        <p:grpSpPr>
          <a:xfrm>
            <a:off x="755576" y="4362524"/>
            <a:ext cx="3546562" cy="461665"/>
            <a:chOff x="755576" y="4362524"/>
            <a:chExt cx="3546562" cy="461665"/>
          </a:xfrm>
        </p:grpSpPr>
        <p:sp>
          <p:nvSpPr>
            <p:cNvPr id="9" name="右箭头 8"/>
            <p:cNvSpPr/>
            <p:nvPr/>
          </p:nvSpPr>
          <p:spPr>
            <a:xfrm>
              <a:off x="755576" y="4484655"/>
              <a:ext cx="625798" cy="216024"/>
            </a:xfrm>
            <a:prstGeom prst="rightArrow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1474184" y="4362524"/>
                  <a:ext cx="28279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4184" y="4362524"/>
                  <a:ext cx="2827954" cy="46166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/>
          <p:cNvGrpSpPr/>
          <p:nvPr/>
        </p:nvGrpSpPr>
        <p:grpSpPr>
          <a:xfrm>
            <a:off x="523186" y="4827790"/>
            <a:ext cx="6569094" cy="761600"/>
            <a:chOff x="523186" y="4827790"/>
            <a:chExt cx="6569094" cy="761600"/>
          </a:xfrm>
        </p:grpSpPr>
        <p:grpSp>
          <p:nvGrpSpPr>
            <p:cNvPr id="30" name="组合 29"/>
            <p:cNvGrpSpPr/>
            <p:nvPr/>
          </p:nvGrpSpPr>
          <p:grpSpPr>
            <a:xfrm>
              <a:off x="523186" y="4827790"/>
              <a:ext cx="6569094" cy="761600"/>
              <a:chOff x="1704471" y="6023959"/>
              <a:chExt cx="6569094" cy="76160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1" name="Object 1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7627006"/>
                      </p:ext>
                    </p:extLst>
                  </p:nvPr>
                </p:nvGraphicFramePr>
                <p:xfrm>
                  <a:off x="2992033" y="6023959"/>
                  <a:ext cx="5281532" cy="7616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952548" name="Equation" r:id="rId11" imgW="2730240" imgH="393480" progId="Equation.DSMT4">
                          <p:embed/>
                        </p:oleObj>
                      </mc:Choice>
                      <mc:Fallback>
                        <p:oleObj name="Equation" r:id="rId11" imgW="2730240" imgH="3934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92033" y="6023959"/>
                                <a:ext cx="5281532" cy="7616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1" name="Object 1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7627006"/>
                      </p:ext>
                    </p:extLst>
                  </p:nvPr>
                </p:nvGraphicFramePr>
                <p:xfrm>
                  <a:off x="2992033" y="6023959"/>
                  <a:ext cx="5281532" cy="7616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952538" name="Equation" r:id="rId13" imgW="2730240" imgH="393480" progId="Equation.DSMT4">
                          <p:embed/>
                        </p:oleObj>
                      </mc:Choice>
                      <mc:Fallback>
                        <p:oleObj name="Equation" r:id="rId13" imgW="2730240" imgH="3934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992033" y="6023959"/>
                                <a:ext cx="5281532" cy="7616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32" name="文本框 31"/>
              <p:cNvSpPr txBox="1"/>
              <p:nvPr/>
            </p:nvSpPr>
            <p:spPr>
              <a:xfrm>
                <a:off x="1704471" y="6184052"/>
                <a:ext cx="103105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不打滑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560320" y="4973897"/>
                  <a:ext cx="837152" cy="44203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36000" rIns="0" bIns="3600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3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5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350" b="0" i="1" smtClean="0">
                                <a:latin typeface="Cambria Math" panose="02040503050406030204" pitchFamily="18" charset="0"/>
                              </a:rPr>
                              <m:t>𝑒𝑚𝑎𝑥</m:t>
                            </m:r>
                          </m:sub>
                        </m:sSub>
                      </m:oMath>
                    </m:oMathPara>
                  </a14:m>
                  <a:endParaRPr lang="zh-CN" altLang="en-US" sz="2350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320" y="4973897"/>
                  <a:ext cx="837152" cy="442035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l="-5839" b="-13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77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27" grpId="0"/>
      <p:bldP spid="28" grpId="0"/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23528" y="553244"/>
            <a:ext cx="1884816" cy="492443"/>
            <a:chOff x="323528" y="564857"/>
            <a:chExt cx="1884816" cy="49244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1524776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>
                  <a:solidFill>
                    <a:srgbClr val="000099"/>
                  </a:solidFill>
                  <a:latin typeface="黑体" pitchFamily="49" charset="-122"/>
                </a:rPr>
                <a:t>许</a:t>
              </a:r>
              <a:r>
                <a:rPr lang="zh-CN" altLang="en-US" sz="2600" b="1" dirty="0" smtClean="0">
                  <a:solidFill>
                    <a:srgbClr val="000099"/>
                  </a:solidFill>
                  <a:latin typeface="黑体" pitchFamily="49" charset="-122"/>
                </a:rPr>
                <a:t>用功率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8" name="Picture 15" descr="AR1031"/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b="53715"/>
          <a:stretch/>
        </p:blipFill>
        <p:spPr>
          <a:xfrm>
            <a:off x="395536" y="1178090"/>
            <a:ext cx="3162300" cy="432048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3629844" y="1223316"/>
            <a:ext cx="2886372" cy="429394"/>
            <a:chOff x="3629844" y="1223316"/>
            <a:chExt cx="2886372" cy="42939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5"/>
            <a:srcRect l="6699" t="53999" r="15880"/>
            <a:stretch/>
          </p:blipFill>
          <p:spPr>
            <a:xfrm>
              <a:off x="4067944" y="1223316"/>
              <a:ext cx="2448272" cy="429394"/>
            </a:xfrm>
            <a:prstGeom prst="rect">
              <a:avLst/>
            </a:prstGeom>
          </p:spPr>
        </p:pic>
        <p:sp>
          <p:nvSpPr>
            <p:cNvPr id="12" name="右箭头 11"/>
            <p:cNvSpPr/>
            <p:nvPr/>
          </p:nvSpPr>
          <p:spPr>
            <a:xfrm>
              <a:off x="3629844" y="1322106"/>
              <a:ext cx="366092" cy="144016"/>
            </a:xfrm>
            <a:prstGeom prst="rightArrow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516216" y="1322106"/>
            <a:ext cx="2232248" cy="1175354"/>
            <a:chOff x="6516216" y="1322106"/>
            <a:chExt cx="2232248" cy="1175354"/>
          </a:xfrm>
        </p:grpSpPr>
        <p:sp>
          <p:nvSpPr>
            <p:cNvPr id="14" name="右大括号 13"/>
            <p:cNvSpPr/>
            <p:nvPr/>
          </p:nvSpPr>
          <p:spPr>
            <a:xfrm>
              <a:off x="6516216" y="1322106"/>
              <a:ext cx="216024" cy="1175354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右箭头 14"/>
            <p:cNvSpPr/>
            <p:nvPr/>
          </p:nvSpPr>
          <p:spPr>
            <a:xfrm>
              <a:off x="6851308" y="1797973"/>
              <a:ext cx="1897156" cy="223619"/>
            </a:xfrm>
            <a:prstGeom prst="rightArrow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907256" y="1561723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+mn-ea"/>
                  <a:ea typeface="+mn-ea"/>
                </a:rPr>
                <a:t>既不打滑又不疲劳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829876" y="1952365"/>
              <a:ext cx="1800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+mn-ea"/>
                  <a:ea typeface="+mn-ea"/>
                </a:rPr>
                <a:t>的情况下的承载功率</a:t>
              </a:r>
              <a:endParaRPr lang="zh-CN" altLang="en-US" sz="1400" dirty="0">
                <a:latin typeface="+mn-ea"/>
                <a:ea typeface="+mn-ea"/>
              </a:endParaRPr>
            </a:p>
          </p:txBody>
        </p:sp>
      </p:grpSp>
      <p:sp>
        <p:nvSpPr>
          <p:cNvPr id="20" name="Text Box 7">
            <a:extLst>
              <a:ext uri="{FF2B5EF4-FFF2-40B4-BE49-F238E27FC236}">
                <a16:creationId xmlns:a16="http://schemas.microsoft.com/office/drawing/2014/main" xmlns="" id="{3F53A341-9965-47DD-8545-E09327D04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813" y="3814328"/>
            <a:ext cx="7910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单根</a:t>
            </a:r>
            <a:r>
              <a:rPr lang="en-US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带的极限</a:t>
            </a:r>
            <a:r>
              <a:rPr lang="zh-CN" altLang="en-US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</a:t>
            </a:r>
            <a:r>
              <a:rPr lang="en-US" altLang="zh-CN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i="0" baseline="-250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6-7)——</a:t>
            </a:r>
            <a:r>
              <a:rPr lang="zh-CN" altLang="en-US" i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通过上</a:t>
            </a:r>
            <a:r>
              <a:rPr lang="zh-CN" altLang="en-US" i="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式由实验得出。</a:t>
            </a:r>
            <a:endParaRPr lang="zh-CN" altLang="en-US" i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xmlns="" id="{587366B4-A14F-480D-8278-54D94B8AE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4475474"/>
            <a:ext cx="3453088" cy="46166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b="1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＝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b="1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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b="1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b="1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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kumimoji="0" lang="en-US" altLang="zh-CN" b="1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xmlns="" id="{B8B10B1A-E015-4725-8B18-A84EE597B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473731"/>
            <a:ext cx="2448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修正后</a:t>
            </a:r>
            <a:r>
              <a:rPr lang="zh-CN" altLang="en-US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许用</a:t>
            </a:r>
            <a:r>
              <a:rPr lang="zh-CN" altLang="en-US" i="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</a:t>
            </a:r>
            <a:endParaRPr lang="zh-CN" altLang="en-US" b="1" i="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xmlns="" id="{E1B4F225-C80A-4083-AC66-8DFD58E6F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5140094"/>
            <a:ext cx="874897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</a:t>
            </a:r>
            <a:r>
              <a:rPr kumimoji="0"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sz="20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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----</a:t>
            </a:r>
            <a:r>
              <a:rPr kumimoji="0"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包角</a:t>
            </a:r>
            <a:r>
              <a:rPr kumimoji="0" lang="zh-CN" altLang="en-US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系数；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</a:t>
            </a:r>
            <a:r>
              <a:rPr kumimoji="0" lang="en-US" altLang="zh-CN" sz="20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kumimoji="0" lang="en-US" altLang="zh-CN" sz="2000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L</a:t>
            </a:r>
            <a:r>
              <a:rPr kumimoji="0"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----</a:t>
            </a:r>
            <a:r>
              <a:rPr kumimoji="0"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长度</a:t>
            </a:r>
            <a:r>
              <a:rPr kumimoji="0" lang="zh-CN" altLang="en-US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系数；</a:t>
            </a:r>
            <a:r>
              <a:rPr kumimoji="0" lang="zh-CN" altLang="en-US" sz="200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UniversalMath1 BT" panose="05050102010205020602" pitchFamily="18" charset="2"/>
              </a:rPr>
              <a:t>△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sz="2000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sz="20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----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i</a:t>
            </a:r>
            <a:r>
              <a:rPr kumimoji="0"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Symbol" panose="05050102010706020507" pitchFamily="18" charset="2"/>
              </a:rPr>
              <a:t></a:t>
            </a:r>
            <a:r>
              <a:rPr kumimoji="0" lang="en-US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1</a:t>
            </a:r>
            <a:r>
              <a:rPr kumimoji="0" lang="zh-CN" altLang="en-US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时的功率增量；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sz="2000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en-US" altLang="zh-CN" sz="20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----</a:t>
            </a:r>
            <a:r>
              <a:rPr lang="zh-CN" altLang="en-US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窄</a:t>
            </a:r>
            <a:r>
              <a:rPr lang="en-US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</a:t>
            </a:r>
            <a:r>
              <a:rPr kumimoji="0" lang="en-US" altLang="zh-CN" sz="2000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endParaRPr kumimoji="0" lang="en-US" altLang="zh-CN" sz="2000" i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UniversalMath1 BT" panose="05050102010205020602" pitchFamily="18" charset="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55902" y="1165909"/>
            <a:ext cx="2388306" cy="511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 flipH="1">
            <a:off x="4788022" y="1672272"/>
            <a:ext cx="408905" cy="393140"/>
          </a:xfrm>
          <a:custGeom>
            <a:avLst/>
            <a:gdLst>
              <a:gd name="connsiteX0" fmla="*/ 0 w 1121569"/>
              <a:gd name="connsiteY0" fmla="*/ 9539 h 523889"/>
              <a:gd name="connsiteX1" fmla="*/ 250032 w 1121569"/>
              <a:gd name="connsiteY1" fmla="*/ 9539 h 523889"/>
              <a:gd name="connsiteX2" fmla="*/ 271463 w 1121569"/>
              <a:gd name="connsiteY2" fmla="*/ 30971 h 523889"/>
              <a:gd name="connsiteX3" fmla="*/ 292894 w 1121569"/>
              <a:gd name="connsiteY3" fmla="*/ 38114 h 523889"/>
              <a:gd name="connsiteX4" fmla="*/ 300038 w 1121569"/>
              <a:gd name="connsiteY4" fmla="*/ 59546 h 523889"/>
              <a:gd name="connsiteX5" fmla="*/ 371475 w 1121569"/>
              <a:gd name="connsiteY5" fmla="*/ 80977 h 523889"/>
              <a:gd name="connsiteX6" fmla="*/ 492919 w 1121569"/>
              <a:gd name="connsiteY6" fmla="*/ 88121 h 523889"/>
              <a:gd name="connsiteX7" fmla="*/ 535782 w 1121569"/>
              <a:gd name="connsiteY7" fmla="*/ 95264 h 523889"/>
              <a:gd name="connsiteX8" fmla="*/ 571500 w 1121569"/>
              <a:gd name="connsiteY8" fmla="*/ 130983 h 523889"/>
              <a:gd name="connsiteX9" fmla="*/ 614363 w 1121569"/>
              <a:gd name="connsiteY9" fmla="*/ 166702 h 523889"/>
              <a:gd name="connsiteX10" fmla="*/ 657225 w 1121569"/>
              <a:gd name="connsiteY10" fmla="*/ 202421 h 523889"/>
              <a:gd name="connsiteX11" fmla="*/ 821532 w 1121569"/>
              <a:gd name="connsiteY11" fmla="*/ 209564 h 523889"/>
              <a:gd name="connsiteX12" fmla="*/ 864394 w 1121569"/>
              <a:gd name="connsiteY12" fmla="*/ 230996 h 523889"/>
              <a:gd name="connsiteX13" fmla="*/ 878682 w 1121569"/>
              <a:gd name="connsiteY13" fmla="*/ 252427 h 523889"/>
              <a:gd name="connsiteX14" fmla="*/ 900113 w 1121569"/>
              <a:gd name="connsiteY14" fmla="*/ 273858 h 523889"/>
              <a:gd name="connsiteX15" fmla="*/ 950119 w 1121569"/>
              <a:gd name="connsiteY15" fmla="*/ 323864 h 523889"/>
              <a:gd name="connsiteX16" fmla="*/ 1000125 w 1121569"/>
              <a:gd name="connsiteY16" fmla="*/ 345296 h 523889"/>
              <a:gd name="connsiteX17" fmla="*/ 1042988 w 1121569"/>
              <a:gd name="connsiteY17" fmla="*/ 359583 h 523889"/>
              <a:gd name="connsiteX18" fmla="*/ 1057275 w 1121569"/>
              <a:gd name="connsiteY18" fmla="*/ 381014 h 523889"/>
              <a:gd name="connsiteX19" fmla="*/ 1078707 w 1121569"/>
              <a:gd name="connsiteY19" fmla="*/ 388158 h 523889"/>
              <a:gd name="connsiteX20" fmla="*/ 1085850 w 1121569"/>
              <a:gd name="connsiteY20" fmla="*/ 409589 h 523889"/>
              <a:gd name="connsiteX21" fmla="*/ 1107282 w 1121569"/>
              <a:gd name="connsiteY21" fmla="*/ 488171 h 523889"/>
              <a:gd name="connsiteX22" fmla="*/ 1121569 w 1121569"/>
              <a:gd name="connsiteY22" fmla="*/ 509602 h 523889"/>
              <a:gd name="connsiteX23" fmla="*/ 1107282 w 1121569"/>
              <a:gd name="connsiteY23" fmla="*/ 523889 h 52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21569" h="523889">
                <a:moveTo>
                  <a:pt x="0" y="9539"/>
                </a:moveTo>
                <a:cubicBezTo>
                  <a:pt x="95045" y="900"/>
                  <a:pt x="140383" y="-6705"/>
                  <a:pt x="250032" y="9539"/>
                </a:cubicBezTo>
                <a:cubicBezTo>
                  <a:pt x="260026" y="11020"/>
                  <a:pt x="263057" y="25367"/>
                  <a:pt x="271463" y="30971"/>
                </a:cubicBezTo>
                <a:cubicBezTo>
                  <a:pt x="277728" y="35148"/>
                  <a:pt x="285750" y="35733"/>
                  <a:pt x="292894" y="38114"/>
                </a:cubicBezTo>
                <a:cubicBezTo>
                  <a:pt x="295275" y="45258"/>
                  <a:pt x="295334" y="53666"/>
                  <a:pt x="300038" y="59546"/>
                </a:cubicBezTo>
                <a:cubicBezTo>
                  <a:pt x="316236" y="79793"/>
                  <a:pt x="350709" y="79246"/>
                  <a:pt x="371475" y="80977"/>
                </a:cubicBezTo>
                <a:cubicBezTo>
                  <a:pt x="411886" y="84345"/>
                  <a:pt x="452438" y="85740"/>
                  <a:pt x="492919" y="88121"/>
                </a:cubicBezTo>
                <a:cubicBezTo>
                  <a:pt x="507207" y="90502"/>
                  <a:pt x="522041" y="90684"/>
                  <a:pt x="535782" y="95264"/>
                </a:cubicBezTo>
                <a:cubicBezTo>
                  <a:pt x="559960" y="103323"/>
                  <a:pt x="556847" y="113399"/>
                  <a:pt x="571500" y="130983"/>
                </a:cubicBezTo>
                <a:cubicBezTo>
                  <a:pt x="599957" y="165131"/>
                  <a:pt x="583715" y="141162"/>
                  <a:pt x="614363" y="166702"/>
                </a:cubicBezTo>
                <a:cubicBezTo>
                  <a:pt x="621290" y="172474"/>
                  <a:pt x="644874" y="200996"/>
                  <a:pt x="657225" y="202421"/>
                </a:cubicBezTo>
                <a:cubicBezTo>
                  <a:pt x="711684" y="208705"/>
                  <a:pt x="766763" y="207183"/>
                  <a:pt x="821532" y="209564"/>
                </a:cubicBezTo>
                <a:cubicBezTo>
                  <a:pt x="838963" y="215375"/>
                  <a:pt x="850545" y="217147"/>
                  <a:pt x="864394" y="230996"/>
                </a:cubicBezTo>
                <a:cubicBezTo>
                  <a:pt x="870465" y="237067"/>
                  <a:pt x="873185" y="245831"/>
                  <a:pt x="878682" y="252427"/>
                </a:cubicBezTo>
                <a:cubicBezTo>
                  <a:pt x="885150" y="260188"/>
                  <a:pt x="893911" y="265883"/>
                  <a:pt x="900113" y="273858"/>
                </a:cubicBezTo>
                <a:cubicBezTo>
                  <a:pt x="940234" y="325442"/>
                  <a:pt x="909166" y="310214"/>
                  <a:pt x="950119" y="323864"/>
                </a:cubicBezTo>
                <a:cubicBezTo>
                  <a:pt x="984118" y="346531"/>
                  <a:pt x="958190" y="332716"/>
                  <a:pt x="1000125" y="345296"/>
                </a:cubicBezTo>
                <a:cubicBezTo>
                  <a:pt x="1014550" y="349624"/>
                  <a:pt x="1042988" y="359583"/>
                  <a:pt x="1042988" y="359583"/>
                </a:cubicBezTo>
                <a:cubicBezTo>
                  <a:pt x="1047750" y="366727"/>
                  <a:pt x="1050571" y="375651"/>
                  <a:pt x="1057275" y="381014"/>
                </a:cubicBezTo>
                <a:cubicBezTo>
                  <a:pt x="1063155" y="385718"/>
                  <a:pt x="1073382" y="382833"/>
                  <a:pt x="1078707" y="388158"/>
                </a:cubicBezTo>
                <a:cubicBezTo>
                  <a:pt x="1084032" y="393483"/>
                  <a:pt x="1084024" y="402284"/>
                  <a:pt x="1085850" y="409589"/>
                </a:cubicBezTo>
                <a:cubicBezTo>
                  <a:pt x="1091217" y="431060"/>
                  <a:pt x="1095021" y="469780"/>
                  <a:pt x="1107282" y="488171"/>
                </a:cubicBezTo>
                <a:cubicBezTo>
                  <a:pt x="1112044" y="495315"/>
                  <a:pt x="1121569" y="501016"/>
                  <a:pt x="1121569" y="509602"/>
                </a:cubicBezTo>
                <a:lnTo>
                  <a:pt x="1107282" y="523889"/>
                </a:lnTo>
              </a:path>
            </a:pathLst>
          </a:custGeom>
          <a:noFill/>
          <a:ln w="31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xmlns="" id="{587366B4-A14F-480D-8278-54D94B8AE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208" y="4473730"/>
            <a:ext cx="2446783" cy="46166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b="1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</a:t>
            </a:r>
            <a:r>
              <a:rPr lang="zh-CN" altLang="en-US" b="1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＝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b="1" i="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K</a:t>
            </a:r>
            <a:r>
              <a:rPr kumimoji="0" lang="en-US" altLang="zh-CN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b="1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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K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kumimoji="0" lang="en-US" altLang="zh-CN" b="1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UniversalMath1 BT" panose="05050102010205020602" pitchFamily="18" charset="2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43608" y="1821740"/>
            <a:ext cx="5353540" cy="771984"/>
            <a:chOff x="1043608" y="1821740"/>
            <a:chExt cx="5353540" cy="771984"/>
          </a:xfrm>
        </p:grpSpPr>
        <p:graphicFrame>
          <p:nvGraphicFramePr>
            <p:cNvPr id="13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1217431"/>
                </p:ext>
              </p:extLst>
            </p:nvPr>
          </p:nvGraphicFramePr>
          <p:xfrm>
            <a:off x="1043608" y="1821740"/>
            <a:ext cx="5353540" cy="771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66" name="Equation" r:id="rId6" imgW="2730240" imgH="393480" progId="Equation.DSMT4">
                    <p:embed/>
                  </p:oleObj>
                </mc:Choice>
                <mc:Fallback>
                  <p:oleObj name="Equation" r:id="rId6" imgW="273024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1821740"/>
                          <a:ext cx="5353540" cy="7719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1251330" y="2200498"/>
              <a:ext cx="360676" cy="20005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3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emax</a:t>
              </a:r>
              <a:endPara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27584" y="2709062"/>
            <a:ext cx="7513662" cy="955798"/>
            <a:chOff x="827584" y="2709062"/>
            <a:chExt cx="7513662" cy="95579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8"/>
            <a:srcRect r="28447" b="51105"/>
            <a:stretch/>
          </p:blipFill>
          <p:spPr>
            <a:xfrm>
              <a:off x="827584" y="2709062"/>
              <a:ext cx="3366839" cy="936104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8"/>
            <a:srcRect l="10340" t="52656"/>
            <a:stretch/>
          </p:blipFill>
          <p:spPr>
            <a:xfrm>
              <a:off x="4122415" y="2758447"/>
              <a:ext cx="4218831" cy="906413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1622630" y="2895934"/>
              <a:ext cx="665247" cy="3539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3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emax</a:t>
              </a:r>
              <a:r>
                <a:rPr lang="en-US" altLang="zh-CN" sz="23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035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4" grpId="0" animBg="1" autoUpdateAnimBg="0"/>
      <p:bldP spid="25" grpId="0"/>
      <p:bldP spid="26" grpId="0" autoUpdateAnimBg="0"/>
      <p:bldP spid="23" grpId="0" animBg="1"/>
      <p:bldP spid="29" grpId="0" animBg="1"/>
      <p:bldP spid="3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23528" y="553244"/>
            <a:ext cx="5068380" cy="492443"/>
            <a:chOff x="323528" y="564857"/>
            <a:chExt cx="5068380" cy="49244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470834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2600" b="1" dirty="0" smtClean="0">
                  <a:solidFill>
                    <a:srgbClr val="000099"/>
                  </a:solidFill>
                  <a:latin typeface="黑体" pitchFamily="49" charset="-122"/>
                </a:rPr>
                <a:t>V</a:t>
              </a:r>
              <a:r>
                <a:rPr lang="zh-CN" altLang="en-US" sz="2600" b="1" dirty="0" smtClean="0">
                  <a:solidFill>
                    <a:srgbClr val="000099"/>
                  </a:solidFill>
                  <a:latin typeface="黑体" pitchFamily="49" charset="-122"/>
                </a:rPr>
                <a:t>带传动的设计计算及参数选择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8" name="Picture 15" descr="AR1031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13" name="Text Box 4">
            <a:extLst>
              <a:ext uri="{FF2B5EF4-FFF2-40B4-BE49-F238E27FC236}">
                <a16:creationId xmlns="" xmlns:a16="http://schemas.microsoft.com/office/drawing/2014/main" id="{31BB0112-3950-48E6-8EC2-A698CBA4A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1178090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1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.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原始数据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="" xmlns:a16="http://schemas.microsoft.com/office/drawing/2014/main" id="{8B46364C-A041-44A6-99A3-E631E3AC0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772158"/>
            <a:ext cx="8266077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i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工作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条件、功率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主从动轮转速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en-US" altLang="zh-CN" b="1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en-US" altLang="zh-CN" b="1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尺寸及位置。</a:t>
            </a:r>
          </a:p>
        </p:txBody>
      </p:sp>
      <p:sp>
        <p:nvSpPr>
          <p:cNvPr id="15" name="Text Box 6">
            <a:extLst>
              <a:ext uri="{FF2B5EF4-FFF2-40B4-BE49-F238E27FC236}">
                <a16:creationId xmlns="" xmlns:a16="http://schemas.microsoft.com/office/drawing/2014/main" id="{A13F101A-2340-4D5C-9A73-4C966F789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2410694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2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.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设计内容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="" xmlns:a16="http://schemas.microsoft.com/office/drawing/2014/main" id="{3EE96203-A5F2-43BF-979D-4DBE7CD52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3012297"/>
            <a:ext cx="799288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（1）确定带的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型号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长度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根数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（2）确定带传动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中心距</a:t>
            </a:r>
            <a:r>
              <a:rPr lang="zh-CN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带轮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直径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结构尺寸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包角</a:t>
            </a: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（3）确定带的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张紧力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zh-CN" b="1" i="0" baseline="-250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b="1" i="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压轴力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lang="en-US" altLang="en-US" b="1" i="0" baseline="-25000" dirty="0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Q</a:t>
            </a: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Text Box 9">
            <a:extLst>
              <a:ext uri="{FF2B5EF4-FFF2-40B4-BE49-F238E27FC236}">
                <a16:creationId xmlns="" xmlns:a16="http://schemas.microsoft.com/office/drawing/2014/main" id="{A4E7634D-14CD-4B9B-A7BA-91C9608B4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4906561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3.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/>
                <a:ea typeface="微软雅黑" panose="020B0503020204020204" pitchFamily="34" charset="-122"/>
              </a:rPr>
              <a:t>设计步骤</a:t>
            </a:r>
          </a:p>
        </p:txBody>
      </p:sp>
    </p:spTree>
    <p:extLst>
      <p:ext uri="{BB962C8B-B14F-4D97-AF65-F5344CB8AC3E}">
        <p14:creationId xmlns:p14="http://schemas.microsoft.com/office/powerpoint/2010/main" val="175793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utoUpdateAnimBg="0"/>
      <p:bldP spid="15" grpId="0"/>
      <p:bldP spid="16" grpId="0" autoUpdateAnimBg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2" y="538388"/>
            <a:ext cx="1897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）选带型号</a:t>
            </a:r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363954" y="1089549"/>
            <a:ext cx="3386138" cy="865188"/>
            <a:chOff x="2294" y="709"/>
            <a:chExt cx="2133" cy="545"/>
          </a:xfrm>
        </p:grpSpPr>
        <p:sp>
          <p:nvSpPr>
            <p:cNvPr id="17" name="Text Box 7"/>
            <p:cNvSpPr txBox="1">
              <a:spLocks noChangeArrowheads="1"/>
            </p:cNvSpPr>
            <p:nvPr/>
          </p:nvSpPr>
          <p:spPr bwMode="auto">
            <a:xfrm>
              <a:off x="2294" y="709"/>
              <a:ext cx="102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计算功率</a:t>
              </a:r>
              <a:r>
                <a:rPr kumimoji="1" lang="en-US" altLang="zh-CN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kumimoji="1" lang="en-US" altLang="zh-CN" sz="220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2294" y="983"/>
              <a:ext cx="102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小轮转速</a:t>
              </a:r>
              <a:r>
                <a:rPr kumimoji="1" lang="en-US" altLang="zh-CN" sz="2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kumimoji="1" lang="en-US" altLang="zh-CN" sz="22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9" name="AutoShape 9"/>
            <p:cNvSpPr>
              <a:spLocks/>
            </p:cNvSpPr>
            <p:nvPr/>
          </p:nvSpPr>
          <p:spPr bwMode="auto">
            <a:xfrm>
              <a:off x="3310" y="784"/>
              <a:ext cx="98" cy="417"/>
            </a:xfrm>
            <a:prstGeom prst="rightBrace">
              <a:avLst>
                <a:gd name="adj1" fmla="val 47253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3422" y="855"/>
              <a:ext cx="100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确定带型号</a:t>
              </a:r>
            </a:p>
          </p:txBody>
        </p:sp>
      </p:grp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1324516" y="2164771"/>
            <a:ext cx="1320105" cy="470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kumimoji="1"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4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=K</a:t>
            </a:r>
            <a:r>
              <a:rPr kumimoji="1" lang="en-US" altLang="zh-CN" sz="24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·P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363536" y="2770636"/>
            <a:ext cx="3523722" cy="97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名义功率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(kW)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  <a:p>
            <a:pPr eaLnBrk="0" hangingPunct="0">
              <a:lnSpc>
                <a:spcPct val="130000"/>
              </a:lnSpc>
            </a:pP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kumimoji="1" lang="en-US" altLang="zh-CN" sz="22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情况系数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6-13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pic>
        <p:nvPicPr>
          <p:cNvPr id="23" name="图片 2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502438"/>
            <a:ext cx="5083810" cy="3522980"/>
          </a:xfrm>
          <a:prstGeom prst="rect">
            <a:avLst/>
          </a:prstGeom>
        </p:spPr>
      </p:pic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179512" y="3850756"/>
            <a:ext cx="31438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）确定带轮基准直径</a:t>
            </a: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425825" y="4419967"/>
            <a:ext cx="26132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r>
              <a:rPr kumimoji="1"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型号 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→  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kumimoji="1" lang="en-US" altLang="zh-CN" sz="2400" baseline="-25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min</a:t>
            </a:r>
            <a:endParaRPr kumimoji="1" lang="en-US" altLang="zh-CN" sz="2400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1173703" y="5059309"/>
            <a:ext cx="1460656" cy="46166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kumimoji="1" lang="en-US" altLang="zh-CN" sz="2400" baseline="-25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d1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kumimoji="1" lang="en-US" altLang="zh-CN" sz="2400" baseline="-25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dmin</a:t>
            </a:r>
            <a:endParaRPr kumimoji="1" lang="en-US" altLang="zh-CN" sz="2400" baseline="-25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211983"/>
              </p:ext>
            </p:extLst>
          </p:nvPr>
        </p:nvGraphicFramePr>
        <p:xfrm>
          <a:off x="3791568" y="4123843"/>
          <a:ext cx="5172922" cy="707826"/>
        </p:xfrm>
        <a:graphic>
          <a:graphicData uri="http://schemas.openxmlformats.org/drawingml/2006/table">
            <a:tbl>
              <a:tblPr/>
              <a:tblGrid>
                <a:gridCol w="18245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96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696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696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696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6967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477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最小基准直径</a:t>
                      </a:r>
                      <a:r>
                        <a:rPr lang="en-US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sz="1400" kern="100" baseline="-250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dmin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  <a:cs typeface="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B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矩形 32"/>
          <p:cNvSpPr/>
          <p:nvPr/>
        </p:nvSpPr>
        <p:spPr>
          <a:xfrm>
            <a:off x="3779912" y="5014682"/>
            <a:ext cx="52205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带轮基准直径系列：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22.4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31.5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35.5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71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</a:t>
            </a:r>
            <a:r>
              <a:rPr kumimoji="1" lang="zh-CN" altLang="zh-CN" sz="1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00" kern="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kumimoji="1" lang="en-US" altLang="zh-CN" sz="1400" kern="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  <a:endParaRPr kumimoji="1"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01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21" grpId="0" autoUpdateAnimBg="0"/>
      <p:bldP spid="22" grpId="0" build="p" autoUpdateAnimBg="0"/>
      <p:bldP spid="29" grpId="0" autoUpdateAnimBg="0"/>
      <p:bldP spid="30" grpId="0" autoUpdateAnimBg="0"/>
      <p:bldP spid="31" grpId="0" animBg="1" autoUpdateAnimBg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2182240" y="1452947"/>
            <a:ext cx="82747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v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↑ →</a:t>
            </a:r>
            <a:endParaRPr kumimoji="1" lang="en-US" altLang="zh-CN" sz="2200" baseline="-25000" dirty="0">
              <a:solidFill>
                <a:srgbClr val="0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2184251" y="2034277"/>
            <a:ext cx="36808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v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功率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一定时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, F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↑ →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z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↑ </a:t>
            </a: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5009388" y="1448301"/>
            <a:ext cx="397897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压紧力</a:t>
            </a:r>
            <a:r>
              <a:rPr kumimoji="1"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ΣF</a:t>
            </a:r>
            <a:r>
              <a:rPr kumimoji="1" lang="en-US" altLang="zh-CN" sz="22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f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传动能力</a:t>
            </a:r>
            <a:r>
              <a:rPr kumimoji="1"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2906399" y="1448301"/>
            <a:ext cx="18469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σ</a:t>
            </a:r>
            <a:r>
              <a:rPr kumimoji="1" lang="en-US" altLang="zh-CN" sz="22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r>
              <a:rPr kumimoji="1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20204" pitchFamily="34" charset="0"/>
              </a:rPr>
              <a:t>↑ → 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寿命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6289169" y="2034276"/>
            <a:ext cx="23006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通常：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v=5~25m/s</a:t>
            </a:r>
          </a:p>
        </p:txBody>
      </p:sp>
      <p:grpSp>
        <p:nvGrpSpPr>
          <p:cNvPr id="30" name="Group 26"/>
          <p:cNvGrpSpPr>
            <a:grpSpLocks/>
          </p:cNvGrpSpPr>
          <p:nvPr/>
        </p:nvGrpSpPr>
        <p:grpSpPr bwMode="auto">
          <a:xfrm>
            <a:off x="404313" y="516656"/>
            <a:ext cx="4052888" cy="814388"/>
            <a:chOff x="598" y="2088"/>
            <a:chExt cx="2553" cy="513"/>
          </a:xfrm>
        </p:grpSpPr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598" y="2180"/>
              <a:ext cx="14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</a:t>
              </a:r>
              <a:r>
                <a:rPr kumimoji="1" lang="en-US" altLang="zh-CN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 </a:t>
              </a:r>
              <a:r>
                <a:rPr kumimoji="1" lang="en-US" altLang="zh-CN" sz="220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20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d2</a:t>
              </a:r>
              <a:r>
                <a:rPr kumimoji="1" lang="en-US" altLang="zh-CN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≈</a:t>
              </a:r>
              <a:r>
                <a:rPr kumimoji="1" lang="en-US" altLang="zh-CN" sz="220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20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20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d1  </a:t>
              </a:r>
              <a:r>
                <a:rPr kumimoji="1" lang="zh-CN" altLang="en-US" sz="22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或  </a:t>
              </a:r>
            </a:p>
          </p:txBody>
        </p:sp>
        <p:graphicFrame>
          <p:nvGraphicFramePr>
            <p:cNvPr id="3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6274739"/>
                </p:ext>
              </p:extLst>
            </p:nvPr>
          </p:nvGraphicFramePr>
          <p:xfrm>
            <a:off x="1823" y="2088"/>
            <a:ext cx="1328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5619" name="Equation" r:id="rId3" imgW="1117440" imgH="431640" progId="Equation.DSMT4">
                    <p:embed/>
                  </p:oleObj>
                </mc:Choice>
                <mc:Fallback>
                  <p:oleObj name="Equation" r:id="rId3" imgW="11174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3" y="2088"/>
                          <a:ext cx="1328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9"/>
          <p:cNvGrpSpPr>
            <a:grpSpLocks/>
          </p:cNvGrpSpPr>
          <p:nvPr/>
        </p:nvGrpSpPr>
        <p:grpSpPr bwMode="auto">
          <a:xfrm>
            <a:off x="4653165" y="670644"/>
            <a:ext cx="2951165" cy="430213"/>
            <a:chOff x="3264" y="2885"/>
            <a:chExt cx="1859" cy="271"/>
          </a:xfrm>
        </p:grpSpPr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3264" y="3027"/>
              <a:ext cx="395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/>
              <a:endParaRPr kumimoji="1" lang="zh-CN" altLang="en-US" sz="2200">
                <a:solidFill>
                  <a:srgbClr val="3366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" name="Text Box 11"/>
            <p:cNvSpPr txBox="1">
              <a:spLocks noChangeArrowheads="1"/>
            </p:cNvSpPr>
            <p:nvPr/>
          </p:nvSpPr>
          <p:spPr bwMode="auto">
            <a:xfrm>
              <a:off x="3674" y="2885"/>
              <a:ext cx="144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200" dirty="0" smtClean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按表</a:t>
              </a:r>
              <a:r>
                <a:rPr kumimoji="1" lang="en-US" altLang="zh-CN" sz="2200" dirty="0" smtClean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6-5</a:t>
              </a:r>
              <a:r>
                <a:rPr kumimoji="1" lang="zh-CN" altLang="en-US" sz="2200" dirty="0" smtClean="0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圆整靠标</a:t>
              </a:r>
              <a:endParaRPr kumimoji="1" lang="zh-CN" altLang="en-US" sz="22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179512" y="1459731"/>
            <a:ext cx="19127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）验算带速</a:t>
            </a:r>
            <a:endParaRPr kumimoji="1"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21228" y="2709764"/>
            <a:ext cx="207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kumimoji="1"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2457867" y="2710930"/>
            <a:ext cx="585929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en-US" altLang="zh-CN" sz="2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↑ —→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结构尺寸</a:t>
            </a:r>
            <a:r>
              <a:rPr kumimoji="1" lang="zh-CN" altLang="en-US" sz="2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↑，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高速时带颤动，</a:t>
            </a:r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α</a:t>
            </a:r>
            <a:r>
              <a:rPr kumimoji="1" lang="en-US" altLang="zh-CN" sz="22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不稳定</a:t>
            </a:r>
            <a:endParaRPr kumimoji="1" lang="zh-CN" altLang="en-US" sz="2200" baseline="-25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672008" y="3369861"/>
            <a:ext cx="97334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↓↓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→</a:t>
            </a:r>
            <a:endParaRPr kumimoji="1" lang="en-US" altLang="zh-CN" sz="2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6428344" y="3369861"/>
            <a:ext cx="246413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hangingPunct="0"/>
            <a:r>
              <a:rPr kumimoji="1"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α</a:t>
            </a:r>
            <a:r>
              <a:rPr kumimoji="1" lang="en-US" altLang="zh-CN" sz="22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200" baseline="-25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↓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传动能力</a:t>
            </a:r>
            <a:r>
              <a:rPr kumimoji="1" lang="zh-CN" altLang="en-US" sz="2200" kern="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</a:t>
            </a:r>
            <a:endParaRPr kumimoji="1" lang="zh-CN" altLang="en-US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1607009" y="3369444"/>
            <a:ext cx="471154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带长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↓↓</a:t>
            </a:r>
            <a:r>
              <a:rPr kumimoji="1" lang="zh-CN" altLang="en-US" sz="22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 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带绕转次数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↑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→  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带寿命</a:t>
            </a:r>
            <a:r>
              <a:rPr kumimoji="1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12"/>
              <p:cNvSpPr txBox="1">
                <a:spLocks noChangeArrowheads="1"/>
              </p:cNvSpPr>
              <p:nvPr/>
            </p:nvSpPr>
            <p:spPr bwMode="auto">
              <a:xfrm>
                <a:off x="616578" y="3938781"/>
                <a:ext cx="648241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200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∴ </a:t>
                </a:r>
                <a:r>
                  <a:rPr kumimoji="1" lang="zh-CN" altLang="en-US" sz="2200" dirty="0" smtClean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经验公式</a:t>
                </a:r>
                <a:r>
                  <a:rPr kumimoji="1" lang="zh-CN" altLang="en-US" sz="2200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rPr>
                      <m:t>0.7</m:t>
                    </m:r>
                    <m:d>
                      <m:dPr>
                        <m:ctrlPr>
                          <a:rPr kumimoji="1"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kumimoji="1"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kumimoji="1" lang="en-US" altLang="zh-CN" sz="2200" b="0" i="1" baseline="-25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kumimoji="1"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≤2</m:t>
                    </m:r>
                    <m:d>
                      <m:dPr>
                        <m:ctrlPr>
                          <a:rPr kumimoji="1"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kumimoji="1" lang="en-US" altLang="zh-CN" sz="2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CN" sz="2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578" y="3938781"/>
                <a:ext cx="6482416" cy="430887"/>
              </a:xfrm>
              <a:prstGeom prst="rect">
                <a:avLst/>
              </a:prstGeom>
              <a:blipFill rotWithShape="0">
                <a:blip r:embed="rId5"/>
                <a:stretch>
                  <a:fillRect l="-1222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323528" y="4538649"/>
            <a:ext cx="885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计算过程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）经验公式初选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en-US" altLang="zh-CN" sz="2200" baseline="-25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； 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）式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6-6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L</a:t>
            </a:r>
            <a:r>
              <a:rPr kumimoji="1" lang="en-US" altLang="zh-CN" sz="2200" baseline="-250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d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</a:t>
            </a:r>
            <a:r>
              <a:rPr kumimoji="1" lang="zh-CN" altLang="en-US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按</a:t>
            </a:r>
            <a:r>
              <a:rPr kumimoji="1" lang="zh-CN" altLang="en-US" sz="220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表</a:t>
            </a:r>
            <a:r>
              <a:rPr kumimoji="1" lang="en-US" altLang="zh-CN" sz="220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6-2</a:t>
            </a:r>
            <a:r>
              <a:rPr kumimoji="1" lang="zh-CN" altLang="en-US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圆整靠标</a:t>
            </a:r>
            <a:endParaRPr kumimoji="1" lang="zh-CN" altLang="en-US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5" name="Text Box 13"/>
          <p:cNvSpPr txBox="1">
            <a:spLocks noChangeArrowheads="1"/>
          </p:cNvSpPr>
          <p:nvPr/>
        </p:nvSpPr>
        <p:spPr bwMode="auto">
          <a:xfrm>
            <a:off x="1718858" y="5090909"/>
            <a:ext cx="33986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zh-CN" altLang="en-US" sz="22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式</a:t>
            </a:r>
            <a:r>
              <a:rPr kumimoji="1" lang="en-US" altLang="zh-CN" sz="22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6-7</a:t>
            </a:r>
            <a:r>
              <a:rPr kumimoji="1" lang="en-US" altLang="zh-CN" sz="220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 a ——</a:t>
            </a:r>
            <a:r>
              <a:rPr kumimoji="1" lang="zh-CN" altLang="en-US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调整量</a:t>
            </a:r>
            <a:endParaRPr kumimoji="1" lang="zh-CN" altLang="en-US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91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23" grpId="0"/>
      <p:bldP spid="25" grpId="0"/>
      <p:bldP spid="28" grpId="0"/>
      <p:bldP spid="19" grpId="0" autoUpdateAnimBg="0"/>
      <p:bldP spid="20" grpId="0"/>
      <p:bldP spid="36" grpId="0" autoUpdateAnimBg="0"/>
      <p:bldP spid="37" grpId="0" autoUpdateAnimBg="0"/>
      <p:bldP spid="38" grpId="0" autoUpdateAnimBg="0"/>
      <p:bldP spid="40" grpId="0"/>
      <p:bldP spid="42" grpId="0" autoUpdateAnimBg="0"/>
      <p:bldP spid="43" grpId="0" autoUpdateAnimBg="0"/>
      <p:bldP spid="4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0"/>
          <p:cNvGrpSpPr>
            <a:grpSpLocks/>
          </p:cNvGrpSpPr>
          <p:nvPr/>
        </p:nvGrpSpPr>
        <p:grpSpPr bwMode="auto">
          <a:xfrm>
            <a:off x="179512" y="625761"/>
            <a:ext cx="2254249" cy="476249"/>
            <a:chOff x="929" y="413"/>
            <a:chExt cx="1420" cy="300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929" y="413"/>
              <a:ext cx="12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）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验算包角</a:t>
              </a:r>
            </a:p>
          </p:txBody>
        </p:sp>
        <p:sp>
          <p:nvSpPr>
            <p:cNvPr id="19" name="Rectangle 6"/>
            <p:cNvSpPr>
              <a:spLocks noChangeArrowheads="1"/>
            </p:cNvSpPr>
            <p:nvPr/>
          </p:nvSpPr>
          <p:spPr bwMode="auto">
            <a:xfrm>
              <a:off x="2042" y="422"/>
              <a:ext cx="3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α</a:t>
              </a:r>
              <a:r>
                <a:rPr kumimoji="1" lang="en-US" altLang="zh-CN" sz="2400" b="1" baseline="-250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4871608" y="622386"/>
            <a:ext cx="3670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故：</a:t>
            </a:r>
            <a:r>
              <a:rPr kumimoji="1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α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≥120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°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式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6-41</a:t>
            </a:r>
            <a:endParaRPr kumimoji="1"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563182" y="623754"/>
            <a:ext cx="19800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α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4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↑—→</a:t>
            </a:r>
            <a:r>
              <a:rPr kumimoji="1"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max</a:t>
            </a:r>
            <a:r>
              <a:rPr kumimoji="1" lang="en-US" altLang="zh-CN" sz="24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↑</a:t>
            </a: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179512" y="1532248"/>
            <a:ext cx="2071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带的根数</a:t>
            </a:r>
            <a:r>
              <a:rPr kumimoji="1"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</a:t>
            </a:r>
          </a:p>
        </p:txBody>
      </p:sp>
      <p:sp>
        <p:nvSpPr>
          <p:cNvPr id="26" name="Text Box 17"/>
          <p:cNvSpPr txBox="1">
            <a:spLocks noChangeArrowheads="1"/>
          </p:cNvSpPr>
          <p:nvPr/>
        </p:nvSpPr>
        <p:spPr bwMode="auto">
          <a:xfrm>
            <a:off x="179512" y="2491222"/>
            <a:ext cx="38202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初拉力</a:t>
            </a:r>
            <a:r>
              <a:rPr kumimoji="1"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 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P134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式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6-45</a:t>
            </a:r>
            <a:endParaRPr kumimoji="1" lang="en-US" altLang="zh-CN" sz="2400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179512" y="3218786"/>
            <a:ext cx="255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计算压轴力</a:t>
            </a:r>
            <a:r>
              <a:rPr kumimoji="1"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</a:t>
            </a:r>
          </a:p>
        </p:txBody>
      </p:sp>
      <p:graphicFrame>
        <p:nvGraphicFramePr>
          <p:cNvPr id="2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646743"/>
              </p:ext>
            </p:extLst>
          </p:nvPr>
        </p:nvGraphicFramePr>
        <p:xfrm>
          <a:off x="755576" y="4154153"/>
          <a:ext cx="2232248" cy="795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645" name="Equation" r:id="rId3" imgW="1104840" imgH="393480" progId="Equation.DSMT4">
                  <p:embed/>
                </p:oleObj>
              </mc:Choice>
              <mc:Fallback>
                <p:oleObj name="Equation" r:id="rId3" imgW="1104840" imgH="3934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154153"/>
                        <a:ext cx="2232248" cy="795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图片 2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215333"/>
            <a:ext cx="5226523" cy="2253532"/>
          </a:xfrm>
          <a:prstGeom prst="rect">
            <a:avLst/>
          </a:prstGeom>
        </p:spPr>
      </p:pic>
      <p:sp>
        <p:nvSpPr>
          <p:cNvPr id="30" name="单圆角矩形 29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1" name="直角三角形 30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267744" y="1340441"/>
                <a:ext cx="3814699" cy="846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1340441"/>
                <a:ext cx="3814699" cy="84619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7534642" y="2357064"/>
            <a:ext cx="1463275" cy="46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圆整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6228184" y="1339983"/>
                <a:ext cx="2769733" cy="846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1339983"/>
                <a:ext cx="2769733" cy="84619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7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/>
      <p:bldP spid="25" grpId="0" autoUpdateAnimBg="0"/>
      <p:bldP spid="26" grpId="0"/>
      <p:bldP spid="27" grpId="0"/>
      <p:bldP spid="2" grpId="0"/>
      <p:bldP spid="32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465726" y="974071"/>
            <a:ext cx="5487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000" dirty="0" smtClean="0">
                <a:latin typeface="微软雅黑"/>
                <a:ea typeface="微软雅黑"/>
                <a:cs typeface="微软雅黑"/>
              </a:rPr>
              <a:t>设计</a:t>
            </a:r>
            <a:r>
              <a:rPr kumimoji="1" lang="en-US" altLang="zh-CN" sz="2000" dirty="0" smtClean="0">
                <a:latin typeface="微软雅黑"/>
                <a:ea typeface="微软雅黑"/>
                <a:cs typeface="微软雅黑"/>
              </a:rPr>
              <a:t>V</a:t>
            </a:r>
            <a:r>
              <a:rPr kumimoji="1" lang="zh-CN" altLang="en-US" sz="2000" dirty="0" smtClean="0">
                <a:latin typeface="微软雅黑"/>
                <a:ea typeface="微软雅黑"/>
                <a:cs typeface="微软雅黑"/>
              </a:rPr>
              <a:t>带传动应使其传动参数满足以下三个条件</a:t>
            </a:r>
            <a:endParaRPr kumimoji="1" lang="zh-CN" altLang="en-US" sz="2000"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544" y="2213781"/>
            <a:ext cx="5644905" cy="703064"/>
            <a:chOff x="467544" y="2242357"/>
            <a:chExt cx="5644905" cy="703064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/>
            </p:nvPr>
          </p:nvGraphicFramePr>
          <p:xfrm>
            <a:off x="2296025" y="2242357"/>
            <a:ext cx="3816424" cy="703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7715" r:id="rId3" imgW="2273300" imgH="419100" progId="">
                    <p:embed/>
                  </p:oleObj>
                </mc:Choice>
                <mc:Fallback>
                  <p:oleObj r:id="rId3" imgW="2273300" imgH="4191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025" y="2242357"/>
                          <a:ext cx="3816424" cy="703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35"/>
            <p:cNvSpPr txBox="1">
              <a:spLocks noChangeArrowheads="1"/>
            </p:cNvSpPr>
            <p:nvPr/>
          </p:nvSpPr>
          <p:spPr bwMode="auto">
            <a:xfrm>
              <a:off x="467544" y="2401817"/>
              <a:ext cx="172354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000" dirty="0" smtClean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符合几何关系</a:t>
              </a:r>
              <a:endParaRPr kumimoji="1" lang="zh-CN" altLang="en-US" sz="20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67544" y="3001435"/>
            <a:ext cx="5976664" cy="719866"/>
            <a:chOff x="467544" y="3030011"/>
            <a:chExt cx="5976664" cy="719866"/>
          </a:xfrm>
        </p:grpSpPr>
        <p:sp>
          <p:nvSpPr>
            <p:cNvPr id="9" name="Text Box 35"/>
            <p:cNvSpPr txBox="1">
              <a:spLocks noChangeArrowheads="1"/>
            </p:cNvSpPr>
            <p:nvPr/>
          </p:nvSpPr>
          <p:spPr bwMode="auto">
            <a:xfrm>
              <a:off x="467544" y="3153835"/>
              <a:ext cx="326243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000" dirty="0" smtClean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满足不打滑及疲劳强度条件</a:t>
              </a:r>
              <a:endParaRPr kumimoji="1" lang="zh-CN" altLang="en-US" sz="20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3836652" y="3030011"/>
            <a:ext cx="2607556" cy="7198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7716" r:id="rId5" imgW="1548728" imgH="431613" progId="">
                    <p:embed/>
                  </p:oleObj>
                </mc:Choice>
                <mc:Fallback>
                  <p:oleObj r:id="rId5" imgW="1548728" imgH="43161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6652" y="3030011"/>
                          <a:ext cx="2607556" cy="7198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467544" y="1454385"/>
            <a:ext cx="4032448" cy="717522"/>
            <a:chOff x="467544" y="1482961"/>
            <a:chExt cx="4032448" cy="717522"/>
          </a:xfrm>
        </p:grpSpPr>
        <p:sp>
          <p:nvSpPr>
            <p:cNvPr id="6" name="Text Box 35"/>
            <p:cNvSpPr txBox="1">
              <a:spLocks noChangeArrowheads="1"/>
            </p:cNvSpPr>
            <p:nvPr/>
          </p:nvSpPr>
          <p:spPr bwMode="auto">
            <a:xfrm>
              <a:off x="467544" y="1612803"/>
              <a:ext cx="172354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000" dirty="0" smtClean="0">
                  <a:solidFill>
                    <a:srgbClr val="0000FF"/>
                  </a:solidFill>
                  <a:latin typeface="微软雅黑"/>
                  <a:ea typeface="微软雅黑"/>
                  <a:cs typeface="微软雅黑"/>
                </a:rPr>
                <a:t>保证运动关系</a:t>
              </a:r>
              <a:endParaRPr kumimoji="1" lang="zh-CN" altLang="en-US" sz="2000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/>
            </p:nvPr>
          </p:nvGraphicFramePr>
          <p:xfrm>
            <a:off x="2359025" y="1482961"/>
            <a:ext cx="2140967" cy="717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7717" name="公式" r:id="rId7" imgW="1295280" imgH="431640" progId="Equation.3">
                    <p:embed/>
                  </p:oleObj>
                </mc:Choice>
                <mc:Fallback>
                  <p:oleObj name="公式" r:id="rId7" imgW="1295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9025" y="1482961"/>
                          <a:ext cx="2140967" cy="717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右大括号 11"/>
          <p:cNvSpPr/>
          <p:nvPr/>
        </p:nvSpPr>
        <p:spPr>
          <a:xfrm>
            <a:off x="6588225" y="1561061"/>
            <a:ext cx="216024" cy="208823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6907266" y="2510432"/>
            <a:ext cx="1841198" cy="1138862"/>
            <a:chOff x="6979273" y="2510727"/>
            <a:chExt cx="1841198" cy="1138862"/>
          </a:xfrm>
        </p:grpSpPr>
        <p:sp>
          <p:nvSpPr>
            <p:cNvPr id="13" name="圆角右箭头 12"/>
            <p:cNvSpPr/>
            <p:nvPr/>
          </p:nvSpPr>
          <p:spPr>
            <a:xfrm rot="5400000">
              <a:off x="6778100" y="2711900"/>
              <a:ext cx="1138862" cy="736515"/>
            </a:xfrm>
            <a:prstGeom prst="bentArrow">
              <a:avLst>
                <a:gd name="adj1" fmla="val 23877"/>
                <a:gd name="adj2" fmla="val 25000"/>
                <a:gd name="adj3" fmla="val 25000"/>
                <a:gd name="adj4" fmla="val 43750"/>
              </a:avLst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 Box 35"/>
            <p:cNvSpPr txBox="1">
              <a:spLocks noChangeArrowheads="1"/>
            </p:cNvSpPr>
            <p:nvPr/>
          </p:nvSpPr>
          <p:spPr bwMode="auto">
            <a:xfrm>
              <a:off x="7731996" y="2713484"/>
              <a:ext cx="108847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 smtClean="0">
                  <a:latin typeface="微软雅黑"/>
                  <a:ea typeface="微软雅黑"/>
                  <a:cs typeface="微软雅黑"/>
                </a:rPr>
                <a:t>由此可拟定设计步骤</a:t>
              </a:r>
              <a:endParaRPr kumimoji="1" lang="zh-CN" altLang="en-US" sz="1400" dirty="0"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0" y="483266"/>
            <a:ext cx="9144000" cy="36830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1800" dirty="0" smtClean="0">
                <a:latin typeface="微软雅黑"/>
                <a:ea typeface="微软雅黑"/>
                <a:cs typeface="微软雅黑"/>
              </a:rPr>
              <a:t>设计思路总结</a:t>
            </a:r>
            <a:endParaRPr kumimoji="1" lang="en-US" altLang="zh-CN" sz="18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单圆角矩形 3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5" name="直角三角形 3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258125" y="4009628"/>
            <a:ext cx="8766648" cy="1556947"/>
            <a:chOff x="258125" y="4009628"/>
            <a:chExt cx="8766648" cy="1556947"/>
          </a:xfrm>
        </p:grpSpPr>
        <p:sp>
          <p:nvSpPr>
            <p:cNvPr id="26" name="Text Box 35"/>
            <p:cNvSpPr txBox="1">
              <a:spLocks noChangeArrowheads="1"/>
            </p:cNvSpPr>
            <p:nvPr/>
          </p:nvSpPr>
          <p:spPr bwMode="auto">
            <a:xfrm>
              <a:off x="2457443" y="5197243"/>
              <a:ext cx="20313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dirty="0" smtClean="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（保证运动关系）</a:t>
              </a:r>
              <a:endParaRPr kumimoji="1" lang="zh-CN" altLang="en-US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 Box 35"/>
            <p:cNvSpPr txBox="1">
              <a:spLocks noChangeArrowheads="1"/>
            </p:cNvSpPr>
            <p:nvPr/>
          </p:nvSpPr>
          <p:spPr bwMode="auto">
            <a:xfrm>
              <a:off x="4847702" y="5197243"/>
              <a:ext cx="20313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dirty="0" smtClean="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（符合几何关系）</a:t>
              </a:r>
              <a:endParaRPr kumimoji="1" lang="zh-CN" altLang="en-US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 Box 35"/>
            <p:cNvSpPr txBox="1">
              <a:spLocks noChangeArrowheads="1"/>
            </p:cNvSpPr>
            <p:nvPr/>
          </p:nvSpPr>
          <p:spPr bwMode="auto">
            <a:xfrm>
              <a:off x="6993448" y="4937530"/>
              <a:ext cx="20313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dirty="0" smtClean="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（保证传动能力）</a:t>
              </a:r>
              <a:endParaRPr kumimoji="1" lang="zh-CN" altLang="en-US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58125" y="4334136"/>
              <a:ext cx="1721587" cy="5040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</a:t>
              </a:r>
              <a:r>
                <a: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带型号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428990" y="4009628"/>
              <a:ext cx="2088232" cy="11445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确定带轮基准直径</a:t>
              </a:r>
              <a:endParaRPr lang="en-US" altLang="zh-CN" dirty="0" smtClean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dirty="0" smtClean="0">
                  <a:solidFill>
                    <a:schemeClr val="tx1"/>
                  </a:solidFill>
                  <a:latin typeface="+mn-ea"/>
                </a:rPr>
                <a:t>d</a:t>
              </a:r>
              <a:r>
                <a:rPr lang="en-US" altLang="zh-CN" baseline="-25000" dirty="0" smtClean="0">
                  <a:solidFill>
                    <a:schemeClr val="tx1"/>
                  </a:solidFill>
                  <a:latin typeface="+mn-ea"/>
                </a:rPr>
                <a:t>d1</a:t>
              </a: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、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</a:rPr>
                <a:t>d</a:t>
              </a:r>
              <a:r>
                <a:rPr lang="en-US" altLang="zh-CN" baseline="-25000" dirty="0" smtClean="0">
                  <a:solidFill>
                    <a:schemeClr val="tx1"/>
                  </a:solidFill>
                  <a:latin typeface="+mn-ea"/>
                </a:rPr>
                <a:t>d2</a:t>
              </a:r>
              <a:endParaRPr lang="en-US" altLang="zh-CN" dirty="0" smtClean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（核验带速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</a:rPr>
                <a:t>v</a:t>
              </a: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）</a:t>
              </a:r>
              <a:endParaRPr lang="zh-CN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994187" y="4009628"/>
              <a:ext cx="1738356" cy="114454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计算带长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</a:rPr>
                <a:t>L</a:t>
              </a:r>
              <a:r>
                <a:rPr lang="en-US" altLang="zh-CN" baseline="-25000" dirty="0" smtClean="0">
                  <a:solidFill>
                    <a:schemeClr val="tx1"/>
                  </a:solidFill>
                  <a:latin typeface="+mn-ea"/>
                </a:rPr>
                <a:t>d</a:t>
              </a: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及中心距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</a:rPr>
                <a:t>a</a:t>
              </a:r>
            </a:p>
            <a:p>
              <a:pPr algn="ctr">
                <a:lnSpc>
                  <a:spcPct val="110000"/>
                </a:lnSpc>
              </a:pP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（核验包角</a:t>
              </a:r>
              <a:r>
                <a:rPr lang="el-GR" altLang="zh-CN" dirty="0" smtClean="0">
                  <a:solidFill>
                    <a:schemeClr val="tx1"/>
                  </a:solidFill>
                  <a:latin typeface="+mn-ea"/>
                  <a:ea typeface="宋体" panose="02010600030101010101" pitchFamily="2" charset="-122"/>
                </a:rPr>
                <a:t>α</a:t>
              </a:r>
              <a:r>
                <a:rPr lang="en-US" altLang="zh-CN" baseline="-25000" dirty="0" smtClean="0">
                  <a:solidFill>
                    <a:schemeClr val="tx1"/>
                  </a:solidFill>
                  <a:latin typeface="+mn-ea"/>
                  <a:ea typeface="宋体" panose="02010600030101010101" pitchFamily="2" charset="-122"/>
                </a:rPr>
                <a:t>1</a:t>
              </a:r>
              <a:r>
                <a:rPr lang="zh-CN" altLang="en-US" dirty="0" smtClean="0">
                  <a:solidFill>
                    <a:schemeClr val="tx1"/>
                  </a:solidFill>
                  <a:latin typeface="+mn-ea"/>
                </a:rPr>
                <a:t>）</a:t>
              </a:r>
              <a:endParaRPr lang="zh-CN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7148318" y="4334136"/>
              <a:ext cx="1721587" cy="5040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</a:t>
              </a:r>
              <a:r>
                <a: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带根数</a:t>
              </a:r>
              <a:r>
                <a: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箭头连接符 38"/>
            <p:cNvCxnSpPr>
              <a:stCxn id="30" idx="3"/>
              <a:endCxn id="36" idx="1"/>
            </p:cNvCxnSpPr>
            <p:nvPr/>
          </p:nvCxnSpPr>
          <p:spPr>
            <a:xfrm flipV="1">
              <a:off x="1979712" y="4581901"/>
              <a:ext cx="449278" cy="42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36" idx="3"/>
              <a:endCxn id="37" idx="1"/>
            </p:cNvCxnSpPr>
            <p:nvPr/>
          </p:nvCxnSpPr>
          <p:spPr>
            <a:xfrm>
              <a:off x="4517222" y="4581901"/>
              <a:ext cx="4769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7" idx="3"/>
              <a:endCxn id="38" idx="1"/>
            </p:cNvCxnSpPr>
            <p:nvPr/>
          </p:nvCxnSpPr>
          <p:spPr>
            <a:xfrm>
              <a:off x="6732543" y="4581901"/>
              <a:ext cx="415775" cy="42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061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481236"/>
                <a:ext cx="8784976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dirty="0" smtClean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6-2 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设计某通风机用的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V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带传动，已知电机功率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P=4kW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，转速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n</a:t>
                </a:r>
                <a:r>
                  <a:rPr lang="en-US" altLang="zh-CN" b="0" baseline="-25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CN" b="0" dirty="0" smtClean="0">
                    <a:solidFill>
                      <a:schemeClr val="tx1"/>
                    </a:solidFill>
                    <a:sym typeface="Symbol" pitchFamily="18" charset="2"/>
                  </a:rPr>
                  <a:t>144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0r/min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，传动比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，每天工作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16h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。</a:t>
                </a:r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81236"/>
                <a:ext cx="8784976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693" t="-1471" r="-3537" b="-88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32"/>
          <p:cNvSpPr txBox="1">
            <a:spLocks noChangeArrowheads="1"/>
          </p:cNvSpPr>
          <p:nvPr/>
        </p:nvSpPr>
        <p:spPr bwMode="auto">
          <a:xfrm>
            <a:off x="179512" y="1329968"/>
            <a:ext cx="3456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b="0" dirty="0" smtClean="0">
                <a:solidFill>
                  <a:srgbClr val="FF0000"/>
                </a:solidFill>
              </a:rPr>
              <a:t>解：</a:t>
            </a:r>
            <a:r>
              <a:rPr lang="en-US" altLang="zh-CN" b="0" dirty="0" smtClean="0">
                <a:solidFill>
                  <a:srgbClr val="0000FF"/>
                </a:solidFill>
              </a:rPr>
              <a:t>1</a:t>
            </a:r>
            <a:r>
              <a:rPr lang="zh-CN" altLang="en-US" b="0" dirty="0" smtClean="0">
                <a:solidFill>
                  <a:srgbClr val="0000FF"/>
                </a:solidFill>
              </a:rPr>
              <a:t>）确定计算功率</a:t>
            </a:r>
            <a:r>
              <a:rPr lang="en-US" altLang="zh-CN" b="0" dirty="0" smtClean="0">
                <a:solidFill>
                  <a:srgbClr val="0000FF"/>
                </a:solidFill>
              </a:rPr>
              <a:t>P</a:t>
            </a:r>
            <a:r>
              <a:rPr lang="en-US" altLang="zh-CN" b="0" baseline="-25000" dirty="0" smtClean="0">
                <a:solidFill>
                  <a:srgbClr val="0000FF"/>
                </a:solidFill>
              </a:rPr>
              <a:t>d</a:t>
            </a:r>
            <a:endParaRPr lang="zh-CN" altLang="en-US" b="0" dirty="0">
              <a:solidFill>
                <a:srgbClr val="0000FF"/>
              </a:solidFill>
            </a:endParaRPr>
          </a:p>
        </p:txBody>
      </p:sp>
      <p:sp>
        <p:nvSpPr>
          <p:cNvPr id="8" name="Rectangle 432"/>
          <p:cNvSpPr txBox="1">
            <a:spLocks noChangeArrowheads="1"/>
          </p:cNvSpPr>
          <p:nvPr/>
        </p:nvSpPr>
        <p:spPr bwMode="auto">
          <a:xfrm>
            <a:off x="3246712" y="1327040"/>
            <a:ext cx="57186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</a:rPr>
              <a:t>由工况查</a:t>
            </a:r>
            <a:r>
              <a:rPr lang="zh-CN" altLang="en-US" b="0" dirty="0" smtClean="0"/>
              <a:t>表</a:t>
            </a:r>
            <a:r>
              <a:rPr lang="en-US" altLang="zh-CN" b="0" dirty="0" smtClean="0"/>
              <a:t>6-13</a:t>
            </a:r>
            <a:r>
              <a:rPr lang="zh-CN" altLang="en-US" b="0" dirty="0" smtClean="0">
                <a:solidFill>
                  <a:schemeClr val="tx1"/>
                </a:solidFill>
              </a:rPr>
              <a:t>，得工作情况系数</a:t>
            </a:r>
            <a:r>
              <a:rPr lang="en-US" altLang="zh-CN" b="0" dirty="0" smtClean="0">
                <a:solidFill>
                  <a:schemeClr val="tx1"/>
                </a:solidFill>
              </a:rPr>
              <a:t>K</a:t>
            </a:r>
            <a:r>
              <a:rPr lang="en-US" altLang="zh-CN" b="0" baseline="-25000" dirty="0" smtClean="0">
                <a:solidFill>
                  <a:schemeClr val="tx1"/>
                </a:solidFill>
              </a:rPr>
              <a:t>A</a:t>
            </a:r>
            <a:r>
              <a:rPr lang="en-US" altLang="zh-CN" b="0" dirty="0" smtClean="0">
                <a:solidFill>
                  <a:schemeClr val="tx1"/>
                </a:solidFill>
                <a:sym typeface="Symbol" pitchFamily="18" charset="2"/>
              </a:rPr>
              <a:t>1.1</a:t>
            </a:r>
            <a:r>
              <a:rPr lang="zh-CN" altLang="en-US" b="0" dirty="0" smtClean="0">
                <a:solidFill>
                  <a:schemeClr val="tx1"/>
                </a:solidFill>
                <a:sym typeface="Symbol" pitchFamily="18" charset="2"/>
              </a:rPr>
              <a:t>，所以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43225" y="1863149"/>
                <a:ext cx="36724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=1.1×4=4.4(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𝑘𝑊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25" y="1863149"/>
                <a:ext cx="3672408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32"/>
          <p:cNvSpPr txBox="1">
            <a:spLocks noChangeArrowheads="1"/>
          </p:cNvSpPr>
          <p:nvPr/>
        </p:nvSpPr>
        <p:spPr bwMode="auto">
          <a:xfrm>
            <a:off x="179512" y="2339156"/>
            <a:ext cx="25202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en-US" altLang="zh-CN" b="0" dirty="0" smtClean="0">
                <a:solidFill>
                  <a:srgbClr val="0000FF"/>
                </a:solidFill>
              </a:rPr>
              <a:t>2</a:t>
            </a:r>
            <a:r>
              <a:rPr lang="zh-CN" altLang="en-US" b="0" dirty="0" smtClean="0">
                <a:solidFill>
                  <a:srgbClr val="0000FF"/>
                </a:solidFill>
              </a:rPr>
              <a:t>）选取带型号</a:t>
            </a:r>
            <a:endParaRPr lang="zh-CN" altLang="en-US" b="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4154538"/>
                <a:ext cx="302433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由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6-5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=90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154538"/>
                <a:ext cx="3024336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012" t="-1333" b="-17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143225" y="1886829"/>
            <a:ext cx="8779320" cy="3663543"/>
            <a:chOff x="143225" y="1886829"/>
            <a:chExt cx="8779320" cy="3663543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5896" y="1886829"/>
              <a:ext cx="5286649" cy="3663543"/>
            </a:xfrm>
            <a:prstGeom prst="rect">
              <a:avLst/>
            </a:prstGeom>
          </p:spPr>
        </p:pic>
        <p:sp>
          <p:nvSpPr>
            <p:cNvPr id="11" name="Rectangle 432"/>
            <p:cNvSpPr txBox="1">
              <a:spLocks noChangeArrowheads="1"/>
            </p:cNvSpPr>
            <p:nvPr/>
          </p:nvSpPr>
          <p:spPr bwMode="auto">
            <a:xfrm>
              <a:off x="143225" y="2828012"/>
              <a:ext cx="3132631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kumimoji="1" sz="2000" b="1">
                  <a:solidFill>
                    <a:srgbClr val="C0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rgbClr val="99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b="0" dirty="0" smtClean="0">
                  <a:solidFill>
                    <a:schemeClr val="tx1"/>
                  </a:solidFill>
                </a:rPr>
                <a:t>根据</a:t>
              </a:r>
              <a:r>
                <a:rPr lang="en-US" altLang="zh-CN" b="0" dirty="0" smtClean="0">
                  <a:solidFill>
                    <a:schemeClr val="tx1"/>
                  </a:solidFill>
                </a:rPr>
                <a:t>P</a:t>
              </a:r>
              <a:r>
                <a:rPr lang="en-US" altLang="zh-CN" b="0" baseline="-25000" dirty="0" smtClean="0">
                  <a:solidFill>
                    <a:schemeClr val="tx1"/>
                  </a:solidFill>
                </a:rPr>
                <a:t>d</a:t>
              </a:r>
              <a:r>
                <a:rPr lang="zh-CN" altLang="en-US" b="0" dirty="0" smtClean="0">
                  <a:solidFill>
                    <a:schemeClr val="tx1"/>
                  </a:solidFill>
                  <a:sym typeface="Symbol" pitchFamily="18" charset="2"/>
                </a:rPr>
                <a:t>、</a:t>
              </a:r>
              <a:r>
                <a:rPr lang="en-US" altLang="zh-CN" b="0" dirty="0" smtClean="0">
                  <a:solidFill>
                    <a:schemeClr val="tx1"/>
                  </a:solidFill>
                  <a:sym typeface="Symbol" pitchFamily="18" charset="2"/>
                </a:rPr>
                <a:t>n</a:t>
              </a:r>
              <a:r>
                <a:rPr lang="en-US" altLang="zh-CN" b="0" baseline="-25000" dirty="0" smtClean="0">
                  <a:solidFill>
                    <a:schemeClr val="tx1"/>
                  </a:solidFill>
                  <a:sym typeface="Symbol" pitchFamily="18" charset="2"/>
                </a:rPr>
                <a:t>1</a:t>
              </a:r>
              <a:r>
                <a:rPr lang="zh-CN" altLang="en-US" b="0" dirty="0" smtClean="0">
                  <a:solidFill>
                    <a:schemeClr val="tx1"/>
                  </a:solidFill>
                  <a:sym typeface="Symbol" pitchFamily="18" charset="2"/>
                </a:rPr>
                <a:t>，由</a:t>
              </a:r>
              <a:r>
                <a:rPr lang="zh-CN" altLang="en-US" b="0" dirty="0" smtClean="0">
                  <a:sym typeface="Symbol" pitchFamily="18" charset="2"/>
                </a:rPr>
                <a:t>图</a:t>
              </a:r>
              <a:r>
                <a:rPr lang="en-US" altLang="zh-CN" b="0" dirty="0" smtClean="0">
                  <a:sym typeface="Symbol" pitchFamily="18" charset="2"/>
                </a:rPr>
                <a:t>6-25</a:t>
              </a:r>
              <a:r>
                <a:rPr lang="zh-CN" altLang="en-US" b="0" dirty="0" smtClean="0">
                  <a:solidFill>
                    <a:schemeClr val="tx1"/>
                  </a:solidFill>
                  <a:sym typeface="Symbol" pitchFamily="18" charset="2"/>
                </a:rPr>
                <a:t>，选用</a:t>
              </a:r>
              <a:r>
                <a:rPr lang="en-US" altLang="zh-CN" b="0" dirty="0" smtClean="0">
                  <a:solidFill>
                    <a:schemeClr val="tx1"/>
                  </a:solidFill>
                  <a:sym typeface="Symbol" pitchFamily="18" charset="2"/>
                </a:rPr>
                <a:t>A</a:t>
              </a:r>
              <a:r>
                <a:rPr lang="zh-CN" altLang="en-US" b="0" dirty="0" smtClean="0">
                  <a:solidFill>
                    <a:schemeClr val="tx1"/>
                  </a:solidFill>
                  <a:sym typeface="Symbol" pitchFamily="18" charset="2"/>
                </a:rPr>
                <a:t>型</a:t>
              </a:r>
              <a:r>
                <a:rPr lang="en-US" altLang="zh-CN" b="0" dirty="0" smtClean="0">
                  <a:solidFill>
                    <a:schemeClr val="tx1"/>
                  </a:solidFill>
                  <a:sym typeface="Symbol" pitchFamily="18" charset="2"/>
                </a:rPr>
                <a:t>V</a:t>
              </a:r>
              <a:r>
                <a:rPr lang="zh-CN" altLang="en-US" b="0" dirty="0" smtClean="0">
                  <a:solidFill>
                    <a:schemeClr val="tx1"/>
                  </a:solidFill>
                  <a:sym typeface="Symbol" pitchFamily="18" charset="2"/>
                </a:rPr>
                <a:t>带</a:t>
              </a:r>
              <a:endParaRPr lang="zh-CN" altLang="en-US" b="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4639941"/>
                <a:ext cx="4052846" cy="42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×90=360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639941"/>
                <a:ext cx="4052846" cy="428643"/>
              </a:xfrm>
              <a:prstGeom prst="rect">
                <a:avLst/>
              </a:prstGeom>
              <a:blipFill rotWithShape="0">
                <a:blip r:embed="rId6"/>
                <a:stretch>
                  <a:fillRect l="-1504" b="-257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5128701"/>
                <a:ext cx="34563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由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6-5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，选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=355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5128701"/>
                <a:ext cx="3456384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764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3669135"/>
                <a:ext cx="3888432" cy="42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3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）确定带轮基准直径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solidFill>
                      <a:srgbClr val="0000FF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3669135"/>
                <a:ext cx="3888432" cy="428643"/>
              </a:xfrm>
              <a:prstGeom prst="rect">
                <a:avLst/>
              </a:prstGeom>
              <a:blipFill rotWithShape="0">
                <a:blip r:embed="rId8"/>
                <a:stretch>
                  <a:fillRect l="-1567" t="-1429" b="-257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26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5" grpId="0"/>
      <p:bldP spid="16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523627"/>
                <a:ext cx="23042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4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）验算带速径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zh-CN" altLang="en-US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523627"/>
                <a:ext cx="2304256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2646" t="-1316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985241" y="1201316"/>
                <a:ext cx="5438797" cy="676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×1000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3.14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×90×1440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×1000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=6.78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241" y="1201316"/>
                <a:ext cx="5438797" cy="67672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32"/>
              <p:cNvSpPr txBox="1">
                <a:spLocks noChangeArrowheads="1"/>
              </p:cNvSpPr>
              <p:nvPr/>
            </p:nvSpPr>
            <p:spPr bwMode="auto">
              <a:xfrm>
                <a:off x="539552" y="2057930"/>
                <a:ext cx="496855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在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5-25m/s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范围内，故带的速度合适。</a:t>
                </a:r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2057930"/>
                <a:ext cx="4968552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1333" b="-17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2646858"/>
                <a:ext cx="4968552" cy="42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5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）计算实际传动比及传动比相对误差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solidFill>
                      <a:srgbClr val="0000FF"/>
                    </a:solidFill>
                  </a:rPr>
                  <a:t>：</a:t>
                </a:r>
                <a:endParaRPr lang="zh-CN" altLang="en-US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2646858"/>
                <a:ext cx="4968552" cy="428643"/>
              </a:xfrm>
              <a:prstGeom prst="rect">
                <a:avLst/>
              </a:prstGeom>
              <a:blipFill rotWithShape="0">
                <a:blip r:embed="rId5"/>
                <a:stretch>
                  <a:fillRect l="-1227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907704" y="3187923"/>
                <a:ext cx="5193729" cy="73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355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×(1−0.03)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.07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187923"/>
                <a:ext cx="5193729" cy="73141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1763688" y="4060340"/>
                <a:ext cx="5545236" cy="73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4.07−4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355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×(1−0.03)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≈0.01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&lt;5%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060340"/>
                <a:ext cx="5545236" cy="73141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432"/>
          <p:cNvSpPr txBox="1">
            <a:spLocks noChangeArrowheads="1"/>
          </p:cNvSpPr>
          <p:nvPr/>
        </p:nvSpPr>
        <p:spPr bwMode="auto">
          <a:xfrm>
            <a:off x="611560" y="4916115"/>
            <a:ext cx="49685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</a:rPr>
              <a:t>故大带轮基准直径值确定合理。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0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5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2"/>
          <p:cNvSpPr txBox="1">
            <a:spLocks noChangeArrowheads="1"/>
          </p:cNvSpPr>
          <p:nvPr/>
        </p:nvSpPr>
        <p:spPr bwMode="auto">
          <a:xfrm>
            <a:off x="179512" y="502668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en-US" altLang="zh-CN" b="0" dirty="0" smtClean="0">
                <a:solidFill>
                  <a:srgbClr val="0000FF"/>
                </a:solidFill>
              </a:rPr>
              <a:t>6</a:t>
            </a:r>
            <a:r>
              <a:rPr lang="zh-CN" altLang="en-US" b="0" dirty="0" smtClean="0">
                <a:solidFill>
                  <a:srgbClr val="0000FF"/>
                </a:solidFill>
              </a:rPr>
              <a:t>）确定</a:t>
            </a:r>
            <a:r>
              <a:rPr lang="en-US" altLang="zh-CN" b="0" dirty="0" smtClean="0">
                <a:solidFill>
                  <a:srgbClr val="0000FF"/>
                </a:solidFill>
              </a:rPr>
              <a:t>V</a:t>
            </a:r>
            <a:r>
              <a:rPr lang="zh-CN" altLang="en-US" b="0" dirty="0" smtClean="0">
                <a:solidFill>
                  <a:srgbClr val="0000FF"/>
                </a:solidFill>
              </a:rPr>
              <a:t>带的基准长度：</a:t>
            </a:r>
            <a:endParaRPr lang="zh-CN" altLang="en-US" b="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13578" y="1608485"/>
                <a:ext cx="8886917" cy="759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9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/>
                              </m:sSubSup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/>
                              </m:sSubSup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00+1.57×445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265</m:t>
                              </m:r>
                            </m:e>
                            <m:sup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=1749.8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19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8" y="1608485"/>
                <a:ext cx="8886917" cy="7592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32"/>
              <p:cNvSpPr txBox="1">
                <a:spLocks noChangeArrowheads="1"/>
              </p:cNvSpPr>
              <p:nvPr/>
            </p:nvSpPr>
            <p:spPr bwMode="auto">
              <a:xfrm>
                <a:off x="332480" y="1027773"/>
                <a:ext cx="7695904" cy="42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0.7(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≤2(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，初选中心距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=500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。</a:t>
                </a:r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480" y="1027773"/>
                <a:ext cx="7695904" cy="428643"/>
              </a:xfrm>
              <a:prstGeom prst="rect">
                <a:avLst/>
              </a:prstGeom>
              <a:blipFill rotWithShape="0">
                <a:blip r:embed="rId3"/>
                <a:stretch>
                  <a:fillRect l="-872" t="-1429" r="-4120" b="-257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432"/>
              <p:cNvSpPr txBox="1">
                <a:spLocks noChangeArrowheads="1"/>
              </p:cNvSpPr>
              <p:nvPr/>
            </p:nvSpPr>
            <p:spPr bwMode="auto">
              <a:xfrm>
                <a:off x="332480" y="2617134"/>
                <a:ext cx="510361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由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6-3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选取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带</m:t>
                    </m:r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基准</m:t>
                    </m:r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长度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=1750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480" y="2617134"/>
                <a:ext cx="5103615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314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432"/>
              <p:cNvSpPr txBox="1">
                <a:spLocks noChangeArrowheads="1"/>
              </p:cNvSpPr>
              <p:nvPr/>
            </p:nvSpPr>
            <p:spPr bwMode="auto">
              <a:xfrm>
                <a:off x="332480" y="3106748"/>
                <a:ext cx="8199960" cy="6199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实际中心距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准</m:t>
                    </m:r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长度：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=500+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1750−1749.8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=500.1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480" y="3106748"/>
                <a:ext cx="8199960" cy="619913"/>
              </a:xfrm>
              <a:prstGeom prst="rect">
                <a:avLst/>
              </a:prstGeom>
              <a:blipFill rotWithShape="0">
                <a:blip r:embed="rId5"/>
                <a:stretch>
                  <a:fillRect l="-818" b="-29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3741852"/>
                <a:ext cx="34563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7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）验算主动轮上的包角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3741852"/>
                <a:ext cx="345638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764" t="-1316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70697" y="4347516"/>
                <a:ext cx="8629798" cy="712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9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=180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°−</m:t>
                      </m:r>
                      <m:f>
                        <m:f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  <m:r>
                            <a:rPr lang="en-US" altLang="zh-CN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×57.3°=180°−</m:t>
                      </m:r>
                      <m:f>
                        <m:f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355−90</m:t>
                          </m:r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500.1</m:t>
                          </m:r>
                        </m:den>
                      </m:f>
                      <m:r>
                        <a:rPr lang="en-US" altLang="zh-CN" sz="1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×57.3°=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149.64°&gt;120°</m:t>
                      </m:r>
                    </m:oMath>
                  </m:oMathPara>
                </a14:m>
                <a:endParaRPr lang="zh-CN" altLang="en-US" sz="19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97" y="4347516"/>
                <a:ext cx="8629798" cy="7126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432"/>
          <p:cNvSpPr txBox="1">
            <a:spLocks noChangeArrowheads="1"/>
          </p:cNvSpPr>
          <p:nvPr/>
        </p:nvSpPr>
        <p:spPr bwMode="auto">
          <a:xfrm>
            <a:off x="332480" y="5168427"/>
            <a:ext cx="3303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</a:rPr>
              <a:t>故主动轮上的包角合适。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12" name="单圆角矩形 11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3" name="直角三角形 12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16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rgbClr val="FF6600"/>
                </a:solidFill>
              </a:rPr>
              <a:t>V</a:t>
            </a:r>
            <a:r>
              <a:rPr lang="zh-CN" altLang="en-US" sz="1500" dirty="0" smtClean="0">
                <a:solidFill>
                  <a:srgbClr val="FF6600"/>
                </a:solidFill>
              </a:rPr>
              <a:t>带传动的设计计算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710102"/>
                <a:ext cx="26642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8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）计算</a:t>
                </a:r>
                <a:r>
                  <a:rPr lang="en-US" altLang="zh-CN" b="0" dirty="0" smtClean="0">
                    <a:solidFill>
                      <a:srgbClr val="0000FF"/>
                    </a:solidFill>
                  </a:rPr>
                  <a:t>V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带的根数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CN" altLang="en-US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710102"/>
                <a:ext cx="2664296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2283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483768" y="553424"/>
                <a:ext cx="2664295" cy="73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553424"/>
                <a:ext cx="2664295" cy="7314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432"/>
              <p:cNvSpPr txBox="1">
                <a:spLocks noChangeArrowheads="1"/>
              </p:cNvSpPr>
              <p:nvPr/>
            </p:nvSpPr>
            <p:spPr bwMode="auto">
              <a:xfrm>
                <a:off x="343758" y="1399459"/>
                <a:ext cx="77048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由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型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V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=90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=1440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，查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6-7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=1.07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𝑘𝑊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。</a:t>
                </a:r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758" y="1399459"/>
                <a:ext cx="7704856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791" t="-1333" b="-17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432"/>
              <p:cNvSpPr txBox="1">
                <a:spLocks noChangeArrowheads="1"/>
              </p:cNvSpPr>
              <p:nvPr/>
            </p:nvSpPr>
            <p:spPr bwMode="auto">
              <a:xfrm>
                <a:off x="343758" y="1971611"/>
                <a:ext cx="676875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=1440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，查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6-8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=0.17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𝑘𝑊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。</a:t>
                </a:r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758" y="1971611"/>
                <a:ext cx="6768752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900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432"/>
              <p:cNvSpPr txBox="1">
                <a:spLocks noChangeArrowheads="1"/>
              </p:cNvSpPr>
              <p:nvPr/>
            </p:nvSpPr>
            <p:spPr bwMode="auto">
              <a:xfrm>
                <a:off x="346078" y="2543763"/>
                <a:ext cx="63343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b="0" dirty="0" smtClean="0">
                    <a:solidFill>
                      <a:schemeClr val="tx1"/>
                    </a:solidFill>
                  </a:rPr>
                  <a:t>查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6-9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altLang="zh-CN" b="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；查</a:t>
                </a:r>
                <a:r>
                  <a:rPr lang="zh-CN" altLang="en-US" b="0" dirty="0" smtClean="0"/>
                  <a:t>表</a:t>
                </a:r>
                <a:r>
                  <a:rPr lang="en-US" altLang="zh-CN" b="0" dirty="0" smtClean="0"/>
                  <a:t>6-10</a:t>
                </a:r>
                <a:r>
                  <a:rPr lang="zh-CN" altLang="en-US" b="0" dirty="0" smtClean="0">
                    <a:solidFill>
                      <a:schemeClr val="tx1"/>
                    </a:solidFill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=1.01</m:t>
                    </m:r>
                  </m:oMath>
                </a14:m>
                <a:r>
                  <a:rPr lang="zh-CN" altLang="en-US" b="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b="0" dirty="0" smtClean="0">
                    <a:solidFill>
                      <a:schemeClr val="tx1"/>
                    </a:solidFill>
                  </a:rPr>
                  <a:t>……</a:t>
                </a:r>
                <a:endParaRPr lang="zh-CN" alt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078" y="2543763"/>
                <a:ext cx="633438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059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4860032" y="558713"/>
                <a:ext cx="4320480" cy="72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4.4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(1.07+0.17)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×0.92×1.01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=3.82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558713"/>
                <a:ext cx="4320480" cy="72404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3115915"/>
                <a:ext cx="26642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9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）计算初拉力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3115915"/>
                <a:ext cx="2664296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283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608454" y="2537547"/>
                <a:ext cx="206800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0"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zh-CN" altLang="en-US" dirty="0"/>
                  <a:t>所以取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dirty="0"/>
                  <a:t>根。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454" y="2537547"/>
                <a:ext cx="2068002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950" r="-2950"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437611" y="3688066"/>
                <a:ext cx="8382861" cy="749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  <m:sSub>
                            <m:sSubPr>
                              <m:ctrlP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𝑧𝑣</m:t>
                          </m:r>
                        </m:den>
                      </m:f>
                      <m:d>
                        <m:d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9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en-US" sz="19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900" i="1">
                              <a:latin typeface="Cambria Math" panose="02040503050406030204" pitchFamily="18" charset="0"/>
                            </a:rPr>
                            <m:t>500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4.4</m:t>
                          </m:r>
                        </m:num>
                        <m:den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×6.78</m:t>
                          </m:r>
                        </m:den>
                      </m:f>
                      <m:d>
                        <m:dPr>
                          <m:ctrlPr>
                            <a:rPr lang="en-US" altLang="zh-CN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900" i="1"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num>
                            <m:den>
                              <m:r>
                                <a:rPr lang="en-US" altLang="zh-CN" sz="1900" b="0" i="1" smtClean="0">
                                  <a:latin typeface="Cambria Math" panose="02040503050406030204" pitchFamily="18" charset="0"/>
                                </a:rPr>
                                <m:t>0.92</m:t>
                              </m:r>
                            </m:den>
                          </m:f>
                          <m:r>
                            <a:rPr lang="en-US" altLang="zh-CN" sz="19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</a:rPr>
                        <m:t>0.1</m:t>
                      </m:r>
                      <m:sSup>
                        <m:sSupPr>
                          <m:ctrlPr>
                            <a:rPr lang="en-US" altLang="zh-CN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6.78</m:t>
                          </m:r>
                        </m:e>
                        <m:sup>
                          <m:r>
                            <a:rPr lang="en-US" altLang="zh-CN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143.91</m:t>
                      </m:r>
                      <m:r>
                        <a:rPr lang="en-US" altLang="zh-CN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19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11" y="3688066"/>
                <a:ext cx="8382861" cy="74930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432"/>
              <p:cNvSpPr txBox="1">
                <a:spLocks noChangeArrowheads="1"/>
              </p:cNvSpPr>
              <p:nvPr/>
            </p:nvSpPr>
            <p:spPr bwMode="auto">
              <a:xfrm>
                <a:off x="179512" y="4594140"/>
                <a:ext cx="4176464" cy="487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kumimoji="1" sz="2000" b="1">
                    <a:solidFill>
                      <a:srgbClr val="C0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99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lvl9pPr>
              </a:lstStyle>
              <a:p>
                <a:r>
                  <a:rPr lang="en-US" altLang="zh-CN" b="0" dirty="0" smtClean="0">
                    <a:solidFill>
                      <a:srgbClr val="0000FF"/>
                    </a:solidFill>
                  </a:rPr>
                  <a:t>10</a:t>
                </a:r>
                <a:r>
                  <a:rPr lang="zh-CN" altLang="en-US" b="0" dirty="0" smtClean="0">
                    <a:solidFill>
                      <a:srgbClr val="0000FF"/>
                    </a:solidFill>
                  </a:rPr>
                  <a:t>）计算作用在轴上的压轴力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zh-CN" altLang="en-US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Rectangle 4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594140"/>
                <a:ext cx="4176464" cy="487698"/>
              </a:xfrm>
              <a:prstGeom prst="rect">
                <a:avLst/>
              </a:prstGeom>
              <a:blipFill rotWithShape="0">
                <a:blip r:embed="rId11"/>
                <a:stretch>
                  <a:fillRect l="-1458" b="-137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3918355" y="4547860"/>
                <a:ext cx="3966013" cy="617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1114.81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355" y="4547860"/>
                <a:ext cx="3966013" cy="61728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432"/>
          <p:cNvSpPr txBox="1">
            <a:spLocks noChangeArrowheads="1"/>
          </p:cNvSpPr>
          <p:nvPr/>
        </p:nvSpPr>
        <p:spPr bwMode="auto">
          <a:xfrm>
            <a:off x="179512" y="5132139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990000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en-US" altLang="zh-CN" b="0" dirty="0" smtClean="0">
                <a:solidFill>
                  <a:srgbClr val="0000FF"/>
                </a:solidFill>
              </a:rPr>
              <a:t>11</a:t>
            </a:r>
            <a:r>
              <a:rPr lang="zh-CN" altLang="en-US" b="0" dirty="0" smtClean="0">
                <a:solidFill>
                  <a:srgbClr val="0000FF"/>
                </a:solidFill>
              </a:rPr>
              <a:t>）</a:t>
            </a:r>
            <a:r>
              <a:rPr lang="zh-CN" altLang="en-US" b="0" dirty="0">
                <a:solidFill>
                  <a:srgbClr val="0000FF"/>
                </a:solidFill>
              </a:rPr>
              <a:t>带</a:t>
            </a:r>
            <a:r>
              <a:rPr lang="zh-CN" altLang="en-US" b="0" dirty="0" smtClean="0">
                <a:solidFill>
                  <a:srgbClr val="0000FF"/>
                </a:solidFill>
              </a:rPr>
              <a:t>轮的结构设计（约）</a:t>
            </a:r>
            <a:endParaRPr lang="zh-CN" altLang="en-US" b="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71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2" grpId="0"/>
      <p:bldP spid="16" grpId="0"/>
      <p:bldP spid="17" grpId="0"/>
      <p:bldP spid="18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带传动</a:t>
            </a:r>
            <a:r>
              <a:rPr lang="zh-CN" altLang="en-US" sz="4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的张紧装置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09-4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29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2">
            <a:extLst>
              <a:ext uri="{FF2B5EF4-FFF2-40B4-BE49-F238E27FC236}">
                <a16:creationId xmlns="" xmlns:a16="http://schemas.microsoft.com/office/drawing/2014/main" id="{D4CBF2FA-7D31-49EB-939E-DA12E01D5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74" y="841276"/>
            <a:ext cx="2510918" cy="4308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/>
            <a:r>
              <a:rPr lang="zh-CN" altLang="en-US" sz="2200" b="1" i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目的：调节初拉力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="" xmlns:a16="http://schemas.microsoft.com/office/drawing/2014/main" id="{D022B6EC-2340-4979-84B8-37845A838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74" y="1749928"/>
            <a:ext cx="264687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i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一、定期张紧装置</a:t>
            </a:r>
          </a:p>
        </p:txBody>
      </p:sp>
      <p:grpSp>
        <p:nvGrpSpPr>
          <p:cNvPr id="18" name="组合 13">
            <a:extLst>
              <a:ext uri="{FF2B5EF4-FFF2-40B4-BE49-F238E27FC236}">
                <a16:creationId xmlns="" xmlns:a16="http://schemas.microsoft.com/office/drawing/2014/main" id="{B0A4A73D-D5D4-4E74-9B3A-19E3043251E3}"/>
              </a:ext>
            </a:extLst>
          </p:cNvPr>
          <p:cNvGrpSpPr>
            <a:grpSpLocks/>
          </p:cNvGrpSpPr>
          <p:nvPr/>
        </p:nvGrpSpPr>
        <p:grpSpPr bwMode="auto">
          <a:xfrm>
            <a:off x="2887755" y="617837"/>
            <a:ext cx="6004725" cy="923330"/>
            <a:chOff x="2391135" y="1255539"/>
            <a:chExt cx="4946719" cy="923319"/>
          </a:xfrm>
        </p:grpSpPr>
        <p:sp>
          <p:nvSpPr>
            <p:cNvPr id="19" name="Text Box 11">
              <a:extLst>
                <a:ext uri="{FF2B5EF4-FFF2-40B4-BE49-F238E27FC236}">
                  <a16:creationId xmlns="" xmlns:a16="http://schemas.microsoft.com/office/drawing/2014/main" id="{FF87BEE9-BA17-42F4-B9CF-E14134FA1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8893" y="1255539"/>
              <a:ext cx="4808961" cy="923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带必须在预张紧后才能正常工作；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运转一定时间后，带会松弛，必须重新张紧。 </a:t>
              </a:r>
            </a:p>
          </p:txBody>
        </p:sp>
        <p:sp>
          <p:nvSpPr>
            <p:cNvPr id="20" name="左大括号 12">
              <a:extLst>
                <a:ext uri="{FF2B5EF4-FFF2-40B4-BE49-F238E27FC236}">
                  <a16:creationId xmlns="" xmlns:a16="http://schemas.microsoft.com/office/drawing/2014/main" id="{0F6C3AAD-CC9F-4E7F-B10C-8F89D77C4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135" y="1337261"/>
              <a:ext cx="164926" cy="759875"/>
            </a:xfrm>
            <a:prstGeom prst="leftBrace">
              <a:avLst>
                <a:gd name="adj1" fmla="val 19609"/>
                <a:gd name="adj2" fmla="val 48916"/>
              </a:avLst>
            </a:prstGeom>
            <a:noFill/>
            <a:ln w="1270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88874" y="2806287"/>
            <a:ext cx="6336704" cy="2530844"/>
            <a:chOff x="841359" y="2985973"/>
            <a:chExt cx="6336704" cy="2530844"/>
          </a:xfrm>
        </p:grpSpPr>
        <p:sp>
          <p:nvSpPr>
            <p:cNvPr id="22" name="Text Box 18">
              <a:extLst>
                <a:ext uri="{FF2B5EF4-FFF2-40B4-BE49-F238E27FC236}">
                  <a16:creationId xmlns="" xmlns:a16="http://schemas.microsoft.com/office/drawing/2014/main" id="{F8155384-4633-4CDC-A2ED-CCE9E6D78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359" y="5116707"/>
              <a:ext cx="63367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滑轨和调节螺钉改变</a:t>
              </a:r>
              <a:r>
                <a:rPr lang="en-US" altLang="zh-CN" sz="2000" b="1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——</a:t>
              </a:r>
              <a:r>
                <a:rPr lang="zh-CN" altLang="en-US" sz="20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水平或倾斜不大的布置</a:t>
              </a:r>
            </a:p>
          </p:txBody>
        </p:sp>
        <p:pic>
          <p:nvPicPr>
            <p:cNvPr id="23" name="图片 22">
              <a:extLst>
                <a:ext uri="{FF2B5EF4-FFF2-40B4-BE49-F238E27FC236}">
                  <a16:creationId xmlns="" xmlns:a16="http://schemas.microsoft.com/office/drawing/2014/main" id="{988712FE-9230-44BE-9FF7-24C2C29912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932" b="49907"/>
            <a:stretch/>
          </p:blipFill>
          <p:spPr>
            <a:xfrm>
              <a:off x="841359" y="2985973"/>
              <a:ext cx="2613239" cy="1918733"/>
            </a:xfrm>
            <a:prstGeom prst="rect">
              <a:avLst/>
            </a:prstGeom>
          </p:spPr>
        </p:pic>
      </p:grpSp>
      <p:pic>
        <p:nvPicPr>
          <p:cNvPr id="24" name="9-16a">
            <a:hlinkClick r:id="" action="ppaction://media"/>
            <a:extLst>
              <a:ext uri="{FF2B5EF4-FFF2-40B4-BE49-F238E27FC236}">
                <a16:creationId xmlns="" xmlns:a16="http://schemas.microsoft.com/office/drawing/2014/main" id="{0C07DF57-1819-46E0-9474-7712071755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951940" y="2446247"/>
            <a:ext cx="3744416" cy="2106234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6552341" y="2444654"/>
            <a:ext cx="2556163" cy="3077142"/>
            <a:chOff x="7204826" y="2624340"/>
            <a:chExt cx="2556163" cy="3077142"/>
          </a:xfrm>
        </p:grpSpPr>
        <p:sp>
          <p:nvSpPr>
            <p:cNvPr id="26" name="Text Box 21">
              <a:extLst>
                <a:ext uri="{FF2B5EF4-FFF2-40B4-BE49-F238E27FC236}">
                  <a16:creationId xmlns="" xmlns:a16="http://schemas.microsoft.com/office/drawing/2014/main" id="{FBEBF1F1-BB0F-4B96-AB69-0E5FA5469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4826" y="5116707"/>
              <a:ext cx="255616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摆动架和调节螺栓改变</a:t>
              </a:r>
              <a:r>
                <a:rPr lang="en-US" altLang="zh-CN" sz="1600" b="1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——</a:t>
              </a:r>
              <a:r>
                <a:rPr lang="zh-CN" altLang="en-US" sz="16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垂直或接近垂直的布置</a:t>
              </a:r>
              <a:endParaRPr lang="zh-CN" altLang="en-US" sz="1600" dirty="0">
                <a:solidFill>
                  <a:srgbClr val="33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7" name="Picture 6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0749" y="2624340"/>
              <a:ext cx="2028378" cy="2403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" name="单圆角矩形 2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带传动的张紧装置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9" name="直角三角形 28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13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  <p:bldLst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="" xmlns:a16="http://schemas.microsoft.com/office/drawing/2014/main" id="{17D87FAE-D032-4067-A33F-F38D1D1B0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1129" y="768918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/>
            <a:endParaRPr lang="zh-CN" altLang="en-US">
              <a:solidFill>
                <a:srgbClr val="33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="" xmlns:a16="http://schemas.microsoft.com/office/drawing/2014/main" id="{D2A25F9B-2C4F-4E65-BD32-19B2BC420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17919"/>
            <a:ext cx="357020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i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三、采用张紧轮张紧装置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="" xmlns:a16="http://schemas.microsoft.com/office/drawing/2014/main" id="{2438C557-9F6C-4334-B1A6-AB6B9901C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53" y="1734516"/>
            <a:ext cx="4024407" cy="732508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buFontTx/>
              <a:buBlip>
                <a:blip r:embed="rId3"/>
              </a:buBlip>
              <a:defRPr kumimoji="1" sz="1600" b="1" i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关键：</a:t>
            </a:r>
            <a:r>
              <a:rPr lang="zh-CN" altLang="en-US" b="0" dirty="0">
                <a:solidFill>
                  <a:schemeClr val="tx1"/>
                </a:solidFill>
              </a:rPr>
              <a:t>布置问题。松边</a:t>
            </a:r>
            <a:r>
              <a:rPr lang="en-US" altLang="zh-CN" b="0" dirty="0">
                <a:solidFill>
                  <a:schemeClr val="tx1"/>
                </a:solidFill>
              </a:rPr>
              <a:t>or</a:t>
            </a:r>
            <a:r>
              <a:rPr lang="zh-CN" altLang="en-US" b="0" dirty="0">
                <a:solidFill>
                  <a:schemeClr val="tx1"/>
                </a:solidFill>
              </a:rPr>
              <a:t>紧边？内侧</a:t>
            </a:r>
            <a:r>
              <a:rPr lang="en-US" altLang="zh-CN" b="0" dirty="0">
                <a:solidFill>
                  <a:schemeClr val="tx1"/>
                </a:solidFill>
              </a:rPr>
              <a:t>or</a:t>
            </a:r>
            <a:r>
              <a:rPr lang="zh-CN" altLang="en-US" b="0" dirty="0">
                <a:solidFill>
                  <a:schemeClr val="tx1"/>
                </a:solidFill>
              </a:rPr>
              <a:t>外侧？大轮</a:t>
            </a:r>
            <a:r>
              <a:rPr lang="en-US" altLang="zh-CN" b="0" dirty="0">
                <a:solidFill>
                  <a:schemeClr val="tx1"/>
                </a:solidFill>
              </a:rPr>
              <a:t>or</a:t>
            </a:r>
            <a:r>
              <a:rPr lang="zh-CN" altLang="en-US" b="0" dirty="0">
                <a:solidFill>
                  <a:schemeClr val="tx1"/>
                </a:solidFill>
              </a:rPr>
              <a:t>小轮？平带</a:t>
            </a:r>
            <a:r>
              <a:rPr lang="en-US" altLang="zh-CN" b="0" dirty="0">
                <a:solidFill>
                  <a:schemeClr val="tx1"/>
                </a:solidFill>
              </a:rPr>
              <a:t>V</a:t>
            </a:r>
            <a:r>
              <a:rPr lang="zh-CN" altLang="en-US" b="0" dirty="0">
                <a:solidFill>
                  <a:schemeClr val="tx1"/>
                </a:solidFill>
              </a:rPr>
              <a:t>带区别？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="" xmlns:a16="http://schemas.microsoft.com/office/drawing/2014/main" id="{D374735C-65E7-4025-83CF-542EB8563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553244"/>
            <a:ext cx="264687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i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二、自动张紧装置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DCC5D75-E2F6-4AA5-9B63-81AE7483F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1129" y="768918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ctr"/>
            <a:endParaRPr lang="zh-CN" altLang="en-US">
              <a:solidFill>
                <a:srgbClr val="33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B5BAAFBA-A982-4737-93AB-285F3B9A5C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2" t="51521" r="60763" b="4486"/>
          <a:stretch/>
        </p:blipFill>
        <p:spPr>
          <a:xfrm>
            <a:off x="4320077" y="486374"/>
            <a:ext cx="2016014" cy="233415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B5BAAFBA-A982-4737-93AB-285F3B9A5C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41" t="51521" r="3003" b="4486"/>
          <a:stretch/>
        </p:blipFill>
        <p:spPr>
          <a:xfrm>
            <a:off x="6444208" y="457109"/>
            <a:ext cx="2520280" cy="2334394"/>
          </a:xfrm>
          <a:prstGeom prst="rect">
            <a:avLst/>
          </a:prstGeom>
        </p:spPr>
      </p:pic>
      <p:sp>
        <p:nvSpPr>
          <p:cNvPr id="24" name="Text Box 7">
            <a:extLst>
              <a:ext uri="{FF2B5EF4-FFF2-40B4-BE49-F238E27FC236}">
                <a16:creationId xmlns="" xmlns:a16="http://schemas.microsoft.com/office/drawing/2014/main" id="{1F2B3F26-9203-46D3-AA6B-B8053E64D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2554529"/>
            <a:ext cx="4032447" cy="7325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sz="1600" b="1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布置案例  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图示为</a:t>
            </a:r>
            <a:r>
              <a:rPr lang="en-US" altLang="zh-CN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带传动的张紧方案是否合理？具体说明</a:t>
            </a:r>
            <a:r>
              <a:rPr lang="zh-CN" altLang="en-US" sz="1600" i="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。若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改用平带传动？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4355976" y="3000045"/>
            <a:ext cx="4656996" cy="2500265"/>
            <a:chOff x="4355976" y="3000045"/>
            <a:chExt cx="4656996" cy="2500265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5976" y="3000045"/>
              <a:ext cx="4656996" cy="2500265"/>
            </a:xfrm>
            <a:prstGeom prst="rect">
              <a:avLst/>
            </a:prstGeom>
          </p:spPr>
        </p:pic>
        <p:sp>
          <p:nvSpPr>
            <p:cNvPr id="25" name="Text Box 9">
              <a:extLst>
                <a:ext uri="{FF2B5EF4-FFF2-40B4-BE49-F238E27FC236}">
                  <a16:creationId xmlns="" xmlns:a16="http://schemas.microsoft.com/office/drawing/2014/main" id="{FDFD8560-B886-4C93-82ED-B43D67563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049" y="3649588"/>
              <a:ext cx="8640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bg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6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张紧轮</a:t>
              </a:r>
            </a:p>
          </p:txBody>
        </p:sp>
      </p:grpSp>
      <p:sp>
        <p:nvSpPr>
          <p:cNvPr id="26" name="Rectangle 14">
            <a:extLst>
              <a:ext uri="{FF2B5EF4-FFF2-40B4-BE49-F238E27FC236}">
                <a16:creationId xmlns="" xmlns:a16="http://schemas.microsoft.com/office/drawing/2014/main" id="{5B02773B-7D49-48BA-BBC9-2E371CAE0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3" y="3419276"/>
            <a:ext cx="4032447" cy="10525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bg2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ts val="0"/>
              </a:spcBef>
            </a:pPr>
            <a:r>
              <a:rPr lang="en-US" altLang="zh-CN" sz="1600" b="1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1600" b="1" i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带传动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：张紧轮不宜装在紧边</a:t>
            </a:r>
            <a:r>
              <a:rPr lang="en-US" altLang="zh-CN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应装于松边内侧</a:t>
            </a:r>
            <a:r>
              <a:rPr lang="en-US" altLang="zh-CN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带厚</a:t>
            </a:r>
            <a:r>
              <a:rPr lang="en-US" altLang="zh-CN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),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使带只受单向弯曲</a:t>
            </a:r>
            <a:r>
              <a:rPr lang="en-US" altLang="zh-CN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且靠近大轮</a:t>
            </a:r>
            <a:r>
              <a:rPr lang="en-US" altLang="zh-CN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i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防止小带轮包角减小。</a:t>
            </a:r>
          </a:p>
        </p:txBody>
      </p:sp>
      <p:sp>
        <p:nvSpPr>
          <p:cNvPr id="27" name="Rectangle 13">
            <a:extLst>
              <a:ext uri="{FF2B5EF4-FFF2-40B4-BE49-F238E27FC236}">
                <a16:creationId xmlns="" xmlns:a16="http://schemas.microsoft.com/office/drawing/2014/main" id="{D1A5921D-2B79-48DF-978D-1F2334F65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3" y="4573264"/>
            <a:ext cx="4032447" cy="7325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</a:pPr>
            <a:r>
              <a:rPr kumimoji="1"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平带传动</a:t>
            </a:r>
            <a:r>
              <a:rPr kumimoji="1" lang="zh-CN" altLang="en-US" sz="1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en-US" sz="1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张紧轮宜装于松边外侧</a:t>
            </a:r>
            <a:r>
              <a:rPr kumimoji="1" lang="en-US" altLang="zh-CN" sz="1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1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带薄</a:t>
            </a:r>
            <a:r>
              <a:rPr kumimoji="1" lang="en-US" altLang="zh-CN" sz="1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1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靠近小轮，主要用以增大平带传动包角。</a:t>
            </a:r>
          </a:p>
        </p:txBody>
      </p:sp>
      <p:sp>
        <p:nvSpPr>
          <p:cNvPr id="29" name="单圆角矩形 28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带传动的张紧装置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30" name="直角三角形 29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36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utoUpdateAnimBg="0"/>
      <p:bldP spid="13" grpId="0"/>
      <p:bldP spid="24" grpId="0"/>
      <p:bldP spid="26" grpId="0"/>
      <p:bldP spid="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矩形 7"/>
          <p:cNvSpPr>
            <a:spLocks noChangeArrowheads="1"/>
          </p:cNvSpPr>
          <p:nvPr/>
        </p:nvSpPr>
        <p:spPr bwMode="auto">
          <a:xfrm>
            <a:off x="280990" y="528639"/>
            <a:ext cx="1081087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www.1ppt.com/moban/     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行业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www.1ppt.com/hangye/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节日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www.1ppt.com/jieri/   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素材下载：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www.1ppt.com/sucai/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背景图片：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www.1ppt.com/beijing/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图表下载：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www.1ppt.com/tubiao/    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优秀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www.1ppt.com/xiazai/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 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www.1ppt.com/powerpoint/      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Word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 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www.1ppt.com/word/              Excel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www.1ppt.com/excel/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资料下载：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www.1ppt.com/ziliao/        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课件下载：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www.1ppt.com/kejian/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范文下载：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www.1ppt.com/fanwen/             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试卷下载：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www.1ppt.com/shiti/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教案下载：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www.1ppt.com/jiaoan/  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endParaRPr lang="zh-CN" altLang="en-US" sz="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097152" name="图片 5" descr="background1.jpg"/>
          <p:cNvPicPr>
            <a:picLocks noChangeAspect="1"/>
          </p:cNvPicPr>
          <p:nvPr/>
        </p:nvPicPr>
        <p:blipFill>
          <a:blip r:embed="rId2"/>
          <a:srcRect t="12988"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7153" name="图片 3" descr="1369025_233359298000_2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2871" b="12666"/>
          <a:stretch>
            <a:fillRect/>
          </a:stretch>
        </p:blipFill>
        <p:spPr bwMode="auto">
          <a:xfrm>
            <a:off x="1692275" y="863600"/>
            <a:ext cx="5422900" cy="485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85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12750" y="5297488"/>
            <a:ext cx="4159250" cy="296862"/>
          </a:xfrm>
        </p:spPr>
        <p:txBody>
          <a:bodyPr wrap="square" numCol="1" anchorCtr="0" compatLnSpc="1"/>
          <a:lstStyle/>
          <a:p>
            <a:pPr marL="342900" indent="-342900" algn="l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smtClean="0">
                <a:solidFill>
                  <a:srgbClr val="BFBFBF"/>
                </a:solidFill>
                <a:latin typeface="微软雅黑" panose="020B0503020204020204" charset="-122"/>
                <a:cs typeface="微软雅黑" panose="020B0503020204020204" charset="-122"/>
              </a:rPr>
              <a:t>http://www.swjtu.edu.cn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k3MjA0Y2M0ZGM0MTI2OWFmMTU5NDNjNTM2NzMzNzkifQ=="/>
</p:tagLst>
</file>

<file path=ppt/theme/theme1.xml><?xml version="1.0" encoding="utf-8"?>
<a:theme xmlns:a="http://schemas.openxmlformats.org/drawingml/2006/main" name="藏珠馆 Wholehr.taobao.com 原创商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2716</Words>
  <Application>Microsoft Office PowerPoint</Application>
  <PresentationFormat>全屏显示(16:10)</PresentationFormat>
  <Paragraphs>412</Paragraphs>
  <Slides>36</Slides>
  <Notes>8</Notes>
  <HiddenSlides>0</HiddenSlides>
  <MMClips>1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9" baseType="lpstr">
      <vt:lpstr>UniversalMath1 BT</vt:lpstr>
      <vt:lpstr>仿宋_GB2312</vt:lpstr>
      <vt:lpstr>黑体</vt:lpstr>
      <vt:lpstr>华文细黑</vt:lpstr>
      <vt:lpstr>华文中宋</vt:lpstr>
      <vt:lpstr>隶书</vt:lpstr>
      <vt:lpstr>宋体</vt:lpstr>
      <vt:lpstr>微软雅黑</vt:lpstr>
      <vt:lpstr>微软雅黑 Light</vt:lpstr>
      <vt:lpstr>幼圆</vt:lpstr>
      <vt:lpstr>Arial</vt:lpstr>
      <vt:lpstr>Calibri</vt:lpstr>
      <vt:lpstr>Cambria Math</vt:lpstr>
      <vt:lpstr>Symbol</vt:lpstr>
      <vt:lpstr>Times New Roman</vt:lpstr>
      <vt:lpstr>Verdana</vt:lpstr>
      <vt:lpstr>Wingdings</vt:lpstr>
      <vt:lpstr>藏珠馆 Wholehr.taobao.com 原创商务模板</vt:lpstr>
      <vt:lpstr>Image</vt:lpstr>
      <vt:lpstr>Equation</vt:lpstr>
      <vt:lpstr>BMP 图象</vt:lpstr>
      <vt:lpstr>公式</vt:lpstr>
      <vt:lpstr>Visio</vt:lpstr>
      <vt:lpstr>PowerPoint 演示文稿</vt:lpstr>
      <vt:lpstr>本章内容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ylmf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藏珠馆 WholeHR.taobao.com</dc:creator>
  <cp:lastModifiedBy>Microsoft</cp:lastModifiedBy>
  <cp:revision>824</cp:revision>
  <dcterms:created xsi:type="dcterms:W3CDTF">2012-03-17T16:08:00Z</dcterms:created>
  <dcterms:modified xsi:type="dcterms:W3CDTF">2024-10-15T11:56:38Z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449056D2969D4DD0B2116DAC6D8A9ABC_12</vt:lpwstr>
  </property>
  <property fmtid="{D5CDD505-2E9C-101B-9397-08002B2CF9AE}" pid="3" name="KSOProductBuildVer">
    <vt:lpwstr>2052-12.1.0.15990</vt:lpwstr>
  </property>
</Properties>
</file>