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7" r:id="rId2"/>
    <p:sldId id="258" r:id="rId3"/>
    <p:sldId id="451" r:id="rId4"/>
    <p:sldId id="450" r:id="rId5"/>
    <p:sldId id="452" r:id="rId6"/>
    <p:sldId id="454" r:id="rId7"/>
    <p:sldId id="449" r:id="rId8"/>
    <p:sldId id="455" r:id="rId9"/>
    <p:sldId id="456" r:id="rId10"/>
    <p:sldId id="463" r:id="rId11"/>
    <p:sldId id="464" r:id="rId12"/>
    <p:sldId id="465" r:id="rId13"/>
    <p:sldId id="466" r:id="rId14"/>
    <p:sldId id="475" r:id="rId15"/>
    <p:sldId id="472" r:id="rId16"/>
    <p:sldId id="473" r:id="rId17"/>
    <p:sldId id="474" r:id="rId18"/>
    <p:sldId id="476" r:id="rId19"/>
    <p:sldId id="477" r:id="rId20"/>
    <p:sldId id="468" r:id="rId21"/>
    <p:sldId id="469" r:id="rId22"/>
    <p:sldId id="470" r:id="rId23"/>
    <p:sldId id="471" r:id="rId24"/>
    <p:sldId id="412" r:id="rId25"/>
  </p:sldIdLst>
  <p:sldSz cx="9144000" cy="5715000" type="screen16x10"/>
  <p:notesSz cx="6858000" cy="9144000"/>
  <p:custDataLst>
    <p:tags r:id="rId27"/>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800" userDrawn="1">
          <p15:clr>
            <a:srgbClr val="A4A3A4"/>
          </p15:clr>
        </p15:guide>
        <p15:guide id="2" pos="2880" userDrawn="1">
          <p15:clr>
            <a:srgbClr val="A4A3A4"/>
          </p15:clr>
        </p15:guide>
        <p15:guide id="3" pos="5488" userDrawn="1">
          <p15:clr>
            <a:srgbClr val="A4A3A4"/>
          </p15:clr>
        </p15:guide>
        <p15:guide id="4" pos="2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FFD833"/>
    <a:srgbClr val="FFCC00"/>
    <a:srgbClr val="E0E0E0"/>
    <a:srgbClr val="FF9900"/>
    <a:srgbClr val="3366FF"/>
    <a:srgbClr val="D1EDFF"/>
    <a:srgbClr val="FFFF7D"/>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3729" autoAdjust="0"/>
  </p:normalViewPr>
  <p:slideViewPr>
    <p:cSldViewPr showGuides="1">
      <p:cViewPr varScale="1">
        <p:scale>
          <a:sx n="131" d="100"/>
          <a:sy n="131" d="100"/>
        </p:scale>
        <p:origin x="396" y="102"/>
      </p:cViewPr>
      <p:guideLst>
        <p:guide orient="horz" pos="1800"/>
        <p:guide pos="2880"/>
        <p:guide pos="5488"/>
        <p:guide pos="272"/>
      </p:guideLst>
    </p:cSldViewPr>
  </p:slideViewPr>
  <p:notesTextViewPr>
    <p:cViewPr>
      <p:scale>
        <a:sx n="100" d="100"/>
        <a:sy n="100" d="100"/>
      </p:scale>
      <p:origin x="0" y="0"/>
    </p:cViewPr>
  </p:notesTextViewPr>
  <p:sorterViewPr>
    <p:cViewPr>
      <p:scale>
        <a:sx n="70" d="100"/>
        <a:sy n="7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image" Target="../media/image5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350"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endParaRPr lang="zh-CN" altLang="en-US"/>
          </a:p>
        </p:txBody>
      </p:sp>
      <p:sp>
        <p:nvSpPr>
          <p:cNvPr id="1054351"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fld id="{F37EA0CE-5915-4F4C-B676-E17D05F042EF}" type="datetimeFigureOut">
              <a:rPr lang="zh-CN" altLang="en-US"/>
              <a:t>2024-09-14</a:t>
            </a:fld>
            <a:endParaRPr lang="zh-CN" altLang="en-US"/>
          </a:p>
        </p:txBody>
      </p:sp>
      <p:sp>
        <p:nvSpPr>
          <p:cNvPr id="1054352"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1054353"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1054354"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endParaRPr lang="zh-CN" altLang="en-US"/>
          </a:p>
        </p:txBody>
      </p:sp>
      <p:sp>
        <p:nvSpPr>
          <p:cNvPr id="1054355"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fld id="{02F0FA9E-A47E-4458-A8BA-8FCC88CC1B1C}" type="slidenum">
              <a:rPr lang="zh-CN" altLang="en-US"/>
              <a:t>‹#›</a:t>
            </a:fld>
            <a:endParaRPr lang="zh-CN" altLang="en-US"/>
          </a:p>
        </p:txBody>
      </p:sp>
    </p:spTree>
    <p:extLst>
      <p:ext uri="{BB962C8B-B14F-4D97-AF65-F5344CB8AC3E}">
        <p14:creationId xmlns:p14="http://schemas.microsoft.com/office/powerpoint/2010/main" val="10346040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8" name="幻灯片图像占位符 1"/>
          <p:cNvSpPr>
            <a:spLocks noGrp="1" noRot="1" noChangeAspect="1"/>
          </p:cNvSpPr>
          <p:nvPr>
            <p:ph type="sldImg"/>
          </p:nvPr>
        </p:nvSpPr>
        <p:spPr/>
      </p:sp>
      <p:sp>
        <p:nvSpPr>
          <p:cNvPr id="1048809" name="备注占位符 2"/>
          <p:cNvSpPr>
            <a:spLocks noGrp="1"/>
          </p:cNvSpPr>
          <p:nvPr>
            <p:ph type="body" idx="1"/>
          </p:nvPr>
        </p:nvSpPr>
        <p:spPr/>
        <p:txBody>
          <a:bodyPr/>
          <a:lstStyle/>
          <a:p>
            <a:endParaRPr lang="zh-CN" altLang="en-US" dirty="0"/>
          </a:p>
        </p:txBody>
      </p:sp>
      <p:sp>
        <p:nvSpPr>
          <p:cNvPr id="1048810" name="灯片编号占位符 3"/>
          <p:cNvSpPr>
            <a:spLocks noGrp="1"/>
          </p:cNvSpPr>
          <p:nvPr>
            <p:ph type="sldNum" sz="quarter" idx="10"/>
          </p:nvPr>
        </p:nvSpPr>
        <p:spPr/>
        <p:txBody>
          <a:bodyPr/>
          <a:lstStyle/>
          <a:p>
            <a:fld id="{A80541FE-6A02-44C7-9DF4-18CC7D02DB72}" type="slidenum">
              <a:rPr lang="zh-CN" altLang="en-US" smtClean="0"/>
              <a:t>3</a:t>
            </a:fld>
            <a:endParaRPr lang="zh-CN" altLang="en-US"/>
          </a:p>
        </p:txBody>
      </p:sp>
    </p:spTree>
    <p:extLst>
      <p:ext uri="{BB962C8B-B14F-4D97-AF65-F5344CB8AC3E}">
        <p14:creationId xmlns:p14="http://schemas.microsoft.com/office/powerpoint/2010/main" val="1606779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4</a:t>
            </a:fld>
            <a:endParaRPr lang="zh-CN" altLang="en-US"/>
          </a:p>
        </p:txBody>
      </p:sp>
    </p:spTree>
    <p:extLst>
      <p:ext uri="{BB962C8B-B14F-4D97-AF65-F5344CB8AC3E}">
        <p14:creationId xmlns:p14="http://schemas.microsoft.com/office/powerpoint/2010/main" val="1447063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真正的干摩擦只有在真空中才能见到，工程实际中并不存在。因为任何零件表面不仅会因氧化而形成氧化膜，而且或多或少会被含有润滑剂分子的气体所湿润或受到“污染”而附有脏污膜。机械设计中常把未经人为润滑的摩擦状态当做干摩擦。</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边界摩擦：</a:t>
            </a:r>
            <a:r>
              <a:rPr lang="zh-CN" altLang="en-US" sz="1200" b="0" dirty="0" smtClean="0">
                <a:solidFill>
                  <a:srgbClr val="FF0000"/>
                </a:solidFill>
                <a:latin typeface="楷体_GB2312" pitchFamily="49" charset="-122"/>
                <a:ea typeface="楷体_GB2312" pitchFamily="49" charset="-122"/>
              </a:rPr>
              <a:t>摩擦系数</a:t>
            </a:r>
            <a:r>
              <a:rPr lang="zh-CN" altLang="en-US" sz="1200" b="0" dirty="0" smtClean="0">
                <a:latin typeface="楷体_GB2312" pitchFamily="49" charset="-122"/>
                <a:ea typeface="楷体_GB2312" pitchFamily="49" charset="-122"/>
              </a:rPr>
              <a:t>只取决于摩擦表面的性质和边界膜的结构形式，</a:t>
            </a:r>
            <a:r>
              <a:rPr lang="zh-CN" altLang="en-US" sz="1200" b="0" dirty="0" smtClean="0">
                <a:solidFill>
                  <a:srgbClr val="FF0000"/>
                </a:solidFill>
                <a:latin typeface="楷体_GB2312" pitchFamily="49" charset="-122"/>
                <a:ea typeface="楷体_GB2312" pitchFamily="49" charset="-122"/>
              </a:rPr>
              <a:t>与润滑剂的粘度无关</a:t>
            </a:r>
            <a:r>
              <a:rPr lang="zh-CN" altLang="en-US" sz="1200" b="0" dirty="0" smtClean="0">
                <a:solidFill>
                  <a:srgbClr val="000099"/>
                </a:solidFill>
                <a:latin typeface="楷体_GB2312" pitchFamily="49" charset="-122"/>
                <a:ea typeface="楷体_GB2312" pitchFamily="49" charset="-122"/>
              </a:rPr>
              <a:t>。</a:t>
            </a:r>
            <a:endParaRPr lang="zh-CN" altLang="en-US" b="0"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5</a:t>
            </a:fld>
            <a:endParaRPr lang="zh-CN" altLang="en-US"/>
          </a:p>
        </p:txBody>
      </p:sp>
    </p:spTree>
    <p:extLst>
      <p:ext uri="{BB962C8B-B14F-4D97-AF65-F5344CB8AC3E}">
        <p14:creationId xmlns:p14="http://schemas.microsoft.com/office/powerpoint/2010/main" val="566143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dirty="0" smtClean="0">
                <a:solidFill>
                  <a:srgbClr val="0000FF"/>
                </a:solidFill>
                <a:cs typeface="Arial" charset="0"/>
              </a:rPr>
              <a:t>Stribeck</a:t>
            </a:r>
            <a:r>
              <a:rPr kumimoji="1" lang="zh-CN" altLang="en-US" sz="1200" dirty="0" smtClean="0">
                <a:solidFill>
                  <a:srgbClr val="0000FF"/>
                </a:solidFill>
                <a:latin typeface="黑体" pitchFamily="49" charset="-122"/>
              </a:rPr>
              <a:t>曲线：</a:t>
            </a:r>
            <a:r>
              <a:rPr lang="zh-CN" altLang="en-US" sz="1200" dirty="0" smtClean="0"/>
              <a:t>研究运动速度、载荷和润滑剂的粘度与摩擦系数之间的关系。</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EHD——</a:t>
            </a:r>
            <a:r>
              <a:rPr lang="zh-CN" altLang="en-US" dirty="0" smtClean="0"/>
              <a:t>弹性流体动力润滑。</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6</a:t>
            </a:fld>
            <a:endParaRPr lang="zh-CN" altLang="en-US"/>
          </a:p>
        </p:txBody>
      </p:sp>
    </p:spTree>
    <p:extLst>
      <p:ext uri="{BB962C8B-B14F-4D97-AF65-F5344CB8AC3E}">
        <p14:creationId xmlns:p14="http://schemas.microsoft.com/office/powerpoint/2010/main" val="1590209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4"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1048925"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1</a:t>
                </a:r>
                <a:r>
                  <a:rPr lang="zh-CN" altLang="en-US" dirty="0" smtClean="0"/>
                  <a:t>）磨合阶段：新的摩擦副表面较粗糙，在一定的载荷作用下，摩擦表面逐渐被磨平，实际接触面积逐渐增大，磨损速度开始很快，然后减慢。初期跑合是一种有益的磨损，可利用它来改善表面性能，提高使用寿命。</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2</a:t>
                </a:r>
                <a:r>
                  <a:rPr lang="zh-CN" altLang="en-US" dirty="0" smtClean="0"/>
                  <a:t>）稳定磨损阶段：经过磨合，摩擦表面加工硬化，形成了稳定的表面粗糙度，同时微观几何形状改变，从而建立了弹性接触的条件，磨损速度缓慢。这段时间的长短反映了零件的寿命。</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3</a:t>
                </a:r>
                <a:r>
                  <a:rPr lang="zh-CN" altLang="en-US" dirty="0" smtClean="0"/>
                  <a:t>）剧烈磨损阶段：经过较长时间的稳定磨损后，零件表面遭到破坏，运动副间隙增大，出现异常的噪声和震动，从而使温度升高、磨损速度急剧增加，直至零件失效。</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注意：实际机械零件在使用过程中，这三个阶段无明显界限。若润滑不良，那么经跑合后可能直接进入剧烈磨损阶段。</a:t>
                </a:r>
                <a:endParaRPr lang="zh-CN" altLang="en-US" dirty="0"/>
              </a:p>
            </p:txBody>
          </p:sp>
        </mc:Choice>
        <mc:Fallback xmlns="">
          <p:sp>
            <p:nvSpPr>
              <p:cNvPr id="1048925"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0" dirty="0" smtClean="0">
                    <a:solidFill>
                      <a:schemeClr val="tx1"/>
                    </a:solidFill>
                    <a:latin typeface="黑体" pitchFamily="2" charset="-122"/>
                    <a:ea typeface="黑体" pitchFamily="2" charset="-122"/>
                  </a:rPr>
                  <a:t>同一材料在不同的循环特性</a:t>
                </a:r>
                <a:r>
                  <a:rPr lang="en-US" altLang="zh-CN" sz="1200" b="0" i="0" kern="0" smtClean="0">
                    <a:solidFill>
                      <a:schemeClr val="tx1"/>
                    </a:solidFill>
                    <a:latin typeface="Cambria Math" panose="02040503050406030204" pitchFamily="18" charset="0"/>
                    <a:ea typeface="黑体" pitchFamily="2" charset="-122"/>
                  </a:rPr>
                  <a:t>𝑟</a:t>
                </a:r>
                <a:r>
                  <a:rPr lang="zh-CN" altLang="en-US" sz="1200" kern="0" dirty="0" smtClean="0">
                    <a:solidFill>
                      <a:schemeClr val="tx1"/>
                    </a:solidFill>
                    <a:latin typeface="黑体" pitchFamily="2" charset="-122"/>
                    <a:ea typeface="黑体" pitchFamily="2" charset="-122"/>
                  </a:rPr>
                  <a:t>下，有不同的疲劳极限</a:t>
                </a:r>
                <a:r>
                  <a:rPr lang="zh-CN" altLang="en-US" sz="1200" i="0" kern="0" smtClean="0">
                    <a:solidFill>
                      <a:schemeClr val="tx1"/>
                    </a:solidFill>
                    <a:latin typeface="Cambria Math" panose="02040503050406030204" pitchFamily="18" charset="0"/>
                    <a:ea typeface="黑体" pitchFamily="2" charset="-122"/>
                  </a:rPr>
                  <a:t>𝜎</a:t>
                </a:r>
                <a:r>
                  <a:rPr lang="en-US" altLang="zh-CN" sz="1200" i="0" kern="0" smtClean="0">
                    <a:solidFill>
                      <a:schemeClr val="tx1"/>
                    </a:solidFill>
                    <a:latin typeface="Cambria Math" panose="02040503050406030204" pitchFamily="18" charset="0"/>
                    <a:ea typeface="黑体" pitchFamily="2" charset="-122"/>
                  </a:rPr>
                  <a:t>_</a:t>
                </a:r>
                <a:r>
                  <a:rPr lang="en-US" altLang="zh-CN" sz="1200" b="0" i="0" kern="0" smtClean="0">
                    <a:solidFill>
                      <a:schemeClr val="tx1"/>
                    </a:solidFill>
                    <a:latin typeface="Cambria Math" panose="02040503050406030204" pitchFamily="18" charset="0"/>
                    <a:ea typeface="黑体" pitchFamily="2" charset="-122"/>
                  </a:rPr>
                  <a:t>𝑟𝑁</a:t>
                </a:r>
                <a:r>
                  <a:rPr lang="zh-CN" altLang="en-US" sz="1200" kern="0" dirty="0" smtClean="0">
                    <a:solidFill>
                      <a:schemeClr val="tx1"/>
                    </a:solidFill>
                    <a:latin typeface="黑体" pitchFamily="2" charset="-122"/>
                    <a:ea typeface="黑体" pitchFamily="2" charset="-122"/>
                  </a:rPr>
                  <a:t>，它们之间的关系可用极限应力线图来</a:t>
                </a:r>
                <a:r>
                  <a:rPr lang="zh-CN" altLang="en-US" sz="1200" kern="0" dirty="0" smtClean="0">
                    <a:solidFill>
                      <a:schemeClr val="tx1"/>
                    </a:solidFill>
                    <a:latin typeface="黑体" pitchFamily="2" charset="-122"/>
                    <a:ea typeface="黑体" pitchFamily="2" charset="-122"/>
                  </a:rPr>
                  <a:t>表示。</a:t>
                </a:r>
                <a:endParaRPr lang="en-US" altLang="zh-CN" sz="1200" kern="0" dirty="0" smtClean="0">
                  <a:solidFill>
                    <a:schemeClr val="tx1"/>
                  </a:solidFill>
                  <a:latin typeface="黑体" pitchFamily="2" charset="-122"/>
                  <a:ea typeface="黑体" pitchFamily="2"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0" dirty="0" smtClean="0">
                    <a:solidFill>
                      <a:schemeClr val="tx1"/>
                    </a:solidFill>
                    <a:latin typeface="黑体" pitchFamily="2" charset="-122"/>
                    <a:ea typeface="黑体" pitchFamily="2" charset="-122"/>
                  </a:rPr>
                  <a:t>按</a:t>
                </a:r>
                <a:r>
                  <a:rPr lang="zh-CN" altLang="en-US" sz="1200" kern="0" dirty="0" smtClean="0">
                    <a:solidFill>
                      <a:schemeClr val="tx1"/>
                    </a:solidFill>
                    <a:latin typeface="黑体" pitchFamily="2" charset="-122"/>
                    <a:ea typeface="黑体" pitchFamily="2" charset="-122"/>
                  </a:rPr>
                  <a:t>试验结果，这一疲劳特性曲线为二次曲线，但在工程应用中，常将其以直线来近似代替。</a:t>
                </a:r>
                <a:endParaRPr lang="zh-CN" altLang="en-US" dirty="0"/>
              </a:p>
            </p:txBody>
          </p:sp>
        </mc:Fallback>
      </mc:AlternateContent>
      <p:sp>
        <p:nvSpPr>
          <p:cNvPr id="1048926" name="灯片编号占位符 3"/>
          <p:cNvSpPr>
            <a:spLocks noGrp="1"/>
          </p:cNvSpPr>
          <p:nvPr>
            <p:ph type="sldNum" sz="quarter" idx="10"/>
          </p:nvPr>
        </p:nvSpPr>
        <p:spPr/>
        <p:txBody>
          <a:bodyPr/>
          <a:lstStyle/>
          <a:p>
            <a:fld id="{02F0FA9E-A47E-4458-A8BA-8FCC88CC1B1C}" type="slidenum">
              <a:rPr lang="zh-CN" altLang="en-US" smtClean="0"/>
              <a:t>7</a:t>
            </a:fld>
            <a:endParaRPr lang="zh-CN" altLang="en-US"/>
          </a:p>
        </p:txBody>
      </p:sp>
    </p:spTree>
    <p:extLst>
      <p:ext uri="{BB962C8B-B14F-4D97-AF65-F5344CB8AC3E}">
        <p14:creationId xmlns:p14="http://schemas.microsoft.com/office/powerpoint/2010/main" val="1077358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减小疲劳磨损的措施：</a:t>
            </a:r>
            <a:r>
              <a:rPr lang="en-US" altLang="zh-CN" dirty="0" smtClean="0"/>
              <a:t>1</a:t>
            </a:r>
            <a:r>
              <a:rPr lang="zh-CN" altLang="en-US" dirty="0" smtClean="0"/>
              <a:t>）减小接触应力；</a:t>
            </a:r>
            <a:r>
              <a:rPr lang="en-US" altLang="zh-CN" dirty="0" smtClean="0"/>
              <a:t>2</a:t>
            </a:r>
            <a:r>
              <a:rPr lang="zh-CN" altLang="en-US" dirty="0" smtClean="0"/>
              <a:t>）提高硬度；</a:t>
            </a:r>
            <a:r>
              <a:rPr lang="en-US" altLang="zh-CN" dirty="0" smtClean="0"/>
              <a:t>3</a:t>
            </a:r>
            <a:r>
              <a:rPr lang="zh-CN" altLang="en-US" dirty="0" smtClean="0"/>
              <a:t>）减小粗糙度；</a:t>
            </a:r>
            <a:r>
              <a:rPr lang="en-US" altLang="zh-CN" dirty="0" smtClean="0"/>
              <a:t>4</a:t>
            </a:r>
            <a:r>
              <a:rPr lang="zh-CN" altLang="en-US" dirty="0" smtClean="0"/>
              <a:t>）适当提高润滑油粘度，在润滑油中加入极压添加剂和固体润滑剂。</a:t>
            </a:r>
            <a:endParaRPr lang="en-US" altLang="zh-CN" dirty="0" smtClean="0"/>
          </a:p>
          <a:p>
            <a:r>
              <a:rPr lang="zh-CN" altLang="en-US" dirty="0" smtClean="0"/>
              <a:t>腐蚀磨损是一种机械化学磨损，单纯的腐蚀不属于磨损范畴，只有当腐蚀和摩擦过程相结合时，才能形成腐蚀磨损。</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8</a:t>
            </a:fld>
            <a:endParaRPr lang="zh-CN" altLang="en-US"/>
          </a:p>
        </p:txBody>
      </p:sp>
    </p:spTree>
    <p:extLst>
      <p:ext uri="{BB962C8B-B14F-4D97-AF65-F5344CB8AC3E}">
        <p14:creationId xmlns:p14="http://schemas.microsoft.com/office/powerpoint/2010/main" val="3117100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20000"/>
              </a:lnSpc>
            </a:pPr>
            <a:r>
              <a:rPr kumimoji="1" lang="zh-CN" altLang="en-US" sz="1200" dirty="0" smtClean="0">
                <a:latin typeface="Times New Roman" pitchFamily="18" charset="0"/>
              </a:rPr>
              <a:t>微动磨损是一种</a:t>
            </a:r>
            <a:r>
              <a:rPr kumimoji="1" lang="zh-CN" altLang="en-US" sz="1200" dirty="0" smtClean="0">
                <a:solidFill>
                  <a:srgbClr val="FF0000"/>
                </a:solidFill>
                <a:latin typeface="Times New Roman" pitchFamily="18" charset="0"/>
              </a:rPr>
              <a:t>复合型磨损</a:t>
            </a:r>
            <a:r>
              <a:rPr kumimoji="1" lang="zh-CN" altLang="en-US" sz="1200" dirty="0" smtClean="0">
                <a:latin typeface="Times New Roman" pitchFamily="18" charset="0"/>
              </a:rPr>
              <a:t>，振幅极小，一般为</a:t>
            </a:r>
            <a:r>
              <a:rPr kumimoji="1" lang="en-US" altLang="zh-CN" sz="1200" dirty="0" smtClean="0">
                <a:latin typeface="Times New Roman" pitchFamily="18" charset="0"/>
              </a:rPr>
              <a:t>μm</a:t>
            </a:r>
            <a:r>
              <a:rPr kumimoji="1" lang="zh-CN" altLang="en-US" sz="1200" dirty="0" smtClean="0">
                <a:latin typeface="Times New Roman" pitchFamily="18" charset="0"/>
              </a:rPr>
              <a:t>量级，</a:t>
            </a:r>
            <a:r>
              <a:rPr kumimoji="1" lang="zh-CN" altLang="en-US" sz="1200" dirty="0" smtClean="0">
                <a:solidFill>
                  <a:srgbClr val="008000"/>
                </a:solidFill>
                <a:latin typeface="Times New Roman" pitchFamily="18" charset="0"/>
              </a:rPr>
              <a:t>普遍存在于紧配合的部件中</a:t>
            </a:r>
            <a:r>
              <a:rPr kumimoji="1" lang="zh-CN" altLang="en-US" sz="1200" dirty="0" smtClean="0">
                <a:latin typeface="Times New Roman" pitchFamily="18" charset="0"/>
              </a:rPr>
              <a:t>，破坏表面配合性质，在航空航天、核反应堆、一般机械中发生。</a:t>
            </a:r>
            <a:endParaRPr kumimoji="1" lang="en-US" altLang="zh-CN" sz="1200" dirty="0" smtClean="0">
              <a:latin typeface="Times New Roman" pitchFamily="18" charset="0"/>
            </a:endParaRPr>
          </a:p>
          <a:p>
            <a:pPr algn="just" eaLnBrk="1" hangingPunct="1">
              <a:lnSpc>
                <a:spcPct val="120000"/>
              </a:lnSpc>
            </a:pPr>
            <a:r>
              <a:rPr kumimoji="1" lang="zh-CN" altLang="en-US" sz="1200" dirty="0" smtClean="0">
                <a:latin typeface="Times New Roman" pitchFamily="18" charset="0"/>
              </a:rPr>
              <a:t>合理选择摩擦副材料：比如，易发生粘附磨损时，不要选同种材料；易发生磨粒磨损时，要选用硬度高的材料。</a:t>
            </a:r>
            <a:endParaRPr kumimoji="1" lang="en-US" altLang="zh-CN" sz="1200" dirty="0" smtClean="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9</a:t>
            </a:fld>
            <a:endParaRPr lang="zh-CN" altLang="en-US"/>
          </a:p>
        </p:txBody>
      </p:sp>
    </p:spTree>
    <p:extLst>
      <p:ext uri="{BB962C8B-B14F-4D97-AF65-F5344CB8AC3E}">
        <p14:creationId xmlns:p14="http://schemas.microsoft.com/office/powerpoint/2010/main" val="799599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zh-CN" altLang="en-US" sz="12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动植物油是最早使用的润滑油，因含有较多的硬脂酸，在边界润滑时有很好的润滑性能，但因其稳定性差、易变质且来源有限，所以使用不多，常作为添加剂使用。</a:t>
            </a:r>
            <a:endParaRPr kumimoji="0" lang="en-US" altLang="zh-CN" sz="12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zh-CN" altLang="en-US" sz="12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化学合成油能满足矿物油所不能满足的某些要求，如高温、低温、高速、重载等。由于它多是针对某种特定需要而制，适用面较窄，成本又很高，故一般机器应用较少。</a:t>
            </a:r>
            <a:endParaRPr kumimoji="0" lang="en-US" altLang="zh-CN" sz="12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zh-CN" altLang="en-US" sz="12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润滑脂</a:t>
            </a:r>
            <a:r>
              <a:rPr kumimoji="0" lang="zh-CN" altLang="en-US" sz="12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：采用脂润滑的优点是使用量小且无需复杂的密封装置。缺点是将油中的磨粒从接触点带出的性能差或不能带出。</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10</a:t>
            </a:fld>
            <a:endParaRPr lang="zh-CN" altLang="en-US"/>
          </a:p>
        </p:txBody>
      </p:sp>
    </p:spTree>
    <p:extLst>
      <p:ext uri="{BB962C8B-B14F-4D97-AF65-F5344CB8AC3E}">
        <p14:creationId xmlns:p14="http://schemas.microsoft.com/office/powerpoint/2010/main" val="1449991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zh-CN" sz="1200" b="0" i="1" u="none" strike="noStrike" kern="0" cap="none" spc="0" normalizeH="0" baseline="0" noProof="0" dirty="0" smtClean="0">
                <a:ln>
                  <a:noFill/>
                </a:ln>
                <a:solidFill>
                  <a:srgbClr val="000000"/>
                </a:solidFill>
                <a:effectLst/>
                <a:uLnTx/>
                <a:uFillTx/>
                <a:latin typeface="Arial" charset="0"/>
                <a:ea typeface="黑体" pitchFamily="49" charset="-122"/>
              </a:rPr>
              <a:t>F</a:t>
            </a:r>
            <a:r>
              <a:rPr kumimoji="0" lang="en-US" altLang="zh-CN" sz="1200" b="0" i="0" u="none" strike="noStrike" kern="0" cap="none" spc="0" normalizeH="0" baseline="0" noProof="0" dirty="0" smtClean="0">
                <a:ln>
                  <a:noFill/>
                </a:ln>
                <a:solidFill>
                  <a:srgbClr val="000000"/>
                </a:solidFill>
                <a:effectLst/>
                <a:uLnTx/>
                <a:uFillTx/>
                <a:latin typeface="Arial" charset="0"/>
                <a:ea typeface="黑体" pitchFamily="49" charset="-122"/>
              </a:rPr>
              <a:t>—</a:t>
            </a:r>
            <a:r>
              <a:rPr kumimoji="0" lang="zh-CN" altLang="en-US" sz="1200" b="0" i="0" u="none" strike="noStrike" kern="0" cap="none" spc="0" normalizeH="0" baseline="0" noProof="0" dirty="0" smtClean="0">
                <a:ln>
                  <a:noFill/>
                </a:ln>
                <a:solidFill>
                  <a:srgbClr val="000000"/>
                </a:solidFill>
                <a:effectLst/>
                <a:uLnTx/>
                <a:uFillTx/>
                <a:latin typeface="Arial" charset="0"/>
                <a:ea typeface="黑体" pitchFamily="49" charset="-122"/>
              </a:rPr>
              <a:t>作用在移动板上的拉力；</a:t>
            </a:r>
            <a:r>
              <a:rPr kumimoji="0" lang="en-US" altLang="zh-CN" sz="1200" b="0" i="1" u="none" strike="noStrike" kern="0" cap="none" spc="0" normalizeH="0" baseline="0" noProof="0" dirty="0" smtClean="0">
                <a:ln>
                  <a:noFill/>
                </a:ln>
                <a:solidFill>
                  <a:srgbClr val="000000"/>
                </a:solidFill>
                <a:effectLst/>
                <a:uLnTx/>
                <a:uFillTx/>
                <a:latin typeface="Arial" charset="0"/>
                <a:ea typeface="黑体" pitchFamily="49" charset="-122"/>
              </a:rPr>
              <a:t>A</a:t>
            </a:r>
            <a:r>
              <a:rPr kumimoji="0" lang="en-US" altLang="zh-CN" sz="1200" b="0" i="0" u="none" strike="noStrike" kern="0" cap="none" spc="0" normalizeH="0" baseline="0" noProof="0" dirty="0" smtClean="0">
                <a:ln>
                  <a:noFill/>
                </a:ln>
                <a:solidFill>
                  <a:srgbClr val="000000"/>
                </a:solidFill>
                <a:effectLst/>
                <a:uLnTx/>
                <a:uFillTx/>
                <a:latin typeface="Arial" charset="0"/>
                <a:ea typeface="黑体" pitchFamily="49" charset="-122"/>
              </a:rPr>
              <a:t>—</a:t>
            </a:r>
            <a:r>
              <a:rPr kumimoji="0" lang="zh-CN" altLang="en-US" sz="1200" b="0" i="0" u="none" strike="noStrike" kern="0" cap="none" spc="0" normalizeH="0" baseline="0" noProof="0" dirty="0" smtClean="0">
                <a:ln>
                  <a:noFill/>
                </a:ln>
                <a:solidFill>
                  <a:srgbClr val="000000"/>
                </a:solidFill>
                <a:effectLst/>
                <a:uLnTx/>
                <a:uFillTx/>
                <a:latin typeface="Arial" charset="0"/>
                <a:ea typeface="黑体" pitchFamily="49" charset="-122"/>
              </a:rPr>
              <a:t>移动板的面积；</a:t>
            </a:r>
            <a:r>
              <a:rPr kumimoji="0" lang="en-US" altLang="zh-CN" sz="1200" b="0" i="1" u="none" strike="noStrike" kern="0" cap="none" spc="0" normalizeH="0" baseline="0" noProof="0" dirty="0" smtClean="0">
                <a:ln>
                  <a:noFill/>
                </a:ln>
                <a:effectLst/>
                <a:uLnTx/>
                <a:uFillTx/>
                <a:latin typeface="Arial" charset="0"/>
                <a:ea typeface="黑体" pitchFamily="49" charset="-122"/>
              </a:rPr>
              <a:t>du/dy</a:t>
            </a:r>
            <a:r>
              <a:rPr kumimoji="0" lang="en-US" altLang="zh-CN" sz="1200" b="0" i="0" u="none" strike="noStrike" kern="0" cap="none" spc="0" normalizeH="0" baseline="0" noProof="0" dirty="0" smtClean="0">
                <a:ln>
                  <a:noFill/>
                </a:ln>
                <a:effectLst/>
                <a:uLnTx/>
                <a:uFillTx/>
                <a:latin typeface="Arial" charset="0"/>
                <a:ea typeface="黑体" pitchFamily="49" charset="-122"/>
              </a:rPr>
              <a:t>—</a:t>
            </a:r>
            <a:r>
              <a:rPr kumimoji="0" lang="zh-CN" altLang="en-US" sz="1200" b="0" i="0" u="none" strike="noStrike" kern="0" cap="none" spc="0" normalizeH="0" baseline="0" noProof="0" dirty="0" smtClean="0">
                <a:ln>
                  <a:noFill/>
                </a:ln>
                <a:effectLst/>
                <a:uLnTx/>
                <a:uFillTx/>
                <a:latin typeface="Arial" charset="0"/>
                <a:ea typeface="黑体" pitchFamily="49" charset="-122"/>
              </a:rPr>
              <a:t>剪切率；</a:t>
            </a:r>
            <a:r>
              <a:rPr kumimoji="1" lang="en-US" altLang="zh-CN" sz="1200" b="0" i="1" u="none" strike="noStrike" kern="0" cap="none" spc="0" normalizeH="0" baseline="0" noProof="0" dirty="0" smtClean="0">
                <a:ln>
                  <a:noFill/>
                </a:ln>
                <a:solidFill>
                  <a:srgbClr val="FF0000"/>
                </a:solidFill>
                <a:effectLst/>
                <a:uLnTx/>
                <a:uFillTx/>
                <a:ea typeface="华文中宋" pitchFamily="2" charset="-122"/>
              </a:rPr>
              <a:t>η</a:t>
            </a:r>
            <a:r>
              <a:rPr kumimoji="1" lang="en-US" altLang="zh-CN" sz="1200" b="0" i="0" u="none" strike="noStrike" kern="0" cap="none" spc="0" normalizeH="0" baseline="0" noProof="0" dirty="0" smtClean="0">
                <a:ln>
                  <a:noFill/>
                </a:ln>
                <a:solidFill>
                  <a:srgbClr val="000000"/>
                </a:solidFill>
                <a:effectLst/>
                <a:uLnTx/>
                <a:uFillTx/>
              </a:rPr>
              <a:t>—</a:t>
            </a:r>
            <a:r>
              <a:rPr kumimoji="1" lang="zh-CN" altLang="en-US" sz="1200" b="0" i="0" u="none" strike="noStrike" kern="0" cap="none" spc="0" normalizeH="0" baseline="0" noProof="0" dirty="0" smtClean="0">
                <a:ln>
                  <a:noFill/>
                </a:ln>
                <a:solidFill>
                  <a:srgbClr val="000000"/>
                </a:solidFill>
                <a:effectLst/>
                <a:uLnTx/>
                <a:uFillTx/>
              </a:rPr>
              <a:t>比例常数，即</a:t>
            </a:r>
            <a:r>
              <a:rPr kumimoji="1" lang="zh-CN" altLang="en-US" sz="1200" i="0" u="none" strike="noStrike" kern="0" cap="none" spc="0" normalizeH="0" baseline="0" noProof="0" dirty="0" smtClean="0">
                <a:ln>
                  <a:noFill/>
                </a:ln>
                <a:solidFill>
                  <a:srgbClr val="FF0000"/>
                </a:solidFill>
                <a:effectLst/>
                <a:uLnTx/>
                <a:uFillTx/>
              </a:rPr>
              <a:t>动力粘度 </a:t>
            </a:r>
            <a:r>
              <a:rPr kumimoji="1" lang="en-US" altLang="zh-CN" sz="1200" i="0" u="none" strike="noStrike" kern="0" cap="none" spc="0" normalizeH="0" baseline="0" noProof="0" dirty="0" smtClean="0">
                <a:ln>
                  <a:noFill/>
                </a:ln>
                <a:solidFill>
                  <a:srgbClr val="FF0000"/>
                </a:solidFill>
                <a:effectLst/>
                <a:uLnTx/>
                <a:uFillTx/>
              </a:rPr>
              <a:t>(Pa</a:t>
            </a:r>
            <a:r>
              <a:rPr kumimoji="1" lang="en-US" altLang="zh-CN" sz="1200" i="0" u="none" strike="noStrike" kern="0" cap="none" spc="0" normalizeH="0" baseline="0" noProof="0" dirty="0" smtClean="0">
                <a:ln>
                  <a:noFill/>
                </a:ln>
                <a:solidFill>
                  <a:srgbClr val="FF0000"/>
                </a:solidFill>
                <a:effectLst/>
                <a:uLnTx/>
                <a:uFillTx/>
                <a:latin typeface="Calibri" pitchFamily="34" charset="0"/>
              </a:rPr>
              <a:t>·s</a:t>
            </a:r>
            <a:r>
              <a:rPr kumimoji="1" lang="en-US" altLang="zh-CN" sz="1200" i="0" u="none" strike="noStrike" kern="0" cap="none" spc="0" normalizeH="0" baseline="0" noProof="0" dirty="0" smtClean="0">
                <a:ln>
                  <a:noFill/>
                </a:ln>
                <a:solidFill>
                  <a:srgbClr val="FF0000"/>
                </a:solidFill>
                <a:effectLst/>
                <a:uLnTx/>
                <a:uFillTx/>
              </a:rPr>
              <a:t>)</a:t>
            </a:r>
            <a:r>
              <a:rPr kumimoji="1" lang="zh-CN" altLang="en-US" sz="1200" i="0" u="none" strike="noStrike" kern="0" cap="none" spc="0" normalizeH="0" baseline="0" noProof="0" dirty="0" smtClean="0">
                <a:ln>
                  <a:noFill/>
                </a:ln>
                <a:solidFill>
                  <a:srgbClr val="FF0000"/>
                </a:solidFill>
                <a:effectLst/>
                <a:uLnTx/>
                <a:uFillTx/>
              </a:rPr>
              <a:t>。</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动力粘度</a:t>
            </a:r>
            <a:r>
              <a:rPr lang="zh-CN" altLang="en-US" dirty="0" smtClean="0"/>
              <a:t>也称为绝对粘度，但衡量一个油品流动的快慢或流动的难易，不仅与它的粘度有关，同时还与它的密度有关。因此，如要衡量油的综合品质，就需要引入一个新的定义，称为运动粘度。</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11</a:t>
            </a:fld>
            <a:endParaRPr lang="zh-CN" altLang="en-US"/>
          </a:p>
        </p:txBody>
      </p:sp>
    </p:spTree>
    <p:extLst>
      <p:ext uri="{BB962C8B-B14F-4D97-AF65-F5344CB8AC3E}">
        <p14:creationId xmlns:p14="http://schemas.microsoft.com/office/powerpoint/2010/main" val="2144416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dirty="0" smtClean="0"/>
              <a:t>在</a:t>
            </a:r>
            <a:r>
              <a:rPr kumimoji="1" lang="zh-CN" altLang="en-US" sz="1200" dirty="0" smtClean="0"/>
              <a:t>弹性流体动力润滑中就要</a:t>
            </a:r>
            <a:r>
              <a:rPr kumimoji="1" lang="zh-CN" altLang="en-US" sz="1200" dirty="0" smtClean="0"/>
              <a:t>考虑</a:t>
            </a:r>
            <a:r>
              <a:rPr kumimoji="1" lang="zh-CN" altLang="en-US" sz="1200" dirty="0" smtClean="0"/>
              <a:t>压力对粘度的影响，这时将会用到贝伦斯方程</a:t>
            </a:r>
            <a:r>
              <a:rPr kumimoji="1" lang="zh-CN" altLang="en-US" sz="1200" dirty="0" smtClean="0"/>
              <a:t>。</a:t>
            </a:r>
            <a:endParaRPr kumimoji="1" lang="en-US" altLang="zh-CN" sz="120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kern="0" dirty="0" smtClean="0">
                <a:solidFill>
                  <a:srgbClr val="FF0000"/>
                </a:solidFill>
                <a:latin typeface="+mn-ea"/>
                <a:ea typeface="+mn-ea"/>
              </a:rPr>
              <a:t>油性</a:t>
            </a:r>
            <a:r>
              <a:rPr lang="zh-CN" altLang="en-US" sz="1200" kern="0" dirty="0" smtClean="0">
                <a:latin typeface="黑体" panose="02010609060101010101" pitchFamily="49" charset="-122"/>
                <a:ea typeface="黑体" panose="02010609060101010101" pitchFamily="49" charset="-122"/>
              </a:rPr>
              <a:t>：指油中极性分子吸附于摩擦表面形成边界油膜的性能，是影响边界润滑性能好坏的重要指标。吸附能力越强，油性越好。</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13</a:t>
            </a:fld>
            <a:endParaRPr lang="zh-CN" altLang="en-US"/>
          </a:p>
        </p:txBody>
      </p:sp>
    </p:spTree>
    <p:extLst>
      <p:ext uri="{BB962C8B-B14F-4D97-AF65-F5344CB8AC3E}">
        <p14:creationId xmlns:p14="http://schemas.microsoft.com/office/powerpoint/2010/main" val="4135097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15</a:t>
            </a:fld>
            <a:endParaRPr lang="zh-CN" altLang="en-US"/>
          </a:p>
        </p:txBody>
      </p:sp>
    </p:spTree>
    <p:extLst>
      <p:ext uri="{BB962C8B-B14F-4D97-AF65-F5344CB8AC3E}">
        <p14:creationId xmlns:p14="http://schemas.microsoft.com/office/powerpoint/2010/main" val="1345193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如左图所示，</a:t>
            </a:r>
            <a:r>
              <a:rPr lang="en-US" altLang="zh-CN" dirty="0" smtClean="0"/>
              <a:t>A</a:t>
            </a:r>
            <a:r>
              <a:rPr lang="zh-CN" altLang="en-US" dirty="0" smtClean="0"/>
              <a:t>、</a:t>
            </a:r>
            <a:r>
              <a:rPr lang="en-US" altLang="zh-CN" dirty="0" smtClean="0"/>
              <a:t>B</a:t>
            </a:r>
            <a:r>
              <a:rPr lang="zh-CN" altLang="en-US" dirty="0" smtClean="0"/>
              <a:t>两板平行，板间充满有一定粘度的润滑油，若</a:t>
            </a:r>
            <a:r>
              <a:rPr lang="en-US" altLang="zh-CN" dirty="0" smtClean="0"/>
              <a:t>B</a:t>
            </a:r>
            <a:r>
              <a:rPr lang="zh-CN" altLang="en-US" dirty="0" smtClean="0"/>
              <a:t>板静止不动，</a:t>
            </a:r>
            <a:r>
              <a:rPr lang="en-US" altLang="zh-CN" dirty="0" smtClean="0"/>
              <a:t>A</a:t>
            </a:r>
            <a:r>
              <a:rPr lang="zh-CN" altLang="en-US" dirty="0" smtClean="0"/>
              <a:t>板以速度</a:t>
            </a:r>
            <a:r>
              <a:rPr lang="en-US" altLang="zh-CN" dirty="0" smtClean="0"/>
              <a:t>v</a:t>
            </a:r>
            <a:r>
              <a:rPr lang="zh-CN" altLang="en-US" dirty="0" smtClean="0"/>
              <a:t>沿</a:t>
            </a:r>
            <a:r>
              <a:rPr lang="en-US" altLang="zh-CN" dirty="0" smtClean="0"/>
              <a:t>x</a:t>
            </a:r>
            <a:r>
              <a:rPr lang="zh-CN" altLang="en-US" dirty="0" smtClean="0"/>
              <a:t>方向运动。由于润滑油的粘性及它与平板间的吸附作用，与</a:t>
            </a:r>
            <a:r>
              <a:rPr lang="en-US" altLang="zh-CN" dirty="0" smtClean="0"/>
              <a:t>A</a:t>
            </a:r>
            <a:r>
              <a:rPr lang="zh-CN" altLang="en-US" dirty="0" smtClean="0"/>
              <a:t>板紧贴的流层的流速</a:t>
            </a:r>
            <a:r>
              <a:rPr lang="en-US" altLang="zh-CN" dirty="0" smtClean="0"/>
              <a:t>v</a:t>
            </a:r>
            <a:r>
              <a:rPr lang="zh-CN" altLang="en-US" dirty="0" smtClean="0"/>
              <a:t>等于板速</a:t>
            </a:r>
            <a:r>
              <a:rPr lang="en-US" altLang="zh-CN" dirty="0" smtClean="0"/>
              <a:t>v</a:t>
            </a:r>
            <a:r>
              <a:rPr lang="zh-CN" altLang="en-US" dirty="0" smtClean="0"/>
              <a:t>，其他各流层的流速则按直线规律分布递减。这种流动是由于油层受到剪切作用而产生的，所以称为剪切流。这时通过两平行平板间的任何垂直截面处的流量皆相等，润滑油虽能维持连续流动，但油膜对外载荷并无承载能力。</a:t>
            </a:r>
            <a:endParaRPr lang="en-US" altLang="zh-CN" dirty="0" smtClean="0"/>
          </a:p>
          <a:p>
            <a:r>
              <a:rPr lang="zh-CN" altLang="en-US" dirty="0" smtClean="0"/>
              <a:t>如右图所示，当两平板相互倾斜且形成楔形收敛间隙，且移动件的运动方向是从间隙大的一方移向间隙小的一方时，若各油层的分布规律如图所示，那么进入间隙的油量必然大于流出间隙的油量。设液体是不可压缩的，则进入此楔形间隙的过剩油量，必将由进口</a:t>
            </a:r>
            <a:r>
              <a:rPr lang="en-US" altLang="zh-CN" dirty="0" smtClean="0"/>
              <a:t>a</a:t>
            </a:r>
            <a:r>
              <a:rPr lang="zh-CN" altLang="en-US" dirty="0" smtClean="0"/>
              <a:t>及出口</a:t>
            </a:r>
            <a:r>
              <a:rPr lang="en-US" altLang="zh-CN" dirty="0" smtClean="0"/>
              <a:t>c</a:t>
            </a:r>
            <a:r>
              <a:rPr lang="zh-CN" altLang="en-US" dirty="0" smtClean="0"/>
              <a:t>两处截面被挤出，即产生一种因压力而引起的流动，称为压力流。这时，楔形收敛间隙中油层流动速度将由剪切流和压力流二者叠加，因而进口油的速度曲线呈内凹形，出口处呈外凸形。间隙流体产生的动压力是能够稳定存在的。这种具有一定粘性的流体流入楔形收敛间隙而产生的压力的效应，叫流体动力润滑的楔效应。</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18</a:t>
            </a:fld>
            <a:endParaRPr lang="zh-CN" altLang="en-US"/>
          </a:p>
        </p:txBody>
      </p:sp>
    </p:spTree>
    <p:extLst>
      <p:ext uri="{BB962C8B-B14F-4D97-AF65-F5344CB8AC3E}">
        <p14:creationId xmlns:p14="http://schemas.microsoft.com/office/powerpoint/2010/main" val="58907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为了深化理解，我们来讨论一下如下情况</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pPr>
              <a:defRPr/>
            </a:pPr>
            <a:fld id="{A80541FE-6A02-44C7-9DF4-18CC7D02DB72}" type="slidenum">
              <a:rPr lang="zh-CN" altLang="en-US" smtClean="0"/>
              <a:pPr>
                <a:defRPr/>
              </a:pPr>
              <a:t>19</a:t>
            </a:fld>
            <a:endParaRPr lang="zh-CN" altLang="en-US"/>
          </a:p>
        </p:txBody>
      </p:sp>
    </p:spTree>
    <p:extLst>
      <p:ext uri="{BB962C8B-B14F-4D97-AF65-F5344CB8AC3E}">
        <p14:creationId xmlns:p14="http://schemas.microsoft.com/office/powerpoint/2010/main" val="929408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针阀油杯可调节滴油速度来改变供油量，并且停车时刻扳动油杯上端的手柄以关闭针阀而停止供油。芯埝油杯在停车时则仍继续供油，会引起无用的消耗。</a:t>
            </a:r>
            <a:endParaRPr lang="zh-CN" altLang="en-US" dirty="0"/>
          </a:p>
        </p:txBody>
      </p:sp>
      <p:sp>
        <p:nvSpPr>
          <p:cNvPr id="4" name="灯片编号占位符 3"/>
          <p:cNvSpPr>
            <a:spLocks noGrp="1"/>
          </p:cNvSpPr>
          <p:nvPr>
            <p:ph type="sldNum" sz="quarter" idx="10"/>
          </p:nvPr>
        </p:nvSpPr>
        <p:spPr/>
        <p:txBody>
          <a:bodyPr/>
          <a:lstStyle/>
          <a:p>
            <a:fld id="{0DF3F78D-9D6A-4D72-8EEC-A27C4B12DE9C}" type="slidenum">
              <a:rPr lang="zh-CN" altLang="en-US" smtClean="0"/>
              <a:t>21</a:t>
            </a:fld>
            <a:endParaRPr lang="zh-CN" altLang="en-US"/>
          </a:p>
        </p:txBody>
      </p:sp>
    </p:spTree>
    <p:extLst>
      <p:ext uri="{BB962C8B-B14F-4D97-AF65-F5344CB8AC3E}">
        <p14:creationId xmlns:p14="http://schemas.microsoft.com/office/powerpoint/2010/main" val="2269219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64" name="幻灯片图像占位符 1"/>
          <p:cNvSpPr>
            <a:spLocks noGrp="1" noRot="1" noChangeAspect="1"/>
          </p:cNvSpPr>
          <p:nvPr>
            <p:ph type="sldImg"/>
          </p:nvPr>
        </p:nvSpPr>
        <p:spPr/>
      </p:sp>
      <p:sp>
        <p:nvSpPr>
          <p:cNvPr id="1049665"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pPr>
            <a:r>
              <a:rPr lang="zh-CN" altLang="en-US" dirty="0" smtClean="0">
                <a:solidFill>
                  <a:srgbClr val="A50021"/>
                </a:solidFill>
                <a:effectLst>
                  <a:outerShdw blurRad="38100" dist="38100" dir="2700000" algn="tl">
                    <a:srgbClr val="C0C0C0"/>
                  </a:outerShdw>
                </a:effectLst>
                <a:latin typeface="楷体_GB2312" pitchFamily="49" charset="-122"/>
                <a:ea typeface="楷体_GB2312" pitchFamily="49" charset="-122"/>
              </a:rPr>
              <a:t>油环润滑</a:t>
            </a:r>
            <a:r>
              <a:rPr lang="zh-CN" altLang="en-US" dirty="0" smtClean="0">
                <a:solidFill>
                  <a:srgbClr val="080808"/>
                </a:solidFill>
                <a:effectLst>
                  <a:outerShdw blurRad="38100" dist="38100" dir="2700000" algn="tl">
                    <a:srgbClr val="C0C0C0"/>
                  </a:outerShdw>
                </a:effectLst>
                <a:latin typeface="楷体_GB2312" pitchFamily="49" charset="-122"/>
                <a:ea typeface="楷体_GB2312" pitchFamily="49" charset="-122"/>
              </a:rPr>
              <a:t>：油环套在轴颈上，下部侵在油中</a:t>
            </a:r>
            <a:r>
              <a:rPr lang="zh-CN" altLang="en-US" dirty="0" smtClean="0">
                <a:solidFill>
                  <a:srgbClr val="080808"/>
                </a:solidFill>
                <a:effectLst>
                  <a:outerShdw blurRad="38100" dist="38100" dir="2700000" algn="tl">
                    <a:srgbClr val="C0C0C0"/>
                  </a:outerShdw>
                </a:effectLst>
                <a:latin typeface="楷体_GB2312" pitchFamily="49" charset="-122"/>
                <a:ea typeface="楷体_GB2312" pitchFamily="49" charset="-122"/>
              </a:rPr>
              <a:t>。油环浸在油池中的深度约为其直径的</a:t>
            </a:r>
            <a:r>
              <a:rPr lang="en-US" altLang="zh-CN" dirty="0" smtClean="0">
                <a:solidFill>
                  <a:srgbClr val="080808"/>
                </a:solidFill>
                <a:effectLst>
                  <a:outerShdw blurRad="38100" dist="38100" dir="2700000" algn="tl">
                    <a:srgbClr val="C0C0C0"/>
                  </a:outerShdw>
                </a:effectLst>
                <a:latin typeface="楷体_GB2312" pitchFamily="49" charset="-122"/>
                <a:ea typeface="楷体_GB2312" pitchFamily="49" charset="-122"/>
              </a:rPr>
              <a:t>1/4</a:t>
            </a:r>
            <a:r>
              <a:rPr lang="zh-CN" altLang="en-US" dirty="0" smtClean="0">
                <a:solidFill>
                  <a:srgbClr val="080808"/>
                </a:solidFill>
                <a:effectLst>
                  <a:outerShdw blurRad="38100" dist="38100" dir="2700000" algn="tl">
                    <a:srgbClr val="C0C0C0"/>
                  </a:outerShdw>
                </a:effectLst>
                <a:latin typeface="楷体_GB2312" pitchFamily="49" charset="-122"/>
                <a:ea typeface="楷体_GB2312" pitchFamily="49" charset="-122"/>
              </a:rPr>
              <a:t>。当</a:t>
            </a:r>
            <a:r>
              <a:rPr lang="zh-CN" altLang="en-US" dirty="0" smtClean="0">
                <a:solidFill>
                  <a:srgbClr val="080808"/>
                </a:solidFill>
                <a:effectLst>
                  <a:outerShdw blurRad="38100" dist="38100" dir="2700000" algn="tl">
                    <a:srgbClr val="C0C0C0"/>
                  </a:outerShdw>
                </a:effectLst>
                <a:latin typeface="楷体_GB2312" pitchFamily="49" charset="-122"/>
                <a:ea typeface="楷体_GB2312" pitchFamily="49" charset="-122"/>
              </a:rPr>
              <a:t>轴颈转动时带动油环转动，将油带到轴颈表面进行润滑。轴颈速度过高或过低，油环带的油量都会不足，通常用于转速不低于</a:t>
            </a:r>
            <a:r>
              <a:rPr lang="en-US" altLang="zh-CN" dirty="0" smtClean="0">
                <a:solidFill>
                  <a:srgbClr val="080808"/>
                </a:solidFill>
                <a:effectLst>
                  <a:outerShdw blurRad="38100" dist="38100" dir="2700000" algn="tl">
                    <a:srgbClr val="C0C0C0"/>
                  </a:outerShdw>
                </a:effectLst>
                <a:latin typeface="楷体_GB2312" pitchFamily="49" charset="-122"/>
                <a:ea typeface="楷体_GB2312" pitchFamily="49" charset="-122"/>
              </a:rPr>
              <a:t>50~60r/min</a:t>
            </a:r>
            <a:r>
              <a:rPr lang="zh-CN" altLang="en-US" dirty="0" smtClean="0">
                <a:solidFill>
                  <a:srgbClr val="080808"/>
                </a:solidFill>
                <a:effectLst>
                  <a:outerShdw blurRad="38100" dist="38100" dir="2700000" algn="tl">
                    <a:srgbClr val="C0C0C0"/>
                  </a:outerShdw>
                </a:effectLst>
                <a:latin typeface="楷体_GB2312" pitchFamily="49" charset="-122"/>
                <a:ea typeface="楷体_GB2312" pitchFamily="49" charset="-122"/>
              </a:rPr>
              <a:t>。油环润滑的轴承，其轴线应水平布置</a:t>
            </a:r>
            <a:r>
              <a:rPr lang="zh-CN" altLang="en-US" dirty="0" smtClean="0">
                <a:solidFill>
                  <a:srgbClr val="080808"/>
                </a:solidFill>
                <a:effectLst>
                  <a:outerShdw blurRad="38100" dist="38100" dir="2700000" algn="tl">
                    <a:srgbClr val="C0C0C0"/>
                  </a:outerShdw>
                </a:effectLst>
                <a:latin typeface="楷体_GB2312" pitchFamily="49" charset="-122"/>
                <a:ea typeface="楷体_GB2312" pitchFamily="49" charset="-122"/>
              </a:rPr>
              <a:t>。</a:t>
            </a:r>
            <a:endParaRPr lang="en-US" altLang="zh-CN" dirty="0" smtClean="0">
              <a:solidFill>
                <a:srgbClr val="080808"/>
              </a:solidFill>
              <a:effectLst>
                <a:outerShdw blurRad="38100" dist="38100" dir="2700000" algn="tl">
                  <a:srgbClr val="C0C0C0"/>
                </a:outerShdw>
              </a:effectLst>
              <a:latin typeface="楷体_GB2312" pitchFamily="49" charset="-122"/>
              <a:ea typeface="楷体_GB2312" pitchFamily="49" charset="-122"/>
            </a:endParaRPr>
          </a:p>
          <a:p>
            <a:pPr marL="0" marR="0" indent="0" algn="l" defTabSz="914400" rtl="0" eaLnBrk="0" fontAlgn="base" latinLnBrk="0" hangingPunct="0">
              <a:lnSpc>
                <a:spcPct val="100000"/>
              </a:lnSpc>
              <a:spcBef>
                <a:spcPct val="30000"/>
              </a:spcBef>
              <a:spcAft>
                <a:spcPct val="0"/>
              </a:spcAft>
              <a:buClrTx/>
              <a:buSzTx/>
              <a:buFontTx/>
              <a:buNone/>
            </a:pPr>
            <a:r>
              <a:rPr lang="zh-CN" altLang="en-US" dirty="0" smtClean="0">
                <a:solidFill>
                  <a:srgbClr val="080808"/>
                </a:solidFill>
                <a:effectLst>
                  <a:outerShdw blurRad="38100" dist="38100" dir="2700000" algn="tl">
                    <a:srgbClr val="C0C0C0"/>
                  </a:outerShdw>
                </a:effectLst>
                <a:ea typeface="楷体_GB2312" pitchFamily="49" charset="-122"/>
              </a:rPr>
              <a:t>油环润滑结构简单，供油充分，耗油量小，机器一启动就能自动供油。</a:t>
            </a:r>
            <a:endParaRPr lang="zh-CN" altLang="en-US" dirty="0"/>
          </a:p>
        </p:txBody>
      </p:sp>
      <p:sp>
        <p:nvSpPr>
          <p:cNvPr id="1049666" name="灯片编号占位符 3"/>
          <p:cNvSpPr>
            <a:spLocks noGrp="1"/>
          </p:cNvSpPr>
          <p:nvPr>
            <p:ph type="sldNum" sz="quarter" idx="10"/>
          </p:nvPr>
        </p:nvSpPr>
        <p:spPr/>
        <p:txBody>
          <a:bodyPr/>
          <a:lstStyle/>
          <a:p>
            <a:fld id="{A80541FE-6A02-44C7-9DF4-18CC7D02DB72}" type="slidenum">
              <a:rPr lang="zh-CN" altLang="en-US" smtClean="0"/>
              <a:t>22</a:t>
            </a:fld>
            <a:endParaRPr lang="zh-CN" altLang="en-US"/>
          </a:p>
        </p:txBody>
      </p:sp>
    </p:spTree>
    <p:extLst>
      <p:ext uri="{BB962C8B-B14F-4D97-AF65-F5344CB8AC3E}">
        <p14:creationId xmlns:p14="http://schemas.microsoft.com/office/powerpoint/2010/main" val="748220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浸油润滑：适用于齿轮圆周速度</a:t>
            </a:r>
            <a:r>
              <a:rPr lang="en-US" altLang="zh-CN" dirty="0" smtClean="0"/>
              <a:t>&lt;12m/s</a:t>
            </a:r>
            <a:r>
              <a:rPr lang="zh-CN" altLang="en-US" dirty="0" smtClean="0"/>
              <a:t>或蜗杆圆周速度</a:t>
            </a:r>
            <a:r>
              <a:rPr lang="en-US" altLang="zh-CN" dirty="0" smtClean="0"/>
              <a:t>&lt;10m/s</a:t>
            </a:r>
            <a:r>
              <a:rPr lang="zh-CN" altLang="en-US" dirty="0" smtClean="0"/>
              <a:t>的情况。</a:t>
            </a:r>
            <a:endParaRPr lang="en-US" altLang="zh-CN" dirty="0" smtClean="0"/>
          </a:p>
          <a:p>
            <a:r>
              <a:rPr lang="zh-CN" altLang="en-US" dirty="0" smtClean="0"/>
              <a:t>飞溅</a:t>
            </a:r>
            <a:r>
              <a:rPr lang="zh-CN" altLang="en-US" dirty="0" smtClean="0"/>
              <a:t>润滑：利用转动件分（例如齿轮）或曲轴的曲柄等将润滑油溅成油星以润滑轴承</a:t>
            </a:r>
            <a:r>
              <a:rPr lang="zh-CN" altLang="en-US" dirty="0" smtClean="0"/>
              <a:t>。</a:t>
            </a:r>
            <a:endParaRPr lang="en-US" altLang="zh-CN" dirty="0" smtClean="0"/>
          </a:p>
          <a:p>
            <a:r>
              <a:rPr lang="zh-CN" altLang="en-US" dirty="0" smtClean="0"/>
              <a:t>压力润滑：不但润滑可靠，同时可起到冷却与冲洗的作用。但结构复杂，成本高。常用于具有重载、高速或载荷变化较大等情况的重要机器设备中。</a:t>
            </a:r>
            <a:endParaRPr lang="zh-CN" altLang="en-US" dirty="0"/>
          </a:p>
        </p:txBody>
      </p:sp>
      <p:sp>
        <p:nvSpPr>
          <p:cNvPr id="4" name="灯片编号占位符 3"/>
          <p:cNvSpPr>
            <a:spLocks noGrp="1"/>
          </p:cNvSpPr>
          <p:nvPr>
            <p:ph type="sldNum" sz="quarter" idx="10"/>
          </p:nvPr>
        </p:nvSpPr>
        <p:spPr/>
        <p:txBody>
          <a:bodyPr/>
          <a:lstStyle/>
          <a:p>
            <a:fld id="{0DF3F78D-9D6A-4D72-8EEC-A27C4B12DE9C}" type="slidenum">
              <a:rPr lang="zh-CN" altLang="en-US" smtClean="0"/>
              <a:t>23</a:t>
            </a:fld>
            <a:endParaRPr lang="zh-CN" altLang="en-US"/>
          </a:p>
        </p:txBody>
      </p:sp>
    </p:spTree>
    <p:extLst>
      <p:ext uri="{BB962C8B-B14F-4D97-AF65-F5344CB8AC3E}">
        <p14:creationId xmlns:p14="http://schemas.microsoft.com/office/powerpoint/2010/main" val="172078863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2.jpeg"/><Relationship Id="rId7"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vmlDrawing" Target="../drawings/vmlDrawing1.vml"/><Relationship Id="rId6" Type="http://schemas.openxmlformats.org/officeDocument/2006/relationships/image" Target="../media/image3.jpeg"/><Relationship Id="rId5" Type="http://schemas.openxmlformats.org/officeDocument/2006/relationships/image" Target="../media/image1.png"/><Relationship Id="rId4" Type="http://schemas.openxmlformats.org/officeDocument/2006/relationships/oleObject" Target="../embeddings/oleObject1.bin"/><Relationship Id="rId9"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4_标题幻灯片">
    <p:spTree>
      <p:nvGrpSpPr>
        <p:cNvPr id="1" name=""/>
        <p:cNvGrpSpPr/>
        <p:nvPr/>
      </p:nvGrpSpPr>
      <p:grpSpPr>
        <a:xfrm>
          <a:off x="0" y="0"/>
          <a:ext cx="0" cy="0"/>
          <a:chOff x="0" y="0"/>
          <a:chExt cx="0" cy="0"/>
        </a:xfrm>
      </p:grpSpPr>
      <p:sp>
        <p:nvSpPr>
          <p:cNvPr id="1048693" name="灯片编号占位符 5"/>
          <p:cNvSpPr txBox="1"/>
          <p:nvPr/>
        </p:nvSpPr>
        <p:spPr>
          <a:xfrm>
            <a:off x="476250" y="5297488"/>
            <a:ext cx="2133600" cy="303212"/>
          </a:xfrm>
          <a:prstGeom prst="rect">
            <a:avLst/>
          </a:prstGeom>
        </p:spPr>
        <p:txBody>
          <a:bodyPr/>
          <a:lstStyle>
            <a:lvl1pPr algn="l">
              <a:defRPr b="1">
                <a:solidFill>
                  <a:srgbClr val="C00000"/>
                </a:solidFill>
              </a:defRPr>
            </a:lvl1pPr>
          </a:lstStyle>
          <a:p>
            <a:pPr fontAlgn="auto">
              <a:spcBef>
                <a:spcPts val="0"/>
              </a:spcBef>
              <a:spcAft>
                <a:spcPts val="0"/>
              </a:spcAft>
            </a:pPr>
            <a:fld id="{2A0566AA-6162-4D95-AC0C-E78E38CB513D}" type="slidenum">
              <a:rPr lang="zh-CN" altLang="en-US" smtClean="0">
                <a:latin typeface="+mn-lt"/>
                <a:ea typeface="+mn-ea"/>
              </a:rPr>
              <a:t>‹#›</a:t>
            </a:fld>
            <a:endParaRPr lang="zh-CN" altLang="en-US" dirty="0">
              <a:latin typeface="+mn-lt"/>
              <a:ea typeface="+mn-ea"/>
            </a:endParaRPr>
          </a:p>
        </p:txBody>
      </p:sp>
      <p:sp>
        <p:nvSpPr>
          <p:cNvPr id="1048695" name="AutoShape 11" descr="http://img3.imgtn.bdimg.com/it/u=648473279,3398283694&amp;fm=21&amp;gp=0.jpg"/>
          <p:cNvSpPr>
            <a:spLocks noChangeAspect="1" noChangeArrowheads="1"/>
          </p:cNvSpPr>
          <p:nvPr userDrawn="1"/>
        </p:nvSpPr>
        <p:spPr bwMode="auto">
          <a:xfrm>
            <a:off x="155575" y="-144462"/>
            <a:ext cx="304800" cy="304801"/>
          </a:xfrm>
          <a:prstGeom prst="rect">
            <a:avLst/>
          </a:prstGeom>
          <a:noFill/>
        </p:spPr>
        <p:txBody>
          <a:bodyPr vert="horz" wrap="square" lIns="91440" tIns="45720" rIns="91440" bIns="45720" numCol="1" anchor="t" anchorCtr="0" compatLnSpc="1"/>
          <a:lstStyle/>
          <a:p>
            <a:endParaRPr lang="zh-CN" altLang="en-US"/>
          </a:p>
        </p:txBody>
      </p:sp>
      <p:sp>
        <p:nvSpPr>
          <p:cNvPr id="1048696" name="AutoShape 13" descr="http://img3.imgtn.bdimg.com/it/u=648473279,3398283694&amp;fm=21&amp;gp=0.jpg"/>
          <p:cNvSpPr>
            <a:spLocks noChangeAspect="1" noChangeArrowheads="1"/>
          </p:cNvSpPr>
          <p:nvPr userDrawn="1"/>
        </p:nvSpPr>
        <p:spPr bwMode="auto">
          <a:xfrm>
            <a:off x="307975" y="7938"/>
            <a:ext cx="304800" cy="304801"/>
          </a:xfrm>
          <a:prstGeom prst="rect">
            <a:avLst/>
          </a:prstGeom>
          <a:noFill/>
        </p:spPr>
        <p:txBody>
          <a:bodyPr vert="horz" wrap="square" lIns="91440" tIns="45720" rIns="91440" bIns="45720" numCol="1" anchor="t" anchorCtr="0" compatLnSpc="1"/>
          <a:lstStyle/>
          <a:p>
            <a:endParaRPr lang="zh-CN" altLang="en-US"/>
          </a:p>
        </p:txBody>
      </p:sp>
      <p:sp>
        <p:nvSpPr>
          <p:cNvPr id="1048698" name="灯片编号占位符 5"/>
          <p:cNvSpPr txBox="1"/>
          <p:nvPr userDrawn="1"/>
        </p:nvSpPr>
        <p:spPr>
          <a:xfrm>
            <a:off x="476250" y="5297488"/>
            <a:ext cx="2133600" cy="303212"/>
          </a:xfrm>
          <a:prstGeom prst="rect">
            <a:avLst/>
          </a:prstGeom>
        </p:spPr>
        <p:txBody>
          <a:bodyPr/>
          <a:lstStyle>
            <a:lvl1pPr algn="l">
              <a:defRPr b="1">
                <a:solidFill>
                  <a:srgbClr val="C00000"/>
                </a:solidFill>
              </a:defRPr>
            </a:lvl1pPr>
          </a:lstStyle>
          <a:p>
            <a:pPr fontAlgn="auto">
              <a:spcBef>
                <a:spcPts val="0"/>
              </a:spcBef>
              <a:spcAft>
                <a:spcPts val="0"/>
              </a:spcAft>
            </a:pPr>
            <a:fld id="{32A410C9-B208-4A8D-BBA4-F9BEF18974F4}" type="slidenum">
              <a:rPr lang="zh-CN" altLang="en-US" smtClean="0">
                <a:latin typeface="+mn-lt"/>
                <a:ea typeface="+mn-ea"/>
              </a:rPr>
              <a:t>‹#›</a:t>
            </a:fld>
            <a:endParaRPr lang="zh-CN" altLang="en-US" dirty="0">
              <a:latin typeface="+mn-lt"/>
              <a:ea typeface="+mn-ea"/>
            </a:endParaRPr>
          </a:p>
        </p:txBody>
      </p:sp>
      <p:pic>
        <p:nvPicPr>
          <p:cNvPr id="2097166" name="Picture 13"/>
          <p:cNvPicPr>
            <a:picLocks noChangeAspect="1" noChangeArrowheads="1"/>
          </p:cNvPicPr>
          <p:nvPr userDrawn="1"/>
        </p:nvPicPr>
        <p:blipFill rotWithShape="1">
          <a:blip r:embed="rId3"/>
          <a:srcRect t="64384"/>
          <a:stretch>
            <a:fillRect/>
          </a:stretch>
        </p:blipFill>
        <p:spPr bwMode="auto">
          <a:xfrm>
            <a:off x="-314" y="3729"/>
            <a:ext cx="9144000" cy="1749715"/>
          </a:xfrm>
          <a:prstGeom prst="rect">
            <a:avLst/>
          </a:prstGeom>
          <a:noFill/>
          <a:ln>
            <a:noFill/>
          </a:ln>
          <a:effectLst/>
        </p:spPr>
      </p:pic>
      <p:pic>
        <p:nvPicPr>
          <p:cNvPr id="2097167" name="Picture 13"/>
          <p:cNvPicPr>
            <a:picLocks noChangeAspect="1" noChangeArrowheads="1"/>
          </p:cNvPicPr>
          <p:nvPr userDrawn="1"/>
        </p:nvPicPr>
        <p:blipFill rotWithShape="1">
          <a:blip r:embed="rId3"/>
          <a:srcRect t="64384"/>
          <a:stretch>
            <a:fillRect/>
          </a:stretch>
        </p:blipFill>
        <p:spPr bwMode="auto">
          <a:xfrm>
            <a:off x="-3645" y="3937620"/>
            <a:ext cx="9144000" cy="1777380"/>
          </a:xfrm>
          <a:prstGeom prst="rect">
            <a:avLst/>
          </a:prstGeom>
          <a:noFill/>
          <a:ln>
            <a:noFill/>
          </a:ln>
          <a:effectLst/>
        </p:spPr>
      </p:pic>
      <p:pic>
        <p:nvPicPr>
          <p:cNvPr id="34" name="Picture 13"/>
          <p:cNvPicPr>
            <a:picLocks noChangeAspect="1" noChangeArrowheads="1"/>
          </p:cNvPicPr>
          <p:nvPr userDrawn="1"/>
        </p:nvPicPr>
        <p:blipFill rotWithShape="1">
          <a:blip r:embed="rId3"/>
          <a:srcRect t="64384"/>
          <a:stretch>
            <a:fillRect/>
          </a:stretch>
        </p:blipFill>
        <p:spPr bwMode="auto">
          <a:xfrm>
            <a:off x="-3645" y="1789590"/>
            <a:ext cx="9144000" cy="2148030"/>
          </a:xfrm>
          <a:prstGeom prst="rect">
            <a:avLst/>
          </a:prstGeom>
          <a:noFill/>
          <a:ln>
            <a:noFill/>
          </a:ln>
          <a:effectLst/>
        </p:spPr>
      </p:pic>
      <p:pic>
        <p:nvPicPr>
          <p:cNvPr id="36" name="Picture 13"/>
          <p:cNvPicPr>
            <a:picLocks noChangeAspect="1" noChangeArrowheads="1"/>
          </p:cNvPicPr>
          <p:nvPr userDrawn="1"/>
        </p:nvPicPr>
        <p:blipFill rotWithShape="1">
          <a:blip r:embed="rId3"/>
          <a:srcRect t="64384"/>
          <a:stretch>
            <a:fillRect/>
          </a:stretch>
        </p:blipFill>
        <p:spPr bwMode="auto">
          <a:xfrm>
            <a:off x="-3645" y="603729"/>
            <a:ext cx="9144000" cy="1749715"/>
          </a:xfrm>
          <a:prstGeom prst="rect">
            <a:avLst/>
          </a:prstGeom>
          <a:noFill/>
          <a:ln>
            <a:noFill/>
          </a:ln>
          <a:effectLst/>
        </p:spPr>
      </p:pic>
      <p:grpSp>
        <p:nvGrpSpPr>
          <p:cNvPr id="50" name="组合 38"/>
          <p:cNvGrpSpPr/>
          <p:nvPr userDrawn="1"/>
        </p:nvGrpSpPr>
        <p:grpSpPr>
          <a:xfrm>
            <a:off x="-2193" y="4081636"/>
            <a:ext cx="9144233" cy="360040"/>
            <a:chOff x="-2193" y="3579862"/>
            <a:chExt cx="9144233" cy="360040"/>
          </a:xfrm>
        </p:grpSpPr>
        <p:graphicFrame>
          <p:nvGraphicFramePr>
            <p:cNvPr id="51" name="对象 39"/>
            <p:cNvGraphicFramePr>
              <a:graphicFrameLocks noChangeAspect="1"/>
            </p:cNvGraphicFramePr>
            <p:nvPr/>
          </p:nvGraphicFramePr>
          <p:xfrm>
            <a:off x="-2193" y="3579862"/>
            <a:ext cx="9144000" cy="295275"/>
          </p:xfrm>
          <a:graphic>
            <a:graphicData uri="http://schemas.openxmlformats.org/presentationml/2006/ole">
              <mc:AlternateContent xmlns:mc="http://schemas.openxmlformats.org/markup-compatibility/2006">
                <mc:Choice xmlns:v="urn:schemas-microsoft-com:vml" Requires="v">
                  <p:oleObj spid="_x0000_s5941871" name="Image" r:id="rId4" imgW="7553325" imgH="704850" progId="">
                    <p:embed/>
                  </p:oleObj>
                </mc:Choice>
                <mc:Fallback>
                  <p:oleObj name="Image" r:id="rId4" imgW="7553325" imgH="704850" progId="">
                    <p:embed/>
                    <p:pic>
                      <p:nvPicPr>
                        <p:cNvPr id="0" name="图片 5941732"/>
                        <p:cNvPicPr>
                          <a:picLocks noChangeAspect="1" noChangeArrowheads="1"/>
                        </p:cNvPicPr>
                        <p:nvPr/>
                      </p:nvPicPr>
                      <p:blipFill>
                        <a:blip r:embed="rId5"/>
                        <a:srcRect t="16559" r="903"/>
                        <a:stretch>
                          <a:fillRect/>
                        </a:stretch>
                      </p:blipFill>
                      <p:spPr bwMode="auto">
                        <a:xfrm>
                          <a:off x="-2193" y="3579862"/>
                          <a:ext cx="9144000" cy="295275"/>
                        </a:xfrm>
                        <a:prstGeom prst="rect">
                          <a:avLst/>
                        </a:prstGeom>
                        <a:noFill/>
                        <a:ln>
                          <a:noFill/>
                        </a:ln>
                        <a:effectLst/>
                      </p:spPr>
                    </p:pic>
                  </p:oleObj>
                </mc:Fallback>
              </mc:AlternateContent>
            </a:graphicData>
          </a:graphic>
        </p:graphicFrame>
        <p:pic>
          <p:nvPicPr>
            <p:cNvPr id="52" name="Picture 5"/>
            <p:cNvPicPr>
              <a:picLocks noChangeAspect="1" noChangeArrowheads="1"/>
            </p:cNvPicPr>
            <p:nvPr/>
          </p:nvPicPr>
          <p:blipFill rotWithShape="1">
            <a:blip r:embed="rId6"/>
            <a:srcRect t="87967"/>
            <a:stretch>
              <a:fillRect/>
            </a:stretch>
          </p:blipFill>
          <p:spPr bwMode="auto">
            <a:xfrm>
              <a:off x="-1960" y="3816424"/>
              <a:ext cx="9144000" cy="123478"/>
            </a:xfrm>
            <a:prstGeom prst="rect">
              <a:avLst/>
            </a:prstGeom>
            <a:noFill/>
            <a:ln>
              <a:noFill/>
            </a:ln>
            <a:effectLst/>
          </p:spPr>
        </p:pic>
      </p:grpSp>
      <p:sp>
        <p:nvSpPr>
          <p:cNvPr id="53" name="TextBox 51"/>
          <p:cNvSpPr txBox="1"/>
          <p:nvPr userDrawn="1"/>
        </p:nvSpPr>
        <p:spPr>
          <a:xfrm>
            <a:off x="2163278" y="4584113"/>
            <a:ext cx="4916731" cy="584775"/>
          </a:xfrm>
          <a:prstGeom prst="rect">
            <a:avLst/>
          </a:prstGeom>
          <a:noFill/>
        </p:spPr>
        <p:txBody>
          <a:bodyPr wrap="none" rtlCol="0">
            <a:spAutoFit/>
          </a:bodyPr>
          <a:lstStyle/>
          <a:p>
            <a:pPr algn="r"/>
            <a:r>
              <a:rPr lang="zh-CN" altLang="en-US" sz="3200" b="1" dirty="0" smtClean="0">
                <a:solidFill>
                  <a:srgbClr val="0070C0"/>
                </a:solidFill>
                <a:effectLst>
                  <a:outerShdw blurRad="38100" dist="38100" dir="2700000" algn="tl">
                    <a:srgbClr val="000000">
                      <a:alpha val="43137"/>
                    </a:srgbClr>
                  </a:outerShdw>
                </a:effectLst>
                <a:latin typeface="微软雅黑" panose="020B0503020204020204" charset="-122"/>
                <a:ea typeface="微软雅黑" panose="020B0503020204020204" charset="-122"/>
              </a:rPr>
              <a:t>第</a:t>
            </a:r>
            <a:r>
              <a:rPr lang="en-US" altLang="zh-CN" sz="3200" b="1" dirty="0" smtClean="0">
                <a:solidFill>
                  <a:srgbClr val="0070C0"/>
                </a:solidFill>
                <a:effectLst>
                  <a:outerShdw blurRad="38100" dist="38100" dir="2700000" algn="tl">
                    <a:srgbClr val="000000">
                      <a:alpha val="43137"/>
                    </a:srgbClr>
                  </a:outerShdw>
                </a:effectLst>
                <a:latin typeface="微软雅黑" panose="020B0503020204020204" charset="-122"/>
                <a:ea typeface="微软雅黑" panose="020B0503020204020204" charset="-122"/>
              </a:rPr>
              <a:t>03</a:t>
            </a:r>
            <a:r>
              <a:rPr lang="zh-CN" altLang="en-US" sz="3200" b="1" dirty="0" smtClean="0">
                <a:solidFill>
                  <a:srgbClr val="0070C0"/>
                </a:solidFill>
                <a:effectLst>
                  <a:outerShdw blurRad="38100" dist="38100" dir="2700000" algn="tl">
                    <a:srgbClr val="000000">
                      <a:alpha val="43137"/>
                    </a:srgbClr>
                  </a:outerShdw>
                </a:effectLst>
                <a:latin typeface="微软雅黑" panose="020B0503020204020204" charset="-122"/>
                <a:ea typeface="微软雅黑" panose="020B0503020204020204" charset="-122"/>
              </a:rPr>
              <a:t>章 摩擦学设计与应用</a:t>
            </a:r>
            <a:endParaRPr lang="zh-CN" altLang="en-US" sz="3200" b="1" dirty="0">
              <a:solidFill>
                <a:srgbClr val="0070C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pic>
        <p:nvPicPr>
          <p:cNvPr id="30" name="Picture 10" descr="http://img2.imgtn.bdimg.com/it/u=3154056593,3020314375&amp;fm=21&amp;gp=0.jpg"/>
          <p:cNvPicPr>
            <a:picLocks noChangeArrowheads="1"/>
          </p:cNvPicPr>
          <p:nvPr userDrawn="1"/>
        </p:nvPicPr>
        <p:blipFill rotWithShape="1">
          <a:blip r:embed="rId7" cstate="print"/>
          <a:srcRect l="6362" r="14516"/>
          <a:stretch>
            <a:fillRect/>
          </a:stretch>
        </p:blipFill>
        <p:spPr bwMode="auto">
          <a:xfrm>
            <a:off x="3895358" y="944654"/>
            <a:ext cx="1288800" cy="864096"/>
          </a:xfrm>
          <a:prstGeom prst="rect">
            <a:avLst/>
          </a:prstGeom>
          <a:noFill/>
        </p:spPr>
      </p:pic>
      <p:sp>
        <p:nvSpPr>
          <p:cNvPr id="31" name="矩形 42"/>
          <p:cNvSpPr/>
          <p:nvPr userDrawn="1"/>
        </p:nvSpPr>
        <p:spPr>
          <a:xfrm>
            <a:off x="-3645" y="944654"/>
            <a:ext cx="3004121" cy="864096"/>
          </a:xfrm>
          <a:prstGeom prst="rect">
            <a:avLst/>
          </a:prstGeom>
          <a:solidFill>
            <a:srgbClr val="1F497D">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2" name="矩形 43"/>
          <p:cNvSpPr/>
          <p:nvPr userDrawn="1"/>
        </p:nvSpPr>
        <p:spPr>
          <a:xfrm>
            <a:off x="3000477" y="944654"/>
            <a:ext cx="851444" cy="864096"/>
          </a:xfrm>
          <a:prstGeom prst="rect">
            <a:avLst/>
          </a:prstGeom>
          <a:solidFill>
            <a:srgbClr val="92D05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3" name="矩形 44"/>
          <p:cNvSpPr/>
          <p:nvPr userDrawn="1"/>
        </p:nvSpPr>
        <p:spPr>
          <a:xfrm>
            <a:off x="8134040" y="942295"/>
            <a:ext cx="1008000" cy="864096"/>
          </a:xfrm>
          <a:prstGeom prst="rect">
            <a:avLst/>
          </a:prstGeom>
          <a:solidFill>
            <a:srgbClr val="F79646">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5" name="矩形 45"/>
          <p:cNvSpPr/>
          <p:nvPr userDrawn="1"/>
        </p:nvSpPr>
        <p:spPr>
          <a:xfrm>
            <a:off x="35496" y="1088670"/>
            <a:ext cx="324000" cy="324000"/>
          </a:xfrm>
          <a:prstGeom prst="rect">
            <a:avLst/>
          </a:prstGeom>
          <a:solidFill>
            <a:srgbClr val="1F497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4" name="矩形 46"/>
          <p:cNvSpPr/>
          <p:nvPr userDrawn="1"/>
        </p:nvSpPr>
        <p:spPr>
          <a:xfrm>
            <a:off x="683568" y="193204"/>
            <a:ext cx="432048" cy="324000"/>
          </a:xfrm>
          <a:prstGeom prst="rect">
            <a:avLst/>
          </a:prstGeom>
          <a:solidFill>
            <a:srgbClr val="1F497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5" name="矩形 47"/>
          <p:cNvSpPr/>
          <p:nvPr userDrawn="1"/>
        </p:nvSpPr>
        <p:spPr>
          <a:xfrm>
            <a:off x="1115616" y="512584"/>
            <a:ext cx="864096" cy="733412"/>
          </a:xfrm>
          <a:prstGeom prst="rect">
            <a:avLst/>
          </a:prstGeom>
          <a:solidFill>
            <a:srgbClr val="1F497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6" name="TextBox 48"/>
          <p:cNvSpPr txBox="1"/>
          <p:nvPr userDrawn="1"/>
        </p:nvSpPr>
        <p:spPr>
          <a:xfrm>
            <a:off x="467544" y="1269561"/>
            <a:ext cx="2926080" cy="320041"/>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pPr>
            <a:r>
              <a:rPr kumimoji="0" lang="en-US" altLang="zh-CN" sz="15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rPr>
              <a:t>Southwest Jiaotong University</a:t>
            </a:r>
            <a:endParaRPr kumimoji="0" lang="zh-CN" altLang="en-US" sz="1500" b="0" i="0" u="none" strike="noStrike" kern="0" cap="none" spc="0" normalizeH="0" baseline="0" noProof="0" dirty="0">
              <a:ln>
                <a:noFill/>
              </a:ln>
              <a:solidFill>
                <a:sysClr val="window" lastClr="FFFFFF"/>
              </a:solidFill>
              <a:effectLst>
                <a:outerShdw blurRad="38100" dist="38100" dir="2700000" algn="tl">
                  <a:srgbClr val="000000">
                    <a:alpha val="43137"/>
                  </a:srgbClr>
                </a:outerShdw>
              </a:effectLst>
              <a:uLnTx/>
              <a:uFillTx/>
            </a:endParaRPr>
          </a:p>
        </p:txBody>
      </p:sp>
      <p:pic>
        <p:nvPicPr>
          <p:cNvPr id="57" name="Picture 20" descr="http://www.huanbohainews.com.cn/pic/0/11/39/70/11397032_991616.jpg"/>
          <p:cNvPicPr>
            <a:picLocks noChangeAspect="1" noChangeArrowheads="1"/>
          </p:cNvPicPr>
          <p:nvPr userDrawn="1"/>
        </p:nvPicPr>
        <p:blipFill rotWithShape="1">
          <a:blip r:embed="rId8" cstate="print"/>
          <a:srcRect b="10406"/>
          <a:stretch>
            <a:fillRect/>
          </a:stretch>
        </p:blipFill>
        <p:spPr bwMode="auto">
          <a:xfrm>
            <a:off x="5203995" y="944654"/>
            <a:ext cx="952181" cy="864096"/>
          </a:xfrm>
          <a:prstGeom prst="rect">
            <a:avLst/>
          </a:prstGeom>
          <a:noFill/>
        </p:spPr>
      </p:pic>
      <p:pic>
        <p:nvPicPr>
          <p:cNvPr id="58" name="Picture 24" descr="http://imgbdb3.bendibao.com/bjbdb/20153/24/2015324113029237.jpg"/>
          <p:cNvPicPr>
            <a:picLocks noChangeArrowheads="1"/>
          </p:cNvPicPr>
          <p:nvPr userDrawn="1"/>
        </p:nvPicPr>
        <p:blipFill rotWithShape="1">
          <a:blip r:embed="rId9" cstate="print"/>
          <a:srcRect t="16191" b="16189"/>
          <a:stretch>
            <a:fillRect/>
          </a:stretch>
        </p:blipFill>
        <p:spPr bwMode="auto">
          <a:xfrm>
            <a:off x="6180594" y="944654"/>
            <a:ext cx="1926000" cy="861737"/>
          </a:xfrm>
          <a:prstGeom prst="rect">
            <a:avLst/>
          </a:prstGeom>
          <a:noFill/>
        </p:spPr>
      </p:pic>
      <p:pic>
        <p:nvPicPr>
          <p:cNvPr id="60" name="Picture 11"/>
          <p:cNvPicPr>
            <a:picLocks noChangeAspect="1" noChangeArrowheads="1"/>
          </p:cNvPicPr>
          <p:nvPr userDrawn="1"/>
        </p:nvPicPr>
        <p:blipFill rotWithShape="1">
          <a:blip r:embed="rId3"/>
          <a:srcRect l="5181" t="50052" r="85029" b="35397"/>
          <a:stretch>
            <a:fillRect/>
          </a:stretch>
        </p:blipFill>
        <p:spPr bwMode="auto">
          <a:xfrm>
            <a:off x="359496" y="2256392"/>
            <a:ext cx="1203592" cy="961148"/>
          </a:xfrm>
          <a:prstGeom prst="rect">
            <a:avLst/>
          </a:prstGeom>
          <a:noFill/>
          <a:ln>
            <a:noFill/>
          </a:ln>
          <a:effectLst/>
        </p:spPr>
      </p:pic>
      <p:sp>
        <p:nvSpPr>
          <p:cNvPr id="61" name="WordArt 7"/>
          <p:cNvSpPr>
            <a:spLocks noChangeArrowheads="1" noChangeShapeType="1" noTextEdit="1"/>
          </p:cNvSpPr>
          <p:nvPr userDrawn="1"/>
        </p:nvSpPr>
        <p:spPr bwMode="auto">
          <a:xfrm>
            <a:off x="2983309" y="3165435"/>
            <a:ext cx="3276678" cy="492125"/>
          </a:xfrm>
          <a:prstGeom prst="rect">
            <a:avLst/>
          </a:prstGeom>
        </p:spPr>
        <p:txBody>
          <a:bodyPr wrap="none" numCol="1" fromWordArt="1">
            <a:prstTxWarp prst="textPlain">
              <a:avLst>
                <a:gd name="adj" fmla="val 50014"/>
              </a:avLst>
            </a:prstTxWarp>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3600" b="1" kern="10" dirty="0" smtClean="0">
                <a:ln w="9525">
                  <a:noFill/>
                  <a:round/>
                </a:ln>
                <a:solidFill>
                  <a:srgbClr val="0066CC"/>
                </a:solidFill>
                <a:effectLst>
                  <a:outerShdw blurRad="38100" dist="38100" dir="2700000" algn="tl">
                    <a:srgbClr val="000000">
                      <a:alpha val="43137"/>
                    </a:srgbClr>
                  </a:outerShdw>
                </a:effectLst>
                <a:latin typeface="Arial" panose="020B0604020202020204"/>
                <a:cs typeface="Arial" panose="020B0604020202020204"/>
              </a:rPr>
              <a:t>Mechanical Design</a:t>
            </a:r>
            <a:endParaRPr lang="zh-CN" altLang="en-US" sz="3600" b="1" kern="10" dirty="0">
              <a:ln w="9525">
                <a:noFill/>
                <a:round/>
              </a:ln>
              <a:solidFill>
                <a:srgbClr val="0066CC"/>
              </a:solidFill>
              <a:effectLst>
                <a:outerShdw blurRad="38100" dist="38100" dir="2700000" algn="tl">
                  <a:srgbClr val="000000">
                    <a:alpha val="43137"/>
                  </a:srgbClr>
                </a:outerShdw>
              </a:effectLst>
              <a:latin typeface="Arial" panose="020B0604020202020204"/>
              <a:cs typeface="Arial" panose="020B0604020202020204"/>
            </a:endParaRPr>
          </a:p>
        </p:txBody>
      </p:sp>
      <p:sp>
        <p:nvSpPr>
          <p:cNvPr id="59" name="TextBox 53"/>
          <p:cNvSpPr txBox="1"/>
          <p:nvPr userDrawn="1"/>
        </p:nvSpPr>
        <p:spPr>
          <a:xfrm>
            <a:off x="1643906" y="2177053"/>
            <a:ext cx="5955477" cy="784830"/>
          </a:xfrm>
          <a:prstGeom prst="rect">
            <a:avLst/>
          </a:prstGeom>
          <a:noFill/>
        </p:spPr>
        <p:txBody>
          <a:bodyPr wrap="none" rtlCol="0">
            <a:spAutoFit/>
          </a:bodyPr>
          <a:lstStyle/>
          <a:p>
            <a:pPr algn="ctr"/>
            <a:r>
              <a:rPr lang="zh-CN" altLang="en-US" sz="4500" b="1" dirty="0" smtClean="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机械设计线下授课讲稿</a:t>
            </a:r>
            <a:endParaRPr lang="zh-CN" altLang="en-US" sz="4500" b="1"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graphicFrame>
        <p:nvGraphicFramePr>
          <p:cNvPr id="4194304" name="Object 9"/>
          <p:cNvGraphicFramePr>
            <a:graphicFrameLocks noChangeAspect="1"/>
          </p:cNvGraphicFramePr>
          <p:nvPr/>
        </p:nvGraphicFramePr>
        <p:xfrm>
          <a:off x="0" y="120650"/>
          <a:ext cx="9144000" cy="295276"/>
        </p:xfrm>
        <a:graphic>
          <a:graphicData uri="http://schemas.openxmlformats.org/presentationml/2006/ole">
            <mc:AlternateContent xmlns:mc="http://schemas.openxmlformats.org/markup-compatibility/2006">
              <mc:Choice xmlns:v="urn:schemas-microsoft-com:vml" Requires="v">
                <p:oleObj spid="_x0000_s5942888" name="Image" r:id="rId3" imgW="7553325" imgH="704850" progId="">
                  <p:embed/>
                </p:oleObj>
              </mc:Choice>
              <mc:Fallback>
                <p:oleObj name="Image" r:id="rId3" imgW="7553325" imgH="704850" progId="">
                  <p:embed/>
                  <p:pic>
                    <p:nvPicPr>
                      <p:cNvPr id="0" name="Object 9"/>
                      <p:cNvPicPr>
                        <a:picLocks noChangeAspect="1" noChangeArrowheads="1"/>
                      </p:cNvPicPr>
                      <p:nvPr/>
                    </p:nvPicPr>
                    <p:blipFill>
                      <a:blip r:embed="rId4"/>
                      <a:srcRect t="16559" r="903"/>
                      <a:stretch>
                        <a:fillRect/>
                      </a:stretch>
                    </p:blipFill>
                    <p:spPr bwMode="auto">
                      <a:xfrm>
                        <a:off x="0" y="120650"/>
                        <a:ext cx="9144000" cy="295276"/>
                      </a:xfrm>
                      <a:prstGeom prst="rect">
                        <a:avLst/>
                      </a:prstGeom>
                      <a:noFill/>
                      <a:ln>
                        <a:noFill/>
                      </a:ln>
                      <a:effectLst/>
                    </p:spPr>
                  </p:pic>
                </p:oleObj>
              </mc:Fallback>
            </mc:AlternateContent>
          </a:graphicData>
        </a:graphic>
      </p:graphicFrame>
      <p:sp>
        <p:nvSpPr>
          <p:cNvPr id="1048586" name="灯片编号占位符 5"/>
          <p:cNvSpPr txBox="1"/>
          <p:nvPr/>
        </p:nvSpPr>
        <p:spPr>
          <a:xfrm>
            <a:off x="107952" y="49214"/>
            <a:ext cx="2087563" cy="303212"/>
          </a:xfrm>
          <a:prstGeom prst="rect">
            <a:avLst/>
          </a:prstGeom>
        </p:spPr>
        <p:txBody>
          <a:bodyPr/>
          <a:lstStyle>
            <a:lvl1pPr algn="l">
              <a:defRPr b="1">
                <a:solidFill>
                  <a:srgbClr val="C00000"/>
                </a:solidFill>
              </a:defRPr>
            </a:lvl1pPr>
          </a:lstStyle>
          <a:p>
            <a:pPr fontAlgn="auto">
              <a:spcBef>
                <a:spcPts val="0"/>
              </a:spcBef>
              <a:spcAft>
                <a:spcPts val="0"/>
              </a:spcAft>
            </a:pPr>
            <a:fld id="{2D278751-D899-4D39-AACB-C7527FDC3B9A}" type="slidenum">
              <a:rPr lang="zh-CN" altLang="en-US" smtClean="0">
                <a:latin typeface="+mn-lt"/>
                <a:ea typeface="+mn-ea"/>
              </a:rPr>
              <a:t>‹#›</a:t>
            </a:fld>
            <a:endParaRPr lang="zh-CN" altLang="en-US" dirty="0">
              <a:latin typeface="+mn-lt"/>
              <a:ea typeface="+mn-ea"/>
            </a:endParaRPr>
          </a:p>
        </p:txBody>
      </p:sp>
      <p:sp>
        <p:nvSpPr>
          <p:cNvPr id="1048587" name="标题 1"/>
          <p:cNvSpPr>
            <a:spLocks noGrp="1"/>
          </p:cNvSpPr>
          <p:nvPr>
            <p:ph type="title"/>
          </p:nvPr>
        </p:nvSpPr>
        <p:spPr>
          <a:xfrm>
            <a:off x="457200" y="546099"/>
            <a:ext cx="8229600" cy="635266"/>
          </a:xfrm>
        </p:spPr>
        <p:txBody>
          <a:bodyPr>
            <a:normAutofit/>
          </a:bodyPr>
          <a:lstStyle>
            <a:lvl1pPr algn="l">
              <a:defRPr sz="3200" b="1"/>
            </a:lvl1pPr>
          </a:lstStyle>
          <a:p>
            <a:r>
              <a:rPr lang="zh-CN" altLang="en-US" dirty="0" smtClean="0"/>
              <a:t>单击此处编辑母版标题样式</a:t>
            </a:r>
            <a:endParaRPr lang="zh-CN" altLang="en-US" dirty="0"/>
          </a:p>
        </p:txBody>
      </p:sp>
      <p:sp>
        <p:nvSpPr>
          <p:cNvPr id="1048588" name="内容占位符 2"/>
          <p:cNvSpPr>
            <a:spLocks noGrp="1"/>
          </p:cNvSpPr>
          <p:nvPr>
            <p:ph idx="1"/>
          </p:nvPr>
        </p:nvSpPr>
        <p:spPr>
          <a:xfrm>
            <a:off x="457200" y="1333500"/>
            <a:ext cx="8229600" cy="3771636"/>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1048589" name="页脚占位符 3"/>
          <p:cNvSpPr>
            <a:spLocks noGrp="1"/>
          </p:cNvSpPr>
          <p:nvPr>
            <p:ph type="ftr" sz="quarter" idx="10"/>
          </p:nvPr>
        </p:nvSpPr>
        <p:spPr/>
        <p:txBody>
          <a:bodyPr/>
          <a:lstStyle/>
          <a:p>
            <a:endParaRPr lang="zh-CN" altLang="en-US"/>
          </a:p>
        </p:txBody>
      </p:sp>
      <p:sp>
        <p:nvSpPr>
          <p:cNvPr id="1048590" name="灯片编号占位符 5"/>
          <p:cNvSpPr>
            <a:spLocks noGrp="1"/>
          </p:cNvSpPr>
          <p:nvPr>
            <p:ph type="sldNum" sz="quarter" idx="11"/>
          </p:nvPr>
        </p:nvSpPr>
        <p:spPr>
          <a:xfrm>
            <a:off x="709613" y="5297488"/>
            <a:ext cx="2133600" cy="303212"/>
          </a:xfrm>
        </p:spPr>
        <p:txBody>
          <a:bodyPr/>
          <a:lstStyle>
            <a:lvl1pPr algn="l">
              <a:defRPr b="1">
                <a:solidFill>
                  <a:srgbClr val="C00000"/>
                </a:solidFill>
              </a:defRPr>
            </a:lvl1pPr>
          </a:lstStyle>
          <a:p>
            <a:fld id="{C13746F3-A129-4F8B-BCBD-7CEBD612C3F9}" type="slidenum">
              <a:rPr lang="zh-CN" altLang="en-US"/>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2097711" name="图片 5" descr="background1.jpg"/>
          <p:cNvPicPr>
            <a:picLocks noChangeAspect="1"/>
          </p:cNvPicPr>
          <p:nvPr userDrawn="1"/>
        </p:nvPicPr>
        <p:blipFill>
          <a:blip r:embed="rId2"/>
          <a:srcRect/>
          <a:stretch>
            <a:fillRect/>
          </a:stretch>
        </p:blipFill>
        <p:spPr bwMode="auto">
          <a:xfrm>
            <a:off x="0" y="0"/>
            <a:ext cx="9144000" cy="5715000"/>
          </a:xfrm>
          <a:prstGeom prst="rect">
            <a:avLst/>
          </a:prstGeom>
          <a:noFill/>
          <a:ln w="9525">
            <a:noFill/>
            <a:miter lim="800000"/>
            <a:headEnd/>
            <a:tailEnd/>
          </a:ln>
        </p:spPr>
      </p:pic>
      <p:sp>
        <p:nvSpPr>
          <p:cNvPr id="1054338" name="标题 1"/>
          <p:cNvSpPr>
            <a:spLocks noGrp="1"/>
          </p:cNvSpPr>
          <p:nvPr>
            <p:ph type="title"/>
          </p:nvPr>
        </p:nvSpPr>
        <p:spPr>
          <a:xfrm>
            <a:off x="457200" y="546099"/>
            <a:ext cx="8229600" cy="635266"/>
          </a:xfrm>
        </p:spPr>
        <p:txBody>
          <a:bodyPr>
            <a:normAutofit/>
          </a:bodyPr>
          <a:lstStyle>
            <a:lvl1pPr algn="l">
              <a:defRPr sz="3200" b="1"/>
            </a:lvl1pPr>
          </a:lstStyle>
          <a:p>
            <a:r>
              <a:rPr lang="zh-CN" altLang="en-US" dirty="0" smtClean="0"/>
              <a:t>单击此处编辑母版标题样式</a:t>
            </a:r>
            <a:endParaRPr lang="zh-CN" altLang="en-US" dirty="0"/>
          </a:p>
        </p:txBody>
      </p:sp>
      <p:sp>
        <p:nvSpPr>
          <p:cNvPr id="1054339" name="内容占位符 2"/>
          <p:cNvSpPr>
            <a:spLocks noGrp="1"/>
          </p:cNvSpPr>
          <p:nvPr>
            <p:ph idx="1"/>
          </p:nvPr>
        </p:nvSpPr>
        <p:spPr>
          <a:xfrm>
            <a:off x="457200" y="1333500"/>
            <a:ext cx="8229600" cy="3771636"/>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097176" name="Picture 4" descr="Header WM"/>
          <p:cNvPicPr>
            <a:picLocks noChangeAspect="1" noChangeArrowheads="1"/>
          </p:cNvPicPr>
          <p:nvPr userDrawn="1"/>
        </p:nvPicPr>
        <p:blipFill>
          <a:blip r:embed="rId2"/>
          <a:srcRect/>
          <a:stretch>
            <a:fillRect/>
          </a:stretch>
        </p:blipFill>
        <p:spPr bwMode="auto">
          <a:xfrm>
            <a:off x="0" y="0"/>
            <a:ext cx="9144000" cy="5715000"/>
          </a:xfrm>
          <a:prstGeom prst="rect">
            <a:avLst/>
          </a:prstGeom>
          <a:noFill/>
          <a:ln w="9525">
            <a:noFill/>
            <a:miter lim="800000"/>
            <a:headEnd/>
            <a:tailEnd/>
          </a:ln>
        </p:spPr>
      </p:pic>
      <p:sp>
        <p:nvSpPr>
          <p:cNvPr id="1048712" name="灯片编号占位符 5"/>
          <p:cNvSpPr txBox="1"/>
          <p:nvPr userDrawn="1"/>
        </p:nvSpPr>
        <p:spPr>
          <a:xfrm>
            <a:off x="107952" y="49214"/>
            <a:ext cx="2087563" cy="303212"/>
          </a:xfrm>
          <a:prstGeom prst="rect">
            <a:avLst/>
          </a:prstGeom>
        </p:spPr>
        <p:txBody>
          <a:bodyPr/>
          <a:lstStyle>
            <a:lvl1pPr algn="l">
              <a:defRPr b="1">
                <a:solidFill>
                  <a:srgbClr val="C00000"/>
                </a:solidFill>
              </a:defRPr>
            </a:lvl1pPr>
          </a:lstStyle>
          <a:p>
            <a:pPr fontAlgn="auto">
              <a:spcBef>
                <a:spcPts val="0"/>
              </a:spcBef>
              <a:spcAft>
                <a:spcPts val="0"/>
              </a:spcAft>
            </a:pPr>
            <a:fld id="{FA746368-22F2-4CE1-BBDB-79170F838213}" type="slidenum">
              <a:rPr lang="zh-CN" altLang="en-US" smtClean="0">
                <a:latin typeface="+mn-lt"/>
                <a:ea typeface="+mn-ea"/>
              </a:rPr>
              <a:t>‹#›</a:t>
            </a:fld>
            <a:endParaRPr lang="zh-CN" altLang="en-US" dirty="0">
              <a:latin typeface="+mn-lt"/>
              <a:ea typeface="+mn-ea"/>
            </a:endParaRPr>
          </a:p>
        </p:txBody>
      </p:sp>
      <p:sp>
        <p:nvSpPr>
          <p:cNvPr id="1048713" name="标题 1"/>
          <p:cNvSpPr>
            <a:spLocks noGrp="1"/>
          </p:cNvSpPr>
          <p:nvPr>
            <p:ph type="title"/>
          </p:nvPr>
        </p:nvSpPr>
        <p:spPr>
          <a:xfrm>
            <a:off x="457200" y="0"/>
            <a:ext cx="8229600" cy="723900"/>
          </a:xfrm>
        </p:spPr>
        <p:txBody>
          <a:bodyPr>
            <a:normAutofit/>
          </a:bodyPr>
          <a:lstStyle>
            <a:lvl1pPr algn="l">
              <a:defRPr sz="3200" b="1"/>
            </a:lvl1pPr>
          </a:lstStyle>
          <a:p>
            <a:r>
              <a:rPr lang="zh-CN" altLang="en-US" smtClean="0"/>
              <a:t>单击此处编辑母版标题样式</a:t>
            </a:r>
            <a:endParaRPr lang="zh-CN" altLang="en-US"/>
          </a:p>
        </p:txBody>
      </p:sp>
      <p:sp>
        <p:nvSpPr>
          <p:cNvPr id="1048714" name="页脚占位符 3"/>
          <p:cNvSpPr>
            <a:spLocks noGrp="1"/>
          </p:cNvSpPr>
          <p:nvPr>
            <p:ph type="ftr" sz="quarter" idx="10"/>
          </p:nvPr>
        </p:nvSpPr>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54304" name="标题 1"/>
          <p:cNvSpPr>
            <a:spLocks noGrp="1"/>
          </p:cNvSpPr>
          <p:nvPr>
            <p:ph type="title"/>
          </p:nvPr>
        </p:nvSpPr>
        <p:spPr>
          <a:xfrm>
            <a:off x="722313" y="3672419"/>
            <a:ext cx="7772400" cy="1135063"/>
          </a:xfrm>
        </p:spPr>
        <p:txBody>
          <a:bodyPr anchor="t"/>
          <a:lstStyle>
            <a:lvl1pPr algn="l">
              <a:defRPr sz="4000" b="1" cap="all"/>
            </a:lvl1pPr>
          </a:lstStyle>
          <a:p>
            <a:r>
              <a:rPr lang="zh-CN" altLang="en-US" smtClean="0"/>
              <a:t>单击此处编辑母版标题样式</a:t>
            </a:r>
            <a:endParaRPr lang="zh-CN" altLang="en-US"/>
          </a:p>
        </p:txBody>
      </p:sp>
      <p:sp>
        <p:nvSpPr>
          <p:cNvPr id="1054305"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1054306" name="页脚占位符 4"/>
          <p:cNvSpPr>
            <a:spLocks noGrp="1"/>
          </p:cNvSpPr>
          <p:nvPr>
            <p:ph type="ftr" sz="quarter" idx="10"/>
          </p:nvPr>
        </p:nvSpPr>
        <p:spPr/>
        <p:txBody>
          <a:bodyPr/>
          <a:lstStyle/>
          <a:p>
            <a:endParaRPr lang="zh-CN" altLang="en-US"/>
          </a:p>
        </p:txBody>
      </p:sp>
      <p:sp>
        <p:nvSpPr>
          <p:cNvPr id="1054307" name="灯片编号占位符 5"/>
          <p:cNvSpPr>
            <a:spLocks noGrp="1"/>
          </p:cNvSpPr>
          <p:nvPr>
            <p:ph type="sldNum" sz="quarter" idx="11"/>
          </p:nvPr>
        </p:nvSpPr>
        <p:spPr/>
        <p:txBody>
          <a:bodyPr/>
          <a:lstStyle/>
          <a:p>
            <a:fld id="{B64DA930-E1DC-4141-85F8-C700ADDEBB84}"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54308" name="标题 1"/>
          <p:cNvSpPr>
            <a:spLocks noGrp="1"/>
          </p:cNvSpPr>
          <p:nvPr>
            <p:ph type="title"/>
          </p:nvPr>
        </p:nvSpPr>
        <p:spPr/>
        <p:txBody>
          <a:bodyPr/>
          <a:lstStyle/>
          <a:p>
            <a:r>
              <a:rPr lang="zh-CN" altLang="en-US" smtClean="0"/>
              <a:t>单击此处编辑母版标题样式</a:t>
            </a:r>
            <a:endParaRPr lang="zh-CN" altLang="en-US"/>
          </a:p>
        </p:txBody>
      </p:sp>
      <p:sp>
        <p:nvSpPr>
          <p:cNvPr id="1054309" name="内容占位符 2"/>
          <p:cNvSpPr>
            <a:spLocks noGrp="1"/>
          </p:cNvSpPr>
          <p:nvPr>
            <p:ph sz="half" idx="1"/>
          </p:nvPr>
        </p:nvSpPr>
        <p:spPr>
          <a:xfrm>
            <a:off x="457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10" name="内容占位符 3"/>
          <p:cNvSpPr>
            <a:spLocks noGrp="1"/>
          </p:cNvSpPr>
          <p:nvPr>
            <p:ph sz="half" idx="2"/>
          </p:nvPr>
        </p:nvSpPr>
        <p:spPr>
          <a:xfrm>
            <a:off x="4648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11" name="日期占位符 4"/>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78C5DC5A-2331-4171-8002-1B0A299176E0}" type="datetimeFigureOut">
              <a:rPr lang="zh-CN" altLang="en-US"/>
              <a:t>2024-09-14</a:t>
            </a:fld>
            <a:endParaRPr lang="zh-CN" altLang="en-US"/>
          </a:p>
        </p:txBody>
      </p:sp>
      <p:sp>
        <p:nvSpPr>
          <p:cNvPr id="1054312" name="页脚占位符 5"/>
          <p:cNvSpPr>
            <a:spLocks noGrp="1"/>
          </p:cNvSpPr>
          <p:nvPr>
            <p:ph type="ftr" sz="quarter" idx="11"/>
          </p:nvPr>
        </p:nvSpPr>
        <p:spPr/>
        <p:txBody>
          <a:bodyPr/>
          <a:lstStyle/>
          <a:p>
            <a:endParaRPr lang="zh-CN" altLang="en-US"/>
          </a:p>
        </p:txBody>
      </p:sp>
      <p:sp>
        <p:nvSpPr>
          <p:cNvPr id="1054313" name="灯片编号占位符 6"/>
          <p:cNvSpPr>
            <a:spLocks noGrp="1"/>
          </p:cNvSpPr>
          <p:nvPr>
            <p:ph type="sldNum" sz="quarter" idx="12"/>
          </p:nvPr>
        </p:nvSpPr>
        <p:spPr/>
        <p:txBody>
          <a:bodyPr/>
          <a:lstStyle/>
          <a:p>
            <a:fld id="{119FF386-9097-438A-824F-981E8E8B246B}"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54325" name="标题 1"/>
          <p:cNvSpPr>
            <a:spLocks noGrp="1"/>
          </p:cNvSpPr>
          <p:nvPr>
            <p:ph type="title"/>
          </p:nvPr>
        </p:nvSpPr>
        <p:spPr/>
        <p:txBody>
          <a:bodyPr/>
          <a:lstStyle/>
          <a:p>
            <a:r>
              <a:rPr lang="zh-CN" altLang="en-US" smtClean="0"/>
              <a:t>单击此处编辑母版标题样式</a:t>
            </a:r>
            <a:endParaRPr lang="zh-CN" altLang="en-US"/>
          </a:p>
        </p:txBody>
      </p:sp>
      <p:sp>
        <p:nvSpPr>
          <p:cNvPr id="1054326" name="文本占位符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054327" name="内容占位符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28" name="文本占位符 4"/>
          <p:cNvSpPr>
            <a:spLocks noGrp="1"/>
          </p:cNvSpPr>
          <p:nvPr>
            <p:ph type="body" sz="quarter" idx="3"/>
          </p:nvPr>
        </p:nvSpPr>
        <p:spPr>
          <a:xfrm>
            <a:off x="4645028"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054329" name="内容占位符 5"/>
          <p:cNvSpPr>
            <a:spLocks noGrp="1"/>
          </p:cNvSpPr>
          <p:nvPr>
            <p:ph sz="quarter" idx="4"/>
          </p:nvPr>
        </p:nvSpPr>
        <p:spPr>
          <a:xfrm>
            <a:off x="4645028"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30" name="日期占位符 6"/>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DDD3C521-07BA-4294-8BFC-5C0D5B8FDF41}" type="datetimeFigureOut">
              <a:rPr lang="zh-CN" altLang="en-US"/>
              <a:t>2024-09-14</a:t>
            </a:fld>
            <a:endParaRPr lang="zh-CN" altLang="en-US"/>
          </a:p>
        </p:txBody>
      </p:sp>
      <p:sp>
        <p:nvSpPr>
          <p:cNvPr id="1054331" name="页脚占位符 7"/>
          <p:cNvSpPr>
            <a:spLocks noGrp="1"/>
          </p:cNvSpPr>
          <p:nvPr>
            <p:ph type="ftr" sz="quarter" idx="11"/>
          </p:nvPr>
        </p:nvSpPr>
        <p:spPr/>
        <p:txBody>
          <a:bodyPr/>
          <a:lstStyle/>
          <a:p>
            <a:endParaRPr lang="zh-CN" altLang="en-US"/>
          </a:p>
        </p:txBody>
      </p:sp>
      <p:sp>
        <p:nvSpPr>
          <p:cNvPr id="1054332" name="灯片编号占位符 8"/>
          <p:cNvSpPr>
            <a:spLocks noGrp="1"/>
          </p:cNvSpPr>
          <p:nvPr>
            <p:ph type="sldNum" sz="quarter" idx="12"/>
          </p:nvPr>
        </p:nvSpPr>
        <p:spPr/>
        <p:txBody>
          <a:bodyPr/>
          <a:lstStyle/>
          <a:p>
            <a:fld id="{2BD885E0-0E72-45C0-B408-2AF559F91707}"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54346" name="标题 1"/>
          <p:cNvSpPr>
            <a:spLocks noGrp="1"/>
          </p:cNvSpPr>
          <p:nvPr>
            <p:ph type="title"/>
          </p:nvPr>
        </p:nvSpPr>
        <p:spPr/>
        <p:txBody>
          <a:bodyPr/>
          <a:lstStyle/>
          <a:p>
            <a:r>
              <a:rPr lang="zh-CN" altLang="en-US" smtClean="0"/>
              <a:t>单击此处编辑母版标题样式</a:t>
            </a:r>
            <a:endParaRPr lang="zh-CN" altLang="en-US"/>
          </a:p>
        </p:txBody>
      </p:sp>
      <p:sp>
        <p:nvSpPr>
          <p:cNvPr id="1054347" name="日期占位符 2"/>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EDD81565-D0F0-41D1-903E-40E0738778CD}" type="datetimeFigureOut">
              <a:rPr lang="zh-CN" altLang="en-US"/>
              <a:t>2024-09-14</a:t>
            </a:fld>
            <a:endParaRPr lang="zh-CN" altLang="en-US"/>
          </a:p>
        </p:txBody>
      </p:sp>
      <p:sp>
        <p:nvSpPr>
          <p:cNvPr id="1054348" name="页脚占位符 3"/>
          <p:cNvSpPr>
            <a:spLocks noGrp="1"/>
          </p:cNvSpPr>
          <p:nvPr>
            <p:ph type="ftr" sz="quarter" idx="11"/>
          </p:nvPr>
        </p:nvSpPr>
        <p:spPr/>
        <p:txBody>
          <a:bodyPr/>
          <a:lstStyle/>
          <a:p>
            <a:endParaRPr lang="zh-CN" altLang="en-US"/>
          </a:p>
        </p:txBody>
      </p:sp>
      <p:sp>
        <p:nvSpPr>
          <p:cNvPr id="1054349" name="灯片编号占位符 4"/>
          <p:cNvSpPr>
            <a:spLocks noGrp="1"/>
          </p:cNvSpPr>
          <p:nvPr>
            <p:ph type="sldNum" sz="quarter" idx="12"/>
          </p:nvPr>
        </p:nvSpPr>
        <p:spPr/>
        <p:txBody>
          <a:bodyPr/>
          <a:lstStyle/>
          <a:p>
            <a:fld id="{03E32D16-D876-4614-9309-FE3874F8A992}"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581" name="日期占位符 1"/>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CF377711-3629-4DAD-8439-E0560B6BB2E0}" type="datetimeFigureOut">
              <a:rPr lang="zh-CN" altLang="en-US"/>
              <a:t>2024-09-14</a:t>
            </a:fld>
            <a:endParaRPr lang="zh-CN" altLang="en-US"/>
          </a:p>
        </p:txBody>
      </p:sp>
      <p:sp>
        <p:nvSpPr>
          <p:cNvPr id="1048582" name="页脚占位符 2"/>
          <p:cNvSpPr>
            <a:spLocks noGrp="1"/>
          </p:cNvSpPr>
          <p:nvPr>
            <p:ph type="ftr" sz="quarter" idx="11"/>
          </p:nvPr>
        </p:nvSpPr>
        <p:spPr/>
        <p:txBody>
          <a:bodyPr/>
          <a:lstStyle/>
          <a:p>
            <a:endParaRPr lang="zh-CN" altLang="en-US"/>
          </a:p>
        </p:txBody>
      </p:sp>
      <p:sp>
        <p:nvSpPr>
          <p:cNvPr id="1048583" name="灯片编号占位符 3"/>
          <p:cNvSpPr>
            <a:spLocks noGrp="1"/>
          </p:cNvSpPr>
          <p:nvPr>
            <p:ph type="sldNum" sz="quarter" idx="12"/>
          </p:nvPr>
        </p:nvSpPr>
        <p:spPr/>
        <p:txBody>
          <a:bodyPr/>
          <a:lstStyle/>
          <a:p>
            <a:fld id="{55174DE4-6CEB-434E-9620-53BDFCC300F5}"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54340" name="标题 1"/>
          <p:cNvSpPr>
            <a:spLocks noGrp="1"/>
          </p:cNvSpPr>
          <p:nvPr>
            <p:ph type="title"/>
          </p:nvPr>
        </p:nvSpPr>
        <p:spPr>
          <a:xfrm>
            <a:off x="457203" y="227542"/>
            <a:ext cx="3008313" cy="968376"/>
          </a:xfrm>
        </p:spPr>
        <p:txBody>
          <a:bodyPr anchor="b"/>
          <a:lstStyle>
            <a:lvl1pPr algn="l">
              <a:defRPr sz="2000" b="1"/>
            </a:lvl1pPr>
          </a:lstStyle>
          <a:p>
            <a:r>
              <a:rPr lang="zh-CN" altLang="en-US" smtClean="0"/>
              <a:t>单击此处编辑母版标题样式</a:t>
            </a:r>
            <a:endParaRPr lang="zh-CN" altLang="en-US"/>
          </a:p>
        </p:txBody>
      </p:sp>
      <p:sp>
        <p:nvSpPr>
          <p:cNvPr id="1054341" name="内容占位符 2"/>
          <p:cNvSpPr>
            <a:spLocks noGrp="1"/>
          </p:cNvSpPr>
          <p:nvPr>
            <p:ph idx="1"/>
          </p:nvPr>
        </p:nvSpPr>
        <p:spPr>
          <a:xfrm>
            <a:off x="3575050" y="227543"/>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42" name="文本占位符 3"/>
          <p:cNvSpPr>
            <a:spLocks noGrp="1"/>
          </p:cNvSpPr>
          <p:nvPr>
            <p:ph type="body" sz="half" idx="2"/>
          </p:nvPr>
        </p:nvSpPr>
        <p:spPr>
          <a:xfrm>
            <a:off x="457203" y="1195918"/>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054343" name="日期占位符 4"/>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278B8774-4B2A-4AAE-A808-F725AF2E04CC}" type="datetimeFigureOut">
              <a:rPr lang="zh-CN" altLang="en-US"/>
              <a:t>2024-09-14</a:t>
            </a:fld>
            <a:endParaRPr lang="zh-CN" altLang="en-US"/>
          </a:p>
        </p:txBody>
      </p:sp>
      <p:sp>
        <p:nvSpPr>
          <p:cNvPr id="1054344" name="页脚占位符 5"/>
          <p:cNvSpPr>
            <a:spLocks noGrp="1"/>
          </p:cNvSpPr>
          <p:nvPr>
            <p:ph type="ftr" sz="quarter" idx="11"/>
          </p:nvPr>
        </p:nvSpPr>
        <p:spPr/>
        <p:txBody>
          <a:bodyPr/>
          <a:lstStyle/>
          <a:p>
            <a:endParaRPr lang="zh-CN" altLang="en-US"/>
          </a:p>
        </p:txBody>
      </p:sp>
      <p:sp>
        <p:nvSpPr>
          <p:cNvPr id="1054345" name="灯片编号占位符 6"/>
          <p:cNvSpPr>
            <a:spLocks noGrp="1"/>
          </p:cNvSpPr>
          <p:nvPr>
            <p:ph type="sldNum" sz="quarter" idx="12"/>
          </p:nvPr>
        </p:nvSpPr>
        <p:spPr/>
        <p:txBody>
          <a:bodyPr/>
          <a:lstStyle/>
          <a:p>
            <a:fld id="{6872F262-6D47-49B5-9157-9BD85EDE5943}"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54319" name="标题 1"/>
          <p:cNvSpPr>
            <a:spLocks noGrp="1"/>
          </p:cNvSpPr>
          <p:nvPr>
            <p:ph type="title"/>
          </p:nvPr>
        </p:nvSpPr>
        <p:spPr>
          <a:xfrm>
            <a:off x="1792288" y="4000500"/>
            <a:ext cx="5486400" cy="472282"/>
          </a:xfrm>
        </p:spPr>
        <p:txBody>
          <a:bodyPr anchor="b"/>
          <a:lstStyle>
            <a:lvl1pPr algn="l">
              <a:defRPr sz="2000" b="1"/>
            </a:lvl1pPr>
          </a:lstStyle>
          <a:p>
            <a:r>
              <a:rPr lang="zh-CN" altLang="en-US" smtClean="0"/>
              <a:t>单击此处编辑母版标题样式</a:t>
            </a:r>
            <a:endParaRPr lang="zh-CN" altLang="en-US"/>
          </a:p>
        </p:txBody>
      </p:sp>
      <p:sp>
        <p:nvSpPr>
          <p:cNvPr id="1054320" name="图片占位符 2"/>
          <p:cNvSpPr>
            <a:spLocks noGrp="1"/>
          </p:cNvSpPr>
          <p:nvPr>
            <p:ph type="pic" idx="1"/>
          </p:nvPr>
        </p:nvSpPr>
        <p:spPr>
          <a:xfrm>
            <a:off x="1792288" y="510646"/>
            <a:ext cx="5486400" cy="34290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1054321" name="文本占位符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054322" name="日期占位符 4"/>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44062F43-F3FF-4D13-A31D-DC0970594FD8}" type="datetimeFigureOut">
              <a:rPr lang="zh-CN" altLang="en-US"/>
              <a:t>2024-09-14</a:t>
            </a:fld>
            <a:endParaRPr lang="zh-CN" altLang="en-US"/>
          </a:p>
        </p:txBody>
      </p:sp>
      <p:sp>
        <p:nvSpPr>
          <p:cNvPr id="1054323" name="页脚占位符 5"/>
          <p:cNvSpPr>
            <a:spLocks noGrp="1"/>
          </p:cNvSpPr>
          <p:nvPr>
            <p:ph type="ftr" sz="quarter" idx="11"/>
          </p:nvPr>
        </p:nvSpPr>
        <p:spPr/>
        <p:txBody>
          <a:bodyPr/>
          <a:lstStyle/>
          <a:p>
            <a:endParaRPr lang="zh-CN" altLang="en-US"/>
          </a:p>
        </p:txBody>
      </p:sp>
      <p:sp>
        <p:nvSpPr>
          <p:cNvPr id="1054324" name="灯片编号占位符 6"/>
          <p:cNvSpPr>
            <a:spLocks noGrp="1"/>
          </p:cNvSpPr>
          <p:nvPr>
            <p:ph type="sldNum" sz="quarter" idx="12"/>
          </p:nvPr>
        </p:nvSpPr>
        <p:spPr/>
        <p:txBody>
          <a:bodyPr/>
          <a:lstStyle/>
          <a:p>
            <a:fld id="{89A28788-EEA2-4593-A885-3C689F4F41B7}"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54314" name="标题 1"/>
          <p:cNvSpPr>
            <a:spLocks noGrp="1"/>
          </p:cNvSpPr>
          <p:nvPr>
            <p:ph type="title"/>
          </p:nvPr>
        </p:nvSpPr>
        <p:spPr/>
        <p:txBody>
          <a:bodyPr/>
          <a:lstStyle/>
          <a:p>
            <a:r>
              <a:rPr lang="zh-CN" altLang="en-US" smtClean="0"/>
              <a:t>单击此处编辑母版标题样式</a:t>
            </a:r>
            <a:endParaRPr lang="zh-CN" altLang="en-US"/>
          </a:p>
        </p:txBody>
      </p:sp>
      <p:sp>
        <p:nvSpPr>
          <p:cNvPr id="1054315"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16" name="日期占位符 3"/>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1AC590E2-49AB-44E3-8C36-0D08445AF1E5}" type="datetimeFigureOut">
              <a:rPr lang="zh-CN" altLang="en-US"/>
              <a:t>2024-09-14</a:t>
            </a:fld>
            <a:endParaRPr lang="zh-CN" altLang="en-US"/>
          </a:p>
        </p:txBody>
      </p:sp>
      <p:sp>
        <p:nvSpPr>
          <p:cNvPr id="1054317" name="页脚占位符 4"/>
          <p:cNvSpPr>
            <a:spLocks noGrp="1"/>
          </p:cNvSpPr>
          <p:nvPr>
            <p:ph type="ftr" sz="quarter" idx="11"/>
          </p:nvPr>
        </p:nvSpPr>
        <p:spPr/>
        <p:txBody>
          <a:bodyPr/>
          <a:lstStyle/>
          <a:p>
            <a:endParaRPr lang="zh-CN" altLang="en-US"/>
          </a:p>
        </p:txBody>
      </p:sp>
      <p:sp>
        <p:nvSpPr>
          <p:cNvPr id="1054318" name="灯片编号占位符 5"/>
          <p:cNvSpPr>
            <a:spLocks noGrp="1"/>
          </p:cNvSpPr>
          <p:nvPr>
            <p:ph type="sldNum" sz="quarter" idx="12"/>
          </p:nvPr>
        </p:nvSpPr>
        <p:spPr/>
        <p:txBody>
          <a:bodyPr/>
          <a:lstStyle/>
          <a:p>
            <a:fld id="{3B5ECF40-282A-4BCB-BB10-007085F2831F}" type="slidenum">
              <a:rPr lang="zh-CN" altLang="en-US"/>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1054333" name="竖排标题 1"/>
          <p:cNvSpPr>
            <a:spLocks noGrp="1"/>
          </p:cNvSpPr>
          <p:nvPr>
            <p:ph type="title" orient="vert"/>
          </p:nvPr>
        </p:nvSpPr>
        <p:spPr>
          <a:xfrm>
            <a:off x="6629400" y="228866"/>
            <a:ext cx="2057400" cy="4876271"/>
          </a:xfrm>
        </p:spPr>
        <p:txBody>
          <a:bodyPr vert="eaVert"/>
          <a:lstStyle/>
          <a:p>
            <a:r>
              <a:rPr lang="zh-CN" altLang="en-US" smtClean="0"/>
              <a:t>单击此处编辑母版标题样式</a:t>
            </a:r>
            <a:endParaRPr lang="zh-CN" altLang="en-US"/>
          </a:p>
        </p:txBody>
      </p:sp>
      <p:sp>
        <p:nvSpPr>
          <p:cNvPr id="1054334" name="竖排文字占位符 2"/>
          <p:cNvSpPr>
            <a:spLocks noGrp="1"/>
          </p:cNvSpPr>
          <p:nvPr>
            <p:ph type="body" orient="vert" idx="1"/>
          </p:nvPr>
        </p:nvSpPr>
        <p:spPr>
          <a:xfrm>
            <a:off x="457200" y="228866"/>
            <a:ext cx="6019800" cy="487627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35" name="日期占位符 3"/>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E7AB1051-31EF-44F9-AA2D-865B02C2540B}" type="datetimeFigureOut">
              <a:rPr lang="zh-CN" altLang="en-US"/>
              <a:t>2024-09-14</a:t>
            </a:fld>
            <a:endParaRPr lang="zh-CN" altLang="en-US"/>
          </a:p>
        </p:txBody>
      </p:sp>
      <p:sp>
        <p:nvSpPr>
          <p:cNvPr id="1054336" name="页脚占位符 4"/>
          <p:cNvSpPr>
            <a:spLocks noGrp="1"/>
          </p:cNvSpPr>
          <p:nvPr>
            <p:ph type="ftr" sz="quarter" idx="11"/>
          </p:nvPr>
        </p:nvSpPr>
        <p:spPr/>
        <p:txBody>
          <a:bodyPr/>
          <a:lstStyle/>
          <a:p>
            <a:endParaRPr lang="zh-CN" altLang="en-US"/>
          </a:p>
        </p:txBody>
      </p:sp>
      <p:sp>
        <p:nvSpPr>
          <p:cNvPr id="1054337" name="灯片编号占位符 5"/>
          <p:cNvSpPr>
            <a:spLocks noGrp="1"/>
          </p:cNvSpPr>
          <p:nvPr>
            <p:ph type="sldNum" sz="quarter" idx="12"/>
          </p:nvPr>
        </p:nvSpPr>
        <p:spPr/>
        <p:txBody>
          <a:bodyPr/>
          <a:lstStyle/>
          <a:p>
            <a:fld id="{FE2A011D-D701-4132-A7EE-B708846F7E53}"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标题占位符 1"/>
          <p:cNvSpPr>
            <a:spLocks noGrp="1"/>
          </p:cNvSpPr>
          <p:nvPr>
            <p:ph type="title"/>
          </p:nvPr>
        </p:nvSpPr>
        <p:spPr bwMode="auto">
          <a:xfrm>
            <a:off x="457200" y="228600"/>
            <a:ext cx="8229600" cy="9525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p>
        </p:txBody>
      </p:sp>
      <p:sp>
        <p:nvSpPr>
          <p:cNvPr id="1048577" name="文本占位符 2"/>
          <p:cNvSpPr>
            <a:spLocks noGrp="1"/>
          </p:cNvSpPr>
          <p:nvPr>
            <p:ph type="body" idx="1"/>
          </p:nvPr>
        </p:nvSpPr>
        <p:spPr bwMode="auto">
          <a:xfrm>
            <a:off x="457200" y="1333500"/>
            <a:ext cx="8229600" cy="37719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48578" name="页脚占位符 4"/>
          <p:cNvSpPr>
            <a:spLocks noGrp="1"/>
          </p:cNvSpPr>
          <p:nvPr>
            <p:ph type="ftr" sz="quarter" idx="3"/>
          </p:nvPr>
        </p:nvSpPr>
        <p:spPr>
          <a:xfrm>
            <a:off x="3124200" y="5297488"/>
            <a:ext cx="2895600" cy="303212"/>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endParaRPr lang="zh-CN" altLang="en-US"/>
          </a:p>
        </p:txBody>
      </p:sp>
      <p:sp>
        <p:nvSpPr>
          <p:cNvPr id="1048579" name="灯片编号占位符 5"/>
          <p:cNvSpPr>
            <a:spLocks noGrp="1"/>
          </p:cNvSpPr>
          <p:nvPr>
            <p:ph type="sldNum" sz="quarter" idx="4"/>
          </p:nvPr>
        </p:nvSpPr>
        <p:spPr>
          <a:xfrm>
            <a:off x="6553200" y="5297488"/>
            <a:ext cx="2133600" cy="303212"/>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fld id="{47D988E0-0923-471B-B752-8C491CAF1381}" type="slidenum">
              <a:rPr lang="zh-CN" altLang="en-US"/>
              <a:t>‹#›</a:t>
            </a:fld>
            <a:endParaRPr lang="zh-CN" altLang="en-US"/>
          </a:p>
        </p:txBody>
      </p:sp>
      <p:sp>
        <p:nvSpPr>
          <p:cNvPr id="1048580" name="灯片编号占位符 5"/>
          <p:cNvSpPr txBox="1"/>
          <p:nvPr/>
        </p:nvSpPr>
        <p:spPr>
          <a:xfrm>
            <a:off x="476250" y="5297488"/>
            <a:ext cx="2133600" cy="303212"/>
          </a:xfrm>
          <a:prstGeom prst="rect">
            <a:avLst/>
          </a:prstGeom>
        </p:spPr>
        <p:txBody>
          <a:bodyPr/>
          <a:lstStyle>
            <a:lvl1pPr algn="l">
              <a:defRPr b="1">
                <a:solidFill>
                  <a:srgbClr val="C00000"/>
                </a:solidFill>
              </a:defRPr>
            </a:lvl1pPr>
          </a:lstStyle>
          <a:p>
            <a:pPr fontAlgn="auto">
              <a:spcBef>
                <a:spcPts val="0"/>
              </a:spcBef>
              <a:spcAft>
                <a:spcPts val="0"/>
              </a:spcAft>
            </a:pPr>
            <a:fld id="{3269193A-965F-43BD-9767-A88894B205C2}" type="slidenum">
              <a:rPr lang="zh-CN" altLang="en-US" smtClean="0">
                <a:latin typeface="+mn-lt"/>
                <a:ea typeface="+mn-ea"/>
              </a:rPr>
              <a:t>‹#›</a:t>
            </a:fld>
            <a:endParaRPr lang="zh-CN" altLang="en-US" dirty="0">
              <a:latin typeface="+mn-lt"/>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spcBef>
          <a:spcPct val="0"/>
        </a:spcBef>
        <a:spcAft>
          <a:spcPct val="0"/>
        </a:spcAft>
        <a:defRPr sz="3600" b="1" kern="1200">
          <a:solidFill>
            <a:schemeClr val="tx1"/>
          </a:solidFill>
          <a:latin typeface="+mj-lt"/>
          <a:ea typeface="+mj-ea"/>
          <a:cs typeface="微软雅黑" panose="020B0503020204020204" charset="-122"/>
        </a:defRPr>
      </a:lvl1pPr>
      <a:lvl2pPr algn="l" rtl="0" eaLnBrk="0" fontAlgn="base" hangingPunct="0">
        <a:spcBef>
          <a:spcPct val="0"/>
        </a:spcBef>
        <a:spcAft>
          <a:spcPct val="0"/>
        </a:spcAft>
        <a:defRPr sz="3600" b="1">
          <a:solidFill>
            <a:schemeClr val="tx1"/>
          </a:solidFill>
          <a:latin typeface="Verdana" panose="020B0604030504040204" pitchFamily="34" charset="0"/>
          <a:ea typeface="微软雅黑" panose="020B0503020204020204" charset="-122"/>
          <a:cs typeface="微软雅黑" panose="020B0503020204020204" charset="-122"/>
        </a:defRPr>
      </a:lvl2pPr>
      <a:lvl3pPr algn="l" rtl="0" eaLnBrk="0" fontAlgn="base" hangingPunct="0">
        <a:spcBef>
          <a:spcPct val="0"/>
        </a:spcBef>
        <a:spcAft>
          <a:spcPct val="0"/>
        </a:spcAft>
        <a:defRPr sz="3600" b="1">
          <a:solidFill>
            <a:schemeClr val="tx1"/>
          </a:solidFill>
          <a:latin typeface="Verdana" panose="020B0604030504040204" pitchFamily="34" charset="0"/>
          <a:ea typeface="微软雅黑" panose="020B0503020204020204" charset="-122"/>
          <a:cs typeface="微软雅黑" panose="020B0503020204020204" charset="-122"/>
        </a:defRPr>
      </a:lvl3pPr>
      <a:lvl4pPr algn="l" rtl="0" eaLnBrk="0" fontAlgn="base" hangingPunct="0">
        <a:spcBef>
          <a:spcPct val="0"/>
        </a:spcBef>
        <a:spcAft>
          <a:spcPct val="0"/>
        </a:spcAft>
        <a:defRPr sz="3600" b="1">
          <a:solidFill>
            <a:schemeClr val="tx1"/>
          </a:solidFill>
          <a:latin typeface="Verdana" panose="020B0604030504040204" pitchFamily="34" charset="0"/>
          <a:ea typeface="微软雅黑" panose="020B0503020204020204" charset="-122"/>
          <a:cs typeface="微软雅黑" panose="020B0503020204020204" charset="-122"/>
        </a:defRPr>
      </a:lvl4pPr>
      <a:lvl5pPr algn="l" rtl="0" eaLnBrk="0" fontAlgn="base" hangingPunct="0">
        <a:spcBef>
          <a:spcPct val="0"/>
        </a:spcBef>
        <a:spcAft>
          <a:spcPct val="0"/>
        </a:spcAft>
        <a:defRPr sz="3600" b="1">
          <a:solidFill>
            <a:schemeClr val="tx1"/>
          </a:solidFill>
          <a:latin typeface="Verdana" panose="020B0604030504040204" pitchFamily="34" charset="0"/>
          <a:ea typeface="微软雅黑" panose="020B0503020204020204" charset="-122"/>
          <a:cs typeface="微软雅黑" panose="020B0503020204020204" charset="-122"/>
        </a:defRPr>
      </a:lvl5pPr>
      <a:lvl6pPr marL="457200" algn="l" rtl="0" fontAlgn="base">
        <a:spcBef>
          <a:spcPct val="0"/>
        </a:spcBef>
        <a:spcAft>
          <a:spcPct val="0"/>
        </a:spcAft>
        <a:defRPr sz="3600" b="1">
          <a:solidFill>
            <a:schemeClr val="tx1"/>
          </a:solidFill>
          <a:latin typeface="Verdana" panose="020B0604030504040204" pitchFamily="34" charset="0"/>
          <a:ea typeface="微软雅黑" panose="020B0503020204020204" charset="-122"/>
        </a:defRPr>
      </a:lvl6pPr>
      <a:lvl7pPr marL="914400" algn="l" rtl="0" fontAlgn="base">
        <a:spcBef>
          <a:spcPct val="0"/>
        </a:spcBef>
        <a:spcAft>
          <a:spcPct val="0"/>
        </a:spcAft>
        <a:defRPr sz="3600" b="1">
          <a:solidFill>
            <a:schemeClr val="tx1"/>
          </a:solidFill>
          <a:latin typeface="Verdana" panose="020B0604030504040204" pitchFamily="34" charset="0"/>
          <a:ea typeface="微软雅黑" panose="020B0503020204020204" charset="-122"/>
        </a:defRPr>
      </a:lvl7pPr>
      <a:lvl8pPr marL="1371600" algn="l" rtl="0" fontAlgn="base">
        <a:spcBef>
          <a:spcPct val="0"/>
        </a:spcBef>
        <a:spcAft>
          <a:spcPct val="0"/>
        </a:spcAft>
        <a:defRPr sz="3600" b="1">
          <a:solidFill>
            <a:schemeClr val="tx1"/>
          </a:solidFill>
          <a:latin typeface="Verdana" panose="020B0604030504040204" pitchFamily="34" charset="0"/>
          <a:ea typeface="微软雅黑" panose="020B0503020204020204" charset="-122"/>
        </a:defRPr>
      </a:lvl8pPr>
      <a:lvl9pPr marL="1828800" algn="l" rtl="0" fontAlgn="base">
        <a:spcBef>
          <a:spcPct val="0"/>
        </a:spcBef>
        <a:spcAft>
          <a:spcPct val="0"/>
        </a:spcAft>
        <a:defRPr sz="3600" b="1">
          <a:solidFill>
            <a:schemeClr val="tx1"/>
          </a:solidFill>
          <a:latin typeface="Verdana" panose="020B0604030504040204" pitchFamily="34" charset="0"/>
          <a:ea typeface="微软雅黑" panose="020B050302020402020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微软雅黑" panose="020B0503020204020204" charset="-122"/>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微软雅黑" panose="020B0503020204020204" charset="-122"/>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微软雅黑" panose="020B0503020204020204" charset="-122"/>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微软雅黑" panose="020B0503020204020204" charset="-122"/>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wmf"/><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8.png"/><Relationship Id="rId3" Type="http://schemas.openxmlformats.org/officeDocument/2006/relationships/notesSlide" Target="../notesSlides/notesSlide4.xml"/><Relationship Id="rId7" Type="http://schemas.openxmlformats.org/officeDocument/2006/relationships/image" Target="../media/image13.wmf"/><Relationship Id="rId12"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microsoft.com/office/2007/relationships/hdphoto" Target="../media/hdphoto1.wdp"/><Relationship Id="rId5" Type="http://schemas.openxmlformats.org/officeDocument/2006/relationships/image" Target="../media/image12.wmf"/><Relationship Id="rId10" Type="http://schemas.openxmlformats.org/officeDocument/2006/relationships/image" Target="../media/image16.png"/><Relationship Id="rId4" Type="http://schemas.openxmlformats.org/officeDocument/2006/relationships/oleObject" Target="../embeddings/oleObject3.bin"/><Relationship Id="rId9" Type="http://schemas.openxmlformats.org/officeDocument/2006/relationships/image" Target="../media/image14.wmf"/><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8.wmf"/><Relationship Id="rId5" Type="http://schemas.openxmlformats.org/officeDocument/2006/relationships/oleObject" Target="../embeddings/oleObject6.bin"/><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9.wmf"/><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9.xml"/><Relationship Id="rId7" Type="http://schemas.openxmlformats.org/officeDocument/2006/relationships/image" Target="../media/image26.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28.png"/><Relationship Id="rId10" Type="http://schemas.openxmlformats.org/officeDocument/2006/relationships/image" Target="../media/image27.wmf"/><Relationship Id="rId4" Type="http://schemas.openxmlformats.org/officeDocument/2006/relationships/image" Target="../media/image9.wmf"/><Relationship Id="rId9"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32.png"/><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0.wmf"/><Relationship Id="rId5" Type="http://schemas.openxmlformats.org/officeDocument/2006/relationships/oleObject" Target="../embeddings/oleObject9.bin"/><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4.wmf"/><Relationship Id="rId5" Type="http://schemas.openxmlformats.org/officeDocument/2006/relationships/oleObject" Target="../embeddings/oleObject11.bin"/><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8.wmf"/><Relationship Id="rId5" Type="http://schemas.openxmlformats.org/officeDocument/2006/relationships/oleObject" Target="../embeddings/oleObject13.bin"/><Relationship Id="rId4" Type="http://schemas.openxmlformats.org/officeDocument/2006/relationships/image" Target="../media/image37.wmf"/></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43.jpeg"/><Relationship Id="rId7" Type="http://schemas.openxmlformats.org/officeDocument/2006/relationships/image" Target="../media/image46.jpeg"/><Relationship Id="rId2" Type="http://schemas.openxmlformats.org/officeDocument/2006/relationships/hyperlink" Target="../../../&#26426;&#26800;&#35774;&#35745;&#35838;&#22530;&#25945;&#26696;/&#31532;&#20116;&#35762;%20&#31532;&#22235;&#31456;%20&#25705;&#25830;&#12289;&#30952;&#25439;&#21450;&#28070;&#28369;&#27010;&#36848;1/&#21387;&#37197;&#24335;&#21387;&#27880;&#27833;&#26479;.exe" TargetMode="External"/><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hyperlink" Target="../../../&#26426;&#26800;&#35774;&#35745;&#35838;&#22530;&#25945;&#26696;/&#31532;&#20116;&#35762;%20&#31532;&#22235;&#31456;%20&#25705;&#25830;&#12289;&#30952;&#25439;&#21450;&#28070;&#28369;&#27010;&#36848;1/&#26059;&#22871;&#24335;&#27880;&#27833;&#27833;&#26479;.exe"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26426;&#26800;&#35774;&#35745;&#35838;&#22530;&#25945;&#26696;/&#31532;&#20116;&#35762;%20&#31532;&#22235;&#31456;%20&#25705;&#25830;&#12289;&#30952;&#25439;&#21450;&#28070;&#28369;&#27010;&#36848;1/&#33455;&#22493;&#20379;&#27833;.exe"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hyperlink" Target="../../../&#26426;&#26800;&#35774;&#35745;&#35838;&#22530;&#25945;&#26696;/&#31532;&#20116;&#35762;%20&#31532;&#22235;&#31456;%20&#25705;&#25830;&#12289;&#30952;&#25439;&#21450;&#28070;&#28369;&#27010;&#36848;1/&#38024;&#38400;&#24335;&#27880;&#27833;.exe" TargetMode="External"/><Relationship Id="rId4" Type="http://schemas.openxmlformats.org/officeDocument/2006/relationships/image" Target="../media/image47.jpe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notesSlide" Target="../notesSlides/notesSlide16.xml"/><Relationship Id="rId7" Type="http://schemas.openxmlformats.org/officeDocument/2006/relationships/image" Target="../media/image52.jpe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hyperlink" Target="../../../&#26426;&#26800;&#35774;&#35745;&#35838;&#22530;&#25945;&#26696;/&#31532;&#20116;&#35762;%20&#31532;&#22235;&#31456;%20&#25705;&#25830;&#12289;&#30952;&#25439;&#21450;&#28070;&#28369;&#27010;&#36848;1/&#21387;&#21147;&#20379;&#27833;.swf" TargetMode="External"/><Relationship Id="rId5" Type="http://schemas.openxmlformats.org/officeDocument/2006/relationships/image" Target="../media/image50.png"/><Relationship Id="rId4" Type="http://schemas.openxmlformats.org/officeDocument/2006/relationships/oleObject" Target="../embeddings/oleObject14.bin"/><Relationship Id="rId9"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标题 3"/>
          <p:cNvSpPr>
            <a:spLocks noGrp="1"/>
          </p:cNvSpPr>
          <p:nvPr>
            <p:ph type="title"/>
          </p:nvPr>
        </p:nvSpPr>
        <p:spPr>
          <a:solidFill>
            <a:srgbClr val="FFFFFF"/>
          </a:solidFill>
        </p:spPr>
        <p:txBody>
          <a:bodyPr/>
          <a:lstStyle/>
          <a:p>
            <a:pPr eaLnBrk="1" hangingPunct="1"/>
            <a:r>
              <a:rPr lang="zh-CN" altLang="en-US" sz="2400" b="0" smtClean="0">
                <a:solidFill>
                  <a:srgbClr val="C00000"/>
                </a:solidFill>
                <a:ea typeface="黑体" panose="02010609060101010101" pitchFamily="49" charset="-122"/>
              </a:rPr>
              <a:t>本章内容</a:t>
            </a:r>
          </a:p>
        </p:txBody>
      </p:sp>
      <p:sp>
        <p:nvSpPr>
          <p:cNvPr id="54" name="Rectangle 62"/>
          <p:cNvSpPr>
            <a:spLocks noRot="1" noChangeArrowheads="1"/>
          </p:cNvSpPr>
          <p:nvPr/>
        </p:nvSpPr>
        <p:spPr bwMode="auto">
          <a:xfrm>
            <a:off x="388913" y="1489348"/>
            <a:ext cx="8424936" cy="287338"/>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了解摩擦分类及干摩擦、边界摩擦、混合摩擦、流体摩擦的特点；</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55" name="Rectangle 63"/>
          <p:cNvSpPr>
            <a:spLocks noRot="1" noChangeArrowheads="1"/>
          </p:cNvSpPr>
          <p:nvPr/>
        </p:nvSpPr>
        <p:spPr bwMode="auto">
          <a:xfrm>
            <a:off x="390503" y="1922737"/>
            <a:ext cx="8423346" cy="287337"/>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了解磨损的过程及各种磨损的机理；</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56" name="Rectangle 62"/>
          <p:cNvSpPr>
            <a:spLocks noRot="1" noChangeArrowheads="1"/>
          </p:cNvSpPr>
          <p:nvPr/>
        </p:nvSpPr>
        <p:spPr bwMode="auto">
          <a:xfrm>
            <a:off x="388913" y="2356125"/>
            <a:ext cx="8424936" cy="287338"/>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了解润滑的作用及润滑剂的主要质量指标；</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57" name="Rectangle 63"/>
          <p:cNvSpPr>
            <a:spLocks noRot="1" noChangeArrowheads="1"/>
          </p:cNvSpPr>
          <p:nvPr/>
        </p:nvSpPr>
        <p:spPr bwMode="auto">
          <a:xfrm>
            <a:off x="390503" y="2789513"/>
            <a:ext cx="8423346" cy="287337"/>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solidFill>
                  <a:srgbClr val="FF0000"/>
                </a:solidFill>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掌握</a:t>
            </a:r>
            <a:r>
              <a:rPr lang="zh-CN" altLang="en-US" sz="2100" b="1" dirty="0" smtClean="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流体动力润滑的基本概念；</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7" name="Rectangle 63"/>
          <p:cNvSpPr>
            <a:spLocks noRot="1" noChangeArrowheads="1"/>
          </p:cNvSpPr>
          <p:nvPr/>
        </p:nvSpPr>
        <p:spPr bwMode="auto">
          <a:xfrm>
            <a:off x="390503" y="3222900"/>
            <a:ext cx="8423346" cy="287337"/>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了解常用润滑方法及其适用场合。</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1000" fill="hold"/>
                                        <p:tgtEl>
                                          <p:spTgt spid="54"/>
                                        </p:tgtEl>
                                        <p:attrNameLst>
                                          <p:attrName>ppt_x</p:attrName>
                                        </p:attrNameLst>
                                      </p:cBhvr>
                                      <p:tavLst>
                                        <p:tav tm="0">
                                          <p:val>
                                            <p:strVal val="#ppt_x"/>
                                          </p:val>
                                        </p:tav>
                                        <p:tav tm="100000">
                                          <p:val>
                                            <p:strVal val="#ppt_x"/>
                                          </p:val>
                                        </p:tav>
                                      </p:tavLst>
                                    </p:anim>
                                    <p:anim calcmode="lin" valueType="num">
                                      <p:cBhvr additive="base">
                                        <p:cTn id="8" dur="10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anim calcmode="lin" valueType="num">
                                      <p:cBhvr additive="base">
                                        <p:cTn id="13" dur="1000" fill="hold"/>
                                        <p:tgtEl>
                                          <p:spTgt spid="55"/>
                                        </p:tgtEl>
                                        <p:attrNameLst>
                                          <p:attrName>ppt_x</p:attrName>
                                        </p:attrNameLst>
                                      </p:cBhvr>
                                      <p:tavLst>
                                        <p:tav tm="0">
                                          <p:val>
                                            <p:strVal val="#ppt_x"/>
                                          </p:val>
                                        </p:tav>
                                        <p:tav tm="100000">
                                          <p:val>
                                            <p:strVal val="#ppt_x"/>
                                          </p:val>
                                        </p:tav>
                                      </p:tavLst>
                                    </p:anim>
                                    <p:anim calcmode="lin" valueType="num">
                                      <p:cBhvr additive="base">
                                        <p:cTn id="14" dur="10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anim calcmode="lin" valueType="num">
                                      <p:cBhvr additive="base">
                                        <p:cTn id="19" dur="1000" fill="hold"/>
                                        <p:tgtEl>
                                          <p:spTgt spid="56"/>
                                        </p:tgtEl>
                                        <p:attrNameLst>
                                          <p:attrName>ppt_x</p:attrName>
                                        </p:attrNameLst>
                                      </p:cBhvr>
                                      <p:tavLst>
                                        <p:tav tm="0">
                                          <p:val>
                                            <p:strVal val="#ppt_x"/>
                                          </p:val>
                                        </p:tav>
                                        <p:tav tm="100000">
                                          <p:val>
                                            <p:strVal val="#ppt_x"/>
                                          </p:val>
                                        </p:tav>
                                      </p:tavLst>
                                    </p:anim>
                                    <p:anim calcmode="lin" valueType="num">
                                      <p:cBhvr additive="base">
                                        <p:cTn id="20" dur="10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
                                        </p:tgtEl>
                                        <p:attrNameLst>
                                          <p:attrName>style.visibility</p:attrName>
                                        </p:attrNameLst>
                                      </p:cBhvr>
                                      <p:to>
                                        <p:strVal val="visible"/>
                                      </p:to>
                                    </p:set>
                                    <p:anim calcmode="lin" valueType="num">
                                      <p:cBhvr additive="base">
                                        <p:cTn id="25" dur="1000" fill="hold"/>
                                        <p:tgtEl>
                                          <p:spTgt spid="57"/>
                                        </p:tgtEl>
                                        <p:attrNameLst>
                                          <p:attrName>ppt_x</p:attrName>
                                        </p:attrNameLst>
                                      </p:cBhvr>
                                      <p:tavLst>
                                        <p:tav tm="0">
                                          <p:val>
                                            <p:strVal val="#ppt_x"/>
                                          </p:val>
                                        </p:tav>
                                        <p:tav tm="100000">
                                          <p:val>
                                            <p:strVal val="#ppt_x"/>
                                          </p:val>
                                        </p:tav>
                                      </p:tavLst>
                                    </p:anim>
                                    <p:anim calcmode="lin" valueType="num">
                                      <p:cBhvr additive="base">
                                        <p:cTn id="26" dur="10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1000" fill="hold"/>
                                        <p:tgtEl>
                                          <p:spTgt spid="7"/>
                                        </p:tgtEl>
                                        <p:attrNameLst>
                                          <p:attrName>ppt_x</p:attrName>
                                        </p:attrNameLst>
                                      </p:cBhvr>
                                      <p:tavLst>
                                        <p:tav tm="0">
                                          <p:val>
                                            <p:strVal val="#ppt_x"/>
                                          </p:val>
                                        </p:tav>
                                        <p:tav tm="100000">
                                          <p:val>
                                            <p:strVal val="#ppt_x"/>
                                          </p:val>
                                        </p:tav>
                                      </p:tavLst>
                                    </p:anim>
                                    <p:anim calcmode="lin" valueType="num">
                                      <p:cBhvr additive="base">
                                        <p:cTn id="32"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6" grpId="0"/>
      <p:bldP spid="57"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单圆角矩形 20"/>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摩擦、磨损和润滑之间的关系</a:t>
            </a:r>
            <a:endParaRPr lang="zh-CN" altLang="en-US" sz="1500" dirty="0">
              <a:solidFill>
                <a:srgbClr val="FF6600"/>
              </a:solidFill>
            </a:endParaRPr>
          </a:p>
        </p:txBody>
      </p:sp>
      <p:sp>
        <p:nvSpPr>
          <p:cNvPr id="22" name="直角三角形 21"/>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 Box 18"/>
          <p:cNvSpPr txBox="1">
            <a:spLocks noChangeArrowheads="1"/>
          </p:cNvSpPr>
          <p:nvPr/>
        </p:nvSpPr>
        <p:spPr bwMode="auto">
          <a:xfrm>
            <a:off x="2923884" y="2871416"/>
            <a:ext cx="3087705" cy="480131"/>
          </a:xfrm>
          <a:prstGeom prst="rect">
            <a:avLst/>
          </a:prstGeom>
          <a:noFill/>
          <a:ln w="9525">
            <a:noFill/>
            <a:miter lim="800000"/>
            <a:headEnd/>
            <a:tailEnd/>
          </a:ln>
          <a:effectLst/>
        </p:spPr>
        <p:txBody>
          <a:bodyPr wrap="none">
            <a:spAutoFit/>
          </a:bodyPr>
          <a:lstStyle/>
          <a:p>
            <a:pPr algn="ctr">
              <a:lnSpc>
                <a:spcPct val="90000"/>
              </a:lnSpc>
            </a:pPr>
            <a:r>
              <a:rPr kumimoji="1" lang="zh-CN" altLang="en-US" sz="2800" b="1" dirty="0">
                <a:solidFill>
                  <a:srgbClr val="FF0000"/>
                </a:solidFill>
                <a:effectLst>
                  <a:outerShdw blurRad="38100" dist="38100" dir="2700000" algn="tl">
                    <a:srgbClr val="C0C0C0"/>
                  </a:outerShdw>
                </a:effectLst>
                <a:latin typeface="华文中宋" pitchFamily="2" charset="-122"/>
                <a:ea typeface="华文中宋" pitchFamily="2" charset="-122"/>
              </a:rPr>
              <a:t>摩擦学</a:t>
            </a:r>
            <a:r>
              <a:rPr kumimoji="1" lang="en-US" altLang="zh-CN" sz="2800" b="1" dirty="0">
                <a:solidFill>
                  <a:srgbClr val="FF0000"/>
                </a:solidFill>
                <a:effectLst>
                  <a:outerShdw blurRad="38100" dist="38100" dir="2700000" algn="tl">
                    <a:srgbClr val="C0C0C0"/>
                  </a:outerShdw>
                </a:effectLst>
                <a:latin typeface="华文中宋" pitchFamily="2" charset="-122"/>
                <a:ea typeface="华文中宋" pitchFamily="2" charset="-122"/>
              </a:rPr>
              <a:t>(Tribology)</a:t>
            </a:r>
          </a:p>
        </p:txBody>
      </p:sp>
      <p:grpSp>
        <p:nvGrpSpPr>
          <p:cNvPr id="23" name="组合 28"/>
          <p:cNvGrpSpPr/>
          <p:nvPr/>
        </p:nvGrpSpPr>
        <p:grpSpPr bwMode="auto">
          <a:xfrm>
            <a:off x="251520" y="587544"/>
            <a:ext cx="3889376" cy="1944375"/>
            <a:chOff x="544513" y="619761"/>
            <a:chExt cx="3889376" cy="1943520"/>
          </a:xfrm>
        </p:grpSpPr>
        <p:grpSp>
          <p:nvGrpSpPr>
            <p:cNvPr id="24" name="Group 4"/>
            <p:cNvGrpSpPr/>
            <p:nvPr/>
          </p:nvGrpSpPr>
          <p:grpSpPr bwMode="auto">
            <a:xfrm>
              <a:off x="544513" y="619761"/>
              <a:ext cx="3889376" cy="1943520"/>
              <a:chOff x="431" y="1468"/>
              <a:chExt cx="2450" cy="1437"/>
            </a:xfrm>
          </p:grpSpPr>
          <p:sp>
            <p:nvSpPr>
              <p:cNvPr id="27" name="Rectangle 5"/>
              <p:cNvSpPr>
                <a:spLocks noChangeArrowheads="1"/>
              </p:cNvSpPr>
              <p:nvPr/>
            </p:nvSpPr>
            <p:spPr bwMode="auto">
              <a:xfrm>
                <a:off x="431" y="1514"/>
                <a:ext cx="2450" cy="1391"/>
              </a:xfrm>
              <a:prstGeom prst="rect">
                <a:avLst/>
              </a:prstGeom>
              <a:noFill/>
              <a:ln w="19050">
                <a:solidFill>
                  <a:srgbClr val="CC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28" name="Text Box 6"/>
              <p:cNvSpPr txBox="1">
                <a:spLocks noChangeArrowheads="1"/>
              </p:cNvSpPr>
              <p:nvPr/>
            </p:nvSpPr>
            <p:spPr bwMode="auto">
              <a:xfrm>
                <a:off x="521" y="1813"/>
                <a:ext cx="116" cy="439"/>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endParaRPr kumimoji="1" lang="zh-CN" altLang="en-US" sz="2800" b="0" i="0" u="none" strike="noStrike" kern="0" cap="none" spc="0" normalizeH="0" baseline="0" noProof="0" smtClean="0">
                  <a:ln>
                    <a:noFill/>
                  </a:ln>
                  <a:solidFill>
                    <a:srgbClr val="000000"/>
                  </a:solidFill>
                  <a:effectLst/>
                  <a:uLnTx/>
                  <a:uFillTx/>
                  <a:latin typeface="Times New Roman" pitchFamily="18" charset="0"/>
                  <a:ea typeface="华文中宋" pitchFamily="2" charset="-122"/>
                </a:endParaRPr>
              </a:p>
            </p:txBody>
          </p:sp>
          <p:sp>
            <p:nvSpPr>
              <p:cNvPr id="29" name="Text Box 7"/>
              <p:cNvSpPr txBox="1">
                <a:spLocks noChangeArrowheads="1"/>
              </p:cNvSpPr>
              <p:nvPr/>
            </p:nvSpPr>
            <p:spPr bwMode="auto">
              <a:xfrm>
                <a:off x="937" y="1468"/>
                <a:ext cx="1399" cy="437"/>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40000"/>
                  </a:lnSpc>
                  <a:spcBef>
                    <a:spcPts val="0"/>
                  </a:spcBef>
                  <a:spcAft>
                    <a:spcPts val="0"/>
                  </a:spcAft>
                  <a:buClrTx/>
                  <a:buSzTx/>
                  <a:buFontTx/>
                  <a:buNone/>
                </a:pPr>
                <a:r>
                  <a:rPr kumimoji="1" lang="zh-CN" altLang="en-US" sz="2600" b="1" i="0" u="none" strike="noStrike" kern="0" cap="none" spc="0" normalizeH="0" baseline="0" noProof="0" dirty="0" smtClean="0">
                    <a:ln>
                      <a:noFill/>
                    </a:ln>
                    <a:solidFill>
                      <a:srgbClr val="000099"/>
                    </a:solidFill>
                    <a:effectLst/>
                    <a:uLnTx/>
                    <a:uFillTx/>
                    <a:latin typeface="Times New Roman" pitchFamily="18" charset="0"/>
                    <a:ea typeface="华文中宋" pitchFamily="2" charset="-122"/>
                  </a:rPr>
                  <a:t>摩擦</a:t>
                </a:r>
                <a:r>
                  <a:rPr kumimoji="1" lang="en-US" altLang="zh-CN" sz="2600" b="1" i="0" u="none" strike="noStrike" kern="0" cap="none" spc="0" normalizeH="0" baseline="0" noProof="0" dirty="0" smtClean="0">
                    <a:ln>
                      <a:noFill/>
                    </a:ln>
                    <a:solidFill>
                      <a:srgbClr val="000099"/>
                    </a:solidFill>
                    <a:effectLst/>
                    <a:uLnTx/>
                    <a:uFillTx/>
                    <a:latin typeface="Times New Roman" pitchFamily="18" charset="0"/>
                    <a:ea typeface="华文中宋" pitchFamily="2" charset="-122"/>
                  </a:rPr>
                  <a:t>(Friction)</a:t>
                </a:r>
              </a:p>
            </p:txBody>
          </p:sp>
          <p:sp>
            <p:nvSpPr>
              <p:cNvPr id="30" name="Text Box 8"/>
              <p:cNvSpPr txBox="1">
                <a:spLocks noChangeArrowheads="1"/>
              </p:cNvSpPr>
              <p:nvPr/>
            </p:nvSpPr>
            <p:spPr bwMode="auto">
              <a:xfrm>
                <a:off x="533" y="1854"/>
                <a:ext cx="2217" cy="296"/>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阻止两个表面相对运动的</a:t>
                </a:r>
                <a:r>
                  <a:rPr kumimoji="1" lang="zh-CN" altLang="en-US" sz="2000" b="0" i="0" u="none" strike="noStrike" kern="0" cap="none" spc="0" normalizeH="0" baseline="0" noProof="0" dirty="0" smtClean="0">
                    <a:ln>
                      <a:noFill/>
                    </a:ln>
                    <a:solidFill>
                      <a:srgbClr val="FF0000"/>
                    </a:solidFill>
                    <a:effectLst/>
                    <a:uLnTx/>
                    <a:uFillTx/>
                    <a:latin typeface="Times New Roman" pitchFamily="18" charset="0"/>
                    <a:ea typeface="华文中宋" pitchFamily="2" charset="-122"/>
                  </a:rPr>
                  <a:t>现象</a:t>
                </a:r>
              </a:p>
            </p:txBody>
          </p:sp>
          <p:sp>
            <p:nvSpPr>
              <p:cNvPr id="31" name="Text Box 9"/>
              <p:cNvSpPr txBox="1">
                <a:spLocks noChangeArrowheads="1"/>
              </p:cNvSpPr>
              <p:nvPr/>
            </p:nvSpPr>
            <p:spPr bwMode="auto">
              <a:xfrm>
                <a:off x="486" y="2107"/>
                <a:ext cx="2395" cy="296"/>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zh-CN" altLang="en-US" sz="2000" b="1" i="0" u="none" strike="noStrike" kern="0" cap="none" spc="0" normalizeH="0" baseline="0" noProof="0" dirty="0" smtClean="0">
                    <a:ln>
                      <a:noFill/>
                    </a:ln>
                    <a:solidFill>
                      <a:srgbClr val="FF0000"/>
                    </a:solidFill>
                    <a:effectLst/>
                    <a:uLnTx/>
                    <a:uFillTx/>
                    <a:latin typeface="Times New Roman" pitchFamily="18" charset="0"/>
                    <a:ea typeface="华文中宋" pitchFamily="2" charset="-122"/>
                    <a:sym typeface="Wingdings" pitchFamily="2" charset="2"/>
                  </a:rPr>
                  <a:t></a:t>
                </a:r>
                <a:r>
                  <a:rPr kumimoji="1" lang="zh-CN" altLang="en-US" sz="2000" b="1" i="0" u="none" strike="noStrike" kern="0" cap="none" spc="0" normalizeH="0" baseline="0" noProof="0" dirty="0" smtClean="0">
                    <a:ln>
                      <a:noFill/>
                    </a:ln>
                    <a:solidFill>
                      <a:srgbClr val="FF0000"/>
                    </a:solidFill>
                    <a:effectLst/>
                    <a:uLnTx/>
                    <a:uFillTx/>
                    <a:latin typeface="Times New Roman" pitchFamily="18" charset="0"/>
                    <a:ea typeface="华文中宋" pitchFamily="2" charset="-122"/>
                  </a:rPr>
                  <a:t>切向力</a:t>
                </a:r>
                <a:r>
                  <a:rPr kumimoji="1" lang="en-US" altLang="zh-CN" sz="2000" b="1" i="0" u="none" strike="noStrike" kern="0" cap="none" spc="0" normalizeH="0" baseline="0" noProof="0" dirty="0" smtClean="0">
                    <a:ln>
                      <a:noFill/>
                    </a:ln>
                    <a:solidFill>
                      <a:srgbClr val="FF0000"/>
                    </a:solidFill>
                    <a:effectLst/>
                    <a:uLnTx/>
                    <a:uFillTx/>
                    <a:latin typeface="Times New Roman" pitchFamily="18" charset="0"/>
                    <a:ea typeface="华文中宋" pitchFamily="2" charset="-122"/>
                  </a:rPr>
                  <a:t>(</a:t>
                </a:r>
                <a:r>
                  <a:rPr kumimoji="1" lang="zh-CN" altLang="en-US" sz="2000" b="1" i="0" u="none" strike="noStrike" kern="0" cap="none" spc="0" normalizeH="0" baseline="0" noProof="0" dirty="0" smtClean="0">
                    <a:ln>
                      <a:noFill/>
                    </a:ln>
                    <a:solidFill>
                      <a:srgbClr val="FF0000"/>
                    </a:solidFill>
                    <a:effectLst/>
                    <a:uLnTx/>
                    <a:uFillTx/>
                    <a:latin typeface="Times New Roman" pitchFamily="18" charset="0"/>
                    <a:ea typeface="华文中宋" pitchFamily="2" charset="-122"/>
                  </a:rPr>
                  <a:t>摩擦力，</a:t>
                </a:r>
                <a:r>
                  <a:rPr kumimoji="1" lang="en-US" altLang="zh-CN" sz="2000" b="1" i="0" u="none" strike="noStrike" kern="0" cap="none" spc="0" normalizeH="0" baseline="0" noProof="0" dirty="0" smtClean="0">
                    <a:ln>
                      <a:noFill/>
                    </a:ln>
                    <a:solidFill>
                      <a:srgbClr val="FF0000"/>
                    </a:solidFill>
                    <a:effectLst/>
                    <a:uLnTx/>
                    <a:uFillTx/>
                    <a:latin typeface="Times New Roman" pitchFamily="18" charset="0"/>
                    <a:ea typeface="华文中宋" pitchFamily="2" charset="-122"/>
                  </a:rPr>
                  <a:t>friction force)</a:t>
                </a:r>
                <a:endParaRPr kumimoji="1" lang="zh-CN" altLang="en-US" sz="2000" b="1" i="0" u="none" strike="noStrike" kern="0" cap="none" spc="0" normalizeH="0" baseline="0" noProof="0" dirty="0" smtClean="0">
                  <a:ln>
                    <a:noFill/>
                  </a:ln>
                  <a:solidFill>
                    <a:srgbClr val="FF0000"/>
                  </a:solidFill>
                  <a:effectLst/>
                  <a:uLnTx/>
                  <a:uFillTx/>
                  <a:latin typeface="Times New Roman" pitchFamily="18" charset="0"/>
                  <a:ea typeface="华文中宋" pitchFamily="2" charset="-122"/>
                </a:endParaRPr>
              </a:p>
            </p:txBody>
          </p:sp>
          <p:sp>
            <p:nvSpPr>
              <p:cNvPr id="32" name="Text Box 10"/>
              <p:cNvSpPr txBox="1">
                <a:spLocks noChangeArrowheads="1"/>
              </p:cNvSpPr>
              <p:nvPr/>
            </p:nvSpPr>
            <p:spPr bwMode="auto">
              <a:xfrm>
                <a:off x="825" y="2382"/>
                <a:ext cx="2055" cy="523"/>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引起磨损</a:t>
                </a:r>
              </a:p>
              <a:p>
                <a:pPr marL="0" marR="0" lvl="0" indent="0"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能量消耗，降低机器的效率</a:t>
                </a:r>
              </a:p>
            </p:txBody>
          </p:sp>
        </p:grpSp>
        <p:sp>
          <p:nvSpPr>
            <p:cNvPr id="25" name="TextBox 26"/>
            <p:cNvSpPr txBox="1">
              <a:spLocks noChangeArrowheads="1"/>
            </p:cNvSpPr>
            <p:nvPr/>
          </p:nvSpPr>
          <p:spPr bwMode="auto">
            <a:xfrm>
              <a:off x="700860" y="1906371"/>
              <a:ext cx="355600" cy="584775"/>
            </a:xfrm>
            <a:prstGeom prst="rect">
              <a:avLst/>
            </a:prstGeom>
            <a:solidFill>
              <a:srgbClr val="FFFF00"/>
            </a:solid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1600" b="0" i="0" u="none" strike="noStrike" kern="0" cap="none" spc="0" normalizeH="0" baseline="0" noProof="0" dirty="0" smtClean="0">
                  <a:ln>
                    <a:noFill/>
                  </a:ln>
                  <a:solidFill>
                    <a:srgbClr val="FF0000"/>
                  </a:solidFill>
                  <a:effectLst/>
                  <a:uLnTx/>
                  <a:uFillTx/>
                  <a:latin typeface="Arial" charset="0"/>
                  <a:ea typeface="黑体" pitchFamily="49" charset="-122"/>
                </a:rPr>
                <a:t>后果</a:t>
              </a:r>
            </a:p>
          </p:txBody>
        </p:sp>
        <p:sp>
          <p:nvSpPr>
            <p:cNvPr id="26" name="左大括号 59"/>
            <p:cNvSpPr/>
            <p:nvPr/>
          </p:nvSpPr>
          <p:spPr>
            <a:xfrm>
              <a:off x="1087013" y="2001840"/>
              <a:ext cx="173037" cy="417329"/>
            </a:xfrm>
            <a:prstGeom prst="leftBrace">
              <a:avLst/>
            </a:prstGeom>
            <a:noFill/>
            <a:ln w="9525" cap="flat" cmpd="sng" algn="ctr">
              <a:solidFill>
                <a:srgbClr val="000000">
                  <a:shade val="95000"/>
                  <a:satMod val="10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grpSp>
        <p:nvGrpSpPr>
          <p:cNvPr id="33" name="组合 31"/>
          <p:cNvGrpSpPr/>
          <p:nvPr/>
        </p:nvGrpSpPr>
        <p:grpSpPr bwMode="auto">
          <a:xfrm>
            <a:off x="4209157" y="619294"/>
            <a:ext cx="4683125" cy="1913167"/>
            <a:chOff x="4502153" y="650240"/>
            <a:chExt cx="4683125" cy="1913671"/>
          </a:xfrm>
        </p:grpSpPr>
        <p:grpSp>
          <p:nvGrpSpPr>
            <p:cNvPr id="34" name="Group 11"/>
            <p:cNvGrpSpPr/>
            <p:nvPr/>
          </p:nvGrpSpPr>
          <p:grpSpPr bwMode="auto">
            <a:xfrm>
              <a:off x="4502153" y="650240"/>
              <a:ext cx="4683125" cy="1913671"/>
              <a:chOff x="2924" y="1501"/>
              <a:chExt cx="2950" cy="1417"/>
            </a:xfrm>
          </p:grpSpPr>
          <p:sp>
            <p:nvSpPr>
              <p:cNvPr id="37" name="Rectangle 12"/>
              <p:cNvSpPr>
                <a:spLocks noChangeArrowheads="1"/>
              </p:cNvSpPr>
              <p:nvPr/>
            </p:nvSpPr>
            <p:spPr bwMode="auto">
              <a:xfrm>
                <a:off x="4152" y="1550"/>
                <a:ext cx="1177" cy="365"/>
              </a:xfrm>
              <a:prstGeom prst="rect">
                <a:avLst/>
              </a:prstGeom>
              <a:noFill/>
              <a:ln>
                <a:no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pPr>
                <a:r>
                  <a:rPr kumimoji="1" lang="zh-CN" altLang="en-US" sz="2600" b="1" i="0" u="none" strike="noStrike" kern="0" cap="none" spc="0" normalizeH="0" baseline="0" noProof="0" dirty="0" smtClean="0">
                    <a:ln>
                      <a:noFill/>
                    </a:ln>
                    <a:solidFill>
                      <a:srgbClr val="000099"/>
                    </a:solidFill>
                    <a:effectLst/>
                    <a:uLnTx/>
                    <a:uFillTx/>
                    <a:latin typeface="Times New Roman" pitchFamily="18" charset="0"/>
                    <a:ea typeface="华文中宋" pitchFamily="2" charset="-122"/>
                  </a:rPr>
                  <a:t>磨损</a:t>
                </a:r>
                <a:r>
                  <a:rPr kumimoji="1" lang="en-US" altLang="zh-CN" sz="2600" b="1" i="0" u="none" strike="noStrike" kern="0" cap="none" spc="0" normalizeH="0" baseline="0" noProof="0" dirty="0" smtClean="0">
                    <a:ln>
                      <a:noFill/>
                    </a:ln>
                    <a:solidFill>
                      <a:srgbClr val="000099"/>
                    </a:solidFill>
                    <a:effectLst/>
                    <a:uLnTx/>
                    <a:uFillTx/>
                    <a:latin typeface="Times New Roman" pitchFamily="18" charset="0"/>
                    <a:ea typeface="华文中宋" pitchFamily="2" charset="-122"/>
                  </a:rPr>
                  <a:t>(Wear)</a:t>
                </a:r>
              </a:p>
            </p:txBody>
          </p:sp>
          <p:sp>
            <p:nvSpPr>
              <p:cNvPr id="38" name="AutoShape 13"/>
              <p:cNvSpPr>
                <a:spLocks noChangeArrowheads="1"/>
              </p:cNvSpPr>
              <p:nvPr/>
            </p:nvSpPr>
            <p:spPr bwMode="auto">
              <a:xfrm>
                <a:off x="2924" y="2178"/>
                <a:ext cx="546" cy="129"/>
              </a:xfrm>
              <a:prstGeom prst="rightArrow">
                <a:avLst>
                  <a:gd name="adj1" fmla="val 50000"/>
                  <a:gd name="adj2" fmla="val 124998"/>
                </a:avLst>
              </a:prstGeom>
              <a:solidFill>
                <a:schemeClr val="bg1">
                  <a:lumMod val="95000"/>
                </a:schemeClr>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39" name="Text Box 14"/>
              <p:cNvSpPr txBox="1">
                <a:spLocks noChangeArrowheads="1"/>
              </p:cNvSpPr>
              <p:nvPr/>
            </p:nvSpPr>
            <p:spPr bwMode="auto">
              <a:xfrm>
                <a:off x="3496" y="1918"/>
                <a:ext cx="2378" cy="296"/>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摩擦表面上物质不断损耗的</a:t>
                </a:r>
                <a:r>
                  <a:rPr kumimoji="1" lang="zh-CN" altLang="en-US" sz="2000" b="0" i="0" u="none" strike="noStrike" kern="0" cap="none" spc="0" normalizeH="0" baseline="0" noProof="0" dirty="0" smtClean="0">
                    <a:ln>
                      <a:noFill/>
                    </a:ln>
                    <a:solidFill>
                      <a:srgbClr val="FF0000"/>
                    </a:solidFill>
                    <a:effectLst/>
                    <a:uLnTx/>
                    <a:uFillTx/>
                    <a:latin typeface="Times New Roman" pitchFamily="18" charset="0"/>
                    <a:ea typeface="华文中宋" pitchFamily="2" charset="-122"/>
                  </a:rPr>
                  <a:t>现象</a:t>
                </a:r>
              </a:p>
            </p:txBody>
          </p:sp>
          <p:sp>
            <p:nvSpPr>
              <p:cNvPr id="40" name="Text Box 16"/>
              <p:cNvSpPr txBox="1">
                <a:spLocks noChangeArrowheads="1"/>
              </p:cNvSpPr>
              <p:nvPr/>
            </p:nvSpPr>
            <p:spPr bwMode="auto">
              <a:xfrm>
                <a:off x="3934" y="2316"/>
                <a:ext cx="1894" cy="524"/>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不可避免（一般）</a:t>
                </a:r>
              </a:p>
              <a:p>
                <a:pPr marL="0" marR="0" lvl="0" indent="0"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降低可靠性、精度和寿命</a:t>
                </a:r>
              </a:p>
            </p:txBody>
          </p:sp>
          <p:sp>
            <p:nvSpPr>
              <p:cNvPr id="41" name="Rectangle 17"/>
              <p:cNvSpPr>
                <a:spLocks noChangeArrowheads="1"/>
              </p:cNvSpPr>
              <p:nvPr/>
            </p:nvSpPr>
            <p:spPr bwMode="auto">
              <a:xfrm>
                <a:off x="3470" y="1501"/>
                <a:ext cx="2404" cy="1417"/>
              </a:xfrm>
              <a:prstGeom prst="rect">
                <a:avLst/>
              </a:prstGeom>
              <a:noFill/>
              <a:ln w="19050">
                <a:solidFill>
                  <a:srgbClr val="CC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grpSp>
        <p:sp>
          <p:nvSpPr>
            <p:cNvPr id="35" name="TextBox 29"/>
            <p:cNvSpPr txBox="1">
              <a:spLocks noChangeArrowheads="1"/>
            </p:cNvSpPr>
            <p:nvPr/>
          </p:nvSpPr>
          <p:spPr bwMode="auto">
            <a:xfrm>
              <a:off x="5584578" y="1807794"/>
              <a:ext cx="355600" cy="584775"/>
            </a:xfrm>
            <a:prstGeom prst="rect">
              <a:avLst/>
            </a:prstGeom>
            <a:solidFill>
              <a:srgbClr val="FFFF00"/>
            </a:solid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1600" b="0" i="0" u="none" strike="noStrike" kern="0" cap="none" spc="0" normalizeH="0" baseline="0" noProof="0" dirty="0" smtClean="0">
                  <a:ln>
                    <a:noFill/>
                  </a:ln>
                  <a:solidFill>
                    <a:srgbClr val="FF0000"/>
                  </a:solidFill>
                  <a:effectLst/>
                  <a:uLnTx/>
                  <a:uFillTx/>
                  <a:latin typeface="Arial" charset="0"/>
                  <a:ea typeface="黑体" pitchFamily="49" charset="-122"/>
                </a:rPr>
                <a:t>特点</a:t>
              </a:r>
            </a:p>
          </p:txBody>
        </p:sp>
        <p:sp>
          <p:nvSpPr>
            <p:cNvPr id="36" name="左大括号 69"/>
            <p:cNvSpPr/>
            <p:nvPr/>
          </p:nvSpPr>
          <p:spPr>
            <a:xfrm>
              <a:off x="5987605" y="1897830"/>
              <a:ext cx="173037" cy="416034"/>
            </a:xfrm>
            <a:prstGeom prst="leftBrace">
              <a:avLst/>
            </a:prstGeom>
            <a:noFill/>
            <a:ln w="9525" cap="flat" cmpd="sng" algn="ctr">
              <a:solidFill>
                <a:srgbClr val="000000">
                  <a:shade val="95000"/>
                  <a:satMod val="10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grpSp>
        <p:nvGrpSpPr>
          <p:cNvPr id="42" name="组合 34"/>
          <p:cNvGrpSpPr/>
          <p:nvPr/>
        </p:nvGrpSpPr>
        <p:grpSpPr bwMode="auto">
          <a:xfrm>
            <a:off x="1854895" y="2454540"/>
            <a:ext cx="5348287" cy="3029548"/>
            <a:chOff x="2148523" y="2237397"/>
            <a:chExt cx="5348289" cy="3029489"/>
          </a:xfrm>
        </p:grpSpPr>
        <p:grpSp>
          <p:nvGrpSpPr>
            <p:cNvPr id="43" name="Group 27"/>
            <p:cNvGrpSpPr/>
            <p:nvPr/>
          </p:nvGrpSpPr>
          <p:grpSpPr bwMode="auto">
            <a:xfrm>
              <a:off x="2148523" y="2237397"/>
              <a:ext cx="5348289" cy="3029489"/>
              <a:chOff x="1475" y="2125"/>
              <a:chExt cx="3369" cy="2006"/>
            </a:xfrm>
          </p:grpSpPr>
          <p:sp>
            <p:nvSpPr>
              <p:cNvPr id="46" name="Rectangle 20"/>
              <p:cNvSpPr>
                <a:spLocks noChangeArrowheads="1"/>
              </p:cNvSpPr>
              <p:nvPr/>
            </p:nvSpPr>
            <p:spPr bwMode="auto">
              <a:xfrm>
                <a:off x="2253" y="2844"/>
                <a:ext cx="1750" cy="326"/>
              </a:xfrm>
              <a:prstGeom prst="rect">
                <a:avLst/>
              </a:prstGeom>
              <a:noFill/>
              <a:ln>
                <a:no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pPr>
                <a:r>
                  <a:rPr kumimoji="1" lang="zh-CN" altLang="en-US" sz="2600" b="1" i="0" u="none" strike="noStrike" kern="0" cap="none" spc="0" normalizeH="0" baseline="0" noProof="0" dirty="0" smtClean="0">
                    <a:ln>
                      <a:noFill/>
                    </a:ln>
                    <a:solidFill>
                      <a:srgbClr val="000099"/>
                    </a:solidFill>
                    <a:effectLst/>
                    <a:uLnTx/>
                    <a:uFillTx/>
                    <a:latin typeface="Times New Roman" pitchFamily="18" charset="0"/>
                    <a:ea typeface="华文中宋" pitchFamily="2" charset="-122"/>
                  </a:rPr>
                  <a:t>润滑</a:t>
                </a:r>
                <a:r>
                  <a:rPr kumimoji="1" lang="en-US" altLang="zh-CN" sz="2600" b="1" i="0" u="none" strike="noStrike" kern="0" cap="none" spc="0" normalizeH="0" baseline="0" noProof="0" dirty="0" smtClean="0">
                    <a:ln>
                      <a:noFill/>
                    </a:ln>
                    <a:solidFill>
                      <a:srgbClr val="000099"/>
                    </a:solidFill>
                    <a:effectLst/>
                    <a:uLnTx/>
                    <a:uFillTx/>
                    <a:latin typeface="Times New Roman" pitchFamily="18" charset="0"/>
                    <a:ea typeface="华文中宋" pitchFamily="2" charset="-122"/>
                  </a:rPr>
                  <a:t>(Lubrication)</a:t>
                </a:r>
              </a:p>
            </p:txBody>
          </p:sp>
          <p:sp>
            <p:nvSpPr>
              <p:cNvPr id="47" name="AutoShape 21"/>
              <p:cNvSpPr>
                <a:spLocks noChangeArrowheads="1"/>
              </p:cNvSpPr>
              <p:nvPr/>
            </p:nvSpPr>
            <p:spPr bwMode="auto">
              <a:xfrm rot="3601453" flipH="1">
                <a:off x="1386" y="2451"/>
                <a:ext cx="725" cy="95"/>
              </a:xfrm>
              <a:prstGeom prst="rightArrow">
                <a:avLst>
                  <a:gd name="adj1" fmla="val 50000"/>
                  <a:gd name="adj2" fmla="val 200647"/>
                </a:avLst>
              </a:prstGeom>
              <a:solidFill>
                <a:schemeClr val="bg1">
                  <a:lumMod val="95000"/>
                </a:schemeClr>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48" name="Text Box 22"/>
              <p:cNvSpPr txBox="1">
                <a:spLocks noChangeArrowheads="1"/>
              </p:cNvSpPr>
              <p:nvPr/>
            </p:nvSpPr>
            <p:spPr bwMode="auto">
              <a:xfrm>
                <a:off x="1609" y="3138"/>
                <a:ext cx="3166" cy="469"/>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通过润滑剂的薄膜将两个表面分开，减小切向力，它是减小摩擦降低磨损的重要手段</a:t>
                </a:r>
              </a:p>
            </p:txBody>
          </p:sp>
          <p:sp>
            <p:nvSpPr>
              <p:cNvPr id="49" name="Text Box 23"/>
              <p:cNvSpPr txBox="1">
                <a:spLocks noChangeArrowheads="1"/>
              </p:cNvSpPr>
              <p:nvPr/>
            </p:nvSpPr>
            <p:spPr bwMode="auto">
              <a:xfrm>
                <a:off x="1973" y="3615"/>
                <a:ext cx="2755" cy="469"/>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减小能量损失和表面的物理相互作用</a:t>
                </a:r>
              </a:p>
              <a:p>
                <a:pPr marL="0" marR="0" lvl="0" indent="0"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带走摩擦热和磨屑，</a:t>
                </a:r>
                <a:r>
                  <a:rPr kumimoji="1" lang="en-US" altLang="zh-CN"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 </a:t>
                </a:r>
                <a:r>
                  <a:rPr kumimoji="1" lang="zh-CN" altLang="en-US" sz="2000" b="0" i="0" u="none" strike="noStrike" kern="0" cap="none" spc="0" normalizeH="0" baseline="0" noProof="0" dirty="0" smtClean="0">
                    <a:ln>
                      <a:noFill/>
                    </a:ln>
                    <a:solidFill>
                      <a:srgbClr val="000000"/>
                    </a:solidFill>
                    <a:effectLst/>
                    <a:uLnTx/>
                    <a:uFillTx/>
                    <a:latin typeface="Times New Roman" pitchFamily="18" charset="0"/>
                    <a:ea typeface="华文中宋" pitchFamily="2" charset="-122"/>
                  </a:rPr>
                  <a:t>防止表面腐蚀</a:t>
                </a:r>
              </a:p>
            </p:txBody>
          </p:sp>
          <p:sp>
            <p:nvSpPr>
              <p:cNvPr id="50" name="Rectangle 24"/>
              <p:cNvSpPr>
                <a:spLocks noChangeArrowheads="1"/>
              </p:cNvSpPr>
              <p:nvPr/>
            </p:nvSpPr>
            <p:spPr bwMode="auto">
              <a:xfrm>
                <a:off x="1475" y="2813"/>
                <a:ext cx="3369" cy="1318"/>
              </a:xfrm>
              <a:prstGeom prst="rect">
                <a:avLst/>
              </a:prstGeom>
              <a:noFill/>
              <a:ln w="19050">
                <a:solidFill>
                  <a:srgbClr val="CC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1" name="AutoShape 26"/>
              <p:cNvSpPr>
                <a:spLocks noChangeArrowheads="1"/>
              </p:cNvSpPr>
              <p:nvPr/>
            </p:nvSpPr>
            <p:spPr bwMode="auto">
              <a:xfrm rot="-3432943">
                <a:off x="4150" y="2446"/>
                <a:ext cx="732" cy="89"/>
              </a:xfrm>
              <a:prstGeom prst="rightArrow">
                <a:avLst>
                  <a:gd name="adj1" fmla="val 50000"/>
                  <a:gd name="adj2" fmla="val 196784"/>
                </a:avLst>
              </a:prstGeom>
              <a:solidFill>
                <a:schemeClr val="bg1">
                  <a:lumMod val="95000"/>
                </a:schemeClr>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grpSp>
        <p:sp>
          <p:nvSpPr>
            <p:cNvPr id="44" name="TextBox 32"/>
            <p:cNvSpPr txBox="1">
              <a:spLocks noChangeArrowheads="1"/>
            </p:cNvSpPr>
            <p:nvPr/>
          </p:nvSpPr>
          <p:spPr bwMode="auto">
            <a:xfrm>
              <a:off x="2448560" y="4562727"/>
              <a:ext cx="355600" cy="584775"/>
            </a:xfrm>
            <a:prstGeom prst="rect">
              <a:avLst/>
            </a:prstGeom>
            <a:solidFill>
              <a:srgbClr val="FFFF00"/>
            </a:solid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1600" b="0" i="0" u="none" strike="noStrike" kern="0" cap="none" spc="0" normalizeH="0" baseline="0" noProof="0" smtClean="0">
                  <a:ln>
                    <a:noFill/>
                  </a:ln>
                  <a:solidFill>
                    <a:srgbClr val="FF0000"/>
                  </a:solidFill>
                  <a:effectLst/>
                  <a:uLnTx/>
                  <a:uFillTx/>
                  <a:latin typeface="Arial" charset="0"/>
                  <a:ea typeface="黑体" pitchFamily="49" charset="-122"/>
                </a:rPr>
                <a:t>作用</a:t>
              </a:r>
            </a:p>
          </p:txBody>
        </p:sp>
        <p:sp>
          <p:nvSpPr>
            <p:cNvPr id="45" name="左大括号 78"/>
            <p:cNvSpPr/>
            <p:nvPr/>
          </p:nvSpPr>
          <p:spPr>
            <a:xfrm>
              <a:off x="2819811" y="4635492"/>
              <a:ext cx="173038" cy="415917"/>
            </a:xfrm>
            <a:prstGeom prst="leftBrace">
              <a:avLst/>
            </a:prstGeom>
            <a:noFill/>
            <a:ln w="9525" cap="flat" cmpd="sng" algn="ctr">
              <a:solidFill>
                <a:srgbClr val="000000">
                  <a:shade val="95000"/>
                  <a:satMod val="10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spTree>
    <p:extLst>
      <p:ext uri="{BB962C8B-B14F-4D97-AF65-F5344CB8AC3E}">
        <p14:creationId xmlns:p14="http://schemas.microsoft.com/office/powerpoint/2010/main" val="36754872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51"/>
          <p:cNvGrpSpPr/>
          <p:nvPr/>
        </p:nvGrpSpPr>
        <p:grpSpPr>
          <a:xfrm>
            <a:off x="323528" y="553244"/>
            <a:ext cx="1987409" cy="523220"/>
            <a:chOff x="323528" y="553244"/>
            <a:chExt cx="1987409" cy="523220"/>
          </a:xfrm>
        </p:grpSpPr>
        <p:sp>
          <p:nvSpPr>
            <p:cNvPr id="5" name="Text Box 5"/>
            <p:cNvSpPr txBox="1">
              <a:spLocks noChangeArrowheads="1"/>
            </p:cNvSpPr>
            <p:nvPr/>
          </p:nvSpPr>
          <p:spPr bwMode="auto">
            <a:xfrm>
              <a:off x="683568" y="553244"/>
              <a:ext cx="1627369" cy="523220"/>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b="1" dirty="0" smtClean="0">
                  <a:solidFill>
                    <a:srgbClr val="000099"/>
                  </a:solidFill>
                  <a:effectLst/>
                  <a:latin typeface="黑体" pitchFamily="49" charset="-122"/>
                </a:rPr>
                <a:t>摩擦分类</a:t>
              </a:r>
              <a:endParaRPr lang="zh-CN" altLang="en-US" b="1" dirty="0">
                <a:solidFill>
                  <a:srgbClr val="000099"/>
                </a:solidFill>
                <a:effectLst/>
                <a:latin typeface="黑体" pitchFamily="49" charset="-122"/>
              </a:endParaRPr>
            </a:p>
          </p:txBody>
        </p:sp>
        <p:pic>
          <p:nvPicPr>
            <p:cNvPr id="6" name="Picture 15" descr="AR1031"/>
            <p:cNvPicPr>
              <a:picLocks noChangeAspect="1" noChangeArrowheads="1"/>
            </p:cNvPicPr>
            <p:nvPr/>
          </p:nvPicPr>
          <p:blipFill>
            <a:blip r:embed="rId3">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sp>
        <p:nvSpPr>
          <p:cNvPr id="7" name="单圆角矩形 6"/>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摩擦的分类</a:t>
            </a:r>
            <a:endParaRPr lang="zh-CN" altLang="en-US" sz="1500" dirty="0">
              <a:solidFill>
                <a:srgbClr val="FF6600"/>
              </a:solidFill>
            </a:endParaRPr>
          </a:p>
        </p:txBody>
      </p:sp>
      <p:sp>
        <p:nvSpPr>
          <p:cNvPr id="8" name="直角三角形 7"/>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2"/>
          <p:cNvSpPr>
            <a:spLocks noChangeArrowheads="1"/>
          </p:cNvSpPr>
          <p:nvPr/>
        </p:nvSpPr>
        <p:spPr bwMode="auto">
          <a:xfrm>
            <a:off x="190240" y="2168350"/>
            <a:ext cx="1402503" cy="446276"/>
          </a:xfrm>
          <a:prstGeom prst="rect">
            <a:avLst/>
          </a:prstGeom>
          <a:noFill/>
          <a:ln>
            <a:noFill/>
          </a:ln>
          <a:effectLst/>
        </p:spPr>
        <p:txBody>
          <a:bodyPr wrap="square">
            <a:spAutoFit/>
          </a:bodyPr>
          <a:lstStyle/>
          <a:p>
            <a:pPr algn="ctr"/>
            <a:r>
              <a:rPr lang="zh-CN" altLang="en-US" sz="2300" dirty="0">
                <a:solidFill>
                  <a:srgbClr val="000000"/>
                </a:solidFill>
                <a:latin typeface="黑体" pitchFamily="2" charset="-122"/>
                <a:ea typeface="黑体" pitchFamily="2" charset="-122"/>
              </a:rPr>
              <a:t>摩擦分类</a:t>
            </a:r>
          </a:p>
        </p:txBody>
      </p:sp>
      <p:grpSp>
        <p:nvGrpSpPr>
          <p:cNvPr id="23" name="组合 2"/>
          <p:cNvGrpSpPr/>
          <p:nvPr/>
        </p:nvGrpSpPr>
        <p:grpSpPr>
          <a:xfrm>
            <a:off x="1757327" y="2448398"/>
            <a:ext cx="2417600" cy="1531393"/>
            <a:chOff x="1703538" y="2107934"/>
            <a:chExt cx="2417600" cy="1531393"/>
          </a:xfrm>
        </p:grpSpPr>
        <p:sp>
          <p:nvSpPr>
            <p:cNvPr id="24" name="Rectangle 3"/>
            <p:cNvSpPr>
              <a:spLocks noChangeArrowheads="1"/>
            </p:cNvSpPr>
            <p:nvPr/>
          </p:nvSpPr>
          <p:spPr bwMode="auto">
            <a:xfrm>
              <a:off x="2968613" y="3204987"/>
              <a:ext cx="1152525" cy="434340"/>
            </a:xfrm>
            <a:prstGeom prst="rect">
              <a:avLst/>
            </a:prstGeom>
            <a:noFill/>
            <a:ln>
              <a:noFill/>
            </a:ln>
            <a:effectLst/>
          </p:spPr>
          <p:txBody>
            <a:bodyPr>
              <a:spAutoFit/>
            </a:bodyPr>
            <a:lstStyle/>
            <a:p>
              <a:pPr algn="just"/>
              <a:r>
                <a:rPr lang="zh-CN" altLang="en-US" sz="2300" dirty="0">
                  <a:solidFill>
                    <a:srgbClr val="000000"/>
                  </a:solidFill>
                  <a:latin typeface="黑体" pitchFamily="2" charset="-122"/>
                  <a:ea typeface="黑体" pitchFamily="2" charset="-122"/>
                </a:rPr>
                <a:t>动摩擦 </a:t>
              </a:r>
            </a:p>
          </p:txBody>
        </p:sp>
        <p:sp>
          <p:nvSpPr>
            <p:cNvPr id="25" name="Rectangle 5"/>
            <p:cNvSpPr>
              <a:spLocks noChangeArrowheads="1"/>
            </p:cNvSpPr>
            <p:nvPr/>
          </p:nvSpPr>
          <p:spPr bwMode="auto">
            <a:xfrm>
              <a:off x="2956587" y="2107934"/>
              <a:ext cx="1059180" cy="434341"/>
            </a:xfrm>
            <a:prstGeom prst="rect">
              <a:avLst/>
            </a:prstGeom>
            <a:noFill/>
            <a:ln>
              <a:noFill/>
            </a:ln>
            <a:effectLst/>
          </p:spPr>
          <p:txBody>
            <a:bodyPr wrap="none">
              <a:spAutoFit/>
            </a:bodyPr>
            <a:lstStyle/>
            <a:p>
              <a:r>
                <a:rPr lang="zh-CN" altLang="en-US" sz="2300" dirty="0">
                  <a:solidFill>
                    <a:srgbClr val="000000"/>
                  </a:solidFill>
                  <a:latin typeface="黑体" pitchFamily="2" charset="-122"/>
                  <a:ea typeface="黑体" pitchFamily="2" charset="-122"/>
                </a:rPr>
                <a:t>静摩擦</a:t>
              </a:r>
            </a:p>
          </p:txBody>
        </p:sp>
        <p:sp>
          <p:nvSpPr>
            <p:cNvPr id="26" name="Text Box 8"/>
            <p:cNvSpPr txBox="1">
              <a:spLocks noChangeArrowheads="1"/>
            </p:cNvSpPr>
            <p:nvPr/>
          </p:nvSpPr>
          <p:spPr bwMode="auto">
            <a:xfrm>
              <a:off x="1703538" y="2640972"/>
              <a:ext cx="1069524" cy="446276"/>
            </a:xfrm>
            <a:prstGeom prst="rect">
              <a:avLst/>
            </a:prstGeom>
            <a:noFill/>
            <a:ln>
              <a:noFill/>
            </a:ln>
            <a:effectLst/>
          </p:spPr>
          <p:txBody>
            <a:bodyPr wrap="none">
              <a:spAutoFit/>
            </a:bodyPr>
            <a:lstStyle/>
            <a:p>
              <a:r>
                <a:rPr kumimoji="0" lang="zh-CN" altLang="en-US" sz="2300" dirty="0" smtClean="0">
                  <a:solidFill>
                    <a:srgbClr val="000000"/>
                  </a:solidFill>
                  <a:latin typeface="黑体" pitchFamily="2" charset="-122"/>
                  <a:ea typeface="黑体" pitchFamily="2" charset="-122"/>
                </a:rPr>
                <a:t>外摩擦</a:t>
              </a:r>
              <a:endParaRPr kumimoji="0" lang="zh-CN" altLang="en-US" sz="2300" dirty="0">
                <a:solidFill>
                  <a:srgbClr val="000000"/>
                </a:solidFill>
                <a:latin typeface="黑体" pitchFamily="2" charset="-122"/>
                <a:ea typeface="黑体" pitchFamily="2" charset="-122"/>
              </a:endParaRPr>
            </a:p>
          </p:txBody>
        </p:sp>
        <p:sp>
          <p:nvSpPr>
            <p:cNvPr id="27" name="AutoShape 10"/>
            <p:cNvSpPr/>
            <p:nvPr/>
          </p:nvSpPr>
          <p:spPr bwMode="auto">
            <a:xfrm>
              <a:off x="2762524" y="2242343"/>
              <a:ext cx="194063" cy="1308713"/>
            </a:xfrm>
            <a:prstGeom prst="leftBrace">
              <a:avLst>
                <a:gd name="adj1" fmla="val 53922"/>
                <a:gd name="adj2" fmla="val 50000"/>
              </a:avLst>
            </a:prstGeom>
            <a:noFill/>
            <a:ln w="12700">
              <a:solidFill>
                <a:schemeClr val="tx1"/>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2300" b="0" i="0" u="none" strike="noStrike" kern="0" cap="none" spc="0" normalizeH="0" baseline="0" noProof="0" smtClean="0">
                <a:ln>
                  <a:noFill/>
                </a:ln>
                <a:solidFill>
                  <a:sysClr val="windowText" lastClr="000000"/>
                </a:solidFill>
                <a:effectLst/>
                <a:uLnTx/>
                <a:uFillTx/>
                <a:latin typeface="黑体" pitchFamily="2" charset="-122"/>
                <a:ea typeface="黑体" pitchFamily="2" charset="-122"/>
              </a:endParaRPr>
            </a:p>
          </p:txBody>
        </p:sp>
      </p:grpSp>
      <p:grpSp>
        <p:nvGrpSpPr>
          <p:cNvPr id="28" name="组合 4"/>
          <p:cNvGrpSpPr/>
          <p:nvPr/>
        </p:nvGrpSpPr>
        <p:grpSpPr>
          <a:xfrm>
            <a:off x="1593296" y="1299232"/>
            <a:ext cx="7369006" cy="2020052"/>
            <a:chOff x="1554297" y="1216673"/>
            <a:chExt cx="7369006" cy="2020052"/>
          </a:xfrm>
        </p:grpSpPr>
        <p:sp>
          <p:nvSpPr>
            <p:cNvPr id="29" name="AutoShape 6"/>
            <p:cNvSpPr/>
            <p:nvPr/>
          </p:nvSpPr>
          <p:spPr bwMode="auto">
            <a:xfrm>
              <a:off x="1554297" y="1389717"/>
              <a:ext cx="163478" cy="1847008"/>
            </a:xfrm>
            <a:prstGeom prst="leftBrace">
              <a:avLst>
                <a:gd name="adj1" fmla="val 55259"/>
                <a:gd name="adj2" fmla="val 50000"/>
              </a:avLst>
            </a:prstGeom>
            <a:noFill/>
            <a:ln w="12700">
              <a:solidFill>
                <a:schemeClr val="tx1"/>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2300" b="0" i="0" u="none" strike="noStrike" kern="0" cap="none" spc="0" normalizeH="0" baseline="0" noProof="0" smtClean="0">
                <a:ln>
                  <a:noFill/>
                </a:ln>
                <a:solidFill>
                  <a:sysClr val="windowText" lastClr="000000"/>
                </a:solidFill>
                <a:effectLst/>
                <a:uLnTx/>
                <a:uFillTx/>
                <a:latin typeface="黑体" pitchFamily="2" charset="-122"/>
                <a:ea typeface="黑体" pitchFamily="2" charset="-122"/>
              </a:endParaRPr>
            </a:p>
          </p:txBody>
        </p:sp>
        <p:sp>
          <p:nvSpPr>
            <p:cNvPr id="34" name="Rectangle 11"/>
            <p:cNvSpPr>
              <a:spLocks noChangeArrowheads="1"/>
            </p:cNvSpPr>
            <p:nvPr/>
          </p:nvSpPr>
          <p:spPr bwMode="auto">
            <a:xfrm>
              <a:off x="1717774" y="1216673"/>
              <a:ext cx="7205529" cy="446276"/>
            </a:xfrm>
            <a:prstGeom prst="rect">
              <a:avLst/>
            </a:prstGeom>
            <a:noFill/>
            <a:ln>
              <a:noFill/>
            </a:ln>
            <a:effectLst/>
          </p:spPr>
          <p:txBody>
            <a:bodyPr wrap="square">
              <a:spAutoFit/>
            </a:bodyPr>
            <a:lstStyle/>
            <a:p>
              <a:r>
                <a:rPr lang="zh-CN" altLang="en-US" sz="2300" dirty="0" smtClean="0">
                  <a:solidFill>
                    <a:srgbClr val="000000"/>
                  </a:solidFill>
                  <a:latin typeface="黑体" pitchFamily="2" charset="-122"/>
                  <a:ea typeface="黑体" pitchFamily="2" charset="-122"/>
                </a:rPr>
                <a:t>内摩擦（发生在物质内部、阻碍分子间的相对运动）</a:t>
              </a:r>
              <a:endParaRPr lang="zh-CN" altLang="en-US" sz="2300" dirty="0">
                <a:solidFill>
                  <a:srgbClr val="000000"/>
                </a:solidFill>
                <a:latin typeface="黑体" pitchFamily="2" charset="-122"/>
                <a:ea typeface="黑体" pitchFamily="2" charset="-122"/>
              </a:endParaRPr>
            </a:p>
          </p:txBody>
        </p:sp>
      </p:grpSp>
      <p:grpSp>
        <p:nvGrpSpPr>
          <p:cNvPr id="35" name="组合 3"/>
          <p:cNvGrpSpPr/>
          <p:nvPr/>
        </p:nvGrpSpPr>
        <p:grpSpPr>
          <a:xfrm>
            <a:off x="4174926" y="2580860"/>
            <a:ext cx="1546179" cy="2321065"/>
            <a:chOff x="4213666" y="2414551"/>
            <a:chExt cx="1546179" cy="2321065"/>
          </a:xfrm>
        </p:grpSpPr>
        <p:sp>
          <p:nvSpPr>
            <p:cNvPr id="36" name="AutoShape 12"/>
            <p:cNvSpPr/>
            <p:nvPr/>
          </p:nvSpPr>
          <p:spPr bwMode="auto">
            <a:xfrm>
              <a:off x="4213666" y="2536296"/>
              <a:ext cx="186743" cy="2125020"/>
            </a:xfrm>
            <a:prstGeom prst="leftBrace">
              <a:avLst>
                <a:gd name="adj1" fmla="val 81481"/>
                <a:gd name="adj2" fmla="val 50000"/>
              </a:avLst>
            </a:prstGeom>
            <a:noFill/>
            <a:ln w="12700">
              <a:solidFill>
                <a:schemeClr val="tx1"/>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2300" b="0" i="0" u="none" strike="noStrike" kern="0" cap="none" spc="0" normalizeH="0" baseline="0" noProof="0" smtClean="0">
                <a:ln>
                  <a:noFill/>
                </a:ln>
                <a:solidFill>
                  <a:sysClr val="windowText" lastClr="000000"/>
                </a:solidFill>
                <a:effectLst/>
                <a:uLnTx/>
                <a:uFillTx/>
                <a:latin typeface="黑体" pitchFamily="2" charset="-122"/>
                <a:ea typeface="黑体" pitchFamily="2" charset="-122"/>
              </a:endParaRPr>
            </a:p>
          </p:txBody>
        </p:sp>
        <p:sp>
          <p:nvSpPr>
            <p:cNvPr id="37" name="Text Box 13"/>
            <p:cNvSpPr txBox="1">
              <a:spLocks noChangeArrowheads="1"/>
            </p:cNvSpPr>
            <p:nvPr/>
          </p:nvSpPr>
          <p:spPr bwMode="auto">
            <a:xfrm>
              <a:off x="4400410" y="2414551"/>
              <a:ext cx="1351280" cy="434341"/>
            </a:xfrm>
            <a:prstGeom prst="rect">
              <a:avLst/>
            </a:prstGeom>
            <a:noFill/>
            <a:ln>
              <a:noFill/>
            </a:ln>
            <a:effectLst/>
          </p:spPr>
          <p:txBody>
            <a:bodyPr wrap="none">
              <a:spAutoFit/>
            </a:bodyPr>
            <a:lstStyle/>
            <a:p>
              <a:r>
                <a:rPr kumimoji="0" lang="zh-CN" altLang="en-US" sz="2300" dirty="0">
                  <a:solidFill>
                    <a:srgbClr val="000000"/>
                  </a:solidFill>
                  <a:latin typeface="黑体" pitchFamily="2" charset="-122"/>
                  <a:ea typeface="黑体" pitchFamily="2" charset="-122"/>
                </a:rPr>
                <a:t>滑动摩擦</a:t>
              </a:r>
            </a:p>
          </p:txBody>
        </p:sp>
        <p:sp>
          <p:nvSpPr>
            <p:cNvPr id="38" name="Text Box 14"/>
            <p:cNvSpPr txBox="1">
              <a:spLocks noChangeArrowheads="1"/>
            </p:cNvSpPr>
            <p:nvPr/>
          </p:nvSpPr>
          <p:spPr bwMode="auto">
            <a:xfrm>
              <a:off x="4408565" y="4301275"/>
              <a:ext cx="1351280" cy="434341"/>
            </a:xfrm>
            <a:prstGeom prst="rect">
              <a:avLst/>
            </a:prstGeom>
            <a:noFill/>
            <a:ln>
              <a:noFill/>
            </a:ln>
            <a:effectLst/>
          </p:spPr>
          <p:txBody>
            <a:bodyPr wrap="none">
              <a:spAutoFit/>
            </a:bodyPr>
            <a:lstStyle/>
            <a:p>
              <a:r>
                <a:rPr kumimoji="0" lang="zh-CN" altLang="en-US" sz="2300" dirty="0">
                  <a:solidFill>
                    <a:srgbClr val="000000"/>
                  </a:solidFill>
                  <a:latin typeface="黑体" pitchFamily="2" charset="-122"/>
                  <a:ea typeface="黑体" pitchFamily="2" charset="-122"/>
                </a:rPr>
                <a:t>滚动摩擦</a:t>
              </a:r>
            </a:p>
          </p:txBody>
        </p:sp>
      </p:grpSp>
      <p:grpSp>
        <p:nvGrpSpPr>
          <p:cNvPr id="42" name="组合 6"/>
          <p:cNvGrpSpPr/>
          <p:nvPr/>
        </p:nvGrpSpPr>
        <p:grpSpPr>
          <a:xfrm>
            <a:off x="5725210" y="1854278"/>
            <a:ext cx="3268306" cy="1887505"/>
            <a:chOff x="5819314" y="2172147"/>
            <a:chExt cx="3268306" cy="1887505"/>
          </a:xfrm>
        </p:grpSpPr>
        <p:sp>
          <p:nvSpPr>
            <p:cNvPr id="49" name="AutoShape 15"/>
            <p:cNvSpPr/>
            <p:nvPr/>
          </p:nvSpPr>
          <p:spPr bwMode="auto">
            <a:xfrm>
              <a:off x="5819314" y="2360901"/>
              <a:ext cx="152400" cy="1542801"/>
            </a:xfrm>
            <a:prstGeom prst="leftBrace">
              <a:avLst>
                <a:gd name="adj1" fmla="val 50000"/>
                <a:gd name="adj2" fmla="val 50000"/>
              </a:avLst>
            </a:prstGeom>
            <a:noFill/>
            <a:ln w="12700">
              <a:solidFill>
                <a:schemeClr val="tx1"/>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2300" b="0" i="0" u="none" strike="noStrike" kern="0" cap="none" spc="0" normalizeH="0" baseline="0" noProof="0" smtClean="0">
                <a:ln>
                  <a:noFill/>
                </a:ln>
                <a:solidFill>
                  <a:sysClr val="windowText" lastClr="000000"/>
                </a:solidFill>
                <a:effectLst/>
                <a:uLnTx/>
                <a:uFillTx/>
                <a:latin typeface="黑体" pitchFamily="2" charset="-122"/>
                <a:ea typeface="黑体" pitchFamily="2" charset="-122"/>
              </a:endParaRPr>
            </a:p>
          </p:txBody>
        </p:sp>
        <p:sp>
          <p:nvSpPr>
            <p:cNvPr id="51" name="Text Box 16"/>
            <p:cNvSpPr txBox="1">
              <a:spLocks noChangeArrowheads="1"/>
            </p:cNvSpPr>
            <p:nvPr/>
          </p:nvSpPr>
          <p:spPr bwMode="auto">
            <a:xfrm>
              <a:off x="5983740" y="2172147"/>
              <a:ext cx="2519680" cy="537210"/>
            </a:xfrm>
            <a:prstGeom prst="rect">
              <a:avLst/>
            </a:prstGeom>
            <a:noFill/>
            <a:ln>
              <a:noFill/>
            </a:ln>
            <a:effectLst/>
          </p:spPr>
          <p:txBody>
            <a:bodyPr wrap="none">
              <a:spAutoFit/>
            </a:bodyPr>
            <a:lstStyle/>
            <a:p>
              <a:pPr>
                <a:lnSpc>
                  <a:spcPct val="130000"/>
                </a:lnSpc>
              </a:pPr>
              <a:r>
                <a:rPr kumimoji="0" lang="zh-CN" altLang="en-US" sz="2300" dirty="0" smtClean="0">
                  <a:solidFill>
                    <a:srgbClr val="000000"/>
                  </a:solidFill>
                  <a:latin typeface="黑体" pitchFamily="2" charset="-122"/>
                  <a:ea typeface="黑体" pitchFamily="2" charset="-122"/>
                </a:rPr>
                <a:t>干摩擦（最不利）</a:t>
              </a:r>
              <a:endParaRPr kumimoji="0" lang="zh-CN" altLang="en-US" sz="2300" dirty="0">
                <a:solidFill>
                  <a:srgbClr val="000000"/>
                </a:solidFill>
                <a:latin typeface="黑体" pitchFamily="2" charset="-122"/>
                <a:ea typeface="黑体" pitchFamily="2" charset="-122"/>
              </a:endParaRPr>
            </a:p>
          </p:txBody>
        </p:sp>
        <p:sp>
          <p:nvSpPr>
            <p:cNvPr id="56" name="Text Box 16"/>
            <p:cNvSpPr txBox="1">
              <a:spLocks noChangeArrowheads="1"/>
            </p:cNvSpPr>
            <p:nvPr/>
          </p:nvSpPr>
          <p:spPr bwMode="auto">
            <a:xfrm>
              <a:off x="5983740" y="2622622"/>
              <a:ext cx="3103880" cy="537210"/>
            </a:xfrm>
            <a:prstGeom prst="rect">
              <a:avLst/>
            </a:prstGeom>
            <a:noFill/>
            <a:ln>
              <a:noFill/>
            </a:ln>
            <a:effectLst/>
          </p:spPr>
          <p:txBody>
            <a:bodyPr wrap="none">
              <a:spAutoFit/>
            </a:bodyPr>
            <a:lstStyle/>
            <a:p>
              <a:pPr>
                <a:lnSpc>
                  <a:spcPct val="130000"/>
                </a:lnSpc>
              </a:pPr>
              <a:r>
                <a:rPr kumimoji="0" lang="zh-CN" altLang="en-US" sz="2300" dirty="0" smtClean="0">
                  <a:solidFill>
                    <a:srgbClr val="000000"/>
                  </a:solidFill>
                  <a:latin typeface="黑体" pitchFamily="2" charset="-122"/>
                  <a:ea typeface="黑体" pitchFamily="2" charset="-122"/>
                </a:rPr>
                <a:t>边界摩擦（最低要求）</a:t>
              </a:r>
              <a:endParaRPr kumimoji="0" lang="zh-CN" altLang="en-US" sz="2300" dirty="0">
                <a:solidFill>
                  <a:srgbClr val="000000"/>
                </a:solidFill>
                <a:latin typeface="黑体" pitchFamily="2" charset="-122"/>
                <a:ea typeface="黑体" pitchFamily="2" charset="-122"/>
              </a:endParaRPr>
            </a:p>
          </p:txBody>
        </p:sp>
        <p:sp>
          <p:nvSpPr>
            <p:cNvPr id="57" name="Text Box 16"/>
            <p:cNvSpPr txBox="1">
              <a:spLocks noChangeArrowheads="1"/>
            </p:cNvSpPr>
            <p:nvPr/>
          </p:nvSpPr>
          <p:spPr bwMode="auto">
            <a:xfrm>
              <a:off x="5983740" y="3082951"/>
              <a:ext cx="2811780" cy="537210"/>
            </a:xfrm>
            <a:prstGeom prst="rect">
              <a:avLst/>
            </a:prstGeom>
            <a:noFill/>
            <a:ln>
              <a:noFill/>
            </a:ln>
            <a:effectLst/>
          </p:spPr>
          <p:txBody>
            <a:bodyPr wrap="none">
              <a:spAutoFit/>
            </a:bodyPr>
            <a:lstStyle/>
            <a:p>
              <a:pPr>
                <a:lnSpc>
                  <a:spcPct val="130000"/>
                </a:lnSpc>
              </a:pPr>
              <a:r>
                <a:rPr lang="zh-CN" altLang="en-US" sz="2300" dirty="0" smtClean="0">
                  <a:solidFill>
                    <a:srgbClr val="000000"/>
                  </a:solidFill>
                  <a:latin typeface="黑体" pitchFamily="2" charset="-122"/>
                  <a:ea typeface="黑体" pitchFamily="2" charset="-122"/>
                </a:rPr>
                <a:t>混合</a:t>
              </a:r>
              <a:r>
                <a:rPr lang="zh-CN" altLang="en-US" sz="2300" dirty="0">
                  <a:solidFill>
                    <a:srgbClr val="000000"/>
                  </a:solidFill>
                  <a:latin typeface="黑体" pitchFamily="2" charset="-122"/>
                  <a:ea typeface="黑体" pitchFamily="2" charset="-122"/>
                </a:rPr>
                <a:t>摩擦</a:t>
              </a:r>
              <a:r>
                <a:rPr lang="zh-CN" altLang="en-US" sz="2300" dirty="0" smtClean="0">
                  <a:solidFill>
                    <a:srgbClr val="000000"/>
                  </a:solidFill>
                  <a:latin typeface="黑体" pitchFamily="2" charset="-122"/>
                  <a:ea typeface="黑体" pitchFamily="2" charset="-122"/>
                </a:rPr>
                <a:t>（比较好）</a:t>
              </a:r>
              <a:endParaRPr lang="zh-CN" altLang="en-US" sz="2300" dirty="0">
                <a:solidFill>
                  <a:srgbClr val="000000"/>
                </a:solidFill>
                <a:latin typeface="黑体" pitchFamily="2" charset="-122"/>
                <a:ea typeface="黑体" pitchFamily="2" charset="-122"/>
              </a:endParaRPr>
            </a:p>
          </p:txBody>
        </p:sp>
        <p:sp>
          <p:nvSpPr>
            <p:cNvPr id="58" name="Text Box 16"/>
            <p:cNvSpPr txBox="1">
              <a:spLocks noChangeArrowheads="1"/>
            </p:cNvSpPr>
            <p:nvPr/>
          </p:nvSpPr>
          <p:spPr bwMode="auto">
            <a:xfrm>
              <a:off x="5983740" y="3522443"/>
              <a:ext cx="2519680" cy="537209"/>
            </a:xfrm>
            <a:prstGeom prst="rect">
              <a:avLst/>
            </a:prstGeom>
            <a:noFill/>
            <a:ln>
              <a:noFill/>
            </a:ln>
            <a:effectLst/>
          </p:spPr>
          <p:txBody>
            <a:bodyPr wrap="none">
              <a:spAutoFit/>
            </a:bodyPr>
            <a:lstStyle/>
            <a:p>
              <a:pPr>
                <a:lnSpc>
                  <a:spcPct val="130000"/>
                </a:lnSpc>
              </a:pPr>
              <a:r>
                <a:rPr kumimoji="0" lang="zh-CN" altLang="en-US" sz="2300" dirty="0" smtClean="0">
                  <a:solidFill>
                    <a:srgbClr val="000000"/>
                  </a:solidFill>
                  <a:latin typeface="黑体" pitchFamily="2" charset="-122"/>
                  <a:ea typeface="黑体" pitchFamily="2" charset="-122"/>
                </a:rPr>
                <a:t>流体摩擦（最好）</a:t>
              </a:r>
              <a:endParaRPr kumimoji="0" lang="zh-CN" altLang="en-US" sz="2300" dirty="0">
                <a:solidFill>
                  <a:srgbClr val="000000"/>
                </a:solidFill>
                <a:latin typeface="黑体" pitchFamily="2" charset="-122"/>
                <a:ea typeface="黑体" pitchFamily="2" charset="-122"/>
              </a:endParaRPr>
            </a:p>
          </p:txBody>
        </p:sp>
      </p:grpSp>
      <p:grpSp>
        <p:nvGrpSpPr>
          <p:cNvPr id="59" name="组合 6"/>
          <p:cNvGrpSpPr/>
          <p:nvPr/>
        </p:nvGrpSpPr>
        <p:grpSpPr>
          <a:xfrm>
            <a:off x="5725210" y="3979791"/>
            <a:ext cx="1526716" cy="1397989"/>
            <a:chOff x="5821500" y="2172147"/>
            <a:chExt cx="1526716" cy="1397989"/>
          </a:xfrm>
        </p:grpSpPr>
        <p:sp>
          <p:nvSpPr>
            <p:cNvPr id="60" name="AutoShape 15"/>
            <p:cNvSpPr/>
            <p:nvPr/>
          </p:nvSpPr>
          <p:spPr bwMode="auto">
            <a:xfrm>
              <a:off x="5821500" y="2360901"/>
              <a:ext cx="150214" cy="1092273"/>
            </a:xfrm>
            <a:prstGeom prst="leftBrace">
              <a:avLst>
                <a:gd name="adj1" fmla="val 50000"/>
                <a:gd name="adj2" fmla="val 50000"/>
              </a:avLst>
            </a:prstGeom>
            <a:noFill/>
            <a:ln w="12700">
              <a:solidFill>
                <a:schemeClr val="tx1"/>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2300" b="0" i="0" u="none" strike="noStrike" kern="0" cap="none" spc="0" normalizeH="0" baseline="0" noProof="0" smtClean="0">
                <a:ln>
                  <a:noFill/>
                </a:ln>
                <a:solidFill>
                  <a:sysClr val="windowText" lastClr="000000"/>
                </a:solidFill>
                <a:effectLst/>
                <a:uLnTx/>
                <a:uFillTx/>
                <a:latin typeface="黑体" pitchFamily="2" charset="-122"/>
                <a:ea typeface="黑体" pitchFamily="2" charset="-122"/>
              </a:endParaRPr>
            </a:p>
          </p:txBody>
        </p:sp>
        <p:sp>
          <p:nvSpPr>
            <p:cNvPr id="62" name="Text Box 16"/>
            <p:cNvSpPr txBox="1">
              <a:spLocks noChangeArrowheads="1"/>
            </p:cNvSpPr>
            <p:nvPr/>
          </p:nvSpPr>
          <p:spPr bwMode="auto">
            <a:xfrm>
              <a:off x="5983740" y="2172147"/>
              <a:ext cx="1364476" cy="487185"/>
            </a:xfrm>
            <a:prstGeom prst="rect">
              <a:avLst/>
            </a:prstGeom>
            <a:noFill/>
            <a:ln>
              <a:noFill/>
            </a:ln>
            <a:effectLst/>
          </p:spPr>
          <p:txBody>
            <a:bodyPr wrap="none">
              <a:spAutoFit/>
            </a:bodyPr>
            <a:lstStyle/>
            <a:p>
              <a:pPr>
                <a:lnSpc>
                  <a:spcPct val="130000"/>
                </a:lnSpc>
              </a:pPr>
              <a:r>
                <a:rPr lang="zh-CN" altLang="en-US" sz="2300" dirty="0" smtClean="0">
                  <a:solidFill>
                    <a:srgbClr val="000000"/>
                  </a:solidFill>
                  <a:latin typeface="黑体" pitchFamily="2" charset="-122"/>
                  <a:ea typeface="黑体" pitchFamily="2" charset="-122"/>
                </a:rPr>
                <a:t>滚动</a:t>
              </a:r>
              <a:r>
                <a:rPr kumimoji="0" lang="zh-CN" altLang="en-US" sz="2300" dirty="0" smtClean="0">
                  <a:solidFill>
                    <a:srgbClr val="000000"/>
                  </a:solidFill>
                  <a:latin typeface="黑体" pitchFamily="2" charset="-122"/>
                  <a:ea typeface="黑体" pitchFamily="2" charset="-122"/>
                </a:rPr>
                <a:t>摩擦</a:t>
              </a:r>
              <a:endParaRPr kumimoji="0" lang="zh-CN" altLang="en-US" sz="2300" dirty="0">
                <a:solidFill>
                  <a:srgbClr val="000000"/>
                </a:solidFill>
                <a:latin typeface="黑体" pitchFamily="2" charset="-122"/>
                <a:ea typeface="黑体" pitchFamily="2" charset="-122"/>
              </a:endParaRPr>
            </a:p>
          </p:txBody>
        </p:sp>
        <p:sp>
          <p:nvSpPr>
            <p:cNvPr id="63" name="Text Box 16"/>
            <p:cNvSpPr txBox="1">
              <a:spLocks noChangeArrowheads="1"/>
            </p:cNvSpPr>
            <p:nvPr/>
          </p:nvSpPr>
          <p:spPr bwMode="auto">
            <a:xfrm>
              <a:off x="5983740" y="2622622"/>
              <a:ext cx="1364476" cy="552459"/>
            </a:xfrm>
            <a:prstGeom prst="rect">
              <a:avLst/>
            </a:prstGeom>
            <a:noFill/>
            <a:ln>
              <a:noFill/>
            </a:ln>
            <a:effectLst/>
          </p:spPr>
          <p:txBody>
            <a:bodyPr wrap="none">
              <a:spAutoFit/>
            </a:bodyPr>
            <a:lstStyle/>
            <a:p>
              <a:pPr>
                <a:lnSpc>
                  <a:spcPct val="130000"/>
                </a:lnSpc>
              </a:pPr>
              <a:r>
                <a:rPr kumimoji="0" lang="zh-CN" altLang="en-US" sz="2300" dirty="0" smtClean="0">
                  <a:solidFill>
                    <a:srgbClr val="000000"/>
                  </a:solidFill>
                  <a:latin typeface="黑体" pitchFamily="2" charset="-122"/>
                  <a:ea typeface="黑体" pitchFamily="2" charset="-122"/>
                </a:rPr>
                <a:t>立滚摩擦</a:t>
              </a:r>
              <a:endParaRPr kumimoji="0" lang="zh-CN" altLang="en-US" sz="2300" dirty="0">
                <a:solidFill>
                  <a:srgbClr val="000000"/>
                </a:solidFill>
                <a:latin typeface="黑体" pitchFamily="2" charset="-122"/>
                <a:ea typeface="黑体" pitchFamily="2" charset="-122"/>
              </a:endParaRPr>
            </a:p>
          </p:txBody>
        </p:sp>
        <p:sp>
          <p:nvSpPr>
            <p:cNvPr id="64" name="Text Box 16"/>
            <p:cNvSpPr txBox="1">
              <a:spLocks noChangeArrowheads="1"/>
            </p:cNvSpPr>
            <p:nvPr/>
          </p:nvSpPr>
          <p:spPr bwMode="auto">
            <a:xfrm>
              <a:off x="5983740" y="3082951"/>
              <a:ext cx="1364476" cy="487185"/>
            </a:xfrm>
            <a:prstGeom prst="rect">
              <a:avLst/>
            </a:prstGeom>
            <a:noFill/>
            <a:ln>
              <a:noFill/>
            </a:ln>
            <a:effectLst/>
          </p:spPr>
          <p:txBody>
            <a:bodyPr wrap="none">
              <a:spAutoFit/>
            </a:bodyPr>
            <a:lstStyle/>
            <a:p>
              <a:pPr>
                <a:lnSpc>
                  <a:spcPct val="130000"/>
                </a:lnSpc>
              </a:pPr>
              <a:r>
                <a:rPr lang="zh-CN" altLang="en-US" sz="2300" dirty="0" smtClean="0">
                  <a:solidFill>
                    <a:srgbClr val="000000"/>
                  </a:solidFill>
                  <a:latin typeface="黑体" pitchFamily="2" charset="-122"/>
                  <a:ea typeface="黑体" pitchFamily="2" charset="-122"/>
                </a:rPr>
                <a:t>滚滑摩擦</a:t>
              </a:r>
              <a:endParaRPr lang="zh-CN" altLang="en-US" sz="2300" dirty="0">
                <a:solidFill>
                  <a:srgbClr val="000000"/>
                </a:solidFill>
                <a:latin typeface="黑体" pitchFamily="2" charset="-122"/>
                <a:ea typeface="黑体" pitchFamily="2" charset="-122"/>
              </a:endParaRPr>
            </a:p>
          </p:txBody>
        </p:sp>
      </p:grpSp>
    </p:spTree>
    <p:extLst>
      <p:ext uri="{BB962C8B-B14F-4D97-AF65-F5344CB8AC3E}">
        <p14:creationId xmlns:p14="http://schemas.microsoft.com/office/powerpoint/2010/main" val="135868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left)">
                                      <p:cBhvr>
                                        <p:cTn id="16" dur="10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75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left)">
                                      <p:cBhvr>
                                        <p:cTn id="26" dur="75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wipe(left)">
                                      <p:cBhvr>
                                        <p:cTn id="31" dur="750"/>
                                        <p:tgtEl>
                                          <p:spTgt spid="4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wipe(left)">
                                      <p:cBhvr>
                                        <p:cTn id="36" dur="75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单圆角矩形 5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四种典型滑动摩擦状态</a:t>
            </a:r>
            <a:endParaRPr lang="zh-CN" altLang="en-US" sz="1500" dirty="0">
              <a:solidFill>
                <a:srgbClr val="FF6600"/>
              </a:solidFill>
            </a:endParaRPr>
          </a:p>
        </p:txBody>
      </p:sp>
      <p:sp>
        <p:nvSpPr>
          <p:cNvPr id="55" name="直角三角形 5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2"/>
          <p:cNvGrpSpPr/>
          <p:nvPr/>
        </p:nvGrpSpPr>
        <p:grpSpPr>
          <a:xfrm>
            <a:off x="323528" y="553244"/>
            <a:ext cx="5256584" cy="523220"/>
            <a:chOff x="323528" y="553244"/>
            <a:chExt cx="5256584" cy="523220"/>
          </a:xfrm>
        </p:grpSpPr>
        <p:pic>
          <p:nvPicPr>
            <p:cNvPr id="62" name="Picture 15" descr="AR1031"/>
            <p:cNvPicPr>
              <a:picLocks noChangeAspect="1" noChangeArrowheads="1"/>
            </p:cNvPicPr>
            <p:nvPr/>
          </p:nvPicPr>
          <p:blipFill>
            <a:blip r:embed="rId3">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sp>
          <p:nvSpPr>
            <p:cNvPr id="63" name="Text Box 5"/>
            <p:cNvSpPr txBox="1">
              <a:spLocks noChangeArrowheads="1"/>
            </p:cNvSpPr>
            <p:nvPr/>
          </p:nvSpPr>
          <p:spPr bwMode="auto">
            <a:xfrm>
              <a:off x="755576" y="553244"/>
              <a:ext cx="4824536" cy="523220"/>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hangingPunct="1"/>
              <a:r>
                <a:rPr kumimoji="1" lang="zh-CN" altLang="en-US" b="1" dirty="0" smtClean="0">
                  <a:solidFill>
                    <a:srgbClr val="000099"/>
                  </a:solidFill>
                  <a:latin typeface="黑体" pitchFamily="2" charset="-122"/>
                </a:rPr>
                <a:t>典型滑动摩擦状态及其特点</a:t>
              </a:r>
              <a:endParaRPr lang="zh-CN" altLang="en-US" b="1" dirty="0">
                <a:solidFill>
                  <a:srgbClr val="000099"/>
                </a:solidFill>
                <a:latin typeface="黑体" pitchFamily="2" charset="-122"/>
              </a:endParaRPr>
            </a:p>
          </p:txBody>
        </p:sp>
      </p:grpSp>
      <p:sp>
        <p:nvSpPr>
          <p:cNvPr id="50" name="Text Box 20"/>
          <p:cNvSpPr txBox="1">
            <a:spLocks noChangeArrowheads="1"/>
          </p:cNvSpPr>
          <p:nvPr/>
        </p:nvSpPr>
        <p:spPr bwMode="auto">
          <a:xfrm>
            <a:off x="279986" y="3656687"/>
            <a:ext cx="2016224" cy="805478"/>
          </a:xfrm>
          <a:prstGeom prst="rect">
            <a:avLst/>
          </a:prstGeom>
          <a:solidFill>
            <a:schemeClr val="bg1">
              <a:lumMod val="95000"/>
            </a:schemeClr>
          </a:solidFill>
          <a:ln w="12700">
            <a:solidFill>
              <a:schemeClr val="tx1"/>
            </a:solidFill>
          </a:ln>
          <a:effectLst/>
        </p:spPr>
        <p:txBody>
          <a:bodyPr wrap="square" lIns="90000" tIns="46800" rIns="90000" bIns="46800">
            <a:spAutoFit/>
          </a:bodyPr>
          <a:lstStyle/>
          <a:p>
            <a:pPr algn="just">
              <a:lnSpc>
                <a:spcPct val="110000"/>
              </a:lnSpc>
              <a:spcBef>
                <a:spcPct val="50000"/>
              </a:spcBef>
            </a:pPr>
            <a:r>
              <a:rPr lang="zh-CN" altLang="en-US" sz="1400" dirty="0" smtClean="0">
                <a:latin typeface="+mn-ea"/>
                <a:ea typeface="+mn-ea"/>
              </a:rPr>
              <a:t>表面</a:t>
            </a:r>
            <a:r>
              <a:rPr lang="zh-CN" altLang="en-US" sz="1400" dirty="0">
                <a:latin typeface="+mn-ea"/>
                <a:ea typeface="+mn-ea"/>
              </a:rPr>
              <a:t>金属</a:t>
            </a:r>
            <a:r>
              <a:rPr lang="zh-CN" altLang="en-US" sz="1400" dirty="0" smtClean="0">
                <a:latin typeface="+mn-ea"/>
                <a:ea typeface="+mn-ea"/>
              </a:rPr>
              <a:t>直接接触。摩擦阻力最大，磨损最严重，应尽量避免。</a:t>
            </a:r>
            <a:endParaRPr lang="zh-CN" altLang="en-US" sz="1400" dirty="0">
              <a:latin typeface="+mn-ea"/>
              <a:ea typeface="+mn-ea"/>
            </a:endParaRPr>
          </a:p>
        </p:txBody>
      </p:sp>
      <p:sp>
        <p:nvSpPr>
          <p:cNvPr id="51" name="Text Box 20"/>
          <p:cNvSpPr txBox="1">
            <a:spLocks noChangeArrowheads="1"/>
          </p:cNvSpPr>
          <p:nvPr/>
        </p:nvSpPr>
        <p:spPr bwMode="auto">
          <a:xfrm>
            <a:off x="2490463" y="3656687"/>
            <a:ext cx="1991223" cy="1042466"/>
          </a:xfrm>
          <a:prstGeom prst="rect">
            <a:avLst/>
          </a:prstGeom>
          <a:solidFill>
            <a:schemeClr val="bg1">
              <a:lumMod val="95000"/>
            </a:schemeClr>
          </a:solidFill>
          <a:ln w="12700">
            <a:solidFill>
              <a:schemeClr val="tx1"/>
            </a:solidFill>
          </a:ln>
          <a:effectLst/>
        </p:spPr>
        <p:txBody>
          <a:bodyPr wrap="square" lIns="90000" tIns="46800" rIns="90000" bIns="46800">
            <a:spAutoFit/>
          </a:bodyPr>
          <a:lstStyle/>
          <a:p>
            <a:pPr algn="just">
              <a:lnSpc>
                <a:spcPct val="110000"/>
              </a:lnSpc>
              <a:spcBef>
                <a:spcPct val="50000"/>
              </a:spcBef>
            </a:pPr>
            <a:r>
              <a:rPr lang="zh-CN" altLang="en-US" sz="1400" dirty="0" smtClean="0">
                <a:latin typeface="+mn-ea"/>
                <a:ea typeface="+mn-ea"/>
              </a:rPr>
              <a:t>摩擦表面被吸附在表面的边界膜隔开，边界膜起润滑作用，粘度</a:t>
            </a:r>
            <a:r>
              <a:rPr lang="zh-CN" altLang="en-US" sz="1400" dirty="0">
                <a:latin typeface="+mn-ea"/>
                <a:ea typeface="+mn-ea"/>
              </a:rPr>
              <a:t>对降低摩擦所起作用</a:t>
            </a:r>
            <a:r>
              <a:rPr lang="zh-CN" altLang="en-US" sz="1400" dirty="0">
                <a:solidFill>
                  <a:srgbClr val="FF0000"/>
                </a:solidFill>
                <a:latin typeface="+mn-ea"/>
                <a:ea typeface="+mn-ea"/>
              </a:rPr>
              <a:t>很小</a:t>
            </a:r>
            <a:r>
              <a:rPr lang="zh-CN" altLang="en-US" sz="1400" dirty="0">
                <a:latin typeface="+mn-ea"/>
                <a:ea typeface="+mn-ea"/>
              </a:rPr>
              <a:t>。</a:t>
            </a:r>
          </a:p>
        </p:txBody>
      </p:sp>
      <p:sp>
        <p:nvSpPr>
          <p:cNvPr id="52" name="Text Box 20"/>
          <p:cNvSpPr txBox="1">
            <a:spLocks noChangeArrowheads="1"/>
          </p:cNvSpPr>
          <p:nvPr/>
        </p:nvSpPr>
        <p:spPr bwMode="auto">
          <a:xfrm>
            <a:off x="4672474" y="3656687"/>
            <a:ext cx="2014999" cy="1279454"/>
          </a:xfrm>
          <a:prstGeom prst="rect">
            <a:avLst/>
          </a:prstGeom>
          <a:solidFill>
            <a:schemeClr val="bg1">
              <a:lumMod val="95000"/>
            </a:schemeClr>
          </a:solidFill>
          <a:ln w="12700">
            <a:solidFill>
              <a:schemeClr val="tx1"/>
            </a:solidFill>
          </a:ln>
          <a:effectLst/>
        </p:spPr>
        <p:txBody>
          <a:bodyPr wrap="square" lIns="90000" tIns="46800" rIns="90000" bIns="46800">
            <a:spAutoFit/>
          </a:bodyPr>
          <a:lstStyle/>
          <a:p>
            <a:pPr algn="just">
              <a:lnSpc>
                <a:spcPct val="110000"/>
              </a:lnSpc>
              <a:spcBef>
                <a:spcPct val="50000"/>
              </a:spcBef>
            </a:pPr>
            <a:r>
              <a:rPr lang="zh-CN" altLang="en-US" sz="1400" dirty="0">
                <a:latin typeface="+mn-ea"/>
                <a:ea typeface="+mn-ea"/>
              </a:rPr>
              <a:t>摩擦</a:t>
            </a:r>
            <a:r>
              <a:rPr lang="zh-CN" altLang="en-US" sz="1400" dirty="0" smtClean="0">
                <a:latin typeface="+mn-ea"/>
                <a:ea typeface="+mn-ea"/>
              </a:rPr>
              <a:t>表面被</a:t>
            </a:r>
            <a:r>
              <a:rPr lang="zh-CN" altLang="en-US" sz="1400" dirty="0">
                <a:latin typeface="+mn-ea"/>
                <a:ea typeface="+mn-ea"/>
              </a:rPr>
              <a:t>流体膜隔开</a:t>
            </a:r>
            <a:r>
              <a:rPr lang="zh-CN" altLang="en-US" sz="1400" dirty="0" smtClean="0">
                <a:latin typeface="+mn-ea"/>
                <a:ea typeface="+mn-ea"/>
              </a:rPr>
              <a:t>，摩擦在液体内部分子间进行，</a:t>
            </a:r>
            <a:r>
              <a:rPr lang="zh-CN" altLang="en-US" sz="1400" dirty="0" smtClean="0">
                <a:solidFill>
                  <a:srgbClr val="FF0000"/>
                </a:solidFill>
                <a:latin typeface="+mn-ea"/>
                <a:ea typeface="+mn-ea"/>
              </a:rPr>
              <a:t>摩擦</a:t>
            </a:r>
            <a:r>
              <a:rPr lang="zh-CN" altLang="en-US" sz="1400" dirty="0">
                <a:solidFill>
                  <a:srgbClr val="FF0000"/>
                </a:solidFill>
                <a:latin typeface="+mn-ea"/>
                <a:ea typeface="+mn-ea"/>
              </a:rPr>
              <a:t>性质</a:t>
            </a:r>
            <a:r>
              <a:rPr lang="zh-CN" altLang="en-US" sz="1400" dirty="0" smtClean="0">
                <a:solidFill>
                  <a:srgbClr val="FF0000"/>
                </a:solidFill>
                <a:latin typeface="+mn-ea"/>
                <a:ea typeface="+mn-ea"/>
              </a:rPr>
              <a:t>取决于粘度</a:t>
            </a:r>
            <a:r>
              <a:rPr lang="zh-CN" altLang="en-US" sz="1400" dirty="0" smtClean="0">
                <a:latin typeface="+mn-ea"/>
                <a:ea typeface="+mn-ea"/>
              </a:rPr>
              <a:t>。</a:t>
            </a:r>
            <a:r>
              <a:rPr lang="zh-CN" altLang="en-US" sz="1400" dirty="0">
                <a:latin typeface="+mn-ea"/>
                <a:ea typeface="+mn-ea"/>
              </a:rPr>
              <a:t>摩擦系数小</a:t>
            </a:r>
            <a:r>
              <a:rPr lang="zh-CN" altLang="en-US" sz="1400" dirty="0" smtClean="0">
                <a:latin typeface="+mn-ea"/>
                <a:ea typeface="+mn-ea"/>
              </a:rPr>
              <a:t>，理想摩擦状态。</a:t>
            </a:r>
            <a:endParaRPr lang="zh-CN" altLang="en-US" sz="1400" dirty="0">
              <a:latin typeface="+mn-ea"/>
              <a:ea typeface="+mn-ea"/>
            </a:endParaRPr>
          </a:p>
        </p:txBody>
      </p:sp>
      <p:sp>
        <p:nvSpPr>
          <p:cNvPr id="53" name="Text Box 20"/>
          <p:cNvSpPr txBox="1">
            <a:spLocks noChangeArrowheads="1"/>
          </p:cNvSpPr>
          <p:nvPr/>
        </p:nvSpPr>
        <p:spPr bwMode="auto">
          <a:xfrm>
            <a:off x="6888420" y="3656687"/>
            <a:ext cx="2039783" cy="1042466"/>
          </a:xfrm>
          <a:prstGeom prst="rect">
            <a:avLst/>
          </a:prstGeom>
          <a:solidFill>
            <a:schemeClr val="bg1">
              <a:lumMod val="95000"/>
            </a:schemeClr>
          </a:solidFill>
          <a:ln w="12700">
            <a:solidFill>
              <a:schemeClr val="tx1"/>
            </a:solidFill>
          </a:ln>
          <a:effectLst/>
        </p:spPr>
        <p:txBody>
          <a:bodyPr wrap="square" lIns="90000" tIns="46800" rIns="90000" bIns="46800">
            <a:spAutoFit/>
          </a:bodyPr>
          <a:lstStyle/>
          <a:p>
            <a:pPr algn="just">
              <a:lnSpc>
                <a:spcPct val="110000"/>
              </a:lnSpc>
              <a:spcBef>
                <a:spcPct val="50000"/>
              </a:spcBef>
            </a:pPr>
            <a:r>
              <a:rPr lang="zh-CN" altLang="en-US" sz="1400" dirty="0">
                <a:latin typeface="+mn-ea"/>
                <a:ea typeface="+mn-ea"/>
              </a:rPr>
              <a:t>两表面间同时存在干摩擦、边界摩擦和液体摩擦的</a:t>
            </a:r>
            <a:r>
              <a:rPr lang="zh-CN" altLang="en-US" sz="1400" dirty="0" smtClean="0">
                <a:latin typeface="+mn-ea"/>
                <a:ea typeface="+mn-ea"/>
              </a:rPr>
              <a:t>状态，摩擦系数比边界摩擦小得多。</a:t>
            </a:r>
            <a:endParaRPr lang="zh-CN" altLang="en-US" sz="1400" dirty="0">
              <a:latin typeface="+mn-ea"/>
              <a:ea typeface="+mn-ea"/>
            </a:endParaRPr>
          </a:p>
        </p:txBody>
      </p:sp>
      <p:grpSp>
        <p:nvGrpSpPr>
          <p:cNvPr id="3" name="组合 2"/>
          <p:cNvGrpSpPr/>
          <p:nvPr/>
        </p:nvGrpSpPr>
        <p:grpSpPr>
          <a:xfrm>
            <a:off x="182506" y="1292910"/>
            <a:ext cx="2301262" cy="2059055"/>
            <a:chOff x="182506" y="1165742"/>
            <a:chExt cx="2301262" cy="2059055"/>
          </a:xfrm>
        </p:grpSpPr>
        <p:pic>
          <p:nvPicPr>
            <p:cNvPr id="46" name="Picture 21" descr="T"/>
            <p:cNvPicPr>
              <a:picLocks noChangeAspect="1" noChangeArrowheads="1"/>
            </p:cNvPicPr>
            <p:nvPr/>
          </p:nvPicPr>
          <p:blipFill rotWithShape="1">
            <a:blip r:embed="rId4"/>
            <a:srcRect r="74010" b="16927"/>
            <a:stretch/>
          </p:blipFill>
          <p:spPr bwMode="auto">
            <a:xfrm>
              <a:off x="182506" y="1729319"/>
              <a:ext cx="2301262" cy="1495478"/>
            </a:xfrm>
            <a:prstGeom prst="rect">
              <a:avLst/>
            </a:prstGeom>
            <a:solidFill>
              <a:srgbClr val="99CCFF"/>
            </a:solidFill>
          </p:spPr>
        </p:pic>
        <p:sp>
          <p:nvSpPr>
            <p:cNvPr id="2" name="文本框 1"/>
            <p:cNvSpPr txBox="1"/>
            <p:nvPr/>
          </p:nvSpPr>
          <p:spPr>
            <a:xfrm>
              <a:off x="772570" y="1165742"/>
              <a:ext cx="1031051" cy="430887"/>
            </a:xfrm>
            <a:prstGeom prst="rect">
              <a:avLst/>
            </a:prstGeom>
            <a:noFill/>
          </p:spPr>
          <p:txBody>
            <a:bodyPr wrap="none" rtlCol="0">
              <a:spAutoFit/>
            </a:bodyPr>
            <a:lstStyle/>
            <a:p>
              <a:r>
                <a:rPr lang="zh-CN" altLang="en-US" sz="2200" b="1" dirty="0" smtClean="0">
                  <a:solidFill>
                    <a:srgbClr val="FF0000"/>
                  </a:solidFill>
                  <a:latin typeface="+mn-ea"/>
                  <a:ea typeface="+mn-ea"/>
                </a:rPr>
                <a:t>干摩擦</a:t>
              </a:r>
              <a:endParaRPr lang="zh-CN" altLang="en-US" sz="2200" b="1" dirty="0">
                <a:solidFill>
                  <a:srgbClr val="FF0000"/>
                </a:solidFill>
                <a:latin typeface="+mn-ea"/>
                <a:ea typeface="+mn-ea"/>
              </a:endParaRPr>
            </a:p>
          </p:txBody>
        </p:sp>
      </p:grpSp>
      <p:grpSp>
        <p:nvGrpSpPr>
          <p:cNvPr id="4" name="组合 3"/>
          <p:cNvGrpSpPr/>
          <p:nvPr/>
        </p:nvGrpSpPr>
        <p:grpSpPr>
          <a:xfrm>
            <a:off x="2412404" y="1292910"/>
            <a:ext cx="2180805" cy="2131063"/>
            <a:chOff x="2412404" y="1165742"/>
            <a:chExt cx="2180805" cy="2131063"/>
          </a:xfrm>
        </p:grpSpPr>
        <p:pic>
          <p:nvPicPr>
            <p:cNvPr id="48" name="Picture 5" descr="T"/>
            <p:cNvPicPr>
              <a:picLocks noChangeAspect="1" noChangeArrowheads="1"/>
            </p:cNvPicPr>
            <p:nvPr/>
          </p:nvPicPr>
          <p:blipFill rotWithShape="1">
            <a:blip r:embed="rId4"/>
            <a:srcRect l="25368" r="49828" b="15060"/>
            <a:stretch/>
          </p:blipFill>
          <p:spPr bwMode="auto">
            <a:xfrm>
              <a:off x="2412404" y="1729319"/>
              <a:ext cx="2180805" cy="1567486"/>
            </a:xfrm>
            <a:prstGeom prst="rect">
              <a:avLst/>
            </a:prstGeom>
            <a:solidFill>
              <a:srgbClr val="99CCFF"/>
            </a:solidFill>
          </p:spPr>
        </p:pic>
        <p:sp>
          <p:nvSpPr>
            <p:cNvPr id="60" name="文本框 59"/>
            <p:cNvSpPr txBox="1"/>
            <p:nvPr/>
          </p:nvSpPr>
          <p:spPr>
            <a:xfrm>
              <a:off x="2846216" y="1165742"/>
              <a:ext cx="1313180" cy="430887"/>
            </a:xfrm>
            <a:prstGeom prst="rect">
              <a:avLst/>
            </a:prstGeom>
            <a:noFill/>
          </p:spPr>
          <p:txBody>
            <a:bodyPr wrap="none" rtlCol="0">
              <a:spAutoFit/>
            </a:bodyPr>
            <a:lstStyle/>
            <a:p>
              <a:r>
                <a:rPr lang="zh-CN" altLang="en-US" sz="2200" b="1" dirty="0" smtClean="0">
                  <a:solidFill>
                    <a:srgbClr val="FF0000"/>
                  </a:solidFill>
                  <a:latin typeface="+mn-ea"/>
                  <a:ea typeface="+mn-ea"/>
                </a:rPr>
                <a:t>边界摩擦</a:t>
              </a:r>
              <a:endParaRPr lang="zh-CN" altLang="en-US" sz="2200" b="1" dirty="0">
                <a:solidFill>
                  <a:srgbClr val="FF0000"/>
                </a:solidFill>
                <a:latin typeface="+mn-ea"/>
                <a:ea typeface="+mn-ea"/>
              </a:endParaRPr>
            </a:p>
          </p:txBody>
        </p:sp>
      </p:grpSp>
      <p:grpSp>
        <p:nvGrpSpPr>
          <p:cNvPr id="8" name="组合 7"/>
          <p:cNvGrpSpPr/>
          <p:nvPr/>
        </p:nvGrpSpPr>
        <p:grpSpPr>
          <a:xfrm>
            <a:off x="4546673" y="1296238"/>
            <a:ext cx="2162571" cy="2127735"/>
            <a:chOff x="4546673" y="1169070"/>
            <a:chExt cx="2162571" cy="2127735"/>
          </a:xfrm>
        </p:grpSpPr>
        <p:pic>
          <p:nvPicPr>
            <p:cNvPr id="49" name="Picture 7" descr="T"/>
            <p:cNvPicPr>
              <a:picLocks noChangeAspect="1" noChangeArrowheads="1"/>
            </p:cNvPicPr>
            <p:nvPr/>
          </p:nvPicPr>
          <p:blipFill rotWithShape="1">
            <a:blip r:embed="rId4"/>
            <a:srcRect l="50380" r="25171" b="14995"/>
            <a:stretch/>
          </p:blipFill>
          <p:spPr bwMode="auto">
            <a:xfrm>
              <a:off x="4546673" y="1729319"/>
              <a:ext cx="2162571" cy="1567486"/>
            </a:xfrm>
            <a:prstGeom prst="rect">
              <a:avLst/>
            </a:prstGeom>
            <a:solidFill>
              <a:srgbClr val="99CCFF"/>
            </a:solidFill>
          </p:spPr>
        </p:pic>
        <p:sp>
          <p:nvSpPr>
            <p:cNvPr id="64" name="文本框 63"/>
            <p:cNvSpPr txBox="1"/>
            <p:nvPr/>
          </p:nvSpPr>
          <p:spPr>
            <a:xfrm>
              <a:off x="5023383" y="1169070"/>
              <a:ext cx="1313180" cy="430887"/>
            </a:xfrm>
            <a:prstGeom prst="rect">
              <a:avLst/>
            </a:prstGeom>
            <a:noFill/>
          </p:spPr>
          <p:txBody>
            <a:bodyPr wrap="none" rtlCol="0">
              <a:spAutoFit/>
            </a:bodyPr>
            <a:lstStyle/>
            <a:p>
              <a:r>
                <a:rPr lang="zh-CN" altLang="en-US" sz="2200" b="1" dirty="0" smtClean="0">
                  <a:solidFill>
                    <a:srgbClr val="FF0000"/>
                  </a:solidFill>
                  <a:latin typeface="+mn-ea"/>
                  <a:ea typeface="+mn-ea"/>
                </a:rPr>
                <a:t>流体摩擦</a:t>
              </a:r>
              <a:endParaRPr lang="zh-CN" altLang="en-US" sz="2200" b="1" dirty="0">
                <a:solidFill>
                  <a:srgbClr val="FF0000"/>
                </a:solidFill>
                <a:latin typeface="+mn-ea"/>
                <a:ea typeface="+mn-ea"/>
              </a:endParaRPr>
            </a:p>
          </p:txBody>
        </p:sp>
      </p:grpSp>
      <p:grpSp>
        <p:nvGrpSpPr>
          <p:cNvPr id="9" name="组合 8"/>
          <p:cNvGrpSpPr/>
          <p:nvPr/>
        </p:nvGrpSpPr>
        <p:grpSpPr>
          <a:xfrm>
            <a:off x="6854485" y="1292910"/>
            <a:ext cx="2120453" cy="1915039"/>
            <a:chOff x="6854485" y="1165742"/>
            <a:chExt cx="2120453" cy="1915039"/>
          </a:xfrm>
        </p:grpSpPr>
        <p:pic>
          <p:nvPicPr>
            <p:cNvPr id="59" name="Picture 3"/>
            <p:cNvPicPr>
              <a:picLocks noChangeAspect="1" noChangeArrowheads="1"/>
            </p:cNvPicPr>
            <p:nvPr/>
          </p:nvPicPr>
          <p:blipFill rotWithShape="1">
            <a:blip r:embed="rId5"/>
            <a:srcRect b="23781"/>
            <a:stretch/>
          </p:blipFill>
          <p:spPr bwMode="auto">
            <a:xfrm>
              <a:off x="6854485" y="1873335"/>
              <a:ext cx="2120453" cy="1207446"/>
            </a:xfrm>
            <a:prstGeom prst="rect">
              <a:avLst/>
            </a:prstGeom>
            <a:noFill/>
            <a:ln>
              <a:noFill/>
            </a:ln>
            <a:effectLst/>
          </p:spPr>
        </p:pic>
        <p:sp>
          <p:nvSpPr>
            <p:cNvPr id="65" name="文本框 64"/>
            <p:cNvSpPr txBox="1"/>
            <p:nvPr/>
          </p:nvSpPr>
          <p:spPr>
            <a:xfrm>
              <a:off x="7251721" y="1165742"/>
              <a:ext cx="1313180" cy="430887"/>
            </a:xfrm>
            <a:prstGeom prst="rect">
              <a:avLst/>
            </a:prstGeom>
            <a:noFill/>
          </p:spPr>
          <p:txBody>
            <a:bodyPr wrap="none" rtlCol="0">
              <a:spAutoFit/>
            </a:bodyPr>
            <a:lstStyle/>
            <a:p>
              <a:r>
                <a:rPr lang="zh-CN" altLang="en-US" sz="2200" b="1" dirty="0" smtClean="0">
                  <a:solidFill>
                    <a:srgbClr val="FF0000"/>
                  </a:solidFill>
                  <a:latin typeface="+mn-ea"/>
                  <a:ea typeface="+mn-ea"/>
                </a:rPr>
                <a:t>混合摩擦</a:t>
              </a:r>
              <a:endParaRPr lang="zh-CN" altLang="en-US" sz="2200" b="1" dirty="0">
                <a:solidFill>
                  <a:srgbClr val="FF0000"/>
                </a:solidFill>
                <a:latin typeface="+mn-ea"/>
                <a:ea typeface="+mn-ea"/>
              </a:endParaRPr>
            </a:p>
          </p:txBody>
        </p:sp>
      </p:grpSp>
      <mc:AlternateContent xmlns:mc="http://schemas.openxmlformats.org/markup-compatibility/2006" xmlns:a14="http://schemas.microsoft.com/office/drawing/2010/main">
        <mc:Choice Requires="a14">
          <p:sp>
            <p:nvSpPr>
              <p:cNvPr id="12" name="文本框 11"/>
              <p:cNvSpPr txBox="1"/>
              <p:nvPr/>
            </p:nvSpPr>
            <p:spPr>
              <a:xfrm>
                <a:off x="711208" y="4640852"/>
                <a:ext cx="1153777" cy="338554"/>
              </a:xfrm>
              <a:prstGeom prst="rect">
                <a:avLst/>
              </a:prstGeom>
              <a:solidFill>
                <a:srgbClr val="FFFF00"/>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𝜇</m:t>
                      </m:r>
                      <m:r>
                        <a:rPr lang="zh-CN" altLang="en-US" sz="1600" i="1" smtClean="0">
                          <a:latin typeface="Cambria Math" panose="02040503050406030204" pitchFamily="18" charset="0"/>
                        </a:rPr>
                        <m:t>≈0.3~1</m:t>
                      </m:r>
                    </m:oMath>
                  </m:oMathPara>
                </a14:m>
                <a:endParaRPr lang="zh-CN" altLang="en-US" sz="16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711208" y="4640852"/>
                <a:ext cx="1153777" cy="338554"/>
              </a:xfrm>
              <a:prstGeom prst="rect">
                <a:avLst/>
              </a:prstGeom>
              <a:blipFill rotWithShape="0">
                <a:blip r:embed="rId6"/>
                <a:stretch>
                  <a:fillRect b="-17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p:cNvSpPr txBox="1"/>
              <p:nvPr/>
            </p:nvSpPr>
            <p:spPr>
              <a:xfrm>
                <a:off x="2798832" y="4878362"/>
                <a:ext cx="1309268" cy="338554"/>
              </a:xfrm>
              <a:prstGeom prst="rect">
                <a:avLst/>
              </a:prstGeom>
              <a:solidFill>
                <a:srgbClr val="FFFF00"/>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𝜇</m:t>
                      </m:r>
                      <m:r>
                        <a:rPr lang="zh-CN" altLang="en-US" sz="1600" i="1" smtClean="0">
                          <a:latin typeface="Cambria Math" panose="02040503050406030204" pitchFamily="18" charset="0"/>
                        </a:rPr>
                        <m:t>≈0.1~0.5</m:t>
                      </m:r>
                    </m:oMath>
                  </m:oMathPara>
                </a14:m>
                <a:endParaRPr lang="zh-CN" altLang="en-US" sz="1600" dirty="0"/>
              </a:p>
            </p:txBody>
          </p:sp>
        </mc:Choice>
        <mc:Fallback xmlns="">
          <p:sp>
            <p:nvSpPr>
              <p:cNvPr id="68" name="文本框 67"/>
              <p:cNvSpPr txBox="1">
                <a:spLocks noRot="1" noChangeAspect="1" noMove="1" noResize="1" noEditPoints="1" noAdjustHandles="1" noChangeArrowheads="1" noChangeShapeType="1" noTextEdit="1"/>
              </p:cNvSpPr>
              <p:nvPr/>
            </p:nvSpPr>
            <p:spPr>
              <a:xfrm>
                <a:off x="2798832" y="4878362"/>
                <a:ext cx="1309268" cy="338554"/>
              </a:xfrm>
              <a:prstGeom prst="rect">
                <a:avLst/>
              </a:prstGeom>
              <a:blipFill rotWithShape="0">
                <a:blip r:embed="rId7"/>
                <a:stretch>
                  <a:fillRect b="-17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p:cNvSpPr txBox="1"/>
              <p:nvPr/>
            </p:nvSpPr>
            <p:spPr>
              <a:xfrm>
                <a:off x="4797712" y="5111234"/>
                <a:ext cx="1764522" cy="338554"/>
              </a:xfrm>
              <a:prstGeom prst="rect">
                <a:avLst/>
              </a:prstGeom>
              <a:solidFill>
                <a:srgbClr val="FFFF00"/>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𝜇</m:t>
                      </m:r>
                      <m:r>
                        <a:rPr lang="zh-CN" altLang="en-US" sz="1600" i="1" smtClean="0">
                          <a:latin typeface="Cambria Math" panose="02040503050406030204" pitchFamily="18" charset="0"/>
                        </a:rPr>
                        <m:t>≈0.001~0.008</m:t>
                      </m:r>
                    </m:oMath>
                  </m:oMathPara>
                </a14:m>
                <a:endParaRPr lang="zh-CN" altLang="en-US" sz="1600" dirty="0"/>
              </a:p>
            </p:txBody>
          </p:sp>
        </mc:Choice>
        <mc:Fallback xmlns="">
          <p:sp>
            <p:nvSpPr>
              <p:cNvPr id="72" name="文本框 71"/>
              <p:cNvSpPr txBox="1">
                <a:spLocks noRot="1" noChangeAspect="1" noMove="1" noResize="1" noEditPoints="1" noAdjustHandles="1" noChangeArrowheads="1" noChangeShapeType="1" noTextEdit="1"/>
              </p:cNvSpPr>
              <p:nvPr/>
            </p:nvSpPr>
            <p:spPr>
              <a:xfrm>
                <a:off x="4797712" y="5111234"/>
                <a:ext cx="1764522" cy="338554"/>
              </a:xfrm>
              <a:prstGeom prst="rect">
                <a:avLst/>
              </a:prstGeom>
              <a:blipFill rotWithShape="0">
                <a:blip r:embed="rId8"/>
                <a:stretch>
                  <a:fillRect b="-17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p:cNvSpPr txBox="1"/>
              <p:nvPr/>
            </p:nvSpPr>
            <p:spPr>
              <a:xfrm>
                <a:off x="7203170" y="4878362"/>
                <a:ext cx="1423082" cy="338554"/>
              </a:xfrm>
              <a:prstGeom prst="rect">
                <a:avLst/>
              </a:prstGeom>
              <a:solidFill>
                <a:srgbClr val="FFFF00"/>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𝜇</m:t>
                      </m:r>
                      <m:r>
                        <a:rPr lang="zh-CN" altLang="en-US" sz="1600" i="1" smtClean="0">
                          <a:latin typeface="Cambria Math" panose="02040503050406030204" pitchFamily="18" charset="0"/>
                        </a:rPr>
                        <m:t>≈0.01~0.1</m:t>
                      </m:r>
                    </m:oMath>
                  </m:oMathPara>
                </a14:m>
                <a:endParaRPr lang="zh-CN" altLang="en-US" sz="1600" dirty="0"/>
              </a:p>
            </p:txBody>
          </p:sp>
        </mc:Choice>
        <mc:Fallback xmlns="">
          <p:sp>
            <p:nvSpPr>
              <p:cNvPr id="84" name="文本框 83"/>
              <p:cNvSpPr txBox="1">
                <a:spLocks noRot="1" noChangeAspect="1" noMove="1" noResize="1" noEditPoints="1" noAdjustHandles="1" noChangeArrowheads="1" noChangeShapeType="1" noTextEdit="1"/>
              </p:cNvSpPr>
              <p:nvPr/>
            </p:nvSpPr>
            <p:spPr>
              <a:xfrm>
                <a:off x="7203170" y="4878362"/>
                <a:ext cx="1423082" cy="338554"/>
              </a:xfrm>
              <a:prstGeom prst="rect">
                <a:avLst/>
              </a:prstGeom>
              <a:blipFill rotWithShape="0">
                <a:blip r:embed="rId9"/>
                <a:stretch>
                  <a:fillRect b="-17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591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wipe(left)">
                                      <p:cBhvr>
                                        <p:cTn id="12" dur="500"/>
                                        <p:tgtEl>
                                          <p:spTgt spid="50"/>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wipe(left)">
                                      <p:cBhvr>
                                        <p:cTn id="26" dur="500"/>
                                        <p:tgtEl>
                                          <p:spTgt spid="51"/>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68"/>
                                        </p:tgtEl>
                                        <p:attrNameLst>
                                          <p:attrName>style.visibility</p:attrName>
                                        </p:attrNameLst>
                                      </p:cBhvr>
                                      <p:to>
                                        <p:strVal val="visible"/>
                                      </p:to>
                                    </p:set>
                                    <p:animEffect transition="in" filter="fade">
                                      <p:cBhvr>
                                        <p:cTn id="30" dur="500"/>
                                        <p:tgtEl>
                                          <p:spTgt spid="6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wipe(left)">
                                      <p:cBhvr>
                                        <p:cTn id="40" dur="500"/>
                                        <p:tgtEl>
                                          <p:spTgt spid="52"/>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fade">
                                      <p:cBhvr>
                                        <p:cTn id="44" dur="500"/>
                                        <p:tgtEl>
                                          <p:spTgt spid="7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50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wipe(left)">
                                      <p:cBhvr>
                                        <p:cTn id="54" dur="500"/>
                                        <p:tgtEl>
                                          <p:spTgt spid="53"/>
                                        </p:tgtEl>
                                      </p:cBhvr>
                                    </p:animEffect>
                                  </p:childTnLst>
                                </p:cTn>
                              </p:par>
                            </p:childTnLst>
                          </p:cTn>
                        </p:par>
                        <p:par>
                          <p:cTn id="55" fill="hold">
                            <p:stCondLst>
                              <p:cond delay="500"/>
                            </p:stCondLst>
                            <p:childTnLst>
                              <p:par>
                                <p:cTn id="56" presetID="10" presetClass="entr" presetSubtype="0" fill="hold" grpId="0" nodeType="afterEffect">
                                  <p:stCondLst>
                                    <p:cond delay="0"/>
                                  </p:stCondLst>
                                  <p:childTnLst>
                                    <p:set>
                                      <p:cBhvr>
                                        <p:cTn id="57" dur="1" fill="hold">
                                          <p:stCondLst>
                                            <p:cond delay="0"/>
                                          </p:stCondLst>
                                        </p:cTn>
                                        <p:tgtEl>
                                          <p:spTgt spid="84"/>
                                        </p:tgtEl>
                                        <p:attrNameLst>
                                          <p:attrName>style.visibility</p:attrName>
                                        </p:attrNameLst>
                                      </p:cBhvr>
                                      <p:to>
                                        <p:strVal val="visible"/>
                                      </p:to>
                                    </p:set>
                                    <p:animEffect transition="in" filter="fade">
                                      <p:cBhvr>
                                        <p:cTn id="58"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animBg="1"/>
      <p:bldP spid="12" grpId="0" animBg="1"/>
      <p:bldP spid="68" grpId="0" animBg="1"/>
      <p:bldP spid="72" grpId="0" animBg="1"/>
      <p:bldP spid="8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18"/>
          <p:cNvGrpSpPr/>
          <p:nvPr/>
        </p:nvGrpSpPr>
        <p:grpSpPr>
          <a:xfrm>
            <a:off x="4824536" y="2874613"/>
            <a:ext cx="4139952" cy="1377446"/>
            <a:chOff x="4464558" y="4535170"/>
            <a:chExt cx="4139952" cy="1377446"/>
          </a:xfrm>
        </p:grpSpPr>
        <p:grpSp>
          <p:nvGrpSpPr>
            <p:cNvPr id="26" name="组合 19"/>
            <p:cNvGrpSpPr/>
            <p:nvPr/>
          </p:nvGrpSpPr>
          <p:grpSpPr bwMode="auto">
            <a:xfrm>
              <a:off x="4716079" y="4535170"/>
              <a:ext cx="3452934" cy="369332"/>
              <a:chOff x="1873814" y="2981422"/>
              <a:chExt cx="3452490" cy="369095"/>
            </a:xfrm>
          </p:grpSpPr>
          <p:graphicFrame>
            <p:nvGraphicFramePr>
              <p:cNvPr id="34" name="Object 4"/>
              <p:cNvGraphicFramePr>
                <a:graphicFrameLocks noChangeAspect="1"/>
              </p:cNvGraphicFramePr>
              <p:nvPr/>
            </p:nvGraphicFramePr>
            <p:xfrm>
              <a:off x="1873814" y="3033061"/>
              <a:ext cx="633888" cy="317445"/>
            </p:xfrm>
            <a:graphic>
              <a:graphicData uri="http://schemas.openxmlformats.org/presentationml/2006/ole">
                <mc:AlternateContent xmlns:mc="http://schemas.openxmlformats.org/markup-compatibility/2006">
                  <mc:Choice xmlns:v="urn:schemas-microsoft-com:vml" Requires="v">
                    <p:oleObj spid="_x0000_s6041704" name="Equation" r:id="rId4" imgW="355138" imgH="177569" progId="Equation.DSMT4">
                      <p:embed/>
                    </p:oleObj>
                  </mc:Choice>
                  <mc:Fallback>
                    <p:oleObj name="Equation" r:id="rId4" imgW="355138" imgH="177569" progId="Equation.DSMT4">
                      <p:embed/>
                      <p:pic>
                        <p:nvPicPr>
                          <p:cNvPr id="0" name=""/>
                          <p:cNvPicPr>
                            <a:picLocks noChangeAspect="1" noChangeArrowheads="1"/>
                          </p:cNvPicPr>
                          <p:nvPr/>
                        </p:nvPicPr>
                        <p:blipFill>
                          <a:blip r:embed="rId5"/>
                          <a:srcRect/>
                          <a:stretch>
                            <a:fillRect/>
                          </a:stretch>
                        </p:blipFill>
                        <p:spPr bwMode="auto">
                          <a:xfrm>
                            <a:off x="1873814" y="3033061"/>
                            <a:ext cx="633888" cy="317445"/>
                          </a:xfrm>
                          <a:prstGeom prst="rect">
                            <a:avLst/>
                          </a:prstGeom>
                          <a:noFill/>
                          <a:ln>
                            <a:noFill/>
                          </a:ln>
                          <a:effectLst/>
                        </p:spPr>
                      </p:pic>
                    </p:oleObj>
                  </mc:Fallback>
                </mc:AlternateContent>
              </a:graphicData>
            </a:graphic>
          </p:graphicFrame>
          <p:sp>
            <p:nvSpPr>
              <p:cNvPr id="35" name="TextBox 15"/>
              <p:cNvSpPr txBox="1">
                <a:spLocks noChangeArrowheads="1"/>
              </p:cNvSpPr>
              <p:nvPr/>
            </p:nvSpPr>
            <p:spPr bwMode="auto">
              <a:xfrm>
                <a:off x="3097791" y="2981422"/>
                <a:ext cx="2228513" cy="369095"/>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1800" dirty="0"/>
                  <a:t>（</a:t>
                </a:r>
                <a:r>
                  <a:rPr lang="en-US" altLang="zh-CN" sz="1800" dirty="0"/>
                  <a:t>Full EHD</a:t>
                </a:r>
                <a:r>
                  <a:rPr lang="zh-CN" altLang="en-US" sz="1800" dirty="0"/>
                  <a:t>）</a:t>
                </a:r>
              </a:p>
            </p:txBody>
          </p:sp>
        </p:grpSp>
        <p:grpSp>
          <p:nvGrpSpPr>
            <p:cNvPr id="27" name="组合 20"/>
            <p:cNvGrpSpPr/>
            <p:nvPr/>
          </p:nvGrpSpPr>
          <p:grpSpPr bwMode="auto">
            <a:xfrm>
              <a:off x="4716078" y="5039217"/>
              <a:ext cx="3600400" cy="375211"/>
              <a:chOff x="1873638" y="3454719"/>
              <a:chExt cx="3600165" cy="374971"/>
            </a:xfrm>
          </p:grpSpPr>
          <p:graphicFrame>
            <p:nvGraphicFramePr>
              <p:cNvPr id="32" name="Object 5"/>
              <p:cNvGraphicFramePr>
                <a:graphicFrameLocks noChangeAspect="1"/>
              </p:cNvGraphicFramePr>
              <p:nvPr/>
            </p:nvGraphicFramePr>
            <p:xfrm>
              <a:off x="1873638" y="3508936"/>
              <a:ext cx="1259487" cy="320754"/>
            </p:xfrm>
            <a:graphic>
              <a:graphicData uri="http://schemas.openxmlformats.org/presentationml/2006/ole">
                <mc:AlternateContent xmlns:mc="http://schemas.openxmlformats.org/markup-compatibility/2006">
                  <mc:Choice xmlns:v="urn:schemas-microsoft-com:vml" Requires="v">
                    <p:oleObj spid="_x0000_s6041705" name="Equation" r:id="rId6" imgW="698197" imgH="177723" progId="Equation.DSMT4">
                      <p:embed/>
                    </p:oleObj>
                  </mc:Choice>
                  <mc:Fallback>
                    <p:oleObj name="Equation" r:id="rId6" imgW="698197" imgH="177723" progId="Equation.DSMT4">
                      <p:embed/>
                      <p:pic>
                        <p:nvPicPr>
                          <p:cNvPr id="0" name=""/>
                          <p:cNvPicPr>
                            <a:picLocks noChangeAspect="1" noChangeArrowheads="1"/>
                          </p:cNvPicPr>
                          <p:nvPr/>
                        </p:nvPicPr>
                        <p:blipFill>
                          <a:blip r:embed="rId7"/>
                          <a:srcRect/>
                          <a:stretch>
                            <a:fillRect/>
                          </a:stretch>
                        </p:blipFill>
                        <p:spPr bwMode="auto">
                          <a:xfrm>
                            <a:off x="1873638" y="3508936"/>
                            <a:ext cx="1259487" cy="320754"/>
                          </a:xfrm>
                          <a:prstGeom prst="rect">
                            <a:avLst/>
                          </a:prstGeom>
                          <a:noFill/>
                          <a:ln>
                            <a:noFill/>
                          </a:ln>
                          <a:effectLst/>
                        </p:spPr>
                      </p:pic>
                    </p:oleObj>
                  </mc:Fallback>
                </mc:AlternateContent>
              </a:graphicData>
            </a:graphic>
          </p:graphicFrame>
          <p:sp>
            <p:nvSpPr>
              <p:cNvPr id="33" name="TextBox 16"/>
              <p:cNvSpPr txBox="1">
                <a:spLocks noChangeArrowheads="1"/>
              </p:cNvSpPr>
              <p:nvPr/>
            </p:nvSpPr>
            <p:spPr bwMode="auto">
              <a:xfrm>
                <a:off x="3133125" y="3454719"/>
                <a:ext cx="2340678" cy="369095"/>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algn="ctr" eaLnBrk="1" hangingPunct="1"/>
                <a:r>
                  <a:rPr lang="zh-CN" altLang="en-US" sz="1800" dirty="0"/>
                  <a:t>（</a:t>
                </a:r>
                <a:r>
                  <a:rPr lang="en-US" altLang="zh-CN" sz="1800" dirty="0"/>
                  <a:t>Mixed Lubrication</a:t>
                </a:r>
                <a:r>
                  <a:rPr lang="zh-CN" altLang="en-US" sz="1800" dirty="0"/>
                  <a:t>）</a:t>
                </a:r>
              </a:p>
            </p:txBody>
          </p:sp>
        </p:grpSp>
        <p:grpSp>
          <p:nvGrpSpPr>
            <p:cNvPr id="28" name="组合 21"/>
            <p:cNvGrpSpPr/>
            <p:nvPr/>
          </p:nvGrpSpPr>
          <p:grpSpPr bwMode="auto">
            <a:xfrm>
              <a:off x="4716078" y="5543284"/>
              <a:ext cx="3888432" cy="369332"/>
              <a:chOff x="1874026" y="3915747"/>
              <a:chExt cx="3887739" cy="369094"/>
            </a:xfrm>
          </p:grpSpPr>
          <p:graphicFrame>
            <p:nvGraphicFramePr>
              <p:cNvPr id="30" name="Object 6"/>
              <p:cNvGraphicFramePr>
                <a:graphicFrameLocks noChangeAspect="1"/>
              </p:cNvGraphicFramePr>
              <p:nvPr/>
            </p:nvGraphicFramePr>
            <p:xfrm>
              <a:off x="1874026" y="3954628"/>
              <a:ext cx="865164" cy="320927"/>
            </p:xfrm>
            <a:graphic>
              <a:graphicData uri="http://schemas.openxmlformats.org/presentationml/2006/ole">
                <mc:AlternateContent xmlns:mc="http://schemas.openxmlformats.org/markup-compatibility/2006">
                  <mc:Choice xmlns:v="urn:schemas-microsoft-com:vml" Requires="v">
                    <p:oleObj spid="_x0000_s6041706" name="Equation" r:id="rId8" imgW="482181" imgH="177646" progId="Equation.DSMT4">
                      <p:embed/>
                    </p:oleObj>
                  </mc:Choice>
                  <mc:Fallback>
                    <p:oleObj name="Equation" r:id="rId8" imgW="482181" imgH="177646" progId="Equation.DSMT4">
                      <p:embed/>
                      <p:pic>
                        <p:nvPicPr>
                          <p:cNvPr id="0" name=""/>
                          <p:cNvPicPr>
                            <a:picLocks noChangeAspect="1" noChangeArrowheads="1"/>
                          </p:cNvPicPr>
                          <p:nvPr/>
                        </p:nvPicPr>
                        <p:blipFill>
                          <a:blip r:embed="rId9"/>
                          <a:srcRect/>
                          <a:stretch>
                            <a:fillRect/>
                          </a:stretch>
                        </p:blipFill>
                        <p:spPr bwMode="auto">
                          <a:xfrm>
                            <a:off x="1874026" y="3954628"/>
                            <a:ext cx="865164" cy="320927"/>
                          </a:xfrm>
                          <a:prstGeom prst="rect">
                            <a:avLst/>
                          </a:prstGeom>
                          <a:noFill/>
                          <a:ln>
                            <a:noFill/>
                          </a:ln>
                          <a:effectLst/>
                        </p:spPr>
                      </p:pic>
                    </p:oleObj>
                  </mc:Fallback>
                </mc:AlternateContent>
              </a:graphicData>
            </a:graphic>
          </p:graphicFrame>
          <p:sp>
            <p:nvSpPr>
              <p:cNvPr id="31" name="TextBox 17"/>
              <p:cNvSpPr txBox="1">
                <a:spLocks noChangeArrowheads="1"/>
              </p:cNvSpPr>
              <p:nvPr/>
            </p:nvSpPr>
            <p:spPr bwMode="auto">
              <a:xfrm>
                <a:off x="3076554" y="3915747"/>
                <a:ext cx="2685211" cy="369094"/>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1800" dirty="0"/>
                  <a:t>（</a:t>
                </a:r>
                <a:r>
                  <a:rPr lang="en-US" altLang="zh-CN" sz="1800" dirty="0"/>
                  <a:t>Boundary Lubrication</a:t>
                </a:r>
                <a:r>
                  <a:rPr lang="zh-CN" altLang="en-US" sz="1800" dirty="0"/>
                  <a:t>）</a:t>
                </a:r>
              </a:p>
            </p:txBody>
          </p:sp>
        </p:grpSp>
        <p:sp>
          <p:nvSpPr>
            <p:cNvPr id="29" name="左大括号 22"/>
            <p:cNvSpPr/>
            <p:nvPr/>
          </p:nvSpPr>
          <p:spPr>
            <a:xfrm>
              <a:off x="4464558" y="4687099"/>
              <a:ext cx="179512" cy="1144214"/>
            </a:xfrm>
            <a:prstGeom prst="leftBrace">
              <a:avLst/>
            </a:prstGeom>
            <a:ln w="12700"/>
          </p:spPr>
          <p:style>
            <a:lnRef idx="1">
              <a:schemeClr val="dk1"/>
            </a:lnRef>
            <a:fillRef idx="0">
              <a:schemeClr val="dk1"/>
            </a:fillRef>
            <a:effectRef idx="0">
              <a:schemeClr val="dk1"/>
            </a:effectRef>
            <a:fontRef idx="minor">
              <a:schemeClr val="tx1"/>
            </a:fontRef>
          </p:style>
          <p:txBody>
            <a:bodyPr anchor="ctr"/>
            <a:lstStyle/>
            <a:p>
              <a:pPr algn="ctr"/>
              <a:endParaRPr lang="zh-CN" altLang="en-US"/>
            </a:p>
          </p:txBody>
        </p:sp>
      </p:grpSp>
      <p:grpSp>
        <p:nvGrpSpPr>
          <p:cNvPr id="37" name="组合 36"/>
          <p:cNvGrpSpPr/>
          <p:nvPr/>
        </p:nvGrpSpPr>
        <p:grpSpPr>
          <a:xfrm>
            <a:off x="251520" y="1073694"/>
            <a:ext cx="4363217" cy="4435336"/>
            <a:chOff x="251520" y="1057300"/>
            <a:chExt cx="4363217" cy="4435336"/>
          </a:xfrm>
        </p:grpSpPr>
        <p:grpSp>
          <p:nvGrpSpPr>
            <p:cNvPr id="38" name="组合 35"/>
            <p:cNvGrpSpPr/>
            <p:nvPr/>
          </p:nvGrpSpPr>
          <p:grpSpPr>
            <a:xfrm>
              <a:off x="251520" y="1057300"/>
              <a:ext cx="4363217" cy="4435336"/>
              <a:chOff x="251520" y="1057300"/>
              <a:chExt cx="4363217" cy="4435336"/>
            </a:xfrm>
          </p:grpSpPr>
          <p:grpSp>
            <p:nvGrpSpPr>
              <p:cNvPr id="40" name="组合 33"/>
              <p:cNvGrpSpPr/>
              <p:nvPr/>
            </p:nvGrpSpPr>
            <p:grpSpPr>
              <a:xfrm>
                <a:off x="251520" y="1057300"/>
                <a:ext cx="4363217" cy="4435336"/>
                <a:chOff x="251520" y="1057300"/>
                <a:chExt cx="4363217" cy="4435336"/>
              </a:xfrm>
            </p:grpSpPr>
            <p:grpSp>
              <p:nvGrpSpPr>
                <p:cNvPr id="42" name="组合 3"/>
                <p:cNvGrpSpPr/>
                <p:nvPr/>
              </p:nvGrpSpPr>
              <p:grpSpPr>
                <a:xfrm>
                  <a:off x="251520" y="1057300"/>
                  <a:ext cx="4363217" cy="4435336"/>
                  <a:chOff x="251520" y="1086460"/>
                  <a:chExt cx="4363217" cy="4435336"/>
                </a:xfrm>
              </p:grpSpPr>
              <p:pic>
                <p:nvPicPr>
                  <p:cNvPr id="44" name="Picture 2"/>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20000" contrast="-40000"/>
                            </a14:imgEffect>
                          </a14:imgLayer>
                        </a14:imgProps>
                      </a:ext>
                    </a:extLst>
                  </a:blip>
                  <a:srcRect/>
                  <a:stretch>
                    <a:fillRect/>
                  </a:stretch>
                </p:blipFill>
                <p:spPr bwMode="auto">
                  <a:xfrm>
                    <a:off x="251520" y="1086460"/>
                    <a:ext cx="4363217" cy="4435336"/>
                  </a:xfrm>
                  <a:prstGeom prst="rect">
                    <a:avLst/>
                  </a:prstGeom>
                  <a:noFill/>
                  <a:ln>
                    <a:noFill/>
                  </a:ln>
                  <a:effectLst/>
                </p:spPr>
              </p:pic>
              <p:pic>
                <p:nvPicPr>
                  <p:cNvPr id="45" name="Picture 3"/>
                  <p:cNvPicPr>
                    <a:picLocks noChangeAspect="1" noChangeArrowheads="1"/>
                  </p:cNvPicPr>
                  <p:nvPr/>
                </p:nvPicPr>
                <p:blipFill>
                  <a:blip r:embed="rId12"/>
                  <a:srcRect/>
                  <a:stretch>
                    <a:fillRect/>
                  </a:stretch>
                </p:blipFill>
                <p:spPr bwMode="auto">
                  <a:xfrm>
                    <a:off x="1566970" y="2856582"/>
                    <a:ext cx="1348846" cy="460270"/>
                  </a:xfrm>
                  <a:prstGeom prst="rect">
                    <a:avLst/>
                  </a:prstGeom>
                  <a:noFill/>
                  <a:ln>
                    <a:noFill/>
                  </a:ln>
                  <a:effectLst/>
                </p:spPr>
              </p:pic>
            </p:grpSp>
            <p:sp>
              <p:nvSpPr>
                <p:cNvPr id="43" name="TextBox 8"/>
                <p:cNvSpPr txBox="1">
                  <a:spLocks noChangeArrowheads="1"/>
                </p:cNvSpPr>
                <p:nvPr/>
              </p:nvSpPr>
              <p:spPr bwMode="auto">
                <a:xfrm>
                  <a:off x="3163900" y="2694785"/>
                  <a:ext cx="757238" cy="430212"/>
                </a:xfrm>
                <a:prstGeom prst="rect">
                  <a:avLst/>
                </a:prstGeom>
                <a:solidFill>
                  <a:srgbClr val="FFFF00"/>
                </a:solid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1100" b="1" i="0" u="none" strike="noStrike" kern="0" cap="none" spc="0" normalizeH="0" baseline="0" noProof="0" dirty="0" smtClean="0">
                      <a:ln>
                        <a:noFill/>
                      </a:ln>
                      <a:solidFill>
                        <a:srgbClr val="0000FF"/>
                      </a:solidFill>
                      <a:effectLst/>
                      <a:uLnTx/>
                      <a:uFillTx/>
                      <a:latin typeface="Arial" charset="0"/>
                      <a:ea typeface="黑体" pitchFamily="49" charset="-122"/>
                    </a:rPr>
                    <a:t>设计中的理想状况</a:t>
                  </a:r>
                </a:p>
              </p:txBody>
            </p:sp>
          </p:grpSp>
          <p:sp>
            <p:nvSpPr>
              <p:cNvPr id="41" name="椭圆 13"/>
              <p:cNvSpPr/>
              <p:nvPr/>
            </p:nvSpPr>
            <p:spPr>
              <a:xfrm>
                <a:off x="2169319" y="4120779"/>
                <a:ext cx="98425" cy="114300"/>
              </a:xfrm>
              <a:prstGeom prst="ellipse">
                <a:avLst/>
              </a:prstGeom>
              <a:solidFill>
                <a:srgbClr val="0000FF"/>
              </a:solidFill>
              <a:ln w="25400" cap="flat" cmpd="sng" algn="ctr">
                <a:solidFill>
                  <a:srgbClr val="BBE0E3">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grpSp>
        <p:sp>
          <p:nvSpPr>
            <p:cNvPr id="39" name="TextBox 1"/>
            <p:cNvSpPr txBox="1">
              <a:spLocks noChangeArrowheads="1"/>
            </p:cNvSpPr>
            <p:nvPr/>
          </p:nvSpPr>
          <p:spPr bwMode="auto">
            <a:xfrm>
              <a:off x="539552" y="3291383"/>
              <a:ext cx="755650" cy="430213"/>
            </a:xfrm>
            <a:prstGeom prst="rect">
              <a:avLst/>
            </a:prstGeom>
            <a:solidFill>
              <a:srgbClr val="FFFF00"/>
            </a:solid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1100" b="1" i="0" u="none" strike="noStrike" kern="0" cap="none" spc="0" normalizeH="0" baseline="0" noProof="0" dirty="0" smtClean="0">
                  <a:ln>
                    <a:noFill/>
                  </a:ln>
                  <a:solidFill>
                    <a:srgbClr val="0000FF"/>
                  </a:solidFill>
                  <a:effectLst/>
                  <a:uLnTx/>
                  <a:uFillTx/>
                  <a:latin typeface="Arial" charset="0"/>
                  <a:ea typeface="黑体" pitchFamily="49" charset="-122"/>
                </a:rPr>
                <a:t>设计中的极限状况</a:t>
              </a:r>
            </a:p>
          </p:txBody>
        </p:sp>
      </p:grpSp>
      <p:sp>
        <p:nvSpPr>
          <p:cNvPr id="47" name="椭圆 10"/>
          <p:cNvSpPr/>
          <p:nvPr/>
        </p:nvSpPr>
        <p:spPr>
          <a:xfrm>
            <a:off x="2915816" y="3954014"/>
            <a:ext cx="72008" cy="72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11"/>
          <p:cNvSpPr/>
          <p:nvPr/>
        </p:nvSpPr>
        <p:spPr>
          <a:xfrm>
            <a:off x="1763688" y="3954014"/>
            <a:ext cx="72008" cy="72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37"/>
          <p:cNvGrpSpPr/>
          <p:nvPr/>
        </p:nvGrpSpPr>
        <p:grpSpPr>
          <a:xfrm>
            <a:off x="-36512" y="3882006"/>
            <a:ext cx="2952328" cy="276999"/>
            <a:chOff x="-36512" y="3865612"/>
            <a:chExt cx="2952328" cy="276999"/>
          </a:xfrm>
        </p:grpSpPr>
        <p:cxnSp>
          <p:nvCxnSpPr>
            <p:cNvPr id="50" name="直接连接符 9"/>
            <p:cNvCxnSpPr>
              <a:cxnSpLocks/>
            </p:cNvCxnSpPr>
            <p:nvPr/>
          </p:nvCxnSpPr>
          <p:spPr>
            <a:xfrm>
              <a:off x="539552" y="3981347"/>
              <a:ext cx="237626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TextBox 12"/>
            <p:cNvSpPr txBox="1"/>
            <p:nvPr/>
          </p:nvSpPr>
          <p:spPr>
            <a:xfrm>
              <a:off x="-36512" y="3865612"/>
              <a:ext cx="567784" cy="276999"/>
            </a:xfrm>
            <a:prstGeom prst="rect">
              <a:avLst/>
            </a:prstGeom>
            <a:noFill/>
          </p:spPr>
          <p:txBody>
            <a:bodyPr wrap="none" rtlCol="0">
              <a:spAutoFit/>
            </a:bodyPr>
            <a:lstStyle/>
            <a:p>
              <a:r>
                <a:rPr lang="en-US" altLang="zh-CN" sz="1200" b="1" dirty="0" smtClean="0">
                  <a:solidFill>
                    <a:srgbClr val="FF0000"/>
                  </a:solidFill>
                </a:rPr>
                <a:t>0.007</a:t>
              </a:r>
              <a:endParaRPr lang="zh-CN" altLang="en-US" sz="1200" b="1" dirty="0">
                <a:solidFill>
                  <a:srgbClr val="FF0000"/>
                </a:solidFill>
              </a:endParaRPr>
            </a:p>
          </p:txBody>
        </p:sp>
      </p:grpSp>
      <p:sp>
        <p:nvSpPr>
          <p:cNvPr id="53" name="Text Box 3"/>
          <p:cNvSpPr txBox="1">
            <a:spLocks noChangeArrowheads="1"/>
          </p:cNvSpPr>
          <p:nvPr/>
        </p:nvSpPr>
        <p:spPr bwMode="auto">
          <a:xfrm>
            <a:off x="4788024" y="4604167"/>
            <a:ext cx="4032448" cy="867930"/>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algn="just" eaLnBrk="1" hangingPunct="1">
              <a:lnSpc>
                <a:spcPct val="120000"/>
              </a:lnSpc>
            </a:pPr>
            <a:r>
              <a:rPr kumimoji="1" lang="zh-CN" altLang="en-US" sz="2100" dirty="0" smtClean="0">
                <a:latin typeface="黑体" pitchFamily="49" charset="-122"/>
              </a:rPr>
              <a:t>在载荷一定的情况下，润滑状态会随着转速的变化而变化。</a:t>
            </a:r>
            <a:endParaRPr kumimoji="1" lang="zh-CN" altLang="en-US" sz="2100" dirty="0">
              <a:latin typeface="黑体" pitchFamily="49" charset="-122"/>
            </a:endParaRPr>
          </a:p>
        </p:txBody>
      </p:sp>
      <p:sp>
        <p:nvSpPr>
          <p:cNvPr id="54" name="Text Box 3"/>
          <p:cNvSpPr txBox="1">
            <a:spLocks noChangeArrowheads="1"/>
          </p:cNvSpPr>
          <p:nvPr/>
        </p:nvSpPr>
        <p:spPr bwMode="auto">
          <a:xfrm>
            <a:off x="223054" y="525550"/>
            <a:ext cx="6840760" cy="415498"/>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kumimoji="1" lang="zh-CN" altLang="en-US" sz="2100" dirty="0" smtClean="0">
                <a:cs typeface="Arial" charset="0"/>
              </a:rPr>
              <a:t>根据</a:t>
            </a:r>
            <a:r>
              <a:rPr kumimoji="1" lang="en-US" altLang="zh-CN" sz="2100" dirty="0" smtClean="0">
                <a:cs typeface="Arial" charset="0"/>
              </a:rPr>
              <a:t>Stribeck</a:t>
            </a:r>
            <a:r>
              <a:rPr kumimoji="1" lang="zh-CN" altLang="en-US" sz="2100" dirty="0" smtClean="0">
                <a:latin typeface="黑体" pitchFamily="49" charset="-122"/>
              </a:rPr>
              <a:t>曲线，引入膜厚比可精确判定摩擦状态。</a:t>
            </a:r>
            <a:endParaRPr kumimoji="1" lang="zh-CN" altLang="en-US" sz="2100" dirty="0">
              <a:latin typeface="黑体" pitchFamily="49" charset="-122"/>
            </a:endParaRPr>
          </a:p>
        </p:txBody>
      </p:sp>
      <p:sp>
        <p:nvSpPr>
          <p:cNvPr id="55" name="单圆角矩形 54"/>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四种典型滑动摩擦状态</a:t>
            </a:r>
            <a:endParaRPr lang="zh-CN" altLang="en-US" sz="1500" dirty="0">
              <a:solidFill>
                <a:srgbClr val="FF6600"/>
              </a:solidFill>
            </a:endParaRPr>
          </a:p>
        </p:txBody>
      </p:sp>
      <p:sp>
        <p:nvSpPr>
          <p:cNvPr id="56" name="直角三角形 55"/>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5868144" y="1301798"/>
            <a:ext cx="2356816" cy="712118"/>
            <a:chOff x="5868144" y="1301798"/>
            <a:chExt cx="2356816" cy="712118"/>
          </a:xfrm>
        </p:grpSpPr>
        <p:sp>
          <p:nvSpPr>
            <p:cNvPr id="21" name="TextBox 7"/>
            <p:cNvSpPr txBox="1">
              <a:spLocks noChangeArrowheads="1"/>
            </p:cNvSpPr>
            <p:nvPr/>
          </p:nvSpPr>
          <p:spPr bwMode="auto">
            <a:xfrm>
              <a:off x="5868144" y="1478579"/>
              <a:ext cx="1195670" cy="400110"/>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000" dirty="0" smtClean="0">
                  <a:solidFill>
                    <a:srgbClr val="0000FF"/>
                  </a:solidFill>
                </a:rPr>
                <a:t>膜厚比：</a:t>
              </a:r>
              <a:endParaRPr lang="zh-CN" altLang="en-US" sz="2000" dirty="0">
                <a:solidFill>
                  <a:srgbClr val="0000FF"/>
                </a:solidFill>
              </a:endParaRPr>
            </a:p>
          </p:txBody>
        </p:sp>
        <mc:AlternateContent xmlns:mc="http://schemas.openxmlformats.org/markup-compatibility/2006" xmlns:a14="http://schemas.microsoft.com/office/drawing/2010/main">
          <mc:Choice Requires="a14">
            <p:sp>
              <p:nvSpPr>
                <p:cNvPr id="57" name="TextBox 7"/>
                <p:cNvSpPr txBox="1">
                  <a:spLocks noChangeArrowheads="1"/>
                </p:cNvSpPr>
                <p:nvPr/>
              </p:nvSpPr>
              <p:spPr bwMode="auto">
                <a:xfrm>
                  <a:off x="6787119" y="1301798"/>
                  <a:ext cx="1437841" cy="712118"/>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14:m>
                    <m:oMathPara xmlns:m="http://schemas.openxmlformats.org/officeDocument/2006/math">
                      <m:oMathParaPr>
                        <m:jc m:val="centerGroup"/>
                      </m:oMathParaPr>
                      <m:oMath xmlns:m="http://schemas.openxmlformats.org/officeDocument/2006/math">
                        <m:r>
                          <m:rPr>
                            <m:sty m:val="p"/>
                          </m:rPr>
                          <a:rPr lang="el-GR" altLang="zh-CN" sz="2100" i="1" smtClean="0">
                            <a:solidFill>
                              <a:schemeClr val="tx1"/>
                            </a:solidFill>
                            <a:latin typeface="Cambria Math" panose="02040503050406030204" pitchFamily="18" charset="0"/>
                          </a:rPr>
                          <m:t>λ</m:t>
                        </m:r>
                        <m:r>
                          <a:rPr lang="en-US" altLang="zh-CN" sz="2100" b="0" i="1" smtClean="0">
                            <a:solidFill>
                              <a:schemeClr val="tx1"/>
                            </a:solidFill>
                            <a:latin typeface="Cambria Math" panose="02040503050406030204" pitchFamily="18" charset="0"/>
                          </a:rPr>
                          <m:t>=</m:t>
                        </m:r>
                        <m:f>
                          <m:fPr>
                            <m:ctrlPr>
                              <a:rPr lang="en-US" altLang="zh-CN" sz="2100" b="0" i="1" smtClean="0">
                                <a:solidFill>
                                  <a:schemeClr val="tx1"/>
                                </a:solidFill>
                                <a:latin typeface="Cambria Math" panose="02040503050406030204" pitchFamily="18" charset="0"/>
                              </a:rPr>
                            </m:ctrlPr>
                          </m:fPr>
                          <m:num>
                            <m:sSub>
                              <m:sSubPr>
                                <m:ctrlPr>
                                  <a:rPr lang="en-US" altLang="zh-CN" sz="2100" b="0" i="1" smtClean="0">
                                    <a:solidFill>
                                      <a:schemeClr val="tx1"/>
                                    </a:solidFill>
                                    <a:latin typeface="Cambria Math" panose="02040503050406030204" pitchFamily="18" charset="0"/>
                                  </a:rPr>
                                </m:ctrlPr>
                              </m:sSubPr>
                              <m:e>
                                <m:r>
                                  <a:rPr lang="en-US" altLang="zh-CN" sz="2100" b="0" i="1" smtClean="0">
                                    <a:solidFill>
                                      <a:schemeClr val="tx1"/>
                                    </a:solidFill>
                                    <a:latin typeface="Cambria Math" panose="02040503050406030204" pitchFamily="18" charset="0"/>
                                  </a:rPr>
                                  <m:t>h</m:t>
                                </m:r>
                              </m:e>
                              <m:sub>
                                <m:r>
                                  <a:rPr lang="en-US" altLang="zh-CN" sz="2100" b="0" i="1" smtClean="0">
                                    <a:solidFill>
                                      <a:schemeClr val="tx1"/>
                                    </a:solidFill>
                                    <a:latin typeface="Cambria Math" panose="02040503050406030204" pitchFamily="18" charset="0"/>
                                  </a:rPr>
                                  <m:t>𝑚𝑖𝑛</m:t>
                                </m:r>
                              </m:sub>
                            </m:sSub>
                          </m:num>
                          <m:den>
                            <m:acc>
                              <m:accPr>
                                <m:chr m:val="̅"/>
                                <m:ctrlPr>
                                  <a:rPr lang="en-US" altLang="zh-CN" sz="2100" b="0" i="1" smtClean="0">
                                    <a:solidFill>
                                      <a:schemeClr val="tx1"/>
                                    </a:solidFill>
                                    <a:latin typeface="Cambria Math" panose="02040503050406030204" pitchFamily="18" charset="0"/>
                                  </a:rPr>
                                </m:ctrlPr>
                              </m:accPr>
                              <m:e>
                                <m:r>
                                  <a:rPr lang="en-US" altLang="zh-CN" sz="2100" b="0" i="1" smtClean="0">
                                    <a:solidFill>
                                      <a:schemeClr val="tx1"/>
                                    </a:solidFill>
                                    <a:latin typeface="Cambria Math" panose="02040503050406030204" pitchFamily="18" charset="0"/>
                                  </a:rPr>
                                  <m:t>𝑅</m:t>
                                </m:r>
                              </m:e>
                            </m:acc>
                          </m:den>
                        </m:f>
                      </m:oMath>
                    </m:oMathPara>
                  </a14:m>
                  <a:endParaRPr lang="zh-CN" altLang="en-US" sz="2100" dirty="0">
                    <a:solidFill>
                      <a:schemeClr val="tx1"/>
                    </a:solidFill>
                  </a:endParaRPr>
                </a:p>
              </p:txBody>
            </p:sp>
          </mc:Choice>
          <mc:Fallback xmlns="">
            <p:sp>
              <p:nvSpPr>
                <p:cNvPr id="57" name="TextBox 7"/>
                <p:cNvSpPr txBox="1">
                  <a:spLocks noRot="1" noChangeAspect="1" noMove="1" noResize="1" noEditPoints="1" noAdjustHandles="1" noChangeArrowheads="1" noChangeShapeType="1" noTextEdit="1"/>
                </p:cNvSpPr>
                <p:nvPr/>
              </p:nvSpPr>
              <p:spPr bwMode="auto">
                <a:xfrm>
                  <a:off x="6787119" y="1301798"/>
                  <a:ext cx="1437841" cy="712118"/>
                </a:xfrm>
                <a:prstGeom prst="rect">
                  <a:avLst/>
                </a:prstGeom>
                <a:blipFill rotWithShape="0">
                  <a:blip r:embed="rId13"/>
                  <a:stretch>
                    <a:fillRect/>
                  </a:stretch>
                </a:blipFill>
                <a:ln>
                  <a:noFill/>
                </a:ln>
              </p:spPr>
              <p:txBody>
                <a:bodyPr/>
                <a:lstStyle/>
                <a:p>
                  <a:r>
                    <a:rPr lang="zh-CN" altLang="en-US">
                      <a:noFill/>
                    </a:rPr>
                    <a:t> </a:t>
                  </a:r>
                </a:p>
              </p:txBody>
            </p:sp>
          </mc:Fallback>
        </mc:AlternateContent>
      </p:grpSp>
      <p:grpSp>
        <p:nvGrpSpPr>
          <p:cNvPr id="3" name="组合 2"/>
          <p:cNvGrpSpPr/>
          <p:nvPr/>
        </p:nvGrpSpPr>
        <p:grpSpPr>
          <a:xfrm>
            <a:off x="4788024" y="2289255"/>
            <a:ext cx="4336581" cy="412136"/>
            <a:chOff x="4788024" y="2289255"/>
            <a:chExt cx="4336581" cy="412136"/>
          </a:xfrm>
        </p:grpSpPr>
        <p:sp>
          <p:nvSpPr>
            <p:cNvPr id="24" name="TextBox 10"/>
            <p:cNvSpPr txBox="1">
              <a:spLocks noChangeArrowheads="1"/>
            </p:cNvSpPr>
            <p:nvPr/>
          </p:nvSpPr>
          <p:spPr bwMode="auto">
            <a:xfrm>
              <a:off x="4788024" y="2289255"/>
              <a:ext cx="2160240" cy="400110"/>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000" dirty="0"/>
                <a:t>平均表面粗糙度</a:t>
              </a:r>
            </a:p>
          </p:txBody>
        </p:sp>
        <mc:AlternateContent xmlns:mc="http://schemas.openxmlformats.org/markup-compatibility/2006" xmlns:a14="http://schemas.microsoft.com/office/drawing/2010/main">
          <mc:Choice Requires="a14">
            <p:sp>
              <p:nvSpPr>
                <p:cNvPr id="36" name="TextBox 7"/>
                <p:cNvSpPr txBox="1">
                  <a:spLocks noChangeArrowheads="1"/>
                </p:cNvSpPr>
                <p:nvPr/>
              </p:nvSpPr>
              <p:spPr bwMode="auto">
                <a:xfrm>
                  <a:off x="6674746" y="2301281"/>
                  <a:ext cx="2449859" cy="400110"/>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14:m>
                    <m:oMathPara xmlns:m="http://schemas.openxmlformats.org/officeDocument/2006/math">
                      <m:oMathParaPr>
                        <m:jc m:val="left"/>
                      </m:oMathParaPr>
                      <m:oMath xmlns:m="http://schemas.openxmlformats.org/officeDocument/2006/math">
                        <m:acc>
                          <m:accPr>
                            <m:chr m:val="̅"/>
                            <m:ctrlPr>
                              <a:rPr lang="en-US" altLang="zh-CN" sz="2000" i="1" smtClean="0">
                                <a:latin typeface="Cambria Math" panose="02040503050406030204" pitchFamily="18" charset="0"/>
                              </a:rPr>
                            </m:ctrlPr>
                          </m:accPr>
                          <m:e>
                            <m:r>
                              <a:rPr lang="en-US" altLang="zh-CN" sz="2000" i="1">
                                <a:latin typeface="Cambria Math" panose="02040503050406030204" pitchFamily="18" charset="0"/>
                              </a:rPr>
                              <m:t>𝑅</m:t>
                            </m:r>
                          </m:e>
                        </m:acc>
                        <m:r>
                          <a:rPr lang="en-US" altLang="zh-CN" sz="2000" b="0" i="1" smtClean="0">
                            <a:solidFill>
                              <a:schemeClr val="tx1"/>
                            </a:solidFill>
                            <a:latin typeface="Cambria Math" panose="02040503050406030204" pitchFamily="18" charset="0"/>
                          </a:rPr>
                          <m:t>=0.5</m:t>
                        </m:r>
                        <m:d>
                          <m:dPr>
                            <m:ctrlPr>
                              <a:rPr lang="en-US" altLang="zh-CN" sz="2000" b="0" i="1" smtClean="0">
                                <a:solidFill>
                                  <a:schemeClr val="tx1"/>
                                </a:solidFill>
                                <a:latin typeface="Cambria Math" panose="02040503050406030204" pitchFamily="18" charset="0"/>
                              </a:rPr>
                            </m:ctrlPr>
                          </m:dPr>
                          <m:e>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𝑅</m:t>
                                </m:r>
                              </m:e>
                              <m:sub>
                                <m:r>
                                  <a:rPr lang="en-US" altLang="zh-CN" sz="2000" b="0" i="1" smtClean="0">
                                    <a:solidFill>
                                      <a:schemeClr val="tx1"/>
                                    </a:solidFill>
                                    <a:latin typeface="Cambria Math" panose="02040503050406030204" pitchFamily="18" charset="0"/>
                                  </a:rPr>
                                  <m:t>𝑎</m:t>
                                </m:r>
                                <m:r>
                                  <a:rPr lang="en-US" altLang="zh-CN" sz="2000" b="0" i="1" smtClean="0">
                                    <a:solidFill>
                                      <a:schemeClr val="tx1"/>
                                    </a:solidFill>
                                    <a:latin typeface="Cambria Math" panose="02040503050406030204" pitchFamily="18" charset="0"/>
                                  </a:rPr>
                                  <m:t>1</m:t>
                                </m:r>
                              </m:sub>
                            </m:sSub>
                            <m:r>
                              <a:rPr lang="en-US" altLang="zh-CN" sz="2000" b="0" i="1" smtClean="0">
                                <a:solidFill>
                                  <a:schemeClr val="tx1"/>
                                </a:solidFill>
                                <a:latin typeface="Cambria Math" panose="02040503050406030204" pitchFamily="18" charset="0"/>
                              </a:rPr>
                              <m:t>+</m:t>
                            </m:r>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𝑅</m:t>
                                </m:r>
                              </m:e>
                              <m:sub>
                                <m:r>
                                  <a:rPr lang="en-US" altLang="zh-CN" sz="2000" b="0" i="1" smtClean="0">
                                    <a:solidFill>
                                      <a:schemeClr val="tx1"/>
                                    </a:solidFill>
                                    <a:latin typeface="Cambria Math" panose="02040503050406030204" pitchFamily="18" charset="0"/>
                                  </a:rPr>
                                  <m:t>𝑎</m:t>
                                </m:r>
                                <m:r>
                                  <a:rPr lang="en-US" altLang="zh-CN" sz="2000" b="0" i="1" smtClean="0">
                                    <a:solidFill>
                                      <a:schemeClr val="tx1"/>
                                    </a:solidFill>
                                    <a:latin typeface="Cambria Math" panose="02040503050406030204" pitchFamily="18" charset="0"/>
                                  </a:rPr>
                                  <m:t>2</m:t>
                                </m:r>
                              </m:sub>
                            </m:sSub>
                          </m:e>
                        </m:d>
                      </m:oMath>
                    </m:oMathPara>
                  </a14:m>
                  <a:endParaRPr lang="zh-CN" altLang="en-US" sz="2000" dirty="0">
                    <a:solidFill>
                      <a:schemeClr val="tx1"/>
                    </a:solidFill>
                  </a:endParaRPr>
                </a:p>
              </p:txBody>
            </p:sp>
          </mc:Choice>
          <mc:Fallback xmlns="">
            <p:sp>
              <p:nvSpPr>
                <p:cNvPr id="36" name="TextBox 7"/>
                <p:cNvSpPr txBox="1">
                  <a:spLocks noRot="1" noChangeAspect="1" noMove="1" noResize="1" noEditPoints="1" noAdjustHandles="1" noChangeArrowheads="1" noChangeShapeType="1" noTextEdit="1"/>
                </p:cNvSpPr>
                <p:nvPr/>
              </p:nvSpPr>
              <p:spPr bwMode="auto">
                <a:xfrm>
                  <a:off x="6674746" y="2301281"/>
                  <a:ext cx="2449859" cy="400110"/>
                </a:xfrm>
                <a:prstGeom prst="rect">
                  <a:avLst/>
                </a:prstGeom>
                <a:blipFill rotWithShape="0">
                  <a:blip r:embed="rId14"/>
                  <a:stretch>
                    <a:fillRect b="-4615"/>
                  </a:stretch>
                </a:blipFill>
                <a:ln>
                  <a:noFill/>
                </a:ln>
              </p:spPr>
              <p:txBody>
                <a:bodyPr/>
                <a:lstStyle/>
                <a:p>
                  <a:r>
                    <a:rPr lang="zh-CN" altLang="en-US">
                      <a:noFill/>
                    </a:rPr>
                    <a:t> </a:t>
                  </a:r>
                </a:p>
              </p:txBody>
            </p:sp>
          </mc:Fallback>
        </mc:AlternateContent>
      </p:grpSp>
    </p:spTree>
    <p:extLst>
      <p:ext uri="{BB962C8B-B14F-4D97-AF65-F5344CB8AC3E}">
        <p14:creationId xmlns:p14="http://schemas.microsoft.com/office/powerpoint/2010/main" val="195833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ipe(left)">
                                      <p:cBhvr>
                                        <p:cTn id="11" dur="500"/>
                                        <p:tgtEl>
                                          <p:spTgt spid="5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wipe(left)">
                                      <p:cBhvr>
                                        <p:cTn id="16" dur="750"/>
                                        <p:tgtEl>
                                          <p:spTgt spid="5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wipe(left)">
                                      <p:cBhvr>
                                        <p:cTn id="21" dur="500"/>
                                        <p:tgtEl>
                                          <p:spTgt spid="49"/>
                                        </p:tgtEl>
                                      </p:cBhvr>
                                    </p:animEffect>
                                  </p:childTnLst>
                                </p:cTn>
                              </p:par>
                            </p:childTnLst>
                          </p:cTn>
                        </p:par>
                        <p:par>
                          <p:cTn id="22" fill="hold">
                            <p:stCondLst>
                              <p:cond delay="500"/>
                            </p:stCondLst>
                            <p:childTnLst>
                              <p:par>
                                <p:cTn id="23" presetID="53" presetClass="entr" presetSubtype="16" fill="hold" grpId="0" nodeType="afterEffect">
                                  <p:stCondLst>
                                    <p:cond delay="0"/>
                                  </p:stCondLst>
                                  <p:childTnLst>
                                    <p:set>
                                      <p:cBhvr>
                                        <p:cTn id="24" dur="1" fill="hold">
                                          <p:stCondLst>
                                            <p:cond delay="0"/>
                                          </p:stCondLst>
                                        </p:cTn>
                                        <p:tgtEl>
                                          <p:spTgt spid="48"/>
                                        </p:tgtEl>
                                        <p:attrNameLst>
                                          <p:attrName>style.visibility</p:attrName>
                                        </p:attrNameLst>
                                      </p:cBhvr>
                                      <p:to>
                                        <p:strVal val="visible"/>
                                      </p:to>
                                    </p:set>
                                    <p:anim calcmode="lin" valueType="num">
                                      <p:cBhvr>
                                        <p:cTn id="25" dur="500" fill="hold"/>
                                        <p:tgtEl>
                                          <p:spTgt spid="48"/>
                                        </p:tgtEl>
                                        <p:attrNameLst>
                                          <p:attrName>ppt_w</p:attrName>
                                        </p:attrNameLst>
                                      </p:cBhvr>
                                      <p:tavLst>
                                        <p:tav tm="0">
                                          <p:val>
                                            <p:fltVal val="0"/>
                                          </p:val>
                                        </p:tav>
                                        <p:tav tm="100000">
                                          <p:val>
                                            <p:strVal val="#ppt_w"/>
                                          </p:val>
                                        </p:tav>
                                      </p:tavLst>
                                    </p:anim>
                                    <p:anim calcmode="lin" valueType="num">
                                      <p:cBhvr>
                                        <p:cTn id="26" dur="500" fill="hold"/>
                                        <p:tgtEl>
                                          <p:spTgt spid="48"/>
                                        </p:tgtEl>
                                        <p:attrNameLst>
                                          <p:attrName>ppt_h</p:attrName>
                                        </p:attrNameLst>
                                      </p:cBhvr>
                                      <p:tavLst>
                                        <p:tav tm="0">
                                          <p:val>
                                            <p:fltVal val="0"/>
                                          </p:val>
                                        </p:tav>
                                        <p:tav tm="100000">
                                          <p:val>
                                            <p:strVal val="#ppt_h"/>
                                          </p:val>
                                        </p:tav>
                                      </p:tavLst>
                                    </p:anim>
                                    <p:animEffect transition="in" filter="fade">
                                      <p:cBhvr>
                                        <p:cTn id="27" dur="500"/>
                                        <p:tgtEl>
                                          <p:spTgt spid="48"/>
                                        </p:tgtEl>
                                      </p:cBhvr>
                                    </p:animEffect>
                                  </p:childTnLst>
                                </p:cTn>
                              </p:par>
                            </p:childTnLst>
                          </p:cTn>
                        </p:par>
                        <p:par>
                          <p:cTn id="28" fill="hold">
                            <p:stCondLst>
                              <p:cond delay="1000"/>
                            </p:stCondLst>
                            <p:childTnLst>
                              <p:par>
                                <p:cTn id="29" presetID="53" presetClass="entr" presetSubtype="16"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p:cTn id="31" dur="500" fill="hold"/>
                                        <p:tgtEl>
                                          <p:spTgt spid="47"/>
                                        </p:tgtEl>
                                        <p:attrNameLst>
                                          <p:attrName>ppt_w</p:attrName>
                                        </p:attrNameLst>
                                      </p:cBhvr>
                                      <p:tavLst>
                                        <p:tav tm="0">
                                          <p:val>
                                            <p:fltVal val="0"/>
                                          </p:val>
                                        </p:tav>
                                        <p:tav tm="100000">
                                          <p:val>
                                            <p:strVal val="#ppt_w"/>
                                          </p:val>
                                        </p:tav>
                                      </p:tavLst>
                                    </p:anim>
                                    <p:anim calcmode="lin" valueType="num">
                                      <p:cBhvr>
                                        <p:cTn id="32" dur="500" fill="hold"/>
                                        <p:tgtEl>
                                          <p:spTgt spid="47"/>
                                        </p:tgtEl>
                                        <p:attrNameLst>
                                          <p:attrName>ppt_h</p:attrName>
                                        </p:attrNameLst>
                                      </p:cBhvr>
                                      <p:tavLst>
                                        <p:tav tm="0">
                                          <p:val>
                                            <p:fltVal val="0"/>
                                          </p:val>
                                        </p:tav>
                                        <p:tav tm="100000">
                                          <p:val>
                                            <p:strVal val="#ppt_h"/>
                                          </p:val>
                                        </p:tav>
                                      </p:tavLst>
                                    </p:anim>
                                    <p:animEffect transition="in" filter="fade">
                                      <p:cBhvr>
                                        <p:cTn id="33" dur="500"/>
                                        <p:tgtEl>
                                          <p:spTgt spid="4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75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53" grpId="0"/>
      <p:bldP spid="5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1"/>
          <p:cNvGrpSpPr/>
          <p:nvPr/>
        </p:nvGrpSpPr>
        <p:grpSpPr>
          <a:xfrm>
            <a:off x="323528" y="553244"/>
            <a:ext cx="3312368" cy="523220"/>
            <a:chOff x="323528" y="553244"/>
            <a:chExt cx="3312368" cy="523220"/>
          </a:xfrm>
        </p:grpSpPr>
        <p:sp>
          <p:nvSpPr>
            <p:cNvPr id="11" name="Text Box 5"/>
            <p:cNvSpPr txBox="1">
              <a:spLocks noChangeArrowheads="1"/>
            </p:cNvSpPr>
            <p:nvPr/>
          </p:nvSpPr>
          <p:spPr bwMode="auto">
            <a:xfrm>
              <a:off x="683568" y="553244"/>
              <a:ext cx="2952328" cy="523220"/>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b="1" dirty="0" smtClean="0">
                  <a:solidFill>
                    <a:srgbClr val="000099"/>
                  </a:solidFill>
                  <a:latin typeface="黑体" pitchFamily="49" charset="-122"/>
                </a:rPr>
                <a:t>典型的磨损过程</a:t>
              </a:r>
              <a:endParaRPr lang="zh-CN" altLang="en-US" b="1" dirty="0">
                <a:solidFill>
                  <a:srgbClr val="000099"/>
                </a:solidFill>
                <a:effectLst/>
                <a:latin typeface="黑体" pitchFamily="49" charset="-122"/>
              </a:endParaRPr>
            </a:p>
          </p:txBody>
        </p:sp>
        <p:pic>
          <p:nvPicPr>
            <p:cNvPr id="12" name="Picture 15" descr="AR1031"/>
            <p:cNvPicPr>
              <a:picLocks noChangeAspect="1" noChangeArrowheads="1"/>
            </p:cNvPicPr>
            <p:nvPr/>
          </p:nvPicPr>
          <p:blipFill>
            <a:blip r:embed="rId4">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sp>
        <p:nvSpPr>
          <p:cNvPr id="40" name="单圆角矩形 39"/>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典型的磨损过程</a:t>
            </a:r>
            <a:endParaRPr lang="zh-CN" altLang="en-US" sz="1500" dirty="0">
              <a:solidFill>
                <a:srgbClr val="FF6600"/>
              </a:solidFill>
            </a:endParaRPr>
          </a:p>
        </p:txBody>
      </p:sp>
      <p:sp>
        <p:nvSpPr>
          <p:cNvPr id="41" name="直角三角形 40"/>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Group 51"/>
          <p:cNvGrpSpPr/>
          <p:nvPr/>
        </p:nvGrpSpPr>
        <p:grpSpPr bwMode="auto">
          <a:xfrm>
            <a:off x="1403648" y="1520844"/>
            <a:ext cx="6561469" cy="2485059"/>
            <a:chOff x="2282" y="2107"/>
            <a:chExt cx="4920" cy="1739"/>
          </a:xfrm>
        </p:grpSpPr>
        <p:grpSp>
          <p:nvGrpSpPr>
            <p:cNvPr id="9" name="Group 43"/>
            <p:cNvGrpSpPr/>
            <p:nvPr/>
          </p:nvGrpSpPr>
          <p:grpSpPr bwMode="auto">
            <a:xfrm>
              <a:off x="2655" y="2296"/>
              <a:ext cx="4012" cy="1400"/>
              <a:chOff x="2840" y="2704"/>
              <a:chExt cx="1891" cy="1096"/>
            </a:xfrm>
          </p:grpSpPr>
          <p:sp>
            <p:nvSpPr>
              <p:cNvPr id="18" name="Line 40"/>
              <p:cNvSpPr>
                <a:spLocks noChangeShapeType="1"/>
              </p:cNvSpPr>
              <p:nvPr/>
            </p:nvSpPr>
            <p:spPr bwMode="auto">
              <a:xfrm flipV="1">
                <a:off x="2840" y="3797"/>
                <a:ext cx="1891" cy="2"/>
              </a:xfrm>
              <a:prstGeom prst="line">
                <a:avLst/>
              </a:prstGeom>
              <a:noFill/>
              <a:ln w="12700">
                <a:solidFill>
                  <a:schemeClr val="tx1"/>
                </a:solidFill>
                <a:round/>
                <a:headEnd/>
                <a:tailEnd type="triangle" w="sm" len="lg"/>
              </a:ln>
              <a:effectLst/>
            </p:spPr>
            <p:txBody>
              <a:bodyPr lIns="90000" tIns="46800" rIns="90000" bIns="46800"/>
              <a:lstStyle/>
              <a:p>
                <a:endParaRPr lang="zh-CN" altLang="en-US"/>
              </a:p>
            </p:txBody>
          </p:sp>
          <p:sp>
            <p:nvSpPr>
              <p:cNvPr id="19" name="Line 41"/>
              <p:cNvSpPr>
                <a:spLocks noChangeShapeType="1"/>
              </p:cNvSpPr>
              <p:nvPr/>
            </p:nvSpPr>
            <p:spPr bwMode="auto">
              <a:xfrm flipV="1">
                <a:off x="2840" y="2704"/>
                <a:ext cx="0" cy="1096"/>
              </a:xfrm>
              <a:prstGeom prst="line">
                <a:avLst/>
              </a:prstGeom>
              <a:noFill/>
              <a:ln w="12700">
                <a:solidFill>
                  <a:schemeClr val="tx1"/>
                </a:solidFill>
                <a:round/>
                <a:headEnd/>
                <a:tailEnd type="triangle" w="sm" len="lg"/>
              </a:ln>
              <a:effectLst/>
            </p:spPr>
            <p:txBody>
              <a:bodyPr lIns="90000" tIns="46800" rIns="90000" bIns="46800"/>
              <a:lstStyle/>
              <a:p>
                <a:endParaRPr lang="zh-CN" altLang="en-US"/>
              </a:p>
            </p:txBody>
          </p:sp>
        </p:grpSp>
        <p:sp>
          <p:nvSpPr>
            <p:cNvPr id="14" name="Freeform 45"/>
            <p:cNvSpPr/>
            <p:nvPr/>
          </p:nvSpPr>
          <p:spPr bwMode="auto">
            <a:xfrm>
              <a:off x="2664" y="2288"/>
              <a:ext cx="3734" cy="1408"/>
            </a:xfrm>
            <a:custGeom>
              <a:avLst/>
              <a:gdLst>
                <a:gd name="T0" fmla="*/ 0 w 2488"/>
                <a:gd name="T1" fmla="*/ 1408 h 1408"/>
                <a:gd name="T2" fmla="*/ 120 w 2488"/>
                <a:gd name="T3" fmla="*/ 1112 h 1408"/>
                <a:gd name="T4" fmla="*/ 368 w 2488"/>
                <a:gd name="T5" fmla="*/ 944 h 1408"/>
                <a:gd name="T6" fmla="*/ 688 w 2488"/>
                <a:gd name="T7" fmla="*/ 864 h 1408"/>
                <a:gd name="T8" fmla="*/ 2048 w 2488"/>
                <a:gd name="T9" fmla="*/ 576 h 1408"/>
                <a:gd name="T10" fmla="*/ 2488 w 2488"/>
                <a:gd name="T11" fmla="*/ 0 h 1408"/>
              </a:gdLst>
              <a:ahLst/>
              <a:cxnLst>
                <a:cxn ang="0">
                  <a:pos x="T0" y="T1"/>
                </a:cxn>
                <a:cxn ang="0">
                  <a:pos x="T2" y="T3"/>
                </a:cxn>
                <a:cxn ang="0">
                  <a:pos x="T4" y="T5"/>
                </a:cxn>
                <a:cxn ang="0">
                  <a:pos x="T6" y="T7"/>
                </a:cxn>
                <a:cxn ang="0">
                  <a:pos x="T8" y="T9"/>
                </a:cxn>
                <a:cxn ang="0">
                  <a:pos x="T10" y="T11"/>
                </a:cxn>
              </a:cxnLst>
              <a:rect l="0" t="0" r="r" b="b"/>
              <a:pathLst>
                <a:path w="2488" h="1408">
                  <a:moveTo>
                    <a:pt x="0" y="1408"/>
                  </a:moveTo>
                  <a:cubicBezTo>
                    <a:pt x="29" y="1298"/>
                    <a:pt x="59" y="1189"/>
                    <a:pt x="120" y="1112"/>
                  </a:cubicBezTo>
                  <a:cubicBezTo>
                    <a:pt x="181" y="1035"/>
                    <a:pt x="273" y="985"/>
                    <a:pt x="368" y="944"/>
                  </a:cubicBezTo>
                  <a:cubicBezTo>
                    <a:pt x="463" y="903"/>
                    <a:pt x="408" y="925"/>
                    <a:pt x="688" y="864"/>
                  </a:cubicBezTo>
                  <a:cubicBezTo>
                    <a:pt x="968" y="803"/>
                    <a:pt x="1748" y="720"/>
                    <a:pt x="2048" y="576"/>
                  </a:cubicBezTo>
                  <a:cubicBezTo>
                    <a:pt x="2348" y="432"/>
                    <a:pt x="2418" y="216"/>
                    <a:pt x="2488" y="0"/>
                  </a:cubicBezTo>
                </a:path>
              </a:pathLst>
            </a:custGeom>
            <a:noFill/>
            <a:ln w="28575" cap="flat" cmpd="sng">
              <a:solidFill>
                <a:srgbClr val="0000FF"/>
              </a:solidFill>
              <a:prstDash val="solid"/>
              <a:round/>
              <a:headEnd type="none" w="med" len="med"/>
              <a:tailEnd type="none" w="sm" len="lg"/>
            </a:ln>
            <a:effectLst/>
          </p:spPr>
          <p:txBody>
            <a:bodyPr lIns="90000" tIns="46800" rIns="90000" bIns="46800"/>
            <a:lstStyle/>
            <a:p>
              <a:endParaRPr lang="zh-CN" altLang="en-US"/>
            </a:p>
          </p:txBody>
        </p:sp>
        <p:sp>
          <p:nvSpPr>
            <p:cNvPr id="15" name="Text Box 46"/>
            <p:cNvSpPr txBox="1">
              <a:spLocks noChangeArrowheads="1"/>
            </p:cNvSpPr>
            <p:nvPr/>
          </p:nvSpPr>
          <p:spPr bwMode="auto">
            <a:xfrm>
              <a:off x="2282" y="2107"/>
              <a:ext cx="342" cy="824"/>
            </a:xfrm>
            <a:prstGeom prst="rect">
              <a:avLst/>
            </a:prstGeom>
            <a:noFill/>
            <a:ln>
              <a:noFill/>
            </a:ln>
            <a:effectLst/>
          </p:spPr>
          <p:txBody>
            <a:bodyPr vert="eaVert" lIns="90000" tIns="46800" rIns="90000" bIns="46800">
              <a:spAutoFit/>
            </a:bodyPr>
            <a:lstStyle/>
            <a:p>
              <a:pPr>
                <a:spcBef>
                  <a:spcPct val="50000"/>
                </a:spcBef>
              </a:pPr>
              <a:r>
                <a:rPr lang="zh-CN" altLang="en-US" sz="1800" dirty="0">
                  <a:solidFill>
                    <a:srgbClr val="000099"/>
                  </a:solidFill>
                </a:rPr>
                <a:t>磨损量</a:t>
              </a:r>
            </a:p>
          </p:txBody>
        </p:sp>
        <p:sp>
          <p:nvSpPr>
            <p:cNvPr id="16" name="Text Box 47"/>
            <p:cNvSpPr txBox="1">
              <a:spLocks noChangeArrowheads="1"/>
            </p:cNvSpPr>
            <p:nvPr/>
          </p:nvSpPr>
          <p:spPr bwMode="auto">
            <a:xfrm>
              <a:off x="6602" y="3496"/>
              <a:ext cx="600" cy="257"/>
            </a:xfrm>
            <a:prstGeom prst="rect">
              <a:avLst/>
            </a:prstGeom>
            <a:noFill/>
            <a:ln>
              <a:noFill/>
            </a:ln>
            <a:effectLst/>
          </p:spPr>
          <p:txBody>
            <a:bodyPr lIns="90000" tIns="46800" rIns="90000" bIns="46800">
              <a:spAutoFit/>
            </a:bodyPr>
            <a:lstStyle/>
            <a:p>
              <a:pPr>
                <a:spcBef>
                  <a:spcPct val="50000"/>
                </a:spcBef>
              </a:pPr>
              <a:r>
                <a:rPr lang="zh-CN" altLang="en-US" sz="1800" dirty="0">
                  <a:solidFill>
                    <a:srgbClr val="000099"/>
                  </a:solidFill>
                </a:rPr>
                <a:t>时间</a:t>
              </a:r>
            </a:p>
          </p:txBody>
        </p:sp>
        <p:graphicFrame>
          <p:nvGraphicFramePr>
            <p:cNvPr id="17" name="Object 50"/>
            <p:cNvGraphicFramePr>
              <a:graphicFrameLocks noChangeAspect="1"/>
            </p:cNvGraphicFramePr>
            <p:nvPr/>
          </p:nvGraphicFramePr>
          <p:xfrm>
            <a:off x="2432" y="3688"/>
            <a:ext cx="144" cy="158"/>
          </p:xfrm>
          <a:graphic>
            <a:graphicData uri="http://schemas.openxmlformats.org/presentationml/2006/ole">
              <mc:AlternateContent xmlns:mc="http://schemas.openxmlformats.org/markup-compatibility/2006">
                <mc:Choice xmlns:v="urn:schemas-microsoft-com:vml" Requires="v">
                  <p:oleObj spid="_x0000_s6042654" name="Equation" r:id="rId5" imgW="253800" imgH="279360" progId="Equation.3">
                    <p:embed/>
                  </p:oleObj>
                </mc:Choice>
                <mc:Fallback>
                  <p:oleObj name="Equation" r:id="rId5" imgW="253800" imgH="279360" progId="Equation.3">
                    <p:embed/>
                    <p:pic>
                      <p:nvPicPr>
                        <p:cNvPr id="0" name=""/>
                        <p:cNvPicPr>
                          <a:picLocks noChangeAspect="1" noChangeArrowheads="1"/>
                        </p:cNvPicPr>
                        <p:nvPr/>
                      </p:nvPicPr>
                      <p:blipFill>
                        <a:blip r:embed="rId6"/>
                        <a:srcRect/>
                        <a:stretch>
                          <a:fillRect/>
                        </a:stretch>
                      </p:blipFill>
                      <p:spPr bwMode="auto">
                        <a:xfrm>
                          <a:off x="2432" y="3688"/>
                          <a:ext cx="144" cy="158"/>
                        </a:xfrm>
                        <a:prstGeom prst="rect">
                          <a:avLst/>
                        </a:prstGeom>
                        <a:noFill/>
                        <a:ln>
                          <a:noFill/>
                        </a:ln>
                        <a:effectLst/>
                      </p:spPr>
                    </p:pic>
                  </p:oleObj>
                </mc:Fallback>
              </mc:AlternateContent>
            </a:graphicData>
          </a:graphic>
        </p:graphicFrame>
      </p:grpSp>
      <p:grpSp>
        <p:nvGrpSpPr>
          <p:cNvPr id="20" name="Group 69"/>
          <p:cNvGrpSpPr/>
          <p:nvPr/>
        </p:nvGrpSpPr>
        <p:grpSpPr bwMode="auto">
          <a:xfrm>
            <a:off x="1932287" y="1847737"/>
            <a:ext cx="5535620" cy="1938337"/>
            <a:chOff x="2888" y="2267"/>
            <a:chExt cx="3487" cy="1221"/>
          </a:xfrm>
        </p:grpSpPr>
        <p:sp>
          <p:nvSpPr>
            <p:cNvPr id="21" name="Line 52"/>
            <p:cNvSpPr>
              <a:spLocks noChangeShapeType="1"/>
            </p:cNvSpPr>
            <p:nvPr/>
          </p:nvSpPr>
          <p:spPr bwMode="auto">
            <a:xfrm flipV="1">
              <a:off x="3382" y="2436"/>
              <a:ext cx="1" cy="1052"/>
            </a:xfrm>
            <a:prstGeom prst="line">
              <a:avLst/>
            </a:prstGeom>
            <a:noFill/>
            <a:ln w="9525">
              <a:solidFill>
                <a:schemeClr val="tx1"/>
              </a:solidFill>
              <a:round/>
              <a:headEnd/>
              <a:tailEnd type="none" w="sm" len="lg"/>
            </a:ln>
            <a:effectLst/>
          </p:spPr>
          <p:txBody>
            <a:bodyPr lIns="90000" tIns="46800" rIns="90000" bIns="46800"/>
            <a:lstStyle/>
            <a:p>
              <a:endParaRPr lang="zh-CN" altLang="en-US"/>
            </a:p>
          </p:txBody>
        </p:sp>
        <p:sp>
          <p:nvSpPr>
            <p:cNvPr id="22" name="Line 53"/>
            <p:cNvSpPr>
              <a:spLocks noChangeShapeType="1"/>
            </p:cNvSpPr>
            <p:nvPr/>
          </p:nvSpPr>
          <p:spPr bwMode="auto">
            <a:xfrm flipV="1">
              <a:off x="5467" y="2299"/>
              <a:ext cx="1" cy="1181"/>
            </a:xfrm>
            <a:prstGeom prst="line">
              <a:avLst/>
            </a:prstGeom>
            <a:noFill/>
            <a:ln w="9525">
              <a:solidFill>
                <a:schemeClr val="tx1"/>
              </a:solidFill>
              <a:round/>
              <a:headEnd/>
              <a:tailEnd type="none" w="sm" len="lg"/>
            </a:ln>
            <a:effectLst/>
          </p:spPr>
          <p:txBody>
            <a:bodyPr lIns="90000" tIns="46800" rIns="90000" bIns="46800"/>
            <a:lstStyle/>
            <a:p>
              <a:endParaRPr lang="zh-CN" altLang="en-US"/>
            </a:p>
          </p:txBody>
        </p:sp>
        <p:grpSp>
          <p:nvGrpSpPr>
            <p:cNvPr id="23" name="Group 61"/>
            <p:cNvGrpSpPr/>
            <p:nvPr/>
          </p:nvGrpSpPr>
          <p:grpSpPr bwMode="auto">
            <a:xfrm>
              <a:off x="2888" y="2267"/>
              <a:ext cx="3487" cy="246"/>
              <a:chOff x="2888" y="2267"/>
              <a:chExt cx="3487" cy="246"/>
            </a:xfrm>
          </p:grpSpPr>
          <p:sp>
            <p:nvSpPr>
              <p:cNvPr id="24" name="Line 54"/>
              <p:cNvSpPr>
                <a:spLocks noChangeShapeType="1"/>
              </p:cNvSpPr>
              <p:nvPr/>
            </p:nvSpPr>
            <p:spPr bwMode="auto">
              <a:xfrm flipH="1">
                <a:off x="2888" y="2513"/>
                <a:ext cx="494" cy="0"/>
              </a:xfrm>
              <a:prstGeom prst="line">
                <a:avLst/>
              </a:prstGeom>
              <a:noFill/>
              <a:ln w="9525">
                <a:solidFill>
                  <a:schemeClr val="tx1"/>
                </a:solidFill>
                <a:round/>
                <a:headEnd type="triangle" w="sm" len="lg"/>
                <a:tailEnd type="triangle" w="sm" len="lg"/>
              </a:ln>
              <a:effectLst/>
            </p:spPr>
            <p:txBody>
              <a:bodyPr lIns="90000" tIns="46800" rIns="90000" bIns="46800"/>
              <a:lstStyle/>
              <a:p>
                <a:endParaRPr lang="zh-CN" altLang="en-US"/>
              </a:p>
            </p:txBody>
          </p:sp>
          <p:sp>
            <p:nvSpPr>
              <p:cNvPr id="25" name="Line 55"/>
              <p:cNvSpPr>
                <a:spLocks noChangeShapeType="1"/>
              </p:cNvSpPr>
              <p:nvPr/>
            </p:nvSpPr>
            <p:spPr bwMode="auto">
              <a:xfrm>
                <a:off x="3406" y="2512"/>
                <a:ext cx="2064" cy="0"/>
              </a:xfrm>
              <a:prstGeom prst="line">
                <a:avLst/>
              </a:prstGeom>
              <a:noFill/>
              <a:ln w="9525">
                <a:solidFill>
                  <a:schemeClr val="tx1"/>
                </a:solidFill>
                <a:round/>
                <a:headEnd type="triangle" w="sm" len="lg"/>
                <a:tailEnd type="triangle" w="sm" len="lg"/>
              </a:ln>
              <a:effectLst/>
            </p:spPr>
            <p:txBody>
              <a:bodyPr lIns="90000" tIns="46800" rIns="90000" bIns="46800"/>
              <a:lstStyle/>
              <a:p>
                <a:endParaRPr lang="zh-CN" altLang="en-US"/>
              </a:p>
            </p:txBody>
          </p:sp>
          <p:sp>
            <p:nvSpPr>
              <p:cNvPr id="26" name="Line 56"/>
              <p:cNvSpPr>
                <a:spLocks noChangeShapeType="1"/>
              </p:cNvSpPr>
              <p:nvPr/>
            </p:nvSpPr>
            <p:spPr bwMode="auto">
              <a:xfrm flipH="1">
                <a:off x="5470" y="2512"/>
                <a:ext cx="905" cy="1"/>
              </a:xfrm>
              <a:prstGeom prst="line">
                <a:avLst/>
              </a:prstGeom>
              <a:noFill/>
              <a:ln w="9525">
                <a:solidFill>
                  <a:schemeClr val="tx1"/>
                </a:solidFill>
                <a:round/>
                <a:headEnd/>
                <a:tailEnd type="triangle" w="sm" len="lg"/>
              </a:ln>
              <a:effectLst/>
            </p:spPr>
            <p:txBody>
              <a:bodyPr lIns="90000" tIns="46800" rIns="90000" bIns="46800"/>
              <a:lstStyle/>
              <a:p>
                <a:endParaRPr lang="zh-CN" altLang="en-US"/>
              </a:p>
            </p:txBody>
          </p:sp>
          <p:sp>
            <p:nvSpPr>
              <p:cNvPr id="27" name="Text Box 58"/>
              <p:cNvSpPr txBox="1">
                <a:spLocks noChangeArrowheads="1"/>
              </p:cNvSpPr>
              <p:nvPr/>
            </p:nvSpPr>
            <p:spPr bwMode="auto">
              <a:xfrm>
                <a:off x="2937" y="2267"/>
                <a:ext cx="418" cy="234"/>
              </a:xfrm>
              <a:prstGeom prst="rect">
                <a:avLst/>
              </a:prstGeom>
              <a:noFill/>
              <a:ln>
                <a:noFill/>
              </a:ln>
              <a:effectLst/>
            </p:spPr>
            <p:txBody>
              <a:bodyPr lIns="90000" tIns="46800" rIns="90000" bIns="46800">
                <a:spAutoFit/>
              </a:bodyPr>
              <a:lstStyle/>
              <a:p>
                <a:pPr>
                  <a:spcBef>
                    <a:spcPct val="50000"/>
                  </a:spcBef>
                </a:pPr>
                <a:r>
                  <a:rPr lang="zh-CN" altLang="en-US" sz="1800" dirty="0">
                    <a:solidFill>
                      <a:srgbClr val="0000FF"/>
                    </a:solidFill>
                    <a:latin typeface="+mn-ea"/>
                    <a:ea typeface="+mn-ea"/>
                  </a:rPr>
                  <a:t>磨合</a:t>
                </a:r>
              </a:p>
            </p:txBody>
          </p:sp>
          <p:sp>
            <p:nvSpPr>
              <p:cNvPr id="28" name="Text Box 59"/>
              <p:cNvSpPr txBox="1">
                <a:spLocks noChangeArrowheads="1"/>
              </p:cNvSpPr>
              <p:nvPr/>
            </p:nvSpPr>
            <p:spPr bwMode="auto">
              <a:xfrm>
                <a:off x="4066" y="2267"/>
                <a:ext cx="697" cy="234"/>
              </a:xfrm>
              <a:prstGeom prst="rect">
                <a:avLst/>
              </a:prstGeom>
              <a:noFill/>
              <a:ln>
                <a:noFill/>
              </a:ln>
              <a:effectLst/>
            </p:spPr>
            <p:txBody>
              <a:bodyPr lIns="90000" tIns="46800" rIns="90000" bIns="46800">
                <a:spAutoFit/>
              </a:bodyPr>
              <a:lstStyle/>
              <a:p>
                <a:pPr>
                  <a:spcBef>
                    <a:spcPct val="50000"/>
                  </a:spcBef>
                </a:pPr>
                <a:r>
                  <a:rPr lang="zh-CN" altLang="en-US" sz="1800" dirty="0">
                    <a:solidFill>
                      <a:srgbClr val="0000FF"/>
                    </a:solidFill>
                    <a:latin typeface="+mn-ea"/>
                    <a:ea typeface="+mn-ea"/>
                  </a:rPr>
                  <a:t>稳定磨损</a:t>
                </a:r>
              </a:p>
            </p:txBody>
          </p:sp>
          <p:sp>
            <p:nvSpPr>
              <p:cNvPr id="29" name="Text Box 60"/>
              <p:cNvSpPr txBox="1">
                <a:spLocks noChangeArrowheads="1"/>
              </p:cNvSpPr>
              <p:nvPr/>
            </p:nvSpPr>
            <p:spPr bwMode="auto">
              <a:xfrm>
                <a:off x="5629" y="2267"/>
                <a:ext cx="746" cy="234"/>
              </a:xfrm>
              <a:prstGeom prst="rect">
                <a:avLst/>
              </a:prstGeom>
              <a:noFill/>
              <a:ln>
                <a:noFill/>
              </a:ln>
              <a:effectLst/>
            </p:spPr>
            <p:txBody>
              <a:bodyPr lIns="90000" tIns="46800" rIns="90000" bIns="46800">
                <a:spAutoFit/>
              </a:bodyPr>
              <a:lstStyle/>
              <a:p>
                <a:pPr algn="ctr">
                  <a:spcBef>
                    <a:spcPct val="50000"/>
                  </a:spcBef>
                </a:pPr>
                <a:r>
                  <a:rPr lang="zh-CN" altLang="en-US" sz="1800" dirty="0">
                    <a:solidFill>
                      <a:srgbClr val="0000FF"/>
                    </a:solidFill>
                    <a:latin typeface="+mn-ea"/>
                    <a:ea typeface="+mn-ea"/>
                  </a:rPr>
                  <a:t>剧烈磨损</a:t>
                </a:r>
              </a:p>
            </p:txBody>
          </p:sp>
        </p:grpSp>
      </p:grpSp>
      <p:sp>
        <p:nvSpPr>
          <p:cNvPr id="30" name="TextBox 24"/>
          <p:cNvSpPr txBox="1">
            <a:spLocks noChangeArrowheads="1"/>
          </p:cNvSpPr>
          <p:nvPr/>
        </p:nvSpPr>
        <p:spPr bwMode="auto">
          <a:xfrm>
            <a:off x="755575" y="4182672"/>
            <a:ext cx="7804017" cy="400110"/>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000" dirty="0" smtClean="0">
                <a:solidFill>
                  <a:srgbClr val="FF0000"/>
                </a:solidFill>
                <a:latin typeface="黑体" pitchFamily="49" charset="-122"/>
              </a:rPr>
              <a:t>磨损三阶段</a:t>
            </a:r>
            <a:r>
              <a:rPr lang="zh-CN" altLang="en-US" sz="2000" dirty="0" smtClean="0">
                <a:latin typeface="黑体" pitchFamily="49" charset="-122"/>
              </a:rPr>
              <a:t>：</a:t>
            </a:r>
            <a:r>
              <a:rPr lang="en-US" altLang="zh-CN" sz="2000" dirty="0" smtClean="0">
                <a:latin typeface="黑体" pitchFamily="49" charset="-122"/>
              </a:rPr>
              <a:t>1</a:t>
            </a:r>
            <a:r>
              <a:rPr lang="zh-CN" altLang="en-US" sz="2000" dirty="0" smtClean="0">
                <a:latin typeface="黑体" pitchFamily="49" charset="-122"/>
              </a:rPr>
              <a:t>）磨合阶段；</a:t>
            </a:r>
            <a:r>
              <a:rPr lang="en-US" altLang="zh-CN" sz="2000" dirty="0" smtClean="0">
                <a:latin typeface="黑体" pitchFamily="49" charset="-122"/>
              </a:rPr>
              <a:t>2</a:t>
            </a:r>
            <a:r>
              <a:rPr lang="zh-CN" altLang="en-US" sz="2000" dirty="0" smtClean="0">
                <a:latin typeface="黑体" pitchFamily="49" charset="-122"/>
              </a:rPr>
              <a:t>）稳定</a:t>
            </a:r>
            <a:r>
              <a:rPr lang="zh-CN" altLang="en-US" sz="2000" dirty="0">
                <a:latin typeface="黑体" pitchFamily="49" charset="-122"/>
              </a:rPr>
              <a:t>磨损</a:t>
            </a:r>
            <a:r>
              <a:rPr lang="zh-CN" altLang="en-US" sz="2000" dirty="0" smtClean="0">
                <a:latin typeface="黑体" pitchFamily="49" charset="-122"/>
              </a:rPr>
              <a:t>阶段；</a:t>
            </a:r>
            <a:r>
              <a:rPr lang="en-US" altLang="zh-CN" sz="2000" dirty="0" smtClean="0">
                <a:latin typeface="黑体" pitchFamily="49" charset="-122"/>
              </a:rPr>
              <a:t>3</a:t>
            </a:r>
            <a:r>
              <a:rPr lang="zh-CN" altLang="en-US" sz="2000" dirty="0" smtClean="0">
                <a:latin typeface="黑体" pitchFamily="49" charset="-122"/>
              </a:rPr>
              <a:t>）剧烈</a:t>
            </a:r>
            <a:r>
              <a:rPr lang="zh-CN" altLang="en-US" sz="2000" dirty="0">
                <a:latin typeface="黑体" pitchFamily="49" charset="-122"/>
              </a:rPr>
              <a:t>磨损阶段</a:t>
            </a:r>
          </a:p>
        </p:txBody>
      </p:sp>
      <p:sp>
        <p:nvSpPr>
          <p:cNvPr id="31" name="Text Box 29"/>
          <p:cNvSpPr txBox="1">
            <a:spLocks noChangeArrowheads="1"/>
          </p:cNvSpPr>
          <p:nvPr/>
        </p:nvSpPr>
        <p:spPr bwMode="auto">
          <a:xfrm>
            <a:off x="401257" y="4641453"/>
            <a:ext cx="8347207" cy="534635"/>
          </a:xfrm>
          <a:prstGeom prst="rect">
            <a:avLst/>
          </a:prstGeom>
          <a:noFill/>
          <a:ln>
            <a:noFill/>
          </a:ln>
          <a:effectLst/>
        </p:spPr>
        <p:txBody>
          <a:bodyPr wrap="none" lIns="90000" tIns="46800" rIns="18000" bIns="46800">
            <a:spAutoFit/>
          </a:bodyPr>
          <a:lstStyle/>
          <a:p>
            <a:pPr>
              <a:lnSpc>
                <a:spcPct val="130000"/>
              </a:lnSpc>
              <a:buFontTx/>
              <a:buBlip>
                <a:blip r:embed="rId7"/>
              </a:buBlip>
            </a:pPr>
            <a:r>
              <a:rPr lang="en-US" altLang="zh-CN" sz="2200" dirty="0">
                <a:solidFill>
                  <a:schemeClr val="tx2"/>
                </a:solidFill>
                <a:latin typeface="黑体" pitchFamily="49" charset="-122"/>
                <a:ea typeface="黑体" pitchFamily="49" charset="-122"/>
              </a:rPr>
              <a:t> </a:t>
            </a:r>
            <a:r>
              <a:rPr lang="zh-CN" altLang="en-US" sz="2200" dirty="0" smtClean="0">
                <a:solidFill>
                  <a:schemeClr val="tx2"/>
                </a:solidFill>
                <a:latin typeface="黑体" pitchFamily="49" charset="-122"/>
                <a:ea typeface="黑体" pitchFamily="49" charset="-122"/>
              </a:rPr>
              <a:t>应该力求</a:t>
            </a:r>
            <a:r>
              <a:rPr lang="zh-CN" altLang="en-US" sz="2200" dirty="0">
                <a:solidFill>
                  <a:srgbClr val="FF00FF"/>
                </a:solidFill>
                <a:latin typeface="黑体" pitchFamily="49" charset="-122"/>
                <a:ea typeface="黑体" pitchFamily="49" charset="-122"/>
              </a:rPr>
              <a:t>缩短</a:t>
            </a:r>
            <a:r>
              <a:rPr lang="zh-CN" altLang="en-US" sz="2200" dirty="0">
                <a:solidFill>
                  <a:schemeClr val="tx2"/>
                </a:solidFill>
                <a:latin typeface="黑体" pitchFamily="49" charset="-122"/>
                <a:ea typeface="黑体" pitchFamily="49" charset="-122"/>
              </a:rPr>
              <a:t>磨合期，</a:t>
            </a:r>
            <a:r>
              <a:rPr lang="zh-CN" altLang="en-US" sz="2200" dirty="0">
                <a:solidFill>
                  <a:srgbClr val="FF00FF"/>
                </a:solidFill>
                <a:latin typeface="黑体" pitchFamily="49" charset="-122"/>
                <a:ea typeface="黑体" pitchFamily="49" charset="-122"/>
              </a:rPr>
              <a:t>延长</a:t>
            </a:r>
            <a:r>
              <a:rPr lang="zh-CN" altLang="en-US" sz="2200" dirty="0">
                <a:solidFill>
                  <a:schemeClr val="tx2"/>
                </a:solidFill>
                <a:latin typeface="黑体" pitchFamily="49" charset="-122"/>
                <a:ea typeface="黑体" pitchFamily="49" charset="-122"/>
              </a:rPr>
              <a:t>稳定磨损期，</a:t>
            </a:r>
            <a:r>
              <a:rPr lang="zh-CN" altLang="en-US" sz="2200" dirty="0">
                <a:solidFill>
                  <a:srgbClr val="FF00FF"/>
                </a:solidFill>
                <a:latin typeface="黑体" pitchFamily="49" charset="-122"/>
                <a:ea typeface="黑体" pitchFamily="49" charset="-122"/>
              </a:rPr>
              <a:t>推迟</a:t>
            </a:r>
            <a:r>
              <a:rPr lang="zh-CN" altLang="en-US" sz="2200" dirty="0">
                <a:solidFill>
                  <a:schemeClr val="tx2"/>
                </a:solidFill>
                <a:latin typeface="黑体" pitchFamily="49" charset="-122"/>
                <a:ea typeface="黑体" pitchFamily="49" charset="-122"/>
              </a:rPr>
              <a:t>剧烈磨损的到来。</a:t>
            </a:r>
          </a:p>
        </p:txBody>
      </p:sp>
      <p:sp>
        <p:nvSpPr>
          <p:cNvPr id="2" name="弧形 1"/>
          <p:cNvSpPr/>
          <p:nvPr/>
        </p:nvSpPr>
        <p:spPr>
          <a:xfrm rot="10800000">
            <a:off x="1871751" y="481235"/>
            <a:ext cx="1648436" cy="2618243"/>
          </a:xfrm>
          <a:prstGeom prst="arc">
            <a:avLst>
              <a:gd name="adj1" fmla="val 10811125"/>
              <a:gd name="adj2" fmla="val 16109189"/>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0-#ppt_w/2"/>
                                          </p:val>
                                        </p:tav>
                                        <p:tav tm="100000">
                                          <p:val>
                                            <p:strVal val="#ppt_x"/>
                                          </p:val>
                                        </p:tav>
                                      </p:tavLst>
                                    </p:anim>
                                    <p:anim calcmode="lin" valueType="num">
                                      <p:cBhvr additive="base">
                                        <p:cTn id="18" dur="500" fill="hold"/>
                                        <p:tgtEl>
                                          <p:spTgt spid="20"/>
                                        </p:tgtEl>
                                        <p:attrNameLst>
                                          <p:attrName>ppt_y</p:attrName>
                                        </p:attrNameLst>
                                      </p:cBhvr>
                                      <p:tavLst>
                                        <p:tav tm="0">
                                          <p:val>
                                            <p:strVal val="#ppt_y"/>
                                          </p:val>
                                        </p:tav>
                                        <p:tav tm="100000">
                                          <p:val>
                                            <p:strVal val="#ppt_y"/>
                                          </p:val>
                                        </p:tav>
                                      </p:tavLst>
                                    </p:anim>
                                  </p:childTnLst>
                                </p:cTn>
                              </p:par>
                              <p:par>
                                <p:cTn id="19" presetID="5" presetClass="entr" presetSubtype="1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checkerboard(across)">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left)">
                                      <p:cBhvr>
                                        <p:cTn id="26" dur="750"/>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单圆角矩形 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磨损的分类</a:t>
            </a:r>
            <a:endParaRPr lang="zh-CN" altLang="en-US" sz="1500" dirty="0">
              <a:solidFill>
                <a:srgbClr val="FF6600"/>
              </a:solidFill>
            </a:endParaRPr>
          </a:p>
        </p:txBody>
      </p:sp>
      <p:sp>
        <p:nvSpPr>
          <p:cNvPr id="5" name="直角三角形 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1"/>
          <p:cNvGrpSpPr/>
          <p:nvPr/>
        </p:nvGrpSpPr>
        <p:grpSpPr>
          <a:xfrm>
            <a:off x="323528" y="553244"/>
            <a:ext cx="2592288" cy="523220"/>
            <a:chOff x="323528" y="553244"/>
            <a:chExt cx="2592288" cy="523220"/>
          </a:xfrm>
        </p:grpSpPr>
        <p:sp>
          <p:nvSpPr>
            <p:cNvPr id="7" name="Text Box 5"/>
            <p:cNvSpPr txBox="1">
              <a:spLocks noChangeArrowheads="1"/>
            </p:cNvSpPr>
            <p:nvPr/>
          </p:nvSpPr>
          <p:spPr bwMode="auto">
            <a:xfrm>
              <a:off x="683568" y="553244"/>
              <a:ext cx="2232248" cy="523220"/>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b="1" dirty="0" smtClean="0">
                  <a:solidFill>
                    <a:srgbClr val="000099"/>
                  </a:solidFill>
                  <a:latin typeface="黑体" pitchFamily="49" charset="-122"/>
                </a:rPr>
                <a:t>磨损的分类</a:t>
              </a:r>
              <a:endParaRPr lang="zh-CN" altLang="en-US" b="1" dirty="0">
                <a:solidFill>
                  <a:srgbClr val="000099"/>
                </a:solidFill>
                <a:effectLst/>
                <a:latin typeface="黑体" pitchFamily="49" charset="-122"/>
              </a:endParaRPr>
            </a:p>
          </p:txBody>
        </p:sp>
        <p:pic>
          <p:nvPicPr>
            <p:cNvPr id="8" name="Picture 15" descr="AR1031"/>
            <p:cNvPicPr>
              <a:picLocks noChangeAspect="1" noChangeArrowheads="1"/>
            </p:cNvPicPr>
            <p:nvPr/>
          </p:nvPicPr>
          <p:blipFill>
            <a:blip r:embed="rId3">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sp>
        <p:nvSpPr>
          <p:cNvPr id="10" name="Text Box 5"/>
          <p:cNvSpPr txBox="1">
            <a:spLocks noChangeArrowheads="1"/>
          </p:cNvSpPr>
          <p:nvPr/>
        </p:nvSpPr>
        <p:spPr bwMode="auto">
          <a:xfrm>
            <a:off x="311334" y="1174131"/>
            <a:ext cx="8689162"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FF0000"/>
                </a:solidFill>
                <a:latin typeface="黑体" pitchFamily="2" charset="-122"/>
                <a:ea typeface="黑体" pitchFamily="2" charset="-122"/>
              </a:rPr>
              <a:t>粘着磨损：</a:t>
            </a:r>
            <a:r>
              <a:rPr lang="zh-CN" altLang="en-US" sz="2000" kern="0" dirty="0" smtClean="0">
                <a:latin typeface="黑体" pitchFamily="2" charset="-122"/>
                <a:ea typeface="黑体" pitchFamily="2" charset="-122"/>
              </a:rPr>
              <a:t>由于粘着作用使两接触表面的材料由一个表面转移到另一个表面引起的机械磨损现象（基于</a:t>
            </a:r>
            <a:r>
              <a:rPr lang="zh-CN" altLang="en-US" sz="2000" kern="0" dirty="0" smtClean="0">
                <a:solidFill>
                  <a:srgbClr val="FF0000"/>
                </a:solidFill>
                <a:latin typeface="黑体" pitchFamily="2" charset="-122"/>
                <a:ea typeface="黑体" pitchFamily="2" charset="-122"/>
              </a:rPr>
              <a:t>焊</a:t>
            </a:r>
            <a:r>
              <a:rPr lang="en-US" altLang="zh-CN" sz="2000" kern="0" dirty="0" smtClean="0">
                <a:solidFill>
                  <a:srgbClr val="FF0000"/>
                </a:solidFill>
                <a:latin typeface="黑体" pitchFamily="2" charset="-122"/>
                <a:ea typeface="黑体" pitchFamily="2" charset="-122"/>
              </a:rPr>
              <a:t>-</a:t>
            </a:r>
            <a:r>
              <a:rPr lang="zh-CN" altLang="en-US" sz="2000" kern="0" dirty="0" smtClean="0">
                <a:solidFill>
                  <a:srgbClr val="FF0000"/>
                </a:solidFill>
                <a:latin typeface="黑体" pitchFamily="2" charset="-122"/>
                <a:ea typeface="黑体" pitchFamily="2" charset="-122"/>
              </a:rPr>
              <a:t>剪</a:t>
            </a:r>
            <a:r>
              <a:rPr lang="zh-CN" altLang="en-US" sz="2000" kern="0" dirty="0" smtClean="0">
                <a:latin typeface="黑体" pitchFamily="2" charset="-122"/>
                <a:ea typeface="黑体" pitchFamily="2" charset="-122"/>
              </a:rPr>
              <a:t>机理）。</a:t>
            </a:r>
            <a:endParaRPr lang="zh-CN" altLang="en-US" sz="2000" dirty="0">
              <a:latin typeface="华文细黑" panose="02010600040101010101" pitchFamily="2" charset="-122"/>
              <a:ea typeface="华文细黑" panose="02010600040101010101" pitchFamily="2" charset="-122"/>
            </a:endParaRPr>
          </a:p>
        </p:txBody>
      </p:sp>
      <p:sp>
        <p:nvSpPr>
          <p:cNvPr id="13" name="Text Box 5"/>
          <p:cNvSpPr txBox="1">
            <a:spLocks noChangeArrowheads="1"/>
          </p:cNvSpPr>
          <p:nvPr/>
        </p:nvSpPr>
        <p:spPr bwMode="auto">
          <a:xfrm>
            <a:off x="311334" y="1983183"/>
            <a:ext cx="8689162"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a:solidFill>
                  <a:srgbClr val="FF0000"/>
                </a:solidFill>
                <a:latin typeface="黑体" pitchFamily="2" charset="-122"/>
                <a:ea typeface="黑体" pitchFamily="2" charset="-122"/>
              </a:rPr>
              <a:t>磨粒</a:t>
            </a:r>
            <a:r>
              <a:rPr lang="zh-CN" altLang="en-US" sz="2000" kern="0" dirty="0" smtClean="0">
                <a:solidFill>
                  <a:srgbClr val="FF0000"/>
                </a:solidFill>
                <a:latin typeface="黑体" pitchFamily="2" charset="-122"/>
                <a:ea typeface="黑体" pitchFamily="2" charset="-122"/>
              </a:rPr>
              <a:t>磨损：</a:t>
            </a:r>
            <a:r>
              <a:rPr lang="zh-CN" altLang="en-US" sz="2000" kern="0" dirty="0" smtClean="0">
                <a:latin typeface="黑体" pitchFamily="2" charset="-122"/>
                <a:ea typeface="黑体" pitchFamily="2" charset="-122"/>
              </a:rPr>
              <a:t>两接触表面受外界硬质颗粒的作用或粗糙表面把软表面擦伤而引起的表面材料脱落的现象。</a:t>
            </a:r>
            <a:endParaRPr lang="zh-CN" altLang="en-US" sz="2000" dirty="0">
              <a:latin typeface="华文细黑" panose="02010600040101010101" pitchFamily="2" charset="-122"/>
              <a:ea typeface="华文细黑" panose="02010600040101010101" pitchFamily="2" charset="-122"/>
            </a:endParaRPr>
          </a:p>
        </p:txBody>
      </p:sp>
      <p:grpSp>
        <p:nvGrpSpPr>
          <p:cNvPr id="16" name="组合 15"/>
          <p:cNvGrpSpPr/>
          <p:nvPr/>
        </p:nvGrpSpPr>
        <p:grpSpPr>
          <a:xfrm>
            <a:off x="5465973" y="553244"/>
            <a:ext cx="3528392" cy="1301458"/>
            <a:chOff x="279353" y="4225652"/>
            <a:chExt cx="3528392" cy="1301458"/>
          </a:xfrm>
        </p:grpSpPr>
        <p:pic>
          <p:nvPicPr>
            <p:cNvPr id="12" name="Picture 17"/>
            <p:cNvPicPr>
              <a:picLocks noChangeAspect="1" noChangeArrowheads="1"/>
            </p:cNvPicPr>
            <p:nvPr/>
          </p:nvPicPr>
          <p:blipFill>
            <a:blip r:embed="rId4">
              <a:lum bright="-18000" contrast="30000"/>
            </a:blip>
            <a:srcRect/>
            <a:stretch>
              <a:fillRect/>
            </a:stretch>
          </p:blipFill>
          <p:spPr bwMode="auto">
            <a:xfrm>
              <a:off x="279353" y="4225652"/>
              <a:ext cx="3528392" cy="1301458"/>
            </a:xfrm>
            <a:prstGeom prst="rect">
              <a:avLst/>
            </a:prstGeom>
            <a:noFill/>
            <a:ln>
              <a:noFill/>
            </a:ln>
          </p:spPr>
        </p:pic>
        <p:sp>
          <p:nvSpPr>
            <p:cNvPr id="15" name="文本框 14"/>
            <p:cNvSpPr txBox="1"/>
            <p:nvPr/>
          </p:nvSpPr>
          <p:spPr>
            <a:xfrm>
              <a:off x="1547664" y="4234341"/>
              <a:ext cx="1261884" cy="307777"/>
            </a:xfrm>
            <a:prstGeom prst="rect">
              <a:avLst/>
            </a:prstGeom>
            <a:noFill/>
          </p:spPr>
          <p:txBody>
            <a:bodyPr wrap="none" rtlCol="0">
              <a:spAutoFit/>
            </a:bodyPr>
            <a:lstStyle/>
            <a:p>
              <a:r>
                <a:rPr lang="zh-CN" altLang="en-US" sz="1400" dirty="0" smtClean="0">
                  <a:solidFill>
                    <a:srgbClr val="0000FF"/>
                  </a:solidFill>
                  <a:latin typeface="+mn-ea"/>
                  <a:ea typeface="+mn-ea"/>
                </a:rPr>
                <a:t>粘着磨损机理</a:t>
              </a:r>
              <a:endParaRPr lang="zh-CN" altLang="en-US" sz="1400" dirty="0">
                <a:solidFill>
                  <a:srgbClr val="0000FF"/>
                </a:solidFill>
                <a:latin typeface="+mn-ea"/>
                <a:ea typeface="+mn-ea"/>
              </a:endParaRPr>
            </a:p>
          </p:txBody>
        </p:sp>
      </p:grpSp>
      <p:sp>
        <p:nvSpPr>
          <p:cNvPr id="17" name="Text Box 5"/>
          <p:cNvSpPr txBox="1">
            <a:spLocks noChangeArrowheads="1"/>
          </p:cNvSpPr>
          <p:nvPr/>
        </p:nvSpPr>
        <p:spPr bwMode="auto">
          <a:xfrm>
            <a:off x="305203" y="2792235"/>
            <a:ext cx="8689162"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FF0000"/>
                </a:solidFill>
                <a:latin typeface="黑体" pitchFamily="2" charset="-122"/>
                <a:ea typeface="黑体" pitchFamily="2" charset="-122"/>
              </a:rPr>
              <a:t>疲劳磨损：</a:t>
            </a:r>
            <a:r>
              <a:rPr lang="zh-CN" altLang="en-US" sz="2000" kern="0" dirty="0" smtClean="0">
                <a:latin typeface="黑体" pitchFamily="2" charset="-122"/>
                <a:ea typeface="黑体" pitchFamily="2" charset="-122"/>
              </a:rPr>
              <a:t>两表面受交变接触应力的作用，形成疲劳裂纹或剥落出微片和颗粒而逐步破坏的现象。</a:t>
            </a:r>
            <a:endParaRPr lang="zh-CN" altLang="en-US" sz="2000" dirty="0">
              <a:latin typeface="华文细黑" panose="02010600040101010101" pitchFamily="2" charset="-122"/>
              <a:ea typeface="华文细黑" panose="02010600040101010101" pitchFamily="2" charset="-122"/>
            </a:endParaRPr>
          </a:p>
        </p:txBody>
      </p:sp>
      <p:grpSp>
        <p:nvGrpSpPr>
          <p:cNvPr id="28" name="组合 27"/>
          <p:cNvGrpSpPr/>
          <p:nvPr/>
        </p:nvGrpSpPr>
        <p:grpSpPr>
          <a:xfrm>
            <a:off x="179512" y="4233160"/>
            <a:ext cx="2245516" cy="1295490"/>
            <a:chOff x="179512" y="4233160"/>
            <a:chExt cx="2245516" cy="1295490"/>
          </a:xfrm>
        </p:grpSpPr>
        <p:pic>
          <p:nvPicPr>
            <p:cNvPr id="20" name="图片 19"/>
            <p:cNvPicPr>
              <a:picLocks noChangeAspect="1"/>
            </p:cNvPicPr>
            <p:nvPr/>
          </p:nvPicPr>
          <p:blipFill>
            <a:blip r:embed="rId5"/>
            <a:stretch>
              <a:fillRect/>
            </a:stretch>
          </p:blipFill>
          <p:spPr>
            <a:xfrm>
              <a:off x="179512" y="4233160"/>
              <a:ext cx="2245516" cy="1295490"/>
            </a:xfrm>
            <a:prstGeom prst="rect">
              <a:avLst/>
            </a:prstGeom>
          </p:spPr>
        </p:pic>
        <p:sp>
          <p:nvSpPr>
            <p:cNvPr id="21" name="文本框 20"/>
            <p:cNvSpPr txBox="1"/>
            <p:nvPr/>
          </p:nvSpPr>
          <p:spPr>
            <a:xfrm>
              <a:off x="179512" y="4274699"/>
              <a:ext cx="688256" cy="276999"/>
            </a:xfrm>
            <a:prstGeom prst="rect">
              <a:avLst/>
            </a:prstGeom>
            <a:noFill/>
          </p:spPr>
          <p:txBody>
            <a:bodyPr wrap="none" lIns="36000" rIns="36000" rtlCol="0">
              <a:spAutoFit/>
            </a:bodyPr>
            <a:lstStyle/>
            <a:p>
              <a:r>
                <a:rPr lang="zh-CN" altLang="en-US" sz="1200" dirty="0" smtClean="0">
                  <a:solidFill>
                    <a:srgbClr val="FF0000"/>
                  </a:solidFill>
                  <a:latin typeface="+mn-ea"/>
                  <a:ea typeface="+mn-ea"/>
                </a:rPr>
                <a:t>中度胶合</a:t>
              </a:r>
              <a:endParaRPr lang="zh-CN" altLang="en-US" sz="1200" dirty="0">
                <a:solidFill>
                  <a:srgbClr val="FF0000"/>
                </a:solidFill>
                <a:latin typeface="+mn-ea"/>
                <a:ea typeface="+mn-ea"/>
              </a:endParaRPr>
            </a:p>
          </p:txBody>
        </p:sp>
      </p:grpSp>
      <p:grpSp>
        <p:nvGrpSpPr>
          <p:cNvPr id="30" name="组合 29"/>
          <p:cNvGrpSpPr/>
          <p:nvPr/>
        </p:nvGrpSpPr>
        <p:grpSpPr>
          <a:xfrm>
            <a:off x="4610430" y="4239162"/>
            <a:ext cx="2119547" cy="1289488"/>
            <a:chOff x="4610430" y="4239162"/>
            <a:chExt cx="2119547" cy="1289488"/>
          </a:xfrm>
        </p:grpSpPr>
        <p:pic>
          <p:nvPicPr>
            <p:cNvPr id="19" name="图片 18"/>
            <p:cNvPicPr>
              <a:picLocks noChangeAspect="1"/>
            </p:cNvPicPr>
            <p:nvPr/>
          </p:nvPicPr>
          <p:blipFill>
            <a:blip r:embed="rId6"/>
            <a:stretch>
              <a:fillRect/>
            </a:stretch>
          </p:blipFill>
          <p:spPr>
            <a:xfrm>
              <a:off x="4610430" y="4239162"/>
              <a:ext cx="2119547" cy="1289488"/>
            </a:xfrm>
            <a:prstGeom prst="rect">
              <a:avLst/>
            </a:prstGeom>
          </p:spPr>
        </p:pic>
        <p:sp>
          <p:nvSpPr>
            <p:cNvPr id="22" name="文本框 21"/>
            <p:cNvSpPr txBox="1"/>
            <p:nvPr/>
          </p:nvSpPr>
          <p:spPr>
            <a:xfrm>
              <a:off x="4644008" y="4271839"/>
              <a:ext cx="688256" cy="276999"/>
            </a:xfrm>
            <a:prstGeom prst="rect">
              <a:avLst/>
            </a:prstGeom>
            <a:noFill/>
          </p:spPr>
          <p:txBody>
            <a:bodyPr wrap="none" lIns="36000" rIns="36000" rtlCol="0">
              <a:spAutoFit/>
            </a:bodyPr>
            <a:lstStyle/>
            <a:p>
              <a:r>
                <a:rPr lang="zh-CN" altLang="en-US" sz="1200" dirty="0" smtClean="0">
                  <a:solidFill>
                    <a:srgbClr val="FF0000"/>
                  </a:solidFill>
                  <a:latin typeface="+mn-ea"/>
                  <a:ea typeface="+mn-ea"/>
                </a:rPr>
                <a:t>早期点蚀</a:t>
              </a:r>
              <a:endParaRPr lang="zh-CN" altLang="en-US" sz="1200" dirty="0">
                <a:solidFill>
                  <a:srgbClr val="FF0000"/>
                </a:solidFill>
                <a:latin typeface="+mn-ea"/>
                <a:ea typeface="+mn-ea"/>
              </a:endParaRPr>
            </a:p>
          </p:txBody>
        </p:sp>
      </p:grpSp>
      <p:grpSp>
        <p:nvGrpSpPr>
          <p:cNvPr id="29" name="组合 28"/>
          <p:cNvGrpSpPr/>
          <p:nvPr/>
        </p:nvGrpSpPr>
        <p:grpSpPr>
          <a:xfrm>
            <a:off x="2501440" y="4233160"/>
            <a:ext cx="2040500" cy="1295490"/>
            <a:chOff x="2501440" y="4233160"/>
            <a:chExt cx="2040500" cy="1295490"/>
          </a:xfrm>
        </p:grpSpPr>
        <p:pic>
          <p:nvPicPr>
            <p:cNvPr id="23" name="图片 22"/>
            <p:cNvPicPr>
              <a:picLocks noChangeAspect="1"/>
            </p:cNvPicPr>
            <p:nvPr/>
          </p:nvPicPr>
          <p:blipFill>
            <a:blip r:embed="rId7"/>
            <a:stretch>
              <a:fillRect/>
            </a:stretch>
          </p:blipFill>
          <p:spPr>
            <a:xfrm>
              <a:off x="2501440" y="4233160"/>
              <a:ext cx="2040500" cy="1295490"/>
            </a:xfrm>
            <a:prstGeom prst="rect">
              <a:avLst/>
            </a:prstGeom>
          </p:spPr>
        </p:pic>
        <p:sp>
          <p:nvSpPr>
            <p:cNvPr id="24" name="文本框 23"/>
            <p:cNvSpPr txBox="1"/>
            <p:nvPr/>
          </p:nvSpPr>
          <p:spPr>
            <a:xfrm>
              <a:off x="2571688" y="4271838"/>
              <a:ext cx="688256" cy="276999"/>
            </a:xfrm>
            <a:prstGeom prst="rect">
              <a:avLst/>
            </a:prstGeom>
            <a:noFill/>
          </p:spPr>
          <p:txBody>
            <a:bodyPr wrap="none" lIns="36000" rIns="36000" rtlCol="0">
              <a:spAutoFit/>
            </a:bodyPr>
            <a:lstStyle/>
            <a:p>
              <a:r>
                <a:rPr lang="zh-CN" altLang="en-US" sz="1200" dirty="0" smtClean="0">
                  <a:solidFill>
                    <a:srgbClr val="FF0000"/>
                  </a:solidFill>
                  <a:latin typeface="+mn-ea"/>
                  <a:ea typeface="+mn-ea"/>
                </a:rPr>
                <a:t>磨粒磨损</a:t>
              </a:r>
              <a:endParaRPr lang="zh-CN" altLang="en-US" sz="1200" dirty="0">
                <a:solidFill>
                  <a:srgbClr val="FF0000"/>
                </a:solidFill>
                <a:latin typeface="+mn-ea"/>
                <a:ea typeface="+mn-ea"/>
              </a:endParaRPr>
            </a:p>
          </p:txBody>
        </p:sp>
      </p:grpSp>
      <p:sp>
        <p:nvSpPr>
          <p:cNvPr id="25" name="Text Box 5"/>
          <p:cNvSpPr txBox="1">
            <a:spLocks noChangeArrowheads="1"/>
          </p:cNvSpPr>
          <p:nvPr/>
        </p:nvSpPr>
        <p:spPr bwMode="auto">
          <a:xfrm>
            <a:off x="311334" y="3599969"/>
            <a:ext cx="8689162" cy="430887"/>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FF0000"/>
                </a:solidFill>
                <a:latin typeface="黑体" pitchFamily="2" charset="-122"/>
                <a:ea typeface="黑体" pitchFamily="2" charset="-122"/>
              </a:rPr>
              <a:t>腐蚀磨损：</a:t>
            </a:r>
            <a:r>
              <a:rPr lang="zh-CN" altLang="en-US" sz="2000" kern="0" dirty="0" smtClean="0">
                <a:latin typeface="黑体" pitchFamily="2" charset="-122"/>
                <a:ea typeface="黑体" pitchFamily="2" charset="-122"/>
              </a:rPr>
              <a:t>物体表面和周围介质发生</a:t>
            </a:r>
            <a:r>
              <a:rPr lang="en-US" altLang="zh-CN" sz="2000" kern="0" dirty="0" smtClean="0">
                <a:latin typeface="黑体" pitchFamily="2" charset="-122"/>
                <a:ea typeface="黑体" pitchFamily="2" charset="-122"/>
              </a:rPr>
              <a:t>(</a:t>
            </a:r>
            <a:r>
              <a:rPr lang="zh-CN" altLang="en-US" sz="2000" kern="0" dirty="0">
                <a:latin typeface="黑体" pitchFamily="2" charset="-122"/>
                <a:ea typeface="黑体" pitchFamily="2" charset="-122"/>
              </a:rPr>
              <a:t>电</a:t>
            </a:r>
            <a:r>
              <a:rPr lang="en-US" altLang="zh-CN" sz="2000" kern="0" dirty="0" smtClean="0">
                <a:latin typeface="黑体" pitchFamily="2" charset="-122"/>
                <a:ea typeface="黑体" pitchFamily="2" charset="-122"/>
              </a:rPr>
              <a:t>)</a:t>
            </a:r>
            <a:r>
              <a:rPr lang="zh-CN" altLang="en-US" sz="2000" kern="0" dirty="0" smtClean="0">
                <a:latin typeface="黑体" pitchFamily="2" charset="-122"/>
                <a:ea typeface="黑体" pitchFamily="2" charset="-122"/>
              </a:rPr>
              <a:t>化学作用，造成表面材料的损失</a:t>
            </a:r>
            <a:endParaRPr lang="zh-CN" altLang="en-US" sz="2000" dirty="0">
              <a:latin typeface="华文细黑" panose="02010600040101010101" pitchFamily="2" charset="-122"/>
              <a:ea typeface="华文细黑" panose="02010600040101010101" pitchFamily="2" charset="-122"/>
            </a:endParaRPr>
          </a:p>
        </p:txBody>
      </p:sp>
      <p:grpSp>
        <p:nvGrpSpPr>
          <p:cNvPr id="31" name="组合 30"/>
          <p:cNvGrpSpPr/>
          <p:nvPr/>
        </p:nvGrpSpPr>
        <p:grpSpPr>
          <a:xfrm>
            <a:off x="6802479" y="4233160"/>
            <a:ext cx="2181134" cy="1295490"/>
            <a:chOff x="6802479" y="4233160"/>
            <a:chExt cx="2181134" cy="1295490"/>
          </a:xfrm>
        </p:grpSpPr>
        <p:pic>
          <p:nvPicPr>
            <p:cNvPr id="26" name="图片 25"/>
            <p:cNvPicPr>
              <a:picLocks noChangeAspect="1"/>
            </p:cNvPicPr>
            <p:nvPr/>
          </p:nvPicPr>
          <p:blipFill>
            <a:blip r:embed="rId8"/>
            <a:stretch>
              <a:fillRect/>
            </a:stretch>
          </p:blipFill>
          <p:spPr>
            <a:xfrm>
              <a:off x="6802479" y="4233160"/>
              <a:ext cx="2181134" cy="1295490"/>
            </a:xfrm>
            <a:prstGeom prst="rect">
              <a:avLst/>
            </a:prstGeom>
          </p:spPr>
        </p:pic>
        <p:sp>
          <p:nvSpPr>
            <p:cNvPr id="27" name="文本框 26"/>
            <p:cNvSpPr txBox="1"/>
            <p:nvPr/>
          </p:nvSpPr>
          <p:spPr>
            <a:xfrm>
              <a:off x="6886041" y="4273161"/>
              <a:ext cx="688256" cy="276999"/>
            </a:xfrm>
            <a:prstGeom prst="rect">
              <a:avLst/>
            </a:prstGeom>
            <a:noFill/>
          </p:spPr>
          <p:txBody>
            <a:bodyPr wrap="none" lIns="36000" rIns="36000" rtlCol="0">
              <a:spAutoFit/>
            </a:bodyPr>
            <a:lstStyle/>
            <a:p>
              <a:r>
                <a:rPr lang="zh-CN" altLang="en-US" sz="1200" dirty="0" smtClean="0">
                  <a:solidFill>
                    <a:srgbClr val="FF0000"/>
                  </a:solidFill>
                  <a:latin typeface="+mn-ea"/>
                  <a:ea typeface="+mn-ea"/>
                </a:rPr>
                <a:t>腐蚀磨损</a:t>
              </a:r>
              <a:endParaRPr lang="zh-CN" altLang="en-US" sz="1200" dirty="0">
                <a:solidFill>
                  <a:srgbClr val="FF0000"/>
                </a:solidFill>
                <a:latin typeface="+mn-ea"/>
                <a:ea typeface="+mn-ea"/>
              </a:endParaRPr>
            </a:p>
          </p:txBody>
        </p:sp>
      </p:grpSp>
    </p:spTree>
    <p:extLst>
      <p:ext uri="{BB962C8B-B14F-4D97-AF65-F5344CB8AC3E}">
        <p14:creationId xmlns:p14="http://schemas.microsoft.com/office/powerpoint/2010/main" val="177401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750"/>
                                        <p:tgtEl>
                                          <p:spTgt spid="10"/>
                                        </p:tgtEl>
                                      </p:cBhvr>
                                    </p:animEffect>
                                  </p:childTnLst>
                                </p:cTn>
                              </p:par>
                            </p:childTnLst>
                          </p:cTn>
                        </p:par>
                        <p:par>
                          <p:cTn id="12" fill="hold">
                            <p:stCondLst>
                              <p:cond delay="75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75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750"/>
                                        <p:tgtEl>
                                          <p:spTgt spid="13"/>
                                        </p:tgtEl>
                                      </p:cBhvr>
                                    </p:animEffect>
                                  </p:childTnLst>
                                </p:cTn>
                              </p:par>
                            </p:childTnLst>
                          </p:cTn>
                        </p:par>
                        <p:par>
                          <p:cTn id="26" fill="hold">
                            <p:stCondLst>
                              <p:cond delay="750"/>
                            </p:stCondLst>
                            <p:childTnLst>
                              <p:par>
                                <p:cTn id="27" presetID="10" presetClass="entr" presetSubtype="0" fill="hold"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750"/>
                                        <p:tgtEl>
                                          <p:spTgt spid="17"/>
                                        </p:tgtEl>
                                      </p:cBhvr>
                                    </p:animEffect>
                                  </p:childTnLst>
                                </p:cTn>
                              </p:par>
                            </p:childTnLst>
                          </p:cTn>
                        </p:par>
                        <p:par>
                          <p:cTn id="35" fill="hold">
                            <p:stCondLst>
                              <p:cond delay="750"/>
                            </p:stCondLst>
                            <p:childTnLst>
                              <p:par>
                                <p:cTn id="36" presetID="10" presetClass="entr" presetSubtype="0" fill="hold" nodeType="after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left)">
                                      <p:cBhvr>
                                        <p:cTn id="43" dur="750"/>
                                        <p:tgtEl>
                                          <p:spTgt spid="25"/>
                                        </p:tgtEl>
                                      </p:cBhvr>
                                    </p:animEffect>
                                  </p:childTnLst>
                                </p:cTn>
                              </p:par>
                            </p:childTnLst>
                          </p:cTn>
                        </p:par>
                        <p:par>
                          <p:cTn id="44" fill="hold">
                            <p:stCondLst>
                              <p:cond delay="750"/>
                            </p:stCondLst>
                            <p:childTnLst>
                              <p:par>
                                <p:cTn id="45" presetID="10" presetClass="entr" presetSubtype="0" fill="hold"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7"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单圆角矩形 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磨损的分类</a:t>
            </a:r>
            <a:endParaRPr lang="zh-CN" altLang="en-US" sz="1500" dirty="0">
              <a:solidFill>
                <a:srgbClr val="FF6600"/>
              </a:solidFill>
            </a:endParaRPr>
          </a:p>
        </p:txBody>
      </p:sp>
      <p:sp>
        <p:nvSpPr>
          <p:cNvPr id="5" name="直角三角形 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5"/>
          <p:cNvSpPr txBox="1">
            <a:spLocks noChangeArrowheads="1"/>
          </p:cNvSpPr>
          <p:nvPr/>
        </p:nvSpPr>
        <p:spPr bwMode="auto">
          <a:xfrm>
            <a:off x="311334" y="553244"/>
            <a:ext cx="8689162" cy="1107996"/>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FF0000"/>
                </a:solidFill>
                <a:latin typeface="黑体" pitchFamily="2" charset="-122"/>
                <a:ea typeface="黑体" pitchFamily="2" charset="-122"/>
              </a:rPr>
              <a:t>微动磨损：</a:t>
            </a:r>
            <a:r>
              <a:rPr lang="zh-CN" altLang="en-US" sz="2000" kern="0" dirty="0" smtClean="0">
                <a:latin typeface="黑体" pitchFamily="2" charset="-122"/>
                <a:ea typeface="黑体" pitchFamily="2" charset="-122"/>
              </a:rPr>
              <a:t>在机械振动、疲劳载荷、电磁振动等交变载荷作用</a:t>
            </a:r>
            <a:r>
              <a:rPr lang="zh-CN" altLang="en-US" sz="2000" kern="0" dirty="0">
                <a:latin typeface="黑体" pitchFamily="2" charset="-122"/>
                <a:ea typeface="黑体" pitchFamily="2" charset="-122"/>
              </a:rPr>
              <a:t>下，接触表面间产生振幅极小的相对运动而引起的磨损</a:t>
            </a:r>
            <a:r>
              <a:rPr lang="zh-CN" altLang="en-US" sz="2000" kern="0" dirty="0" smtClean="0">
                <a:latin typeface="黑体" pitchFamily="2" charset="-122"/>
                <a:ea typeface="黑体" pitchFamily="2" charset="-122"/>
              </a:rPr>
              <a:t>。是一种由粘着磨损、磨粒磨损、腐蚀磨损和疲劳磨损共同形成的复合磨损（较隐蔽）。</a:t>
            </a:r>
            <a:endParaRPr lang="zh-CN" altLang="en-US" sz="2000" dirty="0">
              <a:latin typeface="华文细黑" panose="02010600040101010101" pitchFamily="2" charset="-122"/>
              <a:ea typeface="华文细黑" panose="02010600040101010101" pitchFamily="2" charset="-122"/>
            </a:endParaRPr>
          </a:p>
        </p:txBody>
      </p:sp>
      <p:sp>
        <p:nvSpPr>
          <p:cNvPr id="8" name="Text Box 1029"/>
          <p:cNvSpPr txBox="1">
            <a:spLocks noChangeArrowheads="1"/>
          </p:cNvSpPr>
          <p:nvPr/>
        </p:nvSpPr>
        <p:spPr bwMode="auto">
          <a:xfrm>
            <a:off x="1129750" y="2976377"/>
            <a:ext cx="2708548" cy="433068"/>
          </a:xfrm>
          <a:prstGeom prst="rect">
            <a:avLst/>
          </a:prstGeom>
          <a:noFill/>
          <a:ln>
            <a:noFill/>
          </a:ln>
          <a:effectLst/>
        </p:spPr>
        <p:txBody>
          <a:bodyPr wrap="square" lIns="90000" tIns="46800" rIns="90000" bIns="46800">
            <a:spAutoFit/>
          </a:bodyPr>
          <a:lstStyle/>
          <a:p>
            <a:pPr>
              <a:spcBef>
                <a:spcPct val="50000"/>
              </a:spcBef>
            </a:pPr>
            <a:r>
              <a:rPr lang="zh-CN" altLang="en-US" sz="2200" dirty="0" smtClean="0">
                <a:solidFill>
                  <a:srgbClr val="CC3300"/>
                </a:solidFill>
                <a:latin typeface="黑体" pitchFamily="49" charset="-122"/>
                <a:ea typeface="黑体" pitchFamily="49" charset="-122"/>
              </a:rPr>
              <a:t>减小</a:t>
            </a:r>
            <a:r>
              <a:rPr lang="zh-CN" altLang="en-US" sz="2200" dirty="0">
                <a:solidFill>
                  <a:srgbClr val="CC3300"/>
                </a:solidFill>
                <a:latin typeface="黑体" pitchFamily="49" charset="-122"/>
                <a:ea typeface="黑体" pitchFamily="49" charset="-122"/>
              </a:rPr>
              <a:t>磨损的主要方法 </a:t>
            </a:r>
          </a:p>
        </p:txBody>
      </p:sp>
      <p:grpSp>
        <p:nvGrpSpPr>
          <p:cNvPr id="9" name="组合 16"/>
          <p:cNvGrpSpPr/>
          <p:nvPr/>
        </p:nvGrpSpPr>
        <p:grpSpPr>
          <a:xfrm>
            <a:off x="3937256" y="2194914"/>
            <a:ext cx="4523176" cy="1963435"/>
            <a:chOff x="3203848" y="3707082"/>
            <a:chExt cx="4523176" cy="1963435"/>
          </a:xfrm>
        </p:grpSpPr>
        <p:sp>
          <p:nvSpPr>
            <p:cNvPr id="10" name="Text Box 1030"/>
            <p:cNvSpPr txBox="1">
              <a:spLocks noChangeArrowheads="1"/>
            </p:cNvSpPr>
            <p:nvPr/>
          </p:nvSpPr>
          <p:spPr bwMode="auto">
            <a:xfrm>
              <a:off x="3406544" y="3707082"/>
              <a:ext cx="4320480" cy="433068"/>
            </a:xfrm>
            <a:prstGeom prst="rect">
              <a:avLst/>
            </a:prstGeom>
            <a:noFill/>
            <a:ln>
              <a:noFill/>
            </a:ln>
            <a:effectLst/>
          </p:spPr>
          <p:txBody>
            <a:bodyPr wrap="square" lIns="90000" tIns="46800" rIns="90000" bIns="46800">
              <a:spAutoFit/>
            </a:bodyPr>
            <a:lstStyle/>
            <a:p>
              <a:pPr>
                <a:spcBef>
                  <a:spcPct val="50000"/>
                </a:spcBef>
              </a:pPr>
              <a:r>
                <a:rPr lang="zh-CN" altLang="en-US" sz="2200" dirty="0" smtClean="0">
                  <a:latin typeface="黑体" pitchFamily="49" charset="-122"/>
                  <a:ea typeface="黑体" pitchFamily="49" charset="-122"/>
                </a:rPr>
                <a:t>选择合适的</a:t>
              </a:r>
              <a:r>
                <a:rPr lang="zh-CN" altLang="en-US" sz="2200" dirty="0" smtClean="0">
                  <a:solidFill>
                    <a:srgbClr val="FF00FF"/>
                  </a:solidFill>
                  <a:latin typeface="黑体" pitchFamily="49" charset="-122"/>
                  <a:ea typeface="黑体" pitchFamily="49" charset="-122"/>
                </a:rPr>
                <a:t>润滑</a:t>
              </a:r>
              <a:r>
                <a:rPr lang="zh-CN" altLang="en-US" sz="2200" dirty="0" smtClean="0">
                  <a:latin typeface="黑体" pitchFamily="49" charset="-122"/>
                  <a:ea typeface="黑体" pitchFamily="49" charset="-122"/>
                </a:rPr>
                <a:t>剂和润滑方法</a:t>
              </a:r>
              <a:endParaRPr lang="zh-CN" altLang="en-US" sz="2200" dirty="0">
                <a:latin typeface="黑体" pitchFamily="49" charset="-122"/>
                <a:ea typeface="黑体" pitchFamily="49" charset="-122"/>
              </a:endParaRPr>
            </a:p>
          </p:txBody>
        </p:sp>
        <p:sp>
          <p:nvSpPr>
            <p:cNvPr id="11" name="Text Box 1031"/>
            <p:cNvSpPr txBox="1">
              <a:spLocks noChangeArrowheads="1"/>
            </p:cNvSpPr>
            <p:nvPr/>
          </p:nvSpPr>
          <p:spPr bwMode="auto">
            <a:xfrm>
              <a:off x="3401764" y="4219881"/>
              <a:ext cx="2821640" cy="433068"/>
            </a:xfrm>
            <a:prstGeom prst="rect">
              <a:avLst/>
            </a:prstGeom>
            <a:noFill/>
            <a:ln>
              <a:noFill/>
            </a:ln>
            <a:effectLst/>
          </p:spPr>
          <p:txBody>
            <a:bodyPr wrap="square" lIns="90000" tIns="46800" rIns="90000" bIns="46800">
              <a:spAutoFit/>
            </a:bodyPr>
            <a:lstStyle/>
            <a:p>
              <a:pPr>
                <a:spcBef>
                  <a:spcPct val="50000"/>
                </a:spcBef>
              </a:pPr>
              <a:r>
                <a:rPr lang="zh-CN" altLang="en-US" sz="2200" dirty="0" smtClean="0">
                  <a:solidFill>
                    <a:srgbClr val="000000"/>
                  </a:solidFill>
                  <a:latin typeface="黑体" pitchFamily="49" charset="-122"/>
                  <a:ea typeface="黑体" pitchFamily="49" charset="-122"/>
                </a:rPr>
                <a:t>合理</a:t>
              </a:r>
              <a:r>
                <a:rPr lang="zh-CN" altLang="en-US" sz="2200" dirty="0">
                  <a:solidFill>
                    <a:srgbClr val="000000"/>
                  </a:solidFill>
                  <a:latin typeface="黑体" pitchFamily="49" charset="-122"/>
                  <a:ea typeface="黑体" pitchFamily="49" charset="-122"/>
                </a:rPr>
                <a:t>选择摩擦副材料   </a:t>
              </a:r>
            </a:p>
          </p:txBody>
        </p:sp>
        <p:sp>
          <p:nvSpPr>
            <p:cNvPr id="12" name="Text Box 1032"/>
            <p:cNvSpPr txBox="1">
              <a:spLocks noChangeArrowheads="1"/>
            </p:cNvSpPr>
            <p:nvPr/>
          </p:nvSpPr>
          <p:spPr bwMode="auto">
            <a:xfrm>
              <a:off x="3401764" y="4728665"/>
              <a:ext cx="2664296" cy="433068"/>
            </a:xfrm>
            <a:prstGeom prst="rect">
              <a:avLst/>
            </a:prstGeom>
            <a:noFill/>
            <a:ln>
              <a:noFill/>
            </a:ln>
            <a:effectLst/>
          </p:spPr>
          <p:txBody>
            <a:bodyPr wrap="square" lIns="90000" tIns="46800" rIns="90000" bIns="46800">
              <a:spAutoFit/>
            </a:bodyPr>
            <a:lstStyle/>
            <a:p>
              <a:r>
                <a:rPr lang="zh-CN" altLang="en-US" sz="2200" dirty="0" smtClean="0">
                  <a:solidFill>
                    <a:srgbClr val="000000"/>
                  </a:solidFill>
                  <a:latin typeface="黑体" pitchFamily="49" charset="-122"/>
                  <a:ea typeface="黑体" pitchFamily="49" charset="-122"/>
                </a:rPr>
                <a:t>热处理和表面处理 </a:t>
              </a:r>
              <a:endParaRPr lang="zh-CN" altLang="en-US" sz="2200" dirty="0">
                <a:solidFill>
                  <a:srgbClr val="000000"/>
                </a:solidFill>
                <a:latin typeface="黑体" pitchFamily="49" charset="-122"/>
                <a:ea typeface="黑体" pitchFamily="49" charset="-122"/>
              </a:endParaRPr>
            </a:p>
          </p:txBody>
        </p:sp>
        <p:sp>
          <p:nvSpPr>
            <p:cNvPr id="13" name="Text Box 1033"/>
            <p:cNvSpPr txBox="1">
              <a:spLocks noChangeArrowheads="1"/>
            </p:cNvSpPr>
            <p:nvPr/>
          </p:nvSpPr>
          <p:spPr bwMode="auto">
            <a:xfrm>
              <a:off x="3389301" y="5237449"/>
              <a:ext cx="3613728" cy="433068"/>
            </a:xfrm>
            <a:prstGeom prst="rect">
              <a:avLst/>
            </a:prstGeom>
            <a:noFill/>
            <a:ln>
              <a:noFill/>
            </a:ln>
            <a:effectLst/>
          </p:spPr>
          <p:txBody>
            <a:bodyPr wrap="square" lIns="90000" tIns="46800" rIns="90000" bIns="46800">
              <a:spAutoFit/>
            </a:bodyPr>
            <a:lstStyle/>
            <a:p>
              <a:pPr>
                <a:spcBef>
                  <a:spcPct val="50000"/>
                </a:spcBef>
              </a:pPr>
              <a:r>
                <a:rPr lang="zh-CN" altLang="en-US" sz="2200" dirty="0" smtClean="0">
                  <a:solidFill>
                    <a:srgbClr val="000000"/>
                  </a:solidFill>
                  <a:latin typeface="黑体" pitchFamily="49" charset="-122"/>
                  <a:ea typeface="黑体" pitchFamily="49" charset="-122"/>
                </a:rPr>
                <a:t>注意</a:t>
              </a:r>
              <a:r>
                <a:rPr lang="zh-CN" altLang="en-US" sz="2200" dirty="0">
                  <a:solidFill>
                    <a:srgbClr val="000000"/>
                  </a:solidFill>
                  <a:latin typeface="黑体" pitchFamily="49" charset="-122"/>
                  <a:ea typeface="黑体" pitchFamily="49" charset="-122"/>
                </a:rPr>
                <a:t>控制摩擦副的工作</a:t>
              </a:r>
              <a:r>
                <a:rPr lang="zh-CN" altLang="en-US" sz="2200" dirty="0" smtClean="0">
                  <a:solidFill>
                    <a:srgbClr val="000000"/>
                  </a:solidFill>
                  <a:latin typeface="黑体" pitchFamily="49" charset="-122"/>
                  <a:ea typeface="黑体" pitchFamily="49" charset="-122"/>
                </a:rPr>
                <a:t>条件</a:t>
              </a:r>
              <a:endParaRPr lang="zh-CN" altLang="en-US" sz="2200" dirty="0">
                <a:solidFill>
                  <a:srgbClr val="000000"/>
                </a:solidFill>
                <a:latin typeface="黑体" pitchFamily="49" charset="-122"/>
                <a:ea typeface="黑体" pitchFamily="49" charset="-122"/>
              </a:endParaRPr>
            </a:p>
          </p:txBody>
        </p:sp>
        <p:sp>
          <p:nvSpPr>
            <p:cNvPr id="14" name="左大括号 2"/>
            <p:cNvSpPr/>
            <p:nvPr/>
          </p:nvSpPr>
          <p:spPr>
            <a:xfrm>
              <a:off x="3203848" y="3853502"/>
              <a:ext cx="202696" cy="1740302"/>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148730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7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6"/>
          <p:cNvGrpSpPr/>
          <p:nvPr/>
        </p:nvGrpSpPr>
        <p:grpSpPr>
          <a:xfrm>
            <a:off x="323528" y="550905"/>
            <a:ext cx="2880320" cy="492443"/>
            <a:chOff x="323528" y="564857"/>
            <a:chExt cx="2880320" cy="492443"/>
          </a:xfrm>
        </p:grpSpPr>
        <p:sp>
          <p:nvSpPr>
            <p:cNvPr id="5" name="Text Box 5"/>
            <p:cNvSpPr txBox="1">
              <a:spLocks noChangeArrowheads="1"/>
            </p:cNvSpPr>
            <p:nvPr/>
          </p:nvSpPr>
          <p:spPr bwMode="auto">
            <a:xfrm>
              <a:off x="683569" y="564857"/>
              <a:ext cx="2520279" cy="49244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600" b="1" dirty="0" smtClean="0">
                  <a:solidFill>
                    <a:srgbClr val="000099"/>
                  </a:solidFill>
                  <a:effectLst/>
                  <a:latin typeface="黑体" pitchFamily="49" charset="-122"/>
                </a:rPr>
                <a:t>润滑剂的种类</a:t>
              </a:r>
              <a:endParaRPr lang="zh-CN" altLang="en-US" sz="2600" b="1" dirty="0">
                <a:solidFill>
                  <a:srgbClr val="000099"/>
                </a:solidFill>
                <a:effectLst/>
                <a:latin typeface="黑体" pitchFamily="49" charset="-122"/>
              </a:endParaRPr>
            </a:p>
          </p:txBody>
        </p:sp>
        <p:pic>
          <p:nvPicPr>
            <p:cNvPr id="6" name="Picture 15" descr="AR1031"/>
            <p:cNvPicPr>
              <a:picLocks noChangeAspect="1" noChangeArrowheads="1"/>
            </p:cNvPicPr>
            <p:nvPr/>
          </p:nvPicPr>
          <p:blipFill>
            <a:blip r:embed="rId3">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sp>
        <p:nvSpPr>
          <p:cNvPr id="7" name="单圆角矩形 6"/>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润滑剂的种类</a:t>
            </a:r>
            <a:endParaRPr lang="zh-CN" altLang="en-US" sz="1500" dirty="0">
              <a:solidFill>
                <a:srgbClr val="FF6600"/>
              </a:solidFill>
            </a:endParaRPr>
          </a:p>
        </p:txBody>
      </p:sp>
      <p:sp>
        <p:nvSpPr>
          <p:cNvPr id="8" name="直角三角形 7"/>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 Box 5"/>
          <p:cNvSpPr txBox="1">
            <a:spLocks noChangeArrowheads="1"/>
          </p:cNvSpPr>
          <p:nvPr/>
        </p:nvSpPr>
        <p:spPr bwMode="auto">
          <a:xfrm>
            <a:off x="323528" y="1137288"/>
            <a:ext cx="8568952"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0000FF"/>
                </a:solidFill>
                <a:latin typeface="黑体" panose="02010609060101010101" pitchFamily="49" charset="-122"/>
                <a:ea typeface="黑体" panose="02010609060101010101" pitchFamily="49" charset="-122"/>
              </a:rPr>
              <a:t>液体润滑剂</a:t>
            </a:r>
            <a:r>
              <a:rPr lang="en-US" altLang="zh-CN" sz="2000" kern="0" dirty="0" smtClean="0">
                <a:solidFill>
                  <a:srgbClr val="0000FF"/>
                </a:solidFill>
                <a:latin typeface="黑体" panose="02010609060101010101" pitchFamily="49" charset="-122"/>
                <a:ea typeface="黑体" panose="02010609060101010101" pitchFamily="49" charset="-122"/>
              </a:rPr>
              <a:t>-</a:t>
            </a:r>
            <a:r>
              <a:rPr lang="zh-CN" altLang="en-US" sz="2000" kern="0" dirty="0" smtClean="0">
                <a:solidFill>
                  <a:srgbClr val="0000FF"/>
                </a:solidFill>
                <a:latin typeface="黑体" panose="02010609060101010101" pitchFamily="49" charset="-122"/>
                <a:ea typeface="黑体" panose="02010609060101010101" pitchFamily="49" charset="-122"/>
              </a:rPr>
              <a:t>润滑油</a:t>
            </a:r>
            <a:r>
              <a:rPr lang="zh-CN" altLang="en-US" sz="2000" kern="0" dirty="0" smtClean="0">
                <a:latin typeface="黑体" panose="02010609060101010101" pitchFamily="49" charset="-122"/>
                <a:ea typeface="黑体" panose="02010609060101010101" pitchFamily="49" charset="-122"/>
              </a:rPr>
              <a:t>：动植物油、</a:t>
            </a:r>
            <a:r>
              <a:rPr lang="zh-CN" altLang="en-US" sz="2000" kern="0" dirty="0" smtClean="0">
                <a:solidFill>
                  <a:srgbClr val="0000FF"/>
                </a:solidFill>
                <a:latin typeface="黑体" panose="02010609060101010101" pitchFamily="49" charset="-122"/>
                <a:ea typeface="黑体" panose="02010609060101010101" pitchFamily="49" charset="-122"/>
              </a:rPr>
              <a:t>矿物油</a:t>
            </a:r>
            <a:r>
              <a:rPr lang="zh-CN" altLang="en-US" sz="2000" kern="0" dirty="0" smtClean="0">
                <a:latin typeface="黑体" panose="02010609060101010101" pitchFamily="49" charset="-122"/>
                <a:ea typeface="黑体" panose="02010609060101010101" pitchFamily="49" charset="-122"/>
              </a:rPr>
              <a:t>、合成油、水和液态金属。矿物油来源充足、性能稳定、成本低，应用广泛。但</a:t>
            </a:r>
            <a:r>
              <a:rPr lang="zh-CN" altLang="en-US" sz="2000" kern="0" dirty="0" smtClean="0">
                <a:solidFill>
                  <a:srgbClr val="FF0000"/>
                </a:solidFill>
                <a:latin typeface="黑体" panose="02010609060101010101" pitchFamily="49" charset="-122"/>
                <a:ea typeface="黑体" panose="02010609060101010101" pitchFamily="49" charset="-122"/>
              </a:rPr>
              <a:t>油性差</a:t>
            </a:r>
            <a:r>
              <a:rPr lang="zh-CN" altLang="en-US" sz="2000" kern="0" dirty="0" smtClean="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p:txBody>
      </p:sp>
      <p:sp>
        <p:nvSpPr>
          <p:cNvPr id="11" name="Text Box 5"/>
          <p:cNvSpPr txBox="1">
            <a:spLocks noChangeArrowheads="1"/>
          </p:cNvSpPr>
          <p:nvPr/>
        </p:nvSpPr>
        <p:spPr bwMode="auto">
          <a:xfrm>
            <a:off x="324294" y="1942613"/>
            <a:ext cx="8568186"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0000FF"/>
                </a:solidFill>
                <a:latin typeface="黑体" panose="02010609060101010101" pitchFamily="49" charset="-122"/>
                <a:ea typeface="黑体" panose="02010609060101010101" pitchFamily="49" charset="-122"/>
              </a:rPr>
              <a:t>半固体润滑剂</a:t>
            </a:r>
            <a:r>
              <a:rPr lang="en-US" altLang="zh-CN" sz="2000" kern="0" dirty="0" smtClean="0">
                <a:solidFill>
                  <a:srgbClr val="0000FF"/>
                </a:solidFill>
                <a:latin typeface="黑体" panose="02010609060101010101" pitchFamily="49" charset="-122"/>
                <a:ea typeface="黑体" panose="02010609060101010101" pitchFamily="49" charset="-122"/>
              </a:rPr>
              <a:t>-</a:t>
            </a:r>
            <a:r>
              <a:rPr lang="zh-CN" altLang="en-US" sz="2000" kern="0" dirty="0" smtClean="0">
                <a:solidFill>
                  <a:srgbClr val="0000FF"/>
                </a:solidFill>
                <a:latin typeface="黑体" panose="02010609060101010101" pitchFamily="49" charset="-122"/>
                <a:ea typeface="黑体" panose="02010609060101010101" pitchFamily="49" charset="-122"/>
              </a:rPr>
              <a:t>润滑脂</a:t>
            </a:r>
            <a:r>
              <a:rPr lang="zh-CN" altLang="en-US" sz="2000" kern="0" dirty="0" smtClean="0">
                <a:latin typeface="黑体" panose="02010609060101010101" pitchFamily="49" charset="-122"/>
                <a:ea typeface="黑体" panose="02010609060101010101" pitchFamily="49" charset="-122"/>
              </a:rPr>
              <a:t>：在液体润滑剂中加入稠化剂而成的膏状物</a:t>
            </a:r>
            <a:r>
              <a:rPr lang="zh-CN" altLang="en-US" sz="2000" kern="0" dirty="0" smtClean="0">
                <a:latin typeface="黑体" panose="02010609060101010101" pitchFamily="49" charset="-122"/>
                <a:ea typeface="黑体" panose="02010609060101010101" pitchFamily="49" charset="-122"/>
              </a:rPr>
              <a:t>。密封装置简单，且无需经常换油、加油，故常用于不易加油、低速重载场合</a:t>
            </a:r>
            <a:endParaRPr lang="zh-CN" altLang="en-US" sz="2000" dirty="0">
              <a:latin typeface="黑体" panose="02010609060101010101" pitchFamily="49" charset="-122"/>
              <a:ea typeface="黑体" panose="02010609060101010101" pitchFamily="49" charset="-122"/>
            </a:endParaRPr>
          </a:p>
        </p:txBody>
      </p:sp>
      <p:sp>
        <p:nvSpPr>
          <p:cNvPr id="12" name="Text Box 5"/>
          <p:cNvSpPr txBox="1">
            <a:spLocks noChangeArrowheads="1"/>
          </p:cNvSpPr>
          <p:nvPr/>
        </p:nvSpPr>
        <p:spPr bwMode="auto">
          <a:xfrm>
            <a:off x="323528" y="2747938"/>
            <a:ext cx="8568186"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0000FF"/>
                </a:solidFill>
                <a:latin typeface="黑体" panose="02010609060101010101" pitchFamily="49" charset="-122"/>
                <a:ea typeface="黑体" panose="02010609060101010101" pitchFamily="49" charset="-122"/>
              </a:rPr>
              <a:t>固体润滑剂</a:t>
            </a:r>
            <a:r>
              <a:rPr lang="zh-CN" altLang="en-US" sz="2000" kern="0" dirty="0" smtClean="0">
                <a:latin typeface="黑体" panose="02010609060101010101" pitchFamily="49" charset="-122"/>
                <a:ea typeface="黑体" panose="02010609060101010101" pitchFamily="49" charset="-122"/>
              </a:rPr>
              <a:t>：是利用固体粉末、薄膜或复合材料代替润滑脂。如</a:t>
            </a:r>
            <a:r>
              <a:rPr lang="zh-CN" altLang="en-US" sz="2000" kern="0" dirty="0" smtClean="0">
                <a:solidFill>
                  <a:srgbClr val="0000FF"/>
                </a:solidFill>
                <a:latin typeface="黑体" panose="02010609060101010101" pitchFamily="49" charset="-122"/>
                <a:ea typeface="黑体" panose="02010609060101010101" pitchFamily="49" charset="-122"/>
              </a:rPr>
              <a:t>石墨</a:t>
            </a:r>
            <a:r>
              <a:rPr lang="zh-CN" altLang="en-US" sz="2000" kern="0" dirty="0" smtClean="0">
                <a:latin typeface="黑体" panose="02010609060101010101" pitchFamily="49" charset="-122"/>
                <a:ea typeface="黑体" panose="02010609060101010101" pitchFamily="49" charset="-122"/>
              </a:rPr>
              <a:t>、</a:t>
            </a:r>
            <a:r>
              <a:rPr lang="en-US" altLang="zh-CN" sz="2000" kern="0" dirty="0" smtClean="0">
                <a:latin typeface="黑体" panose="02010609060101010101" pitchFamily="49" charset="-122"/>
                <a:ea typeface="黑体" panose="02010609060101010101" pitchFamily="49" charset="-122"/>
              </a:rPr>
              <a:t>MoS</a:t>
            </a:r>
            <a:r>
              <a:rPr lang="en-US" altLang="zh-CN" sz="2000" kern="0" baseline="-25000" dirty="0" smtClean="0">
                <a:latin typeface="黑体" panose="02010609060101010101" pitchFamily="49" charset="-122"/>
                <a:ea typeface="黑体" panose="02010609060101010101" pitchFamily="49" charset="-122"/>
              </a:rPr>
              <a:t>2</a:t>
            </a:r>
            <a:r>
              <a:rPr lang="zh-CN" altLang="en-US" sz="2000" kern="0" dirty="0" smtClean="0">
                <a:latin typeface="黑体" panose="02010609060101010101" pitchFamily="49" charset="-122"/>
                <a:ea typeface="黑体" panose="02010609060101010101" pitchFamily="49" charset="-122"/>
              </a:rPr>
              <a:t>、聚四氟乙烯</a:t>
            </a:r>
            <a:r>
              <a:rPr lang="en-US" altLang="zh-CN" sz="2000" kern="0" dirty="0" smtClean="0">
                <a:latin typeface="黑体" panose="02010609060101010101" pitchFamily="49" charset="-122"/>
                <a:ea typeface="黑体" panose="02010609060101010101" pitchFamily="49" charset="-122"/>
              </a:rPr>
              <a:t>PTFE</a:t>
            </a:r>
            <a:r>
              <a:rPr lang="zh-CN" altLang="en-US" sz="2000" kern="0" dirty="0" smtClean="0">
                <a:latin typeface="黑体" panose="02010609060101010101" pitchFamily="49" charset="-122"/>
                <a:ea typeface="黑体" panose="02010609060101010101" pitchFamily="49" charset="-122"/>
              </a:rPr>
              <a:t>。用于</a:t>
            </a:r>
            <a:r>
              <a:rPr lang="zh-CN" altLang="en-US" sz="2000" kern="0" dirty="0" smtClean="0">
                <a:solidFill>
                  <a:srgbClr val="FF0000"/>
                </a:solidFill>
                <a:latin typeface="黑体" panose="02010609060101010101" pitchFamily="49" charset="-122"/>
                <a:ea typeface="黑体" panose="02010609060101010101" pitchFamily="49" charset="-122"/>
              </a:rPr>
              <a:t>真空、极高</a:t>
            </a:r>
            <a:r>
              <a:rPr lang="en-US" altLang="zh-CN" sz="2000" kern="0" dirty="0" smtClean="0">
                <a:solidFill>
                  <a:srgbClr val="FF0000"/>
                </a:solidFill>
                <a:latin typeface="黑体" panose="02010609060101010101" pitchFamily="49" charset="-122"/>
                <a:ea typeface="黑体" panose="02010609060101010101" pitchFamily="49" charset="-122"/>
              </a:rPr>
              <a:t>(</a:t>
            </a:r>
            <a:r>
              <a:rPr lang="zh-CN" altLang="en-US" sz="2000" kern="0" dirty="0" smtClean="0">
                <a:solidFill>
                  <a:srgbClr val="FF0000"/>
                </a:solidFill>
                <a:latin typeface="黑体" panose="02010609060101010101" pitchFamily="49" charset="-122"/>
                <a:ea typeface="黑体" panose="02010609060101010101" pitchFamily="49" charset="-122"/>
              </a:rPr>
              <a:t>低</a:t>
            </a:r>
            <a:r>
              <a:rPr lang="en-US" altLang="zh-CN" sz="2000" kern="0" dirty="0" smtClean="0">
                <a:solidFill>
                  <a:srgbClr val="FF0000"/>
                </a:solidFill>
                <a:latin typeface="黑体" panose="02010609060101010101" pitchFamily="49" charset="-122"/>
                <a:ea typeface="黑体" panose="02010609060101010101" pitchFamily="49" charset="-122"/>
              </a:rPr>
              <a:t>)</a:t>
            </a:r>
            <a:r>
              <a:rPr lang="zh-CN" altLang="en-US" sz="2000" kern="0" dirty="0" smtClean="0">
                <a:solidFill>
                  <a:srgbClr val="FF0000"/>
                </a:solidFill>
                <a:latin typeface="黑体" panose="02010609060101010101" pitchFamily="49" charset="-122"/>
                <a:ea typeface="黑体" panose="02010609060101010101" pitchFamily="49" charset="-122"/>
              </a:rPr>
              <a:t>温、有侵蚀性介质</a:t>
            </a:r>
            <a:r>
              <a:rPr lang="zh-CN" altLang="en-US" sz="2000" kern="0" dirty="0" smtClean="0">
                <a:latin typeface="黑体" panose="02010609060101010101" pitchFamily="49" charset="-122"/>
                <a:ea typeface="黑体" panose="02010609060101010101" pitchFamily="49" charset="-122"/>
              </a:rPr>
              <a:t>的场合</a:t>
            </a:r>
            <a:endParaRPr lang="zh-CN" altLang="en-US" sz="2000" dirty="0">
              <a:latin typeface="黑体" panose="02010609060101010101" pitchFamily="49" charset="-122"/>
              <a:ea typeface="黑体" panose="02010609060101010101" pitchFamily="49" charset="-122"/>
            </a:endParaRPr>
          </a:p>
        </p:txBody>
      </p:sp>
      <p:sp>
        <p:nvSpPr>
          <p:cNvPr id="13" name="Text Box 5"/>
          <p:cNvSpPr txBox="1">
            <a:spLocks noChangeArrowheads="1"/>
          </p:cNvSpPr>
          <p:nvPr/>
        </p:nvSpPr>
        <p:spPr bwMode="auto">
          <a:xfrm>
            <a:off x="333805" y="3553263"/>
            <a:ext cx="8568186"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0000FF"/>
                </a:solidFill>
                <a:latin typeface="黑体" panose="02010609060101010101" pitchFamily="49" charset="-122"/>
                <a:ea typeface="黑体" panose="02010609060101010101" pitchFamily="49" charset="-122"/>
              </a:rPr>
              <a:t>气体润滑剂</a:t>
            </a:r>
            <a:r>
              <a:rPr lang="zh-CN" altLang="en-US" sz="2000" kern="0" dirty="0" smtClean="0">
                <a:latin typeface="黑体" panose="02010609060101010101" pitchFamily="49" charset="-122"/>
                <a:ea typeface="黑体" panose="02010609060101010101" pitchFamily="49" charset="-122"/>
              </a:rPr>
              <a:t>：</a:t>
            </a:r>
            <a:r>
              <a:rPr lang="zh-CN" altLang="en-US" sz="2000" kern="0" dirty="0" smtClean="0">
                <a:solidFill>
                  <a:srgbClr val="0000FF"/>
                </a:solidFill>
                <a:latin typeface="黑体" panose="02010609060101010101" pitchFamily="49" charset="-122"/>
                <a:ea typeface="黑体" panose="02010609060101010101" pitchFamily="49" charset="-122"/>
              </a:rPr>
              <a:t>空气</a:t>
            </a:r>
            <a:r>
              <a:rPr lang="zh-CN" altLang="en-US" sz="2000" kern="0" dirty="0" smtClean="0">
                <a:latin typeface="黑体" panose="02010609060101010101" pitchFamily="49" charset="-122"/>
                <a:ea typeface="黑体" panose="02010609060101010101" pitchFamily="49" charset="-122"/>
              </a:rPr>
              <a:t>、氢气、氮气等</a:t>
            </a:r>
            <a:r>
              <a:rPr lang="zh-CN" altLang="en-US" sz="2000" kern="0" dirty="0" smtClean="0">
                <a:latin typeface="黑体" panose="02010609060101010101" pitchFamily="49" charset="-122"/>
                <a:ea typeface="黑体" panose="02010609060101010101" pitchFamily="49" charset="-122"/>
              </a:rPr>
              <a:t>。粘度低、摩擦小，但要求膜厚小，且承载能力低，设计工艺复杂，多用于</a:t>
            </a:r>
            <a:r>
              <a:rPr lang="zh-CN" altLang="en-US" sz="2000" kern="0" dirty="0" smtClean="0">
                <a:solidFill>
                  <a:srgbClr val="FF0000"/>
                </a:solidFill>
                <a:latin typeface="黑体" panose="02010609060101010101" pitchFamily="49" charset="-122"/>
                <a:ea typeface="黑体" panose="02010609060101010101" pitchFamily="49" charset="-122"/>
              </a:rPr>
              <a:t>高速轻载或</a:t>
            </a:r>
            <a:r>
              <a:rPr lang="zh-CN" altLang="en-US" sz="2000" kern="0" dirty="0" smtClean="0">
                <a:solidFill>
                  <a:srgbClr val="FF0000"/>
                </a:solidFill>
                <a:latin typeface="黑体" panose="02010609060101010101" pitchFamily="49" charset="-122"/>
                <a:ea typeface="黑体" panose="02010609060101010101" pitchFamily="49" charset="-122"/>
              </a:rPr>
              <a:t>不能用润滑油</a:t>
            </a:r>
            <a:r>
              <a:rPr lang="en-US" altLang="zh-CN" sz="2000" kern="0" dirty="0" smtClean="0">
                <a:solidFill>
                  <a:srgbClr val="FF0000"/>
                </a:solidFill>
                <a:latin typeface="黑体" panose="02010609060101010101" pitchFamily="49" charset="-122"/>
                <a:ea typeface="黑体" panose="02010609060101010101" pitchFamily="49" charset="-122"/>
              </a:rPr>
              <a:t>(</a:t>
            </a:r>
            <a:r>
              <a:rPr lang="zh-CN" altLang="en-US" sz="2000" kern="0" dirty="0" smtClean="0">
                <a:solidFill>
                  <a:srgbClr val="FF0000"/>
                </a:solidFill>
                <a:latin typeface="黑体" panose="02010609060101010101" pitchFamily="49" charset="-122"/>
                <a:ea typeface="黑体" panose="02010609060101010101" pitchFamily="49" charset="-122"/>
              </a:rPr>
              <a:t>脂</a:t>
            </a:r>
            <a:r>
              <a:rPr lang="en-US" altLang="zh-CN" sz="2000" kern="0" dirty="0" smtClean="0">
                <a:solidFill>
                  <a:srgbClr val="FF0000"/>
                </a:solidFill>
                <a:latin typeface="黑体" panose="02010609060101010101" pitchFamily="49" charset="-122"/>
                <a:ea typeface="黑体" panose="02010609060101010101" pitchFamily="49" charset="-122"/>
              </a:rPr>
              <a:t>)</a:t>
            </a:r>
            <a:r>
              <a:rPr lang="zh-CN" altLang="en-US" sz="2000" kern="0" dirty="0" smtClean="0">
                <a:solidFill>
                  <a:srgbClr val="FF0000"/>
                </a:solidFill>
                <a:latin typeface="黑体" panose="02010609060101010101" pitchFamily="49" charset="-122"/>
                <a:ea typeface="黑体" panose="02010609060101010101" pitchFamily="49" charset="-122"/>
              </a:rPr>
              <a:t>处</a:t>
            </a:r>
            <a:r>
              <a:rPr lang="zh-CN" altLang="en-US" sz="2000" kern="0" dirty="0" smtClean="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2785004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6"/>
          <p:cNvGrpSpPr/>
          <p:nvPr/>
        </p:nvGrpSpPr>
        <p:grpSpPr>
          <a:xfrm>
            <a:off x="323528" y="550905"/>
            <a:ext cx="4176464" cy="492443"/>
            <a:chOff x="323528" y="564857"/>
            <a:chExt cx="4176464" cy="492443"/>
          </a:xfrm>
        </p:grpSpPr>
        <p:sp>
          <p:nvSpPr>
            <p:cNvPr id="5" name="Text Box 5"/>
            <p:cNvSpPr txBox="1">
              <a:spLocks noChangeArrowheads="1"/>
            </p:cNvSpPr>
            <p:nvPr/>
          </p:nvSpPr>
          <p:spPr bwMode="auto">
            <a:xfrm>
              <a:off x="683569" y="564857"/>
              <a:ext cx="3816423" cy="49244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600" b="1" dirty="0" smtClean="0">
                  <a:solidFill>
                    <a:srgbClr val="000099"/>
                  </a:solidFill>
                  <a:effectLst/>
                  <a:latin typeface="黑体" pitchFamily="49" charset="-122"/>
                </a:rPr>
                <a:t>润滑油的主要性能指标</a:t>
              </a:r>
              <a:endParaRPr lang="zh-CN" altLang="en-US" sz="2600" b="1" dirty="0">
                <a:solidFill>
                  <a:srgbClr val="000099"/>
                </a:solidFill>
                <a:effectLst/>
                <a:latin typeface="黑体" pitchFamily="49" charset="-122"/>
              </a:endParaRPr>
            </a:p>
          </p:txBody>
        </p:sp>
        <p:pic>
          <p:nvPicPr>
            <p:cNvPr id="6" name="Picture 15" descr="AR1031"/>
            <p:cNvPicPr>
              <a:picLocks noChangeAspect="1" noChangeArrowheads="1"/>
            </p:cNvPicPr>
            <p:nvPr/>
          </p:nvPicPr>
          <p:blipFill>
            <a:blip r:embed="rId4">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sp>
        <p:nvSpPr>
          <p:cNvPr id="7" name="单圆角矩形 6"/>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润滑油的主要性能指标</a:t>
            </a:r>
            <a:endParaRPr lang="zh-CN" altLang="en-US" sz="1500" dirty="0">
              <a:solidFill>
                <a:srgbClr val="FF6600"/>
              </a:solidFill>
            </a:endParaRPr>
          </a:p>
        </p:txBody>
      </p:sp>
      <p:sp>
        <p:nvSpPr>
          <p:cNvPr id="8" name="直角三角形 7"/>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5"/>
          <p:cNvSpPr txBox="1">
            <a:spLocks noChangeArrowheads="1"/>
          </p:cNvSpPr>
          <p:nvPr/>
        </p:nvSpPr>
        <p:spPr bwMode="auto">
          <a:xfrm>
            <a:off x="323528" y="1137288"/>
            <a:ext cx="6120680" cy="464743"/>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200" b="1" kern="0" dirty="0" smtClean="0">
                <a:solidFill>
                  <a:srgbClr val="FF0000"/>
                </a:solidFill>
                <a:latin typeface="+mn-ea"/>
                <a:ea typeface="+mn-ea"/>
              </a:rPr>
              <a:t>粘度</a:t>
            </a:r>
            <a:r>
              <a:rPr lang="zh-CN" altLang="en-US" sz="2200" b="1" kern="0" dirty="0" smtClean="0">
                <a:latin typeface="+mn-ea"/>
                <a:ea typeface="+mn-ea"/>
              </a:rPr>
              <a:t>：</a:t>
            </a:r>
            <a:r>
              <a:rPr lang="zh-CN" altLang="en-US" sz="2200" b="1" kern="0" dirty="0" smtClean="0">
                <a:solidFill>
                  <a:srgbClr val="0000FF"/>
                </a:solidFill>
                <a:latin typeface="+mn-ea"/>
                <a:ea typeface="+mn-ea"/>
              </a:rPr>
              <a:t>衡量流体内摩擦阻力大小的指标。</a:t>
            </a:r>
            <a:endParaRPr lang="zh-CN" altLang="en-US" sz="2200" b="1" dirty="0">
              <a:solidFill>
                <a:srgbClr val="0000FF"/>
              </a:solidFill>
              <a:latin typeface="+mn-ea"/>
              <a:ea typeface="+mn-ea"/>
            </a:endParaRPr>
          </a:p>
        </p:txBody>
      </p:sp>
      <p:sp>
        <p:nvSpPr>
          <p:cNvPr id="10" name="Text Box 13"/>
          <p:cNvSpPr txBox="1">
            <a:spLocks noChangeArrowheads="1"/>
          </p:cNvSpPr>
          <p:nvPr/>
        </p:nvSpPr>
        <p:spPr bwMode="auto">
          <a:xfrm>
            <a:off x="323528" y="2382633"/>
            <a:ext cx="2664296" cy="757428"/>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14000"/>
              </a:lnSpc>
              <a:spcBef>
                <a:spcPts val="0"/>
              </a:spcBef>
              <a:spcAft>
                <a:spcPts val="0"/>
              </a:spcAft>
              <a:buClrTx/>
              <a:buSzTx/>
              <a:buFontTx/>
              <a:buNone/>
            </a:pPr>
            <a:r>
              <a:rPr kumimoji="1" lang="zh-CN" altLang="en-US" sz="1900" b="0" i="0" u="none" strike="noStrike" kern="0" cap="none" spc="0" normalizeH="0" baseline="0" noProof="0" dirty="0" smtClean="0">
                <a:ln>
                  <a:noFill/>
                </a:ln>
                <a:solidFill>
                  <a:srgbClr val="000000"/>
                </a:solidFill>
                <a:effectLst/>
                <a:uLnTx/>
                <a:uFillTx/>
                <a:latin typeface="Arial" charset="0"/>
                <a:ea typeface="黑体" pitchFamily="49" charset="-122"/>
              </a:rPr>
              <a:t>对于层流，油层间的切应力与速度梯度成正比：</a:t>
            </a:r>
          </a:p>
        </p:txBody>
      </p:sp>
      <p:pic>
        <p:nvPicPr>
          <p:cNvPr id="11" name="图片 5" descr="1.png"/>
          <p:cNvPicPr>
            <a:picLocks noChangeAspect="1"/>
          </p:cNvPicPr>
          <p:nvPr/>
        </p:nvPicPr>
        <p:blipFill>
          <a:blip r:embed="rId5"/>
          <a:srcRect/>
          <a:stretch>
            <a:fillRect/>
          </a:stretch>
        </p:blipFill>
        <p:spPr bwMode="auto">
          <a:xfrm>
            <a:off x="5508104" y="2337106"/>
            <a:ext cx="3456384" cy="1597062"/>
          </a:xfrm>
          <a:prstGeom prst="rect">
            <a:avLst/>
          </a:prstGeom>
          <a:noFill/>
          <a:ln>
            <a:noFill/>
          </a:ln>
        </p:spPr>
      </p:pic>
      <p:graphicFrame>
        <p:nvGraphicFramePr>
          <p:cNvPr id="12" name="Object 7"/>
          <p:cNvGraphicFramePr>
            <a:graphicFrameLocks noChangeAspect="1"/>
          </p:cNvGraphicFramePr>
          <p:nvPr>
            <p:extLst>
              <p:ext uri="{D42A27DB-BD31-4B8C-83A1-F6EECF244321}">
                <p14:modId xmlns:p14="http://schemas.microsoft.com/office/powerpoint/2010/main" val="3705189651"/>
              </p:ext>
            </p:extLst>
          </p:nvPr>
        </p:nvGraphicFramePr>
        <p:xfrm>
          <a:off x="539552" y="3272336"/>
          <a:ext cx="1993978" cy="607790"/>
        </p:xfrm>
        <a:graphic>
          <a:graphicData uri="http://schemas.openxmlformats.org/presentationml/2006/ole">
            <mc:AlternateContent xmlns:mc="http://schemas.openxmlformats.org/markup-compatibility/2006">
              <mc:Choice xmlns:v="urn:schemas-microsoft-com:vml" Requires="v">
                <p:oleObj spid="_x0000_s6044714" name="Equation" r:id="rId6" imgW="2374900" imgH="723900" progId="Equation.DSMT4">
                  <p:embed/>
                </p:oleObj>
              </mc:Choice>
              <mc:Fallback>
                <p:oleObj name="Equation" r:id="rId6" imgW="2374900" imgH="723900" progId="Equation.DSMT4">
                  <p:embed/>
                  <p:pic>
                    <p:nvPicPr>
                      <p:cNvPr id="0" name=""/>
                      <p:cNvPicPr>
                        <a:picLocks noChangeAspect="1" noChangeArrowheads="1"/>
                      </p:cNvPicPr>
                      <p:nvPr/>
                    </p:nvPicPr>
                    <p:blipFill>
                      <a:blip r:embed="rId7"/>
                      <a:srcRect/>
                      <a:stretch>
                        <a:fillRect/>
                      </a:stretch>
                    </p:blipFill>
                    <p:spPr bwMode="auto">
                      <a:xfrm>
                        <a:off x="539552" y="3272336"/>
                        <a:ext cx="1993978" cy="607790"/>
                      </a:xfrm>
                      <a:prstGeom prst="rect">
                        <a:avLst/>
                      </a:prstGeom>
                      <a:noFill/>
                      <a:ln>
                        <a:noFill/>
                      </a:ln>
                      <a:effectLst/>
                    </p:spPr>
                  </p:pic>
                </p:oleObj>
              </mc:Fallback>
            </mc:AlternateContent>
          </a:graphicData>
        </a:graphic>
      </p:graphicFrame>
      <p:pic>
        <p:nvPicPr>
          <p:cNvPr id="13" name="Picture 130"/>
          <p:cNvPicPr>
            <a:picLocks noChangeAspect="1" noChangeArrowheads="1"/>
          </p:cNvPicPr>
          <p:nvPr/>
        </p:nvPicPr>
        <p:blipFill>
          <a:blip r:embed="rId8"/>
          <a:srcRect/>
          <a:stretch>
            <a:fillRect/>
          </a:stretch>
        </p:blipFill>
        <p:spPr bwMode="auto">
          <a:xfrm>
            <a:off x="3141951" y="2265097"/>
            <a:ext cx="2263431" cy="1759045"/>
          </a:xfrm>
          <a:prstGeom prst="rect">
            <a:avLst/>
          </a:prstGeom>
          <a:noFill/>
          <a:ln>
            <a:noFill/>
          </a:ln>
          <a:effectLst/>
        </p:spPr>
      </p:pic>
      <p:sp>
        <p:nvSpPr>
          <p:cNvPr id="14" name="Text Box 6"/>
          <p:cNvSpPr txBox="1">
            <a:spLocks noChangeArrowheads="1"/>
          </p:cNvSpPr>
          <p:nvPr/>
        </p:nvSpPr>
        <p:spPr bwMode="auto">
          <a:xfrm>
            <a:off x="6080857" y="4157725"/>
            <a:ext cx="3195505" cy="338554"/>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1600" b="0" i="1" u="none" strike="noStrike" kern="0" cap="none" spc="0" normalizeH="0" baseline="0" noProof="0" dirty="0" smtClean="0">
                <a:ln>
                  <a:noFill/>
                </a:ln>
                <a:solidFill>
                  <a:srgbClr val="FF0000"/>
                </a:solidFill>
                <a:effectLst/>
                <a:uLnTx/>
                <a:uFillTx/>
                <a:ea typeface="华文中宋" pitchFamily="2" charset="-122"/>
              </a:rPr>
              <a:t>η</a:t>
            </a:r>
            <a:r>
              <a:rPr kumimoji="1" lang="en-US" altLang="zh-CN" sz="1600" b="0" i="0" u="none" strike="noStrike" kern="0" cap="none" spc="0" normalizeH="0" baseline="0" noProof="0" dirty="0" smtClean="0">
                <a:ln>
                  <a:noFill/>
                </a:ln>
                <a:solidFill>
                  <a:srgbClr val="000000"/>
                </a:solidFill>
                <a:effectLst/>
                <a:uLnTx/>
                <a:uFillTx/>
              </a:rPr>
              <a:t>—</a:t>
            </a:r>
            <a:r>
              <a:rPr kumimoji="1" lang="zh-CN" altLang="en-US" sz="1600" b="0" i="0" u="none" strike="noStrike" kern="0" cap="none" spc="0" normalizeH="0" baseline="0" noProof="0" dirty="0" smtClean="0">
                <a:ln>
                  <a:noFill/>
                </a:ln>
                <a:solidFill>
                  <a:srgbClr val="000000"/>
                </a:solidFill>
                <a:effectLst/>
                <a:uLnTx/>
                <a:uFillTx/>
              </a:rPr>
              <a:t>比例常数，即</a:t>
            </a:r>
            <a:r>
              <a:rPr kumimoji="1" lang="zh-CN" altLang="en-US" sz="1600" i="0" u="none" strike="noStrike" kern="0" cap="none" spc="0" normalizeH="0" baseline="0" noProof="0" dirty="0" smtClean="0">
                <a:ln>
                  <a:noFill/>
                </a:ln>
                <a:solidFill>
                  <a:srgbClr val="FF0000"/>
                </a:solidFill>
                <a:effectLst/>
                <a:uLnTx/>
                <a:uFillTx/>
              </a:rPr>
              <a:t>动力粘度 </a:t>
            </a:r>
            <a:r>
              <a:rPr kumimoji="1" lang="en-US" altLang="zh-CN" sz="1600" i="0" u="none" strike="noStrike" kern="0" cap="none" spc="0" normalizeH="0" baseline="0" noProof="0" dirty="0" smtClean="0">
                <a:ln>
                  <a:noFill/>
                </a:ln>
                <a:solidFill>
                  <a:srgbClr val="FF0000"/>
                </a:solidFill>
                <a:effectLst/>
                <a:uLnTx/>
                <a:uFillTx/>
              </a:rPr>
              <a:t>(Pa</a:t>
            </a:r>
            <a:r>
              <a:rPr kumimoji="1" lang="en-US" altLang="zh-CN" sz="1600" i="0" u="none" strike="noStrike" kern="0" cap="none" spc="0" normalizeH="0" baseline="0" noProof="0" dirty="0" smtClean="0">
                <a:ln>
                  <a:noFill/>
                </a:ln>
                <a:solidFill>
                  <a:srgbClr val="FF0000"/>
                </a:solidFill>
                <a:effectLst/>
                <a:uLnTx/>
                <a:uFillTx/>
                <a:latin typeface="Calibri" pitchFamily="34" charset="0"/>
              </a:rPr>
              <a:t>·s</a:t>
            </a:r>
            <a:r>
              <a:rPr kumimoji="1" lang="en-US" altLang="zh-CN" sz="1600" i="0" u="none" strike="noStrike" kern="0" cap="none" spc="0" normalizeH="0" baseline="0" noProof="0" dirty="0" smtClean="0">
                <a:ln>
                  <a:noFill/>
                </a:ln>
                <a:solidFill>
                  <a:srgbClr val="FF0000"/>
                </a:solidFill>
                <a:effectLst/>
                <a:uLnTx/>
                <a:uFillTx/>
              </a:rPr>
              <a:t>)</a:t>
            </a:r>
          </a:p>
        </p:txBody>
      </p:sp>
      <p:sp>
        <p:nvSpPr>
          <p:cNvPr id="15" name="Text Box 14"/>
          <p:cNvSpPr txBox="1">
            <a:spLocks noChangeArrowheads="1"/>
          </p:cNvSpPr>
          <p:nvPr/>
        </p:nvSpPr>
        <p:spPr bwMode="auto">
          <a:xfrm>
            <a:off x="107504" y="4160616"/>
            <a:ext cx="2590701" cy="338554"/>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en-US" altLang="zh-CN" sz="1600" b="0" i="1" u="none" strike="noStrike" kern="0" cap="none" spc="0" normalizeH="0" baseline="0" noProof="0" dirty="0" smtClean="0">
                <a:ln>
                  <a:noFill/>
                </a:ln>
                <a:solidFill>
                  <a:srgbClr val="000000"/>
                </a:solidFill>
                <a:effectLst/>
                <a:uLnTx/>
                <a:uFillTx/>
                <a:latin typeface="Arial" charset="0"/>
                <a:ea typeface="黑体" pitchFamily="49" charset="-122"/>
              </a:rPr>
              <a:t>F</a:t>
            </a:r>
            <a:r>
              <a:rPr kumimoji="0" lang="en-US" altLang="zh-CN" sz="1600" b="0" i="0" u="none" strike="noStrike" kern="0" cap="none" spc="0" normalizeH="0" baseline="0" noProof="0" dirty="0" smtClean="0">
                <a:ln>
                  <a:noFill/>
                </a:ln>
                <a:solidFill>
                  <a:srgbClr val="000000"/>
                </a:solidFill>
                <a:effectLst/>
                <a:uLnTx/>
                <a:uFillTx/>
                <a:latin typeface="Arial" charset="0"/>
                <a:ea typeface="黑体" pitchFamily="49" charset="-122"/>
              </a:rPr>
              <a:t>—</a:t>
            </a:r>
            <a:r>
              <a:rPr kumimoji="0" lang="zh-CN" altLang="en-US" sz="1600" b="0" i="0" u="none" strike="noStrike" kern="0" cap="none" spc="0" normalizeH="0" baseline="0" noProof="0" dirty="0" smtClean="0">
                <a:ln>
                  <a:noFill/>
                </a:ln>
                <a:solidFill>
                  <a:srgbClr val="000000"/>
                </a:solidFill>
                <a:effectLst/>
                <a:uLnTx/>
                <a:uFillTx/>
                <a:latin typeface="Arial" charset="0"/>
                <a:ea typeface="黑体" pitchFamily="49" charset="-122"/>
              </a:rPr>
              <a:t>作用在移动板上的拉力</a:t>
            </a:r>
          </a:p>
        </p:txBody>
      </p:sp>
      <p:sp>
        <p:nvSpPr>
          <p:cNvPr id="16" name="Text Box 15"/>
          <p:cNvSpPr txBox="1">
            <a:spLocks noChangeArrowheads="1"/>
          </p:cNvSpPr>
          <p:nvPr/>
        </p:nvSpPr>
        <p:spPr bwMode="auto">
          <a:xfrm>
            <a:off x="2734209" y="4157725"/>
            <a:ext cx="1800200" cy="338554"/>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en-US" altLang="zh-CN" sz="1600" b="0" i="1" u="none" strike="noStrike" kern="0" cap="none" spc="0" normalizeH="0" baseline="0" noProof="0" dirty="0" smtClean="0">
                <a:ln>
                  <a:noFill/>
                </a:ln>
                <a:solidFill>
                  <a:srgbClr val="000000"/>
                </a:solidFill>
                <a:effectLst/>
                <a:uLnTx/>
                <a:uFillTx/>
                <a:latin typeface="Arial" charset="0"/>
                <a:ea typeface="黑体" pitchFamily="49" charset="-122"/>
              </a:rPr>
              <a:t>A</a:t>
            </a:r>
            <a:r>
              <a:rPr kumimoji="0" lang="en-US" altLang="zh-CN" sz="1600" b="0" i="0" u="none" strike="noStrike" kern="0" cap="none" spc="0" normalizeH="0" baseline="0" noProof="0" dirty="0" smtClean="0">
                <a:ln>
                  <a:noFill/>
                </a:ln>
                <a:solidFill>
                  <a:srgbClr val="000000"/>
                </a:solidFill>
                <a:effectLst/>
                <a:uLnTx/>
                <a:uFillTx/>
                <a:latin typeface="Arial" charset="0"/>
                <a:ea typeface="黑体" pitchFamily="49" charset="-122"/>
              </a:rPr>
              <a:t>—</a:t>
            </a:r>
            <a:r>
              <a:rPr kumimoji="0" lang="zh-CN" altLang="en-US" sz="1600" b="0" i="0" u="none" strike="noStrike" kern="0" cap="none" spc="0" normalizeH="0" baseline="0" noProof="0" dirty="0" smtClean="0">
                <a:ln>
                  <a:noFill/>
                </a:ln>
                <a:solidFill>
                  <a:srgbClr val="000000"/>
                </a:solidFill>
                <a:effectLst/>
                <a:uLnTx/>
                <a:uFillTx/>
                <a:latin typeface="Arial" charset="0"/>
                <a:ea typeface="黑体" pitchFamily="49" charset="-122"/>
              </a:rPr>
              <a:t>移动板的面积</a:t>
            </a:r>
          </a:p>
        </p:txBody>
      </p:sp>
      <p:sp>
        <p:nvSpPr>
          <p:cNvPr id="17" name="Text Box 15"/>
          <p:cNvSpPr txBox="1">
            <a:spLocks noChangeArrowheads="1"/>
          </p:cNvSpPr>
          <p:nvPr/>
        </p:nvSpPr>
        <p:spPr bwMode="auto">
          <a:xfrm>
            <a:off x="4579463" y="4157725"/>
            <a:ext cx="1512167" cy="338554"/>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en-US" altLang="zh-CN" sz="1600" b="0" i="1" u="none" strike="noStrike" kern="0" cap="none" spc="0" normalizeH="0" baseline="0" noProof="0" dirty="0" smtClean="0">
                <a:ln>
                  <a:noFill/>
                </a:ln>
                <a:effectLst/>
                <a:uLnTx/>
                <a:uFillTx/>
                <a:latin typeface="Arial" charset="0"/>
                <a:ea typeface="黑体" pitchFamily="49" charset="-122"/>
              </a:rPr>
              <a:t>du/dy</a:t>
            </a:r>
            <a:r>
              <a:rPr kumimoji="0" lang="en-US" altLang="zh-CN" sz="1600" b="0" i="0" u="none" strike="noStrike" kern="0" cap="none" spc="0" normalizeH="0" baseline="0" noProof="0" dirty="0" smtClean="0">
                <a:ln>
                  <a:noFill/>
                </a:ln>
                <a:effectLst/>
                <a:uLnTx/>
                <a:uFillTx/>
                <a:latin typeface="Arial" charset="0"/>
                <a:ea typeface="黑体" pitchFamily="49" charset="-122"/>
              </a:rPr>
              <a:t>—</a:t>
            </a:r>
            <a:r>
              <a:rPr kumimoji="0" lang="zh-CN" altLang="en-US" sz="1600" b="0" i="0" u="none" strike="noStrike" kern="0" cap="none" spc="0" normalizeH="0" baseline="0" noProof="0" dirty="0" smtClean="0">
                <a:ln>
                  <a:noFill/>
                </a:ln>
                <a:effectLst/>
                <a:uLnTx/>
                <a:uFillTx/>
                <a:latin typeface="Arial" charset="0"/>
                <a:ea typeface="黑体" pitchFamily="49" charset="-122"/>
              </a:rPr>
              <a:t>剪切率</a:t>
            </a:r>
          </a:p>
        </p:txBody>
      </p:sp>
      <p:sp>
        <p:nvSpPr>
          <p:cNvPr id="18" name="Text Box 5"/>
          <p:cNvSpPr txBox="1">
            <a:spLocks noChangeArrowheads="1"/>
          </p:cNvSpPr>
          <p:nvPr/>
        </p:nvSpPr>
        <p:spPr bwMode="auto">
          <a:xfrm>
            <a:off x="667446" y="1640183"/>
            <a:ext cx="4696642" cy="430887"/>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kumimoji="1" lang="zh-CN" altLang="en-US" sz="2200" dirty="0">
                <a:solidFill>
                  <a:srgbClr val="FF0000"/>
                </a:solidFill>
                <a:latin typeface="黑体" panose="02010609060101010101" pitchFamily="49" charset="-122"/>
              </a:rPr>
              <a:t>粘度</a:t>
            </a:r>
            <a:r>
              <a:rPr kumimoji="1" lang="zh-CN" altLang="en-US" sz="2200" dirty="0" smtClean="0">
                <a:solidFill>
                  <a:srgbClr val="FF0000"/>
                </a:solidFill>
                <a:latin typeface="宋体" panose="02010600030101010101" pitchFamily="2" charset="-122"/>
                <a:ea typeface="宋体" panose="02010600030101010101" pitchFamily="2" charset="-122"/>
              </a:rPr>
              <a:t>↑</a:t>
            </a:r>
            <a:r>
              <a:rPr kumimoji="1" lang="en-US" altLang="zh-CN" sz="2200" dirty="0" smtClean="0">
                <a:solidFill>
                  <a:srgbClr val="FF0000"/>
                </a:solidFill>
                <a:latin typeface="黑体" panose="02010609060101010101" pitchFamily="49" charset="-122"/>
              </a:rPr>
              <a:t>—— </a:t>
            </a:r>
            <a:r>
              <a:rPr kumimoji="1" lang="zh-CN" altLang="en-US" sz="2200" dirty="0">
                <a:solidFill>
                  <a:srgbClr val="FF0000"/>
                </a:solidFill>
                <a:latin typeface="黑体" panose="02010609060101010101" pitchFamily="49" charset="-122"/>
              </a:rPr>
              <a:t>摩擦力</a:t>
            </a:r>
            <a:r>
              <a:rPr kumimoji="1" lang="zh-CN" altLang="en-US" sz="2200" dirty="0" smtClean="0">
                <a:solidFill>
                  <a:srgbClr val="FF0000"/>
                </a:solidFill>
                <a:latin typeface="宋体" panose="02010600030101010101" pitchFamily="2" charset="-122"/>
                <a:ea typeface="宋体" panose="02010600030101010101" pitchFamily="2" charset="-122"/>
              </a:rPr>
              <a:t>↑</a:t>
            </a:r>
            <a:r>
              <a:rPr kumimoji="1" lang="en-US" altLang="zh-CN" sz="2200" dirty="0" smtClean="0">
                <a:solidFill>
                  <a:srgbClr val="FF0000"/>
                </a:solidFill>
                <a:latin typeface="黑体" panose="02010609060101010101" pitchFamily="49" charset="-122"/>
              </a:rPr>
              <a:t>—— </a:t>
            </a:r>
            <a:r>
              <a:rPr kumimoji="1" lang="zh-CN" altLang="en-US" sz="2200" dirty="0" smtClean="0">
                <a:solidFill>
                  <a:srgbClr val="FF0000"/>
                </a:solidFill>
                <a:latin typeface="黑体" panose="02010609060101010101" pitchFamily="49" charset="-122"/>
              </a:rPr>
              <a:t>发热</a:t>
            </a:r>
            <a:r>
              <a:rPr kumimoji="1" lang="zh-CN" altLang="en-US" sz="2200" dirty="0">
                <a:solidFill>
                  <a:srgbClr val="FF0000"/>
                </a:solidFill>
                <a:latin typeface="宋体" panose="02010600030101010101" pitchFamily="2" charset="-122"/>
                <a:ea typeface="宋体" panose="02010600030101010101" pitchFamily="2" charset="-122"/>
              </a:rPr>
              <a:t>↑</a:t>
            </a:r>
            <a:r>
              <a:rPr kumimoji="1" lang="zh-CN" altLang="en-US" sz="2200" dirty="0">
                <a:solidFill>
                  <a:srgbClr val="FF0000"/>
                </a:solidFill>
                <a:latin typeface="黑体" panose="02010609060101010101" pitchFamily="49" charset="-122"/>
              </a:rPr>
              <a:t> </a:t>
            </a:r>
          </a:p>
        </p:txBody>
      </p:sp>
      <p:sp>
        <p:nvSpPr>
          <p:cNvPr id="19" name="Text Box 3"/>
          <p:cNvSpPr txBox="1">
            <a:spLocks noChangeArrowheads="1"/>
          </p:cNvSpPr>
          <p:nvPr/>
        </p:nvSpPr>
        <p:spPr bwMode="auto">
          <a:xfrm>
            <a:off x="323528" y="4648960"/>
            <a:ext cx="7257644" cy="498598"/>
          </a:xfrm>
          <a:prstGeom prst="rect">
            <a:avLst/>
          </a:prstGeom>
          <a:noFill/>
          <a:ln>
            <a:noFill/>
          </a:ln>
        </p:spPr>
        <p:txBody>
          <a:bodyPr wrap="square">
            <a:spAutoFit/>
          </a:bodyPr>
          <a:lstStyle>
            <a:lvl1pPr marL="1800225" indent="-1800225"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lnSpc>
                <a:spcPct val="120000"/>
              </a:lnSpc>
            </a:pPr>
            <a:r>
              <a:rPr kumimoji="1" lang="zh-CN" altLang="en-US" sz="2200" dirty="0">
                <a:solidFill>
                  <a:srgbClr val="FF0000"/>
                </a:solidFill>
              </a:rPr>
              <a:t>运动粘度</a:t>
            </a:r>
            <a:r>
              <a:rPr kumimoji="1" lang="zh-CN" altLang="en-US" sz="2200" dirty="0">
                <a:solidFill>
                  <a:srgbClr val="0000FF"/>
                </a:solidFill>
              </a:rPr>
              <a:t>：</a:t>
            </a:r>
            <a:r>
              <a:rPr kumimoji="1" lang="zh-CN" altLang="en-US" sz="2200" dirty="0"/>
              <a:t>同一温度下流体的动力粘度与其密度的</a:t>
            </a:r>
            <a:r>
              <a:rPr kumimoji="1" lang="zh-CN" altLang="en-US" sz="2200" dirty="0" smtClean="0"/>
              <a:t>比值</a:t>
            </a:r>
            <a:endParaRPr kumimoji="1" lang="zh-CN" altLang="en-US" sz="2200" dirty="0"/>
          </a:p>
        </p:txBody>
      </p:sp>
      <p:graphicFrame>
        <p:nvGraphicFramePr>
          <p:cNvPr id="20" name="Object 7"/>
          <p:cNvGraphicFramePr>
            <a:graphicFrameLocks noChangeAspect="1"/>
          </p:cNvGraphicFramePr>
          <p:nvPr>
            <p:extLst>
              <p:ext uri="{D42A27DB-BD31-4B8C-83A1-F6EECF244321}">
                <p14:modId xmlns:p14="http://schemas.microsoft.com/office/powerpoint/2010/main" val="3971020073"/>
              </p:ext>
            </p:extLst>
          </p:nvPr>
        </p:nvGraphicFramePr>
        <p:xfrm>
          <a:off x="7164288" y="4576952"/>
          <a:ext cx="1743356" cy="672876"/>
        </p:xfrm>
        <a:graphic>
          <a:graphicData uri="http://schemas.openxmlformats.org/presentationml/2006/ole">
            <mc:AlternateContent xmlns:mc="http://schemas.openxmlformats.org/markup-compatibility/2006">
              <mc:Choice xmlns:v="urn:schemas-microsoft-com:vml" Requires="v">
                <p:oleObj spid="_x0000_s6044715" name="Equation" r:id="rId9" imgW="1079500" imgH="419100" progId="Equation.DSMT4">
                  <p:embed/>
                </p:oleObj>
              </mc:Choice>
              <mc:Fallback>
                <p:oleObj name="Equation" r:id="rId9" imgW="1079500" imgH="419100" progId="Equation.DSMT4">
                  <p:embed/>
                  <p:pic>
                    <p:nvPicPr>
                      <p:cNvPr id="0" name=""/>
                      <p:cNvPicPr>
                        <a:picLocks noChangeAspect="1" noChangeArrowheads="1"/>
                      </p:cNvPicPr>
                      <p:nvPr/>
                    </p:nvPicPr>
                    <p:blipFill>
                      <a:blip r:embed="rId10"/>
                      <a:srcRect/>
                      <a:stretch>
                        <a:fillRect/>
                      </a:stretch>
                    </p:blipFill>
                    <p:spPr bwMode="auto">
                      <a:xfrm>
                        <a:off x="7164288" y="4576952"/>
                        <a:ext cx="1743356" cy="672876"/>
                      </a:xfrm>
                      <a:prstGeom prst="rect">
                        <a:avLst/>
                      </a:prstGeom>
                      <a:noFill/>
                      <a:ln>
                        <a:noFill/>
                      </a:ln>
                      <a:effectLst/>
                    </p:spPr>
                  </p:pic>
                </p:oleObj>
              </mc:Fallback>
            </mc:AlternateContent>
          </a:graphicData>
        </a:graphic>
      </p:graphicFrame>
      <p:sp>
        <p:nvSpPr>
          <p:cNvPr id="21" name="Text Box 8"/>
          <p:cNvSpPr txBox="1">
            <a:spLocks noChangeArrowheads="1"/>
          </p:cNvSpPr>
          <p:nvPr/>
        </p:nvSpPr>
        <p:spPr bwMode="auto">
          <a:xfrm>
            <a:off x="251520" y="5134063"/>
            <a:ext cx="8151812" cy="498598"/>
          </a:xfrm>
          <a:prstGeom prst="rect">
            <a:avLst/>
          </a:prstGeom>
          <a:no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lnSpc>
                <a:spcPct val="120000"/>
              </a:lnSpc>
            </a:pPr>
            <a:r>
              <a:rPr kumimoji="1" lang="zh-CN" altLang="en-US" sz="2200" dirty="0"/>
              <a:t> 我国工业用润滑油按</a:t>
            </a:r>
            <a:r>
              <a:rPr kumimoji="1" lang="en-US" altLang="zh-CN" sz="2200" dirty="0"/>
              <a:t>40</a:t>
            </a:r>
            <a:r>
              <a:rPr kumimoji="1" lang="en-US" altLang="zh-CN" sz="2200" dirty="0">
                <a:cs typeface="Times New Roman" pitchFamily="18" charset="0"/>
              </a:rPr>
              <a:t>ºC</a:t>
            </a:r>
            <a:r>
              <a:rPr kumimoji="1" lang="zh-CN" altLang="en-US" sz="2200" dirty="0">
                <a:cs typeface="Times New Roman" pitchFamily="18" charset="0"/>
              </a:rPr>
              <a:t>时的</a:t>
            </a:r>
            <a:r>
              <a:rPr kumimoji="1" lang="zh-CN" altLang="en-US" sz="2200" dirty="0">
                <a:solidFill>
                  <a:srgbClr val="0000FF"/>
                </a:solidFill>
                <a:cs typeface="Times New Roman" pitchFamily="18" charset="0"/>
              </a:rPr>
              <a:t>运动粘度</a:t>
            </a:r>
            <a:r>
              <a:rPr kumimoji="1" lang="el-GR" altLang="zh-CN" sz="2200" i="1" dirty="0">
                <a:latin typeface="Academy Engraved LET" pitchFamily="2" charset="0"/>
              </a:rPr>
              <a:t>ν</a:t>
            </a:r>
            <a:r>
              <a:rPr kumimoji="1" lang="en-US" altLang="zh-CN" sz="2200" baseline="-25000" dirty="0" smtClean="0">
                <a:ea typeface="华文中宋" pitchFamily="2" charset="-122"/>
              </a:rPr>
              <a:t>40 </a:t>
            </a:r>
            <a:r>
              <a:rPr kumimoji="1" lang="zh-CN" altLang="en-US" sz="2200" dirty="0" smtClean="0">
                <a:latin typeface="Times New Roman" pitchFamily="18" charset="0"/>
              </a:rPr>
              <a:t>划分</a:t>
            </a:r>
            <a:r>
              <a:rPr kumimoji="1" lang="zh-CN" altLang="en-US" sz="2200" dirty="0">
                <a:latin typeface="Times New Roman" pitchFamily="18" charset="0"/>
              </a:rPr>
              <a:t>粘度等级。</a:t>
            </a:r>
            <a:endParaRPr kumimoji="1" lang="zh-CN" altLang="el-GR" sz="2200" dirty="0">
              <a:latin typeface="Times New Roman" pitchFamily="18" charset="0"/>
            </a:endParaRPr>
          </a:p>
        </p:txBody>
      </p:sp>
    </p:spTree>
    <p:extLst>
      <p:ext uri="{BB962C8B-B14F-4D97-AF65-F5344CB8AC3E}">
        <p14:creationId xmlns:p14="http://schemas.microsoft.com/office/powerpoint/2010/main" val="198563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par>
                                <p:cTn id="13" presetID="16" presetClass="entr" presetSubtype="21"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inVertical)">
                                      <p:cBhvr>
                                        <p:cTn id="21" dur="500"/>
                                        <p:tgtEl>
                                          <p:spTgt spid="11"/>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checkerboard(across)">
                                      <p:cBhvr>
                                        <p:cTn id="24" dur="500"/>
                                        <p:tgtEl>
                                          <p:spTgt spid="15"/>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heckerboard(across)">
                                      <p:cBhvr>
                                        <p:cTn id="27" dur="500"/>
                                        <p:tgtEl>
                                          <p:spTgt spid="16"/>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checkerboard(across)">
                                      <p:cBhvr>
                                        <p:cTn id="30" dur="500"/>
                                        <p:tgtEl>
                                          <p:spTgt spid="14"/>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checkerboard(across)">
                                      <p:cBhvr>
                                        <p:cTn id="33" dur="500"/>
                                        <p:tgtEl>
                                          <p:spTgt spid="17"/>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checkerboard(across)">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checkerboard(across)">
                                      <p:cBhvr>
                                        <p:cTn id="41" dur="500"/>
                                        <p:tgtEl>
                                          <p:spTgt spid="19"/>
                                        </p:tgtEl>
                                      </p:cBhvr>
                                    </p:animEffect>
                                  </p:childTnLst>
                                </p:cTn>
                              </p:par>
                              <p:par>
                                <p:cTn id="42" presetID="5" presetClass="entr" presetSubtype="1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checkerboard(across)">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checkerboard(across)">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4" grpId="0"/>
      <p:bldP spid="15" grpId="0"/>
      <p:bldP spid="16" grpId="0"/>
      <p:bldP spid="17" grpId="0"/>
      <p:bldP spid="18" grpId="0"/>
      <p:bldP spid="19"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ChangeArrowheads="1"/>
          </p:cNvSpPr>
          <p:nvPr/>
        </p:nvSpPr>
        <p:spPr bwMode="auto">
          <a:xfrm>
            <a:off x="251520" y="553244"/>
            <a:ext cx="4896544" cy="464743"/>
          </a:xfrm>
          <a:prstGeom prst="rect">
            <a:avLst/>
          </a:prstGeom>
          <a:noFill/>
          <a:ln w="9525" algn="ctr">
            <a:noFill/>
            <a:miter lim="800000"/>
          </a:ln>
          <a:effectLst/>
        </p:spPr>
        <p:txBody>
          <a:bodyPr wrap="square">
            <a:spAutoFit/>
          </a:bodyPr>
          <a:lstStyle/>
          <a:p>
            <a:pPr algn="just">
              <a:lnSpc>
                <a:spcPct val="110000"/>
              </a:lnSpc>
              <a:spcBef>
                <a:spcPct val="50000"/>
              </a:spcBef>
              <a:buClr>
                <a:srgbClr val="C00000"/>
              </a:buClr>
            </a:pPr>
            <a:r>
              <a:rPr lang="en-US" altLang="zh-CN" sz="2200" kern="0" dirty="0" smtClean="0">
                <a:solidFill>
                  <a:srgbClr val="FF0000"/>
                </a:solidFill>
                <a:latin typeface="黑体" panose="02010609060101010101" pitchFamily="49" charset="-122"/>
                <a:ea typeface="黑体" panose="02010609060101010101" pitchFamily="49" charset="-122"/>
              </a:rPr>
              <a:t>1</a:t>
            </a:r>
            <a:r>
              <a:rPr lang="zh-CN" altLang="en-US" sz="2200" kern="0" dirty="0" smtClean="0">
                <a:solidFill>
                  <a:srgbClr val="FF0000"/>
                </a:solidFill>
                <a:latin typeface="黑体" panose="02010609060101010101" pitchFamily="49" charset="-122"/>
                <a:ea typeface="黑体" panose="02010609060101010101" pitchFamily="49" charset="-122"/>
              </a:rPr>
              <a:t>）温度对粘度的</a:t>
            </a:r>
            <a:r>
              <a:rPr lang="zh-CN" altLang="en-US" sz="2200" kern="0" dirty="0" smtClean="0">
                <a:solidFill>
                  <a:srgbClr val="FF0000"/>
                </a:solidFill>
                <a:latin typeface="黑体" panose="02010609060101010101" pitchFamily="49" charset="-122"/>
                <a:ea typeface="黑体" panose="02010609060101010101" pitchFamily="49" charset="-122"/>
              </a:rPr>
              <a:t>影响</a:t>
            </a:r>
            <a:r>
              <a:rPr lang="en-US" altLang="zh-CN" sz="2200" kern="0" dirty="0" smtClean="0">
                <a:solidFill>
                  <a:srgbClr val="FF0000"/>
                </a:solidFill>
                <a:latin typeface="黑体" panose="02010609060101010101" pitchFamily="49" charset="-122"/>
                <a:ea typeface="黑体" panose="02010609060101010101" pitchFamily="49" charset="-122"/>
              </a:rPr>
              <a:t>——</a:t>
            </a:r>
            <a:r>
              <a:rPr lang="zh-CN" altLang="en-US" sz="2200" kern="0" dirty="0" smtClean="0">
                <a:solidFill>
                  <a:srgbClr val="FF0000"/>
                </a:solidFill>
                <a:latin typeface="黑体" panose="02010609060101010101" pitchFamily="49" charset="-122"/>
                <a:ea typeface="黑体" panose="02010609060101010101" pitchFamily="49" charset="-122"/>
              </a:rPr>
              <a:t>粘温效应</a:t>
            </a:r>
            <a:endParaRPr lang="zh-CN" altLang="en-US" sz="2200" dirty="0">
              <a:latin typeface="黑体" panose="02010609060101010101" pitchFamily="49" charset="-122"/>
              <a:ea typeface="黑体" panose="02010609060101010101" pitchFamily="49" charset="-122"/>
            </a:endParaRPr>
          </a:p>
        </p:txBody>
      </p:sp>
      <p:sp>
        <p:nvSpPr>
          <p:cNvPr id="5" name="单圆角矩形 4"/>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润滑油的主要性能指标</a:t>
            </a:r>
            <a:endParaRPr lang="zh-CN" altLang="en-US" sz="1500" dirty="0">
              <a:solidFill>
                <a:srgbClr val="FF6600"/>
              </a:solidFill>
            </a:endParaRPr>
          </a:p>
        </p:txBody>
      </p:sp>
      <p:sp>
        <p:nvSpPr>
          <p:cNvPr id="6" name="直角三角形 5"/>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 Box 5"/>
          <p:cNvSpPr txBox="1">
            <a:spLocks noChangeArrowheads="1"/>
          </p:cNvSpPr>
          <p:nvPr/>
        </p:nvSpPr>
        <p:spPr bwMode="auto">
          <a:xfrm>
            <a:off x="467544" y="1059952"/>
            <a:ext cx="8280920" cy="458202"/>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algn="just" eaLnBrk="1" hangingPunct="1">
              <a:lnSpc>
                <a:spcPct val="120000"/>
              </a:lnSpc>
            </a:pPr>
            <a:r>
              <a:rPr kumimoji="1" lang="zh-CN" altLang="en-US" sz="2200" dirty="0" smtClean="0"/>
              <a:t>温度</a:t>
            </a:r>
            <a:r>
              <a:rPr kumimoji="1" lang="zh-CN" altLang="en-US" sz="2200" dirty="0" smtClean="0">
                <a:solidFill>
                  <a:srgbClr val="FF0000"/>
                </a:solidFill>
                <a:latin typeface="宋体" panose="02010600030101010101" pitchFamily="2" charset="-122"/>
                <a:ea typeface="宋体" panose="02010600030101010101" pitchFamily="2" charset="-122"/>
              </a:rPr>
              <a:t>↑</a:t>
            </a:r>
            <a:r>
              <a:rPr kumimoji="1" lang="zh-CN" altLang="en-US" sz="2200" dirty="0" smtClean="0">
                <a:latin typeface="宋体" panose="02010600030101010101" pitchFamily="2" charset="-122"/>
                <a:ea typeface="宋体" panose="02010600030101010101" pitchFamily="2" charset="-122"/>
              </a:rPr>
              <a:t>→ </a:t>
            </a:r>
            <a:r>
              <a:rPr kumimoji="1" lang="zh-CN" altLang="en-US" sz="2200" dirty="0" smtClean="0"/>
              <a:t>润滑油内能</a:t>
            </a:r>
            <a:r>
              <a:rPr kumimoji="1" lang="zh-CN" altLang="en-US" sz="2200" dirty="0" smtClean="0">
                <a:solidFill>
                  <a:srgbClr val="FF0000"/>
                </a:solidFill>
                <a:latin typeface="宋体" panose="02010600030101010101" pitchFamily="2" charset="-122"/>
                <a:ea typeface="宋体" panose="02010600030101010101" pitchFamily="2" charset="-122"/>
              </a:rPr>
              <a:t>↑</a:t>
            </a:r>
            <a:r>
              <a:rPr kumimoji="1" lang="zh-CN" altLang="en-US" sz="2200" dirty="0" smtClean="0">
                <a:latin typeface="宋体" panose="02010600030101010101" pitchFamily="2" charset="-122"/>
                <a:ea typeface="宋体" panose="02010600030101010101" pitchFamily="2" charset="-122"/>
              </a:rPr>
              <a:t>→ </a:t>
            </a:r>
            <a:r>
              <a:rPr kumimoji="1" lang="zh-CN" altLang="en-US" sz="2200" dirty="0" smtClean="0"/>
              <a:t>分子间距离</a:t>
            </a:r>
            <a:r>
              <a:rPr kumimoji="1" lang="zh-CN" altLang="en-US" sz="2200" dirty="0">
                <a:solidFill>
                  <a:srgbClr val="FF0000"/>
                </a:solidFill>
                <a:latin typeface="宋体" panose="02010600030101010101" pitchFamily="2" charset="-122"/>
                <a:ea typeface="宋体" panose="02010600030101010101" pitchFamily="2" charset="-122"/>
              </a:rPr>
              <a:t>↑</a:t>
            </a:r>
            <a:r>
              <a:rPr kumimoji="1" lang="zh-CN" altLang="en-US" sz="2200" dirty="0" smtClean="0"/>
              <a:t>，吸引力</a:t>
            </a:r>
            <a:r>
              <a:rPr kumimoji="1" lang="zh-CN" altLang="en-US" sz="2200" dirty="0" smtClean="0">
                <a:solidFill>
                  <a:srgbClr val="FF0000"/>
                </a:solidFill>
                <a:latin typeface="宋体" panose="02010600030101010101" pitchFamily="2" charset="-122"/>
                <a:ea typeface="宋体" panose="02010600030101010101" pitchFamily="2" charset="-122"/>
              </a:rPr>
              <a:t>↓</a:t>
            </a:r>
            <a:r>
              <a:rPr kumimoji="1" lang="zh-CN" altLang="en-US" sz="2200" dirty="0" smtClean="0">
                <a:latin typeface="宋体" panose="02010600030101010101" pitchFamily="2" charset="-122"/>
                <a:ea typeface="宋体" panose="02010600030101010101" pitchFamily="2" charset="-122"/>
              </a:rPr>
              <a:t>→ </a:t>
            </a:r>
            <a:r>
              <a:rPr kumimoji="1" lang="zh-CN" altLang="en-US" sz="2200" dirty="0" smtClean="0"/>
              <a:t>粘度</a:t>
            </a:r>
            <a:r>
              <a:rPr kumimoji="1" lang="zh-CN" altLang="en-US" sz="2200" dirty="0" smtClean="0">
                <a:solidFill>
                  <a:srgbClr val="FF0000"/>
                </a:solidFill>
                <a:latin typeface="宋体" panose="02010600030101010101" pitchFamily="2" charset="-122"/>
                <a:ea typeface="宋体" panose="02010600030101010101" pitchFamily="2" charset="-122"/>
              </a:rPr>
              <a:t>↓</a:t>
            </a:r>
            <a:endParaRPr kumimoji="1" lang="zh-CN" altLang="en-US" sz="2200" dirty="0">
              <a:solidFill>
                <a:srgbClr val="FF0000"/>
              </a:solidFill>
            </a:endParaRPr>
          </a:p>
        </p:txBody>
      </p:sp>
      <p:grpSp>
        <p:nvGrpSpPr>
          <p:cNvPr id="11" name="组合 10"/>
          <p:cNvGrpSpPr/>
          <p:nvPr/>
        </p:nvGrpSpPr>
        <p:grpSpPr>
          <a:xfrm>
            <a:off x="6104871" y="1755958"/>
            <a:ext cx="2670397" cy="1535947"/>
            <a:chOff x="5842359" y="1723566"/>
            <a:chExt cx="2670397" cy="1535947"/>
          </a:xfrm>
        </p:grpSpPr>
        <p:pic>
          <p:nvPicPr>
            <p:cNvPr id="8" name="图片 11" descr="6.png"/>
            <p:cNvPicPr>
              <a:picLocks noChangeAspect="1"/>
            </p:cNvPicPr>
            <p:nvPr/>
          </p:nvPicPr>
          <p:blipFill>
            <a:blip r:embed="rId3"/>
            <a:srcRect/>
            <a:stretch>
              <a:fillRect/>
            </a:stretch>
          </p:blipFill>
          <p:spPr bwMode="auto">
            <a:xfrm>
              <a:off x="5842359" y="1723566"/>
              <a:ext cx="2670397" cy="1535947"/>
            </a:xfrm>
            <a:prstGeom prst="rect">
              <a:avLst/>
            </a:prstGeom>
            <a:noFill/>
            <a:ln>
              <a:noFill/>
            </a:ln>
          </p:spPr>
        </p:pic>
        <p:sp>
          <p:nvSpPr>
            <p:cNvPr id="9" name="Text Box 13"/>
            <p:cNvSpPr txBox="1">
              <a:spLocks noChangeArrowheads="1"/>
            </p:cNvSpPr>
            <p:nvPr/>
          </p:nvSpPr>
          <p:spPr bwMode="auto">
            <a:xfrm>
              <a:off x="7000588" y="1750200"/>
              <a:ext cx="1107996" cy="369332"/>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kumimoji="1" lang="zh-CN" altLang="en-US" sz="1800" dirty="0" smtClean="0">
                  <a:solidFill>
                    <a:srgbClr val="0000FF"/>
                  </a:solidFill>
                </a:rPr>
                <a:t>粘温曲线</a:t>
              </a:r>
              <a:endParaRPr kumimoji="1" lang="zh-CN" altLang="en-US" sz="1800" dirty="0">
                <a:solidFill>
                  <a:srgbClr val="0000FF"/>
                </a:solidFill>
              </a:endParaRPr>
            </a:p>
          </p:txBody>
        </p:sp>
      </p:grpSp>
      <p:sp>
        <p:nvSpPr>
          <p:cNvPr id="10" name="Text Box 2"/>
          <p:cNvSpPr txBox="1">
            <a:spLocks noChangeArrowheads="1"/>
          </p:cNvSpPr>
          <p:nvPr/>
        </p:nvSpPr>
        <p:spPr bwMode="auto">
          <a:xfrm>
            <a:off x="251520" y="1705372"/>
            <a:ext cx="5664717" cy="1209562"/>
          </a:xfrm>
          <a:prstGeom prst="rect">
            <a:avLst/>
          </a:prstGeom>
          <a:noFill/>
          <a:ln w="9525" algn="ctr">
            <a:noFill/>
            <a:miter lim="800000"/>
          </a:ln>
          <a:effectLst/>
        </p:spPr>
        <p:txBody>
          <a:bodyPr wrap="square">
            <a:spAutoFit/>
          </a:bodyPr>
          <a:lstStyle>
            <a:defPPr>
              <a:defRPr lang="zh-CN"/>
            </a:defPPr>
            <a:lvl1pPr algn="just">
              <a:lnSpc>
                <a:spcPct val="110000"/>
              </a:lnSpc>
              <a:spcBef>
                <a:spcPct val="50000"/>
              </a:spcBef>
              <a:buClr>
                <a:srgbClr val="C00000"/>
              </a:buClr>
              <a:defRPr sz="2200" kern="0">
                <a:solidFill>
                  <a:srgbClr val="FF0000"/>
                </a:solidFill>
                <a:latin typeface="黑体" panose="02010609060101010101" pitchFamily="49" charset="-122"/>
                <a:ea typeface="黑体" panose="02010609060101010101" pitchFamily="49" charset="-122"/>
              </a:defRPr>
            </a:lvl1pPr>
          </a:lstStyle>
          <a:p>
            <a:r>
              <a:rPr lang="en-US" altLang="zh-CN" dirty="0" smtClean="0"/>
              <a:t>2) </a:t>
            </a:r>
            <a:r>
              <a:rPr lang="zh-CN" altLang="en-US" dirty="0"/>
              <a:t>粘度指数</a:t>
            </a:r>
            <a:r>
              <a:rPr lang="en-US" altLang="zh-CN" dirty="0"/>
              <a:t>VI</a:t>
            </a:r>
            <a:r>
              <a:rPr lang="en-US" altLang="zh-CN" dirty="0" smtClean="0"/>
              <a:t>——</a:t>
            </a:r>
            <a:r>
              <a:rPr lang="zh-CN" altLang="en-US" dirty="0" smtClean="0">
                <a:solidFill>
                  <a:schemeClr val="tx1"/>
                </a:solidFill>
              </a:rPr>
              <a:t>应用最广泛的粘温性能指标。它是通过与标准油粘温特性比较而得出的评定结果。</a:t>
            </a:r>
            <a:endParaRPr lang="zh-CN" altLang="en-US" dirty="0">
              <a:solidFill>
                <a:schemeClr val="tx1"/>
              </a:solidFill>
            </a:endParaRPr>
          </a:p>
        </p:txBody>
      </p:sp>
      <p:grpSp>
        <p:nvGrpSpPr>
          <p:cNvPr id="18" name="组合 17"/>
          <p:cNvGrpSpPr/>
          <p:nvPr/>
        </p:nvGrpSpPr>
        <p:grpSpPr>
          <a:xfrm>
            <a:off x="5484189" y="3353398"/>
            <a:ext cx="3408291" cy="2182912"/>
            <a:chOff x="1043608" y="2969220"/>
            <a:chExt cx="3408291" cy="2182912"/>
          </a:xfrm>
        </p:grpSpPr>
        <p:grpSp>
          <p:nvGrpSpPr>
            <p:cNvPr id="12" name="组合 17"/>
            <p:cNvGrpSpPr/>
            <p:nvPr/>
          </p:nvGrpSpPr>
          <p:grpSpPr bwMode="auto">
            <a:xfrm>
              <a:off x="1043608" y="3145532"/>
              <a:ext cx="3408291" cy="2006600"/>
              <a:chOff x="5620522" y="1851259"/>
              <a:chExt cx="3383832" cy="1944584"/>
            </a:xfrm>
          </p:grpSpPr>
          <p:grpSp>
            <p:nvGrpSpPr>
              <p:cNvPr id="13" name="组合 15"/>
              <p:cNvGrpSpPr/>
              <p:nvPr/>
            </p:nvGrpSpPr>
            <p:grpSpPr bwMode="auto">
              <a:xfrm>
                <a:off x="5620522" y="1851259"/>
                <a:ext cx="3383832" cy="1944584"/>
                <a:chOff x="5620522" y="1851259"/>
                <a:chExt cx="3383832" cy="1944584"/>
              </a:xfrm>
            </p:grpSpPr>
            <p:pic>
              <p:nvPicPr>
                <p:cNvPr id="15" name="图片 10" descr="8.png"/>
                <p:cNvPicPr>
                  <a:picLocks noChangeAspect="1"/>
                </p:cNvPicPr>
                <p:nvPr/>
              </p:nvPicPr>
              <p:blipFill>
                <a:blip r:embed="rId4"/>
                <a:srcRect/>
                <a:stretch>
                  <a:fillRect/>
                </a:stretch>
              </p:blipFill>
              <p:spPr bwMode="auto">
                <a:xfrm>
                  <a:off x="5620522" y="1851259"/>
                  <a:ext cx="3383832" cy="1944584"/>
                </a:xfrm>
                <a:prstGeom prst="rect">
                  <a:avLst/>
                </a:prstGeom>
                <a:noFill/>
                <a:ln>
                  <a:noFill/>
                </a:ln>
              </p:spPr>
            </p:pic>
            <p:sp>
              <p:nvSpPr>
                <p:cNvPr id="16" name="TextBox 14"/>
                <p:cNvSpPr txBox="1">
                  <a:spLocks noChangeArrowheads="1"/>
                </p:cNvSpPr>
                <p:nvPr/>
              </p:nvSpPr>
              <p:spPr bwMode="auto">
                <a:xfrm>
                  <a:off x="8025077" y="2825719"/>
                  <a:ext cx="862906" cy="507049"/>
                </a:xfrm>
                <a:prstGeom prst="rect">
                  <a:avLst/>
                </a:prstGeom>
                <a:noFill/>
                <a:ln w="9525">
                  <a:solidFill>
                    <a:srgbClr val="FF0000"/>
                  </a:solidFill>
                  <a:miter lim="800000"/>
                  <a:headEnd/>
                  <a:tailEnd/>
                </a:ln>
              </p:spPr>
              <p:txBody>
                <a:bodyPr wrap="square" lIns="54000" rIns="54000">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pPr>
                  <a:r>
                    <a:rPr kumimoji="0" lang="zh-CN" altLang="en-US" sz="1400" b="0" i="0" u="none" strike="noStrike" kern="0" cap="none" spc="0" normalizeH="0" baseline="0" noProof="0" dirty="0" smtClean="0">
                      <a:ln>
                        <a:noFill/>
                      </a:ln>
                      <a:solidFill>
                        <a:srgbClr val="000000"/>
                      </a:solidFill>
                      <a:effectLst/>
                      <a:uLnTx/>
                      <a:uFillTx/>
                      <a:latin typeface="Arial" charset="0"/>
                      <a:ea typeface="黑体" pitchFamily="49" charset="-122"/>
                    </a:rPr>
                    <a:t>粘温性优异的油</a:t>
                  </a:r>
                </a:p>
              </p:txBody>
            </p:sp>
          </p:grpSp>
          <p:sp>
            <p:nvSpPr>
              <p:cNvPr id="14" name="TextBox 16"/>
              <p:cNvSpPr txBox="1">
                <a:spLocks noChangeArrowheads="1"/>
              </p:cNvSpPr>
              <p:nvPr/>
            </p:nvSpPr>
            <p:spPr bwMode="auto">
              <a:xfrm>
                <a:off x="8025078" y="2039968"/>
                <a:ext cx="862906" cy="507049"/>
              </a:xfrm>
              <a:prstGeom prst="rect">
                <a:avLst/>
              </a:prstGeom>
              <a:noFill/>
              <a:ln w="9525">
                <a:solidFill>
                  <a:srgbClr val="FF0000"/>
                </a:solidFill>
                <a:miter lim="800000"/>
                <a:headEnd/>
                <a:tailEnd/>
              </a:ln>
            </p:spPr>
            <p:txBody>
              <a:bodyPr wrap="square" lIns="54000" rIns="54000">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pPr>
                <a:r>
                  <a:rPr kumimoji="0" lang="zh-CN" altLang="en-US" sz="1400" b="0" i="0" u="none" strike="noStrike" kern="0" cap="none" spc="0" normalizeH="0" baseline="0" noProof="0" dirty="0" smtClean="0">
                    <a:ln>
                      <a:noFill/>
                    </a:ln>
                    <a:solidFill>
                      <a:srgbClr val="000000"/>
                    </a:solidFill>
                    <a:effectLst/>
                    <a:uLnTx/>
                    <a:uFillTx/>
                    <a:latin typeface="Arial" charset="0"/>
                    <a:ea typeface="黑体" pitchFamily="49" charset="-122"/>
                  </a:rPr>
                  <a:t>粘温性很差的油</a:t>
                </a:r>
              </a:p>
            </p:txBody>
          </p:sp>
        </p:grpSp>
        <p:graphicFrame>
          <p:nvGraphicFramePr>
            <p:cNvPr id="17" name="Object 11"/>
            <p:cNvGraphicFramePr>
              <a:graphicFrameLocks noChangeAspect="1"/>
            </p:cNvGraphicFramePr>
            <p:nvPr>
              <p:extLst>
                <p:ext uri="{D42A27DB-BD31-4B8C-83A1-F6EECF244321}">
                  <p14:modId xmlns:p14="http://schemas.microsoft.com/office/powerpoint/2010/main" val="343062245"/>
                </p:ext>
              </p:extLst>
            </p:nvPr>
          </p:nvGraphicFramePr>
          <p:xfrm>
            <a:off x="1475656" y="2969220"/>
            <a:ext cx="152400" cy="166688"/>
          </p:xfrm>
          <a:graphic>
            <a:graphicData uri="http://schemas.openxmlformats.org/presentationml/2006/ole">
              <mc:AlternateContent xmlns:mc="http://schemas.openxmlformats.org/markup-compatibility/2006">
                <mc:Choice xmlns:v="urn:schemas-microsoft-com:vml" Requires="v">
                  <p:oleObj spid="_x0000_s6045732" name="Equation" r:id="rId5" imgW="126835" imgH="139518" progId="Equation.DSMT4">
                    <p:embed/>
                  </p:oleObj>
                </mc:Choice>
                <mc:Fallback>
                  <p:oleObj name="Equation" r:id="rId5" imgW="126835" imgH="139518" progId="Equation.DSMT4">
                    <p:embed/>
                    <p:pic>
                      <p:nvPicPr>
                        <p:cNvPr id="0" name=""/>
                        <p:cNvPicPr>
                          <a:picLocks noChangeAspect="1" noChangeArrowheads="1"/>
                        </p:cNvPicPr>
                        <p:nvPr/>
                      </p:nvPicPr>
                      <p:blipFill>
                        <a:blip r:embed="rId6"/>
                        <a:srcRect/>
                        <a:stretch>
                          <a:fillRect/>
                        </a:stretch>
                      </p:blipFill>
                      <p:spPr bwMode="auto">
                        <a:xfrm>
                          <a:off x="1475656" y="2969220"/>
                          <a:ext cx="152400" cy="166688"/>
                        </a:xfrm>
                        <a:prstGeom prst="rect">
                          <a:avLst/>
                        </a:prstGeom>
                        <a:noFill/>
                        <a:ln>
                          <a:noFill/>
                        </a:ln>
                        <a:effectLst/>
                      </p:spPr>
                    </p:pic>
                  </p:oleObj>
                </mc:Fallback>
              </mc:AlternateContent>
            </a:graphicData>
          </a:graphic>
        </p:graphicFrame>
      </p:grpSp>
      <p:graphicFrame>
        <p:nvGraphicFramePr>
          <p:cNvPr id="20" name="Object 8"/>
          <p:cNvGraphicFramePr>
            <a:graphicFrameLocks noChangeAspect="1"/>
          </p:cNvGraphicFramePr>
          <p:nvPr>
            <p:extLst>
              <p:ext uri="{D42A27DB-BD31-4B8C-83A1-F6EECF244321}">
                <p14:modId xmlns:p14="http://schemas.microsoft.com/office/powerpoint/2010/main" val="4174603689"/>
              </p:ext>
            </p:extLst>
          </p:nvPr>
        </p:nvGraphicFramePr>
        <p:xfrm>
          <a:off x="971600" y="3041018"/>
          <a:ext cx="3672408" cy="1040618"/>
        </p:xfrm>
        <a:graphic>
          <a:graphicData uri="http://schemas.openxmlformats.org/presentationml/2006/ole">
            <mc:AlternateContent xmlns:mc="http://schemas.openxmlformats.org/markup-compatibility/2006">
              <mc:Choice xmlns:v="urn:schemas-microsoft-com:vml" Requires="v">
                <p:oleObj spid="_x0000_s6045733" name="Equation" r:id="rId7" imgW="1916868" imgH="634725" progId="Equation.DSMT4">
                  <p:embed/>
                </p:oleObj>
              </mc:Choice>
              <mc:Fallback>
                <p:oleObj name="Equation" r:id="rId7" imgW="1916868" imgH="634725" progId="Equation.DSMT4">
                  <p:embed/>
                  <p:pic>
                    <p:nvPicPr>
                      <p:cNvPr id="0" name=""/>
                      <p:cNvPicPr>
                        <a:picLocks noChangeAspect="1" noChangeArrowheads="1"/>
                      </p:cNvPicPr>
                      <p:nvPr/>
                    </p:nvPicPr>
                    <p:blipFill>
                      <a:blip r:embed="rId8"/>
                      <a:srcRect/>
                      <a:stretch>
                        <a:fillRect/>
                      </a:stretch>
                    </p:blipFill>
                    <p:spPr bwMode="auto">
                      <a:xfrm>
                        <a:off x="971600" y="3041018"/>
                        <a:ext cx="3672408" cy="1040618"/>
                      </a:xfrm>
                      <a:prstGeom prst="rect">
                        <a:avLst/>
                      </a:prstGeom>
                      <a:noFill/>
                      <a:ln>
                        <a:noFill/>
                      </a:ln>
                      <a:effectLst/>
                    </p:spPr>
                  </p:pic>
                </p:oleObj>
              </mc:Fallback>
            </mc:AlternateContent>
          </a:graphicData>
        </a:graphic>
      </p:graphicFrame>
      <p:sp>
        <p:nvSpPr>
          <p:cNvPr id="21" name="Text Box 7"/>
          <p:cNvSpPr txBox="1">
            <a:spLocks noChangeArrowheads="1"/>
          </p:cNvSpPr>
          <p:nvPr/>
        </p:nvSpPr>
        <p:spPr bwMode="auto">
          <a:xfrm>
            <a:off x="426466" y="4247657"/>
            <a:ext cx="5369670" cy="488315"/>
          </a:xfrm>
          <a:prstGeom prst="rect">
            <a:avLst/>
          </a:prstGeom>
          <a:noFill/>
          <a:ln>
            <a:noFill/>
          </a:ln>
        </p:spPr>
        <p:txBody>
          <a:bodyPr wrap="square">
            <a:spAutoFit/>
          </a:bodyPr>
          <a:lstStyle>
            <a:lvl1pPr marL="2155825" indent="-2155825"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2155825" marR="0" lvl="0" indent="-2155825" defTabSz="914400" eaLnBrk="1" fontAlgn="auto" latinLnBrk="0" hangingPunct="1">
              <a:lnSpc>
                <a:spcPct val="125000"/>
              </a:lnSpc>
              <a:spcBef>
                <a:spcPts val="0"/>
              </a:spcBef>
              <a:spcAft>
                <a:spcPts val="0"/>
              </a:spcAft>
              <a:buClrTx/>
              <a:buSzTx/>
              <a:buFontTx/>
              <a:buNone/>
            </a:pPr>
            <a:r>
              <a:rPr kumimoji="1" lang="en-US" altLang="zh-CN" sz="2200" b="0" i="0" u="none" strike="noStrike" kern="0" cap="none" spc="0" normalizeH="0" baseline="0" noProof="0" dirty="0" smtClean="0">
                <a:ln>
                  <a:noFill/>
                </a:ln>
                <a:solidFill>
                  <a:srgbClr val="0000FF"/>
                </a:solidFill>
                <a:effectLst/>
                <a:uLnTx/>
                <a:uFillTx/>
                <a:latin typeface="Arial" charset="0"/>
                <a:ea typeface="黑体" pitchFamily="49" charset="-122"/>
              </a:rPr>
              <a:t>VI</a:t>
            </a:r>
            <a:r>
              <a:rPr kumimoji="1" lang="en-US" altLang="zh-CN" sz="2200" b="0"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a:t>
            </a:r>
            <a:r>
              <a:rPr kumimoji="1" lang="en-US" altLang="zh-CN" sz="2200" b="0" i="0" u="none" strike="noStrike" kern="0" cap="none" spc="0" normalizeH="0" baseline="0" noProof="0" dirty="0" smtClean="0">
                <a:ln>
                  <a:noFill/>
                </a:ln>
                <a:solidFill>
                  <a:srgbClr val="0000FF"/>
                </a:solidFill>
                <a:effectLst/>
                <a:uLnTx/>
                <a:uFillTx/>
                <a:latin typeface="Arial" charset="0"/>
                <a:ea typeface="黑体" pitchFamily="49" charset="-122"/>
              </a:rPr>
              <a:t> </a:t>
            </a:r>
            <a:r>
              <a:rPr kumimoji="1" lang="en-US" altLang="zh-CN" sz="2200" b="0" i="0" u="none" strike="noStrike" kern="0" cap="none" spc="0" normalizeH="0" baseline="0" noProof="0" dirty="0" smtClean="0">
                <a:ln>
                  <a:noFill/>
                </a:ln>
                <a:effectLst/>
                <a:uLnTx/>
                <a:uFillTx/>
                <a:latin typeface="Arial" charset="0"/>
                <a:ea typeface="黑体" pitchFamily="49" charset="-122"/>
              </a:rPr>
              <a:t>→</a:t>
            </a:r>
            <a:r>
              <a:rPr kumimoji="1" lang="en-US" altLang="zh-CN" sz="2200" b="0" i="0" u="none" strike="noStrike" kern="0" cap="none" spc="0" normalizeH="0" baseline="0" noProof="0" dirty="0" smtClean="0">
                <a:ln>
                  <a:noFill/>
                </a:ln>
                <a:solidFill>
                  <a:srgbClr val="0000FF"/>
                </a:solidFill>
                <a:effectLst/>
                <a:uLnTx/>
                <a:uFillTx/>
                <a:latin typeface="Arial" charset="0"/>
                <a:ea typeface="黑体" pitchFamily="49" charset="-122"/>
              </a:rPr>
              <a:t> </a:t>
            </a:r>
            <a:r>
              <a:rPr kumimoji="1" lang="zh-CN" altLang="en-US" sz="2200" kern="0" dirty="0" smtClean="0">
                <a:solidFill>
                  <a:srgbClr val="0000FF"/>
                </a:solidFill>
              </a:rPr>
              <a:t>油的粘温变化越大 </a:t>
            </a:r>
            <a:r>
              <a:rPr kumimoji="1" lang="zh-CN" altLang="en-US" sz="2200" kern="0" dirty="0" smtClean="0"/>
              <a:t>→</a:t>
            </a:r>
            <a:r>
              <a:rPr kumimoji="1" lang="zh-CN" altLang="en-US" sz="2200" kern="0" dirty="0" smtClean="0">
                <a:solidFill>
                  <a:srgbClr val="0000FF"/>
                </a:solidFill>
              </a:rPr>
              <a:t> 油品质</a:t>
            </a:r>
            <a:r>
              <a:rPr kumimoji="1" lang="zh-CN" altLang="en-US" sz="2200" kern="0" dirty="0" smtClean="0">
                <a:solidFill>
                  <a:srgbClr val="FF0000"/>
                </a:solidFill>
                <a:latin typeface="宋体" panose="02010600030101010101" pitchFamily="2" charset="-122"/>
                <a:ea typeface="宋体" panose="02010600030101010101" pitchFamily="2" charset="-122"/>
              </a:rPr>
              <a:t>↓</a:t>
            </a:r>
            <a:endParaRPr kumimoji="1" lang="zh-CN" altLang="en-US" sz="2200" b="0" i="0" u="none" strike="noStrike" kern="0" cap="none" spc="0" normalizeH="0" baseline="0" noProof="0" dirty="0" smtClean="0">
              <a:ln>
                <a:noFill/>
              </a:ln>
              <a:solidFill>
                <a:srgbClr val="0000FF"/>
              </a:solidFill>
              <a:effectLst/>
              <a:uLnTx/>
              <a:uFillTx/>
              <a:latin typeface="Arial" charset="0"/>
              <a:ea typeface="黑体" pitchFamily="49" charset="-122"/>
            </a:endParaRPr>
          </a:p>
        </p:txBody>
      </p:sp>
      <p:sp>
        <p:nvSpPr>
          <p:cNvPr id="22" name="TextBox 13"/>
          <p:cNvSpPr txBox="1">
            <a:spLocks noChangeArrowheads="1"/>
          </p:cNvSpPr>
          <p:nvPr/>
        </p:nvSpPr>
        <p:spPr bwMode="auto">
          <a:xfrm>
            <a:off x="467544" y="4976453"/>
            <a:ext cx="4680520" cy="430887"/>
          </a:xfrm>
          <a:prstGeom prst="rect">
            <a:avLst/>
          </a:prstGeom>
          <a:noFill/>
          <a:ln w="9525">
            <a:solidFill>
              <a:srgbClr val="FF0000"/>
            </a:solidFill>
            <a:miter lim="800000"/>
            <a:headEnd/>
            <a:tailEnd/>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pPr>
            <a:r>
              <a:rPr kumimoji="0" lang="en-US" altLang="zh-CN" sz="2200" b="0" i="0" u="none" strike="noStrike" kern="0" cap="none" spc="0" normalizeH="0" baseline="0" noProof="0" dirty="0" smtClean="0">
                <a:ln>
                  <a:noFill/>
                </a:ln>
                <a:solidFill>
                  <a:srgbClr val="000000"/>
                </a:solidFill>
                <a:effectLst/>
                <a:uLnTx/>
                <a:uFillTx/>
                <a:latin typeface="Arial" charset="0"/>
                <a:ea typeface="黑体" pitchFamily="49" charset="-122"/>
              </a:rPr>
              <a:t>VI</a:t>
            </a:r>
            <a:r>
              <a:rPr kumimoji="0" lang="zh-CN" altLang="en-US" sz="2200" b="0" i="0" u="none" strike="noStrike" kern="0" cap="none" spc="0" normalizeH="0" baseline="0" noProof="0" dirty="0" smtClean="0">
                <a:ln>
                  <a:noFill/>
                </a:ln>
                <a:solidFill>
                  <a:srgbClr val="000000"/>
                </a:solidFill>
                <a:effectLst/>
                <a:uLnTx/>
                <a:uFillTx/>
                <a:latin typeface="Arial" charset="0"/>
                <a:ea typeface="黑体" pitchFamily="49" charset="-122"/>
              </a:rPr>
              <a:t>是各种机械设备选油的主要依据。</a:t>
            </a:r>
          </a:p>
        </p:txBody>
      </p:sp>
    </p:spTree>
    <p:extLst>
      <p:ext uri="{BB962C8B-B14F-4D97-AF65-F5344CB8AC3E}">
        <p14:creationId xmlns:p14="http://schemas.microsoft.com/office/powerpoint/2010/main" val="418200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75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75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checkerboard(across)">
                                      <p:cBhvr>
                                        <p:cTn id="42"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21" grpId="0"/>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251520" y="553244"/>
            <a:ext cx="4824536" cy="464743"/>
          </a:xfrm>
          <a:prstGeom prst="rect">
            <a:avLst/>
          </a:prstGeom>
          <a:noFill/>
          <a:ln w="9525" algn="ctr">
            <a:noFill/>
            <a:miter lim="800000"/>
          </a:ln>
          <a:effectLst/>
        </p:spPr>
        <p:txBody>
          <a:bodyPr wrap="square">
            <a:spAutoFit/>
          </a:bodyPr>
          <a:lstStyle>
            <a:defPPr>
              <a:defRPr lang="zh-CN"/>
            </a:defPPr>
            <a:lvl1pPr algn="just">
              <a:lnSpc>
                <a:spcPct val="110000"/>
              </a:lnSpc>
              <a:spcBef>
                <a:spcPct val="50000"/>
              </a:spcBef>
              <a:buClr>
                <a:srgbClr val="C00000"/>
              </a:buClr>
              <a:defRPr sz="2200" b="1" kern="0">
                <a:solidFill>
                  <a:srgbClr val="FF0000"/>
                </a:solidFill>
                <a:latin typeface="+mn-ea"/>
                <a:ea typeface="+mn-ea"/>
              </a:defRPr>
            </a:lvl1pPr>
          </a:lstStyle>
          <a:p>
            <a:r>
              <a:rPr lang="en-US" altLang="zh-CN" b="0" dirty="0">
                <a:latin typeface="黑体" panose="02010609060101010101" pitchFamily="49" charset="-122"/>
                <a:ea typeface="黑体" panose="02010609060101010101" pitchFamily="49" charset="-122"/>
              </a:rPr>
              <a:t>3) </a:t>
            </a:r>
            <a:r>
              <a:rPr lang="zh-CN" altLang="en-US" b="0" dirty="0">
                <a:latin typeface="黑体" panose="02010609060101010101" pitchFamily="49" charset="-122"/>
                <a:ea typeface="黑体" panose="02010609060101010101" pitchFamily="49" charset="-122"/>
              </a:rPr>
              <a:t>压力对粘度的影响</a:t>
            </a:r>
            <a:r>
              <a:rPr lang="en-US" altLang="zh-CN" b="0" dirty="0">
                <a:latin typeface="黑体" panose="02010609060101010101" pitchFamily="49" charset="-122"/>
                <a:ea typeface="黑体" panose="02010609060101010101" pitchFamily="49" charset="-122"/>
              </a:rPr>
              <a:t>——</a:t>
            </a:r>
            <a:r>
              <a:rPr lang="zh-CN" altLang="en-US" b="0" dirty="0">
                <a:latin typeface="黑体" panose="02010609060101010101" pitchFamily="49" charset="-122"/>
                <a:ea typeface="黑体" panose="02010609060101010101" pitchFamily="49" charset="-122"/>
              </a:rPr>
              <a:t>粘压效应</a:t>
            </a:r>
          </a:p>
        </p:txBody>
      </p:sp>
      <p:sp>
        <p:nvSpPr>
          <p:cNvPr id="5" name="单圆角矩形 4"/>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润滑油的主要性能指标</a:t>
            </a:r>
            <a:endParaRPr lang="zh-CN" altLang="en-US" sz="1500" dirty="0">
              <a:solidFill>
                <a:srgbClr val="FF6600"/>
              </a:solidFill>
            </a:endParaRPr>
          </a:p>
        </p:txBody>
      </p:sp>
      <p:sp>
        <p:nvSpPr>
          <p:cNvPr id="6" name="直角三角形 5"/>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 Box 4"/>
          <p:cNvSpPr txBox="1">
            <a:spLocks noChangeArrowheads="1"/>
          </p:cNvSpPr>
          <p:nvPr/>
        </p:nvSpPr>
        <p:spPr bwMode="auto">
          <a:xfrm>
            <a:off x="362691" y="1128373"/>
            <a:ext cx="5976664" cy="400110"/>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rPr>
              <a:t>压力</a:t>
            </a:r>
            <a:r>
              <a:rPr kumimoji="1" lang="zh-CN" altLang="en-US" sz="2000" b="0"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000" b="0" i="0" u="none" strike="noStrike" kern="0" cap="none" spc="0" normalizeH="0" baseline="0" noProof="0" dirty="0" smtClean="0">
                <a:ln>
                  <a:noFill/>
                </a:ln>
                <a:solidFill>
                  <a:srgbClr val="000000"/>
                </a:solidFill>
                <a:effectLst/>
                <a:uLnTx/>
                <a:uFillTx/>
                <a:latin typeface="华文楷体"/>
                <a:ea typeface="华文楷体"/>
              </a:rPr>
              <a:t>→ </a:t>
            </a:r>
            <a:r>
              <a:rPr kumimoji="1" lang="zh-CN" altLang="en-US" sz="2000" b="0" i="0" u="none" strike="noStrike" kern="0" cap="none" spc="0" normalizeH="0" baseline="0" noProof="0" dirty="0" smtClean="0">
                <a:ln>
                  <a:noFill/>
                </a:ln>
                <a:solidFill>
                  <a:srgbClr val="000000"/>
                </a:solidFill>
                <a:effectLst/>
                <a:uLnTx/>
                <a:uFillTx/>
              </a:rPr>
              <a:t>流体分子间距离</a:t>
            </a:r>
            <a:r>
              <a:rPr kumimoji="1" lang="zh-CN" altLang="en-US" sz="2000" b="0"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000" b="0" i="0" u="none" strike="noStrike" kern="0" cap="none" spc="0" normalizeH="0" baseline="0" noProof="0" dirty="0" smtClean="0">
                <a:ln>
                  <a:noFill/>
                </a:ln>
                <a:effectLst/>
                <a:uLnTx/>
                <a:uFillTx/>
                <a:latin typeface="华文楷体"/>
                <a:ea typeface="华文楷体"/>
              </a:rPr>
              <a:t>→ </a:t>
            </a:r>
            <a:r>
              <a:rPr kumimoji="1" lang="zh-CN" altLang="en-US" sz="2000" b="0" i="0" u="none" strike="noStrike" kern="0" cap="none" spc="0" normalizeH="0" baseline="0" noProof="0" dirty="0" smtClean="0">
                <a:ln>
                  <a:noFill/>
                </a:ln>
                <a:solidFill>
                  <a:srgbClr val="000000"/>
                </a:solidFill>
                <a:effectLst/>
                <a:uLnTx/>
                <a:uFillTx/>
              </a:rPr>
              <a:t>引力</a:t>
            </a:r>
            <a:r>
              <a:rPr kumimoji="1" lang="zh-CN" altLang="en-US" sz="2000" b="0"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000" b="0" i="0" u="none" strike="noStrike" kern="0" cap="none" spc="0" normalizeH="0" baseline="0" noProof="0" dirty="0" smtClean="0">
                <a:ln>
                  <a:noFill/>
                </a:ln>
                <a:solidFill>
                  <a:srgbClr val="000000"/>
                </a:solidFill>
                <a:effectLst/>
                <a:uLnTx/>
                <a:uFillTx/>
                <a:latin typeface="华文楷体"/>
                <a:ea typeface="华文楷体"/>
              </a:rPr>
              <a:t>→ </a:t>
            </a:r>
            <a:r>
              <a:rPr kumimoji="1" lang="zh-CN" altLang="en-US" sz="2000" b="0" i="0" u="none" strike="noStrike" kern="0" cap="none" spc="0" normalizeH="0" baseline="0" noProof="0" dirty="0" smtClean="0">
                <a:ln>
                  <a:noFill/>
                </a:ln>
                <a:solidFill>
                  <a:srgbClr val="000000"/>
                </a:solidFill>
                <a:effectLst/>
                <a:uLnTx/>
                <a:uFillTx/>
              </a:rPr>
              <a:t>粘度</a:t>
            </a:r>
            <a:r>
              <a:rPr kumimoji="1" lang="zh-CN" altLang="en-US" sz="2000" b="0"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a:t>
            </a:r>
          </a:p>
        </p:txBody>
      </p:sp>
      <p:sp>
        <p:nvSpPr>
          <p:cNvPr id="8" name="Text Box 28"/>
          <p:cNvSpPr txBox="1">
            <a:spLocks noChangeArrowheads="1"/>
          </p:cNvSpPr>
          <p:nvPr/>
        </p:nvSpPr>
        <p:spPr bwMode="auto">
          <a:xfrm>
            <a:off x="362691" y="1618850"/>
            <a:ext cx="5649469" cy="1107996"/>
          </a:xfrm>
          <a:prstGeom prst="rect">
            <a:avLst/>
          </a:prstGeom>
          <a:noFill/>
          <a:ln w="9525">
            <a:noFill/>
            <a:miter lim="800000"/>
            <a:headEnd/>
            <a:tailEnd/>
          </a:ln>
        </p:spPr>
        <p:txBody>
          <a:bodyPr wrap="square">
            <a:spAutoFit/>
          </a:bodyPr>
          <a:lstStyle/>
          <a:p>
            <a:pPr marL="0" marR="0" lvl="0" indent="0" algn="just" defTabSz="914400" eaLnBrk="1" fontAlgn="auto" latinLnBrk="0" hangingPunct="1">
              <a:lnSpc>
                <a:spcPct val="110000"/>
              </a:lnSpc>
              <a:spcBef>
                <a:spcPts val="0"/>
              </a:spcBef>
              <a:spcAft>
                <a:spcPts val="0"/>
              </a:spcAft>
              <a:buClrTx/>
              <a:buSzTx/>
              <a:buFontTx/>
              <a:buNone/>
            </a:pPr>
            <a:r>
              <a:rPr kumimoji="1" lang="zh-CN" altLang="en-US"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滚动轴承和齿轮的</a:t>
            </a:r>
            <a:r>
              <a:rPr kumimoji="1" lang="en-US" altLang="zh-CN"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Hertzian</a:t>
            </a:r>
            <a:r>
              <a:rPr kumimoji="1" lang="zh-CN" altLang="en-US"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接触应力高达</a:t>
            </a:r>
            <a:r>
              <a:rPr kumimoji="1" lang="en-US" altLang="zh-CN"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0.3~3GPa</a:t>
            </a:r>
            <a:r>
              <a:rPr kumimoji="1" lang="zh-CN" altLang="en-US"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a:t>
            </a:r>
            <a:r>
              <a:rPr kumimoji="1" lang="en-US" altLang="zh-CN"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1GPa=10</a:t>
            </a:r>
            <a:r>
              <a:rPr kumimoji="1" lang="en-US" altLang="zh-CN" sz="2000" b="0" i="0" u="none" strike="noStrike" kern="0" cap="none" spc="0" normalizeH="0" baseline="30000" noProof="0" dirty="0">
                <a:ln>
                  <a:noFill/>
                </a:ln>
                <a:solidFill>
                  <a:sysClr val="windowText" lastClr="000000"/>
                </a:solidFill>
                <a:effectLst/>
                <a:uLnTx/>
                <a:uFillTx/>
                <a:latin typeface="黑体" pitchFamily="2" charset="-122"/>
                <a:ea typeface="黑体" pitchFamily="2" charset="-122"/>
              </a:rPr>
              <a:t>3</a:t>
            </a:r>
            <a:r>
              <a:rPr kumimoji="1" lang="en-US" altLang="zh-CN"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MPa</a:t>
            </a:r>
            <a:r>
              <a:rPr kumimoji="1" lang="zh-CN" altLang="en-US"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），此时粘度可以增至常压粘度的</a:t>
            </a:r>
            <a:r>
              <a:rPr kumimoji="1" lang="en-US" altLang="zh-CN"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10</a:t>
            </a:r>
            <a:r>
              <a:rPr kumimoji="1" lang="en-US" altLang="zh-CN" sz="2000" b="0" i="0" u="none" strike="noStrike" kern="0" cap="none" spc="0" normalizeH="0" baseline="30000" noProof="0" dirty="0">
                <a:ln>
                  <a:noFill/>
                </a:ln>
                <a:solidFill>
                  <a:sysClr val="windowText" lastClr="000000"/>
                </a:solidFill>
                <a:effectLst/>
                <a:uLnTx/>
                <a:uFillTx/>
                <a:latin typeface="黑体" pitchFamily="2" charset="-122"/>
                <a:ea typeface="黑体" pitchFamily="2" charset="-122"/>
              </a:rPr>
              <a:t>8</a:t>
            </a:r>
            <a:r>
              <a:rPr kumimoji="1" lang="zh-CN" altLang="en-US"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倍。因此</a:t>
            </a:r>
            <a:r>
              <a:rPr kumimoji="1" lang="zh-CN" altLang="en-US" sz="2000" b="0" i="0" u="none" strike="noStrike" kern="0" cap="none" spc="0" normalizeH="0" baseline="0" noProof="0" dirty="0">
                <a:ln>
                  <a:noFill/>
                </a:ln>
                <a:solidFill>
                  <a:srgbClr val="FF00FF"/>
                </a:solidFill>
                <a:effectLst/>
                <a:uLnTx/>
                <a:uFillTx/>
                <a:latin typeface="黑体" pitchFamily="2" charset="-122"/>
                <a:ea typeface="黑体" pitchFamily="2" charset="-122"/>
              </a:rPr>
              <a:t>液膜转变为蜡质状固体</a:t>
            </a:r>
            <a:r>
              <a:rPr kumimoji="1" lang="zh-CN" altLang="en-US" sz="2000" b="0" i="0" u="none" strike="noStrike" kern="0" cap="none" spc="0" normalizeH="0" baseline="0" noProof="0" dirty="0">
                <a:ln>
                  <a:noFill/>
                </a:ln>
                <a:solidFill>
                  <a:sysClr val="windowText" lastClr="000000"/>
                </a:solidFill>
                <a:effectLst/>
                <a:uLnTx/>
                <a:uFillTx/>
                <a:latin typeface="黑体" pitchFamily="2" charset="-122"/>
                <a:ea typeface="黑体" pitchFamily="2" charset="-122"/>
              </a:rPr>
              <a:t>。</a:t>
            </a:r>
          </a:p>
        </p:txBody>
      </p:sp>
      <p:sp>
        <p:nvSpPr>
          <p:cNvPr id="13" name="Text Box 2"/>
          <p:cNvSpPr txBox="1">
            <a:spLocks noChangeArrowheads="1"/>
          </p:cNvSpPr>
          <p:nvPr/>
        </p:nvSpPr>
        <p:spPr bwMode="auto">
          <a:xfrm>
            <a:off x="362691" y="2761922"/>
            <a:ext cx="4137301" cy="430887"/>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10000"/>
              </a:lnSpc>
              <a:spcBef>
                <a:spcPts val="0"/>
              </a:spcBef>
              <a:spcAft>
                <a:spcPts val="0"/>
              </a:spcAft>
              <a:buClrTx/>
              <a:buSzTx/>
              <a:buFontTx/>
              <a:buNone/>
            </a:pPr>
            <a:r>
              <a:rPr kumimoji="1" lang="zh-CN" altLang="en-US" sz="2000" i="0" u="none" strike="noStrike" kern="0" cap="none" spc="0" normalizeH="0" baseline="0" noProof="0" dirty="0" smtClean="0">
                <a:ln>
                  <a:noFill/>
                </a:ln>
                <a:effectLst/>
                <a:uLnTx/>
                <a:uFillTx/>
                <a:latin typeface="Arial" charset="0"/>
                <a:ea typeface="黑体" pitchFamily="49" charset="-122"/>
              </a:rPr>
              <a:t>低副（面接触）  润滑</a:t>
            </a:r>
            <a:r>
              <a:rPr kumimoji="1" lang="zh-CN" altLang="en-US" sz="2000" i="0" u="none" strike="noStrike" kern="0" cap="none" spc="0" normalizeH="0" baseline="0" noProof="0" dirty="0" smtClean="0">
                <a:ln>
                  <a:noFill/>
                </a:ln>
                <a:effectLst/>
                <a:uLnTx/>
                <a:uFillTx/>
                <a:latin typeface="Arial" charset="0"/>
                <a:ea typeface="黑体" pitchFamily="49" charset="-122"/>
              </a:rPr>
              <a:t>表面刚性</a:t>
            </a:r>
          </a:p>
        </p:txBody>
      </p:sp>
      <p:sp>
        <p:nvSpPr>
          <p:cNvPr id="14" name="Text Box 2"/>
          <p:cNvSpPr txBox="1">
            <a:spLocks noChangeArrowheads="1"/>
          </p:cNvSpPr>
          <p:nvPr/>
        </p:nvSpPr>
        <p:spPr bwMode="auto">
          <a:xfrm>
            <a:off x="4140233" y="2756464"/>
            <a:ext cx="3600400" cy="430887"/>
          </a:xfrm>
          <a:prstGeom prst="rect">
            <a:avLst/>
          </a:prstGeom>
          <a:noFill/>
          <a:ln w="9525">
            <a:noFill/>
            <a:miter lim="800000"/>
            <a:headEnd/>
            <a:tailEnd/>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10000"/>
              </a:lnSpc>
              <a:spcBef>
                <a:spcPts val="0"/>
              </a:spcBef>
              <a:spcAft>
                <a:spcPts val="0"/>
              </a:spcAft>
              <a:buClrTx/>
              <a:buSzTx/>
              <a:buFontTx/>
              <a:buNone/>
            </a:pPr>
            <a:r>
              <a:rPr kumimoji="1" lang="zh-CN" altLang="en-US" sz="2000" i="0" u="none" strike="noStrike" kern="0" cap="none" spc="0" normalizeH="0" baseline="0" noProof="0" dirty="0" smtClean="0">
                <a:ln>
                  <a:noFill/>
                </a:ln>
                <a:solidFill>
                  <a:srgbClr val="FF0000"/>
                </a:solidFill>
                <a:effectLst/>
                <a:uLnTx/>
                <a:uFillTx/>
                <a:latin typeface="Arial" charset="0"/>
                <a:ea typeface="黑体" pitchFamily="49" charset="-122"/>
              </a:rPr>
              <a:t>→</a:t>
            </a:r>
            <a:r>
              <a:rPr kumimoji="1" lang="zh-CN" altLang="en-US" sz="2000" i="0" u="none" strike="noStrike" kern="0" cap="none" spc="0" normalizeH="0" noProof="0" dirty="0" smtClean="0">
                <a:ln>
                  <a:noFill/>
                </a:ln>
                <a:solidFill>
                  <a:srgbClr val="FF0000"/>
                </a:solidFill>
                <a:effectLst/>
                <a:uLnTx/>
                <a:uFillTx/>
                <a:latin typeface="Arial" charset="0"/>
                <a:ea typeface="黑体" pitchFamily="49" charset="-122"/>
              </a:rPr>
              <a:t>  流体动压润滑理论</a:t>
            </a:r>
            <a:endParaRPr kumimoji="1" lang="zh-CN" altLang="en-US" sz="2000" i="0" u="none" strike="noStrike" kern="0" cap="none" spc="0" normalizeH="0" baseline="0" noProof="0" dirty="0" smtClean="0">
              <a:ln>
                <a:noFill/>
              </a:ln>
              <a:solidFill>
                <a:srgbClr val="FF0000"/>
              </a:solidFill>
              <a:effectLst/>
              <a:uLnTx/>
              <a:uFillTx/>
              <a:latin typeface="Arial" charset="0"/>
              <a:ea typeface="黑体" pitchFamily="49" charset="-122"/>
            </a:endParaRPr>
          </a:p>
        </p:txBody>
      </p:sp>
      <p:sp>
        <p:nvSpPr>
          <p:cNvPr id="15" name="Text Box 2"/>
          <p:cNvSpPr txBox="1">
            <a:spLocks noChangeArrowheads="1"/>
          </p:cNvSpPr>
          <p:nvPr/>
        </p:nvSpPr>
        <p:spPr bwMode="auto">
          <a:xfrm>
            <a:off x="362691" y="3215179"/>
            <a:ext cx="5768258" cy="430887"/>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10000"/>
              </a:lnSpc>
              <a:spcBef>
                <a:spcPts val="0"/>
              </a:spcBef>
              <a:spcAft>
                <a:spcPts val="0"/>
              </a:spcAft>
              <a:buClrTx/>
              <a:buSzTx/>
              <a:buFontTx/>
              <a:buNone/>
            </a:pPr>
            <a:r>
              <a:rPr kumimoji="1" lang="zh-CN" altLang="en-US" sz="2000" i="0" u="none" strike="noStrike" kern="0" cap="none" spc="0" normalizeH="0" baseline="0" noProof="0" dirty="0" smtClean="0">
                <a:ln>
                  <a:noFill/>
                </a:ln>
                <a:effectLst/>
                <a:uLnTx/>
                <a:uFillTx/>
                <a:latin typeface="Arial" charset="0"/>
                <a:ea typeface="黑体" pitchFamily="49" charset="-122"/>
              </a:rPr>
              <a:t>高副（点、线接触）   润滑表面弹性变形</a:t>
            </a:r>
          </a:p>
        </p:txBody>
      </p:sp>
      <p:sp>
        <p:nvSpPr>
          <p:cNvPr id="16" name="Text Box 2"/>
          <p:cNvSpPr txBox="1">
            <a:spLocks noChangeArrowheads="1"/>
          </p:cNvSpPr>
          <p:nvPr/>
        </p:nvSpPr>
        <p:spPr bwMode="auto">
          <a:xfrm>
            <a:off x="5148064" y="3218310"/>
            <a:ext cx="3456384" cy="430887"/>
          </a:xfrm>
          <a:prstGeom prst="rect">
            <a:avLst/>
          </a:prstGeom>
          <a:noFill/>
          <a:ln w="9525">
            <a:noFill/>
            <a:miter lim="800000"/>
            <a:headEnd/>
            <a:tailEnd/>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10000"/>
              </a:lnSpc>
              <a:spcBef>
                <a:spcPts val="0"/>
              </a:spcBef>
              <a:spcAft>
                <a:spcPts val="0"/>
              </a:spcAft>
              <a:buClrTx/>
              <a:buSzTx/>
              <a:buFontTx/>
              <a:buNone/>
            </a:pPr>
            <a:r>
              <a:rPr kumimoji="1" lang="zh-CN" altLang="en-US" sz="2000" i="0" u="none" strike="noStrike" kern="0" cap="none" spc="0" normalizeH="0" baseline="0" noProof="0" dirty="0" smtClean="0">
                <a:ln>
                  <a:noFill/>
                </a:ln>
                <a:solidFill>
                  <a:srgbClr val="FF0000"/>
                </a:solidFill>
                <a:effectLst/>
                <a:uLnTx/>
                <a:uFillTx/>
                <a:latin typeface="Arial" charset="0"/>
                <a:ea typeface="黑体" pitchFamily="49" charset="-122"/>
              </a:rPr>
              <a:t>→</a:t>
            </a:r>
            <a:r>
              <a:rPr kumimoji="1" lang="zh-CN" altLang="en-US" sz="2000" i="0" u="none" strike="noStrike" kern="0" cap="none" spc="0" normalizeH="0" noProof="0" dirty="0" smtClean="0">
                <a:ln>
                  <a:noFill/>
                </a:ln>
                <a:solidFill>
                  <a:srgbClr val="FF0000"/>
                </a:solidFill>
                <a:effectLst/>
                <a:uLnTx/>
                <a:uFillTx/>
                <a:latin typeface="Arial" charset="0"/>
                <a:ea typeface="黑体" pitchFamily="49" charset="-122"/>
              </a:rPr>
              <a:t>  弹性流体动压润滑理论</a:t>
            </a:r>
            <a:endParaRPr kumimoji="1" lang="zh-CN" altLang="en-US" sz="2000" i="0" u="none" strike="noStrike" kern="0" cap="none" spc="0" normalizeH="0" baseline="0" noProof="0" dirty="0" smtClean="0">
              <a:ln>
                <a:noFill/>
              </a:ln>
              <a:solidFill>
                <a:srgbClr val="FF0000"/>
              </a:solidFill>
              <a:effectLst/>
              <a:uLnTx/>
              <a:uFillTx/>
              <a:latin typeface="Arial" charset="0"/>
              <a:ea typeface="黑体" pitchFamily="49" charset="-122"/>
            </a:endParaRPr>
          </a:p>
        </p:txBody>
      </p:sp>
      <p:sp>
        <p:nvSpPr>
          <p:cNvPr id="17" name="Text Box 5"/>
          <p:cNvSpPr txBox="1">
            <a:spLocks noChangeArrowheads="1"/>
          </p:cNvSpPr>
          <p:nvPr/>
        </p:nvSpPr>
        <p:spPr bwMode="auto">
          <a:xfrm>
            <a:off x="179512" y="3721205"/>
            <a:ext cx="7416824" cy="419538"/>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100" b="1" kern="0" dirty="0">
                <a:solidFill>
                  <a:srgbClr val="FF0000"/>
                </a:solidFill>
                <a:latin typeface="+mn-ea"/>
                <a:ea typeface="+mn-ea"/>
              </a:rPr>
              <a:t>油性</a:t>
            </a:r>
            <a:r>
              <a:rPr lang="zh-CN" altLang="en-US" sz="2100" kern="0" dirty="0" smtClean="0">
                <a:latin typeface="黑体" panose="02010609060101010101" pitchFamily="49" charset="-122"/>
                <a:ea typeface="黑体" panose="02010609060101010101" pitchFamily="49" charset="-122"/>
              </a:rPr>
              <a:t>：油</a:t>
            </a:r>
            <a:r>
              <a:rPr lang="zh-CN" altLang="en-US" sz="2100" kern="0" dirty="0" smtClean="0">
                <a:latin typeface="黑体" panose="02010609060101010101" pitchFamily="49" charset="-122"/>
                <a:ea typeface="黑体" panose="02010609060101010101" pitchFamily="49" charset="-122"/>
              </a:rPr>
              <a:t>中极性</a:t>
            </a:r>
            <a:r>
              <a:rPr lang="zh-CN" altLang="en-US" sz="2100" kern="0" dirty="0" smtClean="0">
                <a:latin typeface="黑体" panose="02010609060101010101" pitchFamily="49" charset="-122"/>
                <a:ea typeface="黑体" panose="02010609060101010101" pitchFamily="49" charset="-122"/>
              </a:rPr>
              <a:t>分子湿润、吸附</a:t>
            </a:r>
            <a:r>
              <a:rPr lang="zh-CN" altLang="en-US" sz="2100" kern="0" dirty="0" smtClean="0">
                <a:latin typeface="黑体" panose="02010609060101010101" pitchFamily="49" charset="-122"/>
                <a:ea typeface="黑体" panose="02010609060101010101" pitchFamily="49" charset="-122"/>
              </a:rPr>
              <a:t>于摩擦</a:t>
            </a:r>
            <a:r>
              <a:rPr lang="zh-CN" altLang="en-US" sz="2100" kern="0" dirty="0" smtClean="0">
                <a:latin typeface="黑体" panose="02010609060101010101" pitchFamily="49" charset="-122"/>
                <a:ea typeface="黑体" panose="02010609060101010101" pitchFamily="49" charset="-122"/>
              </a:rPr>
              <a:t>表面的性能。</a:t>
            </a:r>
            <a:endParaRPr lang="zh-CN" altLang="en-US" sz="2100" dirty="0">
              <a:latin typeface="黑体" panose="02010609060101010101" pitchFamily="49" charset="-122"/>
              <a:ea typeface="黑体" panose="02010609060101010101" pitchFamily="49" charset="-122"/>
            </a:endParaRPr>
          </a:p>
        </p:txBody>
      </p:sp>
      <p:pic>
        <p:nvPicPr>
          <p:cNvPr id="23" name="图片 22"/>
          <p:cNvPicPr>
            <a:picLocks noChangeAspect="1"/>
          </p:cNvPicPr>
          <p:nvPr/>
        </p:nvPicPr>
        <p:blipFill>
          <a:blip r:embed="rId4"/>
          <a:stretch>
            <a:fillRect/>
          </a:stretch>
        </p:blipFill>
        <p:spPr>
          <a:xfrm>
            <a:off x="6098724" y="1103846"/>
            <a:ext cx="2865764" cy="1681646"/>
          </a:xfrm>
          <a:prstGeom prst="rect">
            <a:avLst/>
          </a:prstGeom>
        </p:spPr>
      </p:pic>
      <p:grpSp>
        <p:nvGrpSpPr>
          <p:cNvPr id="21" name="组合 20"/>
          <p:cNvGrpSpPr/>
          <p:nvPr/>
        </p:nvGrpSpPr>
        <p:grpSpPr>
          <a:xfrm>
            <a:off x="6637942" y="798106"/>
            <a:ext cx="1284388" cy="902920"/>
            <a:chOff x="1223909" y="1700743"/>
            <a:chExt cx="1284388" cy="902920"/>
          </a:xfrm>
        </p:grpSpPr>
        <p:sp>
          <p:nvSpPr>
            <p:cNvPr id="12" name="Text Box 5"/>
            <p:cNvSpPr txBox="1">
              <a:spLocks noChangeArrowheads="1"/>
            </p:cNvSpPr>
            <p:nvPr/>
          </p:nvSpPr>
          <p:spPr bwMode="auto">
            <a:xfrm>
              <a:off x="1223909" y="1700743"/>
              <a:ext cx="1115843" cy="307777"/>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algn="ctr" eaLnBrk="1" hangingPunct="1"/>
              <a:r>
                <a:rPr kumimoji="1" lang="zh-CN" altLang="en-US" sz="1400" dirty="0" smtClean="0"/>
                <a:t>贝</a:t>
              </a:r>
              <a:r>
                <a:rPr kumimoji="1" lang="zh-CN" altLang="en-US" sz="1400" dirty="0"/>
                <a:t>伦</a:t>
              </a:r>
              <a:r>
                <a:rPr kumimoji="1" lang="zh-CN" altLang="en-US" sz="1400" dirty="0" smtClean="0"/>
                <a:t>斯方程</a:t>
              </a:r>
              <a:endParaRPr kumimoji="1" lang="zh-CN" altLang="en-US" sz="1400" dirty="0"/>
            </a:p>
          </p:txBody>
        </p:sp>
        <p:graphicFrame>
          <p:nvGraphicFramePr>
            <p:cNvPr id="19" name="Object 3"/>
            <p:cNvGraphicFramePr>
              <a:graphicFrameLocks noChangeAspect="1"/>
            </p:cNvGraphicFramePr>
            <p:nvPr>
              <p:extLst>
                <p:ext uri="{D42A27DB-BD31-4B8C-83A1-F6EECF244321}">
                  <p14:modId xmlns:p14="http://schemas.microsoft.com/office/powerpoint/2010/main" val="1151221830"/>
                </p:ext>
              </p:extLst>
            </p:nvPr>
          </p:nvGraphicFramePr>
          <p:xfrm>
            <a:off x="1331640" y="1964788"/>
            <a:ext cx="1008112" cy="356449"/>
          </p:xfrm>
          <a:graphic>
            <a:graphicData uri="http://schemas.openxmlformats.org/presentationml/2006/ole">
              <mc:AlternateContent xmlns:mc="http://schemas.openxmlformats.org/markup-compatibility/2006">
                <mc:Choice xmlns:v="urn:schemas-microsoft-com:vml" Requires="v">
                  <p:oleObj spid="_x0000_s6046741" name="Equation" r:id="rId5" imgW="1079032" imgH="380835" progId="Equation.DSMT4">
                    <p:embed/>
                  </p:oleObj>
                </mc:Choice>
                <mc:Fallback>
                  <p:oleObj name="Equation" r:id="rId5" imgW="1079032" imgH="380835" progId="Equation.DSMT4">
                    <p:embed/>
                    <p:pic>
                      <p:nvPicPr>
                        <p:cNvPr id="0" name=""/>
                        <p:cNvPicPr>
                          <a:picLocks noChangeAspect="1" noChangeArrowheads="1"/>
                        </p:cNvPicPr>
                        <p:nvPr/>
                      </p:nvPicPr>
                      <p:blipFill>
                        <a:blip r:embed="rId6"/>
                        <a:srcRect/>
                        <a:stretch>
                          <a:fillRect/>
                        </a:stretch>
                      </p:blipFill>
                      <p:spPr bwMode="auto">
                        <a:xfrm>
                          <a:off x="1331640" y="1964788"/>
                          <a:ext cx="1008112" cy="356449"/>
                        </a:xfrm>
                        <a:prstGeom prst="rect">
                          <a:avLst/>
                        </a:prstGeom>
                        <a:noFill/>
                        <a:ln>
                          <a:noFill/>
                        </a:ln>
                        <a:effectLst/>
                      </p:spPr>
                    </p:pic>
                  </p:oleObj>
                </mc:Fallback>
              </mc:AlternateContent>
            </a:graphicData>
          </a:graphic>
        </p:graphicFrame>
        <p:cxnSp>
          <p:nvCxnSpPr>
            <p:cNvPr id="3" name="直接连接符 2"/>
            <p:cNvCxnSpPr/>
            <p:nvPr/>
          </p:nvCxnSpPr>
          <p:spPr>
            <a:xfrm>
              <a:off x="2230398" y="2214905"/>
              <a:ext cx="277899" cy="3887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Text Box 5"/>
          <p:cNvSpPr txBox="1">
            <a:spLocks noChangeArrowheads="1"/>
          </p:cNvSpPr>
          <p:nvPr/>
        </p:nvSpPr>
        <p:spPr bwMode="auto">
          <a:xfrm>
            <a:off x="179512" y="4208024"/>
            <a:ext cx="8712968" cy="447815"/>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100" b="1" kern="0" dirty="0" smtClean="0">
                <a:solidFill>
                  <a:srgbClr val="FF0000"/>
                </a:solidFill>
                <a:latin typeface="+mn-ea"/>
                <a:ea typeface="+mn-ea"/>
              </a:rPr>
              <a:t>凝点</a:t>
            </a:r>
            <a:r>
              <a:rPr lang="zh-CN" altLang="en-US" sz="2100" kern="0" dirty="0" smtClean="0">
                <a:latin typeface="黑体" panose="02010609060101010101" pitchFamily="49" charset="-122"/>
                <a:ea typeface="黑体" panose="02010609060101010101" pitchFamily="49" charset="-122"/>
              </a:rPr>
              <a:t>：润滑油不能自有流动的最高温度。低温润滑应选凝点低的油。</a:t>
            </a:r>
            <a:endParaRPr lang="zh-CN" altLang="en-US" sz="2100" dirty="0">
              <a:latin typeface="黑体" panose="02010609060101010101" pitchFamily="49" charset="-122"/>
              <a:ea typeface="黑体" panose="02010609060101010101" pitchFamily="49" charset="-122"/>
            </a:endParaRPr>
          </a:p>
        </p:txBody>
      </p:sp>
      <p:sp>
        <p:nvSpPr>
          <p:cNvPr id="25" name="Text Box 5"/>
          <p:cNvSpPr txBox="1">
            <a:spLocks noChangeArrowheads="1"/>
          </p:cNvSpPr>
          <p:nvPr/>
        </p:nvSpPr>
        <p:spPr bwMode="auto">
          <a:xfrm>
            <a:off x="179512" y="4694843"/>
            <a:ext cx="8352928" cy="464743"/>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100" b="1" kern="0" dirty="0" smtClean="0">
                <a:solidFill>
                  <a:srgbClr val="FF0000"/>
                </a:solidFill>
                <a:latin typeface="+mn-ea"/>
                <a:ea typeface="+mn-ea"/>
              </a:rPr>
              <a:t>闪点</a:t>
            </a:r>
            <a:r>
              <a:rPr lang="zh-CN" altLang="en-US" sz="2100" kern="0" dirty="0" smtClean="0">
                <a:latin typeface="黑体" panose="02010609060101010101" pitchFamily="49" charset="-122"/>
                <a:ea typeface="黑体" panose="02010609060101010101" pitchFamily="49" charset="-122"/>
              </a:rPr>
              <a:t>：润滑油遇火焰闪烁时的最低温度</a:t>
            </a:r>
            <a:r>
              <a:rPr lang="en-US" altLang="zh-CN" sz="2100" kern="0" dirty="0" smtClean="0">
                <a:latin typeface="黑体" panose="02010609060101010101" pitchFamily="49" charset="-122"/>
                <a:ea typeface="黑体" panose="02010609060101010101" pitchFamily="49" charset="-122"/>
              </a:rPr>
              <a:t>——</a:t>
            </a:r>
            <a:r>
              <a:rPr lang="zh-CN" altLang="en-US" sz="2100" kern="0" dirty="0" smtClean="0">
                <a:latin typeface="黑体" panose="02010609060101010101" pitchFamily="49" charset="-122"/>
                <a:ea typeface="黑体" panose="02010609060101010101" pitchFamily="49" charset="-122"/>
              </a:rPr>
              <a:t>一个易燃性指标。</a:t>
            </a:r>
            <a:endParaRPr lang="zh-CN" altLang="en-US" sz="2100" dirty="0">
              <a:latin typeface="黑体" panose="02010609060101010101" pitchFamily="49" charset="-122"/>
              <a:ea typeface="黑体" panose="02010609060101010101" pitchFamily="49" charset="-122"/>
            </a:endParaRPr>
          </a:p>
        </p:txBody>
      </p:sp>
      <p:sp>
        <p:nvSpPr>
          <p:cNvPr id="26" name="Text Box 5"/>
          <p:cNvSpPr txBox="1">
            <a:spLocks noChangeArrowheads="1"/>
          </p:cNvSpPr>
          <p:nvPr/>
        </p:nvSpPr>
        <p:spPr bwMode="auto">
          <a:xfrm>
            <a:off x="179512" y="5181662"/>
            <a:ext cx="8352928" cy="464743"/>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100" b="1" kern="0" dirty="0" smtClean="0">
                <a:solidFill>
                  <a:srgbClr val="FF0000"/>
                </a:solidFill>
                <a:latin typeface="+mn-ea"/>
                <a:ea typeface="+mn-ea"/>
              </a:rPr>
              <a:t>滴点</a:t>
            </a:r>
            <a:r>
              <a:rPr lang="zh-CN" altLang="en-US" sz="2100" kern="0" dirty="0" smtClean="0">
                <a:latin typeface="黑体" panose="02010609060101010101" pitchFamily="49" charset="-122"/>
                <a:ea typeface="黑体" panose="02010609060101010101" pitchFamily="49" charset="-122"/>
              </a:rPr>
              <a:t>：脂受热后开始滴落时的温度。标志润滑脂耐高温能力。</a:t>
            </a:r>
            <a:endParaRPr lang="zh-CN" altLang="en-US" sz="21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21552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1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75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75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75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75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left)">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2" dur="500"/>
                                        <p:tgtEl>
                                          <p:spTgt spid="2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left)">
                                      <p:cBhvr>
                                        <p:cTn id="6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P spid="14" grpId="0"/>
      <p:bldP spid="15" grpId="0"/>
      <p:bldP spid="16" grpId="0"/>
      <p:bldP spid="17" grpId="0"/>
      <p:bldP spid="24" grpId="0"/>
      <p:bldP spid="25"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6"/>
          <p:cNvGrpSpPr/>
          <p:nvPr/>
        </p:nvGrpSpPr>
        <p:grpSpPr>
          <a:xfrm>
            <a:off x="323528" y="550905"/>
            <a:ext cx="3960440" cy="492443"/>
            <a:chOff x="323528" y="564857"/>
            <a:chExt cx="3960440" cy="492443"/>
          </a:xfrm>
        </p:grpSpPr>
        <p:sp>
          <p:nvSpPr>
            <p:cNvPr id="5" name="Text Box 5"/>
            <p:cNvSpPr txBox="1">
              <a:spLocks noChangeArrowheads="1"/>
            </p:cNvSpPr>
            <p:nvPr/>
          </p:nvSpPr>
          <p:spPr bwMode="auto">
            <a:xfrm>
              <a:off x="683569" y="564857"/>
              <a:ext cx="3600399" cy="49244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600" b="1" dirty="0" smtClean="0">
                  <a:solidFill>
                    <a:srgbClr val="000099"/>
                  </a:solidFill>
                  <a:effectLst/>
                  <a:latin typeface="黑体" pitchFamily="49" charset="-122"/>
                </a:rPr>
                <a:t>润滑剂</a:t>
              </a:r>
              <a:r>
                <a:rPr lang="zh-CN" altLang="en-US" sz="2600" b="1" dirty="0" smtClean="0">
                  <a:solidFill>
                    <a:srgbClr val="000099"/>
                  </a:solidFill>
                  <a:effectLst/>
                  <a:latin typeface="黑体" pitchFamily="49" charset="-122"/>
                </a:rPr>
                <a:t>的选用原则</a:t>
              </a:r>
              <a:endParaRPr lang="zh-CN" altLang="en-US" sz="2600" b="1" dirty="0">
                <a:solidFill>
                  <a:srgbClr val="000099"/>
                </a:solidFill>
                <a:effectLst/>
                <a:latin typeface="黑体" pitchFamily="49" charset="-122"/>
              </a:endParaRPr>
            </a:p>
          </p:txBody>
        </p:sp>
        <p:pic>
          <p:nvPicPr>
            <p:cNvPr id="6" name="Picture 15" descr="AR1031"/>
            <p:cNvPicPr>
              <a:picLocks noChangeAspect="1" noChangeArrowheads="1"/>
            </p:cNvPicPr>
            <p:nvPr/>
          </p:nvPicPr>
          <p:blipFill>
            <a:blip r:embed="rId2">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sp>
        <p:nvSpPr>
          <p:cNvPr id="7" name="单圆角矩形 6"/>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润滑剂</a:t>
            </a:r>
            <a:r>
              <a:rPr lang="zh-CN" altLang="en-US" sz="1500" dirty="0" smtClean="0">
                <a:solidFill>
                  <a:srgbClr val="FF6600"/>
                </a:solidFill>
              </a:rPr>
              <a:t>的选用原则</a:t>
            </a:r>
            <a:endParaRPr lang="zh-CN" altLang="en-US" sz="1500" dirty="0">
              <a:solidFill>
                <a:srgbClr val="FF6600"/>
              </a:solidFill>
            </a:endParaRPr>
          </a:p>
        </p:txBody>
      </p:sp>
      <p:sp>
        <p:nvSpPr>
          <p:cNvPr id="8" name="直角三角形 7"/>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5"/>
          <p:cNvSpPr txBox="1">
            <a:spLocks noChangeArrowheads="1"/>
          </p:cNvSpPr>
          <p:nvPr/>
        </p:nvSpPr>
        <p:spPr bwMode="auto">
          <a:xfrm>
            <a:off x="323528" y="1151802"/>
            <a:ext cx="8568952" cy="1107996"/>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0000FF"/>
                </a:solidFill>
                <a:latin typeface="黑体" panose="02010609060101010101" pitchFamily="49" charset="-122"/>
                <a:ea typeface="黑体" panose="02010609060101010101" pitchFamily="49" charset="-122"/>
              </a:rPr>
              <a:t>工作载荷</a:t>
            </a:r>
            <a:r>
              <a:rPr lang="zh-CN" altLang="en-US" sz="2000" kern="0" dirty="0" smtClean="0">
                <a:latin typeface="黑体" panose="02010609060101010101" pitchFamily="49" charset="-122"/>
                <a:ea typeface="黑体" panose="02010609060101010101" pitchFamily="49" charset="-122"/>
              </a:rPr>
              <a:t>：粘度</a:t>
            </a:r>
            <a:r>
              <a:rPr lang="zh-CN" altLang="en-US" sz="2000" kern="0" dirty="0" smtClean="0">
                <a:latin typeface="宋体" panose="02010600030101010101" pitchFamily="2" charset="-122"/>
              </a:rPr>
              <a:t>↑→</a:t>
            </a:r>
            <a:r>
              <a:rPr lang="zh-CN" altLang="en-US" sz="2000" kern="0" dirty="0" smtClean="0">
                <a:latin typeface="黑体" panose="02010609060101010101" pitchFamily="49" charset="-122"/>
                <a:ea typeface="黑体" panose="02010609060101010101" pitchFamily="49" charset="-122"/>
              </a:rPr>
              <a:t>油膜承载能力</a:t>
            </a:r>
            <a:r>
              <a:rPr lang="zh-CN" altLang="en-US" sz="2000" kern="0" dirty="0" smtClean="0">
                <a:latin typeface="宋体" panose="02010600030101010101" pitchFamily="2" charset="-122"/>
              </a:rPr>
              <a:t>↑</a:t>
            </a:r>
            <a:r>
              <a:rPr lang="zh-CN" altLang="en-US" sz="2000" kern="0" dirty="0" smtClean="0">
                <a:latin typeface="黑体" panose="02010609060101010101" pitchFamily="49" charset="-122"/>
                <a:ea typeface="黑体" panose="02010609060101010101" pitchFamily="49" charset="-122"/>
              </a:rPr>
              <a:t>。故大载荷时，应选用粘度大、油性好的油；受冲击载荷时，因不易形成液体油膜，应选择粘度大的油或锥入度小的润滑脂。</a:t>
            </a:r>
            <a:endParaRPr lang="zh-CN" altLang="en-US" sz="2000" dirty="0">
              <a:latin typeface="黑体" panose="02010609060101010101" pitchFamily="49" charset="-122"/>
              <a:ea typeface="黑体" panose="02010609060101010101" pitchFamily="49" charset="-122"/>
            </a:endParaRPr>
          </a:p>
        </p:txBody>
      </p:sp>
      <p:sp>
        <p:nvSpPr>
          <p:cNvPr id="10" name="Text Box 5"/>
          <p:cNvSpPr txBox="1">
            <a:spLocks noChangeArrowheads="1"/>
          </p:cNvSpPr>
          <p:nvPr/>
        </p:nvSpPr>
        <p:spPr bwMode="auto">
          <a:xfrm>
            <a:off x="328734" y="2268789"/>
            <a:ext cx="8568186"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0000FF"/>
                </a:solidFill>
                <a:latin typeface="黑体" panose="02010609060101010101" pitchFamily="49" charset="-122"/>
                <a:ea typeface="黑体" panose="02010609060101010101" pitchFamily="49" charset="-122"/>
              </a:rPr>
              <a:t>工作速度</a:t>
            </a:r>
            <a:r>
              <a:rPr lang="zh-CN" altLang="en-US" sz="2000" kern="0" dirty="0" smtClean="0">
                <a:latin typeface="黑体" panose="02010609060101010101" pitchFamily="49" charset="-122"/>
                <a:ea typeface="黑体" panose="02010609060101010101" pitchFamily="49" charset="-122"/>
              </a:rPr>
              <a:t>：低速不易形成动压油膜，应选用粘度大的油或脂；高速时为了减小功率损失，宜选用粘度小的润滑油或锥入度大的脂。</a:t>
            </a:r>
            <a:endParaRPr lang="zh-CN" altLang="en-US" sz="2000" dirty="0">
              <a:latin typeface="黑体" panose="02010609060101010101" pitchFamily="49" charset="-122"/>
              <a:ea typeface="黑体" panose="02010609060101010101" pitchFamily="49" charset="-122"/>
            </a:endParaRPr>
          </a:p>
        </p:txBody>
      </p:sp>
      <p:sp>
        <p:nvSpPr>
          <p:cNvPr id="11" name="Text Box 5"/>
          <p:cNvSpPr txBox="1">
            <a:spLocks noChangeArrowheads="1"/>
          </p:cNvSpPr>
          <p:nvPr/>
        </p:nvSpPr>
        <p:spPr bwMode="auto">
          <a:xfrm>
            <a:off x="324294" y="3047221"/>
            <a:ext cx="8568186"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0000FF"/>
                </a:solidFill>
                <a:latin typeface="黑体" panose="02010609060101010101" pitchFamily="49" charset="-122"/>
                <a:ea typeface="黑体" panose="02010609060101010101" pitchFamily="49" charset="-122"/>
              </a:rPr>
              <a:t>工作温度</a:t>
            </a:r>
            <a:r>
              <a:rPr lang="zh-CN" altLang="en-US" sz="2000" kern="0" dirty="0" smtClean="0">
                <a:latin typeface="黑体" panose="02010609060101010101" pitchFamily="49" charset="-122"/>
                <a:ea typeface="黑体" panose="02010609060101010101" pitchFamily="49" charset="-122"/>
              </a:rPr>
              <a:t>：低温时应选用粘度小凝点低的润滑油，高温时应选用粘度大、闪点高、抗氧化性能好的润滑油。</a:t>
            </a:r>
            <a:endParaRPr lang="zh-CN" altLang="en-US" sz="2000" dirty="0">
              <a:latin typeface="黑体" panose="02010609060101010101" pitchFamily="49" charset="-122"/>
              <a:ea typeface="黑体" panose="02010609060101010101" pitchFamily="49" charset="-122"/>
            </a:endParaRPr>
          </a:p>
        </p:txBody>
      </p:sp>
      <p:sp>
        <p:nvSpPr>
          <p:cNvPr id="12" name="Text Box 5"/>
          <p:cNvSpPr txBox="1">
            <a:spLocks noChangeArrowheads="1"/>
          </p:cNvSpPr>
          <p:nvPr/>
        </p:nvSpPr>
        <p:spPr bwMode="auto">
          <a:xfrm>
            <a:off x="324294" y="3831635"/>
            <a:ext cx="8568186" cy="769441"/>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sz="2000" kern="0" dirty="0" smtClean="0">
                <a:solidFill>
                  <a:srgbClr val="0000FF"/>
                </a:solidFill>
                <a:latin typeface="黑体" panose="02010609060101010101" pitchFamily="49" charset="-122"/>
                <a:ea typeface="黑体" panose="02010609060101010101" pitchFamily="49" charset="-122"/>
              </a:rPr>
              <a:t>表面粗糙度或间隙</a:t>
            </a:r>
            <a:r>
              <a:rPr lang="zh-CN" altLang="en-US" sz="2000" kern="0" dirty="0" smtClean="0">
                <a:latin typeface="黑体" panose="02010609060101010101" pitchFamily="49" charset="-122"/>
                <a:ea typeface="黑体" panose="02010609060101010101" pitchFamily="49" charset="-122"/>
              </a:rPr>
              <a:t>：表面粗糙度大和间隙大，应选用粘度大的润滑油或锥入度小的脂。</a:t>
            </a:r>
            <a:endParaRPr lang="zh-CN" altLang="en-US"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7426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7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7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7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9" name="组合 3"/>
          <p:cNvGrpSpPr/>
          <p:nvPr/>
        </p:nvGrpSpPr>
        <p:grpSpPr>
          <a:xfrm>
            <a:off x="323528" y="569963"/>
            <a:ext cx="5256584" cy="492443"/>
            <a:chOff x="323528" y="564857"/>
            <a:chExt cx="5256584" cy="492443"/>
          </a:xfrm>
        </p:grpSpPr>
        <p:sp>
          <p:nvSpPr>
            <p:cNvPr id="1049412" name="Text Box 5"/>
            <p:cNvSpPr txBox="1">
              <a:spLocks noChangeArrowheads="1"/>
            </p:cNvSpPr>
            <p:nvPr/>
          </p:nvSpPr>
          <p:spPr bwMode="auto">
            <a:xfrm>
              <a:off x="683569" y="564857"/>
              <a:ext cx="4896543" cy="49244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600" b="1" dirty="0" smtClean="0">
                  <a:solidFill>
                    <a:srgbClr val="000099"/>
                  </a:solidFill>
                  <a:effectLst/>
                  <a:latin typeface="黑体" pitchFamily="49" charset="-122"/>
                </a:rPr>
                <a:t>润滑类型（</a:t>
              </a:r>
              <a:r>
                <a:rPr lang="en-US" altLang="zh-CN" sz="2400" b="1" dirty="0">
                  <a:solidFill>
                    <a:srgbClr val="000099"/>
                  </a:solidFill>
                </a:rPr>
                <a:t> </a:t>
              </a:r>
              <a:r>
                <a:rPr lang="en-US" altLang="zh-CN" sz="2400" dirty="0">
                  <a:solidFill>
                    <a:srgbClr val="000099"/>
                  </a:solidFill>
                </a:rPr>
                <a:t>Lubrication mode </a:t>
              </a:r>
              <a:r>
                <a:rPr lang="zh-CN" altLang="en-US" sz="2600" b="1" dirty="0" smtClean="0">
                  <a:solidFill>
                    <a:srgbClr val="000099"/>
                  </a:solidFill>
                  <a:effectLst/>
                  <a:latin typeface="黑体" pitchFamily="49" charset="-122"/>
                </a:rPr>
                <a:t>）</a:t>
              </a:r>
              <a:endParaRPr lang="zh-CN" altLang="en-US" sz="2600" b="1" dirty="0">
                <a:solidFill>
                  <a:srgbClr val="000099"/>
                </a:solidFill>
                <a:effectLst/>
                <a:latin typeface="黑体" pitchFamily="49" charset="-122"/>
              </a:endParaRPr>
            </a:p>
          </p:txBody>
        </p:sp>
        <p:pic>
          <p:nvPicPr>
            <p:cNvPr id="2097459" name="Picture 15" descr="AR1031"/>
            <p:cNvPicPr>
              <a:picLocks noChangeAspect="1" noChangeArrowheads="1"/>
            </p:cNvPicPr>
            <p:nvPr/>
          </p:nvPicPr>
          <p:blipFill>
            <a:blip r:embed="rId3">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grpSp>
        <p:nvGrpSpPr>
          <p:cNvPr id="450" name="组合 63"/>
          <p:cNvGrpSpPr/>
          <p:nvPr/>
        </p:nvGrpSpPr>
        <p:grpSpPr>
          <a:xfrm>
            <a:off x="539552" y="1146027"/>
            <a:ext cx="7209584" cy="4032448"/>
            <a:chOff x="539552" y="1146027"/>
            <a:chExt cx="7209584" cy="4032448"/>
          </a:xfrm>
        </p:grpSpPr>
        <p:grpSp>
          <p:nvGrpSpPr>
            <p:cNvPr id="451" name="组合 1"/>
            <p:cNvGrpSpPr/>
            <p:nvPr/>
          </p:nvGrpSpPr>
          <p:grpSpPr>
            <a:xfrm>
              <a:off x="539552" y="1146027"/>
              <a:ext cx="7209584" cy="1059801"/>
              <a:chOff x="539552" y="1146027"/>
              <a:chExt cx="7209584" cy="1059801"/>
            </a:xfrm>
          </p:grpSpPr>
          <p:sp>
            <p:nvSpPr>
              <p:cNvPr id="1049413" name="Text Box 4"/>
              <p:cNvSpPr txBox="1">
                <a:spLocks noChangeArrowheads="1"/>
              </p:cNvSpPr>
              <p:nvPr/>
            </p:nvSpPr>
            <p:spPr bwMode="auto">
              <a:xfrm>
                <a:off x="539552" y="1146027"/>
                <a:ext cx="6408712" cy="46196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kumimoji="1" lang="en-US" altLang="zh-CN" sz="2400" dirty="0" smtClean="0">
                    <a:solidFill>
                      <a:srgbClr val="FF0000"/>
                    </a:solidFill>
                  </a:rPr>
                  <a:t>1. </a:t>
                </a:r>
                <a:r>
                  <a:rPr kumimoji="1" lang="zh-CN" altLang="en-US" sz="2400" dirty="0" smtClean="0">
                    <a:solidFill>
                      <a:srgbClr val="FF0000"/>
                    </a:solidFill>
                  </a:rPr>
                  <a:t>流体</a:t>
                </a:r>
                <a:r>
                  <a:rPr kumimoji="1" lang="zh-CN" altLang="en-US" sz="2400" dirty="0">
                    <a:solidFill>
                      <a:srgbClr val="FF0000"/>
                    </a:solidFill>
                  </a:rPr>
                  <a:t>静压润滑（</a:t>
                </a:r>
                <a:r>
                  <a:rPr kumimoji="1" lang="en-US" altLang="zh-CN" sz="2400" dirty="0">
                    <a:solidFill>
                      <a:srgbClr val="FF0000"/>
                    </a:solidFill>
                  </a:rPr>
                  <a:t>Hydrostatic Lubrication</a:t>
                </a:r>
                <a:r>
                  <a:rPr kumimoji="1" lang="zh-CN" altLang="en-US" sz="2400" dirty="0">
                    <a:solidFill>
                      <a:srgbClr val="FF0000"/>
                    </a:solidFill>
                  </a:rPr>
                  <a:t>）</a:t>
                </a:r>
              </a:p>
            </p:txBody>
          </p:sp>
          <p:sp>
            <p:nvSpPr>
              <p:cNvPr id="1049414" name="Text Box 7"/>
              <p:cNvSpPr txBox="1">
                <a:spLocks noChangeArrowheads="1"/>
              </p:cNvSpPr>
              <p:nvPr/>
            </p:nvSpPr>
            <p:spPr bwMode="auto">
              <a:xfrm>
                <a:off x="611560" y="1633364"/>
                <a:ext cx="7137576" cy="572464"/>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lnSpc>
                    <a:spcPct val="130000"/>
                  </a:lnSpc>
                </a:pPr>
                <a:r>
                  <a:rPr kumimoji="1" lang="zh-CN" altLang="en-US" sz="2400" dirty="0" smtClean="0"/>
                  <a:t>靠</a:t>
                </a:r>
                <a:r>
                  <a:rPr kumimoji="1" lang="zh-CN" altLang="en-US" sz="2400" dirty="0">
                    <a:solidFill>
                      <a:srgbClr val="0000FF"/>
                    </a:solidFill>
                  </a:rPr>
                  <a:t>外部</a:t>
                </a:r>
                <a:r>
                  <a:rPr kumimoji="1" lang="zh-CN" altLang="en-US" sz="2400" dirty="0"/>
                  <a:t>油泵将压力油送入支承面，把两表面隔开。</a:t>
                </a:r>
              </a:p>
            </p:txBody>
          </p:sp>
        </p:grpSp>
        <p:grpSp>
          <p:nvGrpSpPr>
            <p:cNvPr id="452" name="Group 8"/>
            <p:cNvGrpSpPr/>
            <p:nvPr/>
          </p:nvGrpSpPr>
          <p:grpSpPr bwMode="auto">
            <a:xfrm>
              <a:off x="751912" y="2452125"/>
              <a:ext cx="3738799" cy="2726350"/>
              <a:chOff x="1572" y="1049"/>
              <a:chExt cx="1871" cy="1638"/>
            </a:xfrm>
          </p:grpSpPr>
          <p:grpSp>
            <p:nvGrpSpPr>
              <p:cNvPr id="453" name="Group 9"/>
              <p:cNvGrpSpPr/>
              <p:nvPr/>
            </p:nvGrpSpPr>
            <p:grpSpPr bwMode="auto">
              <a:xfrm>
                <a:off x="1572" y="1049"/>
                <a:ext cx="1404" cy="1638"/>
                <a:chOff x="1740" y="1976"/>
                <a:chExt cx="1404" cy="1638"/>
              </a:xfrm>
            </p:grpSpPr>
            <p:sp>
              <p:nvSpPr>
                <p:cNvPr id="1049415" name="Rectangle 10"/>
                <p:cNvSpPr>
                  <a:spLocks noChangeArrowheads="1"/>
                </p:cNvSpPr>
                <p:nvPr/>
              </p:nvSpPr>
              <p:spPr bwMode="auto">
                <a:xfrm>
                  <a:off x="1740" y="2136"/>
                  <a:ext cx="824" cy="316"/>
                </a:xfrm>
                <a:prstGeom prst="rect">
                  <a:avLst/>
                </a:prstGeom>
                <a:noFill/>
                <a:ln w="28575">
                  <a:solidFill>
                    <a:srgbClr val="000000"/>
                  </a:solidFill>
                  <a:miter lim="800000"/>
                  <a:headEnd/>
                  <a:tailEnd/>
                </a:ln>
              </p:spPr>
              <p:txBody>
                <a:bodyPr wrap="none" anchor="ctr"/>
                <a:lstStyle/>
                <a:p>
                  <a:endParaRPr lang="zh-CN" altLang="en-US"/>
                </a:p>
              </p:txBody>
            </p:sp>
            <p:sp>
              <p:nvSpPr>
                <p:cNvPr id="1049416" name="Line 11"/>
                <p:cNvSpPr>
                  <a:spLocks noChangeShapeType="1"/>
                </p:cNvSpPr>
                <p:nvPr/>
              </p:nvSpPr>
              <p:spPr bwMode="auto">
                <a:xfrm>
                  <a:off x="2156" y="1976"/>
                  <a:ext cx="0" cy="256"/>
                </a:xfrm>
                <a:prstGeom prst="line">
                  <a:avLst/>
                </a:prstGeom>
                <a:noFill/>
                <a:ln w="19050">
                  <a:solidFill>
                    <a:srgbClr val="000000"/>
                  </a:solidFill>
                  <a:round/>
                  <a:headEnd/>
                  <a:tailEnd type="arrow" w="sm" len="med"/>
                </a:ln>
              </p:spPr>
              <p:txBody>
                <a:bodyPr/>
                <a:lstStyle/>
                <a:p>
                  <a:endParaRPr lang="zh-CN" altLang="en-US"/>
                </a:p>
              </p:txBody>
            </p:sp>
            <p:sp>
              <p:nvSpPr>
                <p:cNvPr id="1049417" name="Line 12"/>
                <p:cNvSpPr>
                  <a:spLocks noChangeShapeType="1"/>
                </p:cNvSpPr>
                <p:nvPr/>
              </p:nvSpPr>
              <p:spPr bwMode="auto">
                <a:xfrm flipV="1">
                  <a:off x="1744" y="2292"/>
                  <a:ext cx="160" cy="160"/>
                </a:xfrm>
                <a:prstGeom prst="line">
                  <a:avLst/>
                </a:prstGeom>
                <a:noFill/>
                <a:ln w="19050">
                  <a:solidFill>
                    <a:srgbClr val="000000"/>
                  </a:solidFill>
                  <a:round/>
                  <a:headEnd/>
                  <a:tailEnd/>
                </a:ln>
              </p:spPr>
              <p:txBody>
                <a:bodyPr/>
                <a:lstStyle/>
                <a:p>
                  <a:endParaRPr lang="zh-CN" altLang="en-US"/>
                </a:p>
              </p:txBody>
            </p:sp>
            <p:sp>
              <p:nvSpPr>
                <p:cNvPr id="1049418" name="Line 13"/>
                <p:cNvSpPr>
                  <a:spLocks noChangeShapeType="1"/>
                </p:cNvSpPr>
                <p:nvPr/>
              </p:nvSpPr>
              <p:spPr bwMode="auto">
                <a:xfrm>
                  <a:off x="1896" y="2292"/>
                  <a:ext cx="512" cy="0"/>
                </a:xfrm>
                <a:prstGeom prst="line">
                  <a:avLst/>
                </a:prstGeom>
                <a:noFill/>
                <a:ln w="19050">
                  <a:solidFill>
                    <a:srgbClr val="000000"/>
                  </a:solidFill>
                  <a:round/>
                  <a:headEnd/>
                  <a:tailEnd/>
                </a:ln>
              </p:spPr>
              <p:txBody>
                <a:bodyPr/>
                <a:lstStyle/>
                <a:p>
                  <a:endParaRPr lang="zh-CN" altLang="en-US"/>
                </a:p>
              </p:txBody>
            </p:sp>
            <p:sp>
              <p:nvSpPr>
                <p:cNvPr id="1049419" name="Line 14"/>
                <p:cNvSpPr>
                  <a:spLocks noChangeShapeType="1"/>
                </p:cNvSpPr>
                <p:nvPr/>
              </p:nvSpPr>
              <p:spPr bwMode="auto">
                <a:xfrm flipH="1" flipV="1">
                  <a:off x="2408" y="2292"/>
                  <a:ext cx="152" cy="152"/>
                </a:xfrm>
                <a:prstGeom prst="line">
                  <a:avLst/>
                </a:prstGeom>
                <a:noFill/>
                <a:ln w="19050">
                  <a:solidFill>
                    <a:srgbClr val="000000"/>
                  </a:solidFill>
                  <a:round/>
                  <a:headEnd/>
                  <a:tailEnd/>
                </a:ln>
              </p:spPr>
              <p:txBody>
                <a:bodyPr/>
                <a:lstStyle/>
                <a:p>
                  <a:endParaRPr lang="zh-CN" altLang="en-US"/>
                </a:p>
              </p:txBody>
            </p:sp>
            <p:sp>
              <p:nvSpPr>
                <p:cNvPr id="1049420" name="Line 15"/>
                <p:cNvSpPr>
                  <a:spLocks noChangeShapeType="1"/>
                </p:cNvSpPr>
                <p:nvPr/>
              </p:nvSpPr>
              <p:spPr bwMode="auto">
                <a:xfrm flipV="1">
                  <a:off x="1844" y="2356"/>
                  <a:ext cx="0" cy="92"/>
                </a:xfrm>
                <a:prstGeom prst="line">
                  <a:avLst/>
                </a:prstGeom>
                <a:noFill/>
                <a:ln w="9525">
                  <a:solidFill>
                    <a:srgbClr val="000000"/>
                  </a:solidFill>
                  <a:round/>
                  <a:headEnd/>
                  <a:tailEnd type="arrow" w="med" len="med"/>
                </a:ln>
              </p:spPr>
              <p:txBody>
                <a:bodyPr/>
                <a:lstStyle/>
                <a:p>
                  <a:endParaRPr lang="zh-CN" altLang="en-US"/>
                </a:p>
              </p:txBody>
            </p:sp>
            <p:sp>
              <p:nvSpPr>
                <p:cNvPr id="1049421" name="Line 16"/>
                <p:cNvSpPr>
                  <a:spLocks noChangeShapeType="1"/>
                </p:cNvSpPr>
                <p:nvPr/>
              </p:nvSpPr>
              <p:spPr bwMode="auto">
                <a:xfrm flipV="1">
                  <a:off x="1932" y="2292"/>
                  <a:ext cx="0" cy="152"/>
                </a:xfrm>
                <a:prstGeom prst="line">
                  <a:avLst/>
                </a:prstGeom>
                <a:noFill/>
                <a:ln w="9525">
                  <a:solidFill>
                    <a:srgbClr val="000000"/>
                  </a:solidFill>
                  <a:round/>
                  <a:headEnd/>
                  <a:tailEnd type="arrow" w="med" len="med"/>
                </a:ln>
              </p:spPr>
              <p:txBody>
                <a:bodyPr/>
                <a:lstStyle/>
                <a:p>
                  <a:endParaRPr lang="zh-CN" altLang="en-US"/>
                </a:p>
              </p:txBody>
            </p:sp>
            <p:sp>
              <p:nvSpPr>
                <p:cNvPr id="1049422" name="Line 17"/>
                <p:cNvSpPr>
                  <a:spLocks noChangeShapeType="1"/>
                </p:cNvSpPr>
                <p:nvPr/>
              </p:nvSpPr>
              <p:spPr bwMode="auto">
                <a:xfrm flipV="1">
                  <a:off x="2042" y="2292"/>
                  <a:ext cx="0" cy="160"/>
                </a:xfrm>
                <a:prstGeom prst="line">
                  <a:avLst/>
                </a:prstGeom>
                <a:noFill/>
                <a:ln w="9525">
                  <a:solidFill>
                    <a:srgbClr val="000000"/>
                  </a:solidFill>
                  <a:round/>
                  <a:headEnd/>
                  <a:tailEnd type="arrow" w="med" len="med"/>
                </a:ln>
              </p:spPr>
              <p:txBody>
                <a:bodyPr/>
                <a:lstStyle/>
                <a:p>
                  <a:endParaRPr lang="zh-CN" altLang="en-US"/>
                </a:p>
              </p:txBody>
            </p:sp>
            <p:sp>
              <p:nvSpPr>
                <p:cNvPr id="1049423" name="Line 18"/>
                <p:cNvSpPr>
                  <a:spLocks noChangeShapeType="1"/>
                </p:cNvSpPr>
                <p:nvPr/>
              </p:nvSpPr>
              <p:spPr bwMode="auto">
                <a:xfrm flipV="1">
                  <a:off x="2152" y="2292"/>
                  <a:ext cx="0" cy="152"/>
                </a:xfrm>
                <a:prstGeom prst="line">
                  <a:avLst/>
                </a:prstGeom>
                <a:noFill/>
                <a:ln w="9525">
                  <a:solidFill>
                    <a:srgbClr val="000000"/>
                  </a:solidFill>
                  <a:round/>
                  <a:headEnd/>
                  <a:tailEnd type="arrow" w="med" len="med"/>
                </a:ln>
              </p:spPr>
              <p:txBody>
                <a:bodyPr/>
                <a:lstStyle/>
                <a:p>
                  <a:endParaRPr lang="zh-CN" altLang="en-US"/>
                </a:p>
              </p:txBody>
            </p:sp>
            <p:sp>
              <p:nvSpPr>
                <p:cNvPr id="1049424" name="Line 19"/>
                <p:cNvSpPr>
                  <a:spLocks noChangeShapeType="1"/>
                </p:cNvSpPr>
                <p:nvPr/>
              </p:nvSpPr>
              <p:spPr bwMode="auto">
                <a:xfrm flipV="1">
                  <a:off x="2262" y="2292"/>
                  <a:ext cx="0" cy="164"/>
                </a:xfrm>
                <a:prstGeom prst="line">
                  <a:avLst/>
                </a:prstGeom>
                <a:noFill/>
                <a:ln w="9525">
                  <a:solidFill>
                    <a:srgbClr val="000000"/>
                  </a:solidFill>
                  <a:round/>
                  <a:headEnd/>
                  <a:tailEnd type="arrow" w="med" len="med"/>
                </a:ln>
              </p:spPr>
              <p:txBody>
                <a:bodyPr/>
                <a:lstStyle/>
                <a:p>
                  <a:endParaRPr lang="zh-CN" altLang="en-US"/>
                </a:p>
              </p:txBody>
            </p:sp>
            <p:sp>
              <p:nvSpPr>
                <p:cNvPr id="1049425" name="Line 20"/>
                <p:cNvSpPr>
                  <a:spLocks noChangeShapeType="1"/>
                </p:cNvSpPr>
                <p:nvPr/>
              </p:nvSpPr>
              <p:spPr bwMode="auto">
                <a:xfrm flipV="1">
                  <a:off x="2372" y="2292"/>
                  <a:ext cx="0" cy="156"/>
                </a:xfrm>
                <a:prstGeom prst="line">
                  <a:avLst/>
                </a:prstGeom>
                <a:noFill/>
                <a:ln w="9525">
                  <a:solidFill>
                    <a:srgbClr val="000000"/>
                  </a:solidFill>
                  <a:round/>
                  <a:headEnd/>
                  <a:tailEnd type="arrow" w="med" len="med"/>
                </a:ln>
              </p:spPr>
              <p:txBody>
                <a:bodyPr/>
                <a:lstStyle/>
                <a:p>
                  <a:endParaRPr lang="zh-CN" altLang="en-US"/>
                </a:p>
              </p:txBody>
            </p:sp>
            <p:sp>
              <p:nvSpPr>
                <p:cNvPr id="1049426" name="Line 21"/>
                <p:cNvSpPr>
                  <a:spLocks noChangeShapeType="1"/>
                </p:cNvSpPr>
                <p:nvPr/>
              </p:nvSpPr>
              <p:spPr bwMode="auto">
                <a:xfrm flipV="1">
                  <a:off x="2476" y="2356"/>
                  <a:ext cx="0" cy="88"/>
                </a:xfrm>
                <a:prstGeom prst="line">
                  <a:avLst/>
                </a:prstGeom>
                <a:noFill/>
                <a:ln w="9525">
                  <a:solidFill>
                    <a:srgbClr val="000000"/>
                  </a:solidFill>
                  <a:round/>
                  <a:headEnd/>
                  <a:tailEnd type="arrow" w="med" len="med"/>
                </a:ln>
              </p:spPr>
              <p:txBody>
                <a:bodyPr/>
                <a:lstStyle/>
                <a:p>
                  <a:endParaRPr lang="zh-CN" altLang="en-US"/>
                </a:p>
              </p:txBody>
            </p:sp>
            <p:sp>
              <p:nvSpPr>
                <p:cNvPr id="1049427" name="Rectangle 22"/>
                <p:cNvSpPr>
                  <a:spLocks noChangeArrowheads="1"/>
                </p:cNvSpPr>
                <p:nvPr/>
              </p:nvSpPr>
              <p:spPr bwMode="auto">
                <a:xfrm>
                  <a:off x="1744" y="2568"/>
                  <a:ext cx="816" cy="312"/>
                </a:xfrm>
                <a:prstGeom prst="rect">
                  <a:avLst/>
                </a:prstGeom>
                <a:noFill/>
                <a:ln w="28575">
                  <a:solidFill>
                    <a:srgbClr val="000000"/>
                  </a:solidFill>
                  <a:miter lim="800000"/>
                  <a:headEnd/>
                  <a:tailEnd/>
                </a:ln>
              </p:spPr>
              <p:txBody>
                <a:bodyPr wrap="none" anchor="ctr"/>
                <a:lstStyle/>
                <a:p>
                  <a:endParaRPr lang="zh-CN" altLang="en-US"/>
                </a:p>
              </p:txBody>
            </p:sp>
            <p:sp>
              <p:nvSpPr>
                <p:cNvPr id="1049428" name="Rectangle 23"/>
                <p:cNvSpPr>
                  <a:spLocks noChangeArrowheads="1"/>
                </p:cNvSpPr>
                <p:nvPr/>
              </p:nvSpPr>
              <p:spPr bwMode="auto">
                <a:xfrm>
                  <a:off x="1928" y="2572"/>
                  <a:ext cx="448" cy="88"/>
                </a:xfrm>
                <a:prstGeom prst="rect">
                  <a:avLst/>
                </a:prstGeom>
                <a:noFill/>
                <a:ln w="28575">
                  <a:solidFill>
                    <a:srgbClr val="000000"/>
                  </a:solidFill>
                  <a:miter lim="800000"/>
                  <a:headEnd/>
                  <a:tailEnd/>
                </a:ln>
              </p:spPr>
              <p:txBody>
                <a:bodyPr wrap="none" anchor="ctr"/>
                <a:lstStyle/>
                <a:p>
                  <a:endParaRPr lang="zh-CN" altLang="en-US"/>
                </a:p>
              </p:txBody>
            </p:sp>
            <p:sp>
              <p:nvSpPr>
                <p:cNvPr id="1049429" name="Rectangle 24"/>
                <p:cNvSpPr>
                  <a:spLocks noChangeArrowheads="1"/>
                </p:cNvSpPr>
                <p:nvPr/>
              </p:nvSpPr>
              <p:spPr bwMode="auto">
                <a:xfrm>
                  <a:off x="2049" y="2661"/>
                  <a:ext cx="201" cy="219"/>
                </a:xfrm>
                <a:prstGeom prst="rect">
                  <a:avLst/>
                </a:prstGeom>
                <a:noFill/>
                <a:ln w="28575">
                  <a:solidFill>
                    <a:srgbClr val="000000"/>
                  </a:solidFill>
                  <a:miter lim="800000"/>
                  <a:headEnd/>
                  <a:tailEnd/>
                </a:ln>
              </p:spPr>
              <p:txBody>
                <a:bodyPr wrap="none" anchor="ctr"/>
                <a:lstStyle/>
                <a:p>
                  <a:endParaRPr lang="zh-CN" altLang="en-US"/>
                </a:p>
              </p:txBody>
            </p:sp>
            <p:sp>
              <p:nvSpPr>
                <p:cNvPr id="1049430" name="Line 25"/>
                <p:cNvSpPr>
                  <a:spLocks noChangeShapeType="1"/>
                </p:cNvSpPr>
                <p:nvPr/>
              </p:nvSpPr>
              <p:spPr bwMode="auto">
                <a:xfrm>
                  <a:off x="2151" y="2529"/>
                  <a:ext cx="0" cy="660"/>
                </a:xfrm>
                <a:prstGeom prst="line">
                  <a:avLst/>
                </a:prstGeom>
                <a:noFill/>
                <a:ln w="12700">
                  <a:solidFill>
                    <a:srgbClr val="000000"/>
                  </a:solidFill>
                  <a:prstDash val="lgDashDot"/>
                  <a:round/>
                  <a:headEnd/>
                  <a:tailEnd/>
                </a:ln>
              </p:spPr>
              <p:txBody>
                <a:bodyPr/>
                <a:lstStyle/>
                <a:p>
                  <a:endParaRPr lang="zh-CN" altLang="en-US"/>
                </a:p>
              </p:txBody>
            </p:sp>
            <p:sp>
              <p:nvSpPr>
                <p:cNvPr id="1049431" name="Line 26"/>
                <p:cNvSpPr>
                  <a:spLocks noChangeShapeType="1"/>
                </p:cNvSpPr>
                <p:nvPr/>
              </p:nvSpPr>
              <p:spPr bwMode="auto">
                <a:xfrm>
                  <a:off x="1743" y="2838"/>
                  <a:ext cx="36" cy="36"/>
                </a:xfrm>
                <a:prstGeom prst="line">
                  <a:avLst/>
                </a:prstGeom>
                <a:noFill/>
                <a:ln w="9525">
                  <a:solidFill>
                    <a:srgbClr val="000000"/>
                  </a:solidFill>
                  <a:round/>
                  <a:headEnd/>
                  <a:tailEnd/>
                </a:ln>
              </p:spPr>
              <p:txBody>
                <a:bodyPr/>
                <a:lstStyle/>
                <a:p>
                  <a:endParaRPr lang="zh-CN" altLang="en-US"/>
                </a:p>
              </p:txBody>
            </p:sp>
            <p:sp>
              <p:nvSpPr>
                <p:cNvPr id="1049432" name="Line 27"/>
                <p:cNvSpPr>
                  <a:spLocks noChangeShapeType="1"/>
                </p:cNvSpPr>
                <p:nvPr/>
              </p:nvSpPr>
              <p:spPr bwMode="auto">
                <a:xfrm>
                  <a:off x="1740" y="2772"/>
                  <a:ext cx="105" cy="105"/>
                </a:xfrm>
                <a:prstGeom prst="line">
                  <a:avLst/>
                </a:prstGeom>
                <a:noFill/>
                <a:ln w="9525">
                  <a:solidFill>
                    <a:srgbClr val="000000"/>
                  </a:solidFill>
                  <a:round/>
                  <a:headEnd/>
                  <a:tailEnd/>
                </a:ln>
              </p:spPr>
              <p:txBody>
                <a:bodyPr/>
                <a:lstStyle/>
                <a:p>
                  <a:endParaRPr lang="zh-CN" altLang="en-US"/>
                </a:p>
              </p:txBody>
            </p:sp>
            <p:sp>
              <p:nvSpPr>
                <p:cNvPr id="1049433" name="Line 28"/>
                <p:cNvSpPr>
                  <a:spLocks noChangeShapeType="1"/>
                </p:cNvSpPr>
                <p:nvPr/>
              </p:nvSpPr>
              <p:spPr bwMode="auto">
                <a:xfrm>
                  <a:off x="1743" y="2706"/>
                  <a:ext cx="168" cy="168"/>
                </a:xfrm>
                <a:prstGeom prst="line">
                  <a:avLst/>
                </a:prstGeom>
                <a:noFill/>
                <a:ln w="9525">
                  <a:solidFill>
                    <a:srgbClr val="000000"/>
                  </a:solidFill>
                  <a:round/>
                  <a:headEnd/>
                  <a:tailEnd/>
                </a:ln>
              </p:spPr>
              <p:txBody>
                <a:bodyPr/>
                <a:lstStyle/>
                <a:p>
                  <a:endParaRPr lang="zh-CN" altLang="en-US"/>
                </a:p>
              </p:txBody>
            </p:sp>
            <p:sp>
              <p:nvSpPr>
                <p:cNvPr id="1049434" name="Line 29"/>
                <p:cNvSpPr>
                  <a:spLocks noChangeShapeType="1"/>
                </p:cNvSpPr>
                <p:nvPr/>
              </p:nvSpPr>
              <p:spPr bwMode="auto">
                <a:xfrm>
                  <a:off x="1743" y="2640"/>
                  <a:ext cx="234" cy="234"/>
                </a:xfrm>
                <a:prstGeom prst="line">
                  <a:avLst/>
                </a:prstGeom>
                <a:noFill/>
                <a:ln w="9525">
                  <a:solidFill>
                    <a:srgbClr val="000000"/>
                  </a:solidFill>
                  <a:round/>
                  <a:headEnd/>
                  <a:tailEnd/>
                </a:ln>
              </p:spPr>
              <p:txBody>
                <a:bodyPr/>
                <a:lstStyle/>
                <a:p>
                  <a:endParaRPr lang="zh-CN" altLang="en-US"/>
                </a:p>
              </p:txBody>
            </p:sp>
            <p:sp>
              <p:nvSpPr>
                <p:cNvPr id="1049435" name="Line 30"/>
                <p:cNvSpPr>
                  <a:spLocks noChangeShapeType="1"/>
                </p:cNvSpPr>
                <p:nvPr/>
              </p:nvSpPr>
              <p:spPr bwMode="auto">
                <a:xfrm>
                  <a:off x="1749" y="2574"/>
                  <a:ext cx="291" cy="291"/>
                </a:xfrm>
                <a:prstGeom prst="line">
                  <a:avLst/>
                </a:prstGeom>
                <a:noFill/>
                <a:ln w="9525">
                  <a:solidFill>
                    <a:srgbClr val="000000"/>
                  </a:solidFill>
                  <a:round/>
                  <a:headEnd/>
                  <a:tailEnd/>
                </a:ln>
              </p:spPr>
              <p:txBody>
                <a:bodyPr/>
                <a:lstStyle/>
                <a:p>
                  <a:endParaRPr lang="zh-CN" altLang="en-US"/>
                </a:p>
              </p:txBody>
            </p:sp>
            <p:sp>
              <p:nvSpPr>
                <p:cNvPr id="1049436" name="Line 31"/>
                <p:cNvSpPr>
                  <a:spLocks noChangeShapeType="1"/>
                </p:cNvSpPr>
                <p:nvPr/>
              </p:nvSpPr>
              <p:spPr bwMode="auto">
                <a:xfrm>
                  <a:off x="1809" y="2574"/>
                  <a:ext cx="237" cy="237"/>
                </a:xfrm>
                <a:prstGeom prst="line">
                  <a:avLst/>
                </a:prstGeom>
                <a:noFill/>
                <a:ln w="9525">
                  <a:solidFill>
                    <a:srgbClr val="000000"/>
                  </a:solidFill>
                  <a:round/>
                  <a:headEnd/>
                  <a:tailEnd/>
                </a:ln>
              </p:spPr>
              <p:txBody>
                <a:bodyPr/>
                <a:lstStyle/>
                <a:p>
                  <a:endParaRPr lang="zh-CN" altLang="en-US"/>
                </a:p>
              </p:txBody>
            </p:sp>
            <p:sp>
              <p:nvSpPr>
                <p:cNvPr id="1049437" name="Line 32"/>
                <p:cNvSpPr>
                  <a:spLocks noChangeShapeType="1"/>
                </p:cNvSpPr>
                <p:nvPr/>
              </p:nvSpPr>
              <p:spPr bwMode="auto">
                <a:xfrm>
                  <a:off x="1875" y="2571"/>
                  <a:ext cx="45" cy="45"/>
                </a:xfrm>
                <a:prstGeom prst="line">
                  <a:avLst/>
                </a:prstGeom>
                <a:noFill/>
                <a:ln w="9525">
                  <a:solidFill>
                    <a:srgbClr val="000000"/>
                  </a:solidFill>
                  <a:round/>
                  <a:headEnd/>
                  <a:tailEnd/>
                </a:ln>
              </p:spPr>
              <p:txBody>
                <a:bodyPr/>
                <a:lstStyle/>
                <a:p>
                  <a:endParaRPr lang="zh-CN" altLang="en-US"/>
                </a:p>
              </p:txBody>
            </p:sp>
            <p:sp>
              <p:nvSpPr>
                <p:cNvPr id="1049438" name="Line 33"/>
                <p:cNvSpPr>
                  <a:spLocks noChangeShapeType="1"/>
                </p:cNvSpPr>
                <p:nvPr/>
              </p:nvSpPr>
              <p:spPr bwMode="auto">
                <a:xfrm>
                  <a:off x="1965" y="2658"/>
                  <a:ext cx="84" cy="84"/>
                </a:xfrm>
                <a:prstGeom prst="line">
                  <a:avLst/>
                </a:prstGeom>
                <a:noFill/>
                <a:ln w="9525">
                  <a:solidFill>
                    <a:srgbClr val="000000"/>
                  </a:solidFill>
                  <a:round/>
                  <a:headEnd/>
                  <a:tailEnd/>
                </a:ln>
              </p:spPr>
              <p:txBody>
                <a:bodyPr/>
                <a:lstStyle/>
                <a:p>
                  <a:endParaRPr lang="zh-CN" altLang="en-US"/>
                </a:p>
              </p:txBody>
            </p:sp>
            <p:sp>
              <p:nvSpPr>
                <p:cNvPr id="1049439" name="Line 34"/>
                <p:cNvSpPr>
                  <a:spLocks noChangeShapeType="1"/>
                </p:cNvSpPr>
                <p:nvPr/>
              </p:nvSpPr>
              <p:spPr bwMode="auto">
                <a:xfrm>
                  <a:off x="2250" y="2817"/>
                  <a:ext cx="63" cy="63"/>
                </a:xfrm>
                <a:prstGeom prst="line">
                  <a:avLst/>
                </a:prstGeom>
                <a:noFill/>
                <a:ln w="9525">
                  <a:solidFill>
                    <a:srgbClr val="000000"/>
                  </a:solidFill>
                  <a:round/>
                  <a:headEnd/>
                  <a:tailEnd/>
                </a:ln>
              </p:spPr>
              <p:txBody>
                <a:bodyPr/>
                <a:lstStyle/>
                <a:p>
                  <a:endParaRPr lang="zh-CN" altLang="en-US"/>
                </a:p>
              </p:txBody>
            </p:sp>
            <p:sp>
              <p:nvSpPr>
                <p:cNvPr id="1049440" name="Line 35"/>
                <p:cNvSpPr>
                  <a:spLocks noChangeShapeType="1"/>
                </p:cNvSpPr>
                <p:nvPr/>
              </p:nvSpPr>
              <p:spPr bwMode="auto">
                <a:xfrm>
                  <a:off x="2244" y="2745"/>
                  <a:ext cx="135" cy="135"/>
                </a:xfrm>
                <a:prstGeom prst="line">
                  <a:avLst/>
                </a:prstGeom>
                <a:noFill/>
                <a:ln w="9525">
                  <a:solidFill>
                    <a:srgbClr val="000000"/>
                  </a:solidFill>
                  <a:round/>
                  <a:headEnd/>
                  <a:tailEnd/>
                </a:ln>
              </p:spPr>
              <p:txBody>
                <a:bodyPr/>
                <a:lstStyle/>
                <a:p>
                  <a:endParaRPr lang="zh-CN" altLang="en-US"/>
                </a:p>
              </p:txBody>
            </p:sp>
            <p:sp>
              <p:nvSpPr>
                <p:cNvPr id="1049441" name="Line 36"/>
                <p:cNvSpPr>
                  <a:spLocks noChangeShapeType="1"/>
                </p:cNvSpPr>
                <p:nvPr/>
              </p:nvSpPr>
              <p:spPr bwMode="auto">
                <a:xfrm>
                  <a:off x="2250" y="2682"/>
                  <a:ext cx="192" cy="192"/>
                </a:xfrm>
                <a:prstGeom prst="line">
                  <a:avLst/>
                </a:prstGeom>
                <a:noFill/>
                <a:ln w="9525">
                  <a:solidFill>
                    <a:srgbClr val="000000"/>
                  </a:solidFill>
                  <a:round/>
                  <a:headEnd/>
                  <a:tailEnd/>
                </a:ln>
              </p:spPr>
              <p:txBody>
                <a:bodyPr/>
                <a:lstStyle/>
                <a:p>
                  <a:endParaRPr lang="zh-CN" altLang="en-US"/>
                </a:p>
              </p:txBody>
            </p:sp>
            <p:sp>
              <p:nvSpPr>
                <p:cNvPr id="1049442" name="Line 37"/>
                <p:cNvSpPr>
                  <a:spLocks noChangeShapeType="1"/>
                </p:cNvSpPr>
                <p:nvPr/>
              </p:nvSpPr>
              <p:spPr bwMode="auto">
                <a:xfrm>
                  <a:off x="2304" y="2664"/>
                  <a:ext cx="204" cy="204"/>
                </a:xfrm>
                <a:prstGeom prst="line">
                  <a:avLst/>
                </a:prstGeom>
                <a:noFill/>
                <a:ln w="9525">
                  <a:solidFill>
                    <a:srgbClr val="000000"/>
                  </a:solidFill>
                  <a:round/>
                  <a:headEnd/>
                  <a:tailEnd/>
                </a:ln>
              </p:spPr>
              <p:txBody>
                <a:bodyPr/>
                <a:lstStyle/>
                <a:p>
                  <a:endParaRPr lang="zh-CN" altLang="en-US"/>
                </a:p>
              </p:txBody>
            </p:sp>
            <p:sp>
              <p:nvSpPr>
                <p:cNvPr id="1049443" name="Line 38"/>
                <p:cNvSpPr>
                  <a:spLocks noChangeShapeType="1"/>
                </p:cNvSpPr>
                <p:nvPr/>
              </p:nvSpPr>
              <p:spPr bwMode="auto">
                <a:xfrm>
                  <a:off x="2364" y="2658"/>
                  <a:ext cx="189" cy="189"/>
                </a:xfrm>
                <a:prstGeom prst="line">
                  <a:avLst/>
                </a:prstGeom>
                <a:noFill/>
                <a:ln w="9525">
                  <a:solidFill>
                    <a:srgbClr val="000000"/>
                  </a:solidFill>
                  <a:round/>
                  <a:headEnd/>
                  <a:tailEnd/>
                </a:ln>
              </p:spPr>
              <p:txBody>
                <a:bodyPr/>
                <a:lstStyle/>
                <a:p>
                  <a:endParaRPr lang="zh-CN" altLang="en-US"/>
                </a:p>
              </p:txBody>
            </p:sp>
            <p:sp>
              <p:nvSpPr>
                <p:cNvPr id="1049444" name="Line 39"/>
                <p:cNvSpPr>
                  <a:spLocks noChangeShapeType="1"/>
                </p:cNvSpPr>
                <p:nvPr/>
              </p:nvSpPr>
              <p:spPr bwMode="auto">
                <a:xfrm>
                  <a:off x="2382" y="2613"/>
                  <a:ext cx="177" cy="177"/>
                </a:xfrm>
                <a:prstGeom prst="line">
                  <a:avLst/>
                </a:prstGeom>
                <a:noFill/>
                <a:ln w="9525">
                  <a:solidFill>
                    <a:srgbClr val="000000"/>
                  </a:solidFill>
                  <a:round/>
                  <a:headEnd/>
                  <a:tailEnd/>
                </a:ln>
              </p:spPr>
              <p:txBody>
                <a:bodyPr/>
                <a:lstStyle/>
                <a:p>
                  <a:endParaRPr lang="zh-CN" altLang="en-US"/>
                </a:p>
              </p:txBody>
            </p:sp>
            <p:sp>
              <p:nvSpPr>
                <p:cNvPr id="1049445" name="Line 40"/>
                <p:cNvSpPr>
                  <a:spLocks noChangeShapeType="1"/>
                </p:cNvSpPr>
                <p:nvPr/>
              </p:nvSpPr>
              <p:spPr bwMode="auto">
                <a:xfrm>
                  <a:off x="2409" y="2574"/>
                  <a:ext cx="156" cy="156"/>
                </a:xfrm>
                <a:prstGeom prst="line">
                  <a:avLst/>
                </a:prstGeom>
                <a:noFill/>
                <a:ln w="9525">
                  <a:solidFill>
                    <a:srgbClr val="000000"/>
                  </a:solidFill>
                  <a:round/>
                  <a:headEnd/>
                  <a:tailEnd/>
                </a:ln>
              </p:spPr>
              <p:txBody>
                <a:bodyPr/>
                <a:lstStyle/>
                <a:p>
                  <a:endParaRPr lang="zh-CN" altLang="en-US"/>
                </a:p>
              </p:txBody>
            </p:sp>
            <p:sp>
              <p:nvSpPr>
                <p:cNvPr id="1049446" name="Line 41"/>
                <p:cNvSpPr>
                  <a:spLocks noChangeShapeType="1"/>
                </p:cNvSpPr>
                <p:nvPr/>
              </p:nvSpPr>
              <p:spPr bwMode="auto">
                <a:xfrm>
                  <a:off x="2469" y="2571"/>
                  <a:ext cx="78" cy="78"/>
                </a:xfrm>
                <a:prstGeom prst="line">
                  <a:avLst/>
                </a:prstGeom>
                <a:noFill/>
                <a:ln w="9525">
                  <a:solidFill>
                    <a:srgbClr val="000000"/>
                  </a:solidFill>
                  <a:round/>
                  <a:headEnd/>
                  <a:tailEnd/>
                </a:ln>
              </p:spPr>
              <p:txBody>
                <a:bodyPr/>
                <a:lstStyle/>
                <a:p>
                  <a:endParaRPr lang="zh-CN" altLang="en-US"/>
                </a:p>
              </p:txBody>
            </p:sp>
            <p:sp>
              <p:nvSpPr>
                <p:cNvPr id="1049447" name="Line 42"/>
                <p:cNvSpPr>
                  <a:spLocks noChangeShapeType="1"/>
                </p:cNvSpPr>
                <p:nvPr/>
              </p:nvSpPr>
              <p:spPr bwMode="auto">
                <a:xfrm>
                  <a:off x="2532" y="2574"/>
                  <a:ext cx="30" cy="30"/>
                </a:xfrm>
                <a:prstGeom prst="line">
                  <a:avLst/>
                </a:prstGeom>
                <a:noFill/>
                <a:ln w="9525">
                  <a:solidFill>
                    <a:srgbClr val="000000"/>
                  </a:solidFill>
                  <a:round/>
                  <a:headEnd/>
                  <a:tailEnd/>
                </a:ln>
              </p:spPr>
              <p:txBody>
                <a:bodyPr/>
                <a:lstStyle/>
                <a:p>
                  <a:endParaRPr lang="zh-CN" altLang="en-US"/>
                </a:p>
              </p:txBody>
            </p:sp>
            <p:sp>
              <p:nvSpPr>
                <p:cNvPr id="1049448" name="Line 43"/>
                <p:cNvSpPr>
                  <a:spLocks noChangeShapeType="1"/>
                </p:cNvSpPr>
                <p:nvPr/>
              </p:nvSpPr>
              <p:spPr bwMode="auto">
                <a:xfrm>
                  <a:off x="2154" y="3084"/>
                  <a:ext cx="765" cy="0"/>
                </a:xfrm>
                <a:prstGeom prst="line">
                  <a:avLst/>
                </a:prstGeom>
                <a:noFill/>
                <a:ln w="19050">
                  <a:solidFill>
                    <a:srgbClr val="000000"/>
                  </a:solidFill>
                  <a:round/>
                  <a:headEnd/>
                  <a:tailEnd/>
                </a:ln>
              </p:spPr>
              <p:txBody>
                <a:bodyPr/>
                <a:lstStyle/>
                <a:p>
                  <a:endParaRPr lang="zh-CN" altLang="en-US"/>
                </a:p>
              </p:txBody>
            </p:sp>
            <p:sp>
              <p:nvSpPr>
                <p:cNvPr id="1049449" name="Line 44"/>
                <p:cNvSpPr>
                  <a:spLocks noChangeShapeType="1"/>
                </p:cNvSpPr>
                <p:nvPr/>
              </p:nvSpPr>
              <p:spPr bwMode="auto">
                <a:xfrm>
                  <a:off x="2922" y="3482"/>
                  <a:ext cx="0" cy="132"/>
                </a:xfrm>
                <a:prstGeom prst="line">
                  <a:avLst/>
                </a:prstGeom>
                <a:noFill/>
                <a:ln w="19050">
                  <a:solidFill>
                    <a:srgbClr val="000000"/>
                  </a:solidFill>
                  <a:round/>
                  <a:headEnd/>
                  <a:tailEnd/>
                </a:ln>
              </p:spPr>
              <p:txBody>
                <a:bodyPr/>
                <a:lstStyle/>
                <a:p>
                  <a:endParaRPr lang="zh-CN" altLang="en-US"/>
                </a:p>
              </p:txBody>
            </p:sp>
            <p:sp>
              <p:nvSpPr>
                <p:cNvPr id="1049450" name="Line 45"/>
                <p:cNvSpPr>
                  <a:spLocks noChangeShapeType="1"/>
                </p:cNvSpPr>
                <p:nvPr/>
              </p:nvSpPr>
              <p:spPr bwMode="auto">
                <a:xfrm>
                  <a:off x="2721" y="3521"/>
                  <a:ext cx="0" cy="93"/>
                </a:xfrm>
                <a:prstGeom prst="line">
                  <a:avLst/>
                </a:prstGeom>
                <a:noFill/>
                <a:ln w="28575">
                  <a:solidFill>
                    <a:srgbClr val="000000"/>
                  </a:solidFill>
                  <a:round/>
                  <a:headEnd/>
                  <a:tailEnd/>
                </a:ln>
              </p:spPr>
              <p:txBody>
                <a:bodyPr/>
                <a:lstStyle/>
                <a:p>
                  <a:endParaRPr lang="zh-CN" altLang="en-US"/>
                </a:p>
              </p:txBody>
            </p:sp>
            <p:sp>
              <p:nvSpPr>
                <p:cNvPr id="1049451" name="Line 46"/>
                <p:cNvSpPr>
                  <a:spLocks noChangeShapeType="1"/>
                </p:cNvSpPr>
                <p:nvPr/>
              </p:nvSpPr>
              <p:spPr bwMode="auto">
                <a:xfrm>
                  <a:off x="2712" y="3614"/>
                  <a:ext cx="432" cy="0"/>
                </a:xfrm>
                <a:prstGeom prst="line">
                  <a:avLst/>
                </a:prstGeom>
                <a:noFill/>
                <a:ln w="28575">
                  <a:solidFill>
                    <a:srgbClr val="000000"/>
                  </a:solidFill>
                  <a:round/>
                  <a:headEnd/>
                  <a:tailEnd/>
                </a:ln>
              </p:spPr>
              <p:txBody>
                <a:bodyPr/>
                <a:lstStyle/>
                <a:p>
                  <a:endParaRPr lang="zh-CN" altLang="en-US"/>
                </a:p>
              </p:txBody>
            </p:sp>
            <p:sp>
              <p:nvSpPr>
                <p:cNvPr id="1049452" name="Line 47"/>
                <p:cNvSpPr>
                  <a:spLocks noChangeShapeType="1"/>
                </p:cNvSpPr>
                <p:nvPr/>
              </p:nvSpPr>
              <p:spPr bwMode="auto">
                <a:xfrm flipV="1">
                  <a:off x="3135" y="3527"/>
                  <a:ext cx="0" cy="87"/>
                </a:xfrm>
                <a:prstGeom prst="line">
                  <a:avLst/>
                </a:prstGeom>
                <a:noFill/>
                <a:ln w="28575">
                  <a:solidFill>
                    <a:srgbClr val="000000"/>
                  </a:solidFill>
                  <a:round/>
                  <a:headEnd/>
                  <a:tailEnd/>
                </a:ln>
              </p:spPr>
              <p:txBody>
                <a:bodyPr/>
                <a:lstStyle/>
                <a:p>
                  <a:endParaRPr lang="zh-CN" altLang="en-US"/>
                </a:p>
              </p:txBody>
            </p:sp>
            <p:sp>
              <p:nvSpPr>
                <p:cNvPr id="1049453" name="Line 48"/>
                <p:cNvSpPr>
                  <a:spLocks noChangeShapeType="1"/>
                </p:cNvSpPr>
                <p:nvPr/>
              </p:nvSpPr>
              <p:spPr bwMode="auto">
                <a:xfrm>
                  <a:off x="2919" y="3080"/>
                  <a:ext cx="0" cy="198"/>
                </a:xfrm>
                <a:prstGeom prst="line">
                  <a:avLst/>
                </a:prstGeom>
                <a:noFill/>
                <a:ln w="19050">
                  <a:solidFill>
                    <a:srgbClr val="000000"/>
                  </a:solidFill>
                  <a:round/>
                  <a:headEnd/>
                  <a:tailEnd/>
                </a:ln>
              </p:spPr>
              <p:txBody>
                <a:bodyPr/>
                <a:lstStyle/>
                <a:p>
                  <a:endParaRPr lang="zh-CN" altLang="en-US"/>
                </a:p>
              </p:txBody>
            </p:sp>
            <p:sp>
              <p:nvSpPr>
                <p:cNvPr id="1049454" name="Oval 49"/>
                <p:cNvSpPr>
                  <a:spLocks noChangeArrowheads="1"/>
                </p:cNvSpPr>
                <p:nvPr/>
              </p:nvSpPr>
              <p:spPr bwMode="auto">
                <a:xfrm>
                  <a:off x="2826" y="3284"/>
                  <a:ext cx="192" cy="192"/>
                </a:xfrm>
                <a:prstGeom prst="ellipse">
                  <a:avLst/>
                </a:prstGeom>
                <a:noFill/>
                <a:ln w="28575">
                  <a:solidFill>
                    <a:srgbClr val="000000"/>
                  </a:solidFill>
                  <a:round/>
                  <a:headEnd/>
                  <a:tailEnd/>
                </a:ln>
              </p:spPr>
              <p:txBody>
                <a:bodyPr wrap="none" anchor="ctr"/>
                <a:lstStyle/>
                <a:p>
                  <a:endParaRPr lang="zh-CN" altLang="en-US"/>
                </a:p>
              </p:txBody>
            </p:sp>
            <p:sp>
              <p:nvSpPr>
                <p:cNvPr id="1049455" name="Freeform 50"/>
                <p:cNvSpPr/>
                <p:nvPr/>
              </p:nvSpPr>
              <p:spPr bwMode="auto">
                <a:xfrm>
                  <a:off x="2352" y="3006"/>
                  <a:ext cx="252" cy="31"/>
                </a:xfrm>
                <a:custGeom>
                  <a:avLst/>
                  <a:gdLst>
                    <a:gd name="T0" fmla="*/ 0 w 252"/>
                    <a:gd name="T1" fmla="*/ 0 h 31"/>
                    <a:gd name="T2" fmla="*/ 81 w 252"/>
                    <a:gd name="T3" fmla="*/ 24 h 31"/>
                    <a:gd name="T4" fmla="*/ 153 w 252"/>
                    <a:gd name="T5" fmla="*/ 30 h 31"/>
                    <a:gd name="T6" fmla="*/ 228 w 252"/>
                    <a:gd name="T7" fmla="*/ 15 h 31"/>
                    <a:gd name="T8" fmla="*/ 252 w 252"/>
                    <a:gd name="T9" fmla="*/ 3 h 31"/>
                    <a:gd name="T10" fmla="*/ 0 60000 65536"/>
                    <a:gd name="T11" fmla="*/ 0 60000 65536"/>
                    <a:gd name="T12" fmla="*/ 0 60000 65536"/>
                    <a:gd name="T13" fmla="*/ 0 60000 65536"/>
                    <a:gd name="T14" fmla="*/ 0 60000 65536"/>
                    <a:gd name="T15" fmla="*/ 0 w 252"/>
                    <a:gd name="T16" fmla="*/ 0 h 31"/>
                    <a:gd name="T17" fmla="*/ 252 w 252"/>
                    <a:gd name="T18" fmla="*/ 31 h 31"/>
                  </a:gdLst>
                  <a:ahLst/>
                  <a:cxnLst>
                    <a:cxn ang="T10">
                      <a:pos x="T0" y="T1"/>
                    </a:cxn>
                    <a:cxn ang="T11">
                      <a:pos x="T2" y="T3"/>
                    </a:cxn>
                    <a:cxn ang="T12">
                      <a:pos x="T4" y="T5"/>
                    </a:cxn>
                    <a:cxn ang="T13">
                      <a:pos x="T6" y="T7"/>
                    </a:cxn>
                    <a:cxn ang="T14">
                      <a:pos x="T8" y="T9"/>
                    </a:cxn>
                  </a:cxnLst>
                  <a:rect l="T15" t="T16" r="T17" b="T18"/>
                  <a:pathLst>
                    <a:path w="252" h="31">
                      <a:moveTo>
                        <a:pt x="0" y="0"/>
                      </a:moveTo>
                      <a:cubicBezTo>
                        <a:pt x="28" y="9"/>
                        <a:pt x="56" y="19"/>
                        <a:pt x="81" y="24"/>
                      </a:cubicBezTo>
                      <a:cubicBezTo>
                        <a:pt x="106" y="29"/>
                        <a:pt x="129" y="31"/>
                        <a:pt x="153" y="30"/>
                      </a:cubicBezTo>
                      <a:cubicBezTo>
                        <a:pt x="177" y="29"/>
                        <a:pt x="212" y="19"/>
                        <a:pt x="228" y="15"/>
                      </a:cubicBezTo>
                      <a:cubicBezTo>
                        <a:pt x="244" y="11"/>
                        <a:pt x="248" y="7"/>
                        <a:pt x="252" y="3"/>
                      </a:cubicBezTo>
                    </a:path>
                  </a:pathLst>
                </a:custGeom>
                <a:noFill/>
                <a:ln w="19050">
                  <a:solidFill>
                    <a:srgbClr val="000000"/>
                  </a:solidFill>
                  <a:round/>
                  <a:headEnd/>
                  <a:tailEnd/>
                </a:ln>
              </p:spPr>
              <p:txBody>
                <a:bodyPr/>
                <a:lstStyle/>
                <a:p>
                  <a:endParaRPr lang="zh-CN" altLang="en-US"/>
                </a:p>
              </p:txBody>
            </p:sp>
            <p:sp>
              <p:nvSpPr>
                <p:cNvPr id="1049456" name="Freeform 51"/>
                <p:cNvSpPr/>
                <p:nvPr/>
              </p:nvSpPr>
              <p:spPr bwMode="auto">
                <a:xfrm>
                  <a:off x="2355" y="3129"/>
                  <a:ext cx="246" cy="30"/>
                </a:xfrm>
                <a:custGeom>
                  <a:avLst/>
                  <a:gdLst>
                    <a:gd name="T0" fmla="*/ 0 w 246"/>
                    <a:gd name="T1" fmla="*/ 24 h 30"/>
                    <a:gd name="T2" fmla="*/ 78 w 246"/>
                    <a:gd name="T3" fmla="*/ 6 h 30"/>
                    <a:gd name="T4" fmla="*/ 135 w 246"/>
                    <a:gd name="T5" fmla="*/ 0 h 30"/>
                    <a:gd name="T6" fmla="*/ 195 w 246"/>
                    <a:gd name="T7" fmla="*/ 9 h 30"/>
                    <a:gd name="T8" fmla="*/ 246 w 246"/>
                    <a:gd name="T9" fmla="*/ 30 h 30"/>
                    <a:gd name="T10" fmla="*/ 0 60000 65536"/>
                    <a:gd name="T11" fmla="*/ 0 60000 65536"/>
                    <a:gd name="T12" fmla="*/ 0 60000 65536"/>
                    <a:gd name="T13" fmla="*/ 0 60000 65536"/>
                    <a:gd name="T14" fmla="*/ 0 60000 65536"/>
                    <a:gd name="T15" fmla="*/ 0 w 246"/>
                    <a:gd name="T16" fmla="*/ 0 h 30"/>
                    <a:gd name="T17" fmla="*/ 246 w 246"/>
                    <a:gd name="T18" fmla="*/ 30 h 30"/>
                  </a:gdLst>
                  <a:ahLst/>
                  <a:cxnLst>
                    <a:cxn ang="T10">
                      <a:pos x="T0" y="T1"/>
                    </a:cxn>
                    <a:cxn ang="T11">
                      <a:pos x="T2" y="T3"/>
                    </a:cxn>
                    <a:cxn ang="T12">
                      <a:pos x="T4" y="T5"/>
                    </a:cxn>
                    <a:cxn ang="T13">
                      <a:pos x="T6" y="T7"/>
                    </a:cxn>
                    <a:cxn ang="T14">
                      <a:pos x="T8" y="T9"/>
                    </a:cxn>
                  </a:cxnLst>
                  <a:rect l="T15" t="T16" r="T17" b="T18"/>
                  <a:pathLst>
                    <a:path w="246" h="30">
                      <a:moveTo>
                        <a:pt x="0" y="24"/>
                      </a:moveTo>
                      <a:cubicBezTo>
                        <a:pt x="28" y="17"/>
                        <a:pt x="56" y="10"/>
                        <a:pt x="78" y="6"/>
                      </a:cubicBezTo>
                      <a:cubicBezTo>
                        <a:pt x="100" y="2"/>
                        <a:pt x="116" y="0"/>
                        <a:pt x="135" y="0"/>
                      </a:cubicBezTo>
                      <a:cubicBezTo>
                        <a:pt x="154" y="0"/>
                        <a:pt x="177" y="4"/>
                        <a:pt x="195" y="9"/>
                      </a:cubicBezTo>
                      <a:cubicBezTo>
                        <a:pt x="213" y="14"/>
                        <a:pt x="229" y="22"/>
                        <a:pt x="246" y="30"/>
                      </a:cubicBezTo>
                    </a:path>
                  </a:pathLst>
                </a:custGeom>
                <a:noFill/>
                <a:ln w="19050">
                  <a:solidFill>
                    <a:srgbClr val="000000"/>
                  </a:solidFill>
                  <a:round/>
                  <a:headEnd/>
                  <a:tailEnd/>
                </a:ln>
              </p:spPr>
              <p:txBody>
                <a:bodyPr/>
                <a:lstStyle/>
                <a:p>
                  <a:endParaRPr lang="zh-CN" altLang="en-US"/>
                </a:p>
              </p:txBody>
            </p:sp>
            <p:sp>
              <p:nvSpPr>
                <p:cNvPr id="1049457" name="AutoShape 52"/>
                <p:cNvSpPr>
                  <a:spLocks noChangeArrowheads="1"/>
                </p:cNvSpPr>
                <p:nvPr/>
              </p:nvSpPr>
              <p:spPr bwMode="auto">
                <a:xfrm>
                  <a:off x="2892" y="3302"/>
                  <a:ext cx="56" cy="60"/>
                </a:xfrm>
                <a:prstGeom prst="triangle">
                  <a:avLst>
                    <a:gd name="adj" fmla="val 50000"/>
                  </a:avLst>
                </a:prstGeom>
                <a:solidFill>
                  <a:srgbClr val="000000"/>
                </a:solidFill>
                <a:ln w="19050">
                  <a:solidFill>
                    <a:srgbClr val="000000"/>
                  </a:solidFill>
                  <a:miter lim="800000"/>
                  <a:headEnd/>
                  <a:tailEnd/>
                </a:ln>
              </p:spPr>
              <p:txBody>
                <a:bodyPr wrap="none" anchor="ctr"/>
                <a:lstStyle/>
                <a:p>
                  <a:endParaRPr lang="zh-CN" altLang="en-US"/>
                </a:p>
              </p:txBody>
            </p:sp>
          </p:grpSp>
          <p:sp>
            <p:nvSpPr>
              <p:cNvPr id="1049458" name="Line 53"/>
              <p:cNvSpPr>
                <a:spLocks noChangeShapeType="1"/>
              </p:cNvSpPr>
              <p:nvPr/>
            </p:nvSpPr>
            <p:spPr bwMode="auto">
              <a:xfrm flipV="1">
                <a:off x="2808" y="2232"/>
                <a:ext cx="288" cy="160"/>
              </a:xfrm>
              <a:prstGeom prst="line">
                <a:avLst/>
              </a:prstGeom>
              <a:noFill/>
              <a:ln w="9525">
                <a:solidFill>
                  <a:srgbClr val="000000"/>
                </a:solidFill>
                <a:round/>
                <a:headEnd/>
                <a:tailEnd/>
              </a:ln>
            </p:spPr>
            <p:txBody>
              <a:bodyPr/>
              <a:lstStyle/>
              <a:p>
                <a:endParaRPr lang="zh-CN" altLang="en-US"/>
              </a:p>
            </p:txBody>
          </p:sp>
          <p:sp>
            <p:nvSpPr>
              <p:cNvPr id="1049459" name="Text Box 54"/>
              <p:cNvSpPr txBox="1">
                <a:spLocks noChangeArrowheads="1"/>
              </p:cNvSpPr>
              <p:nvPr/>
            </p:nvSpPr>
            <p:spPr bwMode="auto">
              <a:xfrm>
                <a:off x="3046" y="2025"/>
                <a:ext cx="397" cy="269"/>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400" b="1">
                    <a:solidFill>
                      <a:srgbClr val="000000"/>
                    </a:solidFill>
                  </a:rPr>
                  <a:t>油泵</a:t>
                </a:r>
              </a:p>
            </p:txBody>
          </p:sp>
          <p:sp>
            <p:nvSpPr>
              <p:cNvPr id="1049460" name="Line 55"/>
              <p:cNvSpPr>
                <a:spLocks noChangeShapeType="1"/>
              </p:cNvSpPr>
              <p:nvPr/>
            </p:nvSpPr>
            <p:spPr bwMode="auto">
              <a:xfrm flipH="1">
                <a:off x="2168" y="2224"/>
                <a:ext cx="136" cy="184"/>
              </a:xfrm>
              <a:prstGeom prst="line">
                <a:avLst/>
              </a:prstGeom>
              <a:noFill/>
              <a:ln w="9525">
                <a:solidFill>
                  <a:srgbClr val="000000"/>
                </a:solidFill>
                <a:round/>
                <a:headEnd/>
                <a:tailEnd/>
              </a:ln>
            </p:spPr>
            <p:txBody>
              <a:bodyPr/>
              <a:lstStyle/>
              <a:p>
                <a:endParaRPr lang="zh-CN" altLang="en-US"/>
              </a:p>
            </p:txBody>
          </p:sp>
          <p:sp>
            <p:nvSpPr>
              <p:cNvPr id="1049461" name="Text Box 56"/>
              <p:cNvSpPr txBox="1">
                <a:spLocks noChangeArrowheads="1"/>
              </p:cNvSpPr>
              <p:nvPr/>
            </p:nvSpPr>
            <p:spPr bwMode="auto">
              <a:xfrm>
                <a:off x="1790" y="2344"/>
                <a:ext cx="550" cy="269"/>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400" b="1" dirty="0">
                    <a:solidFill>
                      <a:srgbClr val="000000"/>
                    </a:solidFill>
                  </a:rPr>
                  <a:t>节流阀</a:t>
                </a:r>
              </a:p>
            </p:txBody>
          </p:sp>
          <p:sp>
            <p:nvSpPr>
              <p:cNvPr id="1049462" name="Line 57"/>
              <p:cNvSpPr>
                <a:spLocks noChangeShapeType="1"/>
              </p:cNvSpPr>
              <p:nvPr/>
            </p:nvSpPr>
            <p:spPr bwMode="auto">
              <a:xfrm flipV="1">
                <a:off x="2112" y="1536"/>
                <a:ext cx="408" cy="152"/>
              </a:xfrm>
              <a:prstGeom prst="line">
                <a:avLst/>
              </a:prstGeom>
              <a:noFill/>
              <a:ln w="9525">
                <a:solidFill>
                  <a:srgbClr val="000000"/>
                </a:solidFill>
                <a:round/>
                <a:headEnd/>
                <a:tailEnd/>
              </a:ln>
            </p:spPr>
            <p:txBody>
              <a:bodyPr/>
              <a:lstStyle/>
              <a:p>
                <a:endParaRPr lang="zh-CN" altLang="en-US"/>
              </a:p>
            </p:txBody>
          </p:sp>
          <p:sp>
            <p:nvSpPr>
              <p:cNvPr id="1049463" name="Text Box 58"/>
              <p:cNvSpPr txBox="1">
                <a:spLocks noChangeArrowheads="1"/>
              </p:cNvSpPr>
              <p:nvPr/>
            </p:nvSpPr>
            <p:spPr bwMode="auto">
              <a:xfrm>
                <a:off x="2478" y="1369"/>
                <a:ext cx="397" cy="269"/>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400" b="1">
                    <a:solidFill>
                      <a:srgbClr val="000000"/>
                    </a:solidFill>
                  </a:rPr>
                  <a:t>油腔</a:t>
                </a:r>
              </a:p>
            </p:txBody>
          </p:sp>
        </p:grpSp>
      </p:grpSp>
      <p:pic>
        <p:nvPicPr>
          <p:cNvPr id="2097460" name="Picture 4" descr="3"/>
          <p:cNvPicPr>
            <a:picLocks noChangeAspect="1" noChangeArrowheads="1"/>
          </p:cNvPicPr>
          <p:nvPr/>
        </p:nvPicPr>
        <p:blipFill>
          <a:blip r:embed="rId4"/>
          <a:srcRect/>
          <a:stretch>
            <a:fillRect/>
          </a:stretch>
        </p:blipFill>
        <p:spPr bwMode="auto">
          <a:xfrm>
            <a:off x="5436096" y="2494115"/>
            <a:ext cx="2457056" cy="2883665"/>
          </a:xfrm>
          <a:prstGeom prst="rect">
            <a:avLst/>
          </a:prstGeom>
          <a:noFill/>
          <a:ln>
            <a:noFill/>
          </a:ln>
        </p:spPr>
      </p:pic>
      <p:grpSp>
        <p:nvGrpSpPr>
          <p:cNvPr id="455" name="组合 70"/>
          <p:cNvGrpSpPr/>
          <p:nvPr/>
        </p:nvGrpSpPr>
        <p:grpSpPr>
          <a:xfrm>
            <a:off x="7640865" y="3479916"/>
            <a:ext cx="611941" cy="891306"/>
            <a:chOff x="7920113" y="3175165"/>
            <a:chExt cx="611941" cy="891306"/>
          </a:xfrm>
        </p:grpSpPr>
        <p:cxnSp>
          <p:nvCxnSpPr>
            <p:cNvPr id="3145756" name="直接连接符 2"/>
            <p:cNvCxnSpPr>
              <a:cxnSpLocks/>
            </p:cNvCxnSpPr>
            <p:nvPr/>
          </p:nvCxnSpPr>
          <p:spPr>
            <a:xfrm>
              <a:off x="7920113" y="3582120"/>
              <a:ext cx="61194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45757" name="直接连接符 64"/>
            <p:cNvCxnSpPr>
              <a:cxnSpLocks/>
            </p:cNvCxnSpPr>
            <p:nvPr/>
          </p:nvCxnSpPr>
          <p:spPr>
            <a:xfrm>
              <a:off x="7920113" y="3721596"/>
              <a:ext cx="61194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45758" name="直接箭头连接符 66"/>
            <p:cNvCxnSpPr>
              <a:cxnSpLocks/>
            </p:cNvCxnSpPr>
            <p:nvPr/>
          </p:nvCxnSpPr>
          <p:spPr>
            <a:xfrm>
              <a:off x="8316416" y="3175165"/>
              <a:ext cx="0" cy="40695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45759" name="直接箭头连接符 68"/>
            <p:cNvCxnSpPr>
              <a:cxnSpLocks/>
            </p:cNvCxnSpPr>
            <p:nvPr/>
          </p:nvCxnSpPr>
          <p:spPr>
            <a:xfrm flipV="1">
              <a:off x="8316416" y="3721596"/>
              <a:ext cx="0" cy="3448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049465" name="TextBox 69"/>
          <p:cNvSpPr txBox="1"/>
          <p:nvPr/>
        </p:nvSpPr>
        <p:spPr>
          <a:xfrm>
            <a:off x="7749136" y="4377095"/>
            <a:ext cx="944880" cy="358140"/>
          </a:xfrm>
          <a:prstGeom prst="rect">
            <a:avLst/>
          </a:prstGeom>
          <a:noFill/>
        </p:spPr>
        <p:txBody>
          <a:bodyPr wrap="none" rtlCol="0">
            <a:spAutoFit/>
          </a:bodyPr>
          <a:lstStyle/>
          <a:p>
            <a:r>
              <a:rPr lang="en-US" altLang="zh-CN" dirty="0" smtClean="0">
                <a:solidFill>
                  <a:srgbClr val="FF0000"/>
                </a:solidFill>
              </a:rPr>
              <a:t>h—</a:t>
            </a:r>
            <a:r>
              <a:rPr lang="zh-CN" altLang="en-US" b="1" dirty="0" smtClean="0">
                <a:solidFill>
                  <a:srgbClr val="FF0000"/>
                </a:solidFill>
              </a:rPr>
              <a:t>膜厚</a:t>
            </a:r>
            <a:endParaRPr lang="zh-CN" altLang="en-US" b="1" dirty="0">
              <a:solidFill>
                <a:srgbClr val="FF0000"/>
              </a:solidFill>
            </a:endParaRPr>
          </a:p>
        </p:txBody>
      </p:sp>
      <p:sp>
        <p:nvSpPr>
          <p:cNvPr id="70" name="单圆角矩形 69"/>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润滑类型</a:t>
            </a:r>
            <a:endParaRPr lang="zh-CN" altLang="en-US" sz="1500" dirty="0">
              <a:solidFill>
                <a:srgbClr val="FF6600"/>
              </a:solidFill>
            </a:endParaRPr>
          </a:p>
        </p:txBody>
      </p:sp>
      <p:sp>
        <p:nvSpPr>
          <p:cNvPr id="71" name="直角三角形 70"/>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70490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50"/>
                                        </p:tgtEl>
                                        <p:attrNameLst>
                                          <p:attrName>style.visibility</p:attrName>
                                        </p:attrNameLst>
                                      </p:cBhvr>
                                      <p:to>
                                        <p:strVal val="visible"/>
                                      </p:to>
                                    </p:set>
                                    <p:animEffect transition="in" filter="fade">
                                      <p:cBhvr>
                                        <p:cTn id="11" dur="1500"/>
                                        <p:tgtEl>
                                          <p:spTgt spid="45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097460"/>
                                        </p:tgtEl>
                                        <p:attrNameLst>
                                          <p:attrName>style.visibility</p:attrName>
                                        </p:attrNameLst>
                                      </p:cBhvr>
                                      <p:to>
                                        <p:strVal val="visible"/>
                                      </p:to>
                                    </p:set>
                                    <p:animEffect transition="in" filter="fade">
                                      <p:cBhvr>
                                        <p:cTn id="16" dur="1500"/>
                                        <p:tgtEl>
                                          <p:spTgt spid="2097460"/>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nodeType="clickEffect">
                                  <p:stCondLst>
                                    <p:cond delay="0"/>
                                  </p:stCondLst>
                                  <p:childTnLst>
                                    <p:set>
                                      <p:cBhvr>
                                        <p:cTn id="20" dur="1" fill="hold">
                                          <p:stCondLst>
                                            <p:cond delay="0"/>
                                          </p:stCondLst>
                                        </p:cTn>
                                        <p:tgtEl>
                                          <p:spTgt spid="455"/>
                                        </p:tgtEl>
                                        <p:attrNameLst>
                                          <p:attrName>style.visibility</p:attrName>
                                        </p:attrNameLst>
                                      </p:cBhvr>
                                      <p:to>
                                        <p:strVal val="visible"/>
                                      </p:to>
                                    </p:set>
                                    <p:animEffect transition="in" filter="barn(inHorizontal)">
                                      <p:cBhvr>
                                        <p:cTn id="21" dur="500"/>
                                        <p:tgtEl>
                                          <p:spTgt spid="455"/>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049465"/>
                                        </p:tgtEl>
                                        <p:attrNameLst>
                                          <p:attrName>style.visibility</p:attrName>
                                        </p:attrNameLst>
                                      </p:cBhvr>
                                      <p:to>
                                        <p:strVal val="visible"/>
                                      </p:to>
                                    </p:set>
                                    <p:animEffect transition="in" filter="barn(inVertical)">
                                      <p:cBhvr>
                                        <p:cTn id="26" dur="500"/>
                                        <p:tgtEl>
                                          <p:spTgt spid="1049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46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66" name="Text Box 6"/>
          <p:cNvSpPr txBox="1">
            <a:spLocks noChangeArrowheads="1"/>
          </p:cNvSpPr>
          <p:nvPr/>
        </p:nvSpPr>
        <p:spPr bwMode="auto">
          <a:xfrm>
            <a:off x="233363" y="481236"/>
            <a:ext cx="4495800" cy="446276"/>
          </a:xfrm>
          <a:prstGeom prst="rect">
            <a:avLst/>
          </a:prstGeom>
          <a:no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spcBef>
                <a:spcPct val="20000"/>
              </a:spcBef>
              <a:buClr>
                <a:srgbClr val="FF0000"/>
              </a:buClr>
              <a:buFontTx/>
              <a:buChar char="•"/>
            </a:pPr>
            <a:r>
              <a:rPr lang="en-US" altLang="zh-CN" sz="2300" dirty="0"/>
              <a:t> </a:t>
            </a:r>
            <a:r>
              <a:rPr lang="zh-CN" altLang="en-US" sz="2300" dirty="0">
                <a:solidFill>
                  <a:srgbClr val="0000FF"/>
                </a:solidFill>
              </a:rPr>
              <a:t>流体膜轴承比较</a:t>
            </a:r>
            <a:endParaRPr lang="en-US" altLang="zh-CN" sz="2300" dirty="0">
              <a:solidFill>
                <a:srgbClr val="0000FF"/>
              </a:solidFill>
            </a:endParaRPr>
          </a:p>
        </p:txBody>
      </p:sp>
      <p:graphicFrame>
        <p:nvGraphicFramePr>
          <p:cNvPr id="4194375" name="Group 32"/>
          <p:cNvGraphicFramePr>
            <a:graphicFrameLocks/>
          </p:cNvGraphicFramePr>
          <p:nvPr/>
        </p:nvGraphicFramePr>
        <p:xfrm>
          <a:off x="1127969" y="1057300"/>
          <a:ext cx="6756399" cy="1611311"/>
        </p:xfrm>
        <a:graphic>
          <a:graphicData uri="http://schemas.openxmlformats.org/drawingml/2006/table">
            <a:tbl>
              <a:tblPr/>
              <a:tblGrid>
                <a:gridCol w="2412211"/>
                <a:gridCol w="2092055"/>
                <a:gridCol w="2252133"/>
              </a:tblGrid>
              <a:tr h="42929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smtClean="0">
                          <a:ln>
                            <a:noFill/>
                          </a:ln>
                          <a:solidFill>
                            <a:schemeClr val="tx1"/>
                          </a:solidFill>
                          <a:effectLst/>
                          <a:latin typeface="Arial" charset="0"/>
                          <a:ea typeface="宋体" pitchFamily="2" charset="-122"/>
                        </a:rPr>
                        <a:t>Lubrication mode</a:t>
                      </a:r>
                    </a:p>
                  </a:txBody>
                  <a:tcPr marL="79487" marR="79487" marT="39755" marB="3975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smtClean="0">
                          <a:ln>
                            <a:noFill/>
                          </a:ln>
                          <a:solidFill>
                            <a:schemeClr val="tx1"/>
                          </a:solidFill>
                          <a:effectLst/>
                          <a:latin typeface="Arial" charset="0"/>
                          <a:ea typeface="宋体" pitchFamily="2" charset="-122"/>
                        </a:rPr>
                        <a:t>Film thickness(cm)</a:t>
                      </a:r>
                    </a:p>
                  </a:txBody>
                  <a:tcPr marL="79487" marR="79487" marT="39755" marB="397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smtClean="0">
                          <a:ln>
                            <a:noFill/>
                          </a:ln>
                          <a:solidFill>
                            <a:schemeClr val="tx1"/>
                          </a:solidFill>
                          <a:effectLst/>
                          <a:latin typeface="Arial" charset="0"/>
                          <a:ea typeface="宋体" pitchFamily="2" charset="-122"/>
                        </a:rPr>
                        <a:t>Friction Coefficient</a:t>
                      </a:r>
                    </a:p>
                  </a:txBody>
                  <a:tcPr marL="79487" marR="79487" marT="39755" marB="3975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42929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smtClean="0">
                          <a:ln>
                            <a:noFill/>
                          </a:ln>
                          <a:solidFill>
                            <a:schemeClr val="tx1"/>
                          </a:solidFill>
                          <a:effectLst/>
                          <a:latin typeface="Arial" charset="0"/>
                          <a:ea typeface="宋体" pitchFamily="2" charset="-122"/>
                        </a:rPr>
                        <a:t>Hydrostatic</a:t>
                      </a:r>
                    </a:p>
                  </a:txBody>
                  <a:tcPr marL="79487" marR="79487" marT="39755" marB="3975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chemeClr val="tx1"/>
                          </a:solidFill>
                          <a:effectLst/>
                          <a:latin typeface="Arial" charset="0"/>
                          <a:ea typeface="宋体" pitchFamily="2" charset="-122"/>
                        </a:rPr>
                        <a:t>5X10</a:t>
                      </a:r>
                      <a:r>
                        <a:rPr kumimoji="0" lang="en-US" altLang="zh-CN" sz="1600" b="0" i="0" u="none" strike="noStrike" cap="none" normalizeH="0" baseline="30000" smtClean="0">
                          <a:ln>
                            <a:noFill/>
                          </a:ln>
                          <a:solidFill>
                            <a:schemeClr val="tx1"/>
                          </a:solidFill>
                          <a:effectLst/>
                          <a:latin typeface="Arial" charset="0"/>
                          <a:ea typeface="宋体" pitchFamily="2" charset="-122"/>
                        </a:rPr>
                        <a:t>-3</a:t>
                      </a:r>
                      <a:r>
                        <a:rPr kumimoji="0" lang="en-US" altLang="zh-CN" sz="1600" b="0" i="0" u="none" strike="noStrike" cap="none" normalizeH="0" baseline="0" smtClean="0">
                          <a:ln>
                            <a:noFill/>
                          </a:ln>
                          <a:solidFill>
                            <a:schemeClr val="tx1"/>
                          </a:solidFill>
                          <a:effectLst/>
                          <a:latin typeface="Arial" charset="0"/>
                          <a:ea typeface="宋体" pitchFamily="2" charset="-122"/>
                        </a:rPr>
                        <a:t>~5X10</a:t>
                      </a:r>
                      <a:r>
                        <a:rPr kumimoji="0" lang="en-US" altLang="zh-CN" sz="1600" b="0" i="0" u="none" strike="noStrike" cap="none" normalizeH="0" baseline="30000" smtClean="0">
                          <a:ln>
                            <a:noFill/>
                          </a:ln>
                          <a:solidFill>
                            <a:schemeClr val="tx1"/>
                          </a:solidFill>
                          <a:effectLst/>
                          <a:latin typeface="Arial" charset="0"/>
                          <a:ea typeface="宋体" pitchFamily="2" charset="-122"/>
                        </a:rPr>
                        <a:t>-4</a:t>
                      </a:r>
                    </a:p>
                  </a:txBody>
                  <a:tcPr marL="79487" marR="79487" marT="39755" marB="397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chemeClr val="tx1"/>
                          </a:solidFill>
                          <a:effectLst/>
                          <a:latin typeface="Arial" charset="0"/>
                          <a:ea typeface="宋体" pitchFamily="2" charset="-122"/>
                        </a:rPr>
                        <a:t>10</a:t>
                      </a:r>
                      <a:r>
                        <a:rPr kumimoji="0" lang="en-US" altLang="zh-CN" sz="1600" b="0" i="0" u="none" strike="noStrike" cap="none" normalizeH="0" baseline="30000" smtClean="0">
                          <a:ln>
                            <a:noFill/>
                          </a:ln>
                          <a:solidFill>
                            <a:schemeClr val="tx1"/>
                          </a:solidFill>
                          <a:effectLst/>
                          <a:latin typeface="Arial" charset="0"/>
                          <a:ea typeface="宋体" pitchFamily="2" charset="-122"/>
                        </a:rPr>
                        <a:t>-6</a:t>
                      </a:r>
                      <a:r>
                        <a:rPr kumimoji="0" lang="en-US" altLang="zh-CN" sz="1600" b="0" i="0" u="none" strike="noStrike" cap="none" normalizeH="0" baseline="0" smtClean="0">
                          <a:ln>
                            <a:noFill/>
                          </a:ln>
                          <a:solidFill>
                            <a:schemeClr val="tx1"/>
                          </a:solidFill>
                          <a:effectLst/>
                          <a:latin typeface="Arial" charset="0"/>
                          <a:ea typeface="宋体" pitchFamily="2" charset="-122"/>
                        </a:rPr>
                        <a:t>~10</a:t>
                      </a:r>
                      <a:r>
                        <a:rPr kumimoji="0" lang="en-US" altLang="zh-CN" sz="1600" b="0" i="0" u="none" strike="noStrike" cap="none" normalizeH="0" baseline="30000" smtClean="0">
                          <a:ln>
                            <a:noFill/>
                          </a:ln>
                          <a:solidFill>
                            <a:schemeClr val="tx1"/>
                          </a:solidFill>
                          <a:effectLst/>
                          <a:latin typeface="Arial" charset="0"/>
                          <a:ea typeface="宋体" pitchFamily="2" charset="-122"/>
                        </a:rPr>
                        <a:t>-3</a:t>
                      </a:r>
                    </a:p>
                  </a:txBody>
                  <a:tcPr marL="79487" marR="79487" marT="39755" marB="3975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42929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chemeClr val="tx1"/>
                          </a:solidFill>
                          <a:effectLst/>
                          <a:latin typeface="Arial" charset="0"/>
                          <a:ea typeface="宋体" pitchFamily="2" charset="-122"/>
                        </a:rPr>
                        <a:t>Hydrodynamic</a:t>
                      </a:r>
                    </a:p>
                  </a:txBody>
                  <a:tcPr marL="79487" marR="79487" marT="39755" marB="3975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chemeClr val="tx1"/>
                          </a:solidFill>
                          <a:effectLst/>
                          <a:latin typeface="Arial" charset="0"/>
                          <a:ea typeface="宋体" pitchFamily="2" charset="-122"/>
                        </a:rPr>
                        <a:t>10</a:t>
                      </a:r>
                      <a:r>
                        <a:rPr kumimoji="0" lang="en-US" altLang="zh-CN" sz="1600" b="0" i="0" u="none" strike="noStrike" cap="none" normalizeH="0" baseline="30000" smtClean="0">
                          <a:ln>
                            <a:noFill/>
                          </a:ln>
                          <a:solidFill>
                            <a:schemeClr val="tx1"/>
                          </a:solidFill>
                          <a:effectLst/>
                          <a:latin typeface="Arial" charset="0"/>
                          <a:ea typeface="宋体" pitchFamily="2" charset="-122"/>
                        </a:rPr>
                        <a:t>-3</a:t>
                      </a:r>
                      <a:r>
                        <a:rPr kumimoji="0" lang="en-US" altLang="zh-CN" sz="1600" b="0" i="0" u="none" strike="noStrike" cap="none" normalizeH="0" baseline="0" smtClean="0">
                          <a:ln>
                            <a:noFill/>
                          </a:ln>
                          <a:solidFill>
                            <a:schemeClr val="tx1"/>
                          </a:solidFill>
                          <a:effectLst/>
                          <a:latin typeface="Arial" charset="0"/>
                          <a:ea typeface="宋体" pitchFamily="2" charset="-122"/>
                        </a:rPr>
                        <a:t>~10</a:t>
                      </a:r>
                      <a:r>
                        <a:rPr kumimoji="0" lang="en-US" altLang="zh-CN" sz="1600" b="0" i="0" u="none" strike="noStrike" cap="none" normalizeH="0" baseline="30000" smtClean="0">
                          <a:ln>
                            <a:noFill/>
                          </a:ln>
                          <a:solidFill>
                            <a:schemeClr val="tx1"/>
                          </a:solidFill>
                          <a:effectLst/>
                          <a:latin typeface="Arial" charset="0"/>
                          <a:ea typeface="宋体" pitchFamily="2" charset="-122"/>
                        </a:rPr>
                        <a:t>-4</a:t>
                      </a:r>
                    </a:p>
                  </a:txBody>
                  <a:tcPr marL="79487" marR="79487" marT="39755" marB="397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chemeClr val="tx1"/>
                          </a:solidFill>
                          <a:effectLst/>
                          <a:latin typeface="Arial" charset="0"/>
                          <a:ea typeface="宋体" pitchFamily="2" charset="-122"/>
                        </a:rPr>
                        <a:t>10</a:t>
                      </a:r>
                      <a:r>
                        <a:rPr kumimoji="0" lang="en-US" altLang="zh-CN" sz="1600" b="0" i="0" u="none" strike="noStrike" cap="none" normalizeH="0" baseline="30000" smtClean="0">
                          <a:ln>
                            <a:noFill/>
                          </a:ln>
                          <a:solidFill>
                            <a:schemeClr val="tx1"/>
                          </a:solidFill>
                          <a:effectLst/>
                          <a:latin typeface="Arial" charset="0"/>
                          <a:ea typeface="宋体" pitchFamily="2" charset="-122"/>
                        </a:rPr>
                        <a:t>-3</a:t>
                      </a:r>
                      <a:r>
                        <a:rPr kumimoji="0" lang="en-US" altLang="zh-CN" sz="1600" b="0" i="0" u="none" strike="noStrike" cap="none" normalizeH="0" baseline="0" smtClean="0">
                          <a:ln>
                            <a:noFill/>
                          </a:ln>
                          <a:solidFill>
                            <a:schemeClr val="tx1"/>
                          </a:solidFill>
                          <a:effectLst/>
                          <a:latin typeface="Arial" charset="0"/>
                          <a:ea typeface="宋体" pitchFamily="2" charset="-122"/>
                        </a:rPr>
                        <a:t>~10</a:t>
                      </a:r>
                      <a:r>
                        <a:rPr kumimoji="0" lang="en-US" altLang="zh-CN" sz="1600" b="0" i="0" u="none" strike="noStrike" cap="none" normalizeH="0" baseline="30000" smtClean="0">
                          <a:ln>
                            <a:noFill/>
                          </a:ln>
                          <a:solidFill>
                            <a:schemeClr val="tx1"/>
                          </a:solidFill>
                          <a:effectLst/>
                          <a:latin typeface="Arial" charset="0"/>
                          <a:ea typeface="宋体" pitchFamily="2" charset="-122"/>
                        </a:rPr>
                        <a:t>-2</a:t>
                      </a:r>
                    </a:p>
                  </a:txBody>
                  <a:tcPr marL="79487" marR="79487" marT="39755" marB="3975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3234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smtClean="0">
                          <a:ln>
                            <a:noFill/>
                          </a:ln>
                          <a:solidFill>
                            <a:schemeClr val="tx1"/>
                          </a:solidFill>
                          <a:effectLst/>
                          <a:latin typeface="Arial" charset="0"/>
                          <a:ea typeface="宋体" pitchFamily="2" charset="-122"/>
                        </a:rPr>
                        <a:t>Elastohydrodynamic</a:t>
                      </a:r>
                    </a:p>
                  </a:txBody>
                  <a:tcPr marL="79487" marR="79487" marT="39755" marB="3975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chemeClr val="tx1"/>
                          </a:solidFill>
                          <a:effectLst/>
                          <a:latin typeface="Arial" charset="0"/>
                          <a:ea typeface="宋体" pitchFamily="2" charset="-122"/>
                        </a:rPr>
                        <a:t>10</a:t>
                      </a:r>
                      <a:r>
                        <a:rPr kumimoji="0" lang="en-US" altLang="zh-CN" sz="1600" b="0" i="0" u="none" strike="noStrike" cap="none" normalizeH="0" baseline="30000" smtClean="0">
                          <a:ln>
                            <a:noFill/>
                          </a:ln>
                          <a:solidFill>
                            <a:schemeClr val="tx1"/>
                          </a:solidFill>
                          <a:effectLst/>
                          <a:latin typeface="Arial" charset="0"/>
                          <a:ea typeface="宋体" pitchFamily="2" charset="-122"/>
                        </a:rPr>
                        <a:t>-4</a:t>
                      </a:r>
                      <a:r>
                        <a:rPr kumimoji="0" lang="en-US" altLang="zh-CN" sz="1600" b="0" i="0" u="none" strike="noStrike" cap="none" normalizeH="0" baseline="0" smtClean="0">
                          <a:ln>
                            <a:noFill/>
                          </a:ln>
                          <a:solidFill>
                            <a:schemeClr val="tx1"/>
                          </a:solidFill>
                          <a:effectLst/>
                          <a:latin typeface="Arial" charset="0"/>
                          <a:ea typeface="宋体" pitchFamily="2" charset="-122"/>
                        </a:rPr>
                        <a:t>~10</a:t>
                      </a:r>
                      <a:r>
                        <a:rPr kumimoji="0" lang="en-US" altLang="zh-CN" sz="1600" b="0" i="0" u="none" strike="noStrike" cap="none" normalizeH="0" baseline="30000" smtClean="0">
                          <a:ln>
                            <a:noFill/>
                          </a:ln>
                          <a:solidFill>
                            <a:schemeClr val="tx1"/>
                          </a:solidFill>
                          <a:effectLst/>
                          <a:latin typeface="Arial" charset="0"/>
                          <a:ea typeface="宋体" pitchFamily="2" charset="-122"/>
                        </a:rPr>
                        <a:t>-5</a:t>
                      </a:r>
                    </a:p>
                  </a:txBody>
                  <a:tcPr marL="79487" marR="79487" marT="39755" marB="397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dirty="0" smtClean="0">
                          <a:ln>
                            <a:noFill/>
                          </a:ln>
                          <a:solidFill>
                            <a:schemeClr val="tx1"/>
                          </a:solidFill>
                          <a:effectLst/>
                          <a:latin typeface="Arial" charset="0"/>
                          <a:ea typeface="宋体" pitchFamily="2" charset="-122"/>
                        </a:rPr>
                        <a:t>10</a:t>
                      </a:r>
                      <a:r>
                        <a:rPr kumimoji="0" lang="en-US" altLang="zh-CN" sz="1600" b="0" i="0" u="none" strike="noStrike" cap="none" normalizeH="0" baseline="30000" dirty="0" smtClean="0">
                          <a:ln>
                            <a:noFill/>
                          </a:ln>
                          <a:solidFill>
                            <a:schemeClr val="tx1"/>
                          </a:solidFill>
                          <a:effectLst/>
                          <a:latin typeface="Arial" charset="0"/>
                          <a:ea typeface="宋体" pitchFamily="2" charset="-122"/>
                        </a:rPr>
                        <a:t>-3</a:t>
                      </a:r>
                      <a:r>
                        <a:rPr kumimoji="0" lang="en-US" altLang="zh-CN" sz="1600" b="0" i="0" u="none" strike="noStrike" cap="none" normalizeH="0" baseline="0" dirty="0" smtClean="0">
                          <a:ln>
                            <a:noFill/>
                          </a:ln>
                          <a:solidFill>
                            <a:schemeClr val="tx1"/>
                          </a:solidFill>
                          <a:effectLst/>
                          <a:latin typeface="Arial" charset="0"/>
                          <a:ea typeface="宋体" pitchFamily="2" charset="-122"/>
                        </a:rPr>
                        <a:t>~10</a:t>
                      </a:r>
                      <a:r>
                        <a:rPr kumimoji="0" lang="en-US" altLang="zh-CN" sz="1600" b="0" i="0" u="none" strike="noStrike" cap="none" normalizeH="0" baseline="30000" dirty="0" smtClean="0">
                          <a:ln>
                            <a:noFill/>
                          </a:ln>
                          <a:solidFill>
                            <a:schemeClr val="tx1"/>
                          </a:solidFill>
                          <a:effectLst/>
                          <a:latin typeface="Arial" charset="0"/>
                          <a:ea typeface="宋体" pitchFamily="2" charset="-122"/>
                        </a:rPr>
                        <a:t>-2</a:t>
                      </a:r>
                    </a:p>
                  </a:txBody>
                  <a:tcPr marL="79487" marR="79487" marT="39755" marB="3975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bl>
          </a:graphicData>
        </a:graphic>
      </p:graphicFrame>
      <p:sp>
        <p:nvSpPr>
          <p:cNvPr id="1049467" name="Text Box 6"/>
          <p:cNvSpPr txBox="1">
            <a:spLocks noChangeArrowheads="1"/>
          </p:cNvSpPr>
          <p:nvPr/>
        </p:nvSpPr>
        <p:spPr bwMode="auto">
          <a:xfrm>
            <a:off x="233363" y="2874050"/>
            <a:ext cx="4495800" cy="446276"/>
          </a:xfrm>
          <a:prstGeom prst="rect">
            <a:avLst/>
          </a:prstGeom>
          <a:no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spcBef>
                <a:spcPct val="20000"/>
              </a:spcBef>
              <a:buClr>
                <a:srgbClr val="FF0000"/>
              </a:buClr>
              <a:buFontTx/>
              <a:buChar char="•"/>
            </a:pPr>
            <a:r>
              <a:rPr lang="en-US" altLang="zh-CN" sz="2300" dirty="0"/>
              <a:t> </a:t>
            </a:r>
            <a:r>
              <a:rPr lang="zh-CN" altLang="en-US" sz="2300" dirty="0">
                <a:solidFill>
                  <a:srgbClr val="0000FF"/>
                </a:solidFill>
              </a:rPr>
              <a:t>“外压式”特点</a:t>
            </a:r>
            <a:endParaRPr lang="en-US" altLang="zh-CN" sz="2300" dirty="0">
              <a:solidFill>
                <a:srgbClr val="0000FF"/>
              </a:solidFill>
            </a:endParaRPr>
          </a:p>
        </p:txBody>
      </p:sp>
      <p:grpSp>
        <p:nvGrpSpPr>
          <p:cNvPr id="457" name="组合 71"/>
          <p:cNvGrpSpPr/>
          <p:nvPr/>
        </p:nvGrpSpPr>
        <p:grpSpPr bwMode="auto">
          <a:xfrm>
            <a:off x="331788" y="3321051"/>
            <a:ext cx="8664575" cy="876390"/>
            <a:chOff x="878839" y="3377882"/>
            <a:chExt cx="8664513" cy="879386"/>
          </a:xfrm>
        </p:grpSpPr>
        <p:sp>
          <p:nvSpPr>
            <p:cNvPr id="1049468" name="Text Box 6"/>
            <p:cNvSpPr txBox="1">
              <a:spLocks noChangeArrowheads="1"/>
            </p:cNvSpPr>
            <p:nvPr/>
          </p:nvSpPr>
          <p:spPr bwMode="auto">
            <a:xfrm>
              <a:off x="878839" y="3383282"/>
              <a:ext cx="8664513" cy="873986"/>
            </a:xfrm>
            <a:prstGeom prst="rect">
              <a:avLst/>
            </a:prstGeom>
            <a:no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spcBef>
                  <a:spcPct val="20000"/>
                </a:spcBef>
              </a:pPr>
              <a:r>
                <a:rPr lang="en-US" altLang="zh-CN" sz="2300" dirty="0"/>
                <a:t>1</a:t>
              </a:r>
              <a:r>
                <a:rPr lang="zh-CN" altLang="en-US" sz="2300" dirty="0"/>
                <a:t>）                   适用于高速轻载的高精度定位场合，如机床轴承</a:t>
              </a:r>
              <a:r>
                <a:rPr lang="zh-CN" altLang="en-US" sz="2300" dirty="0" smtClean="0"/>
                <a:t>、</a:t>
              </a:r>
              <a:endParaRPr lang="en-US" altLang="zh-CN" sz="2300" dirty="0" smtClean="0"/>
            </a:p>
            <a:p>
              <a:pPr eaLnBrk="1" hangingPunct="1">
                <a:spcBef>
                  <a:spcPct val="20000"/>
                </a:spcBef>
              </a:pPr>
              <a:r>
                <a:rPr lang="en-US" altLang="zh-CN" sz="2300" dirty="0"/>
                <a:t> </a:t>
              </a:r>
              <a:r>
                <a:rPr lang="en-US" altLang="zh-CN" sz="2300" dirty="0" smtClean="0"/>
                <a:t>     </a:t>
              </a:r>
              <a:r>
                <a:rPr lang="zh-CN" altLang="en-US" sz="2300" dirty="0" smtClean="0"/>
                <a:t>高速</a:t>
              </a:r>
              <a:r>
                <a:rPr lang="zh-CN" altLang="en-US" sz="2300" dirty="0"/>
                <a:t>牙钻       </a:t>
              </a:r>
              <a:endParaRPr lang="en-US" altLang="zh-CN" sz="2300" dirty="0"/>
            </a:p>
          </p:txBody>
        </p:sp>
        <p:graphicFrame>
          <p:nvGraphicFramePr>
            <p:cNvPr id="4194376" name="Object 2"/>
            <p:cNvGraphicFramePr>
              <a:graphicFrameLocks noChangeAspect="1"/>
            </p:cNvGraphicFramePr>
            <p:nvPr/>
          </p:nvGraphicFramePr>
          <p:xfrm>
            <a:off x="1398270" y="3377882"/>
            <a:ext cx="1253490" cy="403666"/>
          </p:xfrm>
          <a:graphic>
            <a:graphicData uri="http://schemas.openxmlformats.org/presentationml/2006/ole">
              <mc:AlternateContent xmlns:mc="http://schemas.openxmlformats.org/markup-compatibility/2006">
                <mc:Choice xmlns:v="urn:schemas-microsoft-com:vml" Requires="v">
                  <p:oleObj spid="_x0000_s6048786" name="Equation" r:id="rId3" imgW="748975" imgH="241195" progId="Equation.DSMT4">
                    <p:embed/>
                  </p:oleObj>
                </mc:Choice>
                <mc:Fallback>
                  <p:oleObj name="Equation" r:id="rId3" imgW="748975" imgH="241195" progId="Equation.DSMT4">
                    <p:embed/>
                    <p:pic>
                      <p:nvPicPr>
                        <p:cNvPr id="0" name=""/>
                        <p:cNvPicPr>
                          <a:picLocks noChangeAspect="1" noChangeArrowheads="1"/>
                        </p:cNvPicPr>
                        <p:nvPr/>
                      </p:nvPicPr>
                      <p:blipFill>
                        <a:blip r:embed="rId4"/>
                        <a:srcRect/>
                        <a:stretch>
                          <a:fillRect/>
                        </a:stretch>
                      </p:blipFill>
                      <p:spPr bwMode="auto">
                        <a:xfrm>
                          <a:off x="1398270" y="3377882"/>
                          <a:ext cx="1253490" cy="403666"/>
                        </a:xfrm>
                        <a:prstGeom prst="rect">
                          <a:avLst/>
                        </a:prstGeom>
                        <a:noFill/>
                        <a:ln>
                          <a:noFill/>
                        </a:ln>
                        <a:effectLst/>
                      </p:spPr>
                    </p:pic>
                  </p:oleObj>
                </mc:Fallback>
              </mc:AlternateContent>
            </a:graphicData>
          </a:graphic>
        </p:graphicFrame>
      </p:grpSp>
      <p:grpSp>
        <p:nvGrpSpPr>
          <p:cNvPr id="458" name="组合 72"/>
          <p:cNvGrpSpPr/>
          <p:nvPr/>
        </p:nvGrpSpPr>
        <p:grpSpPr bwMode="auto">
          <a:xfrm>
            <a:off x="320675" y="4234454"/>
            <a:ext cx="2955181" cy="452311"/>
            <a:chOff x="868680" y="3824288"/>
            <a:chExt cx="2955181" cy="452025"/>
          </a:xfrm>
        </p:grpSpPr>
        <p:sp>
          <p:nvSpPr>
            <p:cNvPr id="1049469" name="Text Box 6"/>
            <p:cNvSpPr txBox="1">
              <a:spLocks noChangeArrowheads="1"/>
            </p:cNvSpPr>
            <p:nvPr/>
          </p:nvSpPr>
          <p:spPr bwMode="auto">
            <a:xfrm>
              <a:off x="868680" y="3830320"/>
              <a:ext cx="2955181" cy="44599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spcBef>
                  <a:spcPct val="20000"/>
                </a:spcBef>
              </a:pPr>
              <a:r>
                <a:rPr lang="en-US" altLang="zh-CN" sz="2300" dirty="0"/>
                <a:t>2</a:t>
              </a:r>
              <a:r>
                <a:rPr lang="zh-CN" altLang="en-US" sz="2300" dirty="0"/>
                <a:t>）膜厚</a:t>
              </a:r>
              <a:endParaRPr lang="en-US" altLang="zh-CN" sz="2300" dirty="0"/>
            </a:p>
          </p:txBody>
        </p:sp>
        <p:graphicFrame>
          <p:nvGraphicFramePr>
            <p:cNvPr id="4194377" name="Object 3"/>
            <p:cNvGraphicFramePr>
              <a:graphicFrameLocks noChangeAspect="1"/>
            </p:cNvGraphicFramePr>
            <p:nvPr/>
          </p:nvGraphicFramePr>
          <p:xfrm>
            <a:off x="2049463" y="3824288"/>
            <a:ext cx="1168400" cy="404812"/>
          </p:xfrm>
          <a:graphic>
            <a:graphicData uri="http://schemas.openxmlformats.org/presentationml/2006/ole">
              <mc:AlternateContent xmlns:mc="http://schemas.openxmlformats.org/markup-compatibility/2006">
                <mc:Choice xmlns:v="urn:schemas-microsoft-com:vml" Requires="v">
                  <p:oleObj spid="_x0000_s6048787" name="Equation" r:id="rId5" imgW="698500" imgH="241300" progId="Equation.DSMT4">
                    <p:embed/>
                  </p:oleObj>
                </mc:Choice>
                <mc:Fallback>
                  <p:oleObj name="Equation" r:id="rId5" imgW="698500" imgH="241300" progId="Equation.DSMT4">
                    <p:embed/>
                    <p:pic>
                      <p:nvPicPr>
                        <p:cNvPr id="0" name=""/>
                        <p:cNvPicPr>
                          <a:picLocks noChangeAspect="1" noChangeArrowheads="1"/>
                        </p:cNvPicPr>
                        <p:nvPr/>
                      </p:nvPicPr>
                      <p:blipFill>
                        <a:blip r:embed="rId6"/>
                        <a:srcRect/>
                        <a:stretch>
                          <a:fillRect/>
                        </a:stretch>
                      </p:blipFill>
                      <p:spPr bwMode="auto">
                        <a:xfrm>
                          <a:off x="2049463" y="3824288"/>
                          <a:ext cx="1168400" cy="404812"/>
                        </a:xfrm>
                        <a:prstGeom prst="rect">
                          <a:avLst/>
                        </a:prstGeom>
                        <a:noFill/>
                        <a:ln>
                          <a:noFill/>
                        </a:ln>
                        <a:effectLst/>
                      </p:spPr>
                    </p:pic>
                  </p:oleObj>
                </mc:Fallback>
              </mc:AlternateContent>
            </a:graphicData>
          </a:graphic>
        </p:graphicFrame>
      </p:grpSp>
      <p:sp>
        <p:nvSpPr>
          <p:cNvPr id="1049470" name="Text Box 6"/>
          <p:cNvSpPr txBox="1">
            <a:spLocks noChangeArrowheads="1"/>
          </p:cNvSpPr>
          <p:nvPr/>
        </p:nvSpPr>
        <p:spPr bwMode="auto">
          <a:xfrm>
            <a:off x="314032" y="4695131"/>
            <a:ext cx="8664575" cy="446276"/>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spcBef>
                <a:spcPct val="20000"/>
              </a:spcBef>
            </a:pPr>
            <a:r>
              <a:rPr lang="en-US" altLang="zh-CN" sz="2300" dirty="0"/>
              <a:t>3</a:t>
            </a:r>
            <a:r>
              <a:rPr lang="zh-CN" altLang="en-US" sz="2300" dirty="0"/>
              <a:t>）起动快，适用于低速重载场合，如大型望远镜和雷达追踪</a:t>
            </a:r>
            <a:r>
              <a:rPr lang="zh-CN" altLang="en-US" sz="2300" dirty="0" smtClean="0"/>
              <a:t>装置</a:t>
            </a:r>
            <a:endParaRPr lang="en-US" altLang="zh-CN" sz="2300" dirty="0"/>
          </a:p>
        </p:txBody>
      </p:sp>
      <p:sp>
        <p:nvSpPr>
          <p:cNvPr id="1049471" name="Text Box 6"/>
          <p:cNvSpPr txBox="1">
            <a:spLocks noChangeArrowheads="1"/>
          </p:cNvSpPr>
          <p:nvPr/>
        </p:nvSpPr>
        <p:spPr bwMode="auto">
          <a:xfrm>
            <a:off x="311796" y="5153625"/>
            <a:ext cx="6123533" cy="446276"/>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spcBef>
                <a:spcPct val="20000"/>
              </a:spcBef>
            </a:pPr>
            <a:r>
              <a:rPr lang="en-US" altLang="zh-CN" sz="2300" dirty="0"/>
              <a:t>4</a:t>
            </a:r>
            <a:r>
              <a:rPr lang="zh-CN" altLang="en-US" sz="2300" dirty="0"/>
              <a:t>）需外压泵和过滤装置等系列静压设备</a:t>
            </a:r>
            <a:endParaRPr lang="en-US" altLang="zh-CN" sz="2300" dirty="0"/>
          </a:p>
        </p:txBody>
      </p:sp>
      <p:cxnSp>
        <p:nvCxnSpPr>
          <p:cNvPr id="3145760" name="直接箭头连接符 2"/>
          <p:cNvCxnSpPr>
            <a:cxnSpLocks/>
          </p:cNvCxnSpPr>
          <p:nvPr/>
        </p:nvCxnSpPr>
        <p:spPr>
          <a:xfrm flipV="1">
            <a:off x="5436096" y="1561356"/>
            <a:ext cx="0" cy="129614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45761" name="直接箭头连接符 17"/>
          <p:cNvCxnSpPr>
            <a:cxnSpLocks/>
          </p:cNvCxnSpPr>
          <p:nvPr/>
        </p:nvCxnSpPr>
        <p:spPr>
          <a:xfrm flipV="1">
            <a:off x="7596336" y="1561356"/>
            <a:ext cx="0" cy="129614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单圆角矩形 17"/>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润滑类型</a:t>
            </a:r>
            <a:endParaRPr lang="zh-CN" altLang="en-US" sz="1500" dirty="0">
              <a:solidFill>
                <a:srgbClr val="FF6600"/>
              </a:solidFill>
            </a:endParaRPr>
          </a:p>
        </p:txBody>
      </p:sp>
      <p:sp>
        <p:nvSpPr>
          <p:cNvPr id="19" name="直角三角形 18"/>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1663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45760"/>
                                        </p:tgtEl>
                                        <p:attrNameLst>
                                          <p:attrName>style.visibility</p:attrName>
                                        </p:attrNameLst>
                                      </p:cBhvr>
                                      <p:to>
                                        <p:strVal val="visible"/>
                                      </p:to>
                                    </p:set>
                                    <p:animEffect transition="in" filter="wipe(down)">
                                      <p:cBhvr>
                                        <p:cTn id="7" dur="750"/>
                                        <p:tgtEl>
                                          <p:spTgt spid="31457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145761"/>
                                        </p:tgtEl>
                                        <p:attrNameLst>
                                          <p:attrName>style.visibility</p:attrName>
                                        </p:attrNameLst>
                                      </p:cBhvr>
                                      <p:to>
                                        <p:strVal val="visible"/>
                                      </p:to>
                                    </p:set>
                                    <p:animEffect transition="in" filter="wipe(down)">
                                      <p:cBhvr>
                                        <p:cTn id="12" dur="750"/>
                                        <p:tgtEl>
                                          <p:spTgt spid="314576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49467"/>
                                        </p:tgtEl>
                                        <p:attrNameLst>
                                          <p:attrName>style.visibility</p:attrName>
                                        </p:attrNameLst>
                                      </p:cBhvr>
                                      <p:to>
                                        <p:strVal val="visible"/>
                                      </p:to>
                                    </p:set>
                                    <p:animEffect transition="in" filter="barn(inVertical)">
                                      <p:cBhvr>
                                        <p:cTn id="17" dur="500"/>
                                        <p:tgtEl>
                                          <p:spTgt spid="104946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57"/>
                                        </p:tgtEl>
                                        <p:attrNameLst>
                                          <p:attrName>style.visibility</p:attrName>
                                        </p:attrNameLst>
                                      </p:cBhvr>
                                      <p:to>
                                        <p:strVal val="visible"/>
                                      </p:to>
                                    </p:set>
                                    <p:animEffect transition="in" filter="wipe(left)">
                                      <p:cBhvr>
                                        <p:cTn id="22" dur="1000"/>
                                        <p:tgtEl>
                                          <p:spTgt spid="4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58"/>
                                        </p:tgtEl>
                                        <p:attrNameLst>
                                          <p:attrName>style.visibility</p:attrName>
                                        </p:attrNameLst>
                                      </p:cBhvr>
                                      <p:to>
                                        <p:strVal val="visible"/>
                                      </p:to>
                                    </p:set>
                                    <p:animEffect transition="in" filter="wipe(left)">
                                      <p:cBhvr>
                                        <p:cTn id="27" dur="500"/>
                                        <p:tgtEl>
                                          <p:spTgt spid="45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49470"/>
                                        </p:tgtEl>
                                        <p:attrNameLst>
                                          <p:attrName>style.visibility</p:attrName>
                                        </p:attrNameLst>
                                      </p:cBhvr>
                                      <p:to>
                                        <p:strVal val="visible"/>
                                      </p:to>
                                    </p:set>
                                    <p:animEffect transition="in" filter="wipe(left)">
                                      <p:cBhvr>
                                        <p:cTn id="32" dur="1000"/>
                                        <p:tgtEl>
                                          <p:spTgt spid="104947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49471"/>
                                        </p:tgtEl>
                                        <p:attrNameLst>
                                          <p:attrName>style.visibility</p:attrName>
                                        </p:attrNameLst>
                                      </p:cBhvr>
                                      <p:to>
                                        <p:strVal val="visible"/>
                                      </p:to>
                                    </p:set>
                                    <p:animEffect transition="in" filter="wipe(left)">
                                      <p:cBhvr>
                                        <p:cTn id="37" dur="1000"/>
                                        <p:tgtEl>
                                          <p:spTgt spid="1049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467" grpId="0"/>
      <p:bldP spid="1049470" grpId="0"/>
      <p:bldP spid="104947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1" name="组合 1"/>
          <p:cNvGrpSpPr/>
          <p:nvPr/>
        </p:nvGrpSpPr>
        <p:grpSpPr>
          <a:xfrm>
            <a:off x="323528" y="523329"/>
            <a:ext cx="8634735" cy="1469316"/>
            <a:chOff x="323528" y="523329"/>
            <a:chExt cx="8634735" cy="1469316"/>
          </a:xfrm>
        </p:grpSpPr>
        <p:sp>
          <p:nvSpPr>
            <p:cNvPr id="1049473" name="Text Box 3"/>
            <p:cNvSpPr txBox="1">
              <a:spLocks noChangeArrowheads="1"/>
            </p:cNvSpPr>
            <p:nvPr/>
          </p:nvSpPr>
          <p:spPr bwMode="auto">
            <a:xfrm>
              <a:off x="323528" y="523329"/>
              <a:ext cx="6840760" cy="46196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kumimoji="1" lang="en-US" altLang="zh-CN" sz="2400" dirty="0" smtClean="0">
                  <a:solidFill>
                    <a:srgbClr val="FF0000"/>
                  </a:solidFill>
                </a:rPr>
                <a:t>2. </a:t>
              </a:r>
              <a:r>
                <a:rPr kumimoji="1" lang="zh-CN" altLang="en-US" sz="2400" dirty="0" smtClean="0">
                  <a:solidFill>
                    <a:srgbClr val="FF0000"/>
                  </a:solidFill>
                </a:rPr>
                <a:t>流体</a:t>
              </a:r>
              <a:r>
                <a:rPr kumimoji="1" lang="zh-CN" altLang="en-US" sz="2400" dirty="0">
                  <a:solidFill>
                    <a:srgbClr val="FF0000"/>
                  </a:solidFill>
                </a:rPr>
                <a:t>动压润滑（</a:t>
              </a:r>
              <a:r>
                <a:rPr kumimoji="1" lang="en-US" altLang="zh-CN" sz="2400" dirty="0">
                  <a:solidFill>
                    <a:srgbClr val="FF0000"/>
                  </a:solidFill>
                </a:rPr>
                <a:t>Hydrodynamic Lubrication</a:t>
              </a:r>
              <a:r>
                <a:rPr kumimoji="1" lang="zh-CN" altLang="en-US" sz="2400" dirty="0">
                  <a:solidFill>
                    <a:srgbClr val="FF0000"/>
                  </a:solidFill>
                </a:rPr>
                <a:t>）</a:t>
              </a:r>
            </a:p>
          </p:txBody>
        </p:sp>
        <p:sp>
          <p:nvSpPr>
            <p:cNvPr id="1049474" name="Text Box 4"/>
            <p:cNvSpPr txBox="1">
              <a:spLocks noChangeArrowheads="1"/>
            </p:cNvSpPr>
            <p:nvPr/>
          </p:nvSpPr>
          <p:spPr bwMode="auto">
            <a:xfrm>
              <a:off x="395536" y="1013916"/>
              <a:ext cx="8562727" cy="978729"/>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lnSpc>
                  <a:spcPct val="120000"/>
                </a:lnSpc>
              </a:pPr>
              <a:r>
                <a:rPr kumimoji="1" lang="zh-CN" altLang="en-US" sz="2400" dirty="0" smtClean="0"/>
                <a:t>由</a:t>
              </a:r>
              <a:r>
                <a:rPr kumimoji="1" lang="zh-CN" altLang="en-US" sz="2400" dirty="0"/>
                <a:t>摩擦表面的</a:t>
              </a:r>
              <a:r>
                <a:rPr kumimoji="1" lang="zh-CN" altLang="en-US" sz="2400" dirty="0">
                  <a:solidFill>
                    <a:srgbClr val="0000FF"/>
                  </a:solidFill>
                </a:rPr>
                <a:t>几何形状</a:t>
              </a:r>
              <a:r>
                <a:rPr kumimoji="1" lang="zh-CN" altLang="en-US" sz="2400" dirty="0"/>
                <a:t>和</a:t>
              </a:r>
              <a:r>
                <a:rPr kumimoji="1" lang="zh-CN" altLang="en-US" sz="2400" dirty="0">
                  <a:solidFill>
                    <a:srgbClr val="0000FF"/>
                  </a:solidFill>
                </a:rPr>
                <a:t>相对运动</a:t>
              </a:r>
              <a:r>
                <a:rPr kumimoji="1" lang="zh-CN" altLang="en-US" sz="2400" dirty="0"/>
                <a:t>，借助粘性流体动力学作用，产生润滑油膜压力来</a:t>
              </a:r>
              <a:r>
                <a:rPr kumimoji="1" lang="zh-CN" altLang="en-US" sz="2400" dirty="0" smtClean="0"/>
                <a:t>承载（主要适用于</a:t>
              </a:r>
              <a:r>
                <a:rPr kumimoji="1" lang="zh-CN" altLang="en-US" sz="2400" dirty="0" smtClean="0">
                  <a:solidFill>
                    <a:srgbClr val="FF0000"/>
                  </a:solidFill>
                </a:rPr>
                <a:t>共曲表面</a:t>
              </a:r>
              <a:r>
                <a:rPr kumimoji="1" lang="zh-CN" altLang="en-US" sz="2400" dirty="0" smtClean="0"/>
                <a:t>）。</a:t>
              </a:r>
              <a:endParaRPr kumimoji="1" lang="zh-CN" altLang="en-US" sz="2400" dirty="0"/>
            </a:p>
          </p:txBody>
        </p:sp>
      </p:grpSp>
      <p:grpSp>
        <p:nvGrpSpPr>
          <p:cNvPr id="4" name="组合 3"/>
          <p:cNvGrpSpPr/>
          <p:nvPr/>
        </p:nvGrpSpPr>
        <p:grpSpPr>
          <a:xfrm>
            <a:off x="257745" y="2165722"/>
            <a:ext cx="8778751" cy="3360856"/>
            <a:chOff x="257745" y="2165722"/>
            <a:chExt cx="8778751" cy="3360856"/>
          </a:xfrm>
        </p:grpSpPr>
        <p:grpSp>
          <p:nvGrpSpPr>
            <p:cNvPr id="3" name="组合 2"/>
            <p:cNvGrpSpPr/>
            <p:nvPr/>
          </p:nvGrpSpPr>
          <p:grpSpPr>
            <a:xfrm>
              <a:off x="726384" y="2165722"/>
              <a:ext cx="7654157" cy="2162033"/>
              <a:chOff x="726384" y="2165722"/>
              <a:chExt cx="7654157" cy="2162033"/>
            </a:xfrm>
          </p:grpSpPr>
          <p:pic>
            <p:nvPicPr>
              <p:cNvPr id="2097467" name="Picture 4" descr="2"/>
              <p:cNvPicPr>
                <a:picLocks noChangeAspect="1" noChangeArrowheads="1"/>
              </p:cNvPicPr>
              <p:nvPr/>
            </p:nvPicPr>
            <p:blipFill rotWithShape="1">
              <a:blip r:embed="rId2"/>
              <a:srcRect r="54282" b="15386"/>
              <a:stretch/>
            </p:blipFill>
            <p:spPr bwMode="auto">
              <a:xfrm>
                <a:off x="726384" y="2165722"/>
                <a:ext cx="3341560" cy="1757571"/>
              </a:xfrm>
              <a:prstGeom prst="rect">
                <a:avLst/>
              </a:prstGeom>
              <a:noFill/>
              <a:ln>
                <a:noFill/>
              </a:ln>
            </p:spPr>
          </p:pic>
          <p:pic>
            <p:nvPicPr>
              <p:cNvPr id="13" name="Picture 4" descr="2"/>
              <p:cNvPicPr>
                <a:picLocks noChangeAspect="1" noChangeArrowheads="1"/>
              </p:cNvPicPr>
              <p:nvPr/>
            </p:nvPicPr>
            <p:blipFill rotWithShape="1">
              <a:blip r:embed="rId2"/>
              <a:srcRect l="57352" b="15831"/>
              <a:stretch/>
            </p:blipFill>
            <p:spPr bwMode="auto">
              <a:xfrm>
                <a:off x="5349724" y="2165722"/>
                <a:ext cx="3030817" cy="1699889"/>
              </a:xfrm>
              <a:prstGeom prst="rect">
                <a:avLst/>
              </a:prstGeom>
              <a:noFill/>
              <a:ln>
                <a:noFill/>
              </a:ln>
            </p:spPr>
          </p:pic>
          <p:sp>
            <p:nvSpPr>
              <p:cNvPr id="1049477" name="TextBox 10"/>
              <p:cNvSpPr txBox="1">
                <a:spLocks noChangeArrowheads="1"/>
              </p:cNvSpPr>
              <p:nvPr/>
            </p:nvSpPr>
            <p:spPr bwMode="auto">
              <a:xfrm>
                <a:off x="6516216" y="3923293"/>
                <a:ext cx="1401942" cy="400026"/>
              </a:xfrm>
              <a:prstGeom prst="rect">
                <a:avLst/>
              </a:prstGeom>
              <a:no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000" dirty="0"/>
                  <a:t>异曲表面</a:t>
                </a:r>
              </a:p>
            </p:txBody>
          </p:sp>
          <p:pic>
            <p:nvPicPr>
              <p:cNvPr id="16" name="Picture 4" descr="2"/>
              <p:cNvPicPr>
                <a:picLocks noChangeAspect="1" noChangeArrowheads="1"/>
              </p:cNvPicPr>
              <p:nvPr/>
            </p:nvPicPr>
            <p:blipFill rotWithShape="1">
              <a:blip r:embed="rId2"/>
              <a:srcRect l="17236" t="84614" r="69612"/>
              <a:stretch/>
            </p:blipFill>
            <p:spPr bwMode="auto">
              <a:xfrm>
                <a:off x="1547664" y="3990459"/>
                <a:ext cx="504056" cy="265696"/>
              </a:xfrm>
              <a:prstGeom prst="rect">
                <a:avLst/>
              </a:prstGeom>
              <a:noFill/>
              <a:ln>
                <a:noFill/>
              </a:ln>
            </p:spPr>
          </p:pic>
          <p:pic>
            <p:nvPicPr>
              <p:cNvPr id="17" name="Picture 4" descr="2"/>
              <p:cNvPicPr>
                <a:picLocks noChangeAspect="1" noChangeArrowheads="1"/>
              </p:cNvPicPr>
              <p:nvPr/>
            </p:nvPicPr>
            <p:blipFill rotWithShape="1">
              <a:blip r:embed="rId2"/>
              <a:srcRect l="73259" t="84169" r="14475"/>
              <a:stretch/>
            </p:blipFill>
            <p:spPr bwMode="auto">
              <a:xfrm>
                <a:off x="6119736" y="3986617"/>
                <a:ext cx="468488" cy="273380"/>
              </a:xfrm>
              <a:prstGeom prst="rect">
                <a:avLst/>
              </a:prstGeom>
              <a:noFill/>
              <a:ln>
                <a:noFill/>
              </a:ln>
            </p:spPr>
          </p:pic>
          <p:sp>
            <p:nvSpPr>
              <p:cNvPr id="1049476" name="TextBox 9"/>
              <p:cNvSpPr txBox="1">
                <a:spLocks noChangeArrowheads="1"/>
              </p:cNvSpPr>
              <p:nvPr/>
            </p:nvSpPr>
            <p:spPr bwMode="auto">
              <a:xfrm>
                <a:off x="1992337" y="3927729"/>
                <a:ext cx="1401942" cy="400026"/>
              </a:xfrm>
              <a:prstGeom prst="rect">
                <a:avLst/>
              </a:prstGeom>
              <a:noFill/>
              <a:ln>
                <a:noFill/>
              </a:ln>
            </p:spPr>
            <p:txBody>
              <a:bodyPr>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000" dirty="0"/>
                  <a:t>共曲表面</a:t>
                </a:r>
              </a:p>
            </p:txBody>
          </p:sp>
        </p:grpSp>
        <p:sp>
          <p:nvSpPr>
            <p:cNvPr id="19" name="Text Box 6"/>
            <p:cNvSpPr txBox="1">
              <a:spLocks noChangeArrowheads="1"/>
            </p:cNvSpPr>
            <p:nvPr/>
          </p:nvSpPr>
          <p:spPr bwMode="auto">
            <a:xfrm>
              <a:off x="257745" y="4449360"/>
              <a:ext cx="8778751" cy="1077218"/>
            </a:xfrm>
            <a:prstGeom prst="rect">
              <a:avLst/>
            </a:prstGeom>
            <a:noFill/>
            <a:ln>
              <a:noFill/>
            </a:ln>
          </p:spPr>
          <p:txBody>
            <a:bodyPr wrap="square">
              <a:spAutoFit/>
            </a:bodyPr>
            <a:lstStyle>
              <a:lvl1pPr marL="342900" indent="-342900"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algn="just" eaLnBrk="1" hangingPunct="1">
                <a:spcBef>
                  <a:spcPct val="50000"/>
                </a:spcBef>
                <a:buFontTx/>
                <a:buAutoNum type="alphaLcParenBoth"/>
              </a:pPr>
              <a:r>
                <a:rPr lang="en-US" altLang="zh-CN" sz="1600" dirty="0" smtClean="0"/>
                <a:t>Conformal: The film pressures are relatively  small  in conformal bearing.(Thick film)</a:t>
              </a:r>
            </a:p>
            <a:p>
              <a:pPr algn="just" eaLnBrk="1" hangingPunct="1">
                <a:spcBef>
                  <a:spcPct val="50000"/>
                </a:spcBef>
                <a:buFontTx/>
                <a:buAutoNum type="alphaLcParenBoth"/>
              </a:pPr>
              <a:r>
                <a:rPr lang="en-US" altLang="zh-CN" sz="1600" dirty="0" smtClean="0"/>
                <a:t>Counterformal </a:t>
              </a:r>
              <a:r>
                <a:rPr lang="en-US" altLang="zh-CN" sz="1600" dirty="0"/>
                <a:t>geometry: Lubricant  exhibits properties in this high-pressure </a:t>
              </a:r>
              <a:r>
                <a:rPr lang="en-US" altLang="zh-CN" sz="1600" dirty="0" smtClean="0"/>
                <a:t>contact zone.</a:t>
              </a:r>
            </a:p>
            <a:p>
              <a:pPr marL="0" indent="0" algn="just" eaLnBrk="1" hangingPunct="1">
                <a:spcBef>
                  <a:spcPct val="50000"/>
                </a:spcBef>
              </a:pPr>
              <a:r>
                <a:rPr lang="en-US" altLang="zh-CN" sz="1600" dirty="0"/>
                <a:t> </a:t>
              </a:r>
              <a:r>
                <a:rPr lang="en-US" altLang="zh-CN" sz="1600" dirty="0" smtClean="0"/>
                <a:t>     (</a:t>
              </a:r>
              <a:r>
                <a:rPr lang="en-US" altLang="zh-CN" sz="1600" dirty="0"/>
                <a:t>Gear lubrication, rolling contact </a:t>
              </a:r>
              <a:r>
                <a:rPr lang="en-US" altLang="zh-CN" sz="1600" dirty="0" smtClean="0"/>
                <a:t>bearing)</a:t>
              </a:r>
              <a:endParaRPr lang="en-US" altLang="zh-CN" sz="1600" dirty="0"/>
            </a:p>
          </p:txBody>
        </p:sp>
      </p:grpSp>
      <p:sp>
        <p:nvSpPr>
          <p:cNvPr id="18" name="单圆角矩形 17"/>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润滑类型</a:t>
            </a:r>
            <a:endParaRPr lang="zh-CN" altLang="en-US" sz="1500" dirty="0">
              <a:solidFill>
                <a:srgbClr val="FF6600"/>
              </a:solidFill>
            </a:endParaRPr>
          </a:p>
        </p:txBody>
      </p:sp>
      <p:sp>
        <p:nvSpPr>
          <p:cNvPr id="20" name="直角三角形 19"/>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354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1"/>
                                        </p:tgtEl>
                                        <p:attrNameLst>
                                          <p:attrName>style.visibility</p:attrName>
                                        </p:attrNameLst>
                                      </p:cBhvr>
                                      <p:to>
                                        <p:strVal val="visible"/>
                                      </p:to>
                                    </p:set>
                                    <p:animEffect transition="in" filter="fade">
                                      <p:cBhvr>
                                        <p:cTn id="7" dur="1500"/>
                                        <p:tgtEl>
                                          <p:spTgt spid="4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4"/>
          <p:cNvPicPr>
            <a:picLocks noChangeAspect="1" noChangeArrowheads="1"/>
          </p:cNvPicPr>
          <p:nvPr/>
        </p:nvPicPr>
        <p:blipFill>
          <a:blip r:embed="rId3">
            <a:lum bright="-12000" contrast="24000"/>
          </a:blip>
          <a:srcRect/>
          <a:stretch>
            <a:fillRect/>
          </a:stretch>
        </p:blipFill>
        <p:spPr bwMode="auto">
          <a:xfrm>
            <a:off x="4927049" y="590978"/>
            <a:ext cx="3872403" cy="3264199"/>
          </a:xfrm>
          <a:prstGeom prst="rect">
            <a:avLst/>
          </a:prstGeom>
          <a:noFill/>
          <a:ln w="9525">
            <a:noFill/>
            <a:miter lim="800000"/>
            <a:headEnd/>
            <a:tailEnd/>
          </a:ln>
        </p:spPr>
      </p:pic>
      <p:grpSp>
        <p:nvGrpSpPr>
          <p:cNvPr id="53" name="组合 52"/>
          <p:cNvGrpSpPr/>
          <p:nvPr/>
        </p:nvGrpSpPr>
        <p:grpSpPr>
          <a:xfrm>
            <a:off x="395536" y="579107"/>
            <a:ext cx="3949019" cy="2173714"/>
            <a:chOff x="431540" y="1220943"/>
            <a:chExt cx="3949019" cy="2173714"/>
          </a:xfrm>
        </p:grpSpPr>
        <p:cxnSp>
          <p:nvCxnSpPr>
            <p:cNvPr id="7" name="直接连接符 6"/>
            <p:cNvCxnSpPr/>
            <p:nvPr/>
          </p:nvCxnSpPr>
          <p:spPr>
            <a:xfrm>
              <a:off x="1115616" y="2857500"/>
              <a:ext cx="32403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直角三角形 7"/>
            <p:cNvSpPr/>
            <p:nvPr/>
          </p:nvSpPr>
          <p:spPr>
            <a:xfrm rot="5400000" flipV="1">
              <a:off x="233518" y="1975402"/>
              <a:ext cx="1080120" cy="684076"/>
            </a:xfrm>
            <a:prstGeom prst="rtTriangle">
              <a:avLst/>
            </a:prstGeom>
            <a:pattFill prst="ltHorz">
              <a:fgClr>
                <a:schemeClr val="tx1"/>
              </a:fgClr>
              <a:bgClr>
                <a:schemeClr val="bg1"/>
              </a:bgClr>
            </a:patt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直角三角形 8"/>
            <p:cNvSpPr/>
            <p:nvPr/>
          </p:nvSpPr>
          <p:spPr>
            <a:xfrm rot="5400000" flipV="1">
              <a:off x="3473878" y="1975402"/>
              <a:ext cx="1080120" cy="684076"/>
            </a:xfrm>
            <a:prstGeom prst="rtTriangle">
              <a:avLst/>
            </a:prstGeom>
            <a:pattFill prst="ltHorz">
              <a:fgClr>
                <a:schemeClr val="tx1"/>
              </a:fgClr>
              <a:bgClr>
                <a:schemeClr val="bg1"/>
              </a:bgClr>
            </a:patt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p:cNvSpPr/>
            <p:nvPr/>
          </p:nvSpPr>
          <p:spPr>
            <a:xfrm rot="5400000" flipV="1">
              <a:off x="1874477" y="1975402"/>
              <a:ext cx="1080120" cy="684076"/>
            </a:xfrm>
            <a:prstGeom prst="rtTriangle">
              <a:avLst/>
            </a:prstGeom>
            <a:pattFill prst="ltHorz">
              <a:fgClr>
                <a:schemeClr val="tx1"/>
              </a:fgClr>
              <a:bgClr>
                <a:schemeClr val="bg1"/>
              </a:bgClr>
            </a:patt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1691680" y="2857500"/>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828083" y="2857500"/>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964487" y="2857500"/>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100891" y="2857500"/>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231739" y="2857500"/>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2368143" y="2857500"/>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504546" y="2862379"/>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640949" y="2862379"/>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783220" y="2862379"/>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919623" y="2862379"/>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056027" y="2862379"/>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192431" y="2862379"/>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323279" y="2862379"/>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459683" y="2862379"/>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3596086" y="2867258"/>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3732489" y="2867258"/>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3863336" y="2866132"/>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999739" y="2866132"/>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4136143" y="2866132"/>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272547" y="2866132"/>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137578" y="2852621"/>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273982" y="2852621"/>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410385" y="2857500"/>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546788" y="2857500"/>
              <a:ext cx="108012"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H="1">
              <a:off x="2783220" y="1561356"/>
              <a:ext cx="64807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0" name="文本框 39"/>
                <p:cNvSpPr txBox="1"/>
                <p:nvPr/>
              </p:nvSpPr>
              <p:spPr>
                <a:xfrm>
                  <a:off x="2612558" y="1220943"/>
                  <a:ext cx="38055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𝑣</m:t>
                        </m:r>
                      </m:oMath>
                    </m:oMathPara>
                  </a14:m>
                  <a:endParaRPr lang="zh-CN" altLang="en-US" dirty="0"/>
                </a:p>
              </p:txBody>
            </p:sp>
          </mc:Choice>
          <mc:Fallback>
            <p:sp>
              <p:nvSpPr>
                <p:cNvPr id="40" name="文本框 39"/>
                <p:cNvSpPr txBox="1">
                  <a:spLocks noRot="1" noChangeAspect="1" noMove="1" noResize="1" noEditPoints="1" noAdjustHandles="1" noChangeArrowheads="1" noChangeShapeType="1" noTextEdit="1"/>
                </p:cNvSpPr>
                <p:nvPr/>
              </p:nvSpPr>
              <p:spPr>
                <a:xfrm>
                  <a:off x="2612558" y="1220943"/>
                  <a:ext cx="380553" cy="369332"/>
                </a:xfrm>
                <a:prstGeom prst="rect">
                  <a:avLst/>
                </a:prstGeom>
                <a:blipFill rotWithShape="0">
                  <a:blip r:embed="rId4"/>
                  <a:stretch>
                    <a:fillRect/>
                  </a:stretch>
                </a:blipFill>
              </p:spPr>
              <p:txBody>
                <a:bodyPr/>
                <a:lstStyle/>
                <a:p>
                  <a:r>
                    <a:rPr lang="zh-CN" altLang="en-US">
                      <a:noFill/>
                    </a:rPr>
                    <a:t> </a:t>
                  </a:r>
                </a:p>
              </p:txBody>
            </p:sp>
          </mc:Fallback>
        </mc:AlternateContent>
        <p:sp>
          <p:nvSpPr>
            <p:cNvPr id="49" name="文本框 48"/>
            <p:cNvSpPr txBox="1"/>
            <p:nvPr/>
          </p:nvSpPr>
          <p:spPr>
            <a:xfrm>
              <a:off x="1070428" y="1292950"/>
              <a:ext cx="338554" cy="369332"/>
            </a:xfrm>
            <a:prstGeom prst="rect">
              <a:avLst/>
            </a:prstGeom>
            <a:noFill/>
          </p:spPr>
          <p:txBody>
            <a:bodyPr wrap="none" rtlCol="0">
              <a:spAutoFit/>
            </a:bodyPr>
            <a:lstStyle/>
            <a:p>
              <a:r>
                <a:rPr lang="en-US" altLang="zh-CN" dirty="0" smtClean="0"/>
                <a:t>A</a:t>
              </a:r>
              <a:endParaRPr lang="zh-CN" altLang="en-US" dirty="0"/>
            </a:p>
          </p:txBody>
        </p:sp>
        <p:sp>
          <p:nvSpPr>
            <p:cNvPr id="50" name="文本框 49"/>
            <p:cNvSpPr txBox="1"/>
            <p:nvPr/>
          </p:nvSpPr>
          <p:spPr>
            <a:xfrm>
              <a:off x="1070428" y="3025325"/>
              <a:ext cx="338554" cy="369332"/>
            </a:xfrm>
            <a:prstGeom prst="rect">
              <a:avLst/>
            </a:prstGeom>
            <a:noFill/>
          </p:spPr>
          <p:txBody>
            <a:bodyPr wrap="none" rtlCol="0">
              <a:spAutoFit/>
            </a:bodyPr>
            <a:lstStyle/>
            <a:p>
              <a:r>
                <a:rPr lang="en-US" altLang="zh-CN" dirty="0" smtClean="0"/>
                <a:t>B</a:t>
              </a:r>
              <a:endParaRPr lang="zh-CN" altLang="en-US" dirty="0"/>
            </a:p>
          </p:txBody>
        </p:sp>
        <p:sp>
          <p:nvSpPr>
            <p:cNvPr id="5" name="矩形 4"/>
            <p:cNvSpPr/>
            <p:nvPr/>
          </p:nvSpPr>
          <p:spPr>
            <a:xfrm>
              <a:off x="1115616" y="1633364"/>
              <a:ext cx="3240360" cy="144016"/>
            </a:xfrm>
            <a:prstGeom prst="rect">
              <a:avLst/>
            </a:prstGeom>
            <a:pattFill prst="wdDnDiag">
              <a:fgClr>
                <a:schemeClr val="accent1"/>
              </a:fgClr>
              <a:bgClr>
                <a:schemeClr val="bg1"/>
              </a:bgClr>
            </a:patt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1" name="单圆角矩形 50"/>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流体动压</a:t>
            </a:r>
            <a:r>
              <a:rPr lang="zh-CN" altLang="en-US" sz="1500" dirty="0" smtClean="0">
                <a:solidFill>
                  <a:srgbClr val="FF6600"/>
                </a:solidFill>
              </a:rPr>
              <a:t>润滑的楔效应承载机理</a:t>
            </a:r>
            <a:endParaRPr lang="zh-CN" altLang="en-US" sz="1500" dirty="0">
              <a:solidFill>
                <a:srgbClr val="FF6600"/>
              </a:solidFill>
            </a:endParaRPr>
          </a:p>
        </p:txBody>
      </p:sp>
      <p:sp>
        <p:nvSpPr>
          <p:cNvPr id="52" name="直角三角形 51"/>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Text Box 12"/>
          <p:cNvSpPr txBox="1">
            <a:spLocks noChangeArrowheads="1"/>
          </p:cNvSpPr>
          <p:nvPr/>
        </p:nvSpPr>
        <p:spPr bwMode="auto">
          <a:xfrm>
            <a:off x="216141" y="2957763"/>
            <a:ext cx="4516279" cy="461665"/>
          </a:xfrm>
          <a:prstGeom prst="rect">
            <a:avLst/>
          </a:prstGeom>
          <a:noFill/>
          <a:ln>
            <a:noFill/>
          </a:ln>
          <a:effectLst/>
          <a:extLst/>
        </p:spPr>
        <p:txBody>
          <a:bodyPr wrap="square">
            <a:spAutoFit/>
          </a:bodyPr>
          <a:lstStyle/>
          <a:p>
            <a:pPr>
              <a:defRPr/>
            </a:pPr>
            <a:r>
              <a:rPr kumimoji="1" lang="zh-CN" altLang="en-US" sz="2400" b="1" dirty="0">
                <a:latin typeface="微软雅黑" panose="020B0503020204020204" pitchFamily="34" charset="-122"/>
                <a:ea typeface="微软雅黑" panose="020B0503020204020204" pitchFamily="34" charset="-122"/>
              </a:rPr>
              <a:t>液体动力润滑形成的</a:t>
            </a:r>
            <a:r>
              <a:rPr kumimoji="1" lang="zh-CN" altLang="en-US" sz="2400" b="1" dirty="0" smtClean="0">
                <a:solidFill>
                  <a:srgbClr val="0000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必要条件</a:t>
            </a:r>
            <a:r>
              <a:rPr kumimoji="1" lang="zh-CN" altLang="en-US" sz="2400" b="1" dirty="0" smtClean="0">
                <a:latin typeface="微软雅黑" panose="020B0503020204020204" pitchFamily="34" charset="-122"/>
                <a:ea typeface="微软雅黑" panose="020B0503020204020204" pitchFamily="34" charset="-122"/>
              </a:rPr>
              <a:t>：</a:t>
            </a:r>
            <a:endParaRPr kumimoji="1" lang="zh-CN" altLang="en-US" sz="2400" b="1" dirty="0">
              <a:latin typeface="微软雅黑" panose="020B0503020204020204" pitchFamily="34" charset="-122"/>
              <a:ea typeface="微软雅黑" panose="020B0503020204020204" pitchFamily="34" charset="-122"/>
            </a:endParaRPr>
          </a:p>
        </p:txBody>
      </p:sp>
      <p:sp>
        <p:nvSpPr>
          <p:cNvPr id="56" name="Text Box 2"/>
          <p:cNvSpPr txBox="1">
            <a:spLocks noChangeArrowheads="1"/>
          </p:cNvSpPr>
          <p:nvPr/>
        </p:nvSpPr>
        <p:spPr bwMode="auto">
          <a:xfrm>
            <a:off x="207404" y="3548744"/>
            <a:ext cx="3727940" cy="430887"/>
          </a:xfrm>
          <a:prstGeom prst="rect">
            <a:avLst/>
          </a:prstGeom>
          <a:noFill/>
          <a:ln>
            <a:noFill/>
          </a:ln>
          <a:effectLst/>
          <a:extLst/>
        </p:spPr>
        <p:txBody>
          <a:bodyPr wrap="square">
            <a:spAutoFit/>
          </a:bodyPr>
          <a:lstStyle/>
          <a:p>
            <a:pPr>
              <a:defRPr/>
            </a:pPr>
            <a:r>
              <a:rPr kumimoji="1" lang="en-US" altLang="zh-CN" sz="2200" dirty="0">
                <a:latin typeface="微软雅黑" panose="020B0503020204020204" pitchFamily="34" charset="-122"/>
                <a:ea typeface="微软雅黑" panose="020B0503020204020204" pitchFamily="34" charset="-122"/>
              </a:rPr>
              <a:t>1</a:t>
            </a:r>
            <a:r>
              <a:rPr kumimoji="1" lang="zh-CN" altLang="en-US" sz="2200" dirty="0">
                <a:latin typeface="微软雅黑" panose="020B0503020204020204" pitchFamily="34" charset="-122"/>
                <a:ea typeface="微软雅黑" panose="020B0503020204020204" pitchFamily="34" charset="-122"/>
              </a:rPr>
              <a:t>、润滑油有一定</a:t>
            </a:r>
            <a:r>
              <a:rPr kumimoji="1" lang="zh-CN" altLang="en-US" sz="2200" dirty="0" smtClean="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粘度</a:t>
            </a:r>
            <a:r>
              <a:rPr kumimoji="1" lang="zh-CN" altLang="en-US" sz="2200" dirty="0" smtClean="0">
                <a:latin typeface="微软雅黑" panose="020B0503020204020204" pitchFamily="34" charset="-122"/>
                <a:ea typeface="微软雅黑" panose="020B0503020204020204" pitchFamily="34" charset="-122"/>
              </a:rPr>
              <a:t>。</a:t>
            </a:r>
            <a:endParaRPr kumimoji="1" lang="zh-CN" altLang="en-US" sz="22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62" name="Text Box 3"/>
              <p:cNvSpPr txBox="1">
                <a:spLocks noChangeArrowheads="1"/>
              </p:cNvSpPr>
              <p:nvPr/>
            </p:nvSpPr>
            <p:spPr bwMode="auto">
              <a:xfrm>
                <a:off x="207404" y="3983592"/>
                <a:ext cx="5569410" cy="600164"/>
              </a:xfrm>
              <a:prstGeom prst="rect">
                <a:avLst/>
              </a:prstGeom>
              <a:noFill/>
              <a:ln>
                <a:noFill/>
              </a:ln>
              <a:effectLst/>
              <a:extLst/>
            </p:spPr>
            <p:txBody>
              <a:bodyPr wrap="none">
                <a:spAutoFit/>
              </a:bodyPr>
              <a:lstStyle/>
              <a:p>
                <a:pPr>
                  <a:lnSpc>
                    <a:spcPct val="150000"/>
                  </a:lnSpc>
                  <a:defRPr/>
                </a:pPr>
                <a:r>
                  <a:rPr kumimoji="1" lang="en-US" altLang="zh-CN" sz="2200" dirty="0" smtClean="0">
                    <a:latin typeface="微软雅黑" panose="020B0503020204020204" pitchFamily="34" charset="-122"/>
                    <a:ea typeface="微软雅黑" panose="020B0503020204020204" pitchFamily="34" charset="-122"/>
                  </a:rPr>
                  <a:t>2</a:t>
                </a:r>
                <a:r>
                  <a:rPr kumimoji="1" lang="zh-CN" altLang="en-US" sz="2200" dirty="0">
                    <a:latin typeface="微软雅黑" panose="020B0503020204020204" pitchFamily="34" charset="-122"/>
                    <a:ea typeface="微软雅黑" panose="020B0503020204020204" pitchFamily="34" charset="-122"/>
                  </a:rPr>
                  <a:t>、有一定</a:t>
                </a:r>
                <a:r>
                  <a:rPr kumimoji="1" lang="zh-CN" altLang="en-US" sz="220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相对滑动速度</a:t>
                </a:r>
                <a:r>
                  <a:rPr kumimoji="1" lang="en-US" altLang="zh-CN" sz="220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v</a:t>
                </a:r>
                <a:r>
                  <a:rPr kumimoji="1" lang="zh-CN" altLang="en-US" sz="2200" dirty="0">
                    <a:latin typeface="微软雅黑" panose="020B0503020204020204" pitchFamily="34" charset="-122"/>
                    <a:ea typeface="微软雅黑" panose="020B0503020204020204" pitchFamily="34" charset="-122"/>
                  </a:rPr>
                  <a:t>。承载能力</a:t>
                </a:r>
                <a:r>
                  <a:rPr kumimoji="1" lang="zh-CN" altLang="en-US" sz="2200" dirty="0" smtClean="0">
                    <a:latin typeface="微软雅黑" panose="020B0503020204020204" pitchFamily="34" charset="-122"/>
                    <a:ea typeface="微软雅黑" panose="020B0503020204020204" pitchFamily="34" charset="-122"/>
                  </a:rPr>
                  <a:t>∝</a:t>
                </a:r>
                <a14:m>
                  <m:oMath xmlns:m="http://schemas.openxmlformats.org/officeDocument/2006/math">
                    <m:r>
                      <a:rPr kumimoji="1" lang="en-US" altLang="zh-CN" sz="2200" b="0" i="1" smtClean="0">
                        <a:latin typeface="Cambria Math" panose="02040503050406030204" pitchFamily="18" charset="0"/>
                        <a:ea typeface="微软雅黑" panose="020B0503020204020204" pitchFamily="34" charset="-122"/>
                      </a:rPr>
                      <m:t>𝑣</m:t>
                    </m:r>
                  </m:oMath>
                </a14:m>
                <a:r>
                  <a:rPr kumimoji="1" lang="zh-CN" altLang="en-US" sz="2200" dirty="0">
                    <a:latin typeface="微软雅黑" panose="020B0503020204020204" pitchFamily="34" charset="-122"/>
                    <a:ea typeface="微软雅黑" panose="020B0503020204020204" pitchFamily="34" charset="-122"/>
                  </a:rPr>
                  <a:t>；</a:t>
                </a:r>
              </a:p>
            </p:txBody>
          </p:sp>
        </mc:Choice>
        <mc:Fallback>
          <p:sp>
            <p:nvSpPr>
              <p:cNvPr id="62" name="Text Box 3"/>
              <p:cNvSpPr txBox="1">
                <a:spLocks noRot="1" noChangeAspect="1" noMove="1" noResize="1" noEditPoints="1" noAdjustHandles="1" noChangeArrowheads="1" noChangeShapeType="1" noTextEdit="1"/>
              </p:cNvSpPr>
              <p:nvPr/>
            </p:nvSpPr>
            <p:spPr bwMode="auto">
              <a:xfrm>
                <a:off x="207404" y="3983592"/>
                <a:ext cx="5569410" cy="600164"/>
              </a:xfrm>
              <a:prstGeom prst="rect">
                <a:avLst/>
              </a:prstGeom>
              <a:blipFill rotWithShape="0">
                <a:blip r:embed="rId5"/>
                <a:stretch>
                  <a:fillRect l="-1422" b="-15152"/>
                </a:stretch>
              </a:blipFill>
              <a:ln>
                <a:noFill/>
              </a:ln>
              <a:effectLst/>
              <a:extLst/>
            </p:spPr>
            <p:txBody>
              <a:bodyPr/>
              <a:lstStyle/>
              <a:p>
                <a:r>
                  <a:rPr lang="zh-CN" altLang="en-US">
                    <a:noFill/>
                  </a:rPr>
                  <a:t> </a:t>
                </a:r>
              </a:p>
            </p:txBody>
          </p:sp>
        </mc:Fallback>
      </mc:AlternateContent>
      <p:sp>
        <p:nvSpPr>
          <p:cNvPr id="63" name="Text Box 4"/>
          <p:cNvSpPr txBox="1">
            <a:spLocks noChangeArrowheads="1"/>
          </p:cNvSpPr>
          <p:nvPr/>
        </p:nvSpPr>
        <p:spPr bwMode="auto">
          <a:xfrm>
            <a:off x="207405" y="4482633"/>
            <a:ext cx="8936596" cy="600164"/>
          </a:xfrm>
          <a:prstGeom prst="rect">
            <a:avLst/>
          </a:prstGeom>
          <a:noFill/>
          <a:ln>
            <a:noFill/>
          </a:ln>
          <a:effectLst/>
          <a:extLst/>
        </p:spPr>
        <p:txBody>
          <a:bodyPr wrap="square">
            <a:spAutoFit/>
          </a:bodyPr>
          <a:lstStyle/>
          <a:p>
            <a:pPr>
              <a:lnSpc>
                <a:spcPct val="150000"/>
              </a:lnSpc>
              <a:defRPr/>
            </a:pPr>
            <a:r>
              <a:rPr kumimoji="1" lang="en-US" altLang="zh-CN" sz="2200" dirty="0">
                <a:latin typeface="微软雅黑" panose="020B0503020204020204" pitchFamily="34" charset="-122"/>
                <a:ea typeface="微软雅黑" panose="020B0503020204020204" pitchFamily="34" charset="-122"/>
              </a:rPr>
              <a:t>3</a:t>
            </a:r>
            <a:r>
              <a:rPr kumimoji="1" lang="zh-CN" altLang="en-US" sz="2200" dirty="0">
                <a:latin typeface="微软雅黑" panose="020B0503020204020204" pitchFamily="34" charset="-122"/>
                <a:ea typeface="微软雅黑" panose="020B0503020204020204" pitchFamily="34" charset="-122"/>
              </a:rPr>
              <a:t>、相对滑动面之间必须形成</a:t>
            </a:r>
            <a:r>
              <a:rPr kumimoji="1" lang="zh-CN" altLang="en-US" sz="220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收敛形间隙</a:t>
            </a:r>
            <a:r>
              <a:rPr kumimoji="1" lang="zh-CN" altLang="en-US" sz="2200" dirty="0" smtClean="0">
                <a:latin typeface="微软雅黑" panose="020B0503020204020204" pitchFamily="34" charset="-122"/>
                <a:ea typeface="微软雅黑" panose="020B0503020204020204" pitchFamily="34" charset="-122"/>
              </a:rPr>
              <a:t>，油</a:t>
            </a:r>
            <a:r>
              <a:rPr kumimoji="1" lang="zh-CN" altLang="en-US" sz="2200" dirty="0">
                <a:latin typeface="微软雅黑" panose="020B0503020204020204" pitchFamily="34" charset="-122"/>
                <a:ea typeface="微软雅黑" panose="020B0503020204020204" pitchFamily="34" charset="-122"/>
              </a:rPr>
              <a:t>从</a:t>
            </a:r>
            <a:r>
              <a:rPr kumimoji="1" lang="zh-CN" altLang="en-US" sz="2200" dirty="0">
                <a:solidFill>
                  <a:srgbClr val="FF0000"/>
                </a:solidFill>
                <a:latin typeface="微软雅黑" panose="020B0503020204020204" pitchFamily="34" charset="-122"/>
                <a:ea typeface="微软雅黑" panose="020B0503020204020204" pitchFamily="34" charset="-122"/>
              </a:rPr>
              <a:t>大口</a:t>
            </a:r>
            <a:r>
              <a:rPr kumimoji="1" lang="zh-CN" altLang="en-US" sz="2200" dirty="0">
                <a:latin typeface="微软雅黑" panose="020B0503020204020204" pitchFamily="34" charset="-122"/>
                <a:ea typeface="微软雅黑" panose="020B0503020204020204" pitchFamily="34" charset="-122"/>
              </a:rPr>
              <a:t>流</a:t>
            </a:r>
            <a:r>
              <a:rPr kumimoji="1" lang="zh-CN" altLang="en-US" sz="2200" dirty="0">
                <a:solidFill>
                  <a:srgbClr val="FF0000"/>
                </a:solidFill>
                <a:latin typeface="微软雅黑" panose="020B0503020204020204" pitchFamily="34" charset="-122"/>
                <a:ea typeface="微软雅黑" panose="020B0503020204020204" pitchFamily="34" charset="-122"/>
              </a:rPr>
              <a:t>进</a:t>
            </a:r>
            <a:r>
              <a:rPr kumimoji="1" lang="zh-CN" altLang="en-US" sz="2200" dirty="0">
                <a:latin typeface="微软雅黑" panose="020B0503020204020204" pitchFamily="34" charset="-122"/>
                <a:ea typeface="微软雅黑" panose="020B0503020204020204" pitchFamily="34" charset="-122"/>
              </a:rPr>
              <a:t>，</a:t>
            </a:r>
            <a:r>
              <a:rPr kumimoji="1" lang="zh-CN" altLang="en-US" sz="2200" dirty="0" smtClean="0">
                <a:solidFill>
                  <a:srgbClr val="FF0000"/>
                </a:solidFill>
                <a:latin typeface="微软雅黑" panose="020B0503020204020204" pitchFamily="34" charset="-122"/>
                <a:ea typeface="微软雅黑" panose="020B0503020204020204" pitchFamily="34" charset="-122"/>
              </a:rPr>
              <a:t>小口</a:t>
            </a:r>
            <a:r>
              <a:rPr kumimoji="1" lang="zh-CN" altLang="en-US" sz="2200" dirty="0" smtClean="0">
                <a:latin typeface="微软雅黑" panose="020B0503020204020204" pitchFamily="34" charset="-122"/>
                <a:ea typeface="微软雅黑" panose="020B0503020204020204" pitchFamily="34" charset="-122"/>
              </a:rPr>
              <a:t>流</a:t>
            </a:r>
            <a:r>
              <a:rPr kumimoji="1" lang="zh-CN" altLang="en-US" sz="2200" dirty="0" smtClean="0">
                <a:solidFill>
                  <a:srgbClr val="FF0000"/>
                </a:solidFill>
                <a:latin typeface="微软雅黑" panose="020B0503020204020204" pitchFamily="34" charset="-122"/>
                <a:ea typeface="微软雅黑" panose="020B0503020204020204" pitchFamily="34" charset="-122"/>
              </a:rPr>
              <a:t>出</a:t>
            </a:r>
            <a:r>
              <a:rPr kumimoji="1" lang="zh-CN" altLang="en-US" sz="2200" dirty="0">
                <a:latin typeface="微软雅黑" panose="020B0503020204020204" pitchFamily="34" charset="-122"/>
                <a:ea typeface="微软雅黑" panose="020B0503020204020204" pitchFamily="34" charset="-122"/>
              </a:rPr>
              <a:t>；</a:t>
            </a:r>
            <a:endParaRPr kumimoji="1" lang="zh-CN" altLang="en-US" sz="2200" dirty="0">
              <a:latin typeface="微软雅黑" panose="020B0503020204020204" pitchFamily="34" charset="-122"/>
              <a:ea typeface="微软雅黑" panose="020B0503020204020204" pitchFamily="34" charset="-122"/>
            </a:endParaRPr>
          </a:p>
        </p:txBody>
      </p:sp>
      <p:sp>
        <p:nvSpPr>
          <p:cNvPr id="64" name="Text Box 5"/>
          <p:cNvSpPr txBox="1">
            <a:spLocks noChangeArrowheads="1"/>
          </p:cNvSpPr>
          <p:nvPr/>
        </p:nvSpPr>
        <p:spPr bwMode="auto">
          <a:xfrm>
            <a:off x="208918" y="4993640"/>
            <a:ext cx="3455692" cy="600164"/>
          </a:xfrm>
          <a:prstGeom prst="rect">
            <a:avLst/>
          </a:prstGeom>
          <a:noFill/>
          <a:ln>
            <a:noFill/>
          </a:ln>
          <a:effectLst/>
          <a:extLst/>
        </p:spPr>
        <p:txBody>
          <a:bodyPr wrap="square">
            <a:spAutoFit/>
          </a:bodyPr>
          <a:lstStyle>
            <a:defPPr>
              <a:defRPr lang="zh-CN"/>
            </a:defPPr>
            <a:lvl1pPr>
              <a:lnSpc>
                <a:spcPct val="150000"/>
              </a:lnSpc>
              <a:defRPr kumimoji="1" sz="2200">
                <a:latin typeface="微软雅黑" panose="020B0503020204020204" pitchFamily="34" charset="-122"/>
                <a:ea typeface="微软雅黑" panose="020B0503020204020204" pitchFamily="34" charset="-122"/>
              </a:defRPr>
            </a:lvl1pPr>
          </a:lstStyle>
          <a:p>
            <a:r>
              <a:rPr lang="en-US" altLang="zh-CN" dirty="0"/>
              <a:t>4</a:t>
            </a:r>
            <a:r>
              <a:rPr lang="zh-CN" altLang="en-US" dirty="0"/>
              <a:t>、有足够</a:t>
            </a:r>
            <a:r>
              <a:rPr lang="zh-CN" altLang="en-US" dirty="0">
                <a:solidFill>
                  <a:srgbClr val="FF0000"/>
                </a:solidFill>
              </a:rPr>
              <a:t>充分的供油量</a:t>
            </a:r>
            <a:r>
              <a:rPr lang="zh-CN" altLang="en-US" dirty="0"/>
              <a:t>。</a:t>
            </a:r>
          </a:p>
        </p:txBody>
      </p:sp>
    </p:spTree>
    <p:extLst>
      <p:ext uri="{BB962C8B-B14F-4D97-AF65-F5344CB8AC3E}">
        <p14:creationId xmlns:p14="http://schemas.microsoft.com/office/powerpoint/2010/main" val="622127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1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wipe(left)">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left)">
                                      <p:cBhvr>
                                        <p:cTn id="22" dur="50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wipe(left)">
                                      <p:cBhvr>
                                        <p:cTn id="27" dur="500"/>
                                        <p:tgtEl>
                                          <p:spTgt spid="6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wipe(left)">
                                      <p:cBhvr>
                                        <p:cTn id="32" dur="750"/>
                                        <p:tgtEl>
                                          <p:spTgt spid="6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wipe(left)">
                                      <p:cBhvr>
                                        <p:cTn id="3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6" grpId="0"/>
      <p:bldP spid="62" grpId="0"/>
      <p:bldP spid="63" grpId="0"/>
      <p:bldP spid="6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8199" y="697260"/>
            <a:ext cx="6990470" cy="1663700"/>
            <a:chOff x="248199" y="697260"/>
            <a:chExt cx="6990470" cy="1663700"/>
          </a:xfrm>
        </p:grpSpPr>
        <p:grpSp>
          <p:nvGrpSpPr>
            <p:cNvPr id="4" name="组合 3"/>
            <p:cNvGrpSpPr/>
            <p:nvPr/>
          </p:nvGrpSpPr>
          <p:grpSpPr>
            <a:xfrm>
              <a:off x="248199" y="697260"/>
              <a:ext cx="2100263" cy="1663700"/>
              <a:chOff x="206800" y="744790"/>
              <a:chExt cx="2100263" cy="1663700"/>
            </a:xfrm>
          </p:grpSpPr>
          <p:grpSp>
            <p:nvGrpSpPr>
              <p:cNvPr id="5" name="Group 4"/>
              <p:cNvGrpSpPr>
                <a:grpSpLocks/>
              </p:cNvGrpSpPr>
              <p:nvPr/>
            </p:nvGrpSpPr>
            <p:grpSpPr bwMode="auto">
              <a:xfrm>
                <a:off x="206800" y="744790"/>
                <a:ext cx="2100263" cy="1663700"/>
                <a:chOff x="507" y="1433"/>
                <a:chExt cx="929" cy="736"/>
              </a:xfrm>
            </p:grpSpPr>
            <p:sp>
              <p:nvSpPr>
                <p:cNvPr id="7" name="Line 5"/>
                <p:cNvSpPr>
                  <a:spLocks noChangeShapeType="1"/>
                </p:cNvSpPr>
                <p:nvPr/>
              </p:nvSpPr>
              <p:spPr bwMode="auto">
                <a:xfrm>
                  <a:off x="533" y="1556"/>
                  <a:ext cx="900" cy="241"/>
                </a:xfrm>
                <a:prstGeom prst="line">
                  <a:avLst/>
                </a:prstGeom>
                <a:noFill/>
                <a:ln w="28575">
                  <a:solidFill>
                    <a:schemeClr val="tx1"/>
                  </a:solidFill>
                  <a:round/>
                  <a:headEnd/>
                  <a:tailEnd/>
                </a:ln>
              </p:spPr>
              <p:txBody>
                <a:bodyPr/>
                <a:lstStyle/>
                <a:p>
                  <a:endParaRPr lang="zh-CN" altLang="en-US"/>
                </a:p>
              </p:txBody>
            </p:sp>
            <p:sp>
              <p:nvSpPr>
                <p:cNvPr id="8" name="Line 6"/>
                <p:cNvSpPr>
                  <a:spLocks noChangeShapeType="1"/>
                </p:cNvSpPr>
                <p:nvPr/>
              </p:nvSpPr>
              <p:spPr bwMode="auto">
                <a:xfrm>
                  <a:off x="507" y="2012"/>
                  <a:ext cx="929" cy="0"/>
                </a:xfrm>
                <a:prstGeom prst="line">
                  <a:avLst/>
                </a:prstGeom>
                <a:noFill/>
                <a:ln w="28575">
                  <a:solidFill>
                    <a:schemeClr val="tx1"/>
                  </a:solidFill>
                  <a:round/>
                  <a:headEnd/>
                  <a:tailEnd/>
                </a:ln>
              </p:spPr>
              <p:txBody>
                <a:bodyPr/>
                <a:lstStyle/>
                <a:p>
                  <a:endParaRPr lang="zh-CN" altLang="en-US"/>
                </a:p>
              </p:txBody>
            </p:sp>
            <p:sp>
              <p:nvSpPr>
                <p:cNvPr id="9" name="Line 7"/>
                <p:cNvSpPr>
                  <a:spLocks noChangeShapeType="1"/>
                </p:cNvSpPr>
                <p:nvPr/>
              </p:nvSpPr>
              <p:spPr bwMode="auto">
                <a:xfrm>
                  <a:off x="911" y="1590"/>
                  <a:ext cx="336" cy="0"/>
                </a:xfrm>
                <a:prstGeom prst="line">
                  <a:avLst/>
                </a:prstGeom>
                <a:noFill/>
                <a:ln w="19050">
                  <a:solidFill>
                    <a:srgbClr val="FF0000"/>
                  </a:solidFill>
                  <a:round/>
                  <a:headEnd/>
                  <a:tailEnd type="triangle" w="sm" len="lg"/>
                </a:ln>
              </p:spPr>
              <p:txBody>
                <a:bodyPr/>
                <a:lstStyle/>
                <a:p>
                  <a:endParaRPr lang="zh-CN" altLang="en-US"/>
                </a:p>
              </p:txBody>
            </p:sp>
            <p:sp>
              <p:nvSpPr>
                <p:cNvPr id="10" name="Line 8"/>
                <p:cNvSpPr>
                  <a:spLocks noChangeShapeType="1"/>
                </p:cNvSpPr>
                <p:nvPr/>
              </p:nvSpPr>
              <p:spPr bwMode="auto">
                <a:xfrm>
                  <a:off x="902" y="2115"/>
                  <a:ext cx="336" cy="0"/>
                </a:xfrm>
                <a:prstGeom prst="line">
                  <a:avLst/>
                </a:prstGeom>
                <a:noFill/>
                <a:ln w="19050">
                  <a:solidFill>
                    <a:srgbClr val="FF0000"/>
                  </a:solidFill>
                  <a:round/>
                  <a:headEnd/>
                  <a:tailEnd type="triangle" w="sm" len="lg"/>
                </a:ln>
              </p:spPr>
              <p:txBody>
                <a:bodyPr/>
                <a:lstStyle/>
                <a:p>
                  <a:endParaRPr lang="zh-CN" altLang="en-US"/>
                </a:p>
              </p:txBody>
            </p:sp>
            <p:sp>
              <p:nvSpPr>
                <p:cNvPr id="11" name="Text Box 9"/>
                <p:cNvSpPr txBox="1">
                  <a:spLocks noChangeArrowheads="1"/>
                </p:cNvSpPr>
                <p:nvPr/>
              </p:nvSpPr>
              <p:spPr bwMode="auto">
                <a:xfrm>
                  <a:off x="1223" y="1433"/>
                  <a:ext cx="213" cy="177"/>
                </a:xfrm>
                <a:prstGeom prst="rect">
                  <a:avLst/>
                </a:prstGeom>
                <a:noFill/>
                <a:ln w="9525">
                  <a:noFill/>
                  <a:miter lim="800000"/>
                  <a:headEnd/>
                  <a:tailEnd/>
                </a:ln>
              </p:spPr>
              <p:txBody>
                <a:bodyPr wrap="none">
                  <a:spAutoFit/>
                </a:bodyPr>
                <a:lstStyle/>
                <a:p>
                  <a:r>
                    <a:rPr kumimoji="1" lang="en-US" altLang="zh-CN" sz="2000" b="1" dirty="0">
                      <a:solidFill>
                        <a:srgbClr val="000099"/>
                      </a:solidFill>
                      <a:latin typeface="微软雅黑"/>
                      <a:ea typeface="微软雅黑"/>
                      <a:cs typeface="微软雅黑"/>
                    </a:rPr>
                    <a:t>V</a:t>
                  </a:r>
                  <a:r>
                    <a:rPr kumimoji="1" lang="en-US" altLang="zh-CN" sz="2000" b="1" baseline="-25000" dirty="0">
                      <a:solidFill>
                        <a:srgbClr val="000099"/>
                      </a:solidFill>
                      <a:latin typeface="微软雅黑"/>
                      <a:ea typeface="微软雅黑"/>
                      <a:cs typeface="微软雅黑"/>
                    </a:rPr>
                    <a:t>b</a:t>
                  </a:r>
                </a:p>
              </p:txBody>
            </p:sp>
            <p:sp>
              <p:nvSpPr>
                <p:cNvPr id="12" name="Text Box 10"/>
                <p:cNvSpPr txBox="1">
                  <a:spLocks noChangeArrowheads="1"/>
                </p:cNvSpPr>
                <p:nvPr/>
              </p:nvSpPr>
              <p:spPr bwMode="auto">
                <a:xfrm>
                  <a:off x="1206" y="1992"/>
                  <a:ext cx="197" cy="177"/>
                </a:xfrm>
                <a:prstGeom prst="rect">
                  <a:avLst/>
                </a:prstGeom>
                <a:noFill/>
                <a:ln w="9525">
                  <a:noFill/>
                  <a:miter lim="800000"/>
                  <a:headEnd/>
                  <a:tailEnd/>
                </a:ln>
              </p:spPr>
              <p:txBody>
                <a:bodyPr wrap="none">
                  <a:spAutoFit/>
                </a:bodyPr>
                <a:lstStyle/>
                <a:p>
                  <a:r>
                    <a:rPr kumimoji="1" lang="en-US" altLang="zh-CN" sz="2000" b="1" dirty="0">
                      <a:solidFill>
                        <a:srgbClr val="000099"/>
                      </a:solidFill>
                      <a:latin typeface="微软雅黑"/>
                      <a:ea typeface="微软雅黑"/>
                      <a:cs typeface="微软雅黑"/>
                    </a:rPr>
                    <a:t>V</a:t>
                  </a:r>
                  <a:r>
                    <a:rPr kumimoji="1" lang="en-US" altLang="zh-CN" sz="2000" b="1" baseline="-25000" dirty="0">
                      <a:solidFill>
                        <a:srgbClr val="000099"/>
                      </a:solidFill>
                      <a:latin typeface="微软雅黑"/>
                      <a:ea typeface="微软雅黑"/>
                      <a:cs typeface="微软雅黑"/>
                    </a:rPr>
                    <a:t>a</a:t>
                  </a:r>
                </a:p>
              </p:txBody>
            </p:sp>
            <p:sp>
              <p:nvSpPr>
                <p:cNvPr id="13" name="Line 11"/>
                <p:cNvSpPr>
                  <a:spLocks noChangeShapeType="1"/>
                </p:cNvSpPr>
                <p:nvPr/>
              </p:nvSpPr>
              <p:spPr bwMode="auto">
                <a:xfrm>
                  <a:off x="868" y="1651"/>
                  <a:ext cx="0" cy="369"/>
                </a:xfrm>
                <a:prstGeom prst="line">
                  <a:avLst/>
                </a:prstGeom>
                <a:noFill/>
                <a:ln w="9525">
                  <a:solidFill>
                    <a:schemeClr val="tx1"/>
                  </a:solidFill>
                  <a:round/>
                  <a:headEnd type="triangle" w="sm" len="lg"/>
                  <a:tailEnd type="triangle" w="sm" len="lg"/>
                </a:ln>
              </p:spPr>
              <p:txBody>
                <a:bodyPr/>
                <a:lstStyle/>
                <a:p>
                  <a:endParaRPr lang="zh-CN" altLang="en-US"/>
                </a:p>
              </p:txBody>
            </p:sp>
            <p:sp>
              <p:nvSpPr>
                <p:cNvPr id="14" name="Text Box 12"/>
                <p:cNvSpPr txBox="1">
                  <a:spLocks noChangeArrowheads="1"/>
                </p:cNvSpPr>
                <p:nvPr/>
              </p:nvSpPr>
              <p:spPr bwMode="auto">
                <a:xfrm>
                  <a:off x="835" y="1673"/>
                  <a:ext cx="155" cy="177"/>
                </a:xfrm>
                <a:prstGeom prst="rect">
                  <a:avLst/>
                </a:prstGeom>
                <a:noFill/>
                <a:ln w="9525">
                  <a:noFill/>
                  <a:miter lim="800000"/>
                  <a:headEnd/>
                  <a:tailEnd/>
                </a:ln>
              </p:spPr>
              <p:txBody>
                <a:bodyPr wrap="none">
                  <a:spAutoFit/>
                </a:bodyPr>
                <a:lstStyle/>
                <a:p>
                  <a:r>
                    <a:rPr kumimoji="1" lang="en-US" altLang="zh-CN" sz="2000" b="1">
                      <a:latin typeface="微软雅黑"/>
                      <a:ea typeface="微软雅黑"/>
                      <a:cs typeface="微软雅黑"/>
                    </a:rPr>
                    <a:t>h</a:t>
                  </a:r>
                  <a:endParaRPr kumimoji="1" lang="en-US" altLang="zh-CN" sz="2000" b="1" baseline="-25000">
                    <a:latin typeface="微软雅黑"/>
                    <a:ea typeface="微软雅黑"/>
                    <a:cs typeface="微软雅黑"/>
                  </a:endParaRPr>
                </a:p>
              </p:txBody>
            </p:sp>
          </p:grpSp>
          <p:sp>
            <p:nvSpPr>
              <p:cNvPr id="6" name="Text Box 37"/>
              <p:cNvSpPr txBox="1">
                <a:spLocks noChangeArrowheads="1"/>
              </p:cNvSpPr>
              <p:nvPr/>
            </p:nvSpPr>
            <p:spPr bwMode="auto">
              <a:xfrm>
                <a:off x="1713338" y="1400427"/>
                <a:ext cx="334962" cy="400050"/>
              </a:xfrm>
              <a:prstGeom prst="rect">
                <a:avLst/>
              </a:prstGeom>
              <a:noFill/>
              <a:ln w="9525">
                <a:noFill/>
                <a:miter lim="800000"/>
                <a:headEnd/>
                <a:tailEnd/>
              </a:ln>
            </p:spPr>
            <p:txBody>
              <a:bodyPr wrap="none">
                <a:spAutoFit/>
              </a:bodyPr>
              <a:lstStyle/>
              <a:p>
                <a:r>
                  <a:rPr kumimoji="1" lang="en-US" altLang="zh-CN" sz="2000" b="1">
                    <a:latin typeface="微软雅黑"/>
                    <a:ea typeface="微软雅黑"/>
                    <a:cs typeface="微软雅黑"/>
                  </a:rPr>
                  <a:t>x</a:t>
                </a:r>
                <a:endParaRPr kumimoji="1" lang="en-US" altLang="zh-CN" sz="2000" b="1" baseline="-25000">
                  <a:latin typeface="微软雅黑"/>
                  <a:ea typeface="微软雅黑"/>
                  <a:cs typeface="微软雅黑"/>
                </a:endParaRPr>
              </a:p>
            </p:txBody>
          </p:sp>
        </p:grpSp>
        <p:sp>
          <p:nvSpPr>
            <p:cNvPr id="15" name="Text Box 40"/>
            <p:cNvSpPr txBox="1">
              <a:spLocks noChangeArrowheads="1"/>
            </p:cNvSpPr>
            <p:nvPr/>
          </p:nvSpPr>
          <p:spPr bwMode="auto">
            <a:xfrm>
              <a:off x="2529431" y="759983"/>
              <a:ext cx="4709238" cy="400110"/>
            </a:xfrm>
            <a:prstGeom prst="rect">
              <a:avLst/>
            </a:prstGeom>
            <a:noFill/>
            <a:ln w="9525">
              <a:noFill/>
              <a:miter lim="800000"/>
              <a:headEnd/>
              <a:tailEnd/>
            </a:ln>
          </p:spPr>
          <p:txBody>
            <a:bodyPr wrap="none">
              <a:spAutoFit/>
            </a:bodyPr>
            <a:lstStyle/>
            <a:p>
              <a:r>
                <a:rPr lang="zh-CN" altLang="en-US" sz="2000" dirty="0">
                  <a:latin typeface="微软雅黑"/>
                  <a:ea typeface="微软雅黑"/>
                  <a:cs typeface="微软雅黑"/>
                </a:rPr>
                <a:t>若</a:t>
              </a:r>
              <a:r>
                <a:rPr lang="en-US" altLang="zh-CN" sz="2000" dirty="0" smtClean="0">
                  <a:latin typeface="微软雅黑"/>
                  <a:ea typeface="微软雅黑"/>
                  <a:cs typeface="微软雅黑"/>
                </a:rPr>
                <a:t>V</a:t>
              </a:r>
              <a:r>
                <a:rPr lang="en-US" altLang="zh-CN" sz="2000" baseline="-25000" dirty="0" smtClean="0">
                  <a:latin typeface="微软雅黑"/>
                  <a:ea typeface="微软雅黑"/>
                  <a:cs typeface="微软雅黑"/>
                </a:rPr>
                <a:t>a</a:t>
              </a:r>
              <a:r>
                <a:rPr lang="en-US" altLang="zh-CN" sz="2000" dirty="0" smtClean="0">
                  <a:latin typeface="微软雅黑"/>
                  <a:ea typeface="微软雅黑"/>
                  <a:cs typeface="微软雅黑"/>
                </a:rPr>
                <a:t>&gt;V</a:t>
              </a:r>
              <a:r>
                <a:rPr lang="en-US" altLang="zh-CN" sz="2000" baseline="-25000" dirty="0" smtClean="0">
                  <a:latin typeface="微软雅黑"/>
                  <a:ea typeface="微软雅黑"/>
                  <a:cs typeface="微软雅黑"/>
                </a:rPr>
                <a:t>b</a:t>
              </a:r>
              <a:r>
                <a:rPr lang="zh-CN" altLang="en-US" sz="2000" dirty="0" smtClean="0">
                  <a:latin typeface="微软雅黑"/>
                  <a:ea typeface="微软雅黑"/>
                  <a:cs typeface="微软雅黑"/>
                </a:rPr>
                <a:t>，</a:t>
              </a:r>
              <a:r>
                <a:rPr lang="en-US" altLang="zh-CN" sz="2000" dirty="0" smtClean="0">
                  <a:latin typeface="微软雅黑"/>
                  <a:ea typeface="微软雅黑"/>
                  <a:cs typeface="微软雅黑"/>
                </a:rPr>
                <a:t> </a:t>
              </a:r>
              <a:r>
                <a:rPr lang="zh-CN" altLang="en-US" sz="2000" dirty="0">
                  <a:latin typeface="微软雅黑"/>
                  <a:ea typeface="微软雅黑"/>
                  <a:cs typeface="微软雅黑"/>
                </a:rPr>
                <a:t>是否可形成液体动力润滑？ </a:t>
              </a:r>
            </a:p>
          </p:txBody>
        </p:sp>
        <p:sp>
          <p:nvSpPr>
            <p:cNvPr id="16" name="Text Box 41"/>
            <p:cNvSpPr txBox="1">
              <a:spLocks noChangeArrowheads="1"/>
            </p:cNvSpPr>
            <p:nvPr/>
          </p:nvSpPr>
          <p:spPr bwMode="auto">
            <a:xfrm>
              <a:off x="2529431" y="1238069"/>
              <a:ext cx="4646721" cy="400110"/>
            </a:xfrm>
            <a:prstGeom prst="rect">
              <a:avLst/>
            </a:prstGeom>
            <a:noFill/>
            <a:ln w="9525">
              <a:noFill/>
              <a:miter lim="800000"/>
              <a:headEnd/>
              <a:tailEnd/>
            </a:ln>
          </p:spPr>
          <p:txBody>
            <a:bodyPr wrap="none">
              <a:spAutoFit/>
            </a:bodyPr>
            <a:lstStyle/>
            <a:p>
              <a:r>
                <a:rPr lang="zh-CN" altLang="en-US" sz="2000" dirty="0">
                  <a:latin typeface="微软雅黑"/>
                  <a:ea typeface="微软雅黑"/>
                  <a:cs typeface="微软雅黑"/>
                </a:rPr>
                <a:t>若</a:t>
              </a:r>
              <a:r>
                <a:rPr lang="en-US" altLang="zh-CN" sz="2000" dirty="0" smtClean="0">
                  <a:latin typeface="微软雅黑"/>
                  <a:ea typeface="微软雅黑"/>
                  <a:cs typeface="微软雅黑"/>
                </a:rPr>
                <a:t>V</a:t>
              </a:r>
              <a:r>
                <a:rPr lang="en-US" altLang="zh-CN" sz="2000" baseline="-25000" dirty="0" smtClean="0">
                  <a:latin typeface="微软雅黑"/>
                  <a:ea typeface="微软雅黑"/>
                  <a:cs typeface="微软雅黑"/>
                </a:rPr>
                <a:t>a</a:t>
              </a:r>
              <a:r>
                <a:rPr lang="en-US" altLang="zh-CN" sz="2000" dirty="0" smtClean="0">
                  <a:latin typeface="微软雅黑"/>
                  <a:ea typeface="微软雅黑"/>
                  <a:cs typeface="微软雅黑"/>
                </a:rPr>
                <a:t>&lt;V</a:t>
              </a:r>
              <a:r>
                <a:rPr lang="en-US" altLang="zh-CN" sz="2000" baseline="-25000" dirty="0" smtClean="0">
                  <a:latin typeface="微软雅黑"/>
                  <a:ea typeface="微软雅黑"/>
                  <a:cs typeface="微软雅黑"/>
                </a:rPr>
                <a:t>b</a:t>
              </a:r>
              <a:r>
                <a:rPr lang="en-US" altLang="zh-CN" sz="2000" dirty="0" smtClean="0">
                  <a:latin typeface="微软雅黑"/>
                  <a:ea typeface="微软雅黑"/>
                  <a:cs typeface="微软雅黑"/>
                </a:rPr>
                <a:t> </a:t>
              </a:r>
              <a:r>
                <a:rPr lang="zh-CN" altLang="en-US" sz="2000" dirty="0" smtClean="0">
                  <a:latin typeface="微软雅黑"/>
                  <a:ea typeface="微软雅黑"/>
                  <a:cs typeface="微软雅黑"/>
                </a:rPr>
                <a:t>，是否</a:t>
              </a:r>
              <a:r>
                <a:rPr lang="zh-CN" altLang="en-US" sz="2000" dirty="0">
                  <a:latin typeface="微软雅黑"/>
                  <a:ea typeface="微软雅黑"/>
                  <a:cs typeface="微软雅黑"/>
                </a:rPr>
                <a:t>可形成液体动力润滑？ </a:t>
              </a:r>
            </a:p>
          </p:txBody>
        </p:sp>
      </p:grpSp>
      <p:grpSp>
        <p:nvGrpSpPr>
          <p:cNvPr id="3" name="组合 2"/>
          <p:cNvGrpSpPr/>
          <p:nvPr/>
        </p:nvGrpSpPr>
        <p:grpSpPr>
          <a:xfrm>
            <a:off x="187660" y="2668439"/>
            <a:ext cx="5907246" cy="1773237"/>
            <a:chOff x="187660" y="2668439"/>
            <a:chExt cx="5907246" cy="1773237"/>
          </a:xfrm>
        </p:grpSpPr>
        <p:grpSp>
          <p:nvGrpSpPr>
            <p:cNvPr id="17" name="Group 39"/>
            <p:cNvGrpSpPr>
              <a:grpSpLocks/>
            </p:cNvGrpSpPr>
            <p:nvPr/>
          </p:nvGrpSpPr>
          <p:grpSpPr bwMode="auto">
            <a:xfrm>
              <a:off x="3807318" y="2668439"/>
              <a:ext cx="2287588" cy="1773237"/>
              <a:chOff x="2713" y="2350"/>
              <a:chExt cx="929" cy="720"/>
            </a:xfrm>
          </p:grpSpPr>
          <p:sp>
            <p:nvSpPr>
              <p:cNvPr id="18" name="Line 19"/>
              <p:cNvSpPr>
                <a:spLocks noChangeShapeType="1"/>
              </p:cNvSpPr>
              <p:nvPr/>
            </p:nvSpPr>
            <p:spPr bwMode="auto">
              <a:xfrm>
                <a:off x="2739" y="2470"/>
                <a:ext cx="900" cy="241"/>
              </a:xfrm>
              <a:prstGeom prst="line">
                <a:avLst/>
              </a:prstGeom>
              <a:noFill/>
              <a:ln w="28575">
                <a:solidFill>
                  <a:schemeClr val="tx1"/>
                </a:solidFill>
                <a:round/>
                <a:headEnd/>
                <a:tailEnd/>
              </a:ln>
            </p:spPr>
            <p:txBody>
              <a:bodyPr/>
              <a:lstStyle/>
              <a:p>
                <a:endParaRPr lang="zh-CN" altLang="en-US"/>
              </a:p>
            </p:txBody>
          </p:sp>
          <p:sp>
            <p:nvSpPr>
              <p:cNvPr id="19" name="Line 20"/>
              <p:cNvSpPr>
                <a:spLocks noChangeShapeType="1"/>
              </p:cNvSpPr>
              <p:nvPr/>
            </p:nvSpPr>
            <p:spPr bwMode="auto">
              <a:xfrm>
                <a:off x="2713" y="2926"/>
                <a:ext cx="929" cy="1"/>
              </a:xfrm>
              <a:prstGeom prst="line">
                <a:avLst/>
              </a:prstGeom>
              <a:noFill/>
              <a:ln w="28575">
                <a:solidFill>
                  <a:schemeClr val="tx1"/>
                </a:solidFill>
                <a:round/>
                <a:headEnd/>
                <a:tailEnd/>
              </a:ln>
            </p:spPr>
            <p:txBody>
              <a:bodyPr/>
              <a:lstStyle/>
              <a:p>
                <a:endParaRPr lang="zh-CN" altLang="en-US"/>
              </a:p>
            </p:txBody>
          </p:sp>
          <p:sp>
            <p:nvSpPr>
              <p:cNvPr id="20" name="Line 21"/>
              <p:cNvSpPr>
                <a:spLocks noChangeShapeType="1"/>
              </p:cNvSpPr>
              <p:nvPr/>
            </p:nvSpPr>
            <p:spPr bwMode="auto">
              <a:xfrm>
                <a:off x="3117" y="2504"/>
                <a:ext cx="336" cy="1"/>
              </a:xfrm>
              <a:prstGeom prst="line">
                <a:avLst/>
              </a:prstGeom>
              <a:noFill/>
              <a:ln w="19050">
                <a:solidFill>
                  <a:srgbClr val="FF0000"/>
                </a:solidFill>
                <a:round/>
                <a:headEnd/>
                <a:tailEnd type="triangle" w="sm" len="lg"/>
              </a:ln>
            </p:spPr>
            <p:txBody>
              <a:bodyPr/>
              <a:lstStyle/>
              <a:p>
                <a:endParaRPr lang="zh-CN" altLang="en-US"/>
              </a:p>
            </p:txBody>
          </p:sp>
          <p:sp>
            <p:nvSpPr>
              <p:cNvPr id="21" name="Line 22"/>
              <p:cNvSpPr>
                <a:spLocks noChangeShapeType="1"/>
              </p:cNvSpPr>
              <p:nvPr/>
            </p:nvSpPr>
            <p:spPr bwMode="auto">
              <a:xfrm>
                <a:off x="3108" y="3029"/>
                <a:ext cx="336" cy="1"/>
              </a:xfrm>
              <a:prstGeom prst="line">
                <a:avLst/>
              </a:prstGeom>
              <a:noFill/>
              <a:ln w="19050">
                <a:solidFill>
                  <a:srgbClr val="FF0000"/>
                </a:solidFill>
                <a:round/>
                <a:headEnd/>
                <a:tailEnd type="triangle" w="sm" len="lg"/>
              </a:ln>
            </p:spPr>
            <p:txBody>
              <a:bodyPr/>
              <a:lstStyle/>
              <a:p>
                <a:endParaRPr lang="zh-CN" altLang="en-US"/>
              </a:p>
            </p:txBody>
          </p:sp>
          <p:sp>
            <p:nvSpPr>
              <p:cNvPr id="22" name="Text Box 23"/>
              <p:cNvSpPr txBox="1">
                <a:spLocks noChangeArrowheads="1"/>
              </p:cNvSpPr>
              <p:nvPr/>
            </p:nvSpPr>
            <p:spPr bwMode="auto">
              <a:xfrm>
                <a:off x="3429" y="2350"/>
                <a:ext cx="195" cy="162"/>
              </a:xfrm>
              <a:prstGeom prst="rect">
                <a:avLst/>
              </a:prstGeom>
              <a:noFill/>
              <a:ln w="9525">
                <a:noFill/>
                <a:miter lim="800000"/>
                <a:headEnd/>
                <a:tailEnd/>
              </a:ln>
            </p:spPr>
            <p:txBody>
              <a:bodyPr wrap="none">
                <a:spAutoFit/>
              </a:bodyPr>
              <a:lstStyle/>
              <a:p>
                <a:r>
                  <a:rPr kumimoji="1" lang="en-US" altLang="zh-CN" sz="2000" b="1" dirty="0">
                    <a:solidFill>
                      <a:srgbClr val="000099"/>
                    </a:solidFill>
                    <a:latin typeface="微软雅黑"/>
                    <a:ea typeface="微软雅黑"/>
                    <a:cs typeface="微软雅黑"/>
                  </a:rPr>
                  <a:t>V</a:t>
                </a:r>
                <a:r>
                  <a:rPr kumimoji="1" lang="en-US" altLang="zh-CN" sz="2000" b="1" baseline="-25000" dirty="0">
                    <a:solidFill>
                      <a:srgbClr val="000099"/>
                    </a:solidFill>
                    <a:latin typeface="微软雅黑"/>
                    <a:ea typeface="微软雅黑"/>
                    <a:cs typeface="微软雅黑"/>
                  </a:rPr>
                  <a:t>b</a:t>
                </a:r>
              </a:p>
            </p:txBody>
          </p:sp>
          <p:sp>
            <p:nvSpPr>
              <p:cNvPr id="23" name="Text Box 24"/>
              <p:cNvSpPr txBox="1">
                <a:spLocks noChangeArrowheads="1"/>
              </p:cNvSpPr>
              <p:nvPr/>
            </p:nvSpPr>
            <p:spPr bwMode="auto">
              <a:xfrm>
                <a:off x="3412" y="2908"/>
                <a:ext cx="195" cy="162"/>
              </a:xfrm>
              <a:prstGeom prst="rect">
                <a:avLst/>
              </a:prstGeom>
              <a:noFill/>
              <a:ln w="9525">
                <a:noFill/>
                <a:miter lim="800000"/>
                <a:headEnd/>
                <a:tailEnd/>
              </a:ln>
            </p:spPr>
            <p:txBody>
              <a:bodyPr wrap="none">
                <a:spAutoFit/>
              </a:bodyPr>
              <a:lstStyle/>
              <a:p>
                <a:r>
                  <a:rPr kumimoji="1" lang="en-US" altLang="zh-CN" sz="2000" b="1" dirty="0">
                    <a:solidFill>
                      <a:srgbClr val="000099"/>
                    </a:solidFill>
                    <a:latin typeface="微软雅黑"/>
                    <a:ea typeface="微软雅黑"/>
                    <a:cs typeface="微软雅黑"/>
                  </a:rPr>
                  <a:t>V</a:t>
                </a:r>
                <a:r>
                  <a:rPr kumimoji="1" lang="en-US" altLang="zh-CN" sz="2000" b="1" baseline="-25000" dirty="0">
                    <a:solidFill>
                      <a:srgbClr val="000099"/>
                    </a:solidFill>
                    <a:latin typeface="微软雅黑"/>
                    <a:ea typeface="微软雅黑"/>
                    <a:cs typeface="微软雅黑"/>
                  </a:rPr>
                  <a:t>b</a:t>
                </a:r>
              </a:p>
            </p:txBody>
          </p:sp>
          <p:sp>
            <p:nvSpPr>
              <p:cNvPr id="24" name="Line 25"/>
              <p:cNvSpPr>
                <a:spLocks noChangeShapeType="1"/>
              </p:cNvSpPr>
              <p:nvPr/>
            </p:nvSpPr>
            <p:spPr bwMode="auto">
              <a:xfrm>
                <a:off x="3074" y="2565"/>
                <a:ext cx="1" cy="369"/>
              </a:xfrm>
              <a:prstGeom prst="line">
                <a:avLst/>
              </a:prstGeom>
              <a:noFill/>
              <a:ln w="9525">
                <a:solidFill>
                  <a:schemeClr val="tx1"/>
                </a:solidFill>
                <a:round/>
                <a:headEnd type="triangle" w="sm" len="lg"/>
                <a:tailEnd type="triangle" w="sm" len="lg"/>
              </a:ln>
            </p:spPr>
            <p:txBody>
              <a:bodyPr/>
              <a:lstStyle/>
              <a:p>
                <a:endParaRPr lang="zh-CN" altLang="en-US"/>
              </a:p>
            </p:txBody>
          </p:sp>
          <p:sp>
            <p:nvSpPr>
              <p:cNvPr id="25" name="Text Box 26"/>
              <p:cNvSpPr txBox="1">
                <a:spLocks noChangeArrowheads="1"/>
              </p:cNvSpPr>
              <p:nvPr/>
            </p:nvSpPr>
            <p:spPr bwMode="auto">
              <a:xfrm>
                <a:off x="3041" y="2589"/>
                <a:ext cx="142" cy="162"/>
              </a:xfrm>
              <a:prstGeom prst="rect">
                <a:avLst/>
              </a:prstGeom>
              <a:noFill/>
              <a:ln w="9525">
                <a:noFill/>
                <a:miter lim="800000"/>
                <a:headEnd/>
                <a:tailEnd/>
              </a:ln>
            </p:spPr>
            <p:txBody>
              <a:bodyPr wrap="none">
                <a:spAutoFit/>
              </a:bodyPr>
              <a:lstStyle/>
              <a:p>
                <a:r>
                  <a:rPr kumimoji="1" lang="en-US" altLang="zh-CN" sz="2000" b="1">
                    <a:latin typeface="微软雅黑"/>
                    <a:ea typeface="微软雅黑"/>
                    <a:cs typeface="微软雅黑"/>
                  </a:rPr>
                  <a:t>h</a:t>
                </a:r>
                <a:endParaRPr kumimoji="1" lang="en-US" altLang="zh-CN" sz="2000" b="1" baseline="-25000">
                  <a:latin typeface="微软雅黑"/>
                  <a:ea typeface="微软雅黑"/>
                  <a:cs typeface="微软雅黑"/>
                </a:endParaRPr>
              </a:p>
            </p:txBody>
          </p:sp>
        </p:grpSp>
        <p:sp>
          <p:nvSpPr>
            <p:cNvPr id="26" name="Text Box 27"/>
            <p:cNvSpPr txBox="1">
              <a:spLocks noChangeArrowheads="1"/>
            </p:cNvSpPr>
            <p:nvPr/>
          </p:nvSpPr>
          <p:spPr bwMode="auto">
            <a:xfrm>
              <a:off x="187660" y="3418000"/>
              <a:ext cx="333375" cy="400050"/>
            </a:xfrm>
            <a:prstGeom prst="rect">
              <a:avLst/>
            </a:prstGeom>
            <a:noFill/>
            <a:ln w="9525">
              <a:noFill/>
              <a:miter lim="800000"/>
              <a:headEnd/>
              <a:tailEnd/>
            </a:ln>
          </p:spPr>
          <p:txBody>
            <a:bodyPr wrap="none">
              <a:spAutoFit/>
            </a:bodyPr>
            <a:lstStyle/>
            <a:p>
              <a:r>
                <a:rPr kumimoji="1" lang="en-US" altLang="zh-CN" sz="2000" b="1" dirty="0">
                  <a:solidFill>
                    <a:srgbClr val="FF0000"/>
                  </a:solidFill>
                  <a:latin typeface="微软雅黑"/>
                  <a:ea typeface="微软雅黑"/>
                  <a:cs typeface="Times New Roman" pitchFamily="18" charset="0"/>
                </a:rPr>
                <a:t>≡</a:t>
              </a:r>
            </a:p>
          </p:txBody>
        </p:sp>
        <p:sp>
          <p:nvSpPr>
            <p:cNvPr id="27" name="Text Box 28"/>
            <p:cNvSpPr txBox="1">
              <a:spLocks noChangeArrowheads="1"/>
            </p:cNvSpPr>
            <p:nvPr/>
          </p:nvSpPr>
          <p:spPr bwMode="auto">
            <a:xfrm>
              <a:off x="3305896" y="3391267"/>
              <a:ext cx="381000" cy="400050"/>
            </a:xfrm>
            <a:prstGeom prst="rect">
              <a:avLst/>
            </a:prstGeom>
            <a:noFill/>
            <a:ln w="9525">
              <a:noFill/>
              <a:miter lim="800000"/>
              <a:headEnd/>
              <a:tailEnd/>
            </a:ln>
          </p:spPr>
          <p:txBody>
            <a:bodyPr wrap="none">
              <a:spAutoFit/>
            </a:bodyPr>
            <a:lstStyle/>
            <a:p>
              <a:r>
                <a:rPr kumimoji="1" lang="en-US" altLang="zh-CN" sz="2000" b="1" dirty="0">
                  <a:solidFill>
                    <a:srgbClr val="FF0000"/>
                  </a:solidFill>
                  <a:latin typeface="微软雅黑"/>
                  <a:ea typeface="微软雅黑"/>
                  <a:cs typeface="Times New Roman" pitchFamily="18" charset="0"/>
                </a:rPr>
                <a:t>+</a:t>
              </a:r>
            </a:p>
          </p:txBody>
        </p:sp>
        <p:grpSp>
          <p:nvGrpSpPr>
            <p:cNvPr id="28" name="Group 38"/>
            <p:cNvGrpSpPr>
              <a:grpSpLocks/>
            </p:cNvGrpSpPr>
            <p:nvPr/>
          </p:nvGrpSpPr>
          <p:grpSpPr bwMode="auto">
            <a:xfrm>
              <a:off x="695660" y="2851262"/>
              <a:ext cx="2652713" cy="1587500"/>
              <a:chOff x="1227" y="2408"/>
              <a:chExt cx="1077" cy="645"/>
            </a:xfrm>
          </p:grpSpPr>
          <p:sp>
            <p:nvSpPr>
              <p:cNvPr id="29" name="Line 13"/>
              <p:cNvSpPr>
                <a:spLocks noChangeShapeType="1"/>
              </p:cNvSpPr>
              <p:nvPr/>
            </p:nvSpPr>
            <p:spPr bwMode="auto">
              <a:xfrm>
                <a:off x="1253" y="2453"/>
                <a:ext cx="900" cy="241"/>
              </a:xfrm>
              <a:prstGeom prst="line">
                <a:avLst/>
              </a:prstGeom>
              <a:noFill/>
              <a:ln w="28575">
                <a:solidFill>
                  <a:schemeClr val="tx1"/>
                </a:solidFill>
                <a:round/>
                <a:headEnd/>
                <a:tailEnd/>
              </a:ln>
            </p:spPr>
            <p:txBody>
              <a:bodyPr/>
              <a:lstStyle/>
              <a:p>
                <a:endParaRPr lang="zh-CN" altLang="en-US"/>
              </a:p>
            </p:txBody>
          </p:sp>
          <p:sp>
            <p:nvSpPr>
              <p:cNvPr id="30" name="Line 14"/>
              <p:cNvSpPr>
                <a:spLocks noChangeShapeType="1"/>
              </p:cNvSpPr>
              <p:nvPr/>
            </p:nvSpPr>
            <p:spPr bwMode="auto">
              <a:xfrm>
                <a:off x="1227" y="2909"/>
                <a:ext cx="929" cy="1"/>
              </a:xfrm>
              <a:prstGeom prst="line">
                <a:avLst/>
              </a:prstGeom>
              <a:noFill/>
              <a:ln w="28575">
                <a:solidFill>
                  <a:schemeClr val="tx1"/>
                </a:solidFill>
                <a:round/>
                <a:headEnd/>
                <a:tailEnd/>
              </a:ln>
            </p:spPr>
            <p:txBody>
              <a:bodyPr/>
              <a:lstStyle/>
              <a:p>
                <a:endParaRPr lang="zh-CN" altLang="en-US"/>
              </a:p>
            </p:txBody>
          </p:sp>
          <p:sp>
            <p:nvSpPr>
              <p:cNvPr id="31" name="Line 15"/>
              <p:cNvSpPr>
                <a:spLocks noChangeShapeType="1"/>
              </p:cNvSpPr>
              <p:nvPr/>
            </p:nvSpPr>
            <p:spPr bwMode="auto">
              <a:xfrm>
                <a:off x="1622" y="3012"/>
                <a:ext cx="336" cy="1"/>
              </a:xfrm>
              <a:prstGeom prst="line">
                <a:avLst/>
              </a:prstGeom>
              <a:noFill/>
              <a:ln w="19050">
                <a:solidFill>
                  <a:srgbClr val="FF0000"/>
                </a:solidFill>
                <a:round/>
                <a:headEnd/>
                <a:tailEnd type="triangle" w="sm" len="lg"/>
              </a:ln>
            </p:spPr>
            <p:txBody>
              <a:bodyPr/>
              <a:lstStyle/>
              <a:p>
                <a:endParaRPr lang="zh-CN" altLang="en-US"/>
              </a:p>
            </p:txBody>
          </p:sp>
          <p:sp>
            <p:nvSpPr>
              <p:cNvPr id="32" name="Text Box 16"/>
              <p:cNvSpPr txBox="1">
                <a:spLocks noChangeArrowheads="1"/>
              </p:cNvSpPr>
              <p:nvPr/>
            </p:nvSpPr>
            <p:spPr bwMode="auto">
              <a:xfrm>
                <a:off x="1926" y="2891"/>
                <a:ext cx="378" cy="162"/>
              </a:xfrm>
              <a:prstGeom prst="rect">
                <a:avLst/>
              </a:prstGeom>
              <a:noFill/>
              <a:ln w="9525">
                <a:noFill/>
                <a:miter lim="800000"/>
                <a:headEnd/>
                <a:tailEnd/>
              </a:ln>
            </p:spPr>
            <p:txBody>
              <a:bodyPr wrap="none">
                <a:spAutoFit/>
              </a:bodyPr>
              <a:lstStyle/>
              <a:p>
                <a:r>
                  <a:rPr kumimoji="1" lang="en-US" altLang="zh-CN" sz="2000" b="1" dirty="0">
                    <a:solidFill>
                      <a:srgbClr val="000099"/>
                    </a:solidFill>
                    <a:latin typeface="微软雅黑"/>
                    <a:ea typeface="微软雅黑"/>
                    <a:cs typeface="微软雅黑"/>
                  </a:rPr>
                  <a:t>V</a:t>
                </a:r>
                <a:r>
                  <a:rPr kumimoji="1" lang="en-US" altLang="zh-CN" sz="2000" b="1" baseline="-25000" dirty="0">
                    <a:solidFill>
                      <a:srgbClr val="000099"/>
                    </a:solidFill>
                    <a:latin typeface="微软雅黑"/>
                    <a:ea typeface="微软雅黑"/>
                    <a:cs typeface="微软雅黑"/>
                  </a:rPr>
                  <a:t>a</a:t>
                </a:r>
                <a:r>
                  <a:rPr kumimoji="1" lang="en-US" altLang="zh-CN" sz="2000" b="1" dirty="0">
                    <a:solidFill>
                      <a:srgbClr val="000099"/>
                    </a:solidFill>
                    <a:latin typeface="微软雅黑"/>
                    <a:ea typeface="微软雅黑"/>
                    <a:cs typeface="微软雅黑"/>
                  </a:rPr>
                  <a:t>- V</a:t>
                </a:r>
                <a:r>
                  <a:rPr kumimoji="1" lang="en-US" altLang="zh-CN" sz="2000" b="1" baseline="-25000" dirty="0">
                    <a:solidFill>
                      <a:srgbClr val="000099"/>
                    </a:solidFill>
                    <a:latin typeface="微软雅黑"/>
                    <a:ea typeface="微软雅黑"/>
                    <a:cs typeface="微软雅黑"/>
                  </a:rPr>
                  <a:t>b</a:t>
                </a:r>
              </a:p>
            </p:txBody>
          </p:sp>
          <p:sp>
            <p:nvSpPr>
              <p:cNvPr id="33" name="Line 17"/>
              <p:cNvSpPr>
                <a:spLocks noChangeShapeType="1"/>
              </p:cNvSpPr>
              <p:nvPr/>
            </p:nvSpPr>
            <p:spPr bwMode="auto">
              <a:xfrm>
                <a:off x="1588" y="2548"/>
                <a:ext cx="1" cy="369"/>
              </a:xfrm>
              <a:prstGeom prst="line">
                <a:avLst/>
              </a:prstGeom>
              <a:noFill/>
              <a:ln w="9525">
                <a:solidFill>
                  <a:schemeClr val="tx1"/>
                </a:solidFill>
                <a:round/>
                <a:headEnd type="triangle" w="sm" len="lg"/>
                <a:tailEnd type="triangle" w="sm" len="lg"/>
              </a:ln>
            </p:spPr>
            <p:txBody>
              <a:bodyPr/>
              <a:lstStyle/>
              <a:p>
                <a:endParaRPr lang="zh-CN" altLang="en-US"/>
              </a:p>
            </p:txBody>
          </p:sp>
          <p:sp>
            <p:nvSpPr>
              <p:cNvPr id="34" name="Text Box 18"/>
              <p:cNvSpPr txBox="1">
                <a:spLocks noChangeArrowheads="1"/>
              </p:cNvSpPr>
              <p:nvPr/>
            </p:nvSpPr>
            <p:spPr bwMode="auto">
              <a:xfrm>
                <a:off x="1555" y="2572"/>
                <a:ext cx="142" cy="163"/>
              </a:xfrm>
              <a:prstGeom prst="rect">
                <a:avLst/>
              </a:prstGeom>
              <a:noFill/>
              <a:ln w="9525">
                <a:noFill/>
                <a:miter lim="800000"/>
                <a:headEnd/>
                <a:tailEnd/>
              </a:ln>
            </p:spPr>
            <p:txBody>
              <a:bodyPr wrap="none">
                <a:spAutoFit/>
              </a:bodyPr>
              <a:lstStyle/>
              <a:p>
                <a:r>
                  <a:rPr kumimoji="1" lang="en-US" altLang="zh-CN" sz="2000" b="1">
                    <a:latin typeface="微软雅黑"/>
                    <a:ea typeface="微软雅黑"/>
                    <a:cs typeface="微软雅黑"/>
                  </a:rPr>
                  <a:t>h</a:t>
                </a:r>
                <a:endParaRPr kumimoji="1" lang="en-US" altLang="zh-CN" sz="2000" b="1" baseline="-25000">
                  <a:latin typeface="微软雅黑"/>
                  <a:ea typeface="微软雅黑"/>
                  <a:cs typeface="微软雅黑"/>
                </a:endParaRPr>
              </a:p>
            </p:txBody>
          </p:sp>
          <p:sp>
            <p:nvSpPr>
              <p:cNvPr id="35" name="Line 29"/>
              <p:cNvSpPr>
                <a:spLocks noChangeShapeType="1"/>
              </p:cNvSpPr>
              <p:nvPr/>
            </p:nvSpPr>
            <p:spPr bwMode="auto">
              <a:xfrm flipV="1">
                <a:off x="1322" y="2408"/>
                <a:ext cx="94" cy="54"/>
              </a:xfrm>
              <a:prstGeom prst="line">
                <a:avLst/>
              </a:prstGeom>
              <a:noFill/>
              <a:ln w="9525">
                <a:solidFill>
                  <a:schemeClr val="tx1"/>
                </a:solidFill>
                <a:round/>
                <a:headEnd/>
                <a:tailEnd/>
              </a:ln>
            </p:spPr>
            <p:txBody>
              <a:bodyPr/>
              <a:lstStyle/>
              <a:p>
                <a:endParaRPr lang="zh-CN" altLang="en-US"/>
              </a:p>
            </p:txBody>
          </p:sp>
          <p:sp>
            <p:nvSpPr>
              <p:cNvPr id="36" name="Line 30"/>
              <p:cNvSpPr>
                <a:spLocks noChangeShapeType="1"/>
              </p:cNvSpPr>
              <p:nvPr/>
            </p:nvSpPr>
            <p:spPr bwMode="auto">
              <a:xfrm flipV="1">
                <a:off x="1416" y="2443"/>
                <a:ext cx="94" cy="54"/>
              </a:xfrm>
              <a:prstGeom prst="line">
                <a:avLst/>
              </a:prstGeom>
              <a:noFill/>
              <a:ln w="9525">
                <a:solidFill>
                  <a:schemeClr val="tx1"/>
                </a:solidFill>
                <a:round/>
                <a:headEnd/>
                <a:tailEnd/>
              </a:ln>
            </p:spPr>
            <p:txBody>
              <a:bodyPr/>
              <a:lstStyle/>
              <a:p>
                <a:endParaRPr lang="zh-CN" altLang="en-US"/>
              </a:p>
            </p:txBody>
          </p:sp>
          <p:sp>
            <p:nvSpPr>
              <p:cNvPr id="37" name="Line 31"/>
              <p:cNvSpPr>
                <a:spLocks noChangeShapeType="1"/>
              </p:cNvSpPr>
              <p:nvPr/>
            </p:nvSpPr>
            <p:spPr bwMode="auto">
              <a:xfrm flipV="1">
                <a:off x="1520" y="2469"/>
                <a:ext cx="94" cy="54"/>
              </a:xfrm>
              <a:prstGeom prst="line">
                <a:avLst/>
              </a:prstGeom>
              <a:noFill/>
              <a:ln w="9525">
                <a:solidFill>
                  <a:schemeClr val="tx1"/>
                </a:solidFill>
                <a:round/>
                <a:headEnd/>
                <a:tailEnd/>
              </a:ln>
            </p:spPr>
            <p:txBody>
              <a:bodyPr/>
              <a:lstStyle/>
              <a:p>
                <a:endParaRPr lang="zh-CN" altLang="en-US"/>
              </a:p>
            </p:txBody>
          </p:sp>
          <p:sp>
            <p:nvSpPr>
              <p:cNvPr id="38" name="Line 32"/>
              <p:cNvSpPr>
                <a:spLocks noChangeShapeType="1"/>
              </p:cNvSpPr>
              <p:nvPr/>
            </p:nvSpPr>
            <p:spPr bwMode="auto">
              <a:xfrm flipV="1">
                <a:off x="1606" y="2494"/>
                <a:ext cx="94" cy="54"/>
              </a:xfrm>
              <a:prstGeom prst="line">
                <a:avLst/>
              </a:prstGeom>
              <a:noFill/>
              <a:ln w="9525">
                <a:solidFill>
                  <a:schemeClr val="tx1"/>
                </a:solidFill>
                <a:round/>
                <a:headEnd/>
                <a:tailEnd/>
              </a:ln>
            </p:spPr>
            <p:txBody>
              <a:bodyPr/>
              <a:lstStyle/>
              <a:p>
                <a:endParaRPr lang="zh-CN" altLang="en-US"/>
              </a:p>
            </p:txBody>
          </p:sp>
          <p:sp>
            <p:nvSpPr>
              <p:cNvPr id="39" name="Line 33"/>
              <p:cNvSpPr>
                <a:spLocks noChangeShapeType="1"/>
              </p:cNvSpPr>
              <p:nvPr/>
            </p:nvSpPr>
            <p:spPr bwMode="auto">
              <a:xfrm flipV="1">
                <a:off x="1700" y="2511"/>
                <a:ext cx="94" cy="54"/>
              </a:xfrm>
              <a:prstGeom prst="line">
                <a:avLst/>
              </a:prstGeom>
              <a:noFill/>
              <a:ln w="9525">
                <a:solidFill>
                  <a:schemeClr val="tx1"/>
                </a:solidFill>
                <a:round/>
                <a:headEnd/>
                <a:tailEnd/>
              </a:ln>
            </p:spPr>
            <p:txBody>
              <a:bodyPr/>
              <a:lstStyle/>
              <a:p>
                <a:endParaRPr lang="zh-CN" altLang="en-US"/>
              </a:p>
            </p:txBody>
          </p:sp>
          <p:sp>
            <p:nvSpPr>
              <p:cNvPr id="40" name="Line 34"/>
              <p:cNvSpPr>
                <a:spLocks noChangeShapeType="1"/>
              </p:cNvSpPr>
              <p:nvPr/>
            </p:nvSpPr>
            <p:spPr bwMode="auto">
              <a:xfrm flipV="1">
                <a:off x="1794" y="2546"/>
                <a:ext cx="94" cy="54"/>
              </a:xfrm>
              <a:prstGeom prst="line">
                <a:avLst/>
              </a:prstGeom>
              <a:noFill/>
              <a:ln w="9525">
                <a:solidFill>
                  <a:schemeClr val="tx1"/>
                </a:solidFill>
                <a:round/>
                <a:headEnd/>
                <a:tailEnd/>
              </a:ln>
            </p:spPr>
            <p:txBody>
              <a:bodyPr/>
              <a:lstStyle/>
              <a:p>
                <a:endParaRPr lang="zh-CN" altLang="en-US"/>
              </a:p>
            </p:txBody>
          </p:sp>
          <p:sp>
            <p:nvSpPr>
              <p:cNvPr id="41" name="Line 35"/>
              <p:cNvSpPr>
                <a:spLocks noChangeShapeType="1"/>
              </p:cNvSpPr>
              <p:nvPr/>
            </p:nvSpPr>
            <p:spPr bwMode="auto">
              <a:xfrm flipV="1">
                <a:off x="1898" y="2572"/>
                <a:ext cx="94" cy="54"/>
              </a:xfrm>
              <a:prstGeom prst="line">
                <a:avLst/>
              </a:prstGeom>
              <a:noFill/>
              <a:ln w="9525">
                <a:solidFill>
                  <a:schemeClr val="tx1"/>
                </a:solidFill>
                <a:round/>
                <a:headEnd/>
                <a:tailEnd/>
              </a:ln>
            </p:spPr>
            <p:txBody>
              <a:bodyPr/>
              <a:lstStyle/>
              <a:p>
                <a:endParaRPr lang="zh-CN" altLang="en-US"/>
              </a:p>
            </p:txBody>
          </p:sp>
          <p:sp>
            <p:nvSpPr>
              <p:cNvPr id="42" name="Line 36"/>
              <p:cNvSpPr>
                <a:spLocks noChangeShapeType="1"/>
              </p:cNvSpPr>
              <p:nvPr/>
            </p:nvSpPr>
            <p:spPr bwMode="auto">
              <a:xfrm flipV="1">
                <a:off x="1984" y="2597"/>
                <a:ext cx="94" cy="54"/>
              </a:xfrm>
              <a:prstGeom prst="line">
                <a:avLst/>
              </a:prstGeom>
              <a:noFill/>
              <a:ln w="9525">
                <a:solidFill>
                  <a:schemeClr val="tx1"/>
                </a:solidFill>
                <a:round/>
                <a:headEnd/>
                <a:tailEnd/>
              </a:ln>
            </p:spPr>
            <p:txBody>
              <a:bodyPr/>
              <a:lstStyle/>
              <a:p>
                <a:endParaRPr lang="zh-CN" altLang="en-US"/>
              </a:p>
            </p:txBody>
          </p:sp>
        </p:grpSp>
      </p:grpSp>
      <p:sp>
        <p:nvSpPr>
          <p:cNvPr id="43" name="Text Box 43"/>
          <p:cNvSpPr txBox="1">
            <a:spLocks noChangeArrowheads="1"/>
          </p:cNvSpPr>
          <p:nvPr/>
        </p:nvSpPr>
        <p:spPr bwMode="auto">
          <a:xfrm>
            <a:off x="695660" y="4893253"/>
            <a:ext cx="4659312" cy="400050"/>
          </a:xfrm>
          <a:prstGeom prst="rect">
            <a:avLst/>
          </a:prstGeom>
          <a:solidFill>
            <a:srgbClr val="FFC000"/>
          </a:solidFill>
          <a:ln w="9525">
            <a:noFill/>
            <a:miter lim="800000"/>
            <a:headEnd/>
            <a:tailEnd/>
          </a:ln>
        </p:spPr>
        <p:txBody>
          <a:bodyPr>
            <a:spAutoFit/>
          </a:bodyPr>
          <a:lstStyle/>
          <a:p>
            <a:r>
              <a:rPr lang="zh-CN" altLang="en-US" sz="2000" dirty="0">
                <a:latin typeface="微软雅黑"/>
                <a:ea typeface="微软雅黑"/>
                <a:cs typeface="微软雅黑"/>
              </a:rPr>
              <a:t>即：</a:t>
            </a:r>
            <a:r>
              <a:rPr lang="en-US" altLang="zh-CN" sz="2000" dirty="0">
                <a:latin typeface="微软雅黑"/>
                <a:ea typeface="微软雅黑"/>
                <a:cs typeface="微软雅黑"/>
              </a:rPr>
              <a:t>V</a:t>
            </a:r>
            <a:r>
              <a:rPr lang="en-US" altLang="zh-CN" sz="2000" baseline="-25000" dirty="0">
                <a:latin typeface="微软雅黑"/>
                <a:ea typeface="微软雅黑"/>
                <a:cs typeface="微软雅黑"/>
              </a:rPr>
              <a:t>a</a:t>
            </a:r>
            <a:r>
              <a:rPr lang="en-US" altLang="zh-CN" sz="2000" dirty="0">
                <a:latin typeface="微软雅黑"/>
                <a:ea typeface="微软雅黑"/>
                <a:cs typeface="微软雅黑"/>
              </a:rPr>
              <a:t>&gt;V</a:t>
            </a:r>
            <a:r>
              <a:rPr lang="en-US" altLang="zh-CN" sz="2000" baseline="-25000" dirty="0">
                <a:latin typeface="微软雅黑"/>
                <a:ea typeface="微软雅黑"/>
                <a:cs typeface="微软雅黑"/>
              </a:rPr>
              <a:t>b</a:t>
            </a:r>
            <a:r>
              <a:rPr lang="zh-CN" altLang="en-US" sz="2000" dirty="0">
                <a:latin typeface="微软雅黑"/>
                <a:ea typeface="微软雅黑"/>
                <a:cs typeface="微软雅黑"/>
              </a:rPr>
              <a:t>时，可能形成液体动力润滑。</a:t>
            </a:r>
          </a:p>
        </p:txBody>
      </p:sp>
      <p:grpSp>
        <p:nvGrpSpPr>
          <p:cNvPr id="44" name="组合 43"/>
          <p:cNvGrpSpPr/>
          <p:nvPr/>
        </p:nvGrpSpPr>
        <p:grpSpPr>
          <a:xfrm>
            <a:off x="6596954" y="1624328"/>
            <a:ext cx="2295526" cy="3753452"/>
            <a:chOff x="4619625" y="1197961"/>
            <a:chExt cx="2295526" cy="3753452"/>
          </a:xfrm>
        </p:grpSpPr>
        <p:grpSp>
          <p:nvGrpSpPr>
            <p:cNvPr id="45" name="Group 95"/>
            <p:cNvGrpSpPr>
              <a:grpSpLocks/>
            </p:cNvGrpSpPr>
            <p:nvPr/>
          </p:nvGrpSpPr>
          <p:grpSpPr bwMode="auto">
            <a:xfrm>
              <a:off x="4619625" y="1821163"/>
              <a:ext cx="2287588" cy="1309688"/>
              <a:chOff x="1238" y="3089"/>
              <a:chExt cx="1441" cy="825"/>
            </a:xfrm>
          </p:grpSpPr>
          <p:sp>
            <p:nvSpPr>
              <p:cNvPr id="65" name="Line 48"/>
              <p:cNvSpPr>
                <a:spLocks noChangeShapeType="1"/>
              </p:cNvSpPr>
              <p:nvPr/>
            </p:nvSpPr>
            <p:spPr bwMode="auto">
              <a:xfrm>
                <a:off x="1883" y="3691"/>
                <a:ext cx="521" cy="1"/>
              </a:xfrm>
              <a:prstGeom prst="line">
                <a:avLst/>
              </a:prstGeom>
              <a:noFill/>
              <a:ln w="19050">
                <a:solidFill>
                  <a:srgbClr val="FF0000"/>
                </a:solidFill>
                <a:round/>
                <a:headEnd/>
                <a:tailEnd type="triangle" w="sm" len="lg"/>
              </a:ln>
            </p:spPr>
            <p:txBody>
              <a:bodyPr/>
              <a:lstStyle/>
              <a:p>
                <a:endParaRPr lang="zh-CN" altLang="en-US"/>
              </a:p>
            </p:txBody>
          </p:sp>
          <p:sp>
            <p:nvSpPr>
              <p:cNvPr id="66" name="Text Box 50"/>
              <p:cNvSpPr txBox="1">
                <a:spLocks noChangeArrowheads="1"/>
              </p:cNvSpPr>
              <p:nvPr/>
            </p:nvSpPr>
            <p:spPr bwMode="auto">
              <a:xfrm>
                <a:off x="2380" y="3572"/>
                <a:ext cx="233" cy="252"/>
              </a:xfrm>
              <a:prstGeom prst="rect">
                <a:avLst/>
              </a:prstGeom>
              <a:noFill/>
              <a:ln w="9525">
                <a:noFill/>
                <a:miter lim="800000"/>
                <a:headEnd/>
                <a:tailEnd/>
              </a:ln>
            </p:spPr>
            <p:txBody>
              <a:bodyPr wrap="none">
                <a:spAutoFit/>
              </a:bodyPr>
              <a:lstStyle/>
              <a:p>
                <a:r>
                  <a:rPr kumimoji="1" lang="en-US" altLang="zh-CN" sz="2000" b="1">
                    <a:solidFill>
                      <a:srgbClr val="000099"/>
                    </a:solidFill>
                    <a:latin typeface="微软雅黑"/>
                    <a:ea typeface="微软雅黑"/>
                    <a:cs typeface="微软雅黑"/>
                  </a:rPr>
                  <a:t>V</a:t>
                </a:r>
                <a:endParaRPr kumimoji="1" lang="en-US" altLang="zh-CN" sz="2000" b="1" baseline="-25000">
                  <a:solidFill>
                    <a:srgbClr val="000099"/>
                  </a:solidFill>
                  <a:latin typeface="微软雅黑"/>
                  <a:ea typeface="微软雅黑"/>
                  <a:cs typeface="微软雅黑"/>
                </a:endParaRPr>
              </a:p>
            </p:txBody>
          </p:sp>
          <p:sp>
            <p:nvSpPr>
              <p:cNvPr id="67" name="Text Box 62"/>
              <p:cNvSpPr txBox="1">
                <a:spLocks noChangeArrowheads="1"/>
              </p:cNvSpPr>
              <p:nvPr/>
            </p:nvSpPr>
            <p:spPr bwMode="auto">
              <a:xfrm>
                <a:off x="1531" y="3327"/>
                <a:ext cx="220" cy="252"/>
              </a:xfrm>
              <a:prstGeom prst="rect">
                <a:avLst/>
              </a:prstGeom>
              <a:noFill/>
              <a:ln w="9525">
                <a:noFill/>
                <a:miter lim="800000"/>
                <a:headEnd/>
                <a:tailEnd/>
              </a:ln>
            </p:spPr>
            <p:txBody>
              <a:bodyPr wrap="none">
                <a:spAutoFit/>
              </a:bodyPr>
              <a:lstStyle/>
              <a:p>
                <a:r>
                  <a:rPr kumimoji="1" lang="en-US" altLang="zh-CN" sz="2000" b="1">
                    <a:latin typeface="微软雅黑"/>
                    <a:ea typeface="微软雅黑"/>
                    <a:cs typeface="微软雅黑"/>
                  </a:rPr>
                  <a:t>h</a:t>
                </a:r>
                <a:endParaRPr kumimoji="1" lang="en-US" altLang="zh-CN" sz="2000" b="1" baseline="-25000">
                  <a:latin typeface="微软雅黑"/>
                  <a:ea typeface="微软雅黑"/>
                  <a:cs typeface="微软雅黑"/>
                </a:endParaRPr>
              </a:p>
            </p:txBody>
          </p:sp>
          <p:sp>
            <p:nvSpPr>
              <p:cNvPr id="68" name="Line 57"/>
              <p:cNvSpPr>
                <a:spLocks noChangeShapeType="1"/>
              </p:cNvSpPr>
              <p:nvPr/>
            </p:nvSpPr>
            <p:spPr bwMode="auto">
              <a:xfrm flipV="1">
                <a:off x="1278" y="3540"/>
                <a:ext cx="1396" cy="374"/>
              </a:xfrm>
              <a:prstGeom prst="line">
                <a:avLst/>
              </a:prstGeom>
              <a:noFill/>
              <a:ln w="28575">
                <a:solidFill>
                  <a:schemeClr val="tx1"/>
                </a:solidFill>
                <a:round/>
                <a:headEnd/>
                <a:tailEnd/>
              </a:ln>
            </p:spPr>
            <p:txBody>
              <a:bodyPr/>
              <a:lstStyle/>
              <a:p>
                <a:endParaRPr lang="zh-CN" altLang="en-US"/>
              </a:p>
            </p:txBody>
          </p:sp>
          <p:sp>
            <p:nvSpPr>
              <p:cNvPr id="69" name="Line 58"/>
              <p:cNvSpPr>
                <a:spLocks noChangeShapeType="1"/>
              </p:cNvSpPr>
              <p:nvPr/>
            </p:nvSpPr>
            <p:spPr bwMode="auto">
              <a:xfrm flipV="1">
                <a:off x="1238" y="3205"/>
                <a:ext cx="1441" cy="2"/>
              </a:xfrm>
              <a:prstGeom prst="line">
                <a:avLst/>
              </a:prstGeom>
              <a:noFill/>
              <a:ln w="28575">
                <a:solidFill>
                  <a:schemeClr val="tx1"/>
                </a:solidFill>
                <a:round/>
                <a:headEnd/>
                <a:tailEnd/>
              </a:ln>
            </p:spPr>
            <p:txBody>
              <a:bodyPr/>
              <a:lstStyle/>
              <a:p>
                <a:endParaRPr lang="zh-CN" altLang="en-US"/>
              </a:p>
            </p:txBody>
          </p:sp>
          <p:sp>
            <p:nvSpPr>
              <p:cNvPr id="70" name="Line 61"/>
              <p:cNvSpPr>
                <a:spLocks noChangeShapeType="1"/>
              </p:cNvSpPr>
              <p:nvPr/>
            </p:nvSpPr>
            <p:spPr bwMode="auto">
              <a:xfrm flipV="1">
                <a:off x="1798" y="3195"/>
                <a:ext cx="2" cy="572"/>
              </a:xfrm>
              <a:prstGeom prst="line">
                <a:avLst/>
              </a:prstGeom>
              <a:noFill/>
              <a:ln w="9525">
                <a:solidFill>
                  <a:schemeClr val="tx1"/>
                </a:solidFill>
                <a:round/>
                <a:headEnd type="triangle" w="sm" len="lg"/>
                <a:tailEnd type="triangle" w="sm" len="lg"/>
              </a:ln>
            </p:spPr>
            <p:txBody>
              <a:bodyPr/>
              <a:lstStyle/>
              <a:p>
                <a:endParaRPr lang="zh-CN" altLang="en-US"/>
              </a:p>
            </p:txBody>
          </p:sp>
          <p:sp>
            <p:nvSpPr>
              <p:cNvPr id="71" name="Line 73"/>
              <p:cNvSpPr>
                <a:spLocks noChangeShapeType="1"/>
              </p:cNvSpPr>
              <p:nvPr/>
            </p:nvSpPr>
            <p:spPr bwMode="auto">
              <a:xfrm flipV="1">
                <a:off x="1310" y="3089"/>
                <a:ext cx="117" cy="117"/>
              </a:xfrm>
              <a:prstGeom prst="line">
                <a:avLst/>
              </a:prstGeom>
              <a:noFill/>
              <a:ln w="9525">
                <a:solidFill>
                  <a:schemeClr val="tx1"/>
                </a:solidFill>
                <a:round/>
                <a:headEnd/>
                <a:tailEnd/>
              </a:ln>
            </p:spPr>
            <p:txBody>
              <a:bodyPr/>
              <a:lstStyle/>
              <a:p>
                <a:endParaRPr lang="zh-CN" altLang="en-US"/>
              </a:p>
            </p:txBody>
          </p:sp>
          <p:sp>
            <p:nvSpPr>
              <p:cNvPr id="72" name="Line 74"/>
              <p:cNvSpPr>
                <a:spLocks noChangeShapeType="1"/>
              </p:cNvSpPr>
              <p:nvPr/>
            </p:nvSpPr>
            <p:spPr bwMode="auto">
              <a:xfrm flipV="1">
                <a:off x="1441" y="3089"/>
                <a:ext cx="117" cy="117"/>
              </a:xfrm>
              <a:prstGeom prst="line">
                <a:avLst/>
              </a:prstGeom>
              <a:noFill/>
              <a:ln w="9525">
                <a:solidFill>
                  <a:schemeClr val="tx1"/>
                </a:solidFill>
                <a:round/>
                <a:headEnd/>
                <a:tailEnd/>
              </a:ln>
            </p:spPr>
            <p:txBody>
              <a:bodyPr/>
              <a:lstStyle/>
              <a:p>
                <a:endParaRPr lang="zh-CN" altLang="en-US"/>
              </a:p>
            </p:txBody>
          </p:sp>
          <p:sp>
            <p:nvSpPr>
              <p:cNvPr id="73" name="Line 75"/>
              <p:cNvSpPr>
                <a:spLocks noChangeShapeType="1"/>
              </p:cNvSpPr>
              <p:nvPr/>
            </p:nvSpPr>
            <p:spPr bwMode="auto">
              <a:xfrm flipV="1">
                <a:off x="1573" y="3089"/>
                <a:ext cx="117" cy="117"/>
              </a:xfrm>
              <a:prstGeom prst="line">
                <a:avLst/>
              </a:prstGeom>
              <a:noFill/>
              <a:ln w="9525">
                <a:solidFill>
                  <a:schemeClr val="tx1"/>
                </a:solidFill>
                <a:round/>
                <a:headEnd/>
                <a:tailEnd/>
              </a:ln>
            </p:spPr>
            <p:txBody>
              <a:bodyPr/>
              <a:lstStyle/>
              <a:p>
                <a:endParaRPr lang="zh-CN" altLang="en-US"/>
              </a:p>
            </p:txBody>
          </p:sp>
          <p:sp>
            <p:nvSpPr>
              <p:cNvPr id="74" name="Line 76"/>
              <p:cNvSpPr>
                <a:spLocks noChangeShapeType="1"/>
              </p:cNvSpPr>
              <p:nvPr/>
            </p:nvSpPr>
            <p:spPr bwMode="auto">
              <a:xfrm flipV="1">
                <a:off x="1705" y="3089"/>
                <a:ext cx="117" cy="117"/>
              </a:xfrm>
              <a:prstGeom prst="line">
                <a:avLst/>
              </a:prstGeom>
              <a:noFill/>
              <a:ln w="9525">
                <a:solidFill>
                  <a:schemeClr val="tx1"/>
                </a:solidFill>
                <a:round/>
                <a:headEnd/>
                <a:tailEnd/>
              </a:ln>
            </p:spPr>
            <p:txBody>
              <a:bodyPr/>
              <a:lstStyle/>
              <a:p>
                <a:endParaRPr lang="zh-CN" altLang="en-US"/>
              </a:p>
            </p:txBody>
          </p:sp>
          <p:sp>
            <p:nvSpPr>
              <p:cNvPr id="75" name="Line 77"/>
              <p:cNvSpPr>
                <a:spLocks noChangeShapeType="1"/>
              </p:cNvSpPr>
              <p:nvPr/>
            </p:nvSpPr>
            <p:spPr bwMode="auto">
              <a:xfrm flipV="1">
                <a:off x="1837" y="3089"/>
                <a:ext cx="117" cy="117"/>
              </a:xfrm>
              <a:prstGeom prst="line">
                <a:avLst/>
              </a:prstGeom>
              <a:noFill/>
              <a:ln w="9525">
                <a:solidFill>
                  <a:schemeClr val="tx1"/>
                </a:solidFill>
                <a:round/>
                <a:headEnd/>
                <a:tailEnd/>
              </a:ln>
            </p:spPr>
            <p:txBody>
              <a:bodyPr/>
              <a:lstStyle/>
              <a:p>
                <a:endParaRPr lang="zh-CN" altLang="en-US"/>
              </a:p>
            </p:txBody>
          </p:sp>
          <p:sp>
            <p:nvSpPr>
              <p:cNvPr id="76" name="Line 78"/>
              <p:cNvSpPr>
                <a:spLocks noChangeShapeType="1"/>
              </p:cNvSpPr>
              <p:nvPr/>
            </p:nvSpPr>
            <p:spPr bwMode="auto">
              <a:xfrm flipV="1">
                <a:off x="1968" y="3089"/>
                <a:ext cx="117" cy="117"/>
              </a:xfrm>
              <a:prstGeom prst="line">
                <a:avLst/>
              </a:prstGeom>
              <a:noFill/>
              <a:ln w="9525">
                <a:solidFill>
                  <a:schemeClr val="tx1"/>
                </a:solidFill>
                <a:round/>
                <a:headEnd/>
                <a:tailEnd/>
              </a:ln>
            </p:spPr>
            <p:txBody>
              <a:bodyPr/>
              <a:lstStyle/>
              <a:p>
                <a:endParaRPr lang="zh-CN" altLang="en-US"/>
              </a:p>
            </p:txBody>
          </p:sp>
          <p:sp>
            <p:nvSpPr>
              <p:cNvPr id="77" name="Line 79"/>
              <p:cNvSpPr>
                <a:spLocks noChangeShapeType="1"/>
              </p:cNvSpPr>
              <p:nvPr/>
            </p:nvSpPr>
            <p:spPr bwMode="auto">
              <a:xfrm flipV="1">
                <a:off x="2100" y="3089"/>
                <a:ext cx="117" cy="117"/>
              </a:xfrm>
              <a:prstGeom prst="line">
                <a:avLst/>
              </a:prstGeom>
              <a:noFill/>
              <a:ln w="9525">
                <a:solidFill>
                  <a:schemeClr val="tx1"/>
                </a:solidFill>
                <a:round/>
                <a:headEnd/>
                <a:tailEnd/>
              </a:ln>
            </p:spPr>
            <p:txBody>
              <a:bodyPr/>
              <a:lstStyle/>
              <a:p>
                <a:endParaRPr lang="zh-CN" altLang="en-US"/>
              </a:p>
            </p:txBody>
          </p:sp>
          <p:sp>
            <p:nvSpPr>
              <p:cNvPr id="78" name="Line 80"/>
              <p:cNvSpPr>
                <a:spLocks noChangeShapeType="1"/>
              </p:cNvSpPr>
              <p:nvPr/>
            </p:nvSpPr>
            <p:spPr bwMode="auto">
              <a:xfrm flipV="1">
                <a:off x="2232" y="3089"/>
                <a:ext cx="117" cy="117"/>
              </a:xfrm>
              <a:prstGeom prst="line">
                <a:avLst/>
              </a:prstGeom>
              <a:noFill/>
              <a:ln w="9525">
                <a:solidFill>
                  <a:schemeClr val="tx1"/>
                </a:solidFill>
                <a:round/>
                <a:headEnd/>
                <a:tailEnd/>
              </a:ln>
            </p:spPr>
            <p:txBody>
              <a:bodyPr/>
              <a:lstStyle/>
              <a:p>
                <a:endParaRPr lang="zh-CN" altLang="en-US"/>
              </a:p>
            </p:txBody>
          </p:sp>
          <p:sp>
            <p:nvSpPr>
              <p:cNvPr id="79" name="Line 81"/>
              <p:cNvSpPr>
                <a:spLocks noChangeShapeType="1"/>
              </p:cNvSpPr>
              <p:nvPr/>
            </p:nvSpPr>
            <p:spPr bwMode="auto">
              <a:xfrm flipV="1">
                <a:off x="2364" y="3089"/>
                <a:ext cx="117" cy="117"/>
              </a:xfrm>
              <a:prstGeom prst="line">
                <a:avLst/>
              </a:prstGeom>
              <a:noFill/>
              <a:ln w="9525">
                <a:solidFill>
                  <a:schemeClr val="tx1"/>
                </a:solidFill>
                <a:round/>
                <a:headEnd/>
                <a:tailEnd/>
              </a:ln>
            </p:spPr>
            <p:txBody>
              <a:bodyPr/>
              <a:lstStyle/>
              <a:p>
                <a:endParaRPr lang="zh-CN" altLang="en-US"/>
              </a:p>
            </p:txBody>
          </p:sp>
          <p:sp>
            <p:nvSpPr>
              <p:cNvPr id="80" name="Line 82"/>
              <p:cNvSpPr>
                <a:spLocks noChangeShapeType="1"/>
              </p:cNvSpPr>
              <p:nvPr/>
            </p:nvSpPr>
            <p:spPr bwMode="auto">
              <a:xfrm flipV="1">
                <a:off x="2496" y="3089"/>
                <a:ext cx="117" cy="117"/>
              </a:xfrm>
              <a:prstGeom prst="line">
                <a:avLst/>
              </a:prstGeom>
              <a:noFill/>
              <a:ln w="9525">
                <a:solidFill>
                  <a:schemeClr val="tx1"/>
                </a:solidFill>
                <a:round/>
                <a:headEnd/>
                <a:tailEnd/>
              </a:ln>
            </p:spPr>
            <p:txBody>
              <a:bodyPr/>
              <a:lstStyle/>
              <a:p>
                <a:endParaRPr lang="zh-CN" altLang="en-US"/>
              </a:p>
            </p:txBody>
          </p:sp>
        </p:grpSp>
        <p:grpSp>
          <p:nvGrpSpPr>
            <p:cNvPr id="46" name="Group 96"/>
            <p:cNvGrpSpPr>
              <a:grpSpLocks/>
            </p:cNvGrpSpPr>
            <p:nvPr/>
          </p:nvGrpSpPr>
          <p:grpSpPr bwMode="auto">
            <a:xfrm>
              <a:off x="4627563" y="3641725"/>
              <a:ext cx="2287588" cy="1309688"/>
              <a:chOff x="3299" y="3088"/>
              <a:chExt cx="1441" cy="825"/>
            </a:xfrm>
          </p:grpSpPr>
          <p:grpSp>
            <p:nvGrpSpPr>
              <p:cNvPr id="48" name="Group 72"/>
              <p:cNvGrpSpPr>
                <a:grpSpLocks/>
              </p:cNvGrpSpPr>
              <p:nvPr/>
            </p:nvGrpSpPr>
            <p:grpSpPr bwMode="auto">
              <a:xfrm flipV="1">
                <a:off x="3299" y="3193"/>
                <a:ext cx="1441" cy="720"/>
                <a:chOff x="3635" y="3113"/>
                <a:chExt cx="1441" cy="720"/>
              </a:xfrm>
            </p:grpSpPr>
            <p:sp>
              <p:nvSpPr>
                <p:cNvPr id="62" name="Line 46"/>
                <p:cNvSpPr>
                  <a:spLocks noChangeShapeType="1"/>
                </p:cNvSpPr>
                <p:nvPr/>
              </p:nvSpPr>
              <p:spPr bwMode="auto">
                <a:xfrm>
                  <a:off x="3675" y="3113"/>
                  <a:ext cx="1396" cy="374"/>
                </a:xfrm>
                <a:prstGeom prst="line">
                  <a:avLst/>
                </a:prstGeom>
                <a:noFill/>
                <a:ln w="28575">
                  <a:solidFill>
                    <a:schemeClr val="tx1"/>
                  </a:solidFill>
                  <a:round/>
                  <a:headEnd/>
                  <a:tailEnd/>
                </a:ln>
              </p:spPr>
              <p:txBody>
                <a:bodyPr/>
                <a:lstStyle/>
                <a:p>
                  <a:endParaRPr lang="zh-CN" altLang="en-US"/>
                </a:p>
              </p:txBody>
            </p:sp>
            <p:sp>
              <p:nvSpPr>
                <p:cNvPr id="63" name="Line 47"/>
                <p:cNvSpPr>
                  <a:spLocks noChangeShapeType="1"/>
                </p:cNvSpPr>
                <p:nvPr/>
              </p:nvSpPr>
              <p:spPr bwMode="auto">
                <a:xfrm>
                  <a:off x="3635" y="3820"/>
                  <a:ext cx="1441" cy="2"/>
                </a:xfrm>
                <a:prstGeom prst="line">
                  <a:avLst/>
                </a:prstGeom>
                <a:noFill/>
                <a:ln w="28575">
                  <a:solidFill>
                    <a:schemeClr val="tx1"/>
                  </a:solidFill>
                  <a:round/>
                  <a:headEnd/>
                  <a:tailEnd/>
                </a:ln>
              </p:spPr>
              <p:txBody>
                <a:bodyPr/>
                <a:lstStyle/>
                <a:p>
                  <a:endParaRPr lang="zh-CN" altLang="en-US"/>
                </a:p>
              </p:txBody>
            </p:sp>
            <p:sp>
              <p:nvSpPr>
                <p:cNvPr id="64" name="Line 52"/>
                <p:cNvSpPr>
                  <a:spLocks noChangeShapeType="1"/>
                </p:cNvSpPr>
                <p:nvPr/>
              </p:nvSpPr>
              <p:spPr bwMode="auto">
                <a:xfrm>
                  <a:off x="4195" y="3260"/>
                  <a:ext cx="2" cy="573"/>
                </a:xfrm>
                <a:prstGeom prst="line">
                  <a:avLst/>
                </a:prstGeom>
                <a:noFill/>
                <a:ln w="9525">
                  <a:solidFill>
                    <a:schemeClr val="tx1"/>
                  </a:solidFill>
                  <a:round/>
                  <a:headEnd type="triangle" w="sm" len="lg"/>
                  <a:tailEnd type="triangle" w="sm" len="lg"/>
                </a:ln>
              </p:spPr>
              <p:txBody>
                <a:bodyPr/>
                <a:lstStyle/>
                <a:p>
                  <a:endParaRPr lang="zh-CN" altLang="en-US"/>
                </a:p>
              </p:txBody>
            </p:sp>
          </p:grpSp>
          <p:sp>
            <p:nvSpPr>
              <p:cNvPr id="49" name="Text Box 53"/>
              <p:cNvSpPr txBox="1">
                <a:spLocks noChangeArrowheads="1"/>
              </p:cNvSpPr>
              <p:nvPr/>
            </p:nvSpPr>
            <p:spPr bwMode="auto">
              <a:xfrm>
                <a:off x="3623" y="3321"/>
                <a:ext cx="220" cy="252"/>
              </a:xfrm>
              <a:prstGeom prst="rect">
                <a:avLst/>
              </a:prstGeom>
              <a:noFill/>
              <a:ln w="9525">
                <a:noFill/>
                <a:miter lim="800000"/>
                <a:headEnd/>
                <a:tailEnd/>
              </a:ln>
            </p:spPr>
            <p:txBody>
              <a:bodyPr wrap="none">
                <a:spAutoFit/>
              </a:bodyPr>
              <a:lstStyle/>
              <a:p>
                <a:r>
                  <a:rPr kumimoji="1" lang="en-US" altLang="zh-CN" sz="2000" b="1">
                    <a:latin typeface="微软雅黑"/>
                    <a:ea typeface="微软雅黑"/>
                    <a:cs typeface="微软雅黑"/>
                  </a:rPr>
                  <a:t>h</a:t>
                </a:r>
                <a:endParaRPr kumimoji="1" lang="en-US" altLang="zh-CN" sz="2000" b="1" baseline="-25000">
                  <a:latin typeface="微软雅黑"/>
                  <a:ea typeface="微软雅黑"/>
                  <a:cs typeface="微软雅黑"/>
                </a:endParaRPr>
              </a:p>
            </p:txBody>
          </p:sp>
          <p:sp>
            <p:nvSpPr>
              <p:cNvPr id="50" name="Line 83"/>
              <p:cNvSpPr>
                <a:spLocks noChangeShapeType="1"/>
              </p:cNvSpPr>
              <p:nvPr/>
            </p:nvSpPr>
            <p:spPr bwMode="auto">
              <a:xfrm flipH="1">
                <a:off x="3951" y="3680"/>
                <a:ext cx="521" cy="1"/>
              </a:xfrm>
              <a:prstGeom prst="line">
                <a:avLst/>
              </a:prstGeom>
              <a:noFill/>
              <a:ln w="19050">
                <a:solidFill>
                  <a:srgbClr val="FF0000"/>
                </a:solidFill>
                <a:round/>
                <a:headEnd/>
                <a:tailEnd type="triangle" w="sm" len="lg"/>
              </a:ln>
            </p:spPr>
            <p:txBody>
              <a:bodyPr/>
              <a:lstStyle/>
              <a:p>
                <a:endParaRPr lang="zh-CN" altLang="en-US"/>
              </a:p>
            </p:txBody>
          </p:sp>
          <p:sp>
            <p:nvSpPr>
              <p:cNvPr id="51" name="Text Box 84"/>
              <p:cNvSpPr txBox="1">
                <a:spLocks noChangeArrowheads="1"/>
              </p:cNvSpPr>
              <p:nvPr/>
            </p:nvSpPr>
            <p:spPr bwMode="auto">
              <a:xfrm>
                <a:off x="4448" y="3585"/>
                <a:ext cx="233" cy="252"/>
              </a:xfrm>
              <a:prstGeom prst="rect">
                <a:avLst/>
              </a:prstGeom>
              <a:noFill/>
              <a:ln w="9525">
                <a:noFill/>
                <a:miter lim="800000"/>
                <a:headEnd/>
                <a:tailEnd/>
              </a:ln>
            </p:spPr>
            <p:txBody>
              <a:bodyPr wrap="none">
                <a:spAutoFit/>
              </a:bodyPr>
              <a:lstStyle/>
              <a:p>
                <a:r>
                  <a:rPr kumimoji="1" lang="en-US" altLang="zh-CN" sz="2000" b="1">
                    <a:solidFill>
                      <a:srgbClr val="000099"/>
                    </a:solidFill>
                    <a:latin typeface="微软雅黑"/>
                    <a:ea typeface="微软雅黑"/>
                    <a:cs typeface="微软雅黑"/>
                  </a:rPr>
                  <a:t>V</a:t>
                </a:r>
                <a:endParaRPr kumimoji="1" lang="en-US" altLang="zh-CN" sz="2000" b="1" baseline="-25000">
                  <a:solidFill>
                    <a:srgbClr val="000099"/>
                  </a:solidFill>
                  <a:latin typeface="微软雅黑"/>
                  <a:ea typeface="微软雅黑"/>
                  <a:cs typeface="微软雅黑"/>
                </a:endParaRPr>
              </a:p>
            </p:txBody>
          </p:sp>
          <p:sp>
            <p:nvSpPr>
              <p:cNvPr id="52" name="Line 85"/>
              <p:cNvSpPr>
                <a:spLocks noChangeShapeType="1"/>
              </p:cNvSpPr>
              <p:nvPr/>
            </p:nvSpPr>
            <p:spPr bwMode="auto">
              <a:xfrm flipV="1">
                <a:off x="3405" y="3088"/>
                <a:ext cx="117" cy="117"/>
              </a:xfrm>
              <a:prstGeom prst="line">
                <a:avLst/>
              </a:prstGeom>
              <a:noFill/>
              <a:ln w="9525">
                <a:solidFill>
                  <a:schemeClr val="tx1"/>
                </a:solidFill>
                <a:round/>
                <a:headEnd/>
                <a:tailEnd/>
              </a:ln>
            </p:spPr>
            <p:txBody>
              <a:bodyPr/>
              <a:lstStyle/>
              <a:p>
                <a:endParaRPr lang="zh-CN" altLang="en-US"/>
              </a:p>
            </p:txBody>
          </p:sp>
          <p:sp>
            <p:nvSpPr>
              <p:cNvPr id="53" name="Line 86"/>
              <p:cNvSpPr>
                <a:spLocks noChangeShapeType="1"/>
              </p:cNvSpPr>
              <p:nvPr/>
            </p:nvSpPr>
            <p:spPr bwMode="auto">
              <a:xfrm flipV="1">
                <a:off x="3536" y="3088"/>
                <a:ext cx="117" cy="117"/>
              </a:xfrm>
              <a:prstGeom prst="line">
                <a:avLst/>
              </a:prstGeom>
              <a:noFill/>
              <a:ln w="9525">
                <a:solidFill>
                  <a:schemeClr val="tx1"/>
                </a:solidFill>
                <a:round/>
                <a:headEnd/>
                <a:tailEnd/>
              </a:ln>
            </p:spPr>
            <p:txBody>
              <a:bodyPr/>
              <a:lstStyle/>
              <a:p>
                <a:endParaRPr lang="zh-CN" altLang="en-US"/>
              </a:p>
            </p:txBody>
          </p:sp>
          <p:sp>
            <p:nvSpPr>
              <p:cNvPr id="54" name="Line 87"/>
              <p:cNvSpPr>
                <a:spLocks noChangeShapeType="1"/>
              </p:cNvSpPr>
              <p:nvPr/>
            </p:nvSpPr>
            <p:spPr bwMode="auto">
              <a:xfrm flipV="1">
                <a:off x="3668" y="3088"/>
                <a:ext cx="117" cy="117"/>
              </a:xfrm>
              <a:prstGeom prst="line">
                <a:avLst/>
              </a:prstGeom>
              <a:noFill/>
              <a:ln w="9525">
                <a:solidFill>
                  <a:schemeClr val="tx1"/>
                </a:solidFill>
                <a:round/>
                <a:headEnd/>
                <a:tailEnd/>
              </a:ln>
            </p:spPr>
            <p:txBody>
              <a:bodyPr/>
              <a:lstStyle/>
              <a:p>
                <a:endParaRPr lang="zh-CN" altLang="en-US"/>
              </a:p>
            </p:txBody>
          </p:sp>
          <p:sp>
            <p:nvSpPr>
              <p:cNvPr id="55" name="Line 88"/>
              <p:cNvSpPr>
                <a:spLocks noChangeShapeType="1"/>
              </p:cNvSpPr>
              <p:nvPr/>
            </p:nvSpPr>
            <p:spPr bwMode="auto">
              <a:xfrm flipV="1">
                <a:off x="3800" y="3088"/>
                <a:ext cx="117" cy="117"/>
              </a:xfrm>
              <a:prstGeom prst="line">
                <a:avLst/>
              </a:prstGeom>
              <a:noFill/>
              <a:ln w="9525">
                <a:solidFill>
                  <a:schemeClr val="tx1"/>
                </a:solidFill>
                <a:round/>
                <a:headEnd/>
                <a:tailEnd/>
              </a:ln>
            </p:spPr>
            <p:txBody>
              <a:bodyPr/>
              <a:lstStyle/>
              <a:p>
                <a:endParaRPr lang="zh-CN" altLang="en-US"/>
              </a:p>
            </p:txBody>
          </p:sp>
          <p:sp>
            <p:nvSpPr>
              <p:cNvPr id="56" name="Line 89"/>
              <p:cNvSpPr>
                <a:spLocks noChangeShapeType="1"/>
              </p:cNvSpPr>
              <p:nvPr/>
            </p:nvSpPr>
            <p:spPr bwMode="auto">
              <a:xfrm flipV="1">
                <a:off x="3932" y="3088"/>
                <a:ext cx="117" cy="117"/>
              </a:xfrm>
              <a:prstGeom prst="line">
                <a:avLst/>
              </a:prstGeom>
              <a:noFill/>
              <a:ln w="9525">
                <a:solidFill>
                  <a:schemeClr val="tx1"/>
                </a:solidFill>
                <a:round/>
                <a:headEnd/>
                <a:tailEnd/>
              </a:ln>
            </p:spPr>
            <p:txBody>
              <a:bodyPr/>
              <a:lstStyle/>
              <a:p>
                <a:endParaRPr lang="zh-CN" altLang="en-US"/>
              </a:p>
            </p:txBody>
          </p:sp>
          <p:sp>
            <p:nvSpPr>
              <p:cNvPr id="57" name="Line 90"/>
              <p:cNvSpPr>
                <a:spLocks noChangeShapeType="1"/>
              </p:cNvSpPr>
              <p:nvPr/>
            </p:nvSpPr>
            <p:spPr bwMode="auto">
              <a:xfrm flipV="1">
                <a:off x="4063" y="3088"/>
                <a:ext cx="117" cy="117"/>
              </a:xfrm>
              <a:prstGeom prst="line">
                <a:avLst/>
              </a:prstGeom>
              <a:noFill/>
              <a:ln w="9525">
                <a:solidFill>
                  <a:schemeClr val="tx1"/>
                </a:solidFill>
                <a:round/>
                <a:headEnd/>
                <a:tailEnd/>
              </a:ln>
            </p:spPr>
            <p:txBody>
              <a:bodyPr/>
              <a:lstStyle/>
              <a:p>
                <a:endParaRPr lang="zh-CN" altLang="en-US"/>
              </a:p>
            </p:txBody>
          </p:sp>
          <p:sp>
            <p:nvSpPr>
              <p:cNvPr id="58" name="Line 91"/>
              <p:cNvSpPr>
                <a:spLocks noChangeShapeType="1"/>
              </p:cNvSpPr>
              <p:nvPr/>
            </p:nvSpPr>
            <p:spPr bwMode="auto">
              <a:xfrm flipV="1">
                <a:off x="4195" y="3088"/>
                <a:ext cx="117" cy="117"/>
              </a:xfrm>
              <a:prstGeom prst="line">
                <a:avLst/>
              </a:prstGeom>
              <a:noFill/>
              <a:ln w="9525">
                <a:solidFill>
                  <a:schemeClr val="tx1"/>
                </a:solidFill>
                <a:round/>
                <a:headEnd/>
                <a:tailEnd/>
              </a:ln>
            </p:spPr>
            <p:txBody>
              <a:bodyPr/>
              <a:lstStyle/>
              <a:p>
                <a:endParaRPr lang="zh-CN" altLang="en-US"/>
              </a:p>
            </p:txBody>
          </p:sp>
          <p:sp>
            <p:nvSpPr>
              <p:cNvPr id="59" name="Line 92"/>
              <p:cNvSpPr>
                <a:spLocks noChangeShapeType="1"/>
              </p:cNvSpPr>
              <p:nvPr/>
            </p:nvSpPr>
            <p:spPr bwMode="auto">
              <a:xfrm flipV="1">
                <a:off x="4327" y="3088"/>
                <a:ext cx="117" cy="117"/>
              </a:xfrm>
              <a:prstGeom prst="line">
                <a:avLst/>
              </a:prstGeom>
              <a:noFill/>
              <a:ln w="9525">
                <a:solidFill>
                  <a:schemeClr val="tx1"/>
                </a:solidFill>
                <a:round/>
                <a:headEnd/>
                <a:tailEnd/>
              </a:ln>
            </p:spPr>
            <p:txBody>
              <a:bodyPr/>
              <a:lstStyle/>
              <a:p>
                <a:endParaRPr lang="zh-CN" altLang="en-US"/>
              </a:p>
            </p:txBody>
          </p:sp>
          <p:sp>
            <p:nvSpPr>
              <p:cNvPr id="60" name="Line 93"/>
              <p:cNvSpPr>
                <a:spLocks noChangeShapeType="1"/>
              </p:cNvSpPr>
              <p:nvPr/>
            </p:nvSpPr>
            <p:spPr bwMode="auto">
              <a:xfrm flipV="1">
                <a:off x="4459" y="3088"/>
                <a:ext cx="117" cy="117"/>
              </a:xfrm>
              <a:prstGeom prst="line">
                <a:avLst/>
              </a:prstGeom>
              <a:noFill/>
              <a:ln w="9525">
                <a:solidFill>
                  <a:schemeClr val="tx1"/>
                </a:solidFill>
                <a:round/>
                <a:headEnd/>
                <a:tailEnd/>
              </a:ln>
            </p:spPr>
            <p:txBody>
              <a:bodyPr/>
              <a:lstStyle/>
              <a:p>
                <a:endParaRPr lang="zh-CN" altLang="en-US"/>
              </a:p>
            </p:txBody>
          </p:sp>
          <p:sp>
            <p:nvSpPr>
              <p:cNvPr id="61" name="Line 94"/>
              <p:cNvSpPr>
                <a:spLocks noChangeShapeType="1"/>
              </p:cNvSpPr>
              <p:nvPr/>
            </p:nvSpPr>
            <p:spPr bwMode="auto">
              <a:xfrm flipV="1">
                <a:off x="4591" y="3088"/>
                <a:ext cx="117" cy="117"/>
              </a:xfrm>
              <a:prstGeom prst="line">
                <a:avLst/>
              </a:prstGeom>
              <a:noFill/>
              <a:ln w="9525">
                <a:solidFill>
                  <a:schemeClr val="tx1"/>
                </a:solidFill>
                <a:round/>
                <a:headEnd/>
                <a:tailEnd/>
              </a:ln>
            </p:spPr>
            <p:txBody>
              <a:bodyPr/>
              <a:lstStyle/>
              <a:p>
                <a:endParaRPr lang="zh-CN" altLang="en-US"/>
              </a:p>
            </p:txBody>
          </p:sp>
        </p:grpSp>
        <p:sp>
          <p:nvSpPr>
            <p:cNvPr id="47" name="Text Box 43"/>
            <p:cNvSpPr txBox="1">
              <a:spLocks noChangeArrowheads="1"/>
            </p:cNvSpPr>
            <p:nvPr/>
          </p:nvSpPr>
          <p:spPr bwMode="auto">
            <a:xfrm>
              <a:off x="5402235" y="1197961"/>
              <a:ext cx="765175" cy="400050"/>
            </a:xfrm>
            <a:prstGeom prst="rect">
              <a:avLst/>
            </a:prstGeom>
            <a:solidFill>
              <a:srgbClr val="FFC000"/>
            </a:solidFill>
            <a:ln w="9525">
              <a:noFill/>
              <a:miter lim="800000"/>
              <a:headEnd/>
              <a:tailEnd/>
            </a:ln>
          </p:spPr>
          <p:txBody>
            <a:bodyPr>
              <a:spAutoFit/>
            </a:bodyPr>
            <a:lstStyle/>
            <a:p>
              <a:r>
                <a:rPr lang="zh-CN" altLang="en-US" sz="2000" dirty="0">
                  <a:latin typeface="微软雅黑"/>
                  <a:ea typeface="微软雅黑"/>
                  <a:cs typeface="微软雅黑"/>
                </a:rPr>
                <a:t>思考：</a:t>
              </a:r>
            </a:p>
          </p:txBody>
        </p:sp>
      </p:grpSp>
      <p:sp>
        <p:nvSpPr>
          <p:cNvPr id="85" name="单圆角矩形 84"/>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流体动压</a:t>
            </a:r>
            <a:r>
              <a:rPr lang="zh-CN" altLang="en-US" sz="1500" dirty="0" smtClean="0">
                <a:solidFill>
                  <a:srgbClr val="FF6600"/>
                </a:solidFill>
              </a:rPr>
              <a:t>润滑的楔效应承载机理</a:t>
            </a:r>
            <a:endParaRPr lang="zh-CN" altLang="en-US" sz="1500" dirty="0">
              <a:solidFill>
                <a:srgbClr val="FF6600"/>
              </a:solidFill>
            </a:endParaRPr>
          </a:p>
        </p:txBody>
      </p:sp>
      <p:sp>
        <p:nvSpPr>
          <p:cNvPr id="86" name="直角三角形 85"/>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6392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left)">
                                      <p:cBhvr>
                                        <p:cTn id="2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52" name="Text Box 3"/>
          <p:cNvSpPr txBox="1">
            <a:spLocks noChangeArrowheads="1"/>
          </p:cNvSpPr>
          <p:nvPr/>
        </p:nvSpPr>
        <p:spPr bwMode="auto">
          <a:xfrm>
            <a:off x="371403" y="1717494"/>
            <a:ext cx="2037737" cy="492443"/>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2600" b="0" i="0" u="none" strike="noStrike" kern="0" cap="none" spc="0" normalizeH="0" baseline="0" noProof="0" dirty="0" smtClean="0">
                <a:ln>
                  <a:noFill/>
                </a:ln>
                <a:solidFill>
                  <a:srgbClr val="0000FF"/>
                </a:solidFill>
                <a:effectLst/>
                <a:uLnTx/>
                <a:uFillTx/>
                <a:latin typeface="Arial" charset="0"/>
                <a:ea typeface="黑体" pitchFamily="49" charset="-122"/>
              </a:rPr>
              <a:t>1</a:t>
            </a:r>
            <a:r>
              <a:rPr kumimoji="1" lang="zh-CN" altLang="en-US" sz="2600" b="0" i="0" u="none" strike="noStrike" kern="0" cap="none" spc="0" normalizeH="0" baseline="0" noProof="0" dirty="0" smtClean="0">
                <a:ln>
                  <a:noFill/>
                </a:ln>
                <a:solidFill>
                  <a:srgbClr val="0000FF"/>
                </a:solidFill>
                <a:effectLst/>
                <a:uLnTx/>
                <a:uFillTx/>
                <a:latin typeface="Arial" charset="0"/>
                <a:ea typeface="黑体" pitchFamily="49" charset="-122"/>
              </a:rPr>
              <a:t>、间歇供油</a:t>
            </a:r>
          </a:p>
        </p:txBody>
      </p:sp>
      <p:sp>
        <p:nvSpPr>
          <p:cNvPr id="1049653" name="Text Box 1032"/>
          <p:cNvSpPr txBox="1">
            <a:spLocks noChangeArrowheads="1"/>
          </p:cNvSpPr>
          <p:nvPr/>
        </p:nvSpPr>
        <p:spPr bwMode="auto">
          <a:xfrm>
            <a:off x="2915816" y="550905"/>
            <a:ext cx="5976664" cy="1257909"/>
          </a:xfrm>
          <a:prstGeom prst="rect">
            <a:avLst/>
          </a:prstGeom>
          <a:noFill/>
          <a:ln>
            <a:noFill/>
          </a:ln>
          <a:effectLst/>
        </p:spPr>
        <p:txBody>
          <a:bodyPr wrap="square" lIns="90000" tIns="46800" rIns="90000" bIns="46800">
            <a:spAutoFit/>
          </a:bodyPr>
          <a:lstStyle/>
          <a:p>
            <a:pPr algn="just">
              <a:lnSpc>
                <a:spcPct val="120000"/>
              </a:lnSpc>
              <a:spcBef>
                <a:spcPct val="30000"/>
              </a:spcBef>
            </a:pPr>
            <a:r>
              <a:rPr kumimoji="0" lang="zh-CN" altLang="en-US" sz="2100" b="1" dirty="0" smtClean="0">
                <a:solidFill>
                  <a:srgbClr val="000000"/>
                </a:solidFill>
                <a:ea typeface="楷体_GB2312" pitchFamily="49" charset="-122"/>
              </a:rPr>
              <a:t>手工</a:t>
            </a:r>
            <a:r>
              <a:rPr kumimoji="0" lang="zh-CN" altLang="en-US" sz="2100" b="1" dirty="0">
                <a:solidFill>
                  <a:srgbClr val="000000"/>
                </a:solidFill>
                <a:ea typeface="楷体_GB2312" pitchFamily="49" charset="-122"/>
              </a:rPr>
              <a:t>用油壶或油枪向注油杯内注油，只能做到间歇润滑。只能用于小型、低速或间歇运动的轴承。对于重要的轴承，必须采用连续供油的方式。</a:t>
            </a:r>
            <a:endParaRPr lang="zh-CN" altLang="en-US" sz="2100" b="1" dirty="0">
              <a:ea typeface="楷体_GB2312" pitchFamily="49" charset="-122"/>
            </a:endParaRPr>
          </a:p>
        </p:txBody>
      </p:sp>
      <p:pic>
        <p:nvPicPr>
          <p:cNvPr id="2097575" name="Picture 1029" descr="CEye_0021">
            <a:hlinkClick r:id="rId2" action="ppaction://hlinkfile"/>
          </p:cNvPr>
          <p:cNvPicPr>
            <a:picLocks noChangeAspect="1" noChangeArrowheads="1"/>
          </p:cNvPicPr>
          <p:nvPr/>
        </p:nvPicPr>
        <p:blipFill>
          <a:blip r:embed="rId3">
            <a:lum bright="-24000" contrast="72000"/>
          </a:blip>
          <a:srcRect/>
          <a:stretch>
            <a:fillRect/>
          </a:stretch>
        </p:blipFill>
        <p:spPr bwMode="auto">
          <a:xfrm>
            <a:off x="179512" y="2643163"/>
            <a:ext cx="2278854" cy="2592288"/>
          </a:xfrm>
          <a:prstGeom prst="rect">
            <a:avLst/>
          </a:prstGeom>
          <a:noFill/>
          <a:ln w="76200" cmpd="tri">
            <a:noFill/>
            <a:miter lim="800000"/>
            <a:headEnd/>
            <a:tailEnd/>
          </a:ln>
        </p:spPr>
      </p:pic>
      <p:pic>
        <p:nvPicPr>
          <p:cNvPr id="2097576" name="Picture 1030" descr="CEye_0022">
            <a:hlinkClick r:id="rId4" action="ppaction://hlinkfile"/>
          </p:cNvPr>
          <p:cNvPicPr>
            <a:picLocks noChangeAspect="1" noChangeArrowheads="1"/>
          </p:cNvPicPr>
          <p:nvPr/>
        </p:nvPicPr>
        <p:blipFill>
          <a:blip r:embed="rId5">
            <a:lum bright="-36000" contrast="54000"/>
          </a:blip>
          <a:srcRect/>
          <a:stretch>
            <a:fillRect/>
          </a:stretch>
        </p:blipFill>
        <p:spPr bwMode="auto">
          <a:xfrm>
            <a:off x="2483768" y="2474635"/>
            <a:ext cx="2222396" cy="2904832"/>
          </a:xfrm>
          <a:prstGeom prst="rect">
            <a:avLst/>
          </a:prstGeom>
          <a:noFill/>
          <a:ln w="76200" cmpd="tri">
            <a:noFill/>
            <a:miter lim="800000"/>
            <a:headEnd/>
            <a:tailEnd/>
          </a:ln>
        </p:spPr>
      </p:pic>
      <p:pic>
        <p:nvPicPr>
          <p:cNvPr id="2097578" name="Picture 6" descr="https://timgsa.baidu.com/timg?image&amp;quality=80&amp;size=b9999_10000&amp;sec=1489906285599&amp;di=a12b6b92a45a25327f871de65798754f&amp;imgtype=0&amp;src=http%3A%2F%2Ffile.zcwz.com%2Fimg%2Fimages%2F201012%2F20101217103118.jpg"/>
          <p:cNvPicPr>
            <a:picLocks noChangeAspect="1" noChangeArrowheads="1"/>
          </p:cNvPicPr>
          <p:nvPr/>
        </p:nvPicPr>
        <p:blipFill rotWithShape="1">
          <a:blip r:embed="rId6"/>
          <a:srcRect l="27055" t="4540" r="24145" b="10859"/>
          <a:stretch>
            <a:fillRect/>
          </a:stretch>
        </p:blipFill>
        <p:spPr bwMode="auto">
          <a:xfrm>
            <a:off x="4924355" y="2356818"/>
            <a:ext cx="1743562" cy="3022649"/>
          </a:xfrm>
          <a:prstGeom prst="rect">
            <a:avLst/>
          </a:prstGeom>
          <a:noFill/>
        </p:spPr>
      </p:pic>
      <p:pic>
        <p:nvPicPr>
          <p:cNvPr id="2097579" name="Picture 2" descr="https://timgsa.baidu.com/timg?image&amp;quality=80&amp;size=b10000_10000&amp;sec=1489896160&amp;di=a77342b556c1b3a79071e79e9109925a&amp;src=http://img.11665.com/img04_p/i4/T1hA5MXlhmXXcziHnX_114316.jpg"/>
          <p:cNvPicPr>
            <a:picLocks noChangeAspect="1" noChangeArrowheads="1"/>
          </p:cNvPicPr>
          <p:nvPr/>
        </p:nvPicPr>
        <p:blipFill>
          <a:blip r:embed="rId7"/>
          <a:srcRect/>
          <a:stretch>
            <a:fillRect/>
          </a:stretch>
        </p:blipFill>
        <p:spPr bwMode="auto">
          <a:xfrm>
            <a:off x="6371930" y="2569468"/>
            <a:ext cx="2520280" cy="2520280"/>
          </a:xfrm>
          <a:prstGeom prst="rect">
            <a:avLst/>
          </a:prstGeom>
          <a:noFill/>
        </p:spPr>
      </p:pic>
      <p:sp>
        <p:nvSpPr>
          <p:cNvPr id="15" name="单圆角矩形 14"/>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常用润滑装置</a:t>
            </a:r>
            <a:endParaRPr lang="zh-CN" altLang="en-US" sz="1500" dirty="0">
              <a:solidFill>
                <a:srgbClr val="FF6600"/>
              </a:solidFill>
            </a:endParaRPr>
          </a:p>
        </p:txBody>
      </p:sp>
      <p:sp>
        <p:nvSpPr>
          <p:cNvPr id="16" name="直角三角形 15"/>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6"/>
          <p:cNvGrpSpPr/>
          <p:nvPr/>
        </p:nvGrpSpPr>
        <p:grpSpPr>
          <a:xfrm>
            <a:off x="323528" y="550905"/>
            <a:ext cx="2880320" cy="492443"/>
            <a:chOff x="323528" y="564857"/>
            <a:chExt cx="2880320" cy="492443"/>
          </a:xfrm>
        </p:grpSpPr>
        <p:sp>
          <p:nvSpPr>
            <p:cNvPr id="12" name="Text Box 5"/>
            <p:cNvSpPr txBox="1">
              <a:spLocks noChangeArrowheads="1"/>
            </p:cNvSpPr>
            <p:nvPr/>
          </p:nvSpPr>
          <p:spPr bwMode="auto">
            <a:xfrm>
              <a:off x="683569" y="564857"/>
              <a:ext cx="2520279" cy="49244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600" b="1" dirty="0" smtClean="0">
                  <a:solidFill>
                    <a:srgbClr val="000099"/>
                  </a:solidFill>
                  <a:effectLst/>
                  <a:latin typeface="黑体" pitchFamily="49" charset="-122"/>
                </a:rPr>
                <a:t>常用润滑方式</a:t>
              </a:r>
              <a:endParaRPr lang="zh-CN" altLang="en-US" sz="2600" b="1" dirty="0">
                <a:solidFill>
                  <a:srgbClr val="000099"/>
                </a:solidFill>
                <a:effectLst/>
                <a:latin typeface="黑体" pitchFamily="49" charset="-122"/>
              </a:endParaRPr>
            </a:p>
          </p:txBody>
        </p:sp>
        <p:pic>
          <p:nvPicPr>
            <p:cNvPr id="13" name="Picture 15" descr="AR1031"/>
            <p:cNvPicPr>
              <a:picLocks noChangeAspect="1" noChangeArrowheads="1"/>
            </p:cNvPicPr>
            <p:nvPr/>
          </p:nvPicPr>
          <p:blipFill>
            <a:blip r:embed="rId8">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spTree>
    <p:extLst>
      <p:ext uri="{BB962C8B-B14F-4D97-AF65-F5344CB8AC3E}">
        <p14:creationId xmlns:p14="http://schemas.microsoft.com/office/powerpoint/2010/main" val="1054257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9652"/>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097575"/>
                                        </p:tgtEl>
                                        <p:attrNameLst>
                                          <p:attrName>style.visibility</p:attrName>
                                        </p:attrNameLst>
                                      </p:cBhvr>
                                      <p:to>
                                        <p:strVal val="visible"/>
                                      </p:to>
                                    </p:set>
                                    <p:animEffect transition="in" filter="fade">
                                      <p:cBhvr>
                                        <p:cTn id="9" dur="1000"/>
                                        <p:tgtEl>
                                          <p:spTgt spid="2097575"/>
                                        </p:tgtEl>
                                      </p:cBhvr>
                                    </p:animEffect>
                                  </p:childTnLst>
                                </p:cTn>
                              </p:par>
                              <p:par>
                                <p:cTn id="10" presetID="10" presetClass="entr" presetSubtype="0" fill="hold" nodeType="withEffect">
                                  <p:stCondLst>
                                    <p:cond delay="0"/>
                                  </p:stCondLst>
                                  <p:childTnLst>
                                    <p:set>
                                      <p:cBhvr>
                                        <p:cTn id="11" dur="1" fill="hold">
                                          <p:stCondLst>
                                            <p:cond delay="0"/>
                                          </p:stCondLst>
                                        </p:cTn>
                                        <p:tgtEl>
                                          <p:spTgt spid="2097576"/>
                                        </p:tgtEl>
                                        <p:attrNameLst>
                                          <p:attrName>style.visibility</p:attrName>
                                        </p:attrNameLst>
                                      </p:cBhvr>
                                      <p:to>
                                        <p:strVal val="visible"/>
                                      </p:to>
                                    </p:set>
                                    <p:animEffect transition="in" filter="fade">
                                      <p:cBhvr>
                                        <p:cTn id="12" dur="1000"/>
                                        <p:tgtEl>
                                          <p:spTgt spid="2097576"/>
                                        </p:tgtEl>
                                      </p:cBhvr>
                                    </p:animEffect>
                                  </p:childTnLst>
                                </p:cTn>
                              </p:par>
                              <p:par>
                                <p:cTn id="13" presetID="10" presetClass="entr" presetSubtype="0" fill="hold" nodeType="withEffect">
                                  <p:stCondLst>
                                    <p:cond delay="0"/>
                                  </p:stCondLst>
                                  <p:childTnLst>
                                    <p:set>
                                      <p:cBhvr>
                                        <p:cTn id="14" dur="1" fill="hold">
                                          <p:stCondLst>
                                            <p:cond delay="0"/>
                                          </p:stCondLst>
                                        </p:cTn>
                                        <p:tgtEl>
                                          <p:spTgt spid="2097578"/>
                                        </p:tgtEl>
                                        <p:attrNameLst>
                                          <p:attrName>style.visibility</p:attrName>
                                        </p:attrNameLst>
                                      </p:cBhvr>
                                      <p:to>
                                        <p:strVal val="visible"/>
                                      </p:to>
                                    </p:set>
                                    <p:animEffect transition="in" filter="fade">
                                      <p:cBhvr>
                                        <p:cTn id="15" dur="1000"/>
                                        <p:tgtEl>
                                          <p:spTgt spid="2097578"/>
                                        </p:tgtEl>
                                      </p:cBhvr>
                                    </p:animEffect>
                                  </p:childTnLst>
                                </p:cTn>
                              </p:par>
                              <p:par>
                                <p:cTn id="16" presetID="10" presetClass="entr" presetSubtype="0" fill="hold" nodeType="withEffect">
                                  <p:stCondLst>
                                    <p:cond delay="0"/>
                                  </p:stCondLst>
                                  <p:childTnLst>
                                    <p:set>
                                      <p:cBhvr>
                                        <p:cTn id="17" dur="1" fill="hold">
                                          <p:stCondLst>
                                            <p:cond delay="0"/>
                                          </p:stCondLst>
                                        </p:cTn>
                                        <p:tgtEl>
                                          <p:spTgt spid="2097579"/>
                                        </p:tgtEl>
                                        <p:attrNameLst>
                                          <p:attrName>style.visibility</p:attrName>
                                        </p:attrNameLst>
                                      </p:cBhvr>
                                      <p:to>
                                        <p:strVal val="visible"/>
                                      </p:to>
                                    </p:set>
                                    <p:animEffect transition="in" filter="fade">
                                      <p:cBhvr>
                                        <p:cTn id="18" dur="1000"/>
                                        <p:tgtEl>
                                          <p:spTgt spid="209757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49653"/>
                                        </p:tgtEl>
                                        <p:attrNameLst>
                                          <p:attrName>style.visibility</p:attrName>
                                        </p:attrNameLst>
                                      </p:cBhvr>
                                      <p:to>
                                        <p:strVal val="visible"/>
                                      </p:to>
                                    </p:set>
                                    <p:animEffect transition="in" filter="wipe(left)">
                                      <p:cBhvr>
                                        <p:cTn id="23" dur="750"/>
                                        <p:tgtEl>
                                          <p:spTgt spid="1049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52" grpId="0"/>
      <p:bldP spid="104965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55" name="Text Box 3"/>
          <p:cNvSpPr txBox="1">
            <a:spLocks noChangeArrowheads="1"/>
          </p:cNvSpPr>
          <p:nvPr/>
        </p:nvSpPr>
        <p:spPr bwMode="auto">
          <a:xfrm>
            <a:off x="391584" y="625252"/>
            <a:ext cx="2037737" cy="492443"/>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2600" b="0" i="0" u="none" strike="noStrike" kern="0" cap="none" spc="0" normalizeH="0" baseline="0" noProof="0" dirty="0" smtClean="0">
                <a:ln>
                  <a:noFill/>
                </a:ln>
                <a:solidFill>
                  <a:srgbClr val="0000FF"/>
                </a:solidFill>
                <a:effectLst/>
                <a:uLnTx/>
                <a:uFillTx/>
                <a:latin typeface="Arial" charset="0"/>
                <a:ea typeface="黑体" pitchFamily="49" charset="-122"/>
              </a:rPr>
              <a:t>2</a:t>
            </a:r>
            <a:r>
              <a:rPr kumimoji="1" lang="zh-CN" altLang="en-US" sz="2600" b="0" i="0" u="none" strike="noStrike" kern="0" cap="none" spc="0" normalizeH="0" baseline="0" noProof="0" dirty="0" smtClean="0">
                <a:ln>
                  <a:noFill/>
                </a:ln>
                <a:solidFill>
                  <a:srgbClr val="0000FF"/>
                </a:solidFill>
                <a:effectLst/>
                <a:uLnTx/>
                <a:uFillTx/>
                <a:latin typeface="Arial" charset="0"/>
                <a:ea typeface="黑体" pitchFamily="49" charset="-122"/>
              </a:rPr>
              <a:t>、连续供油</a:t>
            </a:r>
          </a:p>
        </p:txBody>
      </p:sp>
      <p:grpSp>
        <p:nvGrpSpPr>
          <p:cNvPr id="572" name="组合 17"/>
          <p:cNvGrpSpPr/>
          <p:nvPr/>
        </p:nvGrpSpPr>
        <p:grpSpPr>
          <a:xfrm>
            <a:off x="1242073" y="1432233"/>
            <a:ext cx="2393823" cy="4017555"/>
            <a:chOff x="251522" y="1328287"/>
            <a:chExt cx="2393823" cy="4017555"/>
          </a:xfrm>
        </p:grpSpPr>
        <p:pic>
          <p:nvPicPr>
            <p:cNvPr id="2097583" name="Picture 2" descr="CEye_0025">
              <a:hlinkClick r:id="rId3" action="ppaction://hlinkfile"/>
            </p:cNvPr>
            <p:cNvPicPr>
              <a:picLocks noChangeAspect="1" noChangeArrowheads="1"/>
            </p:cNvPicPr>
            <p:nvPr/>
          </p:nvPicPr>
          <p:blipFill>
            <a:blip r:embed="rId4">
              <a:lum bright="-36000" contrast="60000"/>
            </a:blip>
            <a:srcRect/>
            <a:stretch>
              <a:fillRect/>
            </a:stretch>
          </p:blipFill>
          <p:spPr bwMode="auto">
            <a:xfrm>
              <a:off x="251522" y="1328287"/>
              <a:ext cx="2393823" cy="3380648"/>
            </a:xfrm>
            <a:prstGeom prst="rect">
              <a:avLst/>
            </a:prstGeom>
            <a:noFill/>
            <a:ln w="76200" cmpd="tri">
              <a:noFill/>
              <a:miter lim="800000"/>
              <a:headEnd/>
              <a:tailEnd/>
            </a:ln>
          </p:spPr>
        </p:pic>
        <p:sp>
          <p:nvSpPr>
            <p:cNvPr id="1049659" name="Text Box 3"/>
            <p:cNvSpPr txBox="1">
              <a:spLocks noChangeArrowheads="1"/>
            </p:cNvSpPr>
            <p:nvPr/>
          </p:nvSpPr>
          <p:spPr bwMode="auto">
            <a:xfrm>
              <a:off x="773137" y="4945732"/>
              <a:ext cx="1609736" cy="400110"/>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2000" b="0" i="0" u="none" strike="noStrike" kern="0" cap="none" spc="0" normalizeH="0" baseline="0" noProof="0" dirty="0" smtClean="0">
                  <a:ln>
                    <a:noFill/>
                  </a:ln>
                  <a:solidFill>
                    <a:srgbClr val="0000FF"/>
                  </a:solidFill>
                  <a:effectLst/>
                  <a:uLnTx/>
                  <a:uFillTx/>
                  <a:latin typeface="Arial" charset="0"/>
                  <a:ea typeface="黑体" pitchFamily="49" charset="-122"/>
                </a:rPr>
                <a:t>1</a:t>
              </a:r>
              <a:r>
                <a:rPr kumimoji="1" lang="zh-CN" altLang="en-US" sz="2000" b="0" i="0" u="none" strike="noStrike" kern="0" cap="none" spc="0" normalizeH="0" baseline="0" noProof="0" dirty="0" smtClean="0">
                  <a:ln>
                    <a:noFill/>
                  </a:ln>
                  <a:solidFill>
                    <a:srgbClr val="0000FF"/>
                  </a:solidFill>
                  <a:effectLst/>
                  <a:uLnTx/>
                  <a:uFillTx/>
                  <a:latin typeface="Arial" charset="0"/>
                  <a:ea typeface="黑体" pitchFamily="49" charset="-122"/>
                </a:rPr>
                <a:t>）芯埝润滑</a:t>
              </a:r>
            </a:p>
          </p:txBody>
        </p:sp>
      </p:grpSp>
      <p:grpSp>
        <p:nvGrpSpPr>
          <p:cNvPr id="573" name="组合 18"/>
          <p:cNvGrpSpPr/>
          <p:nvPr/>
        </p:nvGrpSpPr>
        <p:grpSpPr>
          <a:xfrm>
            <a:off x="4820430" y="1208243"/>
            <a:ext cx="3351970" cy="4241545"/>
            <a:chOff x="2588182" y="1104297"/>
            <a:chExt cx="3351970" cy="4241545"/>
          </a:xfrm>
        </p:grpSpPr>
        <p:pic>
          <p:nvPicPr>
            <p:cNvPr id="2097584" name="Picture 3" descr="CEye_0024">
              <a:hlinkClick r:id="rId5" action="ppaction://hlinkfile"/>
            </p:cNvPr>
            <p:cNvPicPr>
              <a:picLocks noChangeAspect="1" noChangeArrowheads="1"/>
            </p:cNvPicPr>
            <p:nvPr/>
          </p:nvPicPr>
          <p:blipFill>
            <a:blip r:embed="rId6">
              <a:lum bright="-36000" contrast="60000"/>
            </a:blip>
            <a:srcRect/>
            <a:stretch>
              <a:fillRect/>
            </a:stretch>
          </p:blipFill>
          <p:spPr bwMode="auto">
            <a:xfrm>
              <a:off x="2588182" y="1104297"/>
              <a:ext cx="3351970" cy="3740059"/>
            </a:xfrm>
            <a:prstGeom prst="rect">
              <a:avLst/>
            </a:prstGeom>
            <a:noFill/>
            <a:ln w="76200" cmpd="tri">
              <a:noFill/>
              <a:miter lim="800000"/>
              <a:headEnd/>
              <a:tailEnd/>
            </a:ln>
          </p:spPr>
        </p:pic>
        <p:sp>
          <p:nvSpPr>
            <p:cNvPr id="1049660" name="Text Box 3"/>
            <p:cNvSpPr txBox="1">
              <a:spLocks noChangeArrowheads="1"/>
            </p:cNvSpPr>
            <p:nvPr/>
          </p:nvSpPr>
          <p:spPr bwMode="auto">
            <a:xfrm>
              <a:off x="3563888" y="4945732"/>
              <a:ext cx="1609736" cy="400110"/>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2000" b="0" i="0" u="none" strike="noStrike" kern="0" cap="none" spc="0" normalizeH="0" baseline="0" noProof="0" dirty="0" smtClean="0">
                  <a:ln>
                    <a:noFill/>
                  </a:ln>
                  <a:solidFill>
                    <a:srgbClr val="0000FF"/>
                  </a:solidFill>
                  <a:effectLst/>
                  <a:uLnTx/>
                  <a:uFillTx/>
                  <a:latin typeface="Arial" charset="0"/>
                  <a:ea typeface="黑体" pitchFamily="49" charset="-122"/>
                </a:rPr>
                <a:t>2</a:t>
              </a:r>
              <a:r>
                <a:rPr kumimoji="1" lang="zh-CN" altLang="en-US" sz="2000" b="0" i="0" u="none" strike="noStrike" kern="0" cap="none" spc="0" normalizeH="0" baseline="0" noProof="0" dirty="0" smtClean="0">
                  <a:ln>
                    <a:noFill/>
                  </a:ln>
                  <a:solidFill>
                    <a:srgbClr val="0000FF"/>
                  </a:solidFill>
                  <a:effectLst/>
                  <a:uLnTx/>
                  <a:uFillTx/>
                  <a:latin typeface="Arial" charset="0"/>
                  <a:ea typeface="黑体" pitchFamily="49" charset="-122"/>
                </a:rPr>
                <a:t>）滴油润滑</a:t>
              </a:r>
            </a:p>
          </p:txBody>
        </p:sp>
      </p:grpSp>
      <p:sp>
        <p:nvSpPr>
          <p:cNvPr id="18" name="单圆角矩形 17"/>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常用润滑装置</a:t>
            </a:r>
            <a:endParaRPr lang="zh-CN" altLang="en-US" sz="1500" dirty="0">
              <a:solidFill>
                <a:srgbClr val="FF6600"/>
              </a:solidFill>
            </a:endParaRPr>
          </a:p>
        </p:txBody>
      </p:sp>
      <p:sp>
        <p:nvSpPr>
          <p:cNvPr id="19" name="直角三角形 18"/>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644320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63" name="Text Box 3"/>
          <p:cNvSpPr txBox="1">
            <a:spLocks noChangeArrowheads="1"/>
          </p:cNvSpPr>
          <p:nvPr/>
        </p:nvSpPr>
        <p:spPr bwMode="auto">
          <a:xfrm>
            <a:off x="3635896" y="4977670"/>
            <a:ext cx="1609736" cy="400110"/>
          </a:xfrm>
          <a:prstGeom prst="rect">
            <a:avLst/>
          </a:prstGeom>
          <a:solidFill>
            <a:schemeClr val="bg1"/>
          </a:solid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2000" b="0" i="0" u="none" strike="noStrike" kern="0" cap="none" spc="0" normalizeH="0" baseline="0" noProof="0" dirty="0" smtClean="0">
                <a:ln>
                  <a:noFill/>
                </a:ln>
                <a:solidFill>
                  <a:srgbClr val="0000FF"/>
                </a:solidFill>
                <a:effectLst/>
                <a:uLnTx/>
                <a:uFillTx/>
                <a:latin typeface="Arial" charset="0"/>
                <a:ea typeface="黑体" pitchFamily="49" charset="-122"/>
              </a:rPr>
              <a:t>3</a:t>
            </a:r>
            <a:r>
              <a:rPr kumimoji="1" lang="zh-CN" altLang="en-US" sz="2000" b="0" i="0" u="none" strike="noStrike" kern="0" cap="none" spc="0" normalizeH="0" baseline="0" noProof="0" dirty="0" smtClean="0">
                <a:ln>
                  <a:noFill/>
                </a:ln>
                <a:solidFill>
                  <a:srgbClr val="0000FF"/>
                </a:solidFill>
                <a:effectLst/>
                <a:uLnTx/>
                <a:uFillTx/>
                <a:latin typeface="Arial" charset="0"/>
                <a:ea typeface="黑体" pitchFamily="49" charset="-122"/>
              </a:rPr>
              <a:t>）油环润滑</a:t>
            </a:r>
          </a:p>
        </p:txBody>
      </p:sp>
      <p:pic>
        <p:nvPicPr>
          <p:cNvPr id="2097586" name="Picture 2"/>
          <p:cNvPicPr>
            <a:picLocks noChangeAspect="1" noChangeArrowheads="1"/>
          </p:cNvPicPr>
          <p:nvPr/>
        </p:nvPicPr>
        <p:blipFill rotWithShape="1">
          <a:blip r:embed="rId3"/>
          <a:srcRect r="46652"/>
          <a:stretch/>
        </p:blipFill>
        <p:spPr bwMode="auto">
          <a:xfrm>
            <a:off x="683568" y="1199441"/>
            <a:ext cx="3672408" cy="3746291"/>
          </a:xfrm>
          <a:prstGeom prst="rect">
            <a:avLst/>
          </a:prstGeom>
          <a:noFill/>
          <a:ln>
            <a:noFill/>
          </a:ln>
          <a:effectLst/>
        </p:spPr>
      </p:pic>
      <p:sp>
        <p:nvSpPr>
          <p:cNvPr id="8" name="单圆角矩形 7"/>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常用润滑装置</a:t>
            </a:r>
            <a:endParaRPr lang="zh-CN" altLang="en-US" sz="1500" dirty="0">
              <a:solidFill>
                <a:srgbClr val="FF6600"/>
              </a:solidFill>
            </a:endParaRPr>
          </a:p>
        </p:txBody>
      </p:sp>
      <p:sp>
        <p:nvSpPr>
          <p:cNvPr id="9" name="直角三角形 8"/>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 Box 3"/>
          <p:cNvSpPr txBox="1">
            <a:spLocks noChangeArrowheads="1"/>
          </p:cNvSpPr>
          <p:nvPr/>
        </p:nvSpPr>
        <p:spPr bwMode="auto">
          <a:xfrm>
            <a:off x="391584" y="625252"/>
            <a:ext cx="2037737" cy="492443"/>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2600" b="0" i="0" u="none" strike="noStrike" kern="0" cap="none" spc="0" normalizeH="0" baseline="0" noProof="0" dirty="0" smtClean="0">
                <a:ln>
                  <a:noFill/>
                </a:ln>
                <a:solidFill>
                  <a:srgbClr val="0000FF"/>
                </a:solidFill>
                <a:effectLst/>
                <a:uLnTx/>
                <a:uFillTx/>
                <a:latin typeface="Arial" charset="0"/>
                <a:ea typeface="黑体" pitchFamily="49" charset="-122"/>
              </a:rPr>
              <a:t>2</a:t>
            </a:r>
            <a:r>
              <a:rPr kumimoji="1" lang="zh-CN" altLang="en-US" sz="2600" b="0" i="0" u="none" strike="noStrike" kern="0" cap="none" spc="0" normalizeH="0" baseline="0" noProof="0" dirty="0" smtClean="0">
                <a:ln>
                  <a:noFill/>
                </a:ln>
                <a:solidFill>
                  <a:srgbClr val="0000FF"/>
                </a:solidFill>
                <a:effectLst/>
                <a:uLnTx/>
                <a:uFillTx/>
                <a:latin typeface="Arial" charset="0"/>
                <a:ea typeface="黑体" pitchFamily="49" charset="-122"/>
              </a:rPr>
              <a:t>、连续供油</a:t>
            </a:r>
          </a:p>
        </p:txBody>
      </p:sp>
      <p:pic>
        <p:nvPicPr>
          <p:cNvPr id="7" name="Picture 2"/>
          <p:cNvPicPr>
            <a:picLocks noChangeAspect="1" noChangeArrowheads="1"/>
          </p:cNvPicPr>
          <p:nvPr/>
        </p:nvPicPr>
        <p:blipFill rotWithShape="1">
          <a:blip r:embed="rId3"/>
          <a:srcRect l="54394"/>
          <a:stretch/>
        </p:blipFill>
        <p:spPr bwMode="auto">
          <a:xfrm>
            <a:off x="5176917" y="1199441"/>
            <a:ext cx="3139499" cy="3746291"/>
          </a:xfrm>
          <a:prstGeom prst="rect">
            <a:avLst/>
          </a:prstGeom>
          <a:noFill/>
          <a:ln>
            <a:noFill/>
          </a:ln>
          <a:effectLst/>
        </p:spPr>
      </p:pic>
    </p:spTree>
    <p:extLst>
      <p:ext uri="{BB962C8B-B14F-4D97-AF65-F5344CB8AC3E}">
        <p14:creationId xmlns:p14="http://schemas.microsoft.com/office/powerpoint/2010/main" val="31679073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9" name="组合 47"/>
          <p:cNvGrpSpPr/>
          <p:nvPr/>
        </p:nvGrpSpPr>
        <p:grpSpPr>
          <a:xfrm>
            <a:off x="721163" y="410130"/>
            <a:ext cx="3346781" cy="2704624"/>
            <a:chOff x="107504" y="1283518"/>
            <a:chExt cx="3346781" cy="2704624"/>
          </a:xfrm>
        </p:grpSpPr>
        <p:graphicFrame>
          <p:nvGraphicFramePr>
            <p:cNvPr id="4194400" name="对象 3"/>
            <p:cNvGraphicFramePr>
              <a:graphicFrameLocks noChangeAspect="1"/>
            </p:cNvGraphicFramePr>
            <p:nvPr/>
          </p:nvGraphicFramePr>
          <p:xfrm>
            <a:off x="107504" y="1283518"/>
            <a:ext cx="3346781" cy="2510086"/>
          </p:xfrm>
          <a:graphic>
            <a:graphicData uri="http://schemas.openxmlformats.org/presentationml/2006/ole">
              <mc:AlternateContent xmlns:mc="http://schemas.openxmlformats.org/markup-compatibility/2006">
                <mc:Choice xmlns:v="urn:schemas-microsoft-com:vml" Requires="v">
                  <p:oleObj spid="_x0000_s6047772" name="位图图像" r:id="rId4" imgW="5334745" imgH="4001058" progId="PBrush">
                    <p:embed/>
                  </p:oleObj>
                </mc:Choice>
                <mc:Fallback>
                  <p:oleObj name="位图图像" r:id="rId4" imgW="5334745" imgH="4001058" progId="PBrush">
                    <p:embed/>
                    <p:pic>
                      <p:nvPicPr>
                        <p:cNvPr id="0" name=""/>
                        <p:cNvPicPr>
                          <a:picLocks noChangeAspect="1" noChangeArrowheads="1"/>
                        </p:cNvPicPr>
                        <p:nvPr/>
                      </p:nvPicPr>
                      <p:blipFill>
                        <a:blip r:embed="rId5"/>
                        <a:srcRect/>
                        <a:stretch>
                          <a:fillRect/>
                        </a:stretch>
                      </p:blipFill>
                      <p:spPr bwMode="auto">
                        <a:xfrm>
                          <a:off x="107504" y="1283518"/>
                          <a:ext cx="3346781" cy="2510086"/>
                        </a:xfrm>
                        <a:prstGeom prst="rect">
                          <a:avLst/>
                        </a:prstGeom>
                        <a:noFill/>
                        <a:ln w="76200" cmpd="tri">
                          <a:noFill/>
                          <a:miter lim="800000"/>
                          <a:headEnd/>
                          <a:tailEnd type="none" w="sm" len="lg"/>
                        </a:ln>
                        <a:effectLst/>
                      </p:spPr>
                    </p:pic>
                  </p:oleObj>
                </mc:Fallback>
              </mc:AlternateContent>
            </a:graphicData>
          </a:graphic>
        </p:graphicFrame>
        <p:sp>
          <p:nvSpPr>
            <p:cNvPr id="1049667" name="Text Box 3"/>
            <p:cNvSpPr txBox="1">
              <a:spLocks noChangeArrowheads="1"/>
            </p:cNvSpPr>
            <p:nvPr/>
          </p:nvSpPr>
          <p:spPr bwMode="auto">
            <a:xfrm>
              <a:off x="1049763" y="3649588"/>
              <a:ext cx="1324402" cy="338554"/>
            </a:xfrm>
            <a:prstGeom prst="rect">
              <a:avLst/>
            </a:prstGeom>
            <a:solidFill>
              <a:schemeClr val="bg1"/>
            </a:solid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1600" b="0" i="0" u="none" strike="noStrike" kern="0" cap="none" spc="0" normalizeH="0" baseline="0" noProof="0" dirty="0" smtClean="0">
                  <a:ln>
                    <a:noFill/>
                  </a:ln>
                  <a:solidFill>
                    <a:srgbClr val="0000FF"/>
                  </a:solidFill>
                  <a:effectLst/>
                  <a:uLnTx/>
                  <a:uFillTx/>
                  <a:latin typeface="Arial" charset="0"/>
                  <a:ea typeface="黑体" pitchFamily="49" charset="-122"/>
                </a:rPr>
                <a:t>4</a:t>
              </a:r>
              <a:r>
                <a:rPr kumimoji="1" lang="zh-CN" altLang="en-US" sz="1600" b="0" i="0" u="none" strike="noStrike" kern="0" cap="none" spc="0" normalizeH="0" baseline="0" noProof="0" dirty="0" smtClean="0">
                  <a:ln>
                    <a:noFill/>
                  </a:ln>
                  <a:solidFill>
                    <a:srgbClr val="0000FF"/>
                  </a:solidFill>
                  <a:effectLst/>
                  <a:uLnTx/>
                  <a:uFillTx/>
                  <a:latin typeface="Arial" charset="0"/>
                  <a:ea typeface="黑体" pitchFamily="49" charset="-122"/>
                </a:rPr>
                <a:t>）浸油润滑</a:t>
              </a:r>
            </a:p>
          </p:txBody>
        </p:sp>
      </p:grpSp>
      <p:grpSp>
        <p:nvGrpSpPr>
          <p:cNvPr id="580" name="组合 48"/>
          <p:cNvGrpSpPr/>
          <p:nvPr/>
        </p:nvGrpSpPr>
        <p:grpSpPr>
          <a:xfrm>
            <a:off x="4932040" y="522897"/>
            <a:ext cx="3136900" cy="2385125"/>
            <a:chOff x="3347864" y="1571079"/>
            <a:chExt cx="3136900" cy="2385125"/>
          </a:xfrm>
        </p:grpSpPr>
        <p:grpSp>
          <p:nvGrpSpPr>
            <p:cNvPr id="581" name="Group 104"/>
            <p:cNvGrpSpPr/>
            <p:nvPr/>
          </p:nvGrpSpPr>
          <p:grpSpPr bwMode="auto">
            <a:xfrm>
              <a:off x="3752677" y="1883816"/>
              <a:ext cx="1652587" cy="1200150"/>
              <a:chOff x="4039" y="3163"/>
              <a:chExt cx="1041" cy="756"/>
            </a:xfrm>
          </p:grpSpPr>
          <p:sp>
            <p:nvSpPr>
              <p:cNvPr id="1049668" name="Oval 105"/>
              <p:cNvSpPr>
                <a:spLocks noChangeArrowheads="1"/>
              </p:cNvSpPr>
              <p:nvPr/>
            </p:nvSpPr>
            <p:spPr bwMode="auto">
              <a:xfrm>
                <a:off x="4039" y="3455"/>
                <a:ext cx="464" cy="464"/>
              </a:xfrm>
              <a:prstGeom prst="ellipse">
                <a:avLst/>
              </a:prstGeom>
              <a:noFill/>
              <a:ln w="25400">
                <a:solidFill>
                  <a:srgbClr val="CC0000"/>
                </a:solidFill>
                <a:round/>
                <a:headEnd/>
                <a:tailEnd type="none" w="sm" len="lg"/>
              </a:ln>
              <a:effectLst/>
            </p:spPr>
            <p:txBody>
              <a:bodyPr wrap="none" anchor="ctr"/>
              <a:lstStyle/>
              <a:p>
                <a:endParaRPr lang="zh-CN" altLang="en-US"/>
              </a:p>
            </p:txBody>
          </p:sp>
          <p:grpSp>
            <p:nvGrpSpPr>
              <p:cNvPr id="582" name="Group 106"/>
              <p:cNvGrpSpPr/>
              <p:nvPr/>
            </p:nvGrpSpPr>
            <p:grpSpPr bwMode="auto">
              <a:xfrm>
                <a:off x="4324" y="3163"/>
                <a:ext cx="756" cy="694"/>
                <a:chOff x="1084" y="2568"/>
                <a:chExt cx="756" cy="694"/>
              </a:xfrm>
            </p:grpSpPr>
            <p:sp>
              <p:nvSpPr>
                <p:cNvPr id="1049669" name="Line 107"/>
                <p:cNvSpPr>
                  <a:spLocks noChangeShapeType="1"/>
                </p:cNvSpPr>
                <p:nvPr/>
              </p:nvSpPr>
              <p:spPr bwMode="auto">
                <a:xfrm>
                  <a:off x="1084" y="2740"/>
                  <a:ext cx="171" cy="266"/>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70" name="Line 108"/>
                <p:cNvSpPr>
                  <a:spLocks noChangeShapeType="1"/>
                </p:cNvSpPr>
                <p:nvPr/>
              </p:nvSpPr>
              <p:spPr bwMode="auto">
                <a:xfrm>
                  <a:off x="1192" y="2720"/>
                  <a:ext cx="72" cy="336"/>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71" name="Line 109"/>
                <p:cNvSpPr>
                  <a:spLocks noChangeShapeType="1"/>
                </p:cNvSpPr>
                <p:nvPr/>
              </p:nvSpPr>
              <p:spPr bwMode="auto">
                <a:xfrm flipH="1">
                  <a:off x="1268" y="2700"/>
                  <a:ext cx="8" cy="394"/>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72" name="Line 110"/>
                <p:cNvSpPr>
                  <a:spLocks noChangeShapeType="1"/>
                </p:cNvSpPr>
                <p:nvPr/>
              </p:nvSpPr>
              <p:spPr bwMode="auto">
                <a:xfrm flipH="1">
                  <a:off x="1265" y="2672"/>
                  <a:ext cx="115" cy="460"/>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73" name="Line 111"/>
                <p:cNvSpPr>
                  <a:spLocks noChangeShapeType="1"/>
                </p:cNvSpPr>
                <p:nvPr/>
              </p:nvSpPr>
              <p:spPr bwMode="auto">
                <a:xfrm flipH="1">
                  <a:off x="1258" y="2648"/>
                  <a:ext cx="206" cy="508"/>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74" name="Line 112"/>
                <p:cNvSpPr>
                  <a:spLocks noChangeShapeType="1"/>
                </p:cNvSpPr>
                <p:nvPr/>
              </p:nvSpPr>
              <p:spPr bwMode="auto">
                <a:xfrm flipH="1">
                  <a:off x="1243" y="2628"/>
                  <a:ext cx="325" cy="564"/>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75" name="Line 113"/>
                <p:cNvSpPr>
                  <a:spLocks noChangeShapeType="1"/>
                </p:cNvSpPr>
                <p:nvPr/>
              </p:nvSpPr>
              <p:spPr bwMode="auto">
                <a:xfrm flipH="1">
                  <a:off x="1284" y="2608"/>
                  <a:ext cx="388" cy="500"/>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76" name="Line 114"/>
                <p:cNvSpPr>
                  <a:spLocks noChangeShapeType="1"/>
                </p:cNvSpPr>
                <p:nvPr/>
              </p:nvSpPr>
              <p:spPr bwMode="auto">
                <a:xfrm flipH="1">
                  <a:off x="1236" y="2576"/>
                  <a:ext cx="520" cy="632"/>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77" name="Line 115"/>
                <p:cNvSpPr>
                  <a:spLocks noChangeShapeType="1"/>
                </p:cNvSpPr>
                <p:nvPr/>
              </p:nvSpPr>
              <p:spPr bwMode="auto">
                <a:xfrm flipH="1">
                  <a:off x="1195" y="2568"/>
                  <a:ext cx="645" cy="694"/>
                </a:xfrm>
                <a:prstGeom prst="line">
                  <a:avLst/>
                </a:prstGeom>
                <a:noFill/>
                <a:ln w="12700">
                  <a:solidFill>
                    <a:srgbClr val="00FF00"/>
                  </a:solidFill>
                  <a:prstDash val="lgDash"/>
                  <a:round/>
                  <a:headEnd/>
                  <a:tailEnd type="none" w="sm" len="lg"/>
                </a:ln>
                <a:effectLst/>
              </p:spPr>
              <p:txBody>
                <a:bodyPr/>
                <a:lstStyle/>
                <a:p>
                  <a:endParaRPr lang="zh-CN" altLang="en-US"/>
                </a:p>
              </p:txBody>
            </p:sp>
          </p:grpSp>
        </p:grpSp>
        <p:sp>
          <p:nvSpPr>
            <p:cNvPr id="1049678" name="AutoShape 116"/>
            <p:cNvSpPr>
              <a:spLocks noChangeArrowheads="1"/>
            </p:cNvSpPr>
            <p:nvPr/>
          </p:nvSpPr>
          <p:spPr bwMode="auto">
            <a:xfrm>
              <a:off x="5184602" y="3155404"/>
              <a:ext cx="1139825" cy="360362"/>
            </a:xfrm>
            <a:prstGeom prst="wedgeRoundRectCallout">
              <a:avLst>
                <a:gd name="adj1" fmla="val -119361"/>
                <a:gd name="adj2" fmla="val -109032"/>
                <a:gd name="adj3" fmla="val 16667"/>
              </a:avLst>
            </a:prstGeom>
            <a:solidFill>
              <a:srgbClr val="FFFF00"/>
            </a:solidFill>
            <a:ln w="9525">
              <a:solidFill>
                <a:srgbClr val="CC0000"/>
              </a:solidFill>
              <a:miter lim="800000"/>
              <a:headEnd/>
              <a:tailEnd/>
            </a:ln>
            <a:effectLst/>
          </p:spPr>
          <p:txBody>
            <a:bodyPr lIns="0" tIns="0" rIns="0" bIns="0"/>
            <a:lstStyle/>
            <a:p>
              <a:pPr algn="ctr"/>
              <a:r>
                <a:rPr lang="zh-CN" altLang="en-US" sz="1800" b="1">
                  <a:solidFill>
                    <a:srgbClr val="0000FF"/>
                  </a:solidFill>
                  <a:ea typeface="宋体" pitchFamily="2" charset="-122"/>
                </a:rPr>
                <a:t>甩油环</a:t>
              </a:r>
            </a:p>
          </p:txBody>
        </p:sp>
        <p:grpSp>
          <p:nvGrpSpPr>
            <p:cNvPr id="583" name="Group 117"/>
            <p:cNvGrpSpPr/>
            <p:nvPr/>
          </p:nvGrpSpPr>
          <p:grpSpPr bwMode="auto">
            <a:xfrm>
              <a:off x="3347864" y="1571079"/>
              <a:ext cx="3136900" cy="1828800"/>
              <a:chOff x="3784" y="2952"/>
              <a:chExt cx="1976" cy="1152"/>
            </a:xfrm>
          </p:grpSpPr>
          <p:grpSp>
            <p:nvGrpSpPr>
              <p:cNvPr id="584" name="Group 118"/>
              <p:cNvGrpSpPr/>
              <p:nvPr/>
            </p:nvGrpSpPr>
            <p:grpSpPr bwMode="auto">
              <a:xfrm>
                <a:off x="3894" y="3087"/>
                <a:ext cx="1795" cy="922"/>
                <a:chOff x="702" y="2492"/>
                <a:chExt cx="1795" cy="922"/>
              </a:xfrm>
            </p:grpSpPr>
            <p:sp>
              <p:nvSpPr>
                <p:cNvPr id="1049679" name="Line 119"/>
                <p:cNvSpPr>
                  <a:spLocks noChangeShapeType="1"/>
                </p:cNvSpPr>
                <p:nvPr/>
              </p:nvSpPr>
              <p:spPr bwMode="auto">
                <a:xfrm flipH="1">
                  <a:off x="1000" y="2500"/>
                  <a:ext cx="1084" cy="252"/>
                </a:xfrm>
                <a:prstGeom prst="line">
                  <a:avLst/>
                </a:prstGeom>
                <a:noFill/>
                <a:ln w="28575">
                  <a:solidFill>
                    <a:srgbClr val="66FF33"/>
                  </a:solidFill>
                  <a:round/>
                  <a:headEnd/>
                  <a:tailEnd type="none" w="sm" len="lg"/>
                </a:ln>
                <a:effectLst/>
              </p:spPr>
              <p:txBody>
                <a:bodyPr/>
                <a:lstStyle/>
                <a:p>
                  <a:endParaRPr lang="zh-CN" altLang="en-US"/>
                </a:p>
              </p:txBody>
            </p:sp>
            <p:sp>
              <p:nvSpPr>
                <p:cNvPr id="1049680" name="Freeform 120"/>
                <p:cNvSpPr/>
                <p:nvPr/>
              </p:nvSpPr>
              <p:spPr bwMode="auto">
                <a:xfrm>
                  <a:off x="702" y="2492"/>
                  <a:ext cx="1795" cy="922"/>
                </a:xfrm>
                <a:custGeom>
                  <a:avLst/>
                  <a:gdLst>
                    <a:gd name="T0" fmla="*/ 294 w 1795"/>
                    <a:gd name="T1" fmla="*/ 264 h 922"/>
                    <a:gd name="T2" fmla="*/ 198 w 1795"/>
                    <a:gd name="T3" fmla="*/ 288 h 922"/>
                    <a:gd name="T4" fmla="*/ 114 w 1795"/>
                    <a:gd name="T5" fmla="*/ 344 h 922"/>
                    <a:gd name="T6" fmla="*/ 34 w 1795"/>
                    <a:gd name="T7" fmla="*/ 452 h 922"/>
                    <a:gd name="T8" fmla="*/ 2 w 1795"/>
                    <a:gd name="T9" fmla="*/ 568 h 922"/>
                    <a:gd name="T10" fmla="*/ 22 w 1795"/>
                    <a:gd name="T11" fmla="*/ 720 h 922"/>
                    <a:gd name="T12" fmla="*/ 106 w 1795"/>
                    <a:gd name="T13" fmla="*/ 852 h 922"/>
                    <a:gd name="T14" fmla="*/ 319 w 1795"/>
                    <a:gd name="T15" fmla="*/ 922 h 922"/>
                    <a:gd name="T16" fmla="*/ 719 w 1795"/>
                    <a:gd name="T17" fmla="*/ 855 h 922"/>
                    <a:gd name="T18" fmla="*/ 1397 w 1795"/>
                    <a:gd name="T19" fmla="*/ 721 h 922"/>
                    <a:gd name="T20" fmla="*/ 1557 w 1795"/>
                    <a:gd name="T21" fmla="*/ 676 h 922"/>
                    <a:gd name="T22" fmla="*/ 1656 w 1795"/>
                    <a:gd name="T23" fmla="*/ 622 h 922"/>
                    <a:gd name="T24" fmla="*/ 1727 w 1795"/>
                    <a:gd name="T25" fmla="*/ 548 h 922"/>
                    <a:gd name="T26" fmla="*/ 1774 w 1795"/>
                    <a:gd name="T27" fmla="*/ 452 h 922"/>
                    <a:gd name="T28" fmla="*/ 1790 w 1795"/>
                    <a:gd name="T29" fmla="*/ 312 h 922"/>
                    <a:gd name="T30" fmla="*/ 1743 w 1795"/>
                    <a:gd name="T31" fmla="*/ 177 h 922"/>
                    <a:gd name="T32" fmla="*/ 1662 w 1795"/>
                    <a:gd name="T33" fmla="*/ 68 h 922"/>
                    <a:gd name="T34" fmla="*/ 1557 w 1795"/>
                    <a:gd name="T35" fmla="*/ 17 h 922"/>
                    <a:gd name="T36" fmla="*/ 1438 w 1795"/>
                    <a:gd name="T37" fmla="*/ 0 h 922"/>
                    <a:gd name="T38" fmla="*/ 1311 w 1795"/>
                    <a:gd name="T39" fmla="*/ 2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95" h="922">
                      <a:moveTo>
                        <a:pt x="294" y="264"/>
                      </a:moveTo>
                      <a:cubicBezTo>
                        <a:pt x="261" y="269"/>
                        <a:pt x="228" y="275"/>
                        <a:pt x="198" y="288"/>
                      </a:cubicBezTo>
                      <a:cubicBezTo>
                        <a:pt x="168" y="301"/>
                        <a:pt x="141" y="317"/>
                        <a:pt x="114" y="344"/>
                      </a:cubicBezTo>
                      <a:cubicBezTo>
                        <a:pt x="87" y="371"/>
                        <a:pt x="53" y="415"/>
                        <a:pt x="34" y="452"/>
                      </a:cubicBezTo>
                      <a:cubicBezTo>
                        <a:pt x="15" y="489"/>
                        <a:pt x="4" y="523"/>
                        <a:pt x="2" y="568"/>
                      </a:cubicBezTo>
                      <a:cubicBezTo>
                        <a:pt x="0" y="613"/>
                        <a:pt x="5" y="673"/>
                        <a:pt x="22" y="720"/>
                      </a:cubicBezTo>
                      <a:cubicBezTo>
                        <a:pt x="39" y="767"/>
                        <a:pt x="56" y="818"/>
                        <a:pt x="106" y="852"/>
                      </a:cubicBezTo>
                      <a:cubicBezTo>
                        <a:pt x="156" y="886"/>
                        <a:pt x="217" y="922"/>
                        <a:pt x="319" y="922"/>
                      </a:cubicBezTo>
                      <a:cubicBezTo>
                        <a:pt x="421" y="922"/>
                        <a:pt x="539" y="888"/>
                        <a:pt x="719" y="855"/>
                      </a:cubicBezTo>
                      <a:cubicBezTo>
                        <a:pt x="899" y="822"/>
                        <a:pt x="1258" y="751"/>
                        <a:pt x="1397" y="721"/>
                      </a:cubicBezTo>
                      <a:cubicBezTo>
                        <a:pt x="1536" y="691"/>
                        <a:pt x="1514" y="692"/>
                        <a:pt x="1557" y="676"/>
                      </a:cubicBezTo>
                      <a:cubicBezTo>
                        <a:pt x="1600" y="660"/>
                        <a:pt x="1628" y="643"/>
                        <a:pt x="1656" y="622"/>
                      </a:cubicBezTo>
                      <a:cubicBezTo>
                        <a:pt x="1684" y="601"/>
                        <a:pt x="1707" y="576"/>
                        <a:pt x="1727" y="548"/>
                      </a:cubicBezTo>
                      <a:cubicBezTo>
                        <a:pt x="1747" y="520"/>
                        <a:pt x="1764" y="491"/>
                        <a:pt x="1774" y="452"/>
                      </a:cubicBezTo>
                      <a:cubicBezTo>
                        <a:pt x="1784" y="413"/>
                        <a:pt x="1795" y="358"/>
                        <a:pt x="1790" y="312"/>
                      </a:cubicBezTo>
                      <a:cubicBezTo>
                        <a:pt x="1785" y="266"/>
                        <a:pt x="1764" y="218"/>
                        <a:pt x="1743" y="177"/>
                      </a:cubicBezTo>
                      <a:cubicBezTo>
                        <a:pt x="1722" y="136"/>
                        <a:pt x="1693" y="95"/>
                        <a:pt x="1662" y="68"/>
                      </a:cubicBezTo>
                      <a:cubicBezTo>
                        <a:pt x="1631" y="41"/>
                        <a:pt x="1594" y="28"/>
                        <a:pt x="1557" y="17"/>
                      </a:cubicBezTo>
                      <a:cubicBezTo>
                        <a:pt x="1520" y="6"/>
                        <a:pt x="1479" y="0"/>
                        <a:pt x="1438" y="0"/>
                      </a:cubicBezTo>
                      <a:cubicBezTo>
                        <a:pt x="1397" y="0"/>
                        <a:pt x="1337" y="16"/>
                        <a:pt x="1311" y="20"/>
                      </a:cubicBezTo>
                    </a:path>
                  </a:pathLst>
                </a:custGeom>
                <a:noFill/>
                <a:ln w="28575" cap="flat" cmpd="sng">
                  <a:solidFill>
                    <a:srgbClr val="66FF33"/>
                  </a:solidFill>
                  <a:prstDash val="solid"/>
                  <a:round/>
                  <a:headEnd type="none" w="med" len="med"/>
                  <a:tailEnd type="none" w="sm" len="lg"/>
                </a:ln>
                <a:effectLst/>
              </p:spPr>
              <p:txBody>
                <a:bodyPr/>
                <a:lstStyle/>
                <a:p>
                  <a:endParaRPr lang="zh-CN" altLang="en-US"/>
                </a:p>
              </p:txBody>
            </p:sp>
          </p:grpSp>
          <p:grpSp>
            <p:nvGrpSpPr>
              <p:cNvPr id="585" name="Group 121"/>
              <p:cNvGrpSpPr/>
              <p:nvPr/>
            </p:nvGrpSpPr>
            <p:grpSpPr bwMode="auto">
              <a:xfrm>
                <a:off x="3984" y="3879"/>
                <a:ext cx="752" cy="100"/>
                <a:chOff x="792" y="3284"/>
                <a:chExt cx="752" cy="100"/>
              </a:xfrm>
            </p:grpSpPr>
            <p:sp>
              <p:nvSpPr>
                <p:cNvPr id="1049681" name="Line 122"/>
                <p:cNvSpPr>
                  <a:spLocks noChangeShapeType="1"/>
                </p:cNvSpPr>
                <p:nvPr/>
              </p:nvSpPr>
              <p:spPr bwMode="auto">
                <a:xfrm>
                  <a:off x="792" y="3284"/>
                  <a:ext cx="108" cy="4"/>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82" name="Line 123"/>
                <p:cNvSpPr>
                  <a:spLocks noChangeShapeType="1"/>
                </p:cNvSpPr>
                <p:nvPr/>
              </p:nvSpPr>
              <p:spPr bwMode="auto">
                <a:xfrm>
                  <a:off x="964" y="3296"/>
                  <a:ext cx="120" cy="0"/>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83" name="Line 124"/>
                <p:cNvSpPr>
                  <a:spLocks noChangeShapeType="1"/>
                </p:cNvSpPr>
                <p:nvPr/>
              </p:nvSpPr>
              <p:spPr bwMode="auto">
                <a:xfrm>
                  <a:off x="1136" y="3300"/>
                  <a:ext cx="408" cy="0"/>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84" name="Line 125"/>
                <p:cNvSpPr>
                  <a:spLocks noChangeShapeType="1"/>
                </p:cNvSpPr>
                <p:nvPr/>
              </p:nvSpPr>
              <p:spPr bwMode="auto">
                <a:xfrm flipV="1">
                  <a:off x="804" y="3324"/>
                  <a:ext cx="148" cy="4"/>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85" name="Line 126"/>
                <p:cNvSpPr>
                  <a:spLocks noChangeShapeType="1"/>
                </p:cNvSpPr>
                <p:nvPr/>
              </p:nvSpPr>
              <p:spPr bwMode="auto">
                <a:xfrm flipV="1">
                  <a:off x="1108" y="3324"/>
                  <a:ext cx="368" cy="8"/>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86" name="Line 127"/>
                <p:cNvSpPr>
                  <a:spLocks noChangeShapeType="1"/>
                </p:cNvSpPr>
                <p:nvPr/>
              </p:nvSpPr>
              <p:spPr bwMode="auto">
                <a:xfrm flipV="1">
                  <a:off x="880" y="3352"/>
                  <a:ext cx="420" cy="8"/>
                </a:xfrm>
                <a:prstGeom prst="line">
                  <a:avLst/>
                </a:prstGeom>
                <a:noFill/>
                <a:ln w="12700">
                  <a:solidFill>
                    <a:srgbClr val="00FF00"/>
                  </a:solidFill>
                  <a:prstDash val="lgDash"/>
                  <a:round/>
                  <a:headEnd/>
                  <a:tailEnd type="none" w="sm" len="lg"/>
                </a:ln>
                <a:effectLst/>
              </p:spPr>
              <p:txBody>
                <a:bodyPr/>
                <a:lstStyle/>
                <a:p>
                  <a:endParaRPr lang="zh-CN" altLang="en-US"/>
                </a:p>
              </p:txBody>
            </p:sp>
            <p:sp>
              <p:nvSpPr>
                <p:cNvPr id="1049687" name="Line 128"/>
                <p:cNvSpPr>
                  <a:spLocks noChangeShapeType="1"/>
                </p:cNvSpPr>
                <p:nvPr/>
              </p:nvSpPr>
              <p:spPr bwMode="auto">
                <a:xfrm flipV="1">
                  <a:off x="900" y="3380"/>
                  <a:ext cx="240" cy="4"/>
                </a:xfrm>
                <a:prstGeom prst="line">
                  <a:avLst/>
                </a:prstGeom>
                <a:noFill/>
                <a:ln w="12700">
                  <a:solidFill>
                    <a:srgbClr val="00FF00"/>
                  </a:solidFill>
                  <a:prstDash val="lgDash"/>
                  <a:round/>
                  <a:headEnd/>
                  <a:tailEnd type="none" w="sm" len="lg"/>
                </a:ln>
                <a:effectLst/>
              </p:spPr>
              <p:txBody>
                <a:bodyPr/>
                <a:lstStyle/>
                <a:p>
                  <a:endParaRPr lang="zh-CN" altLang="en-US"/>
                </a:p>
              </p:txBody>
            </p:sp>
          </p:grpSp>
          <p:sp>
            <p:nvSpPr>
              <p:cNvPr id="1049688" name="Line 129"/>
              <p:cNvSpPr>
                <a:spLocks noChangeShapeType="1"/>
              </p:cNvSpPr>
              <p:nvPr/>
            </p:nvSpPr>
            <p:spPr bwMode="auto">
              <a:xfrm flipV="1">
                <a:off x="4155" y="3198"/>
                <a:ext cx="1153" cy="328"/>
              </a:xfrm>
              <a:prstGeom prst="line">
                <a:avLst/>
              </a:prstGeom>
              <a:noFill/>
              <a:ln w="25400">
                <a:solidFill>
                  <a:srgbClr val="FFFFFF"/>
                </a:solidFill>
                <a:round/>
                <a:headEnd/>
                <a:tailEnd type="none" w="sm" len="lg"/>
              </a:ln>
              <a:effectLst/>
            </p:spPr>
            <p:txBody>
              <a:bodyPr/>
              <a:lstStyle/>
              <a:p>
                <a:endParaRPr lang="zh-CN" altLang="en-US"/>
              </a:p>
            </p:txBody>
          </p:sp>
          <p:sp>
            <p:nvSpPr>
              <p:cNvPr id="1049689" name="Freeform 130"/>
              <p:cNvSpPr/>
              <p:nvPr/>
            </p:nvSpPr>
            <p:spPr bwMode="auto">
              <a:xfrm>
                <a:off x="4236" y="3679"/>
                <a:ext cx="1156" cy="197"/>
              </a:xfrm>
              <a:custGeom>
                <a:avLst/>
                <a:gdLst>
                  <a:gd name="T0" fmla="*/ 0 w 1156"/>
                  <a:gd name="T1" fmla="*/ 168 h 197"/>
                  <a:gd name="T2" fmla="*/ 132 w 1156"/>
                  <a:gd name="T3" fmla="*/ 188 h 197"/>
                  <a:gd name="T4" fmla="*/ 268 w 1156"/>
                  <a:gd name="T5" fmla="*/ 196 h 197"/>
                  <a:gd name="T6" fmla="*/ 432 w 1156"/>
                  <a:gd name="T7" fmla="*/ 180 h 197"/>
                  <a:gd name="T8" fmla="*/ 756 w 1156"/>
                  <a:gd name="T9" fmla="*/ 124 h 197"/>
                  <a:gd name="T10" fmla="*/ 1156 w 1156"/>
                  <a:gd name="T11" fmla="*/ 0 h 197"/>
                </a:gdLst>
                <a:ahLst/>
                <a:cxnLst>
                  <a:cxn ang="0">
                    <a:pos x="T0" y="T1"/>
                  </a:cxn>
                  <a:cxn ang="0">
                    <a:pos x="T2" y="T3"/>
                  </a:cxn>
                  <a:cxn ang="0">
                    <a:pos x="T4" y="T5"/>
                  </a:cxn>
                  <a:cxn ang="0">
                    <a:pos x="T6" y="T7"/>
                  </a:cxn>
                  <a:cxn ang="0">
                    <a:pos x="T8" y="T9"/>
                  </a:cxn>
                  <a:cxn ang="0">
                    <a:pos x="T10" y="T11"/>
                  </a:cxn>
                </a:cxnLst>
                <a:rect l="0" t="0" r="r" b="b"/>
                <a:pathLst>
                  <a:path w="1156" h="197">
                    <a:moveTo>
                      <a:pt x="0" y="168"/>
                    </a:moveTo>
                    <a:cubicBezTo>
                      <a:pt x="43" y="175"/>
                      <a:pt x="87" y="183"/>
                      <a:pt x="132" y="188"/>
                    </a:cubicBezTo>
                    <a:cubicBezTo>
                      <a:pt x="177" y="193"/>
                      <a:pt x="218" y="197"/>
                      <a:pt x="268" y="196"/>
                    </a:cubicBezTo>
                    <a:cubicBezTo>
                      <a:pt x="318" y="195"/>
                      <a:pt x="351" y="192"/>
                      <a:pt x="432" y="180"/>
                    </a:cubicBezTo>
                    <a:cubicBezTo>
                      <a:pt x="513" y="168"/>
                      <a:pt x="635" y="154"/>
                      <a:pt x="756" y="124"/>
                    </a:cubicBezTo>
                    <a:cubicBezTo>
                      <a:pt x="877" y="94"/>
                      <a:pt x="1016" y="47"/>
                      <a:pt x="1156" y="0"/>
                    </a:cubicBezTo>
                  </a:path>
                </a:pathLst>
              </a:custGeom>
              <a:noFill/>
              <a:ln w="25400" cap="flat" cmpd="sng">
                <a:solidFill>
                  <a:srgbClr val="FFFFFF"/>
                </a:solidFill>
                <a:prstDash val="solid"/>
                <a:round/>
                <a:headEnd type="none" w="med" len="med"/>
                <a:tailEnd type="none" w="sm" len="lg"/>
              </a:ln>
              <a:effectLst/>
            </p:spPr>
            <p:txBody>
              <a:bodyPr/>
              <a:lstStyle/>
              <a:p>
                <a:endParaRPr lang="zh-CN" altLang="en-US"/>
              </a:p>
            </p:txBody>
          </p:sp>
          <p:grpSp>
            <p:nvGrpSpPr>
              <p:cNvPr id="586" name="Group 131"/>
              <p:cNvGrpSpPr/>
              <p:nvPr/>
            </p:nvGrpSpPr>
            <p:grpSpPr bwMode="auto">
              <a:xfrm>
                <a:off x="4065" y="3195"/>
                <a:ext cx="1519" cy="652"/>
                <a:chOff x="4113" y="3195"/>
                <a:chExt cx="1519" cy="652"/>
              </a:xfrm>
            </p:grpSpPr>
            <p:sp>
              <p:nvSpPr>
                <p:cNvPr id="1049690" name="Oval 132"/>
                <p:cNvSpPr>
                  <a:spLocks noChangeArrowheads="1"/>
                </p:cNvSpPr>
                <p:nvPr/>
              </p:nvSpPr>
              <p:spPr bwMode="auto">
                <a:xfrm>
                  <a:off x="5320" y="3363"/>
                  <a:ext cx="140" cy="140"/>
                </a:xfrm>
                <a:prstGeom prst="ellipse">
                  <a:avLst/>
                </a:prstGeom>
                <a:noFill/>
                <a:ln w="25400">
                  <a:solidFill>
                    <a:srgbClr val="0000FF"/>
                  </a:solidFill>
                  <a:round/>
                  <a:headEnd/>
                  <a:tailEnd type="none" w="sm" len="lg"/>
                </a:ln>
                <a:effectLst/>
              </p:spPr>
              <p:txBody>
                <a:bodyPr wrap="none" anchor="ctr"/>
                <a:lstStyle/>
                <a:p>
                  <a:endParaRPr lang="zh-CN" altLang="en-US"/>
                </a:p>
              </p:txBody>
            </p:sp>
            <p:sp>
              <p:nvSpPr>
                <p:cNvPr id="1049691" name="Oval 133"/>
                <p:cNvSpPr>
                  <a:spLocks noChangeArrowheads="1"/>
                </p:cNvSpPr>
                <p:nvPr/>
              </p:nvSpPr>
              <p:spPr bwMode="auto">
                <a:xfrm>
                  <a:off x="4113" y="3515"/>
                  <a:ext cx="312" cy="332"/>
                </a:xfrm>
                <a:prstGeom prst="ellipse">
                  <a:avLst/>
                </a:prstGeom>
                <a:noFill/>
                <a:ln w="25400">
                  <a:solidFill>
                    <a:srgbClr val="0000FF"/>
                  </a:solidFill>
                  <a:round/>
                  <a:headEnd/>
                  <a:tailEnd type="none" w="sm" len="lg"/>
                </a:ln>
                <a:effectLst/>
              </p:spPr>
              <p:txBody>
                <a:bodyPr wrap="none" anchor="ctr"/>
                <a:lstStyle/>
                <a:p>
                  <a:endParaRPr lang="zh-CN" altLang="en-US"/>
                </a:p>
              </p:txBody>
            </p:sp>
            <p:sp>
              <p:nvSpPr>
                <p:cNvPr id="1049692" name="Oval 134"/>
                <p:cNvSpPr>
                  <a:spLocks noChangeArrowheads="1"/>
                </p:cNvSpPr>
                <p:nvPr/>
              </p:nvSpPr>
              <p:spPr bwMode="auto">
                <a:xfrm>
                  <a:off x="5152" y="3195"/>
                  <a:ext cx="480" cy="484"/>
                </a:xfrm>
                <a:prstGeom prst="ellipse">
                  <a:avLst/>
                </a:prstGeom>
                <a:noFill/>
                <a:ln w="25400">
                  <a:solidFill>
                    <a:srgbClr val="0000FF"/>
                  </a:solidFill>
                  <a:round/>
                  <a:headEnd/>
                  <a:tailEnd type="none" w="sm" len="lg"/>
                </a:ln>
                <a:effectLst/>
              </p:spPr>
              <p:txBody>
                <a:bodyPr wrap="none" anchor="ctr"/>
                <a:lstStyle/>
                <a:p>
                  <a:endParaRPr lang="zh-CN" altLang="en-US"/>
                </a:p>
              </p:txBody>
            </p:sp>
            <p:sp>
              <p:nvSpPr>
                <p:cNvPr id="1049693" name="Oval 135"/>
                <p:cNvSpPr>
                  <a:spLocks noChangeArrowheads="1"/>
                </p:cNvSpPr>
                <p:nvPr/>
              </p:nvSpPr>
              <p:spPr bwMode="auto">
                <a:xfrm>
                  <a:off x="4136" y="3619"/>
                  <a:ext cx="198" cy="132"/>
                </a:xfrm>
                <a:prstGeom prst="ellipse">
                  <a:avLst/>
                </a:prstGeom>
                <a:noFill/>
                <a:ln w="25400">
                  <a:solidFill>
                    <a:srgbClr val="0000FF"/>
                  </a:solidFill>
                  <a:round/>
                  <a:headEnd/>
                  <a:tailEnd type="none" w="sm" len="lg"/>
                </a:ln>
                <a:effectLst/>
              </p:spPr>
              <p:txBody>
                <a:bodyPr wrap="none" anchor="ctr"/>
                <a:lstStyle/>
                <a:p>
                  <a:endParaRPr lang="zh-CN" altLang="en-US"/>
                </a:p>
              </p:txBody>
            </p:sp>
            <p:sp>
              <p:nvSpPr>
                <p:cNvPr id="1049694" name="Oval 136"/>
                <p:cNvSpPr>
                  <a:spLocks noChangeArrowheads="1"/>
                </p:cNvSpPr>
                <p:nvPr/>
              </p:nvSpPr>
              <p:spPr bwMode="auto">
                <a:xfrm>
                  <a:off x="4220" y="3631"/>
                  <a:ext cx="104" cy="104"/>
                </a:xfrm>
                <a:prstGeom prst="ellipse">
                  <a:avLst/>
                </a:prstGeom>
                <a:noFill/>
                <a:ln w="25400">
                  <a:solidFill>
                    <a:srgbClr val="0000FF"/>
                  </a:solidFill>
                  <a:round/>
                  <a:headEnd/>
                  <a:tailEnd type="none" w="sm" len="lg"/>
                </a:ln>
                <a:effectLst/>
              </p:spPr>
              <p:txBody>
                <a:bodyPr wrap="none" anchor="ctr"/>
                <a:lstStyle/>
                <a:p>
                  <a:endParaRPr lang="zh-CN" altLang="en-US"/>
                </a:p>
              </p:txBody>
            </p:sp>
          </p:grpSp>
          <p:sp>
            <p:nvSpPr>
              <p:cNvPr id="1049695" name="Line 137"/>
              <p:cNvSpPr>
                <a:spLocks noChangeShapeType="1"/>
              </p:cNvSpPr>
              <p:nvPr/>
            </p:nvSpPr>
            <p:spPr bwMode="auto">
              <a:xfrm flipV="1">
                <a:off x="3784" y="3335"/>
                <a:ext cx="1976" cy="448"/>
              </a:xfrm>
              <a:prstGeom prst="line">
                <a:avLst/>
              </a:prstGeom>
              <a:noFill/>
              <a:ln w="12700">
                <a:solidFill>
                  <a:srgbClr val="FFFFFF"/>
                </a:solidFill>
                <a:prstDash val="lgDashDot"/>
                <a:round/>
                <a:headEnd/>
                <a:tailEnd type="none" w="sm" len="lg"/>
              </a:ln>
              <a:effectLst/>
            </p:spPr>
            <p:txBody>
              <a:bodyPr/>
              <a:lstStyle/>
              <a:p>
                <a:endParaRPr lang="zh-CN" altLang="en-US"/>
              </a:p>
            </p:txBody>
          </p:sp>
          <p:sp>
            <p:nvSpPr>
              <p:cNvPr id="1049696" name="Line 138"/>
              <p:cNvSpPr>
                <a:spLocks noChangeShapeType="1"/>
              </p:cNvSpPr>
              <p:nvPr/>
            </p:nvSpPr>
            <p:spPr bwMode="auto">
              <a:xfrm>
                <a:off x="5006" y="3435"/>
                <a:ext cx="712" cy="0"/>
              </a:xfrm>
              <a:prstGeom prst="line">
                <a:avLst/>
              </a:prstGeom>
              <a:noFill/>
              <a:ln w="12700">
                <a:solidFill>
                  <a:srgbClr val="0000FF"/>
                </a:solidFill>
                <a:prstDash val="lgDashDot"/>
                <a:round/>
                <a:headEnd/>
                <a:tailEnd type="none" w="sm" len="lg"/>
              </a:ln>
              <a:effectLst/>
            </p:spPr>
            <p:txBody>
              <a:bodyPr/>
              <a:lstStyle/>
              <a:p>
                <a:endParaRPr lang="zh-CN" altLang="en-US"/>
              </a:p>
            </p:txBody>
          </p:sp>
          <p:sp>
            <p:nvSpPr>
              <p:cNvPr id="1049697" name="Line 139"/>
              <p:cNvSpPr>
                <a:spLocks noChangeShapeType="1"/>
              </p:cNvSpPr>
              <p:nvPr/>
            </p:nvSpPr>
            <p:spPr bwMode="auto">
              <a:xfrm>
                <a:off x="3836" y="3678"/>
                <a:ext cx="742" cy="1"/>
              </a:xfrm>
              <a:prstGeom prst="line">
                <a:avLst/>
              </a:prstGeom>
              <a:noFill/>
              <a:ln w="12700">
                <a:solidFill>
                  <a:srgbClr val="0000FF"/>
                </a:solidFill>
                <a:prstDash val="lgDashDot"/>
                <a:round/>
                <a:headEnd/>
                <a:tailEnd type="none" w="sm" len="lg"/>
              </a:ln>
              <a:effectLst/>
            </p:spPr>
            <p:txBody>
              <a:bodyPr/>
              <a:lstStyle/>
              <a:p>
                <a:endParaRPr lang="zh-CN" altLang="en-US"/>
              </a:p>
            </p:txBody>
          </p:sp>
          <p:sp>
            <p:nvSpPr>
              <p:cNvPr id="1049698" name="Line 140"/>
              <p:cNvSpPr>
                <a:spLocks noChangeShapeType="1"/>
              </p:cNvSpPr>
              <p:nvPr/>
            </p:nvSpPr>
            <p:spPr bwMode="auto">
              <a:xfrm flipV="1">
                <a:off x="4224" y="3273"/>
                <a:ext cx="1" cy="831"/>
              </a:xfrm>
              <a:prstGeom prst="line">
                <a:avLst/>
              </a:prstGeom>
              <a:noFill/>
              <a:ln w="12700">
                <a:solidFill>
                  <a:srgbClr val="0000FF"/>
                </a:solidFill>
                <a:prstDash val="lgDashDot"/>
                <a:round/>
                <a:headEnd/>
                <a:tailEnd type="none" w="sm" len="lg"/>
              </a:ln>
              <a:effectLst/>
            </p:spPr>
            <p:txBody>
              <a:bodyPr/>
              <a:lstStyle/>
              <a:p>
                <a:endParaRPr lang="zh-CN" altLang="en-US"/>
              </a:p>
            </p:txBody>
          </p:sp>
          <p:sp>
            <p:nvSpPr>
              <p:cNvPr id="1049699" name="Line 141"/>
              <p:cNvSpPr>
                <a:spLocks noChangeShapeType="1"/>
              </p:cNvSpPr>
              <p:nvPr/>
            </p:nvSpPr>
            <p:spPr bwMode="auto">
              <a:xfrm>
                <a:off x="5345" y="2952"/>
                <a:ext cx="1" cy="907"/>
              </a:xfrm>
              <a:prstGeom prst="line">
                <a:avLst/>
              </a:prstGeom>
              <a:noFill/>
              <a:ln w="12700">
                <a:solidFill>
                  <a:srgbClr val="0000FF"/>
                </a:solidFill>
                <a:prstDash val="lgDashDot"/>
                <a:round/>
                <a:headEnd/>
                <a:tailEnd type="none" w="sm" len="lg"/>
              </a:ln>
              <a:effectLst/>
            </p:spPr>
            <p:txBody>
              <a:bodyPr/>
              <a:lstStyle/>
              <a:p>
                <a:endParaRPr lang="zh-CN" altLang="en-US"/>
              </a:p>
            </p:txBody>
          </p:sp>
        </p:grpSp>
        <p:sp>
          <p:nvSpPr>
            <p:cNvPr id="1049700" name="Text Box 3"/>
            <p:cNvSpPr txBox="1">
              <a:spLocks noChangeArrowheads="1"/>
            </p:cNvSpPr>
            <p:nvPr/>
          </p:nvSpPr>
          <p:spPr bwMode="auto">
            <a:xfrm>
              <a:off x="4255710" y="3617650"/>
              <a:ext cx="1324402" cy="338554"/>
            </a:xfrm>
            <a:prstGeom prst="rect">
              <a:avLst/>
            </a:prstGeom>
            <a:solidFill>
              <a:schemeClr val="bg1"/>
            </a:solid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1600" b="0" i="0" u="none" strike="noStrike" kern="0" cap="none" spc="0" normalizeH="0" baseline="0" noProof="0" dirty="0" smtClean="0">
                  <a:ln>
                    <a:noFill/>
                  </a:ln>
                  <a:solidFill>
                    <a:srgbClr val="0000FF"/>
                  </a:solidFill>
                  <a:effectLst/>
                  <a:uLnTx/>
                  <a:uFillTx/>
                  <a:latin typeface="Arial" charset="0"/>
                  <a:ea typeface="黑体" pitchFamily="49" charset="-122"/>
                </a:rPr>
                <a:t>5</a:t>
              </a:r>
              <a:r>
                <a:rPr kumimoji="1" lang="zh-CN" altLang="en-US" sz="1600" b="0" i="0" u="none" strike="noStrike" kern="0" cap="none" spc="0" normalizeH="0" baseline="0" noProof="0" dirty="0" smtClean="0">
                  <a:ln>
                    <a:noFill/>
                  </a:ln>
                  <a:solidFill>
                    <a:srgbClr val="0000FF"/>
                  </a:solidFill>
                  <a:effectLst/>
                  <a:uLnTx/>
                  <a:uFillTx/>
                  <a:latin typeface="Arial" charset="0"/>
                  <a:ea typeface="黑体" pitchFamily="49" charset="-122"/>
                </a:rPr>
                <a:t>）飞溅润滑</a:t>
              </a:r>
            </a:p>
          </p:txBody>
        </p:sp>
      </p:grpSp>
      <p:grpSp>
        <p:nvGrpSpPr>
          <p:cNvPr id="587" name="组合 49"/>
          <p:cNvGrpSpPr/>
          <p:nvPr/>
        </p:nvGrpSpPr>
        <p:grpSpPr>
          <a:xfrm>
            <a:off x="1105100" y="3251882"/>
            <a:ext cx="2553953" cy="2341922"/>
            <a:chOff x="6660231" y="1397858"/>
            <a:chExt cx="2553953" cy="2341922"/>
          </a:xfrm>
        </p:grpSpPr>
        <p:pic>
          <p:nvPicPr>
            <p:cNvPr id="2097588" name="Picture 3" descr="CEye_0027">
              <a:hlinkClick r:id="rId6" action="ppaction://hlinkfile"/>
            </p:cNvPr>
            <p:cNvPicPr>
              <a:picLocks noChangeAspect="1" noChangeArrowheads="1"/>
            </p:cNvPicPr>
            <p:nvPr/>
          </p:nvPicPr>
          <p:blipFill rotWithShape="1">
            <a:blip r:embed="rId7">
              <a:lum bright="-30000" contrast="42000"/>
            </a:blip>
            <a:srcRect b="18788"/>
            <a:stretch>
              <a:fillRect/>
            </a:stretch>
          </p:blipFill>
          <p:spPr bwMode="auto">
            <a:xfrm>
              <a:off x="6660231" y="1397858"/>
              <a:ext cx="2553953" cy="1981882"/>
            </a:xfrm>
            <a:prstGeom prst="rect">
              <a:avLst/>
            </a:prstGeom>
            <a:noFill/>
            <a:ln w="76200" cmpd="tri">
              <a:noFill/>
              <a:miter lim="800000"/>
              <a:headEnd/>
              <a:tailEnd/>
            </a:ln>
          </p:spPr>
        </p:pic>
        <p:sp>
          <p:nvSpPr>
            <p:cNvPr id="1049701" name="Text Box 3"/>
            <p:cNvSpPr txBox="1">
              <a:spLocks noChangeArrowheads="1"/>
            </p:cNvSpPr>
            <p:nvPr/>
          </p:nvSpPr>
          <p:spPr bwMode="auto">
            <a:xfrm>
              <a:off x="7218553" y="3401226"/>
              <a:ext cx="1324402" cy="338554"/>
            </a:xfrm>
            <a:prstGeom prst="rect">
              <a:avLst/>
            </a:prstGeom>
            <a:solidFill>
              <a:schemeClr val="bg1"/>
            </a:solid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1600" b="0" i="0" u="none" strike="noStrike" kern="0" cap="none" spc="0" normalizeH="0" baseline="0" noProof="0" dirty="0" smtClean="0">
                  <a:ln>
                    <a:noFill/>
                  </a:ln>
                  <a:solidFill>
                    <a:srgbClr val="0000FF"/>
                  </a:solidFill>
                  <a:effectLst/>
                  <a:uLnTx/>
                  <a:uFillTx/>
                  <a:latin typeface="Arial" charset="0"/>
                  <a:ea typeface="黑体" pitchFamily="49" charset="-122"/>
                </a:rPr>
                <a:t>6</a:t>
              </a:r>
              <a:r>
                <a:rPr kumimoji="1" lang="zh-CN" altLang="en-US" sz="1600" b="0" i="0" u="none" strike="noStrike" kern="0" cap="none" spc="0" normalizeH="0" baseline="0" noProof="0" dirty="0" smtClean="0">
                  <a:ln>
                    <a:noFill/>
                  </a:ln>
                  <a:solidFill>
                    <a:srgbClr val="0000FF"/>
                  </a:solidFill>
                  <a:effectLst/>
                  <a:uLnTx/>
                  <a:uFillTx/>
                  <a:latin typeface="Arial" charset="0"/>
                  <a:ea typeface="黑体" pitchFamily="49" charset="-122"/>
                </a:rPr>
                <a:t>）压力润滑</a:t>
              </a:r>
            </a:p>
          </p:txBody>
        </p:sp>
      </p:grpSp>
      <p:grpSp>
        <p:nvGrpSpPr>
          <p:cNvPr id="588" name="组合 52"/>
          <p:cNvGrpSpPr/>
          <p:nvPr/>
        </p:nvGrpSpPr>
        <p:grpSpPr>
          <a:xfrm>
            <a:off x="4860032" y="2974955"/>
            <a:ext cx="3518351" cy="2690857"/>
            <a:chOff x="4860032" y="2974955"/>
            <a:chExt cx="3518351" cy="2690857"/>
          </a:xfrm>
        </p:grpSpPr>
        <p:graphicFrame>
          <p:nvGraphicFramePr>
            <p:cNvPr id="4194401" name="对象 50"/>
            <p:cNvGraphicFramePr>
              <a:graphicFrameLocks noChangeAspect="1"/>
            </p:cNvGraphicFramePr>
            <p:nvPr/>
          </p:nvGraphicFramePr>
          <p:xfrm>
            <a:off x="4860032" y="2974955"/>
            <a:ext cx="3518351" cy="2638763"/>
          </p:xfrm>
          <a:graphic>
            <a:graphicData uri="http://schemas.openxmlformats.org/presentationml/2006/ole">
              <mc:AlternateContent xmlns:mc="http://schemas.openxmlformats.org/markup-compatibility/2006">
                <mc:Choice xmlns:v="urn:schemas-microsoft-com:vml" Requires="v">
                  <p:oleObj spid="_x0000_s6047773" name="位图图像" r:id="rId8" imgW="5334745" imgH="4001058" progId="PBrush">
                    <p:embed/>
                  </p:oleObj>
                </mc:Choice>
                <mc:Fallback>
                  <p:oleObj name="位图图像" r:id="rId8" imgW="5334745" imgH="4001058" progId="PBrush">
                    <p:embed/>
                    <p:pic>
                      <p:nvPicPr>
                        <p:cNvPr id="0" name=""/>
                        <p:cNvPicPr>
                          <a:picLocks noChangeAspect="1" noChangeArrowheads="1"/>
                        </p:cNvPicPr>
                        <p:nvPr/>
                      </p:nvPicPr>
                      <p:blipFill>
                        <a:blip r:embed="rId9"/>
                        <a:srcRect/>
                        <a:stretch>
                          <a:fillRect/>
                        </a:stretch>
                      </p:blipFill>
                      <p:spPr bwMode="auto">
                        <a:xfrm>
                          <a:off x="4860032" y="2974955"/>
                          <a:ext cx="3518351" cy="2638763"/>
                        </a:xfrm>
                        <a:prstGeom prst="rect">
                          <a:avLst/>
                        </a:prstGeom>
                        <a:noFill/>
                        <a:ln w="76200" cmpd="tri">
                          <a:noFill/>
                          <a:miter lim="800000"/>
                          <a:headEnd/>
                          <a:tailEnd type="none" w="sm" len="lg"/>
                        </a:ln>
                        <a:effectLst/>
                      </p:spPr>
                    </p:pic>
                  </p:oleObj>
                </mc:Fallback>
              </mc:AlternateContent>
            </a:graphicData>
          </a:graphic>
        </p:graphicFrame>
        <p:sp>
          <p:nvSpPr>
            <p:cNvPr id="1049702" name="Text Box 3"/>
            <p:cNvSpPr txBox="1">
              <a:spLocks noChangeArrowheads="1"/>
            </p:cNvSpPr>
            <p:nvPr/>
          </p:nvSpPr>
          <p:spPr bwMode="auto">
            <a:xfrm>
              <a:off x="6516216" y="5327258"/>
              <a:ext cx="1324402" cy="338554"/>
            </a:xfrm>
            <a:prstGeom prst="rect">
              <a:avLst/>
            </a:prstGeom>
            <a:solidFill>
              <a:schemeClr val="bg1"/>
            </a:solid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1600" b="0" i="0" u="none" strike="noStrike" kern="0" cap="none" spc="0" normalizeH="0" baseline="0" noProof="0" dirty="0" smtClean="0">
                  <a:ln>
                    <a:noFill/>
                  </a:ln>
                  <a:solidFill>
                    <a:srgbClr val="0000FF"/>
                  </a:solidFill>
                  <a:effectLst/>
                  <a:uLnTx/>
                  <a:uFillTx/>
                  <a:latin typeface="Arial" charset="0"/>
                  <a:ea typeface="黑体" pitchFamily="49" charset="-122"/>
                </a:rPr>
                <a:t>7</a:t>
              </a:r>
              <a:r>
                <a:rPr kumimoji="1" lang="zh-CN" altLang="en-US" sz="1600" b="0" i="0" u="none" strike="noStrike" kern="0" cap="none" spc="0" normalizeH="0" baseline="0" noProof="0" dirty="0" smtClean="0">
                  <a:ln>
                    <a:noFill/>
                  </a:ln>
                  <a:solidFill>
                    <a:srgbClr val="0000FF"/>
                  </a:solidFill>
                  <a:effectLst/>
                  <a:uLnTx/>
                  <a:uFillTx/>
                  <a:latin typeface="Arial" charset="0"/>
                  <a:ea typeface="黑体" pitchFamily="49" charset="-122"/>
                </a:rPr>
                <a:t>）喷油润滑</a:t>
              </a:r>
            </a:p>
          </p:txBody>
        </p:sp>
      </p:grpSp>
      <p:sp>
        <p:nvSpPr>
          <p:cNvPr id="54" name="单圆角矩形 5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常用润滑装置</a:t>
            </a:r>
            <a:endParaRPr lang="zh-CN" altLang="en-US" sz="1500" dirty="0">
              <a:solidFill>
                <a:srgbClr val="FF6600"/>
              </a:solidFill>
            </a:endParaRPr>
          </a:p>
        </p:txBody>
      </p:sp>
      <p:sp>
        <p:nvSpPr>
          <p:cNvPr id="55" name="直角三角形 5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070181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4" name="矩形 7"/>
          <p:cNvSpPr>
            <a:spLocks noChangeArrowheads="1"/>
          </p:cNvSpPr>
          <p:nvPr/>
        </p:nvSpPr>
        <p:spPr bwMode="auto">
          <a:xfrm>
            <a:off x="280990" y="528639"/>
            <a:ext cx="1081087" cy="230832"/>
          </a:xfrm>
          <a:prstGeom prst="rect">
            <a:avLst/>
          </a:prstGeom>
          <a:noFill/>
          <a:ln w="9525">
            <a:noFill/>
            <a:miter lim="800000"/>
          </a:ln>
        </p:spPr>
        <p:txBody>
          <a:bodyPr>
            <a:spAutoFit/>
          </a:bodyPr>
          <a:lstStyle/>
          <a:p>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模板下载：</a:t>
            </a:r>
            <a:r>
              <a:rPr lang="en-US" altLang="zh-CN" sz="100">
                <a:solidFill>
                  <a:srgbClr val="FFFFFF"/>
                </a:solidFill>
                <a:latin typeface="Calibri" panose="020F0502020204030204" pitchFamily="34" charset="0"/>
              </a:rPr>
              <a:t>www.1ppt.com/moban/     </a:t>
            </a:r>
            <a:r>
              <a:rPr lang="zh-CN" altLang="en-US" sz="100">
                <a:solidFill>
                  <a:srgbClr val="FFFFFF"/>
                </a:solidFill>
                <a:latin typeface="Calibri" panose="020F0502020204030204" pitchFamily="34" charset="0"/>
              </a:rPr>
              <a:t>行业</a:t>
            </a:r>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模板：</a:t>
            </a:r>
            <a:r>
              <a:rPr lang="en-US" altLang="zh-CN" sz="100">
                <a:solidFill>
                  <a:srgbClr val="FFFFFF"/>
                </a:solidFill>
                <a:latin typeface="Calibri" panose="020F0502020204030204" pitchFamily="34" charset="0"/>
              </a:rPr>
              <a:t>www.1ppt.com/hangye/ </a:t>
            </a:r>
          </a:p>
          <a:p>
            <a:r>
              <a:rPr lang="zh-CN" altLang="en-US" sz="100">
                <a:solidFill>
                  <a:srgbClr val="FFFFFF"/>
                </a:solidFill>
                <a:latin typeface="Calibri" panose="020F0502020204030204" pitchFamily="34" charset="0"/>
              </a:rPr>
              <a:t>节日</a:t>
            </a:r>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模板：</a:t>
            </a:r>
            <a:r>
              <a:rPr lang="en-US" altLang="zh-CN" sz="100">
                <a:solidFill>
                  <a:srgbClr val="FFFFFF"/>
                </a:solidFill>
                <a:latin typeface="Calibri" panose="020F0502020204030204" pitchFamily="34" charset="0"/>
              </a:rPr>
              <a:t>www.1ppt.com/jieri/           PPT</a:t>
            </a:r>
            <a:r>
              <a:rPr lang="zh-CN" altLang="en-US" sz="100">
                <a:solidFill>
                  <a:srgbClr val="FFFFFF"/>
                </a:solidFill>
                <a:latin typeface="Calibri" panose="020F0502020204030204" pitchFamily="34" charset="0"/>
              </a:rPr>
              <a:t>素材下载：</a:t>
            </a:r>
            <a:r>
              <a:rPr lang="en-US" altLang="zh-CN" sz="100">
                <a:solidFill>
                  <a:srgbClr val="FFFFFF"/>
                </a:solidFill>
                <a:latin typeface="Calibri" panose="020F0502020204030204" pitchFamily="34" charset="0"/>
              </a:rPr>
              <a:t>www.1ppt.com/sucai/</a:t>
            </a:r>
          </a:p>
          <a:p>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背景图片：</a:t>
            </a:r>
            <a:r>
              <a:rPr lang="en-US" altLang="zh-CN" sz="100">
                <a:solidFill>
                  <a:srgbClr val="FFFFFF"/>
                </a:solidFill>
                <a:latin typeface="Calibri" panose="020F0502020204030204" pitchFamily="34" charset="0"/>
              </a:rPr>
              <a:t>www.1ppt.com/beijing/      PPT</a:t>
            </a:r>
            <a:r>
              <a:rPr lang="zh-CN" altLang="en-US" sz="100">
                <a:solidFill>
                  <a:srgbClr val="FFFFFF"/>
                </a:solidFill>
                <a:latin typeface="Calibri" panose="020F0502020204030204" pitchFamily="34" charset="0"/>
              </a:rPr>
              <a:t>图表下载：</a:t>
            </a:r>
            <a:r>
              <a:rPr lang="en-US" altLang="zh-CN" sz="100">
                <a:solidFill>
                  <a:srgbClr val="FFFFFF"/>
                </a:solidFill>
                <a:latin typeface="Calibri" panose="020F0502020204030204" pitchFamily="34" charset="0"/>
              </a:rPr>
              <a:t>www.1ppt.com/tubiao/      </a:t>
            </a:r>
          </a:p>
          <a:p>
            <a:r>
              <a:rPr lang="zh-CN" altLang="en-US" sz="100">
                <a:solidFill>
                  <a:srgbClr val="FFFFFF"/>
                </a:solidFill>
                <a:latin typeface="Calibri" panose="020F0502020204030204" pitchFamily="34" charset="0"/>
              </a:rPr>
              <a:t>优秀</a:t>
            </a:r>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下载：</a:t>
            </a:r>
            <a:r>
              <a:rPr lang="en-US" altLang="zh-CN" sz="100">
                <a:solidFill>
                  <a:srgbClr val="FFFFFF"/>
                </a:solidFill>
                <a:latin typeface="Calibri" panose="020F0502020204030204" pitchFamily="34" charset="0"/>
              </a:rPr>
              <a:t>www.1ppt.com/xiazai/        PPT</a:t>
            </a:r>
            <a:r>
              <a:rPr lang="zh-CN" altLang="en-US" sz="100">
                <a:solidFill>
                  <a:srgbClr val="FFFFFF"/>
                </a:solidFill>
                <a:latin typeface="Calibri" panose="020F0502020204030204" pitchFamily="34" charset="0"/>
              </a:rPr>
              <a:t>教程： </a:t>
            </a:r>
            <a:r>
              <a:rPr lang="en-US" altLang="zh-CN" sz="100">
                <a:solidFill>
                  <a:srgbClr val="FFFFFF"/>
                </a:solidFill>
                <a:latin typeface="Calibri" panose="020F0502020204030204" pitchFamily="34" charset="0"/>
              </a:rPr>
              <a:t>www.1ppt.com/powerpoint/      </a:t>
            </a:r>
          </a:p>
          <a:p>
            <a:r>
              <a:rPr lang="en-US" altLang="zh-CN" sz="100">
                <a:solidFill>
                  <a:srgbClr val="FFFFFF"/>
                </a:solidFill>
                <a:latin typeface="Calibri" panose="020F0502020204030204" pitchFamily="34" charset="0"/>
              </a:rPr>
              <a:t>Word</a:t>
            </a:r>
            <a:r>
              <a:rPr lang="zh-CN" altLang="en-US" sz="100">
                <a:solidFill>
                  <a:srgbClr val="FFFFFF"/>
                </a:solidFill>
                <a:latin typeface="Calibri" panose="020F0502020204030204" pitchFamily="34" charset="0"/>
              </a:rPr>
              <a:t>教程： </a:t>
            </a:r>
            <a:r>
              <a:rPr lang="en-US" altLang="zh-CN" sz="100">
                <a:solidFill>
                  <a:srgbClr val="FFFFFF"/>
                </a:solidFill>
                <a:latin typeface="Calibri" panose="020F0502020204030204" pitchFamily="34" charset="0"/>
              </a:rPr>
              <a:t>www.1ppt.com/word/              Excel</a:t>
            </a:r>
            <a:r>
              <a:rPr lang="zh-CN" altLang="en-US" sz="100">
                <a:solidFill>
                  <a:srgbClr val="FFFFFF"/>
                </a:solidFill>
                <a:latin typeface="Calibri" panose="020F0502020204030204" pitchFamily="34" charset="0"/>
              </a:rPr>
              <a:t>教程：</a:t>
            </a:r>
            <a:r>
              <a:rPr lang="en-US" altLang="zh-CN" sz="100">
                <a:solidFill>
                  <a:srgbClr val="FFFFFF"/>
                </a:solidFill>
                <a:latin typeface="Calibri" panose="020F0502020204030204" pitchFamily="34" charset="0"/>
              </a:rPr>
              <a:t>www.1ppt.com/excel/  </a:t>
            </a:r>
          </a:p>
          <a:p>
            <a:r>
              <a:rPr lang="zh-CN" altLang="en-US" sz="100">
                <a:solidFill>
                  <a:srgbClr val="FFFFFF"/>
                </a:solidFill>
                <a:latin typeface="Calibri" panose="020F0502020204030204" pitchFamily="34" charset="0"/>
              </a:rPr>
              <a:t>资料下载：</a:t>
            </a:r>
            <a:r>
              <a:rPr lang="en-US" altLang="zh-CN" sz="100">
                <a:solidFill>
                  <a:srgbClr val="FFFFFF"/>
                </a:solidFill>
                <a:latin typeface="Calibri" panose="020F0502020204030204" pitchFamily="34" charset="0"/>
              </a:rPr>
              <a:t>www.1ppt.com/ziliao/                PPT</a:t>
            </a:r>
            <a:r>
              <a:rPr lang="zh-CN" altLang="en-US" sz="100">
                <a:solidFill>
                  <a:srgbClr val="FFFFFF"/>
                </a:solidFill>
                <a:latin typeface="Calibri" panose="020F0502020204030204" pitchFamily="34" charset="0"/>
              </a:rPr>
              <a:t>课件下载：</a:t>
            </a:r>
            <a:r>
              <a:rPr lang="en-US" altLang="zh-CN" sz="100">
                <a:solidFill>
                  <a:srgbClr val="FFFFFF"/>
                </a:solidFill>
                <a:latin typeface="Calibri" panose="020F0502020204030204" pitchFamily="34" charset="0"/>
              </a:rPr>
              <a:t>www.1ppt.com/kejian/ </a:t>
            </a:r>
          </a:p>
          <a:p>
            <a:r>
              <a:rPr lang="zh-CN" altLang="en-US" sz="100">
                <a:solidFill>
                  <a:srgbClr val="FFFFFF"/>
                </a:solidFill>
                <a:latin typeface="Calibri" panose="020F0502020204030204" pitchFamily="34" charset="0"/>
              </a:rPr>
              <a:t>范文下载：</a:t>
            </a:r>
            <a:r>
              <a:rPr lang="en-US" altLang="zh-CN" sz="100">
                <a:solidFill>
                  <a:srgbClr val="FFFFFF"/>
                </a:solidFill>
                <a:latin typeface="Calibri" panose="020F0502020204030204" pitchFamily="34" charset="0"/>
              </a:rPr>
              <a:t>www.1ppt.com/fanwen/             </a:t>
            </a:r>
            <a:r>
              <a:rPr lang="zh-CN" altLang="en-US" sz="100">
                <a:solidFill>
                  <a:srgbClr val="FFFFFF"/>
                </a:solidFill>
                <a:latin typeface="Calibri" panose="020F0502020204030204" pitchFamily="34" charset="0"/>
              </a:rPr>
              <a:t>试卷下载：</a:t>
            </a:r>
            <a:r>
              <a:rPr lang="en-US" altLang="zh-CN" sz="100">
                <a:solidFill>
                  <a:srgbClr val="FFFFFF"/>
                </a:solidFill>
                <a:latin typeface="Calibri" panose="020F0502020204030204" pitchFamily="34" charset="0"/>
              </a:rPr>
              <a:t>www.1ppt.com/shiti/  </a:t>
            </a:r>
          </a:p>
          <a:p>
            <a:r>
              <a:rPr lang="zh-CN" altLang="en-US" sz="100">
                <a:solidFill>
                  <a:srgbClr val="FFFFFF"/>
                </a:solidFill>
                <a:latin typeface="Calibri" panose="020F0502020204030204" pitchFamily="34" charset="0"/>
              </a:rPr>
              <a:t>教案下载：</a:t>
            </a:r>
            <a:r>
              <a:rPr lang="en-US" altLang="zh-CN" sz="100">
                <a:solidFill>
                  <a:srgbClr val="FFFFFF"/>
                </a:solidFill>
                <a:latin typeface="Calibri" panose="020F0502020204030204" pitchFamily="34" charset="0"/>
              </a:rPr>
              <a:t>www.1ppt.com/jiaoan/  </a:t>
            </a:r>
          </a:p>
          <a:p>
            <a:r>
              <a:rPr lang="en-US" altLang="zh-CN" sz="100">
                <a:solidFill>
                  <a:srgbClr val="FFFFFF"/>
                </a:solidFill>
                <a:latin typeface="Calibri" panose="020F0502020204030204" pitchFamily="34" charset="0"/>
              </a:rPr>
              <a:t> </a:t>
            </a:r>
            <a:endParaRPr lang="zh-CN" altLang="en-US" sz="100">
              <a:solidFill>
                <a:srgbClr val="FFFFFF"/>
              </a:solidFill>
              <a:latin typeface="Calibri" panose="020F0502020204030204" pitchFamily="34" charset="0"/>
            </a:endParaRPr>
          </a:p>
        </p:txBody>
      </p:sp>
      <p:pic>
        <p:nvPicPr>
          <p:cNvPr id="2097152" name="图片 5" descr="background1.jpg"/>
          <p:cNvPicPr>
            <a:picLocks noChangeAspect="1"/>
          </p:cNvPicPr>
          <p:nvPr/>
        </p:nvPicPr>
        <p:blipFill>
          <a:blip r:embed="rId2"/>
          <a:srcRect t="12988"/>
          <a:stretch>
            <a:fillRect/>
          </a:stretch>
        </p:blipFill>
        <p:spPr bwMode="auto">
          <a:xfrm>
            <a:off x="0" y="0"/>
            <a:ext cx="9144000" cy="5715000"/>
          </a:xfrm>
          <a:prstGeom prst="rect">
            <a:avLst/>
          </a:prstGeom>
          <a:noFill/>
          <a:ln w="9525">
            <a:noFill/>
            <a:miter lim="800000"/>
            <a:headEnd/>
            <a:tailEnd/>
          </a:ln>
        </p:spPr>
      </p:pic>
      <p:pic>
        <p:nvPicPr>
          <p:cNvPr id="2097153" name="图片 3" descr="1369025_233359298000_2.jpg"/>
          <p:cNvPicPr>
            <a:picLocks noChangeAspect="1"/>
          </p:cNvPicPr>
          <p:nvPr/>
        </p:nvPicPr>
        <p:blipFill>
          <a:blip r:embed="rId3">
            <a:clrChange>
              <a:clrFrom>
                <a:srgbClr val="FFFFFF"/>
              </a:clrFrom>
              <a:clrTo>
                <a:srgbClr val="FFFFFF">
                  <a:alpha val="0"/>
                </a:srgbClr>
              </a:clrTo>
            </a:clrChange>
          </a:blip>
          <a:srcRect r="12871" b="12666"/>
          <a:stretch>
            <a:fillRect/>
          </a:stretch>
        </p:blipFill>
        <p:spPr bwMode="auto">
          <a:xfrm>
            <a:off x="1692275" y="863600"/>
            <a:ext cx="5422900" cy="4851400"/>
          </a:xfrm>
          <a:prstGeom prst="rect">
            <a:avLst/>
          </a:prstGeom>
          <a:noFill/>
          <a:ln w="9525">
            <a:noFill/>
            <a:miter lim="800000"/>
            <a:headEnd/>
            <a:tailEnd/>
          </a:ln>
        </p:spPr>
      </p:pic>
      <p:sp>
        <p:nvSpPr>
          <p:cNvPr id="1048585" name="Rectangle 10"/>
          <p:cNvSpPr>
            <a:spLocks noGrp="1" noChangeArrowheads="1"/>
          </p:cNvSpPr>
          <p:nvPr>
            <p:ph type="sldNum" sz="quarter" idx="12"/>
          </p:nvPr>
        </p:nvSpPr>
        <p:spPr>
          <a:xfrm>
            <a:off x="412750" y="5297488"/>
            <a:ext cx="4159250" cy="296862"/>
          </a:xfrm>
        </p:spPr>
        <p:txBody>
          <a:bodyPr wrap="square" numCol="1" anchorCtr="0" compatLnSpc="1"/>
          <a:lstStyle/>
          <a:p>
            <a:pPr marL="342900" indent="-342900" algn="l" fontAlgn="base">
              <a:lnSpc>
                <a:spcPct val="110000"/>
              </a:lnSpc>
              <a:spcBef>
                <a:spcPct val="0"/>
              </a:spcBef>
              <a:spcAft>
                <a:spcPct val="0"/>
              </a:spcAft>
            </a:pPr>
            <a:r>
              <a:rPr lang="en-US" altLang="zh-CN" sz="1800" smtClean="0">
                <a:solidFill>
                  <a:srgbClr val="BFBFBF"/>
                </a:solidFill>
                <a:latin typeface="微软雅黑" panose="020B0503020204020204" charset="-122"/>
                <a:cs typeface="微软雅黑" panose="020B0503020204020204" charset="-122"/>
              </a:rPr>
              <a:t>http://www.swjtu.edu.cn</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k3MjA0Y2M0ZGM0MTI2OWFmMTU5NDNjNTM2NzMzNzkifQ=="/>
</p:tagLst>
</file>

<file path=ppt/theme/theme1.xml><?xml version="1.0" encoding="utf-8"?>
<a:theme xmlns:a="http://schemas.openxmlformats.org/drawingml/2006/main" name="藏珠馆 Wholehr.taobao.com 原创商务模板">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2350</TotalTime>
  <Words>3084</Words>
  <Application>Microsoft Office PowerPoint</Application>
  <PresentationFormat>全屏显示(16:10)</PresentationFormat>
  <Paragraphs>275</Paragraphs>
  <Slides>24</Slides>
  <Notes>16</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24</vt:i4>
      </vt:variant>
    </vt:vector>
  </HeadingPairs>
  <TitlesOfParts>
    <vt:vector size="43" baseType="lpstr">
      <vt:lpstr>Academy Engraved LET</vt:lpstr>
      <vt:lpstr>仿宋_GB2312</vt:lpstr>
      <vt:lpstr>黑体</vt:lpstr>
      <vt:lpstr>华文楷体</vt:lpstr>
      <vt:lpstr>华文细黑</vt:lpstr>
      <vt:lpstr>华文中宋</vt:lpstr>
      <vt:lpstr>楷体_GB2312</vt:lpstr>
      <vt:lpstr>宋体</vt:lpstr>
      <vt:lpstr>微软雅黑</vt:lpstr>
      <vt:lpstr>Arial</vt:lpstr>
      <vt:lpstr>Calibri</vt:lpstr>
      <vt:lpstr>Cambria Math</vt:lpstr>
      <vt:lpstr>Times New Roman</vt:lpstr>
      <vt:lpstr>Verdana</vt:lpstr>
      <vt:lpstr>Wingdings</vt:lpstr>
      <vt:lpstr>藏珠馆 Wholehr.taobao.com 原创商务模板</vt:lpstr>
      <vt:lpstr>Image</vt:lpstr>
      <vt:lpstr>Equation</vt:lpstr>
      <vt:lpstr>位图图像</vt:lpstr>
      <vt:lpstr>PowerPoint 演示文稿</vt:lpstr>
      <vt:lpstr>本章内容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ylmf</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藏珠馆 WholeHR.taobao.com</dc:creator>
  <cp:lastModifiedBy>Microsoft</cp:lastModifiedBy>
  <cp:revision>722</cp:revision>
  <dcterms:created xsi:type="dcterms:W3CDTF">2012-03-17T16:08:00Z</dcterms:created>
  <dcterms:modified xsi:type="dcterms:W3CDTF">2024-09-14T03:39:28Z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449056D2969D4DD0B2116DAC6D8A9ABC_12</vt:lpwstr>
  </property>
  <property fmtid="{D5CDD505-2E9C-101B-9397-08002B2CF9AE}" pid="3" name="KSOProductBuildVer">
    <vt:lpwstr>2052-12.1.0.15990</vt:lpwstr>
  </property>
</Properties>
</file>