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E7E6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4" d="100"/>
          <a:sy n="154" d="100"/>
        </p:scale>
        <p:origin x="52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F4169-496B-46A8-8BDD-D32BAC11336E}" type="datetimeFigureOut">
              <a:rPr lang="zh-CN" altLang="en-US" smtClean="0"/>
              <a:t>2024/11/17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78AF4-07CC-4532-93D4-86BF758EFD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9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F4169-496B-46A8-8BDD-D32BAC11336E}" type="datetimeFigureOut">
              <a:rPr lang="zh-CN" altLang="en-US" smtClean="0"/>
              <a:t>2024/11/17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78AF4-07CC-4532-93D4-86BF758EFD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655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F4169-496B-46A8-8BDD-D32BAC11336E}" type="datetimeFigureOut">
              <a:rPr lang="zh-CN" altLang="en-US" smtClean="0"/>
              <a:t>2024/11/17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78AF4-07CC-4532-93D4-86BF758EFD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9464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F4169-496B-46A8-8BDD-D32BAC11336E}" type="datetimeFigureOut">
              <a:rPr lang="zh-CN" altLang="en-US" smtClean="0"/>
              <a:t>2024/11/17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78AF4-07CC-4532-93D4-86BF758EFD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853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F4169-496B-46A8-8BDD-D32BAC11336E}" type="datetimeFigureOut">
              <a:rPr lang="zh-CN" altLang="en-US" smtClean="0"/>
              <a:t>2024/11/17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78AF4-07CC-4532-93D4-86BF758EFD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2314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F4169-496B-46A8-8BDD-D32BAC11336E}" type="datetimeFigureOut">
              <a:rPr lang="zh-CN" altLang="en-US" smtClean="0"/>
              <a:t>2024/11/17</a:t>
            </a:fld>
            <a:endParaRPr lang="zh-CN" alt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78AF4-07CC-4532-93D4-86BF758EFD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8898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F4169-496B-46A8-8BDD-D32BAC11336E}" type="datetimeFigureOut">
              <a:rPr lang="zh-CN" altLang="en-US" smtClean="0"/>
              <a:t>2024/11/17</a:t>
            </a:fld>
            <a:endParaRPr lang="zh-CN" alt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78AF4-07CC-4532-93D4-86BF758EFD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6989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F4169-496B-46A8-8BDD-D32BAC11336E}" type="datetimeFigureOut">
              <a:rPr lang="zh-CN" altLang="en-US" smtClean="0"/>
              <a:t>2024/11/17</a:t>
            </a:fld>
            <a:endParaRPr lang="zh-CN" alt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78AF4-07CC-4532-93D4-86BF758EFD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0295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F4169-496B-46A8-8BDD-D32BAC11336E}" type="datetimeFigureOut">
              <a:rPr lang="zh-CN" altLang="en-US" smtClean="0"/>
              <a:t>2024/11/17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78AF4-07CC-4532-93D4-86BF758EFD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0621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F4169-496B-46A8-8BDD-D32BAC11336E}" type="datetimeFigureOut">
              <a:rPr lang="zh-CN" altLang="en-US" smtClean="0"/>
              <a:t>2024/11/17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78AF4-07CC-4532-93D4-86BF758EFD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0862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F4169-496B-46A8-8BDD-D32BAC11336E}" type="datetimeFigureOut">
              <a:rPr lang="zh-CN" altLang="en-US" smtClean="0"/>
              <a:t>2024/11/17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78AF4-07CC-4532-93D4-86BF758EFD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95064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F4169-496B-46A8-8BDD-D32BAC11336E}" type="datetimeFigureOut">
              <a:rPr lang="zh-CN" altLang="en-US" smtClean="0"/>
              <a:t>2024/11/17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78AF4-07CC-4532-93D4-86BF758EFD4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718047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F4169-496B-46A8-8BDD-D32BAC11336E}" type="datetimeFigureOut">
              <a:rPr lang="zh-CN" altLang="en-US" smtClean="0"/>
              <a:t>2024/11/17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78AF4-07CC-4532-93D4-86BF758EFD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63852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F4169-496B-46A8-8BDD-D32BAC11336E}" type="datetimeFigureOut">
              <a:rPr lang="zh-CN" altLang="en-US" smtClean="0"/>
              <a:t>2024/11/17</a:t>
            </a:fld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78AF4-07CC-4532-93D4-86BF758EFD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30827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F4169-496B-46A8-8BDD-D32BAC11336E}" type="datetimeFigureOut">
              <a:rPr lang="zh-CN" altLang="en-US" smtClean="0"/>
              <a:t>2024/11/17</a:t>
            </a:fld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78AF4-07CC-4532-93D4-86BF758EFD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16146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F4169-496B-46A8-8BDD-D32BAC11336E}" type="datetimeFigureOut">
              <a:rPr lang="zh-CN" altLang="en-US" smtClean="0"/>
              <a:t>2024/11/17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78AF4-07CC-4532-93D4-86BF758EFD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74840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F4169-496B-46A8-8BDD-D32BAC11336E}" type="datetimeFigureOut">
              <a:rPr lang="zh-CN" altLang="en-US" smtClean="0"/>
              <a:t>2024/11/17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78AF4-07CC-4532-93D4-86BF758EFD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8778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A98F4169-496B-46A8-8BDD-D32BAC11336E}" type="datetimeFigureOut">
              <a:rPr lang="zh-CN" altLang="en-US" smtClean="0"/>
              <a:t>2024/11/17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378AF4-07CC-4532-93D4-86BF758EFD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65488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16.jpe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7DE31D-6425-4D9C-B9BF-E7DB5315A9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6000" dirty="0"/>
              <a:t>汽车典型零件有限元分析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CACCB02-69D2-4A64-9765-82041BA151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车辆综合实训（第二部分）</a:t>
            </a:r>
          </a:p>
        </p:txBody>
      </p:sp>
    </p:spTree>
    <p:extLst>
      <p:ext uri="{BB962C8B-B14F-4D97-AF65-F5344CB8AC3E}">
        <p14:creationId xmlns:p14="http://schemas.microsoft.com/office/powerpoint/2010/main" val="1706303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CB53B2-B737-4B2A-8763-216F22BC8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三种零部件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CAF7456-AFFA-4AFB-BA44-E41BBA97F3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720" y="1844129"/>
            <a:ext cx="3300262" cy="453435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3CEC389-C2CB-47B1-8A99-614A69AE67C6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1204" y="1153886"/>
            <a:ext cx="6276021" cy="227511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BB7F7F1-94B9-464E-BBFC-920A92F0D0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9079" y="3587938"/>
            <a:ext cx="4536555" cy="3021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317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C84EBB-B529-40B2-A83B-5C976F91D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悬架螺旋弹簧</a:t>
            </a:r>
            <a:r>
              <a:rPr lang="en-US" altLang="zh-CN" dirty="0"/>
              <a:t>----</a:t>
            </a:r>
            <a:r>
              <a:rPr lang="zh-CN" altLang="en-US" dirty="0"/>
              <a:t>参数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06D6AFF-86E9-446B-8014-B71F78507E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9879"/>
            <a:ext cx="1812899" cy="2490811"/>
          </a:xfrm>
          <a:prstGeom prst="rect">
            <a:avLst/>
          </a:prstGeom>
        </p:spPr>
      </p:pic>
      <p:pic>
        <p:nvPicPr>
          <p:cNvPr id="1026" name="Picture 2" descr="参数化弹簧工程图 - Pro/E 工程图 - 野火论坛">
            <a:extLst>
              <a:ext uri="{FF2B5EF4-FFF2-40B4-BE49-F238E27FC236}">
                <a16:creationId xmlns:a16="http://schemas.microsoft.com/office/drawing/2014/main" id="{466AA7D2-5F67-4282-B726-4677373B3D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770"/>
          <a:stretch/>
        </p:blipFill>
        <p:spPr bwMode="auto">
          <a:xfrm>
            <a:off x="1667435" y="1319878"/>
            <a:ext cx="7093815" cy="5440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表格 5">
            <a:extLst>
              <a:ext uri="{FF2B5EF4-FFF2-40B4-BE49-F238E27FC236}">
                <a16:creationId xmlns:a16="http://schemas.microsoft.com/office/drawing/2014/main" id="{06E1D910-45EE-4AE2-94D8-7C82C79AE7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5132739"/>
              </p:ext>
            </p:extLst>
          </p:nvPr>
        </p:nvGraphicFramePr>
        <p:xfrm>
          <a:off x="8825407" y="1319877"/>
          <a:ext cx="3318322" cy="38557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3026">
                  <a:extLst>
                    <a:ext uri="{9D8B030D-6E8A-4147-A177-3AD203B41FA5}">
                      <a16:colId xmlns:a16="http://schemas.microsoft.com/office/drawing/2014/main" val="1252955043"/>
                    </a:ext>
                  </a:extLst>
                </a:gridCol>
                <a:gridCol w="2445296">
                  <a:extLst>
                    <a:ext uri="{9D8B030D-6E8A-4147-A177-3AD203B41FA5}">
                      <a16:colId xmlns:a16="http://schemas.microsoft.com/office/drawing/2014/main" val="871387135"/>
                    </a:ext>
                  </a:extLst>
                </a:gridCol>
              </a:tblGrid>
              <a:tr h="417897">
                <a:tc>
                  <a:txBody>
                    <a:bodyPr/>
                    <a:lstStyle/>
                    <a:p>
                      <a:r>
                        <a:rPr lang="zh-CN" altLang="en-US" dirty="0"/>
                        <a:t>参数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数值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9398801"/>
                  </a:ext>
                </a:extLst>
              </a:tr>
              <a:tr h="653734"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0005749"/>
                  </a:ext>
                </a:extLst>
              </a:tr>
              <a:tr h="653734"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4257989"/>
                  </a:ext>
                </a:extLst>
              </a:tr>
              <a:tr h="653734"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8891678"/>
                  </a:ext>
                </a:extLst>
              </a:tr>
              <a:tr h="653734"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1.5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6699596"/>
                  </a:ext>
                </a:extLst>
              </a:tr>
              <a:tr h="653734"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4##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##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为学号后两位）</a:t>
                      </a:r>
                      <a:endParaRPr lang="en-US" altLang="zh-CN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360541"/>
                  </a:ext>
                </a:extLst>
              </a:tr>
            </a:tbl>
          </a:graphicData>
        </a:graphic>
      </p:graphicFrame>
      <p:pic>
        <p:nvPicPr>
          <p:cNvPr id="5" name="图片 4" descr="a9cc5a6a7afb7128d224398edb5ca70">
            <a:extLst>
              <a:ext uri="{FF2B5EF4-FFF2-40B4-BE49-F238E27FC236}">
                <a16:creationId xmlns:a16="http://schemas.microsoft.com/office/drawing/2014/main" id="{37D9BE86-10A4-46B7-8732-2F6EC1F75943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 rot="16200000">
            <a:off x="-221361" y="4085835"/>
            <a:ext cx="2209459" cy="1766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518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302E56-33AE-4F6D-82B5-BBAC9794B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悬架螺旋弹簧</a:t>
            </a:r>
            <a:r>
              <a:rPr lang="en-US" altLang="zh-CN" dirty="0"/>
              <a:t>----</a:t>
            </a:r>
            <a:r>
              <a:rPr lang="zh-CN" altLang="en-US" dirty="0"/>
              <a:t>计算分析内容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5A6161B0-90B6-4211-B0BC-B35FF20F7F4F}"/>
              </a:ext>
            </a:extLst>
          </p:cNvPr>
          <p:cNvSpPr/>
          <p:nvPr/>
        </p:nvSpPr>
        <p:spPr>
          <a:xfrm>
            <a:off x="182052" y="1497796"/>
            <a:ext cx="1832938" cy="6289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静力分析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506E328B-6D66-490E-9ADC-38B23F72457F}"/>
              </a:ext>
            </a:extLst>
          </p:cNvPr>
          <p:cNvSpPr/>
          <p:nvPr/>
        </p:nvSpPr>
        <p:spPr>
          <a:xfrm>
            <a:off x="182052" y="3429000"/>
            <a:ext cx="1832938" cy="6289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动力学分析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F3F48AC1-4272-439A-A2BC-D00F16085711}"/>
              </a:ext>
            </a:extLst>
          </p:cNvPr>
          <p:cNvSpPr/>
          <p:nvPr/>
        </p:nvSpPr>
        <p:spPr>
          <a:xfrm>
            <a:off x="182052" y="5448127"/>
            <a:ext cx="1832938" cy="6289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模态分析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4ED7058-DB59-43A8-A4A7-F5F4B9B9D753}"/>
              </a:ext>
            </a:extLst>
          </p:cNvPr>
          <p:cNvSpPr txBox="1"/>
          <p:nvPr/>
        </p:nvSpPr>
        <p:spPr>
          <a:xfrm>
            <a:off x="2141167" y="1497796"/>
            <a:ext cx="48091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一端固定，一端施加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H0/10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位移载荷，（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）计算并绘制力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位移曲线；（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）对比解析解验证有限元计算得到的弹簧刚度的准确性；（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）计算此工况下的最大应力，验证是否在合理范围。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0D22461-A730-4FB6-BA4A-93C2C91B3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9640" y="1480593"/>
            <a:ext cx="5102690" cy="122001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DA4E1569-0650-4D98-B69E-EC268FC41423}"/>
              </a:ext>
            </a:extLst>
          </p:cNvPr>
          <p:cNvSpPr txBox="1"/>
          <p:nvPr/>
        </p:nvSpPr>
        <p:spPr>
          <a:xfrm>
            <a:off x="2141167" y="3249075"/>
            <a:ext cx="480911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一端固定，一端施加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H0/10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的初始位移载荷，以及后续的幅值为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H0/10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的正弦位移载荷，时间历程为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）计算并绘制力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位移曲线；（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）学会使用适当的曲线平滑拟合策略，对绘制的力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位移曲线平滑处理；（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）计算此工况下的最大应力，验证是否在合理范围。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7152A02-8ACC-477C-BCFF-DDB4984C97B4}"/>
              </a:ext>
            </a:extLst>
          </p:cNvPr>
          <p:cNvSpPr txBox="1"/>
          <p:nvPr/>
        </p:nvSpPr>
        <p:spPr>
          <a:xfrm>
            <a:off x="2141167" y="5481952"/>
            <a:ext cx="48091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一端固定，一端除轴向自由度外其他约束固定，（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）计算前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阶模态（包含振型和对应的谐振频率）；（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）验证是否在合理范围。</a:t>
            </a:r>
          </a:p>
        </p:txBody>
      </p:sp>
    </p:spTree>
    <p:extLst>
      <p:ext uri="{BB962C8B-B14F-4D97-AF65-F5344CB8AC3E}">
        <p14:creationId xmlns:p14="http://schemas.microsoft.com/office/powerpoint/2010/main" val="2635670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C84EBB-B529-40B2-A83B-5C976F91D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传动轴</a:t>
            </a:r>
            <a:r>
              <a:rPr lang="en-US" altLang="zh-CN" dirty="0"/>
              <a:t>----</a:t>
            </a:r>
            <a:r>
              <a:rPr lang="zh-CN" altLang="en-US" dirty="0"/>
              <a:t>参数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12D3EB51-0FB7-49DE-B916-BA2E61192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37" y="1207064"/>
            <a:ext cx="11668125" cy="2428875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4AF9F5E3-A921-45C8-9906-1CB0A6A6CD4F}"/>
              </a:ext>
            </a:extLst>
          </p:cNvPr>
          <p:cNvSpPr txBox="1"/>
          <p:nvPr/>
        </p:nvSpPr>
        <p:spPr>
          <a:xfrm>
            <a:off x="261936" y="3980937"/>
            <a:ext cx="108785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两端采用渐开线花键轴，具体的参数请查阅相关手册和设计标准自行确定；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AutoNum type="arabicPeriod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中段轴长度尺寸</a:t>
            </a:r>
            <a:r>
              <a:rPr lang="en-US" altLang="zh-CN" sz="2400" b="1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25X.Y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，其中</a:t>
            </a:r>
            <a:r>
              <a:rPr lang="en-US" altLang="zh-CN" sz="2400" b="1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XY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为学号后两位数字；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AutoNum type="arabicPeriod"/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7B44B1D-42B5-4289-94E1-C4CD7D6AB10E}"/>
              </a:ext>
            </a:extLst>
          </p:cNvPr>
          <p:cNvSpPr/>
          <p:nvPr/>
        </p:nvSpPr>
        <p:spPr>
          <a:xfrm>
            <a:off x="5498983" y="1501630"/>
            <a:ext cx="901817" cy="2474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25X.Y</a:t>
            </a:r>
            <a:endParaRPr lang="zh-CN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00C16B1-575B-459E-B9CA-C73CB5B7753F}"/>
              </a:ext>
            </a:extLst>
          </p:cNvPr>
          <p:cNvSpPr/>
          <p:nvPr/>
        </p:nvSpPr>
        <p:spPr>
          <a:xfrm>
            <a:off x="5498982" y="1207064"/>
            <a:ext cx="901817" cy="218115"/>
          </a:xfrm>
          <a:prstGeom prst="rect">
            <a:avLst/>
          </a:prstGeom>
          <a:solidFill>
            <a:srgbClr val="E7E6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86067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302E56-33AE-4F6D-82B5-BBAC9794B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传动轴</a:t>
            </a:r>
            <a:r>
              <a:rPr lang="en-US" altLang="zh-CN" dirty="0"/>
              <a:t>----</a:t>
            </a:r>
            <a:r>
              <a:rPr lang="zh-CN" altLang="en-US" dirty="0"/>
              <a:t>计算分析内容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5A6161B0-90B6-4211-B0BC-B35FF20F7F4F}"/>
              </a:ext>
            </a:extLst>
          </p:cNvPr>
          <p:cNvSpPr/>
          <p:nvPr/>
        </p:nvSpPr>
        <p:spPr>
          <a:xfrm>
            <a:off x="182052" y="1497796"/>
            <a:ext cx="1832938" cy="6289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静力分析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F3F48AC1-4272-439A-A2BC-D00F16085711}"/>
              </a:ext>
            </a:extLst>
          </p:cNvPr>
          <p:cNvSpPr/>
          <p:nvPr/>
        </p:nvSpPr>
        <p:spPr>
          <a:xfrm>
            <a:off x="182052" y="3277958"/>
            <a:ext cx="1832938" cy="6289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模态分析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4ED7058-DB59-43A8-A4A7-F5F4B9B9D753}"/>
              </a:ext>
            </a:extLst>
          </p:cNvPr>
          <p:cNvSpPr txBox="1"/>
          <p:nvPr/>
        </p:nvSpPr>
        <p:spPr>
          <a:xfrm>
            <a:off x="2141167" y="1497796"/>
            <a:ext cx="48091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一端固定，一端施加扭矩，（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）计算并绘制扭矩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扭转角曲线；（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）计算扭转刚度，并说明该传动轴是否满足设计要求；（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）计算此工况下的最大应力，验证是否在合理范围。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7152A02-8ACC-477C-BCFF-DDB4984C97B4}"/>
              </a:ext>
            </a:extLst>
          </p:cNvPr>
          <p:cNvSpPr txBox="1"/>
          <p:nvPr/>
        </p:nvSpPr>
        <p:spPr>
          <a:xfrm>
            <a:off x="2141167" y="3284856"/>
            <a:ext cx="48091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约束模态计算：（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）计算前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阶模态（包含振型和对应的谐振频率）；（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）查阅合适车型的相关数据，根据该车型，分析并说明模态计算结果是否在合理范围，。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3D548B1-1A19-47A1-8D8A-EDC2B44AAE93}"/>
              </a:ext>
            </a:extLst>
          </p:cNvPr>
          <p:cNvSpPr txBox="1"/>
          <p:nvPr/>
        </p:nvSpPr>
        <p:spPr>
          <a:xfrm>
            <a:off x="2141166" y="5071916"/>
            <a:ext cx="829375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u="sng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="1" u="sng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u="sng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）如果没有满足刚度、强度以及模态任意一个或多个设计要求，请保持</a:t>
            </a:r>
            <a:r>
              <a:rPr lang="zh-CN" altLang="en-US" b="1" u="sng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原有长度尺寸不变</a:t>
            </a:r>
            <a:r>
              <a:rPr lang="zh-CN" altLang="en-US" b="1" u="sng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同时</a:t>
            </a:r>
            <a:r>
              <a:rPr lang="zh-CN" altLang="en-US" b="1" u="sng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不过多增加结构质量</a:t>
            </a:r>
            <a:r>
              <a:rPr lang="zh-CN" altLang="en-US" b="1" u="sng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的前提下，重新设计以达到设计要求；</a:t>
            </a:r>
            <a:endParaRPr lang="en-US" altLang="zh-CN" b="1" u="sng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b="1" u="sng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u="sng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="1" u="sng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u="sng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）如果满足全部设计要求，请对传动轴进行轻量化设计，同时仍要满足刚度、强度以及模态三个设计要求。</a:t>
            </a:r>
            <a:endParaRPr lang="zh-CN" altLang="en-US" dirty="0">
              <a:solidFill>
                <a:srgbClr val="FFC000"/>
              </a:solidFill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AAACE48-AC68-422E-B168-BD139E5840C9}"/>
              </a:ext>
            </a:extLst>
          </p:cNvPr>
          <p:cNvSpPr/>
          <p:nvPr/>
        </p:nvSpPr>
        <p:spPr>
          <a:xfrm>
            <a:off x="182052" y="5012575"/>
            <a:ext cx="1832938" cy="6289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优化设计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11A1829-B07B-45D5-9086-C222D0411ECC}"/>
              </a:ext>
            </a:extLst>
          </p:cNvPr>
          <p:cNvSpPr/>
          <p:nvPr/>
        </p:nvSpPr>
        <p:spPr>
          <a:xfrm>
            <a:off x="8387349" y="2781560"/>
            <a:ext cx="2271050" cy="2474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（</a:t>
            </a:r>
            <a:r>
              <a:rPr lang="en-US" altLang="zh-CN" sz="1600" dirty="0"/>
              <a:t>XY</a:t>
            </a:r>
            <a:r>
              <a:rPr lang="zh-CN" altLang="en-US" sz="1600" dirty="0"/>
              <a:t>为学号后两位）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DF9BDB0-7A1A-4E7B-AA9B-15A3A3E66452}"/>
              </a:ext>
            </a:extLst>
          </p:cNvPr>
          <p:cNvSpPr txBox="1"/>
          <p:nvPr/>
        </p:nvSpPr>
        <p:spPr>
          <a:xfrm>
            <a:off x="8314722" y="1797010"/>
            <a:ext cx="3695225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1800" b="0" i="0" u="none" strike="noStrike" baseline="0" dirty="0">
                <a:solidFill>
                  <a:srgbClr val="000000"/>
                </a:solidFill>
                <a:latin typeface="宋体?"/>
              </a:rPr>
              <a:t>材料选择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20#</a:t>
            </a:r>
            <a:r>
              <a:rPr lang="zh-CN" altLang="en-US" sz="1800" b="0" i="0" u="none" strike="noStrike" baseline="0" dirty="0">
                <a:solidFill>
                  <a:srgbClr val="000000"/>
                </a:solidFill>
                <a:latin typeface="宋体?"/>
              </a:rPr>
              <a:t>钢，杨氏模量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210GPa</a:t>
            </a:r>
            <a:r>
              <a:rPr lang="zh-CN" altLang="en-US" sz="1800" b="0" i="0" u="none" strike="noStrike" baseline="0" dirty="0">
                <a:solidFill>
                  <a:srgbClr val="000000"/>
                </a:solidFill>
                <a:latin typeface="宋体?"/>
              </a:rPr>
              <a:t>泊松比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0.3</a:t>
            </a:r>
            <a:r>
              <a:rPr lang="zh-CN" altLang="en-US" sz="1800" b="0" i="0" u="none" strike="noStrike" baseline="0" dirty="0">
                <a:solidFill>
                  <a:srgbClr val="000000"/>
                </a:solidFill>
                <a:latin typeface="宋体?"/>
              </a:rPr>
              <a:t>。屈服强度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410MPa </a:t>
            </a:r>
          </a:p>
          <a:p>
            <a:r>
              <a:rPr lang="zh-CN" altLang="en-US" dirty="0">
                <a:solidFill>
                  <a:srgbClr val="00B0F0"/>
                </a:solidFill>
                <a:latin typeface="Calibri" panose="020F0502020204030204" pitchFamily="34" charset="0"/>
              </a:rPr>
              <a:t>扭矩为</a:t>
            </a:r>
            <a:r>
              <a:rPr lang="en-US" altLang="zh-CN" dirty="0">
                <a:solidFill>
                  <a:srgbClr val="00B0F0"/>
                </a:solidFill>
                <a:latin typeface="Calibri" panose="020F0502020204030204" pitchFamily="34" charset="0"/>
              </a:rPr>
              <a:t>10XY N*m</a:t>
            </a:r>
            <a:endParaRPr lang="zh-CN" altLang="en-US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8208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C84EBB-B529-40B2-A83B-5C976F91D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连杆</a:t>
            </a:r>
            <a:r>
              <a:rPr lang="en-US" altLang="zh-CN" dirty="0"/>
              <a:t>----</a:t>
            </a:r>
            <a:r>
              <a:rPr lang="zh-CN" altLang="en-US" dirty="0"/>
              <a:t>参数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73D76F2B-97CF-40AE-B9DB-B1ADED9196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18" y="1249680"/>
            <a:ext cx="8174214" cy="554736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252BAF8E-F90B-4E7F-BF70-EB05159673FB}"/>
              </a:ext>
            </a:extLst>
          </p:cNvPr>
          <p:cNvSpPr txBox="1"/>
          <p:nvPr/>
        </p:nvSpPr>
        <p:spPr>
          <a:xfrm>
            <a:off x="7114116" y="3837516"/>
            <a:ext cx="539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7.3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5270FC19-623C-4CBE-BF69-82375068F748}"/>
              </a:ext>
            </a:extLst>
          </p:cNvPr>
          <p:cNvCxnSpPr/>
          <p:nvPr/>
        </p:nvCxnSpPr>
        <p:spPr>
          <a:xfrm>
            <a:off x="6661150" y="4161367"/>
            <a:ext cx="1820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7535CBA3-69D7-423B-BB6D-EB5239DE1489}"/>
              </a:ext>
            </a:extLst>
          </p:cNvPr>
          <p:cNvCxnSpPr>
            <a:cxnSpLocks/>
          </p:cNvCxnSpPr>
          <p:nvPr/>
        </p:nvCxnSpPr>
        <p:spPr>
          <a:xfrm flipH="1">
            <a:off x="6995583" y="4161367"/>
            <a:ext cx="1883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片 15">
            <a:extLst>
              <a:ext uri="{FF2B5EF4-FFF2-40B4-BE49-F238E27FC236}">
                <a16:creationId xmlns:a16="http://schemas.microsoft.com/office/drawing/2014/main" id="{0016BB12-26B2-4FD5-BCB3-7F5B2B0015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3162" y="1423781"/>
            <a:ext cx="3781382" cy="5040519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1931D57D-81F9-40F5-BE83-2FC81EEA64DE}"/>
              </a:ext>
            </a:extLst>
          </p:cNvPr>
          <p:cNvSpPr/>
          <p:nvPr/>
        </p:nvSpPr>
        <p:spPr>
          <a:xfrm>
            <a:off x="995703" y="4161367"/>
            <a:ext cx="262467" cy="4021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C0400C8-E418-4547-8B78-E4C2CEF60AD7}"/>
              </a:ext>
            </a:extLst>
          </p:cNvPr>
          <p:cNvSpPr txBox="1"/>
          <p:nvPr/>
        </p:nvSpPr>
        <p:spPr>
          <a:xfrm>
            <a:off x="2794541" y="3881147"/>
            <a:ext cx="6963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8X. Y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2DDE50F-B786-4C1C-98FA-0270CAFC3973}"/>
              </a:ext>
            </a:extLst>
          </p:cNvPr>
          <p:cNvSpPr/>
          <p:nvPr/>
        </p:nvSpPr>
        <p:spPr>
          <a:xfrm>
            <a:off x="2758015" y="4266262"/>
            <a:ext cx="2271050" cy="2474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（</a:t>
            </a:r>
            <a:r>
              <a:rPr lang="en-US" altLang="zh-CN" sz="1600" dirty="0"/>
              <a:t>XY</a:t>
            </a:r>
            <a:r>
              <a:rPr lang="zh-CN" altLang="en-US" sz="1600" dirty="0"/>
              <a:t>为学号后两位）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E42DF209-A4F8-4E2F-B567-54AA84848011}"/>
              </a:ext>
            </a:extLst>
          </p:cNvPr>
          <p:cNvCxnSpPr>
            <a:stCxn id="7" idx="0"/>
          </p:cNvCxnSpPr>
          <p:nvPr/>
        </p:nvCxnSpPr>
        <p:spPr>
          <a:xfrm flipV="1">
            <a:off x="1126937" y="4035036"/>
            <a:ext cx="1686112" cy="1263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35584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302E56-33AE-4F6D-82B5-BBAC9794B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连杆</a:t>
            </a:r>
            <a:r>
              <a:rPr lang="en-US" altLang="zh-CN" dirty="0"/>
              <a:t>----</a:t>
            </a:r>
            <a:r>
              <a:rPr lang="zh-CN" altLang="en-US" dirty="0"/>
              <a:t>计算分析内容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5A6161B0-90B6-4211-B0BC-B35FF20F7F4F}"/>
              </a:ext>
            </a:extLst>
          </p:cNvPr>
          <p:cNvSpPr/>
          <p:nvPr/>
        </p:nvSpPr>
        <p:spPr>
          <a:xfrm>
            <a:off x="182052" y="1497796"/>
            <a:ext cx="1832938" cy="6289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静力分析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4ED7058-DB59-43A8-A4A7-F5F4B9B9D753}"/>
              </a:ext>
            </a:extLst>
          </p:cNvPr>
          <p:cNvSpPr txBox="1"/>
          <p:nvPr/>
        </p:nvSpPr>
        <p:spPr>
          <a:xfrm>
            <a:off x="2141167" y="1497796"/>
            <a:ext cx="48091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大端固定，小端施加集中载荷，（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）计算并绘制力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挠度曲线；（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）计算刚度，并说明该连杆是否满足设计要求；（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）计算此工况下的最大应力，验证是否在合理范围。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11A1829-B07B-45D5-9086-C222D0411ECC}"/>
              </a:ext>
            </a:extLst>
          </p:cNvPr>
          <p:cNvSpPr/>
          <p:nvPr/>
        </p:nvSpPr>
        <p:spPr>
          <a:xfrm>
            <a:off x="8853027" y="2362264"/>
            <a:ext cx="2271050" cy="2474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（</a:t>
            </a:r>
            <a:r>
              <a:rPr lang="en-US" altLang="zh-CN" sz="1600" dirty="0"/>
              <a:t>XY</a:t>
            </a:r>
            <a:r>
              <a:rPr lang="zh-CN" altLang="en-US" sz="1600" dirty="0"/>
              <a:t>为学号后两位）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DF9BDB0-7A1A-4E7B-AA9B-15A3A3E66452}"/>
              </a:ext>
            </a:extLst>
          </p:cNvPr>
          <p:cNvSpPr txBox="1"/>
          <p:nvPr/>
        </p:nvSpPr>
        <p:spPr>
          <a:xfrm>
            <a:off x="8853027" y="1350585"/>
            <a:ext cx="2395611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2A900"/>
                </a:solidFill>
                <a:latin typeface="+mn-ea"/>
              </a:rPr>
              <a:t>活塞连杆钢</a:t>
            </a:r>
            <a:r>
              <a:rPr lang="en-US" altLang="zh-CN" b="1" dirty="0">
                <a:solidFill>
                  <a:srgbClr val="F2A900"/>
                </a:solidFill>
                <a:latin typeface="+mn-ea"/>
              </a:rPr>
              <a:t>60Si2Mn</a:t>
            </a:r>
          </a:p>
          <a:p>
            <a:endParaRPr lang="en-US" altLang="zh-CN" b="1" dirty="0">
              <a:solidFill>
                <a:srgbClr val="F2A900"/>
              </a:solidFill>
              <a:latin typeface="+mn-ea"/>
            </a:endParaRPr>
          </a:p>
          <a:p>
            <a:r>
              <a:rPr lang="zh-CN" altLang="en-US" b="1" dirty="0">
                <a:solidFill>
                  <a:srgbClr val="7030A0"/>
                </a:solidFill>
                <a:latin typeface="Calibri" panose="020F0502020204030204" pitchFamily="34" charset="0"/>
              </a:rPr>
              <a:t>集中载荷为</a:t>
            </a:r>
            <a:r>
              <a:rPr lang="en-US" altLang="zh-CN" b="1" dirty="0">
                <a:solidFill>
                  <a:srgbClr val="7030A0"/>
                </a:solidFill>
                <a:latin typeface="Calibri" panose="020F0502020204030204" pitchFamily="34" charset="0"/>
              </a:rPr>
              <a:t>6</a:t>
            </a:r>
            <a:r>
              <a:rPr lang="en-US" altLang="zh-CN" b="1" u="sng" dirty="0">
                <a:solidFill>
                  <a:srgbClr val="7030A0"/>
                </a:solidFill>
                <a:latin typeface="Calibri" panose="020F0502020204030204" pitchFamily="34" charset="0"/>
              </a:rPr>
              <a:t>XY</a:t>
            </a:r>
            <a:r>
              <a:rPr lang="en-US" altLang="zh-CN" b="1" dirty="0">
                <a:solidFill>
                  <a:srgbClr val="7030A0"/>
                </a:solidFill>
                <a:latin typeface="Calibri" panose="020F0502020204030204" pitchFamily="34" charset="0"/>
              </a:rPr>
              <a:t>00 N</a:t>
            </a:r>
            <a:endParaRPr lang="zh-CN" altLang="en-US" b="1" dirty="0">
              <a:solidFill>
                <a:srgbClr val="7030A0"/>
              </a:solidFill>
            </a:endParaRPr>
          </a:p>
        </p:txBody>
      </p:sp>
      <p:pic>
        <p:nvPicPr>
          <p:cNvPr id="11" name="图片 1" descr="图片包含 箭头&#10;&#10;描述已自动生成">
            <a:extLst>
              <a:ext uri="{FF2B5EF4-FFF2-40B4-BE49-F238E27FC236}">
                <a16:creationId xmlns:a16="http://schemas.microsoft.com/office/drawing/2014/main" id="{98052F36-5F73-4BFB-A0CE-51A85FF552A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4"/>
          <a:srcRect l="33679"/>
          <a:stretch/>
        </p:blipFill>
        <p:spPr>
          <a:xfrm>
            <a:off x="1443566" y="2855204"/>
            <a:ext cx="2184924" cy="2004625"/>
          </a:xfrm>
          <a:prstGeom prst="rect">
            <a:avLst/>
          </a:prstGeom>
        </p:spPr>
      </p:pic>
      <p:pic>
        <p:nvPicPr>
          <p:cNvPr id="12" name="图片 4" descr="图示&#10;&#10;中度可信度描述已自动生成">
            <a:extLst>
              <a:ext uri="{FF2B5EF4-FFF2-40B4-BE49-F238E27FC236}">
                <a16:creationId xmlns:a16="http://schemas.microsoft.com/office/drawing/2014/main" id="{AC2CB2D3-6B6F-4BD8-8665-8B23D31725AE}"/>
              </a:ext>
            </a:extLst>
          </p:cNvPr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437"/>
          <a:stretch/>
        </p:blipFill>
        <p:spPr>
          <a:xfrm>
            <a:off x="3628490" y="2855204"/>
            <a:ext cx="2293943" cy="200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F2E43947-BFBE-4CE3-AE95-5A5468EA8E18}"/>
              </a:ext>
            </a:extLst>
          </p:cNvPr>
          <p:cNvSpPr/>
          <p:nvPr/>
        </p:nvSpPr>
        <p:spPr>
          <a:xfrm>
            <a:off x="2740057" y="2980787"/>
            <a:ext cx="1776865" cy="2474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装配体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5A66E32D-5232-4363-ACA5-99CA8D6106A6}"/>
              </a:ext>
            </a:extLst>
          </p:cNvPr>
          <p:cNvSpPr/>
          <p:nvPr/>
        </p:nvSpPr>
        <p:spPr>
          <a:xfrm>
            <a:off x="182052" y="5045750"/>
            <a:ext cx="1832938" cy="6289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动力学分析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DD373C4-6DA7-433C-A320-569628E4A99D}"/>
              </a:ext>
            </a:extLst>
          </p:cNvPr>
          <p:cNvSpPr txBox="1"/>
          <p:nvPr/>
        </p:nvSpPr>
        <p:spPr>
          <a:xfrm>
            <a:off x="2141167" y="5108829"/>
            <a:ext cx="6135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大端固定，小端施加正弦集中载荷，（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）计算并绘制力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挠度曲线；（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）计算此工况下的最大应力，验证是否在合理范围。</a:t>
            </a:r>
          </a:p>
        </p:txBody>
      </p:sp>
    </p:spTree>
    <p:extLst>
      <p:ext uri="{BB962C8B-B14F-4D97-AF65-F5344CB8AC3E}">
        <p14:creationId xmlns:p14="http://schemas.microsoft.com/office/powerpoint/2010/main" val="352497449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离子">
  <a:themeElements>
    <a:clrScheme name="离子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离子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离子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450</TotalTime>
  <Words>599</Words>
  <Application>Microsoft Office PowerPoint</Application>
  <PresentationFormat>宽屏</PresentationFormat>
  <Paragraphs>53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宋体</vt:lpstr>
      <vt:lpstr>宋体?</vt:lpstr>
      <vt:lpstr>微软雅黑</vt:lpstr>
      <vt:lpstr>Arial</vt:lpstr>
      <vt:lpstr>Calibri</vt:lpstr>
      <vt:lpstr>Century Gothic</vt:lpstr>
      <vt:lpstr>Wingdings 3</vt:lpstr>
      <vt:lpstr>离子</vt:lpstr>
      <vt:lpstr>汽车典型零件有限元分析</vt:lpstr>
      <vt:lpstr>三种零部件</vt:lpstr>
      <vt:lpstr>悬架螺旋弹簧----参数</vt:lpstr>
      <vt:lpstr>悬架螺旋弹簧----计算分析内容</vt:lpstr>
      <vt:lpstr>传动轴----参数</vt:lpstr>
      <vt:lpstr>传动轴----计算分析内容</vt:lpstr>
      <vt:lpstr>连杆----参数</vt:lpstr>
      <vt:lpstr>连杆----计算分析内容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汽车典型零件有限元分析</dc:title>
  <dc:creator>Ye Yu</dc:creator>
  <cp:lastModifiedBy>Ye Yu</cp:lastModifiedBy>
  <cp:revision>24</cp:revision>
  <dcterms:created xsi:type="dcterms:W3CDTF">2024-11-05T12:08:56Z</dcterms:created>
  <dcterms:modified xsi:type="dcterms:W3CDTF">2024-11-17T04:28:04Z</dcterms:modified>
</cp:coreProperties>
</file>